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319" r:id="rId69"/>
    <p:sldId id="270" r:id="rId20"/>
    <p:sldId id="271" r:id="rId21"/>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293" r:id="rId43"/>
    <p:sldId id="294" r:id="rId44"/>
    <p:sldId id="295" r:id="rId45"/>
    <p:sldId id="296" r:id="rId46"/>
    <p:sldId id="297" r:id="rId47"/>
    <p:sldId id="298" r:id="rId48"/>
    <p:sldId id="299" r:id="rId49"/>
    <p:sldId id="300" r:id="rId50"/>
    <p:sldId id="301" r:id="rId51"/>
    <p:sldId id="302" r:id="rId52"/>
    <p:sldId id="320" r:id="rId70"/>
    <p:sldId id="303" r:id="rId53"/>
    <p:sldId id="321" r:id="rId71"/>
    <p:sldId id="304" r:id="rId54"/>
    <p:sldId id="307" r:id="rId57"/>
    <p:sldId id="308" r:id="rId58"/>
    <p:sldId id="309" r:id="rId59"/>
    <p:sldId id="313" r:id="rId63"/>
    <p:sldId id="314" r:id="rId64"/>
    <p:sldId id="315" r:id="rId65"/>
    <p:sldId id="316" r:id="rId66"/>
    <p:sldId id="317" r:id="rId67"/>
    <p:sldId id="318" r:id="rId68"/>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6.xml"/><Relationship Id="rId21"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schemas.openxmlformats.org/officeDocument/2006/relationships/slide" Target="slides/slide47.xml"/><Relationship Id="rId53" Type="http://schemas.openxmlformats.org/officeDocument/2006/relationships/slide" Target="slides/slide49.xml"/><Relationship Id="rId54" Type="http://schemas.openxmlformats.org/officeDocument/2006/relationships/slide" Target="slides/slide51.xml"/><Relationship Id="rId57" Type="http://schemas.openxmlformats.org/officeDocument/2006/relationships/slide" Target="slides/slide52.xml"/><Relationship Id="rId58" Type="http://schemas.openxmlformats.org/officeDocument/2006/relationships/slide" Target="slides/slide53.xml"/><Relationship Id="rId59" Type="http://schemas.openxmlformats.org/officeDocument/2006/relationships/slide" Target="slides/slide54.xml"/><Relationship Id="rId63" Type="http://schemas.openxmlformats.org/officeDocument/2006/relationships/slide" Target="slides/slide55.xml"/><Relationship Id="rId64" Type="http://schemas.openxmlformats.org/officeDocument/2006/relationships/slide" Target="slides/slide56.xml"/><Relationship Id="rId65" Type="http://schemas.openxmlformats.org/officeDocument/2006/relationships/slide" Target="slides/slide57.xml"/><Relationship Id="rId66" Type="http://schemas.openxmlformats.org/officeDocument/2006/relationships/slide" Target="slides/slide58.xml"/><Relationship Id="rId67" Type="http://schemas.openxmlformats.org/officeDocument/2006/relationships/slide" Target="slides/slide59.xml"/><Relationship Id="rId68" Type="http://schemas.openxmlformats.org/officeDocument/2006/relationships/slide" Target="slides/slide60.xml"/><Relationship Id="rId69" Type="http://schemas.openxmlformats.org/officeDocument/2006/relationships/slide" Target="slides/slide15.xml"/><Relationship Id="rId70" Type="http://schemas.openxmlformats.org/officeDocument/2006/relationships/slide" Target="slides/slide48.xml"/><Relationship Id="rId71" Type="http://schemas.openxmlformats.org/officeDocument/2006/relationships/slide" Target="slides/slide5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0"/>
    <c:plotArea>
      <c:lineChart>
        <c:grouping val="standard"/>
        <c:varyColors val="0"/>
        <c:ser>
          <c:idx val="0"/>
          <c:order val="0"/>
          <c:tx>
            <c:strRef>
              <c:f>Sheet1!$B$1</c:f>
              <c:strCache>
                <c:ptCount val="1"/>
                <c:pt idx="0">
                  <c:v>入力1 tokens</c:v>
                </c:pt>
              </c:strCache>
            </c:strRef>
          </c:tx>
          <c:spPr>
            <a:ln>
              <a:solidFill>
                <a:srgbClr val="38941F"/>
              </a:solidFill>
            </a:ln>
          </c:spPr>
          <c:cat>
            <c:strRef>
              <c:f>Sheet1!$A$2:$A$4</c:f>
              <c:strCache>
                <c:ptCount val="3"/>
                <c:pt idx="0">
                  <c:v>出力上限1</c:v>
                </c:pt>
                <c:pt idx="1">
                  <c:v>出力上限16</c:v>
                </c:pt>
                <c:pt idx="2">
                  <c:v>出力上限64</c:v>
                </c:pt>
              </c:strCache>
            </c:strRef>
          </c:cat>
          <c:val>
            <c:numRef>
              <c:f>Sheet1!$B$2:$B$4</c:f>
              <c:numCache>
                <c:formatCode>General</c:formatCode>
                <c:ptCount val="3"/>
                <c:pt idx="0">
                  <c:v>0.6098895788192749</c:v>
                </c:pt>
                <c:pt idx="1">
                  <c:v>1.6247077465057373</c:v>
                </c:pt>
                <c:pt idx="2">
                  <c:v>4.045475006103516</c:v>
                </c:pt>
              </c:numCache>
            </c:numRef>
          </c:val>
          <c:smooth val="0"/>
        </c:ser>
        <c:ser>
          <c:idx val="1"/>
          <c:order val="1"/>
          <c:tx>
            <c:strRef>
              <c:f>Sheet1!$C$1</c:f>
              <c:strCache>
                <c:ptCount val="1"/>
                <c:pt idx="0">
                  <c:v>入力256 tokens</c:v>
                </c:pt>
              </c:strCache>
            </c:strRef>
          </c:tx>
          <c:spPr>
            <a:ln>
              <a:solidFill>
                <a:srgbClr val="B13731"/>
              </a:solidFill>
            </a:ln>
          </c:spPr>
          <c:cat>
            <c:strRef>
              <c:f>Sheet1!$A$2:$A$4</c:f>
              <c:strCache>
                <c:ptCount val="3"/>
                <c:pt idx="0">
                  <c:v>出力上限1</c:v>
                </c:pt>
                <c:pt idx="1">
                  <c:v>出力上限16</c:v>
                </c:pt>
                <c:pt idx="2">
                  <c:v>出力上限64</c:v>
                </c:pt>
              </c:strCache>
            </c:strRef>
          </c:cat>
          <c:val>
            <c:numRef>
              <c:f>Sheet1!$C$2:$C$4</c:f>
              <c:numCache>
                <c:formatCode>General</c:formatCode>
                <c:ptCount val="3"/>
                <c:pt idx="0">
                  <c:v>0.8634654998779296</c:v>
                </c:pt>
                <c:pt idx="1">
                  <c:v>2.018578314781189</c:v>
                </c:pt>
                <c:pt idx="2">
                  <c:v>2.9490676164627074</c:v>
                </c:pt>
              </c:numCache>
            </c:numRef>
          </c:val>
          <c:smooth val="0"/>
        </c:ser>
        <c:ser>
          <c:idx val="2"/>
          <c:order val="2"/>
          <c:tx>
            <c:strRef>
              <c:f>Sheet1!$D$1</c:f>
              <c:strCache>
                <c:ptCount val="1"/>
                <c:pt idx="0">
                  <c:v>入力1024 tokens</c:v>
                </c:pt>
              </c:strCache>
            </c:strRef>
          </c:tx>
          <c:spPr>
            <a:ln>
              <a:solidFill>
                <a:srgbClr val="3F6D9C"/>
              </a:solidFill>
            </a:ln>
          </c:spPr>
          <c:cat>
            <c:strRef>
              <c:f>Sheet1!$A$2:$A$4</c:f>
              <c:strCache>
                <c:ptCount val="3"/>
                <c:pt idx="0">
                  <c:v>出力上限1</c:v>
                </c:pt>
                <c:pt idx="1">
                  <c:v>出力上限16</c:v>
                </c:pt>
                <c:pt idx="2">
                  <c:v>出力上限64</c:v>
                </c:pt>
              </c:strCache>
            </c:strRef>
          </c:cat>
          <c:val>
            <c:numRef>
              <c:f>Sheet1!$D$2:$D$4</c:f>
              <c:numCache>
                <c:formatCode>General</c:formatCode>
                <c:ptCount val="3"/>
                <c:pt idx="0">
                  <c:v>0.9067000865936279</c:v>
                </c:pt>
                <c:pt idx="1">
                  <c:v>1.6600937843322754</c:v>
                </c:pt>
                <c:pt idx="2">
                  <c:v>2.985553240776062</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txPr>
          <a:bodyPr/>
          <a:lstStyle/>
          <a:p>
            <a:pPr>
              <a:defRPr sz="1200"/>
            </a:pPr>
          </a:p>
        </c:txPr>
        <c:crossAx val="2140495176"/>
        <c:crosses val="autoZero"/>
        <c:auto val="1"/>
        <c:lblAlgn val="ctr"/>
        <c:lblOffset val="100"/>
        <c:noMultiLvlLbl val="0"/>
      </c:catAx>
      <c:valAx>
        <c:axId val="2140495176"/>
        <c:scaling>
          <c:min val="0.0"/>
        </c:scaling>
        <c:delete val="0"/>
        <c:axPos val="l"/>
        <c:majorGridlines/>
        <c:title>
          <c:tx>
            <c:rich>
              <a:bodyPr/>
              <a:lstStyle/>
              <a:p>
                <a:r>
                  <a:t>Raw runtime（秒／入力）</a:t>
                </a:r>
              </a:p>
            </c:rich>
          </c:tx>
          <c:layout/>
          <c:overlay val="0"/>
        </c:title>
        <c:majorTickMark val="out"/>
        <c:minorTickMark val="none"/>
        <c:tickLblPos val="nextTo"/>
        <c:txPr>
          <a:bodyPr/>
          <a:lstStyle/>
          <a:p>
            <a:pPr>
              <a:defRPr sz="1200"/>
            </a:pPr>
          </a:p>
        </c:txPr>
        <c:crossAx val="2118791784"/>
        <c:crosses val="autoZero"/>
      </c:valAx>
    </c:plotArea>
    <c:legend>
      <c:legendPos val="b"/>
      <c:layout/>
      <c:overlay val="0"/>
    </c:legend>
    <c:plotVisOnly val="1"/>
    <c:dispBlanksAs val="gap"/>
    <c:showDLblsOverMax val="0"/>
  </c:chart>
  <c:txPr>
    <a:bodyPr/>
    <a:lstStyle/>
    <a:p>
      <a:pPr>
        <a:defRPr sz="1800"/>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crfm.stanford.edu/helm/classic/v0.4.0/#/groups/synthetic_efficien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v1"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scenarios/synthetic_efficiency_scenario.py"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cripts/efficiency/generate_instances.py"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papers.nips.cc/paper_files/paper/2023/hash/d1a14493e5f84d6c6129414f0cd1a7c6-Abstract-Conference.html" TargetMode="External"/><Relationship Id="rId3" Type="http://schemas.openxmlformats.org/officeDocument/2006/relationships/hyperlink" Target="https://github.com/stanford-crfm/helm/blob/v0.3.0/src/helm/benchmark/metrics/basic_metrics.py"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blob/v0.3.0/src/helm/benchmark/metrics/basic_metrics.py"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 Id="rId3" Type="http://schemas.openxmlformats.org/officeDocument/2006/relationships/hyperlink" Target="https://github.com/stanford-crfm/helm/blob/v0.3.0/src/helm/benchmark/metrics/basic_metrics.py"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crfm.stanford.edu/helm/classic/v0.4.0/#/groups/synthetic_efficiency"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synthetic_efficiency" TargetMode="External"/><Relationship Id="rId3" Type="http://schemas.openxmlformats.org/officeDocument/2006/relationships/hyperlink" Target="https://papers.nips.cc/paper_files/paper/2023/hash/d1a14493e5f84d6c6129414f0cd1a7c6-Abstract-Conference.html"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synthetic_efficiency"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211.09110v1" TargetMode="External"/><Relationship Id="rId3" Type="http://schemas.openxmlformats.org/officeDocument/2006/relationships/hyperlink" Target="https://papers.nips.cc/paper_files/paper/2023/hash/d1a14493e5f84d6c6129414f0cd1a7c6-Abstract-Conference.html"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tanford-crfm/helm/blob/v0.3.0/src/helm/benchmark/scenarios/synthetic_efficiency_scenario.py" TargetMode="External"/><Relationship Id="rId3" Type="http://schemas.openxmlformats.org/officeDocument/2006/relationships/hyperlink" Target="https://crfm.stanford.edu/helm/classic/v0.4.0/#/groups/synthetic_efficiency"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crfm.stanford.edu/helm/classic/v0.4.0/#/groups/synthetic_efficiency" TargetMode="External"/><Relationship Id="rId3" Type="http://schemas.openxmlformats.org/officeDocument/2006/relationships/hyperlink" Target="https://github.com/stanford-crfm/helm/blob/v0.3.0/src/helm/benchmark/metrics/basic_metrics.py"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211.09110v1" TargetMode="External"/><Relationship Id="rId3" Type="http://schemas.openxmlformats.org/officeDocument/2006/relationships/hyperlink" Target="https://papers.nips.cc/paper_files/paper/2023/hash/d1a14493e5f84d6c6129414f0cd1a7c6-Abstract-Conference.html"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crfm.stanford.edu/helm/classic/v0.4.0/#/groups/synthetic_efficiency" TargetMode="External"/><Relationship Id="rId3" Type="http://schemas.openxmlformats.org/officeDocument/2006/relationships/hyperlink" Target="https://github.com/stanford-crfm/helm/blob/v0.3.0/src/helm/benchmark/scenarios/synthetic_efficiency_scenario.py"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tanford-crfm/helm-efficiency" TargetMode="External"/><Relationship Id="rId3" Type="http://schemas.openxmlformats.org/officeDocument/2006/relationships/hyperlink" Target="https://www.gutenberg.org/ebooks/11"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gutenberg.org/ebooks/1342" TargetMode="External"/><Relationship Id="rId3" Type="http://schemas.openxmlformats.org/officeDocument/2006/relationships/hyperlink" Target="https://www.gutenberg.org/ebooks/1661"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www.gutenberg.org/ebooks/1184" TargetMode="External"/><Relationship Id="rId3" Type="http://schemas.openxmlformats.org/officeDocument/2006/relationships/hyperlink" Target="https://www.gutenberg.org/ebooks/2554"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548640" y="1637627"/>
            <a:ext cx="8046720" cy="1004570"/>
          </a:xfrm>
        </p:spPr>
        <p:txBody>
          <a:bodyPr wrap="square" lIns="0" rIns="0" tIns="0" bIns="101600">
            <a:noAutofit/>
          </a:bodyPr>
          <a:lstStyle/>
          <a:p>
            <a:pPr algn="ctr">
              <a:lnSpc>
                <a:spcPct val="110000"/>
              </a:lnSpc>
              <a:buNone/>
              <a:defRPr sz="5400" b="0">
                <a:solidFill>
                  <a:srgbClr val="303437"/>
                </a:solidFill>
                <a:latin typeface="Noto Sans"/>
              </a:defRPr>
            </a:pPr>
            <a:r>
              <a:rPr sz="5400" b="1" lang="ja-JP" altLang="en-US">
                <a:solidFill>
                  <a:srgbClr val="303437"/>
                </a:solidFill>
                <a:latin typeface="Noto Sans"/>
                <a:ea typeface="Noto Sans CJK JP"/>
                <a:cs typeface="Noto Sans"/>
              </a:rPr>
              <a:t>Synthetic efficiency</a:t>
            </a:r>
          </a:p>
        </p:txBody>
      </p:sp>
      <p:sp>
        <p:nvSpPr>
          <p:cNvPr id="3" name="Subtitle 2"/>
          <p:cNvSpPr>
            <a:spLocks noGrp="1"/>
          </p:cNvSpPr>
          <p:nvPr>
            <p:ph type="subTitle" idx="1"/>
          </p:nvPr>
        </p:nvSpPr>
        <p:spPr>
          <a:xfrm>
            <a:off x="548640" y="2647277"/>
            <a:ext cx="8046720" cy="1091565"/>
          </a:xfrm>
        </p:spPr>
        <p:txBody>
          <a:bodyPr lIns="0" rIns="0" tIns="0" bIns="101600">
            <a:noAutofit/>
          </a:bodyPr>
          <a:lstStyle/>
          <a:p>
            <a:pPr algn="ctr">
              <a:lnSpc>
                <a:spcPct val="125000"/>
              </a:lnSpc>
              <a:spcAft>
                <a:spcPts val="1200"/>
              </a:spcAft>
              <a:buNone/>
              <a:defRPr sz="2200" b="0">
                <a:solidFill>
                  <a:srgbClr val="303437"/>
                </a:solidFill>
                <a:latin typeface="Noto Sans"/>
              </a:defRPr>
            </a:pPr>
            <a:r>
              <a:rPr sz="2200" b="0" lang="ja-JP" altLang="en-US">
                <a:solidFill>
                  <a:srgbClr val="303437"/>
                </a:solidFill>
                <a:latin typeface="Noto Sans"/>
                <a:ea typeface="Noto Sans CJK JP"/>
                <a:cs typeface="Noto Sans"/>
              </a:rPr>
              <a:t>固定テキストの長さと生成上限を変え、時間を測る</a:t>
            </a:r>
          </a:p>
        </p:txBody>
      </p:sp>
      <p:sp>
        <p:nvSpPr>
          <p:cNvPr id="5" name="Text Placeholder 4"/>
          <p:cNvSpPr>
            <a:spLocks noGrp="1"/>
          </p:cNvSpPr>
          <p:nvPr>
            <p:ph type="body" idx="11"/>
          </p:nvPr>
        </p:nvSpPr>
        <p:spPr>
          <a:xfrm>
            <a:off x="5486400" y="4416552"/>
            <a:ext cx="3108960" cy="402336"/>
          </a:xfrm>
        </p:spPr>
        <p:txBody>
          <a:bodyPr wrap="square" lIns="0" rIns="0" tIns="0" bIns="0">
            <a:noAutofit/>
          </a:bodyPr>
          <a:lstStyle/>
          <a:p>
            <a:pPr algn="r">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457200" y="274320"/>
            <a:ext cx="8229600" cy="274320"/>
          </a:xfrm>
        </p:spPr>
        <p:txBody>
          <a:bodyPr wrap="square" lIns="0" rIns="0" tIns="0" bIns="0">
            <a:noAutofit/>
          </a:bodyPr>
          <a:lstStyle/>
          <a:p>
            <a:pPr algn="l">
              <a:lnSpc>
                <a:spcPct val="110000"/>
              </a:lnSpc>
              <a:buNone/>
              <a:defRPr sz="1000" b="0">
                <a:solidFill>
                  <a:srgbClr val="303437"/>
                </a:solidFill>
                <a:latin typeface="Noto Sans"/>
              </a:defRPr>
            </a:pPr>
            <a:r>
              <a:rPr sz="1000" b="0" lang="ja-JP" altLang="en-US">
                <a:solidFill>
                  <a:srgbClr val="626669"/>
                </a:solidFill>
                <a:latin typeface="Noto Sans"/>
                <a:ea typeface="Noto Sans CJK JP"/>
                <a:cs typeface="Noto Sans"/>
              </a:rPr>
              <a:t>datasets in 10 minutes (2026-10-18)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推論時間の公開研究記録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Synthetic efficiency</a:t>
            </a:r>
          </a:p>
        </p:txBody>
      </p:sp>
      <p:pic>
        <p:nvPicPr>
          <p:cNvPr id="4" name="Picture 3" descr="official-site.png"/>
          <p:cNvPicPr>
            <a:picLocks noChangeAspect="1"/>
          </p:cNvPicPr>
          <p:nvPr/>
        </p:nvPicPr>
        <p:blipFill>
          <a:blip r:embed="rId2"/>
          <a:srcRect t="10500"/>
          <a:stretch>
            <a:fillRect/>
          </a:stretch>
        </p:blipFill>
        <p:spPr>
          <a:xfrm>
            <a:off x="1508760" y="1481328"/>
            <a:ext cx="6126480" cy="3063240"/>
          </a:xfrm>
          <a:prstGeom prst="rect">
            <a:avLst/>
          </a:prstGeom>
        </p:spPr>
      </p:pic>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https://crfm.stanford.edu/helm/classic/v0.4.0/#/groups/synthetic_efficiency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663901"/>
            <a:ext cx="7863840" cy="2362199"/>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長さを制御し、生成時間を比べる</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入力長と出力上限を変える</a:t>
            </a:r>
          </a:p>
          <a:p>
            <a:pPr marL="457200" indent="-457200">
              <a:lnSpc>
                <a:spcPts val="3660"/>
              </a:lnSpc>
              <a:spcAft>
                <a:spcPts val="12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三つの時間指標を読み解く</a:t>
            </a:r>
          </a:p>
          <a:p>
            <a:pPr marL="457200" indent="-457200">
              <a:lnSpc>
                <a:spcPts val="3660"/>
              </a:lnSpc>
              <a:spcAft>
                <a:spcPts val="0"/>
              </a:spcAft>
              <a:buSzPct val="100000"/>
              <a:buFont typeface="Noto Sans CJK JP"/>
              <a:buAutoNum type="arabicPeriod" startAt="4"/>
              <a:defRPr sz="3000" b="1">
                <a:solidFill>
                  <a:srgbClr val="303437"/>
                </a:solidFill>
                <a:latin typeface="Noto Sans"/>
              </a:defRPr>
            </a:pPr>
            <a:r>
              <a:rPr sz="3000" b="1" lang="ja-JP" altLang="en-US">
                <a:solidFill>
                  <a:srgbClr val="303437"/>
                </a:solidFill>
                <a:latin typeface="Noto Sans"/>
                <a:ea typeface="Noto Sans CJK JP"/>
                <a:cs typeface="Noto Sans"/>
              </a:rPr>
              <a:t>時間の近似と、公開記録の使い方</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長さを制御し、生成時間を比べる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長さを制御し、生成時間を比べる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長さをそろえた入力で、生成処理の時間を測る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Synthetic efficiencyは、入力トークン数と生成上限を変え、言語モデルの推論時間を調べる課題。Stanford CRFMの研究チームが2022年に設計し、既存の文学作品を切り出して長さをそろえた入力を使う。</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短い入力と長い入力、短い生成と長い生成を組み合わせる。同じ長さでも複数の入力を送り、実行時間のばらつきや提供方式による違いを調べる。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長さを制御し、生成時間を比べる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(2022). Holistic Evaluation of Language Models. arXiv:2211.09110v1.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https://arxiv.org/abs/2211.09110v1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入力から、そのまま続きを生成させる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学習例や課題指示は加えず、用意した断片をそのまま入力し、指定した上限まで続きを生成する。入力長と生成上限を決め、応答にかかった秒数と実際の出力長を記録する。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正解として再現させる参照文は用意せず、生成にかかった時間を比較する。実例では、入力と実際に生成された続きを対応させて示す。</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長さを制御し、生成時間を比べる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(n.d.). SyntheticEfficiencyScenario.</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https://github.com/stanford-crfm/helm/blob/v0.3.0/src/helm/benchmark/scenarios/synthetic_efficiency_scenario.py</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10入力は、5作品の異なる断片からなる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長さを制御し、生成時間を比べる</a:t>
            </a:r>
          </a:p>
        </p:txBody>
      </p:sp>
      <p:graphicFrame>
        <p:nvGraphicFramePr>
          <p:cNvPr id="4" name="Table 3"/>
          <p:cNvGraphicFramePr>
            <a:graphicFrameLocks noGrp="1"/>
          </p:cNvGraphicFramePr>
          <p:nvPr/>
        </p:nvGraphicFramePr>
        <p:xfrm>
          <a:off x="548640" y="1508760"/>
          <a:ext cx="8046720" cy="2231136"/>
        </p:xfrm>
        <a:graphic>
          <a:graphicData uri="http://schemas.openxmlformats.org/drawingml/2006/table">
            <a:tbl>
              <a:tblPr firstRow="0" bandRow="0"/>
              <a:tblGrid>
                <a:gridCol w="2926080"/>
                <a:gridCol w="3931920"/>
                <a:gridCol w="1188720"/>
              </a:tblGrid>
              <a:tr h="402336">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作品</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著者・英訳者</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実例番号</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576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不思議の国のアリス</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Lewis Carroll</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1・6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576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高慢と偏見</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Jane Austen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4・7</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ホームズの冒険</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Arthur Conan Doyle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2・8</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モンテ・クリスト伯</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Alexandre Dumas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5・9</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罪と罰</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Dostoyevsky / Garnett英訳</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839"/>
                        </a:lnSpc>
                        <a:buNone/>
                        <a:defRPr sz="1600" b="0">
                          <a:solidFill>
                            <a:srgbClr val="303437"/>
                          </a:solidFill>
                          <a:latin typeface="Noto Sans"/>
                        </a:defRPr>
                      </a:pPr>
                      <a:r>
                        <a:rPr sz="1600" b="0" lang="ja-JP" altLang="en-US">
                          <a:solidFill>
                            <a:srgbClr val="303437"/>
                          </a:solidFill>
                          <a:latin typeface="Noto Sans"/>
                          <a:ea typeface="Noto Sans CJK JP"/>
                          <a:cs typeface="Noto Sans"/>
                        </a:rPr>
                        <a:t>3・10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941063"/>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ここでは、5作品から2断片ずつ、計10入力を紹介する。いずれも256トークンの公開入力で、本編3件・付録7件。</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実例1：自分を叱るアリスと小さなケーキ</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長さを制御し、生成時間を比べる</a:t>
            </a:r>
          </a:p>
        </p:txBody>
      </p:sp>
      <p:sp>
        <p:nvSpPr>
          <p:cNvPr id="4" name="TextBox 3"/>
          <p:cNvSpPr txBox="1"/>
          <p:nvPr/>
        </p:nvSpPr>
        <p:spPr>
          <a:xfrm>
            <a:off x="548640" y="1188720"/>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入力テキスト（全文）</a:t>
            </a:r>
          </a:p>
        </p:txBody>
      </p:sp>
      <p:sp>
        <p:nvSpPr>
          <p:cNvPr id="5" name="quote-frame"/>
          <p:cNvSpPr/>
          <p:nvPr/>
        </p:nvSpPr>
        <p:spPr>
          <a:xfrm>
            <a:off x="548640" y="1524000"/>
            <a:ext cx="8046720" cy="2878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8928" bIns="127000">
            <a:noAutofit/>
          </a:bodyPr>
          <a:lstStyle/>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crying like that!” said Alice to herself, rather sharply; “I advise you to leave off this minute!” She generally gave herself very good advice, (though she very seldom followed it), and sometimes she scolded herself so severely as to bring tears into her eyes; and once she remembered trying to box her own ears for having cheated herself in a game of croquet she was playing against herself, for this curious child was very fond of pretending to be two people. “But it’s no use now,” thought poor Alice, “to pretend to be two people! Why, there’s hardly enough of me left to make _one_ respectable person!”</a:t>
            </a:r>
          </a:p>
          <a:p>
            <a:pPr algn="l">
              <a:lnSpc>
                <a:spcPts val="1784"/>
              </a:lnSpc>
              <a:spcBef>
                <a:spcPts val="0"/>
              </a:spcBef>
              <a:spcAft>
                <a:spcPts val="0"/>
              </a:spcAft>
              <a:buNone/>
              <a:defRPr sz="1500" b="0">
                <a:solidFill>
                  <a:srgbClr val="303437"/>
                </a:solidFill>
                <a:latin typeface="Noto Sans"/>
              </a:defRPr>
            </a:pPr>
            <a:r>
              <a:rPr sz="1500" b="0" lang="ja-JP" altLang="en-US">
                <a:solidFill>
                  <a:srgbClr val="303437"/>
                </a:solidFill>
                <a:latin typeface="Noto Sans"/>
                <a:ea typeface="Noto Sans CJK JP"/>
                <a:cs typeface="Noto Sans"/>
              </a:rPr>
              <a:t>Soon her eye fell on a little glass box that was lying under the table: she opened it, and found in it a very small cake, on which the words “EAT ME” were beautifully marked in currants. “Well, I’ll eat it,” said Alice, “and if it makes me grow larger, I can reach the key; and if it makes me grow smaller, I can creep under the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 Lewis Carroll. Alice’s Adventures in Wonderland. Project Gutenberg eBook11、2026-10-18取得。</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実例1：自分を叱るアリスと小さなケーキ（訳）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長さを制御し、生成時間を比べる</a:t>
            </a:r>
          </a:p>
        </p:txBody>
      </p:sp>
      <p:sp>
        <p:nvSpPr>
          <p:cNvPr id="4" name="TextBox 3"/>
          <p:cNvSpPr txBox="1"/>
          <p:nvPr/>
        </p:nvSpPr>
        <p:spPr>
          <a:xfrm>
            <a:off x="548640" y="1188720"/>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入力テキストの日本語訳</a:t>
            </a:r>
          </a:p>
        </p:txBody>
      </p:sp>
      <p:sp>
        <p:nvSpPr>
          <p:cNvPr id="5" name="quote-frame"/>
          <p:cNvSpPr/>
          <p:nvPr/>
        </p:nvSpPr>
        <p:spPr>
          <a:xfrm>
            <a:off x="548640" y="1507066"/>
            <a:ext cx="8046720" cy="2853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5861" bIns="127000">
            <a:noAutofit/>
          </a:bodyPr>
          <a:lstStyle/>
          <a:p>
            <a:pPr algn="l">
              <a:lnSpc>
                <a:spcPts val="1933"/>
              </a:lnSpc>
              <a:spcBef>
                <a:spcPts val="0"/>
              </a:spcBef>
              <a:spcAft>
                <a:spcPts val="0"/>
              </a:spcAft>
              <a:buNone/>
              <a:defRPr sz="1625" b="0">
                <a:solidFill>
                  <a:srgbClr val="303437"/>
                </a:solidFill>
                <a:latin typeface="Noto Sans"/>
              </a:defRPr>
            </a:pPr>
            <a:r>
              <a:rPr sz="1625" b="0" lang="ja-JP" altLang="en-US">
                <a:solidFill>
                  <a:srgbClr val="303437"/>
                </a:solidFill>
                <a:latin typeface="Noto Sans"/>
                <a:ea typeface="Noto Sans CJK JP"/>
                <a:cs typeface="Noto Sans"/>
              </a:rPr>
              <a:t>「そんなふうに泣くなんて！」とアリスは、かなり厳しく自分に言った。「今すぐやめなさい！」ふだんから自分にはとてもよい忠告をするのだが、従うことはめったになかった。ときには涙が出るほど厳しく自分を叱りもした。一人でクロッケーをして自分をごまかしたため、自分の耳をひっぱたこうとしたことも思い出した。この変わった子は、一人二役を演じるのが大好きだったのだ。「でも、今は無駄だわ」とかわいそうなアリスは思った。「二人のふりをしたって！ まともな一人分にさえ、ほとんど足りないんですもの！」</a:t>
            </a:r>
          </a:p>
          <a:p>
            <a:pPr algn="l">
              <a:lnSpc>
                <a:spcPts val="1933"/>
              </a:lnSpc>
              <a:spcBef>
                <a:spcPts val="0"/>
              </a:spcBef>
              <a:spcAft>
                <a:spcPts val="0"/>
              </a:spcAft>
              <a:buNone/>
              <a:defRPr sz="1625" b="0">
                <a:solidFill>
                  <a:srgbClr val="303437"/>
                </a:solidFill>
                <a:latin typeface="Noto Sans"/>
              </a:defRPr>
            </a:pPr>
            <a:r>
              <a:rPr sz="1625" b="0" lang="ja-JP" altLang="en-US">
                <a:solidFill>
                  <a:srgbClr val="303437"/>
                </a:solidFill>
                <a:latin typeface="Noto Sans"/>
                <a:ea typeface="Noto Sans CJK JP"/>
                <a:cs typeface="Noto Sans"/>
              </a:rPr>
              <a:t>やがて、テーブルの下にある小さなガラス箱が目に入った。開けると、ごく小さなケーキがあり、干しぶどうで「EAT ME」と美しく書かれていた。「よし、食べちゃおう」とアリスは言った。「大きくなれば鍵に手が届くし、小さくなれば、その下をくぐって――」</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 Lewis Carroll. Alice’s Adventures in Wonderland. Project Gutenberg eBook11、2026-10-18取得。</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実例2：仮面をつけた客がホームズを訪れる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長さを制御し、生成時間を比べる</a:t>
            </a:r>
          </a:p>
        </p:txBody>
      </p:sp>
      <p:sp>
        <p:nvSpPr>
          <p:cNvPr id="4" name="TextBox 3"/>
          <p:cNvSpPr txBox="1"/>
          <p:nvPr/>
        </p:nvSpPr>
        <p:spPr>
          <a:xfrm>
            <a:off x="548640" y="1188720"/>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入力テキスト（全文）</a:t>
            </a:r>
          </a:p>
        </p:txBody>
      </p:sp>
      <p:sp>
        <p:nvSpPr>
          <p:cNvPr id="5" name="quote-frame"/>
          <p:cNvSpPr/>
          <p:nvPr/>
        </p:nvSpPr>
        <p:spPr>
          <a:xfrm>
            <a:off x="548640" y="1524000"/>
            <a:ext cx="8046720" cy="3132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8928" bIns="127000">
            <a:noAutofit/>
          </a:bodyPr>
          <a:lstStyle/>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blue cloak which was thrown over his shoulders was lined with flame-coloured silk and secured at the neck with a brooch which consisted of a single flaming beryl. Boots which extended halfway up his calves, and which were trimmed at the tops with rich brown fur, completed the impression of barbaric opulence which was suggested by his whole appearance. He carried a broad-brimmed hat in his hand, while he wore across the upper part of his face, extending down past the cheekbones, a black vizard mask, which he had apparently adjusted that very moment, for his hand was still raised to it as he entered. From the lower part of the face he appeared to be a man of strong character, with a thick, hanging lip, and a long, straight chin suggestive of resolution pushed to the length of obstinacy.</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“You had my note?” he asked with a deep harsh voice and a strongly marked German accent. “I told you that I would call.” He looked from one to the other of us, as if uncertain which to address.</a:t>
            </a:r>
          </a:p>
          <a:p>
            <a:pPr algn="l">
              <a:lnSpc>
                <a:spcPts val="1666"/>
              </a:lnSpc>
              <a:spcBef>
                <a:spcPts val="0"/>
              </a:spcBef>
              <a:spcAft>
                <a:spcPts val="0"/>
              </a:spcAft>
              <a:buNone/>
              <a:defRPr sz="1400" b="0">
                <a:solidFill>
                  <a:srgbClr val="303437"/>
                </a:solidFill>
                <a:latin typeface="Noto Sans"/>
              </a:defRPr>
            </a:pPr>
            <a:r>
              <a:rPr sz="1400" b="0" lang="ja-JP" altLang="en-US">
                <a:solidFill>
                  <a:srgbClr val="303437"/>
                </a:solidFill>
                <a:latin typeface="Noto Sans"/>
                <a:ea typeface="Noto Sans CJK JP"/>
                <a:cs typeface="Noto Sans"/>
              </a:rPr>
              <a:t>“Pray take a seat,”</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 Arthur Conan Doyle. The Adventures of Sherlock Holmes. Project Gutenberg eBook1661、2026-10-18取得。</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実例2：仮面をつけた客がホームズを訪れる（訳）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長さを制御し、生成時間を比べる</a:t>
            </a:r>
          </a:p>
        </p:txBody>
      </p:sp>
      <p:sp>
        <p:nvSpPr>
          <p:cNvPr id="4" name="TextBox 3"/>
          <p:cNvSpPr txBox="1"/>
          <p:nvPr/>
        </p:nvSpPr>
        <p:spPr>
          <a:xfrm>
            <a:off x="548640" y="1188720"/>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入力テキストの日本語訳</a:t>
            </a:r>
          </a:p>
        </p:txBody>
      </p:sp>
      <p:sp>
        <p:nvSpPr>
          <p:cNvPr id="5" name="quote-frame"/>
          <p:cNvSpPr/>
          <p:nvPr/>
        </p:nvSpPr>
        <p:spPr>
          <a:xfrm>
            <a:off x="548640" y="1507066"/>
            <a:ext cx="8046720" cy="2734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5861"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肩に掛けた青い外套には炎の色の絹の裏地があり、首元は、火のように輝くベリルを一つあしらったブローチで留められていた。ふくらはぎの中ほどまであるブーツは、上端が濃い茶色の毛皮で縁取られ、その姿全体が漂わせる荒々しい豪奢さを仕上げていた。片手にはつばの広い帽子を持ち、顔の上半分には頬骨の下まで覆う黒い仮面を着けていた。入ってきたとき、まだ手をそこへ上げていたので、ちょうど今、仮面を直したらしい。顔の下半分からは、厚く垂れた唇と、頑固さの域に達する決意を思わせる長くまっすぐな顎を持つ、意志の強そうな男に見えた。</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「私の手紙は受け取ったかね？」と、低く荒々しい声に強いドイツ語なまりを響かせて尋ねた。「伺うとお伝えしたはずだ。」誰に話しかければよいか迷うように、私たちを交互に見た。</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「どうぞお掛けください」と、</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 Arthur Conan Doyle. The Adventures of Sherlock Holmes. Project Gutenberg eBook1661、2026-10-18取得。</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実例3：老女の部屋の呼び鈴を鳴らす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長さを制御し、生成時間を比べる</a:t>
            </a:r>
          </a:p>
        </p:txBody>
      </p:sp>
      <p:sp>
        <p:nvSpPr>
          <p:cNvPr id="4" name="TextBox 3"/>
          <p:cNvSpPr txBox="1"/>
          <p:nvPr/>
        </p:nvSpPr>
        <p:spPr>
          <a:xfrm>
            <a:off x="548640" y="1188720"/>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入力テキスト（全文）</a:t>
            </a:r>
          </a:p>
        </p:txBody>
      </p:sp>
      <p:sp>
        <p:nvSpPr>
          <p:cNvPr id="5" name="quote-frame"/>
          <p:cNvSpPr/>
          <p:nvPr/>
        </p:nvSpPr>
        <p:spPr>
          <a:xfrm>
            <a:off x="548640" y="1524000"/>
            <a:ext cx="8046720" cy="27516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96" bIns="127000">
            <a:noAutofit/>
          </a:bodyPr>
          <a:lstStyle/>
          <a:p>
            <a:pPr algn="l">
              <a:lnSpc>
                <a:spcPts val="1695"/>
              </a:lnSpc>
              <a:spcBef>
                <a:spcPts val="0"/>
              </a:spcBef>
              <a:spcAft>
                <a:spcPts val="0"/>
              </a:spcAft>
              <a:buNone/>
              <a:defRPr sz="1425" b="0">
                <a:solidFill>
                  <a:srgbClr val="303437"/>
                </a:solidFill>
                <a:latin typeface="Noto Sans"/>
              </a:defRPr>
            </a:pPr>
            <a:r>
              <a:rPr sz="1425" b="0" lang="ja-JP" altLang="en-US">
                <a:solidFill>
                  <a:srgbClr val="303437"/>
                </a:solidFill>
                <a:latin typeface="Noto Sans"/>
                <a:ea typeface="Noto Sans CJK JP"/>
                <a:cs typeface="Noto Sans"/>
              </a:rPr>
              <a:t>were not to be dreaded.</a:t>
            </a:r>
          </a:p>
          <a:p>
            <a:pPr algn="l">
              <a:lnSpc>
                <a:spcPts val="1695"/>
              </a:lnSpc>
              <a:spcBef>
                <a:spcPts val="0"/>
              </a:spcBef>
              <a:spcAft>
                <a:spcPts val="0"/>
              </a:spcAft>
              <a:buNone/>
              <a:defRPr sz="1425" b="0">
                <a:solidFill>
                  <a:srgbClr val="303437"/>
                </a:solidFill>
                <a:latin typeface="Noto Sans"/>
              </a:defRPr>
            </a:pPr>
            <a:r>
              <a:rPr sz="1425" b="0" lang="ja-JP" altLang="en-US">
                <a:solidFill>
                  <a:srgbClr val="303437"/>
                </a:solidFill>
                <a:latin typeface="Noto Sans"/>
                <a:ea typeface="Noto Sans CJK JP"/>
                <a:cs typeface="Noto Sans"/>
              </a:rPr>
              <a:t>“If I am so scared now, what would it be if it somehow came to pass that I were really going to do it?” he could not help asking himself as he reached the fourth storey. There his progress was barred by some porters who were engaged in moving furniture out of a flat. He knew that the flat had been occupied by a German clerk in the civil service, and his family. This German was moving out then, and so the fourth floor on this staircase would be untenanted except by the old woman. “That’s a good thing anyway,” he thought to himself, as he rang the bell of the old woman’s flat. The bell gave a faint tinkle as though it were made of tin and not of copper. The little flats in such houses always have bells that ring like that. He had forgotten the note of that bell, and now its peculiar tinkle seemed to remind him of something and to bring it clearly before him.... He started, his nerves were terribly overstrained by now. In a little while, the door was opened a tiny crack:</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 Fyodor Dostoyevsky / Constance Garnett訳. Crime and Punishment. Project Gutenberg eBook2554、2026-10-18取得。</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実例3：老女の部屋の呼び鈴を鳴らす（訳）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長さを制御し、生成時間を比べる</a:t>
            </a:r>
          </a:p>
        </p:txBody>
      </p:sp>
      <p:sp>
        <p:nvSpPr>
          <p:cNvPr id="4" name="TextBox 3"/>
          <p:cNvSpPr txBox="1"/>
          <p:nvPr/>
        </p:nvSpPr>
        <p:spPr>
          <a:xfrm>
            <a:off x="548640" y="1188720"/>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入力テキストの日本語訳</a:t>
            </a:r>
          </a:p>
        </p:txBody>
      </p:sp>
      <p:sp>
        <p:nvSpPr>
          <p:cNvPr id="5" name="quote-frame"/>
          <p:cNvSpPr/>
          <p:nvPr/>
        </p:nvSpPr>
        <p:spPr>
          <a:xfrm>
            <a:off x="548640" y="1515533"/>
            <a:ext cx="8046720" cy="27601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7394" bIns="127000">
            <a:noAutofit/>
          </a:bodyPr>
          <a:lstStyle/>
          <a:p>
            <a:pPr algn="l">
              <a:lnSpc>
                <a:spcPts val="1874"/>
              </a:lnSpc>
              <a:spcBef>
                <a:spcPts val="0"/>
              </a:spcBef>
              <a:spcAft>
                <a:spcPts val="0"/>
              </a:spcAft>
              <a:buNone/>
              <a:defRPr sz="1575" b="0">
                <a:solidFill>
                  <a:srgbClr val="303437"/>
                </a:solidFill>
                <a:latin typeface="Noto Sans"/>
              </a:defRPr>
            </a:pPr>
            <a:r>
              <a:rPr sz="1575" b="0" lang="ja-JP" altLang="en-US">
                <a:solidFill>
                  <a:srgbClr val="303437"/>
                </a:solidFill>
                <a:latin typeface="Noto Sans"/>
                <a:ea typeface="Noto Sans CJK JP"/>
                <a:cs typeface="Noto Sans"/>
              </a:rPr>
              <a:t>恐れることはなかった。</a:t>
            </a:r>
          </a:p>
          <a:p>
            <a:pPr algn="l">
              <a:lnSpc>
                <a:spcPts val="1874"/>
              </a:lnSpc>
              <a:spcBef>
                <a:spcPts val="0"/>
              </a:spcBef>
              <a:spcAft>
                <a:spcPts val="0"/>
              </a:spcAft>
              <a:buNone/>
              <a:defRPr sz="1575" b="0">
                <a:solidFill>
                  <a:srgbClr val="303437"/>
                </a:solidFill>
                <a:latin typeface="Noto Sans"/>
              </a:defRPr>
            </a:pPr>
            <a:r>
              <a:rPr sz="1575" b="0" lang="ja-JP" altLang="en-US">
                <a:solidFill>
                  <a:srgbClr val="303437"/>
                </a:solidFill>
                <a:latin typeface="Noto Sans"/>
                <a:ea typeface="Noto Sans CJK JP"/>
                <a:cs typeface="Noto Sans"/>
              </a:rPr>
              <a:t>「今こんなにおびえているなら、もし本当にあれをやることになったら、どうなるだろう？」四階に着くと、彼は思わず自問した。そこでは、住居から家具を運び出す人夫たちに行く手を塞がれた。その部屋にはドイツ人の役人と家族が住んでいたことを、彼は知っていた。このドイツ人は今、引っ越すところだった。すると、この階段の四階に住むのは老女だけになる。「それなら好都合だ」と彼は思い、老女の部屋のベルを鳴らした。ベルは銅ではなくブリキでできているかのように、かすかな音を立てた。こうした建物の小さな住居には、たいていこんな音のベルがある。そのベルの音を忘れていたが、今その独特の響きが何かを思い出させ、鮮明に浮かび上がらせるようだった……。彼はびくりとした。このときには、神経がひどく張り詰めていた。しばらくすると、扉がほんの少し開いた。</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 Fyodor Dostoyevsky / Constance Garnett訳. Crime and Punishment. Project Gutenberg eBook2554、2026-10-18取得。</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実例1〜3：16tokensの生成出力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長さを制御し、生成時間を比べる</a:t>
            </a:r>
          </a:p>
        </p:txBody>
      </p:sp>
      <p:graphicFrame>
        <p:nvGraphicFramePr>
          <p:cNvPr id="4" name="Table 3"/>
          <p:cNvGraphicFramePr>
            <a:graphicFrameLocks noGrp="1"/>
          </p:cNvGraphicFramePr>
          <p:nvPr/>
        </p:nvGraphicFramePr>
        <p:xfrm>
          <a:off x="548640" y="1508760"/>
          <a:ext cx="8046720" cy="2033776"/>
        </p:xfrm>
        <a:graphic>
          <a:graphicData uri="http://schemas.openxmlformats.org/drawingml/2006/table">
            <a:tbl>
              <a:tblPr firstRow="0" bandRow="0"/>
              <a:tblGrid>
                <a:gridCol w="685800"/>
                <a:gridCol w="5897880"/>
                <a:gridCol w="1463040"/>
              </a:tblGrid>
              <a:tr h="420624">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生成出力</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実測秒</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door; so either way I’ll get into the garden, and</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1.193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6264">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said Holmes. “This is my friend and colleague, Dr. Watson</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4.123</a:t>
                      </a:r>
                    </a:p>
                  </a:txBody>
                  <a:tcPr marL="63500" marR="63500" marT="38100" marB="38100" anchor="ctr">
                    <a:lnL w="7620">
                      <a:noFill/>
                    </a:lnL>
                    <a:lnR w="7620">
                      <a:noFill/>
                    </a:lnR>
                    <a:lnT w="7620">
                      <a:noFill/>
                    </a:lnT>
                    <a:lnB w="7620">
                      <a:noFill/>
                    </a:lnB>
                    <a:solidFill>
                      <a:srgbClr val="FFFEF8"/>
                    </a:solidFill>
                  </a:tcPr>
                </a:tc>
              </a:tr>
              <a:tr h="596264">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the chain was not taken off, and an old woman peeped out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1.976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
        <p:nvSpPr>
          <p:cNvPr id="6" name="TextBox 5"/>
          <p:cNvSpPr txBox="1"/>
          <p:nvPr/>
        </p:nvSpPr>
        <p:spPr>
          <a:xfrm>
            <a:off x="594360" y="4206240"/>
            <a:ext cx="7955279" cy="365760"/>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text-davinci-003 / 2022年の公開測定 / 入力256トークン・出力上限16</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実例1〜3：生成出力の日本語訳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1. 長さを制御し、生成時間を比べる</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685800"/>
                <a:gridCol w="736092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生成出力の日本語訳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扉。どちらになっても庭に入れる。そして、</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とホームズは言った。「こちらは友人で仕事仲間の、ワトソン博士</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3</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鎖は外されず、老女が顔をのぞかせた</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入力長と出力上限を変える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入力長と出力上限を変える</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入力5通りと、出力上限7通りを組み合わせる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入力長と出力上限を変える</a:t>
            </a:r>
          </a:p>
        </p:txBody>
      </p:sp>
      <p:graphicFrame>
        <p:nvGraphicFramePr>
          <p:cNvPr id="4" name="Table 3"/>
          <p:cNvGraphicFramePr>
            <a:graphicFrameLocks noGrp="1"/>
          </p:cNvGraphicFramePr>
          <p:nvPr/>
        </p:nvGraphicFramePr>
        <p:xfrm>
          <a:off x="548640" y="1508760"/>
          <a:ext cx="8046720" cy="2713990"/>
        </p:xfrm>
        <a:graphic>
          <a:graphicData uri="http://schemas.openxmlformats.org/drawingml/2006/table">
            <a:tbl>
              <a:tblPr firstRow="0" bandRow="0"/>
              <a:tblGrid>
                <a:gridCol w="2286000"/>
                <a:gridCol w="822960"/>
                <a:gridCol w="822960"/>
                <a:gridCol w="822960"/>
                <a:gridCol w="822960"/>
                <a:gridCol w="822960"/>
                <a:gridCol w="822960"/>
                <a:gridCol w="822960"/>
              </a:tblGrid>
              <a:tr h="61087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入力 tokens／
出力上限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4</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8</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16</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32</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64</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256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512</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1024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1536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トークン数は、モデルの分割方法に依存する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439"/>
              </a:lnSpc>
              <a:spcAft>
                <a:spcPts val="7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入力生成コードは、5作品の冒頭を飛ばし、モデルごとのトークナイザで連続した部分を切り出す。復号して再び数え、指定したトークン数へ調整する。</a:t>
            </a:r>
          </a:p>
          <a:p>
            <a:pPr marL="457200" indent="-355600">
              <a:lnSpc>
                <a:spcPts val="2439"/>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同じ256トークンでも、分割の仕方によって文字数や語の量は異なる。入力長をそろえるときは、対象モデルが使うトークナイザで数える。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入力長と出力上限を変える</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(n.d.). 入力生成コード。</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https://github.com/stanford-crfm/helm/blob/v0.3.0/scripts/efficiency/generate_instances.py</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出力上限64でも、実生成数は異なる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2. 入力長と出力上限を変える</a:t>
            </a:r>
          </a:p>
        </p:txBody>
      </p:sp>
      <p:graphicFrame>
        <p:nvGraphicFramePr>
          <p:cNvPr id="4" name="Table 3"/>
          <p:cNvGraphicFramePr>
            <a:graphicFrameLocks noGrp="1"/>
          </p:cNvGraphicFramePr>
          <p:nvPr/>
        </p:nvGraphicFramePr>
        <p:xfrm>
          <a:off x="548640" y="1508760"/>
          <a:ext cx="8046720" cy="2070100"/>
        </p:xfrm>
        <a:graphic>
          <a:graphicData uri="http://schemas.openxmlformats.org/drawingml/2006/table">
            <a:tbl>
              <a:tblPr firstRow="0" bandRow="0"/>
              <a:tblGrid>
                <a:gridCol w="3840480"/>
                <a:gridCol w="1645920"/>
                <a:gridCol w="2560320"/>
              </a:tblGrid>
              <a:tr h="6985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davinci-003／入力長</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出力上限</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平均出力トークン数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59.4</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64</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55.7</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1,024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64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55.9</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780027"/>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公開記録、各10入力の平均。時間を推定するときは、上限ではなく実際に生成したトークン数を使う。</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三つの時間指標を読み解く</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三つの時間指標を読み解く</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測った時間と、条件をそろえた推定時間を使う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三つの時間指標を読み解く</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2468880"/>
                <a:gridCol w="5577840"/>
              </a:tblGrid>
              <a:tr h="457200">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指標</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何を表すか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40080">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Raw runtime</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APIの応答時間、または
オフラインのバッチ全体の時間</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40080">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Denoised runtime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APIの変動を除く推定。オフラインではバッチ時間÷件数</a:t>
                      </a:r>
                    </a:p>
                  </a:txBody>
                  <a:tcPr marL="63500" marR="63500" marT="38100" marB="38100" anchor="ctr">
                    <a:lnL w="7620">
                      <a:noFill/>
                    </a:lnL>
                    <a:lnR w="7620">
                      <a:noFill/>
                    </a:lnR>
                    <a:lnT w="7620">
                      <a:noFill/>
                    </a:lnT>
                    <a:lnB w="7620">
                      <a:noFill/>
                    </a:lnB>
                    <a:solidFill>
                      <a:srgbClr val="FFFEF8"/>
                    </a:solidFill>
                  </a:tcPr>
                </a:tc>
              </a:tr>
              <a:tr h="640080">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Idealized runtime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A100 GPU上の最適化実装を仮定した推定</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Narayanan et al. (2023). Cheaply Estimating Inference Efficiency Metrics for Autoregressive Transformer Models. NeurIPS.</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https://papers.nips.cc/paper_files/paper/2023/hash/d1a14493e5f84d6c6129414f0cd1a7c6-Abstract-Conference.html</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(n.d.). 推論時間の計算コード。</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https://github.com/stanford-crfm/helm/blob/v0.3.0/src/helm/benchmark/metrics/basic_metrics.py</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バッチ全体の時間を、1入力当たりへ換算する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三つの時間指標を読み解く</a:t>
            </a:r>
          </a:p>
        </p:txBody>
      </p:sp>
      <p:graphicFrame>
        <p:nvGraphicFramePr>
          <p:cNvPr id="4" name="Table 3"/>
          <p:cNvGraphicFramePr>
            <a:graphicFrameLocks noGrp="1"/>
          </p:cNvGraphicFramePr>
          <p:nvPr/>
        </p:nvGraphicFramePr>
        <p:xfrm>
          <a:off x="548640" y="1508760"/>
          <a:ext cx="8046720" cy="2103120"/>
        </p:xfrm>
        <a:graphic>
          <a:graphicData uri="http://schemas.openxmlformats.org/drawingml/2006/table">
            <a:tbl>
              <a:tblPr firstRow="0" bandRow="0"/>
              <a:tblGrid>
                <a:gridCol w="4389120"/>
                <a:gridCol w="365760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測定と換算</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時間・件数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バッチ全体の処理時間</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約12.289秒</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バッチ内の入力数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12件</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Raw runtime</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約12.289秒</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1入力当たりのDenoised runtime</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約1.024秒（12.289÷12）</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13048"/>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OPT-175B、入力256トークン・出力上限16の公開測定。</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(n.d.). 推論時間の計算コード。</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https://github.com/stanford-crfm/helm/blob/v0.3.0/src/helm/benchmark/metrics/basic_metrics.py</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同条件でも、指標ごとに意味が異なる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三つの時間指標を読み解く</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286000"/>
                <a:gridCol w="1325880"/>
                <a:gridCol w="1463040"/>
                <a:gridCol w="1508760"/>
                <a:gridCol w="1463040"/>
              </a:tblGrid>
              <a:tr h="420624">
                <a:tc>
                  <a:txBody>
                    <a:bodyPr wrap="square">
                      <a:noAutofit/>
                    </a:bodyPr>
                    <a:lstStyle/>
                    <a:p>
                      <a:pPr algn="l">
                        <a:lnSpc>
                          <a:spcPts val="1863"/>
                        </a:lnSpc>
                        <a:buNone/>
                        <a:defRPr sz="1620" b="0">
                          <a:solidFill>
                            <a:srgbClr val="303437"/>
                          </a:solidFill>
                          <a:latin typeface="Noto Sans"/>
                        </a:defRPr>
                      </a:pPr>
                      <a:r>
                        <a:rPr sz="162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63"/>
                        </a:lnSpc>
                        <a:buNone/>
                        <a:defRPr sz="1620" b="0">
                          <a:solidFill>
                            <a:srgbClr val="303437"/>
                          </a:solidFill>
                          <a:latin typeface="Noto Sans"/>
                        </a:defRPr>
                      </a:pPr>
                      <a:r>
                        <a:rPr sz="1620" b="0" lang="ja-JP" altLang="en-US">
                          <a:solidFill>
                            <a:srgbClr val="303437"/>
                          </a:solidFill>
                          <a:latin typeface="Noto Sans"/>
                          <a:ea typeface="Noto Sans CJK JP"/>
                          <a:cs typeface="Noto Sans"/>
                        </a:rPr>
                        <a:t>Raw秒</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63"/>
                        </a:lnSpc>
                        <a:buNone/>
                        <a:defRPr sz="1620" b="0">
                          <a:solidFill>
                            <a:srgbClr val="303437"/>
                          </a:solidFill>
                          <a:latin typeface="Noto Sans"/>
                        </a:defRPr>
                      </a:pPr>
                      <a:r>
                        <a:rPr sz="1620" b="0" lang="ja-JP" altLang="en-US">
                          <a:solidFill>
                            <a:srgbClr val="303437"/>
                          </a:solidFill>
                          <a:latin typeface="Noto Sans"/>
                          <a:ea typeface="Noto Sans CJK JP"/>
                          <a:cs typeface="Noto Sans"/>
                        </a:rPr>
                        <a:t>バッチ件数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63"/>
                        </a:lnSpc>
                        <a:buNone/>
                        <a:defRPr sz="1620" b="0">
                          <a:solidFill>
                            <a:srgbClr val="303437"/>
                          </a:solidFill>
                          <a:latin typeface="Noto Sans"/>
                        </a:defRPr>
                      </a:pPr>
                      <a:r>
                        <a:rPr sz="1620" b="0" lang="ja-JP" altLang="en-US">
                          <a:solidFill>
                            <a:srgbClr val="303437"/>
                          </a:solidFill>
                          <a:latin typeface="Noto Sans"/>
                          <a:ea typeface="Noto Sans CJK JP"/>
                          <a:cs typeface="Noto Sans"/>
                        </a:rPr>
                        <a:t>Denoised秒</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63"/>
                        </a:lnSpc>
                        <a:buNone/>
                        <a:defRPr sz="1620" b="0">
                          <a:solidFill>
                            <a:srgbClr val="303437"/>
                          </a:solidFill>
                          <a:latin typeface="Noto Sans"/>
                        </a:defRPr>
                      </a:pPr>
                      <a:r>
                        <a:rPr sz="1620" b="0" lang="ja-JP" altLang="en-US">
                          <a:solidFill>
                            <a:srgbClr val="303437"/>
                          </a:solidFill>
                          <a:latin typeface="Noto Sans"/>
                          <a:ea typeface="Noto Sans CJK JP"/>
                          <a:cs typeface="Noto Sans"/>
                        </a:rPr>
                        <a:t>Idealized秒</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1863"/>
                        </a:lnSpc>
                        <a:buNone/>
                        <a:defRPr sz="1620" b="0">
                          <a:solidFill>
                            <a:srgbClr val="303437"/>
                          </a:solidFill>
                          <a:latin typeface="Noto Sans"/>
                        </a:defRPr>
                      </a:pPr>
                      <a:r>
                        <a:rPr sz="1620" b="0" lang="ja-JP" altLang="en-US">
                          <a:solidFill>
                            <a:srgbClr val="303437"/>
                          </a:solidFill>
                          <a:latin typeface="Noto Sans"/>
                          <a:ea typeface="Noto Sans CJK JP"/>
                          <a:cs typeface="Noto Sans"/>
                        </a:rPr>
                        <a:t>davinci-003</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63"/>
                        </a:lnSpc>
                        <a:buNone/>
                        <a:defRPr sz="1620" b="0">
                          <a:solidFill>
                            <a:srgbClr val="303437"/>
                          </a:solidFill>
                          <a:latin typeface="Noto Sans"/>
                        </a:defRPr>
                      </a:pPr>
                      <a:r>
                        <a:rPr sz="1620" b="0" lang="ja-JP" altLang="en-US">
                          <a:solidFill>
                            <a:srgbClr val="303437"/>
                          </a:solidFill>
                          <a:latin typeface="Noto Sans"/>
                          <a:ea typeface="Noto Sans CJK JP"/>
                          <a:cs typeface="Noto Sans"/>
                        </a:rPr>
                        <a:t>2.019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63"/>
                        </a:lnSpc>
                        <a:buNone/>
                        <a:defRPr sz="1620" b="0">
                          <a:solidFill>
                            <a:srgbClr val="303437"/>
                          </a:solidFill>
                          <a:latin typeface="Noto Sans"/>
                        </a:defRPr>
                      </a:pPr>
                      <a:r>
                        <a:rPr sz="162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63"/>
                        </a:lnSpc>
                        <a:buNone/>
                        <a:defRPr sz="1620" b="0">
                          <a:solidFill>
                            <a:srgbClr val="303437"/>
                          </a:solidFill>
                          <a:latin typeface="Noto Sans"/>
                        </a:defRPr>
                      </a:pPr>
                      <a:r>
                        <a:rPr sz="162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63"/>
                        </a:lnSpc>
                        <a:buNone/>
                        <a:defRPr sz="1620" b="0">
                          <a:solidFill>
                            <a:srgbClr val="303437"/>
                          </a:solidFill>
                          <a:latin typeface="Noto Sans"/>
                        </a:defRPr>
                      </a:pPr>
                      <a:r>
                        <a:rPr sz="1620" b="0" lang="ja-JP" altLang="en-US">
                          <a:solidFill>
                            <a:srgbClr val="303437"/>
                          </a:solidFill>
                          <a:latin typeface="Noto Sans"/>
                          <a:ea typeface="Noto Sans CJK JP"/>
                          <a:cs typeface="Noto Sans"/>
                        </a:rPr>
                        <a:t>—</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1863"/>
                        </a:lnSpc>
                        <a:buNone/>
                        <a:defRPr sz="1620" b="0">
                          <a:solidFill>
                            <a:srgbClr val="303437"/>
                          </a:solidFill>
                          <a:latin typeface="Noto Sans"/>
                        </a:defRPr>
                      </a:pPr>
                      <a:r>
                        <a:rPr sz="1620" b="0" lang="ja-JP" altLang="en-US">
                          <a:solidFill>
                            <a:srgbClr val="303437"/>
                          </a:solidFill>
                          <a:latin typeface="Noto Sans"/>
                          <a:ea typeface="Noto Sans CJK JP"/>
                          <a:cs typeface="Noto Sans"/>
                        </a:rPr>
                        <a:t>AI21 J1-Jumbo</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63"/>
                        </a:lnSpc>
                        <a:buNone/>
                        <a:defRPr sz="1620" b="0">
                          <a:solidFill>
                            <a:srgbClr val="303437"/>
                          </a:solidFill>
                          <a:latin typeface="Noto Sans"/>
                        </a:defRPr>
                      </a:pPr>
                      <a:r>
                        <a:rPr sz="1620" b="0" lang="ja-JP" altLang="en-US">
                          <a:solidFill>
                            <a:srgbClr val="303437"/>
                          </a:solidFill>
                          <a:latin typeface="Noto Sans"/>
                          <a:ea typeface="Noto Sans CJK JP"/>
                          <a:cs typeface="Noto Sans"/>
                        </a:rPr>
                        <a:t>1.207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63"/>
                        </a:lnSpc>
                        <a:buNone/>
                        <a:defRPr sz="1620" b="0">
                          <a:solidFill>
                            <a:srgbClr val="303437"/>
                          </a:solidFill>
                          <a:latin typeface="Noto Sans"/>
                        </a:defRPr>
                      </a:pPr>
                      <a:r>
                        <a:rPr sz="162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63"/>
                        </a:lnSpc>
                        <a:buNone/>
                        <a:defRPr sz="1620" b="0">
                          <a:solidFill>
                            <a:srgbClr val="303437"/>
                          </a:solidFill>
                          <a:latin typeface="Noto Sans"/>
                        </a:defRPr>
                      </a:pPr>
                      <a:r>
                        <a:rPr sz="1620" b="0" lang="ja-JP" altLang="en-US">
                          <a:solidFill>
                            <a:srgbClr val="303437"/>
                          </a:solidFill>
                          <a:latin typeface="Noto Sans"/>
                          <a:ea typeface="Noto Sans CJK JP"/>
                          <a:cs typeface="Noto Sans"/>
                        </a:rPr>
                        <a:t>0.996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63"/>
                        </a:lnSpc>
                        <a:buNone/>
                        <a:defRPr sz="1620" b="0">
                          <a:solidFill>
                            <a:srgbClr val="303437"/>
                          </a:solidFill>
                          <a:latin typeface="Noto Sans"/>
                        </a:defRPr>
                      </a:pPr>
                      <a:r>
                        <a:rPr sz="1620" b="0" lang="ja-JP" altLang="en-US">
                          <a:solidFill>
                            <a:srgbClr val="303437"/>
                          </a:solidFill>
                          <a:latin typeface="Noto Sans"/>
                          <a:ea typeface="Noto Sans CJK JP"/>
                          <a:cs typeface="Noto Sans"/>
                        </a:rPr>
                        <a:t>1.057</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863"/>
                        </a:lnSpc>
                        <a:buNone/>
                        <a:defRPr sz="1620" b="0">
                          <a:solidFill>
                            <a:srgbClr val="303437"/>
                          </a:solidFill>
                          <a:latin typeface="Noto Sans"/>
                        </a:defRPr>
                      </a:pPr>
                      <a:r>
                        <a:rPr sz="1620" b="0" lang="ja-JP" altLang="en-US">
                          <a:solidFill>
                            <a:srgbClr val="303437"/>
                          </a:solidFill>
                          <a:latin typeface="Noto Sans"/>
                          <a:ea typeface="Noto Sans CJK JP"/>
                          <a:cs typeface="Noto Sans"/>
                        </a:rPr>
                        <a:t>OPT-175B</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63"/>
                        </a:lnSpc>
                        <a:buNone/>
                        <a:defRPr sz="1620" b="0">
                          <a:solidFill>
                            <a:srgbClr val="303437"/>
                          </a:solidFill>
                          <a:latin typeface="Noto Sans"/>
                        </a:defRPr>
                      </a:pPr>
                      <a:r>
                        <a:rPr sz="1620" b="0" lang="ja-JP" altLang="en-US">
                          <a:solidFill>
                            <a:srgbClr val="303437"/>
                          </a:solidFill>
                          <a:latin typeface="Noto Sans"/>
                          <a:ea typeface="Noto Sans CJK JP"/>
                          <a:cs typeface="Noto Sans"/>
                        </a:rPr>
                        <a:t>12.289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63"/>
                        </a:lnSpc>
                        <a:buNone/>
                        <a:defRPr sz="1620" b="0">
                          <a:solidFill>
                            <a:srgbClr val="303437"/>
                          </a:solidFill>
                          <a:latin typeface="Noto Sans"/>
                        </a:defRPr>
                      </a:pPr>
                      <a:r>
                        <a:rPr sz="1620" b="0" lang="ja-JP" altLang="en-US">
                          <a:solidFill>
                            <a:srgbClr val="303437"/>
                          </a:solidFill>
                          <a:latin typeface="Noto Sans"/>
                          <a:ea typeface="Noto Sans CJK JP"/>
                          <a:cs typeface="Noto Sans"/>
                        </a:rPr>
                        <a:t>12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63"/>
                        </a:lnSpc>
                        <a:buNone/>
                        <a:defRPr sz="1620" b="0">
                          <a:solidFill>
                            <a:srgbClr val="303437"/>
                          </a:solidFill>
                          <a:latin typeface="Noto Sans"/>
                        </a:defRPr>
                      </a:pPr>
                      <a:r>
                        <a:rPr sz="1620" b="0" lang="ja-JP" altLang="en-US">
                          <a:solidFill>
                            <a:srgbClr val="303437"/>
                          </a:solidFill>
                          <a:latin typeface="Noto Sans"/>
                          <a:ea typeface="Noto Sans CJK JP"/>
                          <a:cs typeface="Noto Sans"/>
                        </a:rPr>
                        <a:t>1.024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63"/>
                        </a:lnSpc>
                        <a:buNone/>
                        <a:defRPr sz="1620" b="0">
                          <a:solidFill>
                            <a:srgbClr val="303437"/>
                          </a:solidFill>
                          <a:latin typeface="Noto Sans"/>
                        </a:defRPr>
                      </a:pPr>
                      <a:r>
                        <a:rPr sz="1620" b="0" lang="ja-JP" altLang="en-US">
                          <a:solidFill>
                            <a:srgbClr val="303437"/>
                          </a:solidFill>
                          <a:latin typeface="Noto Sans"/>
                          <a:ea typeface="Noto Sans CJK JP"/>
                          <a:cs typeface="Noto Sans"/>
                        </a:rPr>
                        <a:t>1.324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公開記録。入力256・出力上限16、10入力の平均。—は推定値なし。OPTのRawは12入力のバッチ全体。</a:t>
            </a:r>
          </a:p>
        </p:txBody>
      </p:sp>
      <p:sp>
        <p:nvSpPr>
          <p:cNvPr id="6"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(n.d.). 推論時間の計算コード。</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https://github.com/stanford-crfm/helm/blob/v0.3.0/src/helm/benchmark/metrics/basic_metrics.py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davinci-003：長さ条件ごとの応答時間</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三つの時間指標を読み解く</a:t>
            </a:r>
          </a:p>
        </p:txBody>
      </p:sp>
      <p:graphicFrame>
        <p:nvGraphicFramePr>
          <p:cNvPr id="4" name="Chart 3"/>
          <p:cNvGraphicFramePr>
            <a:graphicFrameLocks noGrp="1"/>
          </p:cNvGraphicFramePr>
          <p:nvPr/>
        </p:nvGraphicFramePr>
        <p:xfrm>
          <a:off x="685800" y="1463040"/>
          <a:ext cx="7772400" cy="2606040"/>
        </p:xfrm>
        <a:graphic>
          <a:graphicData uri="http://schemas.openxmlformats.org/drawingml/2006/chart">
            <c:chart xmlns:c="http://schemas.openxmlformats.org/drawingml/2006/chart" r:id="rId2"/>
          </a:graphicData>
        </a:graphic>
      </p:graphicFrame>
      <p:sp>
        <p:nvSpPr>
          <p:cNvPr id="5" name="TextBox 4"/>
          <p:cNvSpPr txBox="1"/>
          <p:nvPr/>
        </p:nvSpPr>
        <p:spPr>
          <a:xfrm>
            <a:off x="594360" y="4160520"/>
            <a:ext cx="7955279" cy="438912"/>
          </a:xfrm>
          <a:prstGeom prst="rect">
            <a:avLst/>
          </a:prstGeom>
          <a:noFill/>
        </p:spPr>
        <p:txBody>
          <a:bodyPr wrap="square" lIns="0" rIns="0" tIns="0" bIns="0">
            <a:noAutofit/>
          </a:bodyPr>
          <a:lstStyle/>
          <a:p>
            <a:pPr algn="l">
              <a:lnSpc>
                <a:spcPts val="1813"/>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各点は公開記録10入力の平均。出力上限64でも、実際の生成数は入力ごとに異なる。</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https://crfm.stanford.edu/helm/classic/v0.4.0/#/groups/synthetic_efficiency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同一条件でも、個々の応答時間は違う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2022年の公開測定では、davinci-003の入力256・出力上限16で、10入力の平均が2.019秒、個々の応答は0.681〜4.123秒だった。通信やサービスの混雑なども、応答時間のばらつきに関わる。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Denoisedは複数回の最短時間を使う回帰で、API測定の変動を抑えた推定。Idealizedは共通のハードウェア・実装を使う推定で、比較したい条件に合わせて使う。</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三つの時間指標を読み解く</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Narayanan et al. (2023). Cheaply Estimating Inference Efficiency Metrics for Autoregressive Transformer Models. NeurIPS.</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https://papers.nips.cc/paper_files/paper/2023/hash/d1a14493e5f84d6c6129414f0cd1a7c6-Abstract-Conference.html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保存記録から、入力・出力・測定秒を読む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3. 三つの時間指標を読み解く</a:t>
            </a:r>
          </a:p>
        </p:txBody>
      </p:sp>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
        <p:nvSpPr>
          <p:cNvPr id="6" name="code-frame"/>
          <p:cNvSpPr txBox="1"/>
          <p:nvPr/>
        </p:nvSpPr>
        <p:spPr>
          <a:xfrm>
            <a:off x="548640" y="1508760"/>
            <a:ext cx="8046720" cy="1540933"/>
          </a:xfrm>
          <a:prstGeom prst="rect">
            <a:avLst/>
          </a:prstGeom>
          <a:solidFill>
            <a:srgbClr val="EBEDEB"/>
          </a:solidFill>
        </p:spPr>
        <p:txBody>
          <a:bodyPr wrap="square" lIns="101600" rIns="101600" tIns="44026" bIns="101600">
            <a:noAutofit/>
          </a:bodyPr>
          <a:lstStyle/>
          <a:p>
            <a:pPr algn="l">
              <a:lnSpc>
                <a:spcPts val="183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import json</a:t>
            </a:r>
          </a:p>
          <a:p>
            <a:pPr algn="l">
              <a:lnSpc>
                <a:spcPts val="183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state = json.load(open("scenario_state.json", encoding="utf-8"))</a:t>
            </a:r>
          </a:p>
          <a:p>
            <a:pPr algn="l">
              <a:lnSpc>
                <a:spcPts val="183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request = state["request_states"][0]</a:t>
            </a:r>
          </a:p>
          <a:p>
            <a:pPr algn="l">
              <a:lnSpc>
                <a:spcPts val="183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print(request["instance"]["input"]["text"])</a:t>
            </a:r>
          </a:p>
          <a:p>
            <a:pPr algn="l">
              <a:lnSpc>
                <a:spcPts val="183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print(request["result"]["completions"][0]["text"])</a:t>
            </a:r>
          </a:p>
          <a:p>
            <a:pPr algn="l">
              <a:lnSpc>
                <a:spcPts val="1830"/>
              </a:lnSpc>
              <a:spcBef>
                <a:spcPts val="0"/>
              </a:spcBef>
              <a:spcAft>
                <a:spcPts val="0"/>
              </a:spcAft>
              <a:buNone/>
              <a:defRPr sz="1500" b="0">
                <a:solidFill>
                  <a:srgbClr val="303437"/>
                </a:solidFill>
                <a:latin typeface="Noto Sans"/>
              </a:defRPr>
            </a:pPr>
            <a:r>
              <a:rPr sz="1500" b="0" lang="ja-JP" altLang="en-US">
                <a:solidFill>
                  <a:srgbClr val="303437"/>
                </a:solidFill>
                <a:latin typeface="Liberation Mono"/>
                <a:ea typeface="Noto Sans CJK JP"/>
                <a:cs typeface="Liberation Mono"/>
              </a:rPr>
              <a:t>print(request["result"]["request_time"])</a:t>
            </a:r>
          </a:p>
        </p:txBody>
      </p:sp>
      <p:sp>
        <p:nvSpPr>
          <p:cNvPr id="7" name="TextBox 6"/>
          <p:cNvSpPr txBox="1"/>
          <p:nvPr/>
        </p:nvSpPr>
        <p:spPr>
          <a:xfrm>
            <a:off x="594360" y="3657600"/>
            <a:ext cx="7955279" cy="685800"/>
          </a:xfrm>
          <a:prstGeom prst="rect">
            <a:avLst/>
          </a:prstGeom>
          <a:noFill/>
        </p:spPr>
        <p:txBody>
          <a:bodyPr wrap="square" lIns="0" rIns="0" tIns="0" bIns="0">
            <a:noAutofit/>
          </a:bodyPr>
          <a:lstStyle/>
          <a:p>
            <a:pPr algn="l">
              <a:lnSpc>
                <a:spcPts val="2106"/>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公開記録をscenario_state.jsonとして保存して実行する。最初の入力と生成文、応答時間（秒）が得られる。</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時間の近似と、公開記録の使い方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時間の近似と、公開記録の使い方</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入力処理と、逐次生成の時間を近似する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推論時間は、入力をまとめて処理する段階と、出力を1トークンずつ生成する段階からなる。入力長と出力長は、この処理時間に異なる形で関わる。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Narayananらの2023年の研究は、二つの段階を測って時間を近似し、ハードウェアと実装をそろえたIdealized runtimeを示した。</a:t>
            </a:r>
          </a:p>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A100 GPUとMegatronを使い、モデル規模に応じたGPU数を想定する。サービス側の構成や待ち時間を含む応答時間とは、比較する条件が異なる。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時間の近似と、公開記録の使い方</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Liang et al. (2022). Holistic Evaluation of Language Models. arXiv:2211.09110v1.</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https://arxiv.org/abs/2211.09110v1</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Narayanan et al. (2023). Cheaply Estimating Inference Efficiency Metrics for Autoregressive Transformer Models. NeurIPS.</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https://papers.nips.cc/paper_files/paper/2023/hash/d1a14493e5f84d6c6129414f0cd1a7c6-Abstract-Conference.html</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公開された入力・出力・時間と、生成コードを使う</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公開研究記録には、モデルと長さ条件ごとの入力、生成文、時間が保存されている。入力生成コードも公開されている。本資料の10断片と生成出力は、この公開記録のものである。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素材は、公開当時にパブリックドメインの資料として紹介された文学作品。作品や利用する版ごとの条件は、Project Gutenbergなどの公開元で確認できる。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時間の近似と、公開記録の使い方</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(n.d.). SyntheticEfficiencyScenario.</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https://github.com/stanford-crfm/helm/blob/v0.3.0/src/helm/benchmark/scenarios/synthetic_efficiency_scenario.py</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(2023). Synthetic efficiency 公開研究記録。</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https://crfm.stanford.edu/helm/classic/v0.4.0/#/groups/synthetic_efficiency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まとめ：入力・生成長と、時間の定義をそろえる</a:t>
            </a:r>
          </a:p>
        </p:txBody>
      </p:sp>
      <p:sp>
        <p:nvSpPr>
          <p:cNvPr id="3" name="Text Placeholder 2"/>
          <p:cNvSpPr>
            <a:spLocks noGrp="1"/>
          </p:cNvSpPr>
          <p:nvPr>
            <p:ph type="body" idx="1"/>
          </p:nvPr>
        </p:nvSpPr>
        <p:spPr>
          <a:xfrm>
            <a:off x="594360" y="1463040"/>
            <a:ext cx="7955279" cy="3044952"/>
          </a:xfrm>
        </p:spPr>
        <p:txBody>
          <a:bodyPr wrap="square" tIns="91440" bIns="91440">
            <a:noAutofit/>
          </a:bodyPr>
          <a:lstStyle/>
          <a:p>
            <a:pPr marL="457200" indent="-355600">
              <a:lnSpc>
                <a:spcPts val="2379"/>
              </a:lnSpc>
              <a:spcAft>
                <a:spcPts val="70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固定テキストから続きを生成し、入力長と生成上限を変えて推論時間を調べる。実際の生成数が上限より少なくなることも、処理時間に関わる。</a:t>
            </a:r>
          </a:p>
          <a:p>
            <a:pPr marL="457200" indent="-355600">
              <a:lnSpc>
                <a:spcPts val="2379"/>
              </a:lnSpc>
              <a:spcAft>
                <a:spcPts val="0"/>
              </a:spcAft>
              <a:buSzPct val="66500"/>
              <a:buFont typeface="Noto Sans CJK JP"/>
              <a:buChar char="●"/>
              <a:defRPr sz="2000" b="0">
                <a:solidFill>
                  <a:srgbClr val="303437"/>
                </a:solidFill>
                <a:latin typeface="Noto Sans"/>
              </a:defRPr>
            </a:pPr>
            <a:r>
              <a:rPr sz="2000" b="0" lang="ja-JP" altLang="en-US">
                <a:solidFill>
                  <a:srgbClr val="303437"/>
                </a:solidFill>
                <a:latin typeface="Noto Sans"/>
                <a:ea typeface="Noto Sans CJK JP"/>
                <a:cs typeface="Noto Sans"/>
              </a:rPr>
              <a:t>Rawは応答やバッチ全体の実測時間。Denoisedは変動を抑えた推定で、バッチでは1入力分へ換算する。Idealizedはハードウェアと実装をそろえた推定で、異なる観点から生成処理を比べられる。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4. 時間の近似と、公開記録の使い方</a:t>
            </a:r>
          </a:p>
        </p:txBody>
      </p:sp>
      <p:sp>
        <p:nvSpPr>
          <p:cNvPr id="5" name="sources"/>
          <p:cNvSpPr txBox="1"/>
          <p:nvPr/>
        </p:nvSpPr>
        <p:spPr>
          <a:xfrm>
            <a:off x="502920" y="451713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a:p>
            <a:pPr>
              <a:lnSpc>
                <a:spcPts val="940"/>
              </a:lnSpc>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[2] Stanford CRFM (n.d.). 推論時間の計算コード。</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3"/>
              </a:rPr>
              <a:t>https://github.com/stanford-crfm/helm/blob/v0.3.0/src/helm/benchmark/metrics/basic_metrics.py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84835"/>
            <a:ext cx="8046720" cy="686816"/>
          </a:xfrm>
        </p:spPr>
        <p:txBody>
          <a:bodyPr wrap="square" lIns="0" rIns="0" tIns="0" bIns="10160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640080" y="1972511"/>
            <a:ext cx="7863840" cy="1744980"/>
          </a:xfrm>
        </p:spPr>
        <p:txBody>
          <a:bodyPr lIns="0" rIns="0" tIns="0" bIns="0">
            <a:noAutofit/>
          </a:bodyPr>
          <a:lstStyle/>
          <a:p>
            <a:pPr marL="457200" indent="-457200">
              <a:lnSpc>
                <a:spcPts val="3660"/>
              </a:lnSpc>
              <a:spcAft>
                <a:spcPts val="12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残り7入力の全文と訳</a:t>
            </a:r>
          </a:p>
          <a:p>
            <a:pPr marL="457200" indent="-457200">
              <a:lnSpc>
                <a:spcPts val="3660"/>
              </a:lnSpc>
              <a:spcAft>
                <a:spcPts val="12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長さ条件ごとの測定値</a:t>
            </a:r>
          </a:p>
          <a:p>
            <a:pPr marL="457200" indent="-457200">
              <a:lnSpc>
                <a:spcPts val="3660"/>
              </a:lnSpc>
              <a:spcAft>
                <a:spcPts val="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目次</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実例4：ベネット夫妻の紹介をめぐる会話</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残り7入力の全文と訳</a:t>
            </a:r>
          </a:p>
        </p:txBody>
      </p:sp>
      <p:sp>
        <p:nvSpPr>
          <p:cNvPr id="4" name="TextBox 3"/>
          <p:cNvSpPr txBox="1"/>
          <p:nvPr/>
        </p:nvSpPr>
        <p:spPr>
          <a:xfrm>
            <a:off x="548640" y="1188720"/>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入力テキスト（全文）</a:t>
            </a:r>
          </a:p>
        </p:txBody>
      </p:sp>
      <p:sp>
        <p:nvSpPr>
          <p:cNvPr id="5" name="quote-frame"/>
          <p:cNvSpPr/>
          <p:nvPr/>
        </p:nvSpPr>
        <p:spPr>
          <a:xfrm>
            <a:off x="548640" y="1524000"/>
            <a:ext cx="8046720" cy="2667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8928" bIns="127000">
            <a:noAutofit/>
          </a:bodyPr>
          <a:lstStyle/>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the advantage of your friend, and introduce Mr. Bingley to _her_.”</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“Impossible, Mr. Bennet, impossible, when I am not acquainted with him myself; how can you be so teasing?”</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“I honour your circumspection. A fortnight’s acquaintance is certainly very little. One cannot know what a man really is by the end of a fortnight. But if _we_ do not venture somebody else will; and after all, Mrs. Long and her nieces must stand their chance; and, therefore, as she will think it an act of kindness, if you decline the office, I will take it on myself.”</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The girls stared at their father. Mrs. Bennet said only, “Nonsense, nonsense!”</a:t>
            </a:r>
          </a:p>
          <a:p>
            <a:pPr algn="l">
              <a:lnSpc>
                <a:spcPts val="1963"/>
              </a:lnSpc>
              <a:spcBef>
                <a:spcPts val="0"/>
              </a:spcBef>
              <a:spcAft>
                <a:spcPts val="0"/>
              </a:spcAft>
              <a:buNone/>
              <a:defRPr sz="1650" b="0">
                <a:solidFill>
                  <a:srgbClr val="303437"/>
                </a:solidFill>
                <a:latin typeface="Noto Sans"/>
              </a:defRPr>
            </a:pPr>
            <a:r>
              <a:rPr sz="1650" b="0" lang="ja-JP" altLang="en-US">
                <a:solidFill>
                  <a:srgbClr val="303437"/>
                </a:solidFill>
                <a:latin typeface="Noto Sans"/>
                <a:ea typeface="Noto Sans CJK JP"/>
                <a:cs typeface="Noto Sans"/>
              </a:rPr>
              <a:t>“What can be the meaning of that emphatic exclamation?” cried he.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 Jane Austen. Pride and Prejudice. Project Gutenberg eBook1342、2026-10-18取得。</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実例4：ベネット夫妻の紹介をめぐる会話（訳）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残り7入力の全文と訳</a:t>
            </a:r>
          </a:p>
        </p:txBody>
      </p:sp>
      <p:sp>
        <p:nvSpPr>
          <p:cNvPr id="4" name="TextBox 3"/>
          <p:cNvSpPr txBox="1"/>
          <p:nvPr/>
        </p:nvSpPr>
        <p:spPr>
          <a:xfrm>
            <a:off x="548640" y="1188720"/>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入力テキストの日本語訳</a:t>
            </a:r>
          </a:p>
        </p:txBody>
      </p:sp>
      <p:sp>
        <p:nvSpPr>
          <p:cNvPr id="5" name="quote-frame"/>
          <p:cNvSpPr/>
          <p:nvPr/>
        </p:nvSpPr>
        <p:spPr>
          <a:xfrm>
            <a:off x="548640" y="1507066"/>
            <a:ext cx="8046720" cy="2734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5861"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お友達のために、ビングリー氏をあの方にご紹介なさっては。」</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「無理ですわ、ベネットさん、無理ですよ。私自身、面識がないのですから。どうしてそんなにからかうの？」</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その慎重さには敬服するよ。知り合って二週間というのは、確かにごく短い。二週間たっただけでは、その人の本当の人柄は分からないからね。だが、私たちが思い切ってやらなければ、誰かほかの人がやるだろう。それに、ロング夫人と姪御さんたちにも、好機をつかむ余地はあってよい。だから結局、あの方には親切なことと思われるだろうし、君がその役を辞退するなら、私が引き受けよう。」</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娘たちは父親をまじまじと見た。ベネット夫人はただ、</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「ばかばかしい、ばかばかしい！」と言った。</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「その力強い叫びは、どういう意味だろうね？」と彼は声を上げた。</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 Jane Austen. Pride and Prejudice. Project Gutenberg eBook1342、2026-10-18取得。</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実例5：エルバ島で皇帝に会ったダンテス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残り7入力の全文と訳</a:t>
            </a:r>
          </a:p>
        </p:txBody>
      </p:sp>
      <p:sp>
        <p:nvSpPr>
          <p:cNvPr id="4" name="TextBox 3"/>
          <p:cNvSpPr txBox="1"/>
          <p:nvPr/>
        </p:nvSpPr>
        <p:spPr>
          <a:xfrm>
            <a:off x="548640" y="1188720"/>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入力テキスト（全文）</a:t>
            </a:r>
          </a:p>
        </p:txBody>
      </p:sp>
      <p:sp>
        <p:nvSpPr>
          <p:cNvPr id="5" name="quote-frame"/>
          <p:cNvSpPr/>
          <p:nvPr/>
        </p:nvSpPr>
        <p:spPr>
          <a:xfrm>
            <a:off x="548640" y="1524000"/>
            <a:ext cx="8046720" cy="29633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8560" bIns="127000">
            <a:noAutofit/>
          </a:bodyPr>
          <a:lstStyle/>
          <a:p>
            <a:pPr algn="l">
              <a:lnSpc>
                <a:spcPts val="1695"/>
              </a:lnSpc>
              <a:spcBef>
                <a:spcPts val="0"/>
              </a:spcBef>
              <a:spcAft>
                <a:spcPts val="0"/>
              </a:spcAft>
              <a:buNone/>
              <a:defRPr sz="1425" b="0">
                <a:solidFill>
                  <a:srgbClr val="303437"/>
                </a:solidFill>
                <a:latin typeface="Noto Sans"/>
              </a:defRPr>
            </a:pPr>
            <a:r>
              <a:rPr sz="1425" b="0" lang="ja-JP" altLang="en-US">
                <a:solidFill>
                  <a:srgbClr val="303437"/>
                </a:solidFill>
                <a:latin typeface="Noto Sans"/>
                <a:ea typeface="Noto Sans CJK JP"/>
                <a:cs typeface="Noto Sans"/>
              </a:rPr>
              <a:t>was Policar Morrel, my uncle, who was afterwards a captain. Dantès, you must tell my uncle that the emperor remembered him, and you will see it will bring tears into the old soldier’s eyes. Come, come,” continued he, patting Edmond’s shoulder kindly, “you did very right, Dantès, to follow Captain Leclere’s instructions, and touch at Elba, although if it were known that you had conveyed a packet to the marshal, and had conversed with the emperor, it might bring you into trouble.”</a:t>
            </a:r>
          </a:p>
          <a:p>
            <a:pPr algn="l">
              <a:lnSpc>
                <a:spcPts val="1695"/>
              </a:lnSpc>
              <a:spcBef>
                <a:spcPts val="0"/>
              </a:spcBef>
              <a:spcAft>
                <a:spcPts val="0"/>
              </a:spcAft>
              <a:buNone/>
              <a:defRPr sz="1425" b="0">
                <a:solidFill>
                  <a:srgbClr val="303437"/>
                </a:solidFill>
                <a:latin typeface="Noto Sans"/>
              </a:defRPr>
            </a:pPr>
            <a:r>
              <a:rPr sz="1425" b="0" lang="ja-JP" altLang="en-US">
                <a:solidFill>
                  <a:srgbClr val="303437"/>
                </a:solidFill>
                <a:latin typeface="Noto Sans"/>
                <a:ea typeface="Noto Sans CJK JP"/>
                <a:cs typeface="Noto Sans"/>
              </a:rPr>
              <a:t>0027m</a:t>
            </a:r>
          </a:p>
          <a:p>
            <a:pPr algn="l">
              <a:lnSpc>
                <a:spcPts val="1695"/>
              </a:lnSpc>
              <a:spcBef>
                <a:spcPts val="0"/>
              </a:spcBef>
              <a:spcAft>
                <a:spcPts val="0"/>
              </a:spcAft>
              <a:buNone/>
              <a:defRPr sz="1425" b="0">
                <a:solidFill>
                  <a:srgbClr val="303437"/>
                </a:solidFill>
                <a:latin typeface="Noto Sans"/>
              </a:defRPr>
            </a:pPr>
            <a:r>
              <a:rPr sz="1425" b="0" lang="ja-JP" altLang="en-US">
                <a:solidFill>
                  <a:srgbClr val="303437"/>
                </a:solidFill>
                <a:latin typeface="Noto Sans"/>
                <a:ea typeface="Noto Sans CJK JP"/>
                <a:cs typeface="Noto Sans"/>
              </a:rPr>
              <a:t>“How could that bring me into trouble, sir?” asked Dantès; “for I did not even know of what I was the bearer; and the emperor merely made such inquiries as he would of the first comer. But, pardon me, here are the health officers and the customs inspectors coming alongside.” And the young man went to the gangway. As he departed, Danglars approached, and said,—</a:t>
            </a:r>
          </a:p>
          <a:p>
            <a:pPr algn="l">
              <a:lnSpc>
                <a:spcPts val="1695"/>
              </a:lnSpc>
              <a:spcBef>
                <a:spcPts val="0"/>
              </a:spcBef>
              <a:spcAft>
                <a:spcPts val="0"/>
              </a:spcAft>
              <a:buNone/>
              <a:defRPr sz="1425" b="0">
                <a:solidFill>
                  <a:srgbClr val="303437"/>
                </a:solidFill>
                <a:latin typeface="Noto Sans"/>
              </a:defRPr>
            </a:pPr>
            <a:r>
              <a:rPr sz="1425" b="0" lang="ja-JP" altLang="en-US">
                <a:solidFill>
                  <a:srgbClr val="303437"/>
                </a:solidFill>
                <a:latin typeface="Noto Sans"/>
                <a:ea typeface="Noto Sans CJK JP"/>
                <a:cs typeface="Noto Sans"/>
              </a:rPr>
              <a:t>“Well, it appears that</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 Alexandre Dumas. The Count of Monte Cristo. Project Gutenberg eBook1184、2026-10-18取得。</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実例5：エルバ島で皇帝に会ったダンテス（訳）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残り7入力の全文と訳</a:t>
            </a:r>
          </a:p>
        </p:txBody>
      </p:sp>
      <p:sp>
        <p:nvSpPr>
          <p:cNvPr id="4" name="TextBox 3"/>
          <p:cNvSpPr txBox="1"/>
          <p:nvPr/>
        </p:nvSpPr>
        <p:spPr>
          <a:xfrm>
            <a:off x="548640" y="1188720"/>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入力テキストの日本語訳</a:t>
            </a:r>
          </a:p>
        </p:txBody>
      </p:sp>
      <p:sp>
        <p:nvSpPr>
          <p:cNvPr id="5" name="quote-frame"/>
          <p:cNvSpPr/>
          <p:nvPr/>
        </p:nvSpPr>
        <p:spPr>
          <a:xfrm>
            <a:off x="548640" y="1507066"/>
            <a:ext cx="8046720" cy="27347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5861"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それはポリカール・モレル、私の叔父で、後に大尉になった者だ。ダンテス、皇帝が覚えていらしたと、叔父に必ず伝えてくれ。あの老兵の目には涙が浮かぶだろう。さあさあ」と彼は続け、親しげにエドモンの肩をたたいた。「ルクレール船長の指示に従い、エルバ島に立ち寄ったのは大変よかった。もっとも、元帥に小包を届け、皇帝と話したと知れれば、面倒に巻き込まれるかもしれないがね。」</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0027m</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どうして面倒になるのでしょう、旦那？」とダンテスは尋ねた。「私は何を運んでいたのかさえ知らず、皇帝も、たまたま会った相手にするような質問をなさっただけです。ですが、失礼します。検疫官と税関の検査官たちが、船のそばに来ています。」若者は舷門へ向かった。彼が離れると、ダングラールが近寄って言った。</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「さて、どうやら、」</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 Alexandre Dumas. The Count of Monte Cristo. Project Gutenberg eBook1184、2026-10-18取得。</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実例6：ケーキを食べた後のアリス</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残り7入力の全文と訳</a:t>
            </a:r>
          </a:p>
        </p:txBody>
      </p:sp>
      <p:sp>
        <p:nvSpPr>
          <p:cNvPr id="4" name="TextBox 3"/>
          <p:cNvSpPr txBox="1"/>
          <p:nvPr/>
        </p:nvSpPr>
        <p:spPr>
          <a:xfrm>
            <a:off x="548640" y="1188720"/>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入力テキスト（全文）</a:t>
            </a:r>
          </a:p>
        </p:txBody>
      </p:sp>
      <p:sp>
        <p:nvSpPr>
          <p:cNvPr id="5" name="quote-frame"/>
          <p:cNvSpPr/>
          <p:nvPr/>
        </p:nvSpPr>
        <p:spPr>
          <a:xfrm>
            <a:off x="548640" y="1532466"/>
            <a:ext cx="8046720" cy="27008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461" bIns="127000">
            <a:noAutofit/>
          </a:bodyPr>
          <a:lstStyle/>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door; so either way I’ll get into the garden, and I don’t care which happens!”</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She ate a little bit, and said anxiously to herself, “Which way? Which way?”, holding her hand on the top of her head to feel which way it was growing, and she was quite surprised to find that she remained the same size: to be sure, this generally happens when one eats cake, but Alice had got so much into the way of expecting nothing but out-of-the-way things to happen, that it seemed quite dull and stupid for life to go on in the common way.</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So she set to work, and very soon finished off the cake.</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 * * * * * *</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 * * * * *</a:t>
            </a:r>
          </a:p>
          <a:p>
            <a:pPr algn="l">
              <a:lnSpc>
                <a:spcPts val="1904"/>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 * * *</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 Lewis Carroll. Alice’s Adventures in Wonderland. Project Gutenberg eBook11、2026-10-18取得。</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実例6：ケーキを食べた後のアリス（訳）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残り7入力の全文と訳</a:t>
            </a:r>
          </a:p>
        </p:txBody>
      </p:sp>
      <p:sp>
        <p:nvSpPr>
          <p:cNvPr id="4" name="TextBox 3"/>
          <p:cNvSpPr txBox="1"/>
          <p:nvPr/>
        </p:nvSpPr>
        <p:spPr>
          <a:xfrm>
            <a:off x="548640" y="1188720"/>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入力テキストの日本語訳</a:t>
            </a:r>
          </a:p>
        </p:txBody>
      </p:sp>
      <p:sp>
        <p:nvSpPr>
          <p:cNvPr id="5" name="quote-frame"/>
          <p:cNvSpPr/>
          <p:nvPr/>
        </p:nvSpPr>
        <p:spPr>
          <a:xfrm>
            <a:off x="548640" y="1515533"/>
            <a:ext cx="8046720" cy="265853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7394" bIns="127000">
            <a:noAutofit/>
          </a:bodyPr>
          <a:lstStyle/>
          <a:p>
            <a:pPr algn="l">
              <a:lnSpc>
                <a:spcPts val="1993"/>
              </a:lnSpc>
              <a:spcBef>
                <a:spcPts val="0"/>
              </a:spcBef>
              <a:spcAft>
                <a:spcPts val="0"/>
              </a:spcAft>
              <a:buNone/>
              <a:defRPr sz="1675" b="0">
                <a:solidFill>
                  <a:srgbClr val="303437"/>
                </a:solidFill>
                <a:latin typeface="Noto Sans"/>
              </a:defRPr>
            </a:pPr>
            <a:r>
              <a:rPr sz="1675" b="0" lang="ja-JP" altLang="en-US">
                <a:solidFill>
                  <a:srgbClr val="303437"/>
                </a:solidFill>
                <a:latin typeface="Noto Sans"/>
                <a:ea typeface="Noto Sans CJK JP"/>
                <a:cs typeface="Noto Sans"/>
              </a:rPr>
              <a:t>扉。どちらになっても庭に入れるんだから、どうなったって構わないわ！」</a:t>
            </a:r>
          </a:p>
          <a:p>
            <a:pPr algn="l">
              <a:lnSpc>
                <a:spcPts val="1993"/>
              </a:lnSpc>
              <a:spcBef>
                <a:spcPts val="0"/>
              </a:spcBef>
              <a:spcAft>
                <a:spcPts val="0"/>
              </a:spcAft>
              <a:buNone/>
              <a:defRPr sz="1675" b="0">
                <a:solidFill>
                  <a:srgbClr val="303437"/>
                </a:solidFill>
                <a:latin typeface="Noto Sans"/>
              </a:defRPr>
            </a:pPr>
            <a:r>
              <a:rPr sz="1675" b="0" lang="ja-JP" altLang="en-US">
                <a:solidFill>
                  <a:srgbClr val="303437"/>
                </a:solidFill>
                <a:latin typeface="Noto Sans"/>
                <a:ea typeface="Noto Sans CJK JP"/>
                <a:cs typeface="Noto Sans"/>
              </a:rPr>
              <a:t>少し食べて、「どっち？ どっち？」と心配そうに言いながら、どちらへ伸びるか確かめようと、頭のてっぺんに手を当てた。ところが、大きさが変わらないので、ひどく驚いた。もちろん、ケーキを食べれば普通はそうなるのだが、アリスは何でも途方もないことが起きるのに慣れきっていたので、物事が当たり前のまま進むのは、まるで退屈でつまらなく思えた。</a:t>
            </a:r>
          </a:p>
          <a:p>
            <a:pPr algn="l">
              <a:lnSpc>
                <a:spcPts val="1993"/>
              </a:lnSpc>
              <a:spcBef>
                <a:spcPts val="0"/>
              </a:spcBef>
              <a:spcAft>
                <a:spcPts val="0"/>
              </a:spcAft>
              <a:buNone/>
              <a:defRPr sz="1675" b="0">
                <a:solidFill>
                  <a:srgbClr val="303437"/>
                </a:solidFill>
                <a:latin typeface="Noto Sans"/>
              </a:defRPr>
            </a:pPr>
            <a:r>
              <a:rPr sz="1675" b="0" lang="ja-JP" altLang="en-US">
                <a:solidFill>
                  <a:srgbClr val="303437"/>
                </a:solidFill>
                <a:latin typeface="Noto Sans"/>
                <a:ea typeface="Noto Sans CJK JP"/>
                <a:cs typeface="Noto Sans"/>
              </a:rPr>
              <a:t>そこで食べることに取りかかり、すぐにケーキをすっかり平らげた。</a:t>
            </a:r>
          </a:p>
          <a:p>
            <a:pPr algn="l">
              <a:lnSpc>
                <a:spcPts val="1993"/>
              </a:lnSpc>
              <a:spcBef>
                <a:spcPts val="0"/>
              </a:spcBef>
              <a:spcAft>
                <a:spcPts val="0"/>
              </a:spcAft>
              <a:buNone/>
              <a:defRPr sz="1675" b="0">
                <a:solidFill>
                  <a:srgbClr val="303437"/>
                </a:solidFill>
                <a:latin typeface="Noto Sans"/>
              </a:defRPr>
            </a:pPr>
            <a:r>
              <a:rPr sz="1675" b="0" lang="ja-JP" altLang="en-US">
                <a:solidFill>
                  <a:srgbClr val="303437"/>
                </a:solidFill>
                <a:latin typeface="Noto Sans"/>
                <a:ea typeface="Noto Sans CJK JP"/>
                <a:cs typeface="Noto Sans"/>
              </a:rPr>
              <a:t>＊　＊　＊　＊　＊　＊　＊</a:t>
            </a:r>
          </a:p>
          <a:p>
            <a:pPr algn="l">
              <a:lnSpc>
                <a:spcPts val="1993"/>
              </a:lnSpc>
              <a:spcBef>
                <a:spcPts val="0"/>
              </a:spcBef>
              <a:spcAft>
                <a:spcPts val="0"/>
              </a:spcAft>
              <a:buNone/>
              <a:defRPr sz="1675" b="0">
                <a:solidFill>
                  <a:srgbClr val="303437"/>
                </a:solidFill>
                <a:latin typeface="Noto Sans"/>
              </a:defRPr>
            </a:pPr>
            <a:r>
              <a:rPr sz="1675" b="0" lang="ja-JP" altLang="en-US">
                <a:solidFill>
                  <a:srgbClr val="303437"/>
                </a:solidFill>
                <a:latin typeface="Noto Sans"/>
                <a:ea typeface="Noto Sans CJK JP"/>
                <a:cs typeface="Noto Sans"/>
              </a:rPr>
              <a:t>　＊　＊　＊　＊　＊　＊</a:t>
            </a:r>
          </a:p>
          <a:p>
            <a:pPr algn="l">
              <a:lnSpc>
                <a:spcPts val="1993"/>
              </a:lnSpc>
              <a:spcBef>
                <a:spcPts val="0"/>
              </a:spcBef>
              <a:spcAft>
                <a:spcPts val="0"/>
              </a:spcAft>
              <a:buNone/>
              <a:defRPr sz="1675" b="0">
                <a:solidFill>
                  <a:srgbClr val="303437"/>
                </a:solidFill>
                <a:latin typeface="Noto Sans"/>
              </a:defRPr>
            </a:pPr>
            <a:r>
              <a:rPr sz="1675" b="0" lang="ja-JP" altLang="en-US">
                <a:solidFill>
                  <a:srgbClr val="303437"/>
                </a:solidFill>
                <a:latin typeface="Noto Sans"/>
                <a:ea typeface="Noto Sans CJK JP"/>
                <a:cs typeface="Noto Sans"/>
              </a:rPr>
              <a:t>＊　＊　＊　＊</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 Lewis Carroll. Alice’s Adventures in Wonderland. Project Gutenberg eBook11、2026-10-18取得。</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実例7：メアリーへの問いから、訪問の告白へ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残り7入力の全文と訳</a:t>
            </a:r>
          </a:p>
        </p:txBody>
      </p:sp>
      <p:sp>
        <p:nvSpPr>
          <p:cNvPr id="4" name="TextBox 3"/>
          <p:cNvSpPr txBox="1"/>
          <p:nvPr/>
        </p:nvSpPr>
        <p:spPr>
          <a:xfrm>
            <a:off x="548640" y="1188720"/>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入力テキスト（全文）</a:t>
            </a:r>
          </a:p>
        </p:txBody>
      </p:sp>
      <p:sp>
        <p:nvSpPr>
          <p:cNvPr id="5" name="quote-frame"/>
          <p:cNvSpPr/>
          <p:nvPr/>
        </p:nvSpPr>
        <p:spPr>
          <a:xfrm>
            <a:off x="548640" y="1532466"/>
            <a:ext cx="8046720" cy="2413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461" bIns="127000">
            <a:noAutofit/>
          </a:bodyPr>
          <a:lstStyle/>
          <a:p>
            <a:pPr algn="l">
              <a:lnSpc>
                <a:spcPts val="1814"/>
              </a:lnSpc>
              <a:spcBef>
                <a:spcPts val="0"/>
              </a:spcBef>
              <a:spcAft>
                <a:spcPts val="0"/>
              </a:spcAft>
              <a:buNone/>
              <a:defRPr sz="1525" b="0">
                <a:solidFill>
                  <a:srgbClr val="303437"/>
                </a:solidFill>
                <a:latin typeface="Noto Sans"/>
              </a:defRPr>
            </a:pPr>
            <a:r>
              <a:rPr sz="1525" b="0" lang="ja-JP" altLang="en-US">
                <a:solidFill>
                  <a:srgbClr val="303437"/>
                </a:solidFill>
                <a:latin typeface="Noto Sans"/>
                <a:ea typeface="Noto Sans CJK JP"/>
                <a:cs typeface="Noto Sans"/>
              </a:rPr>
              <a:t>“Do you consider the forms of introduction, and the stress that is laid on them, as nonsense? I cannot quite agree with you _there_. What say you, Mary? for you are a young lady of deep reflection, I know, and read great books and make extracts.”</a:t>
            </a:r>
          </a:p>
          <a:p>
            <a:pPr algn="l">
              <a:lnSpc>
                <a:spcPts val="1814"/>
              </a:lnSpc>
              <a:spcBef>
                <a:spcPts val="0"/>
              </a:spcBef>
              <a:spcAft>
                <a:spcPts val="0"/>
              </a:spcAft>
              <a:buNone/>
              <a:defRPr sz="1525" b="0">
                <a:solidFill>
                  <a:srgbClr val="303437"/>
                </a:solidFill>
                <a:latin typeface="Noto Sans"/>
              </a:defRPr>
            </a:pPr>
            <a:r>
              <a:rPr sz="1525" b="0" lang="ja-JP" altLang="en-US">
                <a:solidFill>
                  <a:srgbClr val="303437"/>
                </a:solidFill>
                <a:latin typeface="Noto Sans"/>
                <a:ea typeface="Noto Sans CJK JP"/>
                <a:cs typeface="Noto Sans"/>
              </a:rPr>
              <a:t>Mary wished to say something very sensible, but knew not how.</a:t>
            </a:r>
          </a:p>
          <a:p>
            <a:pPr algn="l">
              <a:lnSpc>
                <a:spcPts val="1814"/>
              </a:lnSpc>
              <a:spcBef>
                <a:spcPts val="0"/>
              </a:spcBef>
              <a:spcAft>
                <a:spcPts val="0"/>
              </a:spcAft>
              <a:buNone/>
              <a:defRPr sz="1525" b="0">
                <a:solidFill>
                  <a:srgbClr val="303437"/>
                </a:solidFill>
                <a:latin typeface="Noto Sans"/>
              </a:defRPr>
            </a:pPr>
            <a:r>
              <a:rPr sz="1525" b="0" lang="ja-JP" altLang="en-US">
                <a:solidFill>
                  <a:srgbClr val="303437"/>
                </a:solidFill>
                <a:latin typeface="Noto Sans"/>
                <a:ea typeface="Noto Sans CJK JP"/>
                <a:cs typeface="Noto Sans"/>
              </a:rPr>
              <a:t>“While Mary is adjusting her ideas,” he continued, “let us return to Mr. Bingley.”</a:t>
            </a:r>
          </a:p>
          <a:p>
            <a:pPr algn="l">
              <a:lnSpc>
                <a:spcPts val="1814"/>
              </a:lnSpc>
              <a:spcBef>
                <a:spcPts val="0"/>
              </a:spcBef>
              <a:spcAft>
                <a:spcPts val="0"/>
              </a:spcAft>
              <a:buNone/>
              <a:defRPr sz="1525" b="0">
                <a:solidFill>
                  <a:srgbClr val="303437"/>
                </a:solidFill>
                <a:latin typeface="Noto Sans"/>
              </a:defRPr>
            </a:pPr>
            <a:r>
              <a:rPr sz="1525" b="0" lang="ja-JP" altLang="en-US">
                <a:solidFill>
                  <a:srgbClr val="303437"/>
                </a:solidFill>
                <a:latin typeface="Noto Sans"/>
                <a:ea typeface="Noto Sans CJK JP"/>
                <a:cs typeface="Noto Sans"/>
              </a:rPr>
              <a:t>“I am sick of Mr. Bingley,” cried his wife.</a:t>
            </a:r>
          </a:p>
          <a:p>
            <a:pPr algn="l">
              <a:lnSpc>
                <a:spcPts val="1814"/>
              </a:lnSpc>
              <a:spcBef>
                <a:spcPts val="0"/>
              </a:spcBef>
              <a:spcAft>
                <a:spcPts val="0"/>
              </a:spcAft>
              <a:buNone/>
              <a:defRPr sz="1525" b="0">
                <a:solidFill>
                  <a:srgbClr val="303437"/>
                </a:solidFill>
                <a:latin typeface="Noto Sans"/>
              </a:defRPr>
            </a:pPr>
            <a:r>
              <a:rPr sz="1525" b="0" lang="ja-JP" altLang="en-US">
                <a:solidFill>
                  <a:srgbClr val="303437"/>
                </a:solidFill>
                <a:latin typeface="Noto Sans"/>
                <a:ea typeface="Noto Sans CJK JP"/>
                <a:cs typeface="Noto Sans"/>
              </a:rPr>
              <a:t>“I am sorry to hear _that_; but why did not you tell me so before? If I had known as much this morning, I certainly would not have called on him. It is very unlucky; but as I have actually paid the visit, we cannot escape the acquaintance now.”</a:t>
            </a:r>
          </a:p>
          <a:p>
            <a:pPr algn="l">
              <a:lnSpc>
                <a:spcPts val="1814"/>
              </a:lnSpc>
              <a:spcBef>
                <a:spcPts val="0"/>
              </a:spcBef>
              <a:spcAft>
                <a:spcPts val="0"/>
              </a:spcAft>
              <a:buNone/>
              <a:defRPr sz="1525" b="0">
                <a:solidFill>
                  <a:srgbClr val="303437"/>
                </a:solidFill>
                <a:latin typeface="Noto Sans"/>
              </a:defRPr>
            </a:pPr>
            <a:r>
              <a:rPr sz="1525" b="0" lang="ja-JP" altLang="en-US">
                <a:solidFill>
                  <a:srgbClr val="303437"/>
                </a:solidFill>
                <a:latin typeface="Noto Sans"/>
                <a:ea typeface="Noto Sans CJK JP"/>
                <a:cs typeface="Noto Sans"/>
              </a:rPr>
              <a:t>The</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 Jane Austen. Pride and Prejudice. Project Gutenberg eBook1342、2026-10-18取得。</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400" b="1" lang="ja-JP" altLang="en-US">
                <a:solidFill>
                  <a:srgbClr val="303437"/>
                </a:solidFill>
                <a:latin typeface="Noto Sans"/>
                <a:ea typeface="Noto Sans CJK JP"/>
                <a:cs typeface="Noto Sans"/>
              </a:rPr>
              <a:t>実例7：メアリーへの問いから、訪問の告白へ（訳）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残り7入力の全文と訳</a:t>
            </a:r>
          </a:p>
        </p:txBody>
      </p:sp>
      <p:sp>
        <p:nvSpPr>
          <p:cNvPr id="4" name="TextBox 3"/>
          <p:cNvSpPr txBox="1"/>
          <p:nvPr/>
        </p:nvSpPr>
        <p:spPr>
          <a:xfrm>
            <a:off x="548640" y="1188720"/>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入力テキストの日本語訳</a:t>
            </a:r>
          </a:p>
        </p:txBody>
      </p:sp>
      <p:sp>
        <p:nvSpPr>
          <p:cNvPr id="5" name="quote-frame"/>
          <p:cNvSpPr/>
          <p:nvPr/>
        </p:nvSpPr>
        <p:spPr>
          <a:xfrm>
            <a:off x="548640" y="1507066"/>
            <a:ext cx="8046720" cy="27262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5861"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「紹介の作法や、それを重んじることを、ばかばかしいと思うのかい？ その点には、賛成しかねるね。メアリー、お前はどう思う？ お前は深く物を考える若い女性で、難しい本を読んで抜き書きもすると知っているよ。」</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メアリーは大変気の利いたことを言いたかったが、どう言えばよいか分からなかった。</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「メアリーが考えを整理している間に」と彼は続けた。「ビングリー氏の話へ戻ろう。」</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「あの人の話はもううんざり」と妻が叫んだ。</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「それは残念だ。でも、どうしてもっと早く言ってくれなかったんだい？ 朝のうちに分かっていれば、絶対に訪問しなかったのに。実に不運だが、実際にもう訪ねてしまった以上、今さら知り合いになることから逃れられないね。」</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その、</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 Jane Austen. Pride and Prejudice. Project Gutenberg eBook1342、2026-10-18取得。</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実例8：ボヘミアの貴族が秘密を求める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残り7入力の全文と訳</a:t>
            </a:r>
          </a:p>
        </p:txBody>
      </p:sp>
      <p:sp>
        <p:nvSpPr>
          <p:cNvPr id="4" name="TextBox 3"/>
          <p:cNvSpPr txBox="1"/>
          <p:nvPr/>
        </p:nvSpPr>
        <p:spPr>
          <a:xfrm>
            <a:off x="548640" y="1188720"/>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入力テキスト（全文）</a:t>
            </a:r>
          </a:p>
        </p:txBody>
      </p:sp>
      <p:sp>
        <p:nvSpPr>
          <p:cNvPr id="5" name="quote-frame"/>
          <p:cNvSpPr/>
          <p:nvPr/>
        </p:nvSpPr>
        <p:spPr>
          <a:xfrm>
            <a:off x="548640" y="1524000"/>
            <a:ext cx="8046720" cy="30564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9296" bIns="127000">
            <a:noAutofit/>
          </a:bodyPr>
          <a:lstStyle/>
          <a:p>
            <a:pPr algn="l">
              <a:lnSpc>
                <a:spcPts val="1695"/>
              </a:lnSpc>
              <a:spcBef>
                <a:spcPts val="0"/>
              </a:spcBef>
              <a:spcAft>
                <a:spcPts val="0"/>
              </a:spcAft>
              <a:buNone/>
              <a:defRPr sz="1425" b="0">
                <a:solidFill>
                  <a:srgbClr val="303437"/>
                </a:solidFill>
                <a:latin typeface="Noto Sans"/>
              </a:defRPr>
            </a:pPr>
            <a:r>
              <a:rPr sz="1425" b="0" lang="ja-JP" altLang="en-US">
                <a:solidFill>
                  <a:srgbClr val="303437"/>
                </a:solidFill>
                <a:latin typeface="Noto Sans"/>
                <a:ea typeface="Noto Sans CJK JP"/>
                <a:cs typeface="Noto Sans"/>
              </a:rPr>
              <a:t>said Holmes. “This is my friend and colleague, Dr. Watson, who is occasionally good enough to help me in my cases. Whom have I the honour to address?”</a:t>
            </a:r>
          </a:p>
          <a:p>
            <a:pPr algn="l">
              <a:lnSpc>
                <a:spcPts val="1695"/>
              </a:lnSpc>
              <a:spcBef>
                <a:spcPts val="0"/>
              </a:spcBef>
              <a:spcAft>
                <a:spcPts val="0"/>
              </a:spcAft>
              <a:buNone/>
              <a:defRPr sz="1425" b="0">
                <a:solidFill>
                  <a:srgbClr val="303437"/>
                </a:solidFill>
                <a:latin typeface="Noto Sans"/>
              </a:defRPr>
            </a:pPr>
            <a:r>
              <a:rPr sz="1425" b="0" lang="ja-JP" altLang="en-US">
                <a:solidFill>
                  <a:srgbClr val="303437"/>
                </a:solidFill>
                <a:latin typeface="Noto Sans"/>
                <a:ea typeface="Noto Sans CJK JP"/>
                <a:cs typeface="Noto Sans"/>
              </a:rPr>
              <a:t>“You may address me as the Count Von Kramm, a Bohemian nobleman. I understand that this gentleman, your friend, is a man of honour and discretion, whom I may trust with a matter of the most extreme importance. If not, I should much prefer to communicate with you alone.”</a:t>
            </a:r>
          </a:p>
          <a:p>
            <a:pPr algn="l">
              <a:lnSpc>
                <a:spcPts val="1695"/>
              </a:lnSpc>
              <a:spcBef>
                <a:spcPts val="0"/>
              </a:spcBef>
              <a:spcAft>
                <a:spcPts val="0"/>
              </a:spcAft>
              <a:buNone/>
              <a:defRPr sz="1425" b="0">
                <a:solidFill>
                  <a:srgbClr val="303437"/>
                </a:solidFill>
                <a:latin typeface="Noto Sans"/>
              </a:defRPr>
            </a:pPr>
            <a:r>
              <a:rPr sz="1425" b="0" lang="ja-JP" altLang="en-US">
                <a:solidFill>
                  <a:srgbClr val="303437"/>
                </a:solidFill>
                <a:latin typeface="Noto Sans"/>
                <a:ea typeface="Noto Sans CJK JP"/>
                <a:cs typeface="Noto Sans"/>
              </a:rPr>
              <a:t>I rose to go, but Holmes caught me by the wrist and pushed me back into my chair. “It is both, or none,” said he. “You may say before this gentleman anything which you may say to me.”</a:t>
            </a:r>
          </a:p>
          <a:p>
            <a:pPr algn="l">
              <a:lnSpc>
                <a:spcPts val="1695"/>
              </a:lnSpc>
              <a:spcBef>
                <a:spcPts val="0"/>
              </a:spcBef>
              <a:spcAft>
                <a:spcPts val="0"/>
              </a:spcAft>
              <a:buNone/>
              <a:defRPr sz="1425" b="0">
                <a:solidFill>
                  <a:srgbClr val="303437"/>
                </a:solidFill>
                <a:latin typeface="Noto Sans"/>
              </a:defRPr>
            </a:pPr>
            <a:r>
              <a:rPr sz="1425" b="0" lang="ja-JP" altLang="en-US">
                <a:solidFill>
                  <a:srgbClr val="303437"/>
                </a:solidFill>
                <a:latin typeface="Noto Sans"/>
                <a:ea typeface="Noto Sans CJK JP"/>
                <a:cs typeface="Noto Sans"/>
              </a:rPr>
              <a:t>The Count shrugged his broad shoulders. “Then I must begin,” said he, “by binding you both to absolute secrecy for two years; at the end of that time the matter will be of no importance. At present it is not too much to say that it is of such weight it may have an influence upon European history.”</a:t>
            </a:r>
          </a:p>
          <a:p>
            <a:pPr algn="l">
              <a:lnSpc>
                <a:spcPts val="1695"/>
              </a:lnSpc>
              <a:spcBef>
                <a:spcPts val="0"/>
              </a:spcBef>
              <a:spcAft>
                <a:spcPts val="0"/>
              </a:spcAft>
              <a:buNone/>
              <a:defRPr sz="1425" b="0">
                <a:solidFill>
                  <a:srgbClr val="303437"/>
                </a:solidFill>
                <a:latin typeface="Noto Sans"/>
              </a:defRPr>
            </a:pPr>
            <a:r>
              <a:rPr sz="1425" b="0" lang="ja-JP" altLang="en-US">
                <a:solidFill>
                  <a:srgbClr val="303437"/>
                </a:solidFill>
                <a:latin typeface="Noto Sans"/>
                <a:ea typeface="Noto Sans CJK JP"/>
                <a:cs typeface="Noto Sans"/>
              </a:rPr>
              <a:t>“</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 Arthur Conan Doyle. The Adventures of Sherlock Holmes. Project Gutenberg eBook1661、2026-10-18取得。</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実例8：ボヘミアの貴族が秘密を求める（訳）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残り7入力の全文と訳</a:t>
            </a:r>
          </a:p>
        </p:txBody>
      </p:sp>
      <p:sp>
        <p:nvSpPr>
          <p:cNvPr id="4" name="TextBox 3"/>
          <p:cNvSpPr txBox="1"/>
          <p:nvPr/>
        </p:nvSpPr>
        <p:spPr>
          <a:xfrm>
            <a:off x="548640" y="1188720"/>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入力テキストの日本語訳</a:t>
            </a:r>
          </a:p>
        </p:txBody>
      </p:sp>
      <p:sp>
        <p:nvSpPr>
          <p:cNvPr id="5" name="quote-frame"/>
          <p:cNvSpPr/>
          <p:nvPr/>
        </p:nvSpPr>
        <p:spPr>
          <a:xfrm>
            <a:off x="548640" y="1507066"/>
            <a:ext cx="8046720" cy="2904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75861" bIns="127000">
            <a:noAutofit/>
          </a:bodyPr>
          <a:lstStyle/>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とホームズが言った。「こちらは友人で仕事仲間のワトソン博士です。ときどき親切にも、私の事件を手伝ってくれます。どなたとお呼びすればよいでしょう？」</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「ボヘミアの貴族、フォン・クラム伯爵と呼んでもらおう。この方は君の友人で、誠実で分別のある人と聞いている。きわめて重大な件も託せるだろう。そうでなければ、君だけにお話ししたい。」</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私は席を立とうとしたが、ホームズは手首をつかみ、椅子へ押し戻した。「二人に話すか、どちらにも話さないかです」と彼は言った。「私に言えることは、この人の前でもお話しになれます。」</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伯爵は広い肩をすくめた。「では、まずお二人に、二年間は絶対に秘密にすると約束していただきたい。その後には、重要でなくなる話だ。今のところは、ヨーロッパの歴史を左右しかねないほどの重みがあると言っても、言い過ぎではない。」</a:t>
            </a:r>
          </a:p>
          <a:p>
            <a:pPr algn="l">
              <a:lnSpc>
                <a:spcPts val="1844"/>
              </a:lnSpc>
              <a:spcBef>
                <a:spcPts val="0"/>
              </a:spcBef>
              <a:spcAft>
                <a:spcPts val="0"/>
              </a:spcAft>
              <a:buNone/>
              <a:defRPr sz="1550" b="0">
                <a:solidFill>
                  <a:srgbClr val="303437"/>
                </a:solidFill>
                <a:latin typeface="Noto Sans"/>
              </a:defRPr>
            </a:pPr>
            <a:r>
              <a:rPr sz="1550" b="0" lang="ja-JP" altLang="en-US">
                <a:solidFill>
                  <a:srgbClr val="303437"/>
                </a:solidFill>
                <a:latin typeface="Noto Sans"/>
                <a:ea typeface="Noto Sans CJK JP"/>
                <a:cs typeface="Noto Sans"/>
              </a:rPr>
              <a:t>「</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 Arthur Conan Doyle. The Adventures of Sherlock Holmes. Project Gutenberg eBook1661、2026-10-18取得。</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実例9：船主とダングラールが小包を話題にする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残り7入力の全文と訳</a:t>
            </a:r>
          </a:p>
        </p:txBody>
      </p:sp>
      <p:sp>
        <p:nvSpPr>
          <p:cNvPr id="4" name="TextBox 3"/>
          <p:cNvSpPr txBox="1"/>
          <p:nvPr/>
        </p:nvSpPr>
        <p:spPr>
          <a:xfrm>
            <a:off x="548640" y="1188720"/>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入力テキスト（全文）</a:t>
            </a:r>
          </a:p>
        </p:txBody>
      </p:sp>
      <p:sp>
        <p:nvSpPr>
          <p:cNvPr id="5" name="quote-frame"/>
          <p:cNvSpPr/>
          <p:nvPr/>
        </p:nvSpPr>
        <p:spPr>
          <a:xfrm>
            <a:off x="548640" y="1532466"/>
            <a:ext cx="8046720" cy="2921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0461" bIns="127000">
            <a:noAutofit/>
          </a:bodyPr>
          <a:lstStyle/>
          <a:p>
            <a:pPr algn="l">
              <a:lnSpc>
                <a:spcPts val="1814"/>
              </a:lnSpc>
              <a:spcBef>
                <a:spcPts val="0"/>
              </a:spcBef>
              <a:spcAft>
                <a:spcPts val="0"/>
              </a:spcAft>
              <a:buNone/>
              <a:defRPr sz="1525" b="0">
                <a:solidFill>
                  <a:srgbClr val="303437"/>
                </a:solidFill>
                <a:latin typeface="Noto Sans"/>
              </a:defRPr>
            </a:pPr>
            <a:r>
              <a:rPr sz="1525" b="0" lang="ja-JP" altLang="en-US">
                <a:solidFill>
                  <a:srgbClr val="303437"/>
                </a:solidFill>
                <a:latin typeface="Noto Sans"/>
                <a:ea typeface="Noto Sans CJK JP"/>
                <a:cs typeface="Noto Sans"/>
              </a:rPr>
              <a:t>he has given you satisfactory reasons for his landing at Porto-Ferrajo?”</a:t>
            </a:r>
          </a:p>
          <a:p>
            <a:pPr algn="l">
              <a:lnSpc>
                <a:spcPts val="1814"/>
              </a:lnSpc>
              <a:spcBef>
                <a:spcPts val="0"/>
              </a:spcBef>
              <a:spcAft>
                <a:spcPts val="0"/>
              </a:spcAft>
              <a:buNone/>
              <a:defRPr sz="1525" b="0">
                <a:solidFill>
                  <a:srgbClr val="303437"/>
                </a:solidFill>
                <a:latin typeface="Noto Sans"/>
              </a:defRPr>
            </a:pPr>
            <a:r>
              <a:rPr sz="1525" b="0" lang="ja-JP" altLang="en-US">
                <a:solidFill>
                  <a:srgbClr val="303437"/>
                </a:solidFill>
                <a:latin typeface="Noto Sans"/>
                <a:ea typeface="Noto Sans CJK JP"/>
                <a:cs typeface="Noto Sans"/>
              </a:rPr>
              <a:t>“Yes, most satisfactory, my dear Danglars.”</a:t>
            </a:r>
          </a:p>
          <a:p>
            <a:pPr algn="l">
              <a:lnSpc>
                <a:spcPts val="1814"/>
              </a:lnSpc>
              <a:spcBef>
                <a:spcPts val="0"/>
              </a:spcBef>
              <a:spcAft>
                <a:spcPts val="0"/>
              </a:spcAft>
              <a:buNone/>
              <a:defRPr sz="1525" b="0">
                <a:solidFill>
                  <a:srgbClr val="303437"/>
                </a:solidFill>
                <a:latin typeface="Noto Sans"/>
              </a:defRPr>
            </a:pPr>
            <a:r>
              <a:rPr sz="1525" b="0" lang="ja-JP" altLang="en-US">
                <a:solidFill>
                  <a:srgbClr val="303437"/>
                </a:solidFill>
                <a:latin typeface="Noto Sans"/>
                <a:ea typeface="Noto Sans CJK JP"/>
                <a:cs typeface="Noto Sans"/>
              </a:rPr>
              <a:t>“Well, so much the better,” said the supercargo; “for it is not pleasant to think that a comrade has not done his duty.”</a:t>
            </a:r>
          </a:p>
          <a:p>
            <a:pPr algn="l">
              <a:lnSpc>
                <a:spcPts val="1814"/>
              </a:lnSpc>
              <a:spcBef>
                <a:spcPts val="0"/>
              </a:spcBef>
              <a:spcAft>
                <a:spcPts val="0"/>
              </a:spcAft>
              <a:buNone/>
              <a:defRPr sz="1525" b="0">
                <a:solidFill>
                  <a:srgbClr val="303437"/>
                </a:solidFill>
                <a:latin typeface="Noto Sans"/>
              </a:defRPr>
            </a:pPr>
            <a:r>
              <a:rPr sz="1525" b="0" lang="ja-JP" altLang="en-US">
                <a:solidFill>
                  <a:srgbClr val="303437"/>
                </a:solidFill>
                <a:latin typeface="Noto Sans"/>
                <a:ea typeface="Noto Sans CJK JP"/>
                <a:cs typeface="Noto Sans"/>
              </a:rPr>
              <a:t>“Dantès has done his,” replied the owner, “and that is not saying much. It was Captain Leclere who gave orders for this delay.”</a:t>
            </a:r>
          </a:p>
          <a:p>
            <a:pPr algn="l">
              <a:lnSpc>
                <a:spcPts val="1814"/>
              </a:lnSpc>
              <a:spcBef>
                <a:spcPts val="0"/>
              </a:spcBef>
              <a:spcAft>
                <a:spcPts val="0"/>
              </a:spcAft>
              <a:buNone/>
              <a:defRPr sz="1525" b="0">
                <a:solidFill>
                  <a:srgbClr val="303437"/>
                </a:solidFill>
                <a:latin typeface="Noto Sans"/>
              </a:defRPr>
            </a:pPr>
            <a:r>
              <a:rPr sz="1525" b="0" lang="ja-JP" altLang="en-US">
                <a:solidFill>
                  <a:srgbClr val="303437"/>
                </a:solidFill>
                <a:latin typeface="Noto Sans"/>
                <a:ea typeface="Noto Sans CJK JP"/>
                <a:cs typeface="Noto Sans"/>
              </a:rPr>
              <a:t>“Talking of Captain Leclere, has not Dantès given you a letter from him?”</a:t>
            </a:r>
          </a:p>
          <a:p>
            <a:pPr algn="l">
              <a:lnSpc>
                <a:spcPts val="1814"/>
              </a:lnSpc>
              <a:spcBef>
                <a:spcPts val="0"/>
              </a:spcBef>
              <a:spcAft>
                <a:spcPts val="0"/>
              </a:spcAft>
              <a:buNone/>
              <a:defRPr sz="1525" b="0">
                <a:solidFill>
                  <a:srgbClr val="303437"/>
                </a:solidFill>
                <a:latin typeface="Noto Sans"/>
              </a:defRPr>
            </a:pPr>
            <a:r>
              <a:rPr sz="1525" b="0" lang="ja-JP" altLang="en-US">
                <a:solidFill>
                  <a:srgbClr val="303437"/>
                </a:solidFill>
                <a:latin typeface="Noto Sans"/>
                <a:ea typeface="Noto Sans CJK JP"/>
                <a:cs typeface="Noto Sans"/>
              </a:rPr>
              <a:t>“To me?—no—was there one?”</a:t>
            </a:r>
          </a:p>
          <a:p>
            <a:pPr algn="l">
              <a:lnSpc>
                <a:spcPts val="1814"/>
              </a:lnSpc>
              <a:spcBef>
                <a:spcPts val="0"/>
              </a:spcBef>
              <a:spcAft>
                <a:spcPts val="0"/>
              </a:spcAft>
              <a:buNone/>
              <a:defRPr sz="1525" b="0">
                <a:solidFill>
                  <a:srgbClr val="303437"/>
                </a:solidFill>
                <a:latin typeface="Noto Sans"/>
              </a:defRPr>
            </a:pPr>
            <a:r>
              <a:rPr sz="1525" b="0" lang="ja-JP" altLang="en-US">
                <a:solidFill>
                  <a:srgbClr val="303437"/>
                </a:solidFill>
                <a:latin typeface="Noto Sans"/>
                <a:ea typeface="Noto Sans CJK JP"/>
                <a:cs typeface="Noto Sans"/>
              </a:rPr>
              <a:t>“I believe that, besides the packet, Captain Leclere confided a letter to his care.”</a:t>
            </a:r>
          </a:p>
          <a:p>
            <a:pPr algn="l">
              <a:lnSpc>
                <a:spcPts val="1814"/>
              </a:lnSpc>
              <a:spcBef>
                <a:spcPts val="0"/>
              </a:spcBef>
              <a:spcAft>
                <a:spcPts val="0"/>
              </a:spcAft>
              <a:buNone/>
              <a:defRPr sz="1525" b="0">
                <a:solidFill>
                  <a:srgbClr val="303437"/>
                </a:solidFill>
                <a:latin typeface="Noto Sans"/>
              </a:defRPr>
            </a:pPr>
            <a:r>
              <a:rPr sz="1525" b="0" lang="ja-JP" altLang="en-US">
                <a:solidFill>
                  <a:srgbClr val="303437"/>
                </a:solidFill>
                <a:latin typeface="Noto Sans"/>
                <a:ea typeface="Noto Sans CJK JP"/>
                <a:cs typeface="Noto Sans"/>
              </a:rPr>
              <a:t>“Of what packet are you speaking, Danglars?”</a:t>
            </a:r>
          </a:p>
          <a:p>
            <a:pPr algn="l">
              <a:lnSpc>
                <a:spcPts val="1814"/>
              </a:lnSpc>
              <a:spcBef>
                <a:spcPts val="0"/>
              </a:spcBef>
              <a:spcAft>
                <a:spcPts val="0"/>
              </a:spcAft>
              <a:buNone/>
              <a:defRPr sz="1525" b="0">
                <a:solidFill>
                  <a:srgbClr val="303437"/>
                </a:solidFill>
                <a:latin typeface="Noto Sans"/>
              </a:defRPr>
            </a:pPr>
            <a:r>
              <a:rPr sz="1525" b="0" lang="ja-JP" altLang="en-US">
                <a:solidFill>
                  <a:srgbClr val="303437"/>
                </a:solidFill>
                <a:latin typeface="Noto Sans"/>
                <a:ea typeface="Noto Sans CJK JP"/>
                <a:cs typeface="Noto Sans"/>
              </a:rPr>
              <a:t>“Why, that which Dantès left at Porto-Ferrajo.”</a:t>
            </a:r>
          </a:p>
          <a:p>
            <a:pPr algn="l">
              <a:lnSpc>
                <a:spcPts val="1814"/>
              </a:lnSpc>
              <a:spcBef>
                <a:spcPts val="0"/>
              </a:spcBef>
              <a:spcAft>
                <a:spcPts val="0"/>
              </a:spcAft>
              <a:buNone/>
              <a:defRPr sz="1525" b="0">
                <a:solidFill>
                  <a:srgbClr val="303437"/>
                </a:solidFill>
                <a:latin typeface="Noto Sans"/>
              </a:defRPr>
            </a:pPr>
            <a:r>
              <a:rPr sz="1525" b="0" lang="ja-JP" altLang="en-US">
                <a:solidFill>
                  <a:srgbClr val="303437"/>
                </a:solidFill>
                <a:latin typeface="Noto Sans"/>
                <a:ea typeface="Noto Sans CJK JP"/>
                <a:cs typeface="Noto Sans"/>
              </a:rPr>
              <a:t>“How do you know he had a packet to leave at Porto-Ferra</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 Alexandre Dumas. The Count of Monte Cristo. Project Gutenberg eBook1184、2026-10-18取得。</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400" b="1" lang="ja-JP" altLang="en-US">
                <a:solidFill>
                  <a:srgbClr val="303437"/>
                </a:solidFill>
                <a:latin typeface="Noto Sans"/>
                <a:ea typeface="Noto Sans CJK JP"/>
                <a:cs typeface="Noto Sans"/>
              </a:rPr>
              <a:t>実例9：船主とダングラールが小包を話題にする（訳）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残り7入力の全文と訳</a:t>
            </a:r>
          </a:p>
        </p:txBody>
      </p:sp>
      <p:sp>
        <p:nvSpPr>
          <p:cNvPr id="4" name="TextBox 3"/>
          <p:cNvSpPr txBox="1"/>
          <p:nvPr/>
        </p:nvSpPr>
        <p:spPr>
          <a:xfrm>
            <a:off x="548640" y="1188720"/>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入力テキストの日本語訳</a:t>
            </a:r>
          </a:p>
        </p:txBody>
      </p:sp>
      <p:sp>
        <p:nvSpPr>
          <p:cNvPr id="5" name="quote-frame"/>
          <p:cNvSpPr/>
          <p:nvPr/>
        </p:nvSpPr>
        <p:spPr>
          <a:xfrm>
            <a:off x="548640" y="1515533"/>
            <a:ext cx="8046720" cy="2777066"/>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7750" bIns="127000">
            <a:noAutofit/>
          </a:bodyPr>
          <a:lstStyle/>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Noto Sans"/>
                <a:ea typeface="Noto Sans CJK JP"/>
                <a:cs typeface="Noto Sans"/>
              </a:rPr>
              <a:t>彼はポルト・フェラーヨに上陸した理由を、納得のいくように説明したのですか？」</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Noto Sans"/>
                <a:ea typeface="Noto Sans CJK JP"/>
                <a:cs typeface="Noto Sans"/>
              </a:rPr>
              <a:t>「ああ、十分納得したよ、ダングラール君。」</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Noto Sans"/>
                <a:ea typeface="Noto Sans CJK JP"/>
                <a:cs typeface="Noto Sans"/>
              </a:rPr>
              <a:t>「それなら結構です」と船荷監督は言った。「仲間が務めを果たさなかったと思うのは、気持ちのよいことではありませんから。」</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Noto Sans"/>
                <a:ea typeface="Noto Sans CJK JP"/>
                <a:cs typeface="Noto Sans"/>
              </a:rPr>
              <a:t>「ダンテスは務めを果たした」と船主は答えた。「それだけのことだ。寄港を命じたのはルクレール船長だったのだ。」</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Noto Sans"/>
                <a:ea typeface="Noto Sans CJK JP"/>
                <a:cs typeface="Noto Sans"/>
              </a:rPr>
              <a:t>「ルクレール船長と言えば、ダンテスは船長からの手紙をお渡ししませんでしたか？」</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Noto Sans"/>
                <a:ea typeface="Noto Sans CJK JP"/>
                <a:cs typeface="Noto Sans"/>
              </a:rPr>
              <a:t>「私に？ いや。手紙があったのか？」</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Noto Sans"/>
                <a:ea typeface="Noto Sans CJK JP"/>
                <a:cs typeface="Noto Sans"/>
              </a:rPr>
              <a:t>「小包とは別に、船長が手紙を彼に託したと思います。」</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Noto Sans"/>
                <a:ea typeface="Noto Sans CJK JP"/>
                <a:cs typeface="Noto Sans"/>
              </a:rPr>
              <a:t>「何の小包の話だ、ダングラール？」</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Noto Sans"/>
                <a:ea typeface="Noto Sans CJK JP"/>
                <a:cs typeface="Noto Sans"/>
              </a:rPr>
              <a:t>「ダンテスがポルト・フェラーヨに置いてきた、あの小包です。」</a:t>
            </a:r>
          </a:p>
          <a:p>
            <a:pPr algn="l">
              <a:lnSpc>
                <a:spcPts val="1725"/>
              </a:lnSpc>
              <a:spcBef>
                <a:spcPts val="0"/>
              </a:spcBef>
              <a:spcAft>
                <a:spcPts val="0"/>
              </a:spcAft>
              <a:buNone/>
              <a:defRPr sz="1450" b="0">
                <a:solidFill>
                  <a:srgbClr val="303437"/>
                </a:solidFill>
                <a:latin typeface="Noto Sans"/>
              </a:defRPr>
            </a:pPr>
            <a:r>
              <a:rPr sz="1450" b="0" lang="ja-JP" altLang="en-US">
                <a:solidFill>
                  <a:srgbClr val="303437"/>
                </a:solidFill>
                <a:latin typeface="Noto Sans"/>
                <a:ea typeface="Noto Sans CJK JP"/>
                <a:cs typeface="Noto Sans"/>
              </a:rPr>
              <a:t>「どうして、彼がポルト・フェラー…</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 Alexandre Dumas. The Count of Monte Cristo. Project Gutenberg eBook1184、2026-10-18取得。</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実例10：ラスコーリニコフを迎え入れる老女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残り7入力の全文と訳</a:t>
            </a:r>
          </a:p>
        </p:txBody>
      </p:sp>
      <p:sp>
        <p:nvSpPr>
          <p:cNvPr id="4" name="TextBox 3"/>
          <p:cNvSpPr txBox="1"/>
          <p:nvPr/>
        </p:nvSpPr>
        <p:spPr>
          <a:xfrm>
            <a:off x="548640" y="1188720"/>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入力テキスト（全文）</a:t>
            </a:r>
          </a:p>
        </p:txBody>
      </p:sp>
      <p:sp>
        <p:nvSpPr>
          <p:cNvPr id="5" name="quote-frame"/>
          <p:cNvSpPr/>
          <p:nvPr/>
        </p:nvSpPr>
        <p:spPr>
          <a:xfrm>
            <a:off x="548640" y="1524000"/>
            <a:ext cx="8046720" cy="29464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58928" bIns="127000">
            <a:noAutofit/>
          </a:bodyPr>
          <a:lstStyle/>
          <a:p>
            <a:pPr algn="l">
              <a:lnSpc>
                <a:spcPts val="1695"/>
              </a:lnSpc>
              <a:spcBef>
                <a:spcPts val="0"/>
              </a:spcBef>
              <a:spcAft>
                <a:spcPts val="0"/>
              </a:spcAft>
              <a:buNone/>
              <a:defRPr sz="1425" b="0">
                <a:solidFill>
                  <a:srgbClr val="303437"/>
                </a:solidFill>
                <a:latin typeface="Noto Sans"/>
              </a:defRPr>
            </a:pPr>
            <a:r>
              <a:rPr sz="1425" b="0" lang="ja-JP" altLang="en-US">
                <a:solidFill>
                  <a:srgbClr val="303437"/>
                </a:solidFill>
                <a:latin typeface="Noto Sans"/>
                <a:ea typeface="Noto Sans CJK JP"/>
                <a:cs typeface="Noto Sans"/>
              </a:rPr>
              <a:t>the old woman eyed her visitor with evident distrust through the crack, and nothing could be seen but her little eyes, glittering in the darkness. But, seeing a number of people on the landing, she grew bolder, and opened the door wide. The young man stepped into the dark entry, which was partitioned off from the tiny kitchen. The old woman stood facing him in silence and looking inquiringly at him. She was a diminutive, withered up old woman of sixty, with sharp malignant eyes and a sharp little nose. Her colourless, somewhat grizzled hair was thickly smeared with oil, and she wore no kerchief over it. Round her thin long neck, which looked like a hen’s leg, was knotted some sort of flannel rag, and, in spite of the heat, there hung flapping on her shoulders, a mangy fur cape, yellow with age. The old woman coughed and groaned at every instant. The young man must have looked at her with a rather peculiar expression, for a gleam of mistrust came into her eyes again.</a:t>
            </a:r>
          </a:p>
          <a:p>
            <a:pPr algn="l">
              <a:lnSpc>
                <a:spcPts val="1695"/>
              </a:lnSpc>
              <a:spcBef>
                <a:spcPts val="0"/>
              </a:spcBef>
              <a:spcAft>
                <a:spcPts val="0"/>
              </a:spcAft>
              <a:buNone/>
              <a:defRPr sz="1425" b="0">
                <a:solidFill>
                  <a:srgbClr val="303437"/>
                </a:solidFill>
                <a:latin typeface="Noto Sans"/>
              </a:defRPr>
            </a:pPr>
            <a:r>
              <a:rPr sz="1425" b="0" lang="ja-JP" altLang="en-US">
                <a:solidFill>
                  <a:srgbClr val="303437"/>
                </a:solidFill>
                <a:latin typeface="Noto Sans"/>
                <a:ea typeface="Noto Sans CJK JP"/>
                <a:cs typeface="Noto Sans"/>
              </a:rPr>
              <a:t>“Raskolnikov, a student, I</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 Fyodor Dostoyevsky / Constance Garnett訳. Crime and Punishment. Project Gutenberg eBook2554、2026-10-18取得。</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400" b="1" lang="ja-JP" altLang="en-US">
                <a:solidFill>
                  <a:srgbClr val="303437"/>
                </a:solidFill>
                <a:latin typeface="Noto Sans"/>
                <a:ea typeface="Noto Sans CJK JP"/>
                <a:cs typeface="Noto Sans"/>
              </a:rPr>
              <a:t>実例10：ラスコーリニコフを迎え入れる老女（訳）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残り7入力の全文と訳</a:t>
            </a:r>
          </a:p>
        </p:txBody>
      </p:sp>
      <p:sp>
        <p:nvSpPr>
          <p:cNvPr id="4" name="TextBox 3"/>
          <p:cNvSpPr txBox="1"/>
          <p:nvPr/>
        </p:nvSpPr>
        <p:spPr>
          <a:xfrm>
            <a:off x="548640" y="1188720"/>
            <a:ext cx="8046720" cy="219456"/>
          </a:xfrm>
          <a:prstGeom prst="rect">
            <a:avLst/>
          </a:prstGeom>
          <a:noFill/>
        </p:spPr>
        <p:txBody>
          <a:bodyPr wrap="square" lIns="0" rIns="0" tIns="0" bIns="0">
            <a:noAutofit/>
          </a:bodyPr>
          <a:lstStyle/>
          <a:p>
            <a:pPr algn="l">
              <a:lnSpc>
                <a:spcPts val="1345"/>
              </a:lnSpc>
              <a:spcBef>
                <a:spcPts val="0"/>
              </a:spcBef>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rPr>
              <a:t>入力テキストの日本語訳</a:t>
            </a:r>
          </a:p>
        </p:txBody>
      </p:sp>
      <p:sp>
        <p:nvSpPr>
          <p:cNvPr id="5" name="quote-frame"/>
          <p:cNvSpPr/>
          <p:nvPr/>
        </p:nvSpPr>
        <p:spPr>
          <a:xfrm>
            <a:off x="548640" y="1515533"/>
            <a:ext cx="8046720" cy="28448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square" lIns="177800" rIns="177800" tIns="67394" bIns="127000">
            <a:noAutofit/>
          </a:bodyPr>
          <a:lstStyle/>
          <a:p>
            <a:pPr algn="l">
              <a:lnSpc>
                <a:spcPts val="1933"/>
              </a:lnSpc>
              <a:spcBef>
                <a:spcPts val="0"/>
              </a:spcBef>
              <a:spcAft>
                <a:spcPts val="0"/>
              </a:spcAft>
              <a:buNone/>
              <a:defRPr sz="1625" b="0">
                <a:solidFill>
                  <a:srgbClr val="303437"/>
                </a:solidFill>
                <a:latin typeface="Noto Sans"/>
              </a:defRPr>
            </a:pPr>
            <a:r>
              <a:rPr sz="1625" b="0" lang="ja-JP" altLang="en-US">
                <a:solidFill>
                  <a:srgbClr val="303437"/>
                </a:solidFill>
                <a:latin typeface="Noto Sans"/>
                <a:ea typeface="Noto Sans CJK JP"/>
                <a:cs typeface="Noto Sans"/>
              </a:rPr>
              <a:t>老女は扉の隙間から、いかにも疑わしそうに客を見た。暗がりで光る小さな目以外は、何も見えなかった。だが踊り場に人が何人もいるのを見ると、気を強くして扉を大きく開けた。若者は暗い玄関へ入った。小さな台所とは仕切られていた。老女は黙って彼に向き合い、問いかけるような目で見た。六十歳の、小さくしなびた老婆で、意地の悪そうな鋭い目と、尖った小さな鼻をしていた。色あせて、いくらか白髪の交じった髪には油がたっぷり塗られ、頭巾はかぶっていなかった。雌鶏の足のように細長い首にはフランネルらしいぼろ布が結ばれ、暑いのに、年を経て黄色くなった、毛の抜けた毛皮の肩掛けが肩でひらひらしていた。老女はしきりに咳をし、うめいた。若者は、いくぶん変わった表情で彼女を見ていたに違いない。老女の目に再び疑いの光が浮かんだからだ。</a:t>
            </a:r>
          </a:p>
          <a:p>
            <a:pPr algn="l">
              <a:lnSpc>
                <a:spcPts val="1933"/>
              </a:lnSpc>
              <a:spcBef>
                <a:spcPts val="0"/>
              </a:spcBef>
              <a:spcAft>
                <a:spcPts val="0"/>
              </a:spcAft>
              <a:buNone/>
              <a:defRPr sz="1625" b="0">
                <a:solidFill>
                  <a:srgbClr val="303437"/>
                </a:solidFill>
                <a:latin typeface="Noto Sans"/>
              </a:defRPr>
            </a:pPr>
            <a:r>
              <a:rPr sz="1625" b="0" lang="ja-JP" altLang="en-US">
                <a:solidFill>
                  <a:srgbClr val="303437"/>
                </a:solidFill>
                <a:latin typeface="Noto Sans"/>
                <a:ea typeface="Noto Sans CJK JP"/>
                <a:cs typeface="Noto Sans"/>
              </a:rPr>
              <a:t>「学生のラスコーリニコフです。私は、</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 Fyodor Dostoyevsky / Constance Garnett訳. Crime and Punishment. Project Gutenberg eBook2554、2026-10-18取得。</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実例4〜7：16tokensの生成出力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残り7入力の全文と訳</a:t>
            </a:r>
          </a:p>
        </p:txBody>
      </p:sp>
      <p:graphicFrame>
        <p:nvGraphicFramePr>
          <p:cNvPr id="4" name="Table 3"/>
          <p:cNvGraphicFramePr>
            <a:graphicFrameLocks noGrp="1"/>
          </p:cNvGraphicFramePr>
          <p:nvPr/>
        </p:nvGraphicFramePr>
        <p:xfrm>
          <a:off x="548640" y="1508760"/>
          <a:ext cx="8046720" cy="2630040"/>
        </p:xfrm>
        <a:graphic>
          <a:graphicData uri="http://schemas.openxmlformats.org/drawingml/2006/table">
            <a:tbl>
              <a:tblPr firstRow="0" bandRow="0"/>
              <a:tblGrid>
                <a:gridCol w="685800"/>
                <a:gridCol w="5897880"/>
                <a:gridCol w="1463040"/>
              </a:tblGrid>
              <a:tr h="420624">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生成出力</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実測秒</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6264">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“Do you consider the forms of introduction, and the stress that</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1.993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you have had a pleasant voyage, M. Morrel.”</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1.978</a:t>
                      </a:r>
                    </a:p>
                  </a:txBody>
                  <a:tcPr marL="63500" marR="63500" marT="38100" marB="38100" anchor="ctr">
                    <a:lnL w="7620">
                      <a:noFill/>
                    </a:lnL>
                    <a:lnR w="7620">
                      <a:noFill/>
                    </a:lnR>
                    <a:lnT w="7620">
                      <a:noFill/>
                    </a:lnT>
                    <a:lnB w="7620">
                      <a:noFill/>
                    </a:lnB>
                    <a:solidFill>
                      <a:srgbClr val="FFFEF8"/>
                    </a:solidFill>
                  </a:tcPr>
                </a:tc>
              </a:tr>
              <a:tr h="596264">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Alice was now faced with a difficult decision. She had two options:</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2.754</a:t>
                      </a:r>
                    </a:p>
                  </a:txBody>
                  <a:tcPr marL="63500" marR="63500" marT="38100" marB="38100" anchor="ctr">
                    <a:lnL w="7620">
                      <a:noFill/>
                    </a:lnL>
                    <a:lnR w="7620">
                      <a:noFill/>
                    </a:lnR>
                    <a:lnT w="7620">
                      <a:noFill/>
                    </a:lnT>
                    <a:lnB w="7620">
                      <a:noFill/>
                    </a:lnB>
                    <a:solidFill>
                      <a:srgbClr val="FFFEF8"/>
                    </a:solidFill>
                  </a:tcPr>
                </a:tc>
              </a:tr>
              <a:tr h="596264">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astonishment of the ladies was just what he wished; that of Mrs</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1.200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
        <p:nvSpPr>
          <p:cNvPr id="6" name="TextBox 5"/>
          <p:cNvSpPr txBox="1"/>
          <p:nvPr/>
        </p:nvSpPr>
        <p:spPr>
          <a:xfrm>
            <a:off x="594360" y="4206240"/>
            <a:ext cx="7955279" cy="365760"/>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text-davinci-003 / 2022年の公開測定 / 入力256トークン・出力上限16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実例4〜7：生成出力の日本語訳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残り7入力の全文と訳</a:t>
            </a:r>
          </a:p>
        </p:txBody>
      </p:sp>
      <p:graphicFrame>
        <p:nvGraphicFramePr>
          <p:cNvPr id="4" name="Table 3"/>
          <p:cNvGraphicFramePr>
            <a:graphicFrameLocks noGrp="1"/>
          </p:cNvGraphicFramePr>
          <p:nvPr/>
        </p:nvGraphicFramePr>
        <p:xfrm>
          <a:off x="548640" y="1508760"/>
          <a:ext cx="8046720" cy="2322576"/>
        </p:xfrm>
        <a:graphic>
          <a:graphicData uri="http://schemas.openxmlformats.org/drawingml/2006/table">
            <a:tbl>
              <a:tblPr firstRow="0" bandRow="0"/>
              <a:tblGrid>
                <a:gridCol w="685800"/>
                <a:gridCol w="736092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生成出力の日本語訳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4</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「紹介の作法や、それを重んじることを、</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楽しい航海でしたね、モレルさん。」</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アリスは今、難しい決断を迫られていた。選択肢は二つあった：</a:t>
                      </a:r>
                    </a:p>
                  </a:txBody>
                  <a:tcPr marL="63500" marR="63500" marT="38100" marB="38100" anchor="ctr">
                    <a:lnL w="7620">
                      <a:noFill/>
                    </a:lnL>
                    <a:lnR w="7620">
                      <a:noFill/>
                    </a:lnR>
                    <a:lnT w="7620">
                      <a:noFill/>
                    </a:lnT>
                    <a:lnB w="7620">
                      <a:noFill/>
                    </a:lnB>
                    <a:solidFill>
                      <a:srgbClr val="FFFEF8"/>
                    </a:solidFill>
                  </a:tcPr>
                </a:tc>
              </a:tr>
              <a:tr h="64008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女性たちの驚きこそ、まさに彼の望んだものだった。夫人のそれは、</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実例8〜10：16tokensの生成出力</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残り7入力の全文と訳</a:t>
            </a:r>
          </a:p>
        </p:txBody>
      </p:sp>
      <p:graphicFrame>
        <p:nvGraphicFramePr>
          <p:cNvPr id="4" name="Table 3"/>
          <p:cNvGraphicFramePr>
            <a:graphicFrameLocks noGrp="1"/>
          </p:cNvGraphicFramePr>
          <p:nvPr/>
        </p:nvGraphicFramePr>
        <p:xfrm>
          <a:off x="548640" y="1508760"/>
          <a:ext cx="8046720" cy="2033776"/>
        </p:xfrm>
        <a:graphic>
          <a:graphicData uri="http://schemas.openxmlformats.org/drawingml/2006/table">
            <a:tbl>
              <a:tblPr firstRow="0" bandRow="0"/>
              <a:tblGrid>
                <a:gridCol w="685800"/>
                <a:gridCol w="5897880"/>
                <a:gridCol w="1463040"/>
              </a:tblGrid>
              <a:tr h="420624">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生成出力</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実測秒</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596264">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I promise,” said Holmes.
“And I.</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2.788</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596264">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jo?”
“He told me so himself.”</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1.500</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’ve come to you,” the young man made haste to</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1897"/>
                        </a:lnSpc>
                        <a:buNone/>
                        <a:defRPr sz="1650" b="0">
                          <a:solidFill>
                            <a:srgbClr val="303437"/>
                          </a:solidFill>
                          <a:latin typeface="Noto Sans"/>
                        </a:defRPr>
                      </a:pPr>
                      <a:r>
                        <a:rPr sz="1650" b="0" lang="ja-JP" altLang="en-US">
                          <a:solidFill>
                            <a:srgbClr val="303437"/>
                          </a:solidFill>
                          <a:latin typeface="Noto Sans"/>
                          <a:ea typeface="Noto Sans CJK JP"/>
                          <a:cs typeface="Noto Sans"/>
                        </a:rPr>
                        <a:t>0.681</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
        <p:nvSpPr>
          <p:cNvPr id="6" name="TextBox 5"/>
          <p:cNvSpPr txBox="1"/>
          <p:nvPr/>
        </p:nvSpPr>
        <p:spPr>
          <a:xfrm>
            <a:off x="594360" y="4206240"/>
            <a:ext cx="7955279" cy="365760"/>
          </a:xfrm>
          <a:prstGeom prst="rect">
            <a:avLst/>
          </a:prstGeom>
          <a:noFill/>
        </p:spPr>
        <p:txBody>
          <a:bodyPr wrap="square" lIns="0" rIns="0" tIns="0" bIns="0">
            <a:noAutofit/>
          </a:bodyPr>
          <a:lstStyle/>
          <a:p>
            <a:pPr algn="l">
              <a:lnSpc>
                <a:spcPts val="1872"/>
              </a:lnSpc>
              <a:spcBef>
                <a:spcPts val="0"/>
              </a:spcBef>
              <a:spcAft>
                <a:spcPts val="0"/>
              </a:spcAft>
              <a:buNone/>
              <a:defRPr sz="1600" b="0">
                <a:solidFill>
                  <a:srgbClr val="303437"/>
                </a:solidFill>
                <a:latin typeface="Noto Sans"/>
              </a:defRPr>
            </a:pPr>
            <a:r>
              <a:rPr sz="1600" b="0" lang="ja-JP" altLang="en-US">
                <a:solidFill>
                  <a:srgbClr val="303437"/>
                </a:solidFill>
                <a:latin typeface="Noto Sans"/>
                <a:ea typeface="Noto Sans CJK JP"/>
                <a:cs typeface="Noto Sans"/>
              </a:rPr>
              <a:t>text-davinci-003 / 2022年の公開測定 / 入力256トークン・出力上限16</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実例8〜10：生成出力の日本語訳</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1. 残り7入力の全文と訳</a:t>
            </a:r>
          </a:p>
        </p:txBody>
      </p:sp>
      <p:graphicFrame>
        <p:nvGraphicFramePr>
          <p:cNvPr id="4" name="Table 3"/>
          <p:cNvGraphicFramePr>
            <a:graphicFrameLocks noGrp="1"/>
          </p:cNvGraphicFramePr>
          <p:nvPr/>
        </p:nvGraphicFramePr>
        <p:xfrm>
          <a:off x="548640" y="1508760"/>
          <a:ext cx="8046720" cy="2121408"/>
        </p:xfrm>
        <a:graphic>
          <a:graphicData uri="http://schemas.openxmlformats.org/drawingml/2006/table">
            <a:tbl>
              <a:tblPr firstRow="0" bandRow="0"/>
              <a:tblGrid>
                <a:gridCol w="685800"/>
                <a:gridCol w="7360920"/>
              </a:tblGrid>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実例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生成出力の日本語訳</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64008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8</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約束しましょう」とホームズは言った。
「私も。</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64008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ヨ？」
「本人がそう言いました。」</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こちらへ伺いました」と、若者は急いで――</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長さ条件ごとの測定値</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長さ条件ごとの測定値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davinci-003：9条件のRaw平均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長さ条件ごとの測定値</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011680"/>
                <a:gridCol w="2011680"/>
                <a:gridCol w="2011680"/>
                <a:gridCol w="201168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入力tokens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出力上限1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出力上限16</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出力上限64</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0.610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1.625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4.045</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0.863</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2.949</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1024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0.907</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1.660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2.986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単位は秒、各条件10入力の平均。API記録の応答時間。</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AI21 J1-Jumbo：9条件のRaw平均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長さ条件ごとの測定値</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011680"/>
                <a:gridCol w="2011680"/>
                <a:gridCol w="2011680"/>
                <a:gridCol w="201168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入力tokens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出力上限1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出力上限16</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出力上限64</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0.382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0.929</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3.053</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0.436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1.207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4.017</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1024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1.358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1.951</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4.413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単位は秒、各条件10入力の平均。API記録の応答時間。</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OPT-175B：9条件のRaw平均</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2. 長さ条件ごとの測定値</a:t>
            </a:r>
          </a:p>
        </p:txBody>
      </p:sp>
      <p:graphicFrame>
        <p:nvGraphicFramePr>
          <p:cNvPr id="4" name="Table 3"/>
          <p:cNvGraphicFramePr>
            <a:graphicFrameLocks noGrp="1"/>
          </p:cNvGraphicFramePr>
          <p:nvPr/>
        </p:nvGraphicFramePr>
        <p:xfrm>
          <a:off x="548640" y="1508760"/>
          <a:ext cx="8046720" cy="1682496"/>
        </p:xfrm>
        <a:graphic>
          <a:graphicData uri="http://schemas.openxmlformats.org/drawingml/2006/table">
            <a:tbl>
              <a:tblPr firstRow="0" bandRow="0"/>
              <a:tblGrid>
                <a:gridCol w="2011680"/>
                <a:gridCol w="2011680"/>
                <a:gridCol w="2011680"/>
                <a:gridCol w="2011680"/>
              </a:tblGrid>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入力tokens</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出力上限1</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出力上限16</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出力上限64</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9.650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14.525</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27.616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256</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6.991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12.289</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26.272</a:t>
                      </a:r>
                    </a:p>
                  </a:txBody>
                  <a:tcPr marL="63500" marR="63500" marT="38100" marB="38100" anchor="ctr">
                    <a:lnL w="7620">
                      <a:noFill/>
                    </a:lnL>
                    <a:lnR w="7620">
                      <a:noFill/>
                    </a:lnR>
                    <a:lnT w="7620">
                      <a:noFill/>
                    </a:lnT>
                    <a:lnB w="7620">
                      <a:noFill/>
                    </a:lnB>
                    <a:solidFill>
                      <a:srgbClr val="FFFEF8"/>
                    </a:solidFill>
                  </a:tcPr>
                </a:tc>
              </a:tr>
              <a:tr h="420624">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1024</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8.128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11.899</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30.626</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392424"/>
            <a:ext cx="7955279" cy="658368"/>
          </a:xfrm>
          <a:prstGeom prst="rect">
            <a:avLst/>
          </a:prstGeom>
          <a:noFill/>
        </p:spPr>
        <p:txBody>
          <a:bodyPr wrap="square" lIns="0" rIns="0" tIns="0" bIns="0">
            <a:noAutofit/>
          </a:bodyPr>
          <a:lstStyle/>
          <a:p>
            <a:pPr algn="l">
              <a:lnSpc>
                <a:spcPts val="2047"/>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単位は秒、各条件10入力の平均。OPTは12件バッチ全体の時間。</a:t>
            </a:r>
          </a:p>
        </p:txBody>
      </p:sp>
      <p:sp>
        <p:nvSpPr>
          <p:cNvPr id="6" name="sources"/>
          <p:cNvSpPr txBox="1"/>
          <p:nvPr/>
        </p:nvSpPr>
        <p:spPr>
          <a:xfrm>
            <a:off x="502920" y="4700016"/>
            <a:ext cx="8183879" cy="530352"/>
          </a:xfrm>
          <a:prstGeom prst="rect">
            <a:avLst/>
          </a:prstGeom>
          <a:noFill/>
        </p:spPr>
        <p:txBody>
          <a:bodyPr wrap="square" lIns="0" rIns="0" tIns="0" bIns="0">
            <a:noAutofit/>
          </a:bodyPr>
          <a:lstStyle/>
          <a:p>
            <a:pPr algn="l">
              <a:lnSpc>
                <a:spcPts val="940"/>
              </a:lnSpc>
              <a:spcBef>
                <a:spcPts val="0"/>
              </a:spcBef>
              <a:spcAft>
                <a:spcPts val="140"/>
              </a:spcAft>
              <a:buNone/>
              <a:defRPr sz="810" b="0">
                <a:solidFill>
                  <a:srgbClr val="303437"/>
                </a:solidFill>
                <a:latin typeface="Noto Sans"/>
              </a:defRPr>
            </a:pPr>
            <a:r>
              <a:rPr sz="810" b="0" lang="ja-JP" altLang="en-US">
                <a:solidFill>
                  <a:srgbClr val="626669"/>
                </a:solidFill>
                <a:latin typeface="Noto Sans"/>
                <a:ea typeface="Noto Sans CJK JP"/>
                <a:cs typeface="Noto Sans"/>
              </a:rPr>
              <a:t>[1] Stanford CRFM (2023). Synthetic efficiency 公開研究記録。</a:t>
            </a:r>
          </a:p>
          <a:p>
            <a:pPr>
              <a:lnSpc>
                <a:spcPts val="940"/>
              </a:lnSpc>
              <a:buNone/>
              <a:defRPr sz="810" b="0">
                <a:solidFill>
                  <a:srgbClr val="303437"/>
                </a:solidFill>
                <a:latin typeface="Noto Sans"/>
              </a:defRPr>
            </a:pPr>
            <a:r>
              <a:rPr sz="810" b="0" lang="ja-JP" altLang="en-US">
                <a:solidFill>
                  <a:srgbClr val="626669"/>
                </a:solidFill>
                <a:latin typeface="Noto Sans"/>
                <a:ea typeface="Noto Sans CJK JP"/>
                <a:cs typeface="Noto Sans"/>
                <a:hlinkClick r:id="rId2"/>
              </a:rPr>
              <a:t>https://crfm.stanford.edu/helm/classic/v0.4.0/#/groups/synthetic_efficiency</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506875"/>
            <a:ext cx="8046720" cy="585216"/>
          </a:xfrm>
        </p:spPr>
        <p:txBody>
          <a:bodyPr wrap="square" lIns="0" rIns="0" tIns="0" bIns="0" anchor="ctr">
            <a:noAutofit/>
          </a:bodyPr>
          <a:lstStyle/>
          <a:p>
            <a:pPr algn="ctr">
              <a:lnSpc>
                <a:spcPct val="110000"/>
              </a:lnSpc>
              <a:buNone/>
              <a:defRPr sz="3600" b="0">
                <a:solidFill>
                  <a:srgbClr val="303437"/>
                </a:solidFill>
                <a:latin typeface="Noto Sans"/>
              </a:defRPr>
            </a:pPr>
            <a:r>
              <a:rPr sz="36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文献 1: Holistic Evaluation of Language Models"/>
          <p:cNvSpPr txBox="1"/>
          <p:nvPr/>
        </p:nvSpPr>
        <p:spPr>
          <a:xfrm>
            <a:off x="548640" y="1463040"/>
            <a:ext cx="8046720" cy="13458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Holistic Evaluation of Language Models</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Percy Liang et al. · 2022 · arXiv初稿</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入力長と生成上限を制御するSynthetic efficiencyの設計を含む原研究。</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https://arxiv.org/abs/2211.09110v1</a:t>
            </a:r>
          </a:p>
        </p:txBody>
      </p:sp>
      <p:sp>
        <p:nvSpPr>
          <p:cNvPr id="5" name="文献 2: Cheaply Estimating Inference Efficiency Metrics for Autoregressive Transformer Models"/>
          <p:cNvSpPr txBox="1"/>
          <p:nvPr/>
        </p:nvSpPr>
        <p:spPr>
          <a:xfrm>
            <a:off x="548640" y="3040507"/>
            <a:ext cx="8046720" cy="2124837"/>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Cheaply Estimating Inference Efficiency Metrics for Autoregressive Transformer Models</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Deepak Narayanan, Keshav Santhanam, Peter Henderson, Rishi Bommasani, Tony Lee, Percy Liang · 2023 · NeurIPS</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入力処理と自己回帰生成を分けたコストモデルを用い、共通基盤やAPIの変動を考慮する時間指標を提案する。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https://papers.nips.cc/paper_files/paper/2023/hash/d1a14493e5f84d6c6129414f0cd1a7c6-Abstract-Conference.html</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文献 1: HELM Classic — Synthetic efficiency"/>
          <p:cNvSpPr txBox="1"/>
          <p:nvPr/>
        </p:nvSpPr>
        <p:spPr>
          <a:xfrm>
            <a:off x="548640" y="1463040"/>
            <a:ext cx="8046720" cy="13458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Synthetic efficiency — 公開研究記録</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Stanford CRFM (2023). 2026-10-18参照。</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長さ条件ごとの入力、生成出力、測定時間を公開する。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https://crfm.stanford.edu/helm/classic/v0.4.0/#/groups/synthetic_efficiency</a:t>
            </a:r>
          </a:p>
        </p:txBody>
      </p:sp>
      <p:sp>
        <p:nvSpPr>
          <p:cNvPr id="5" name="文献 2: SyntheticEfficiencyScenario / BasicMetric"/>
          <p:cNvSpPr txBox="1"/>
          <p:nvPr/>
        </p:nvSpPr>
        <p:spPr>
          <a:xfrm>
            <a:off x="548640" y="3040507"/>
            <a:ext cx="8046720" cy="13458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SyntheticEfficiencyScenario</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Stanford CRFM (n.d.). 公開コード（2026-10-18参照）。</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トークン長とトークナイザごとに、切り出した作品の入力を読み込む。</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https://github.com/stanford-crfm/helm/blob/v0.3.0/src/helm/benchmark/scenarios/synthetic_efficiency_scenario.py</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文献 1: helm-efficiency"/>
          <p:cNvSpPr txBox="1"/>
          <p:nvPr/>
        </p:nvSpPr>
        <p:spPr>
          <a:xfrm>
            <a:off x="548640" y="1463040"/>
            <a:ext cx="8046720" cy="1526794"/>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helm-efficiency</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Narayanan et al. (n.d.). 2023年効率研究の公式コード。参照2026-10-18。</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時間の測定、回帰、推定係数、効率と能力の分析を公開する。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https://github.com/stanford-crfm/helm-efficiency</a:t>
            </a:r>
          </a:p>
        </p:txBody>
      </p:sp>
      <p:sp>
        <p:nvSpPr>
          <p:cNvPr id="5" name="文献 2: Alice’s Adventures in Wonderland"/>
          <p:cNvSpPr txBox="1"/>
          <p:nvPr/>
        </p:nvSpPr>
        <p:spPr>
          <a:xfrm>
            <a:off x="548640" y="3221482"/>
            <a:ext cx="8046720" cy="1295654"/>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Alice’s Adventures in Wonderland</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Lewis Carroll · Project Gutenberg eBook11（電子版公開2008）</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アリスが小さくなり、ガラス箱のケーキを食べる場面の英語本文を含む。</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https://www.gutenberg.org/ebooks/11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文献 1: Pride and Prejudice"/>
          <p:cNvSpPr txBox="1"/>
          <p:nvPr/>
        </p:nvSpPr>
        <p:spPr>
          <a:xfrm>
            <a:off x="548640" y="1463040"/>
            <a:ext cx="8046720" cy="15998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Pride and Prejudice</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Jane Austen · Project Gutenberg eBook1342（電子版公開1998）</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ベネット夫妻と娘たちが、ビングリー氏への紹介と訪問について話す英語本文を含む。</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https://www.gutenberg.org/ebooks/1342</a:t>
            </a:r>
          </a:p>
        </p:txBody>
      </p:sp>
      <p:sp>
        <p:nvSpPr>
          <p:cNvPr id="5" name="文献 2: The Adventures of Sherlock Holmes"/>
          <p:cNvSpPr txBox="1"/>
          <p:nvPr/>
        </p:nvSpPr>
        <p:spPr>
          <a:xfrm>
            <a:off x="548640" y="3040507"/>
            <a:ext cx="8046720" cy="15998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The Adventures of Sherlock Holmes</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Arthur Conan Doyle · Project Gutenberg eBook1661（電子版公開1999）</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A Scandal in Bohemiaなどの短編を収録し、仮面の客がホームズを訪れる場面を含む。</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https://www.gutenberg.org/ebooks/1661</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EF8"/>
                </a:solidFill>
                <a:latin typeface="Noto Sans"/>
                <a:ea typeface="Noto Sans CJK JP"/>
                <a:cs typeface="Noto Sans"/>
              </a:rPr>
              <a:t>Appendix: 3. 参考文献</a:t>
            </a:r>
          </a:p>
        </p:txBody>
      </p:sp>
      <p:sp>
        <p:nvSpPr>
          <p:cNvPr id="4" name="文献 1: The Count of Monte Cristo"/>
          <p:cNvSpPr txBox="1"/>
          <p:nvPr/>
        </p:nvSpPr>
        <p:spPr>
          <a:xfrm>
            <a:off x="548640" y="1463040"/>
            <a:ext cx="8046720" cy="1599819"/>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The Count of Monte Cristo</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Alexandre Dumas · Project Gutenberg eBook1184（英語電子版公開1998）</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航海から戻ったダンテスとモレル、ダングラールの会話を含む英語本文を公開する。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2"/>
              </a:rPr>
              <a:t>https://www.gutenberg.org/ebooks/1184</a:t>
            </a:r>
          </a:p>
        </p:txBody>
      </p:sp>
      <p:sp>
        <p:nvSpPr>
          <p:cNvPr id="5" name="文献 2: Crime and Punishment"/>
          <p:cNvSpPr txBox="1"/>
          <p:nvPr/>
        </p:nvSpPr>
        <p:spPr>
          <a:xfrm>
            <a:off x="548640" y="3040507"/>
            <a:ext cx="8046720" cy="1295654"/>
          </a:xfrm>
          <a:prstGeom prst="rect">
            <a:avLst/>
          </a:prstGeom>
          <a:noFill/>
        </p:spPr>
        <p:txBody>
          <a:bodyPr wrap="square" lIns="0" rIns="0" tIns="0" bIns="0">
            <a:noAutofit/>
          </a:bodyPr>
          <a:lstStyle/>
          <a:p>
            <a:pPr algn="l">
              <a:lnSpc>
                <a:spcPct val="114000"/>
              </a:lnSpc>
              <a:spcBef>
                <a:spcPts val="0"/>
              </a:spcBef>
              <a:spcAft>
                <a:spcPts val="400"/>
              </a:spcAft>
              <a:buNone/>
              <a:defRPr sz="1850" b="0">
                <a:solidFill>
                  <a:srgbClr val="303437"/>
                </a:solidFill>
                <a:latin typeface="Noto Sans"/>
              </a:defRPr>
            </a:pPr>
            <a:r>
              <a:rPr sz="1850" b="1" lang="ja-JP" altLang="en-US">
                <a:solidFill>
                  <a:srgbClr val="303437"/>
                </a:solidFill>
                <a:latin typeface="Noto Sans"/>
                <a:ea typeface="Noto Sans CJK JP"/>
                <a:cs typeface="Noto Sans"/>
              </a:rPr>
              <a:t>Crime and Punishment</a:t>
            </a:r>
          </a:p>
          <a:p>
            <a:pPr algn="l">
              <a:lnSpc>
                <a:spcPct val="114000"/>
              </a:lnSpc>
              <a:spcBef>
                <a:spcPts val="0"/>
              </a:spcBef>
              <a:spcAft>
                <a:spcPts val="500"/>
              </a:spcAft>
              <a:buNone/>
              <a:defRPr sz="1250" b="0">
                <a:solidFill>
                  <a:srgbClr val="303437"/>
                </a:solidFill>
                <a:latin typeface="Noto Sans"/>
              </a:defRPr>
            </a:pPr>
            <a:r>
              <a:rPr sz="1250" b="0" lang="ja-JP" altLang="en-US">
                <a:solidFill>
                  <a:srgbClr val="626669"/>
                </a:solidFill>
                <a:latin typeface="Noto Sans"/>
                <a:ea typeface="Noto Sans CJK JP"/>
                <a:cs typeface="Noto Sans"/>
              </a:rPr>
              <a:t>Fyodor Dostoyevsky · Constance Garnett英訳 · Project Gutenberg eBook2554（電子版公開2006）</a:t>
            </a:r>
          </a:p>
          <a:p>
            <a:pPr algn="l">
              <a:lnSpc>
                <a:spcPct val="114000"/>
              </a:lnSpc>
              <a:spcBef>
                <a:spcPts val="0"/>
              </a:spcBef>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ラスコーリニコフが老女の住居を訪れる場面を含む英語翻訳を公開する。</a:t>
            </a:r>
          </a:p>
          <a:p>
            <a:pPr algn="l">
              <a:lnSpc>
                <a:spcPct val="114000"/>
              </a:lnSpc>
              <a:spcBef>
                <a:spcPts val="0"/>
              </a:spcBef>
              <a:spcAft>
                <a:spcPts val="0"/>
              </a:spcAft>
              <a:buNone/>
              <a:defRPr sz="1050" b="0">
                <a:solidFill>
                  <a:srgbClr val="303437"/>
                </a:solidFill>
                <a:latin typeface="Noto Sans"/>
              </a:defRPr>
            </a:pPr>
            <a:r>
              <a:rPr sz="1050" b="0" lang="ja-JP" altLang="en-US">
                <a:solidFill>
                  <a:srgbClr val="626669"/>
                </a:solidFill>
                <a:latin typeface="Noto Sans"/>
                <a:ea typeface="Noto Sans CJK JP"/>
                <a:cs typeface="Noto Sans"/>
                <a:hlinkClick r:id="rId3"/>
              </a:rPr>
              <a:t>https://www.gutenberg.org/ebooks/2554</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sasakiy84</cp:lastModifiedBy>
  <cp:revision>500</cp:revision>
  <dcterms:modified xsi:type="dcterms:W3CDTF">2026-10-18T09:04:10Z</dcterms:modified>
  <dc:title>synthetic-efficiency</dc:title>
  <dc:creator>sasakiy84</dc:creator>
  <dcterms:created xsi:type="dcterms:W3CDTF">2026-10-18T09:04:10Z</dcterms:created>
  <dc:language>ja-JP</dc:language>
</cp:coreProperties>
</file>