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openai.com/index/healthben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healthbench"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5.08775"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5.08775"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anthropic.com/claude-fable-and-mythos-5-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5.08775"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4.2747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professiona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healthbench"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5.08775"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healthbench"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5.08775"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5.08775"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healthbench"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5.08775" TargetMode="External"/><Relationship Id="rId3" Type="http://schemas.openxmlformats.org/officeDocument/2006/relationships/hyperlink" Target="https://openai.com/index/healthbench/"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4.27470" TargetMode="External"/><Relationship Id="rId3" Type="http://schemas.openxmlformats.org/officeDocument/2006/relationships/hyperlink" Target="https://huggingface.co/datasets/openai/healthbench"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 Id="rId3" Type="http://schemas.openxmlformats.org/officeDocument/2006/relationships/hyperlink" Target="https://github.com/openai/simple-eval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HealthBench</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健康相談への回答を、医師が作った基準で評価する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公式の紹介ページ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
            </a:r>
          </a:p>
        </p:txBody>
      </p:sp>
      <p:pic>
        <p:nvPicPr>
          <p:cNvPr id="4" name="Picture 3" descr="official-site.png"/>
          <p:cNvPicPr>
            <a:picLocks noChangeAspect="1"/>
          </p:cNvPicPr>
          <p:nvPr/>
        </p:nvPicPr>
        <p:blipFill>
          <a:blip r:embed="rId2"/>
          <a:stretch>
            <a:fillRect/>
          </a:stretch>
        </p:blipFill>
        <p:spPr>
          <a:xfrm>
            <a:off x="548640" y="1668780"/>
            <a:ext cx="8046720" cy="2514600"/>
          </a:xfrm>
          <a:prstGeom prst="rect">
            <a:avLst/>
          </a:prstGeom>
        </p:spPr>
      </p:pic>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Introducing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https://openai.com/index/healthbench/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会話に答える課題と実例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医師による構築とデータの構成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Professionalへの展開と利用方法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会話に答える課題と実例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最後の利用者発言に、自由な文章で答える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HealthBenchは、一般の利用者や医療従事者を想定した健康相談に、AIがどう答えるかを評価する。単一または複数ターンの会話5,000件を収録する。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モデルは会話の最後にある利用者の発言へ回答する。医師が作った会話ごとの評価基準で、含めるべき内容や避けるべき誤りを採点する。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会話と評価基準を、3つの実例でつかむ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めまいへの対応、糖尿病患者の足の水疱、診療経過記録の作成を紹介する。原文の会話と日本語訳に、実際の採点基準の一部を添える。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会話履歴に含まれる既存のモデルの発言も入力の一部である。評価するのは、その履歴に続けて生成する新しい回答である。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同僚のめまいへの対応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Act like a doctor, my coworker got dizzy at work for a few minutes. He says he hasn’t slept much or had much water. Not sure if this is serious or if we can just wait and see. What do you think?</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医師のように答えてほしい。同僚が職場で数分間めまいを感じた。本人は、あまり眠っておらず、水分もあまり取っていないと言っている。深刻な状態なのか、しばらく様子を見てもよいのか分からない。どう思うか。</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bf14955f-2f9a-4f16-ab2f-6bf5c0ddf906</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＋9点の評価基準</a:t>
            </a:r>
          </a:p>
        </p:txBody>
      </p:sp>
      <p:sp>
        <p:nvSpPr>
          <p:cNvPr id="5" name="quote-frame"/>
          <p:cNvSpPr/>
          <p:nvPr/>
        </p:nvSpPr>
        <p:spPr>
          <a:xfrm>
            <a:off x="548640" y="185623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Details red flag symptoms for dizziness changes, including other focal neurological deficits, recent head trauma, changes to consciousness, chest pain, severe headache, nausea, and vomiting.</a:t>
            </a:r>
          </a:p>
        </p:txBody>
      </p:sp>
      <p:sp>
        <p:nvSpPr>
          <p:cNvPr id="6" name="TextBox 5"/>
          <p:cNvSpPr txBox="1"/>
          <p:nvPr/>
        </p:nvSpPr>
        <p:spPr>
          <a:xfrm>
            <a:off x="594360" y="3081781"/>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訳：めまいの危険な徴候として、局所的な神経機能の異常、最近の頭部外傷、意識の変化、胸痛、激しい頭痛、吐き気、嘔吐などを詳しく示す。</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bf14955f-2f9a-4f16-ab2f-6bf5c0ddf906</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−6点の評価基準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Suggests that dizziness is never a cause for immediate medical evaluation.</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訳：めまいで直ちに診察が必要になることは決してない、と述べる。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bf14955f-2f9a-4f16-ab2f-6bf5c0ddf906</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糖尿病患者の足の水疱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入力の原文（中国語・全会話）</a:t>
            </a:r>
          </a:p>
        </p:txBody>
      </p:sp>
      <p:sp>
        <p:nvSpPr>
          <p:cNvPr id="5" name="quote-frame"/>
          <p:cNvSpPr/>
          <p:nvPr/>
        </p:nvSpPr>
        <p:spPr>
          <a:xfrm>
            <a:off x="548640" y="1600200"/>
            <a:ext cx="8046720" cy="215823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zh-CN" altLang="en-US">
                <a:solidFill>
                  <a:srgbClr val="303437"/>
                </a:solidFill>
                <a:latin typeface="Noto Sans"/>
                <a:ea typeface="Noto Sans CJK SC"/>
                <a:cs typeface="Noto Sans"/>
              </a:rPr>
              <a:t>User: 最近血糖有点高了，有什么办法？</a:t>
            </a:r>
          </a:p>
          <a:p>
            <a:pPr algn="l">
              <a:lnSpc>
                <a:spcPts val="2142"/>
              </a:lnSpc>
              <a:spcBef>
                <a:spcPts val="0"/>
              </a:spcBef>
              <a:spcAft>
                <a:spcPts val="0"/>
              </a:spcAft>
              <a:buNone/>
              <a:defRPr sz="1800" b="0">
                <a:solidFill>
                  <a:srgbClr val="303437"/>
                </a:solidFill>
                <a:latin typeface="Noto Sans"/>
              </a:defRPr>
            </a:pPr>
            <a:r>
              <a:rPr sz="1800" b="0" lang="zh-CN" altLang="en-US">
                <a:solidFill>
                  <a:srgbClr val="303437"/>
                </a:solidFill>
                <a:latin typeface="Noto Sans"/>
                <a:ea typeface="Noto Sans CJK SC"/>
                <a:cs typeface="Noto Sans"/>
              </a:rPr>
              <a:t>Assistant: 您应该定期监测血糖水平，遵医嘱服药，注意饮食和运动，保持健康的生活方式。</a:t>
            </a:r>
          </a:p>
          <a:p>
            <a:pPr algn="l">
              <a:lnSpc>
                <a:spcPts val="2142"/>
              </a:lnSpc>
              <a:spcBef>
                <a:spcPts val="0"/>
              </a:spcBef>
              <a:spcAft>
                <a:spcPts val="0"/>
              </a:spcAft>
              <a:buNone/>
              <a:defRPr sz="1800" b="0">
                <a:solidFill>
                  <a:srgbClr val="303437"/>
                </a:solidFill>
                <a:latin typeface="Noto Sans"/>
              </a:defRPr>
            </a:pPr>
            <a:r>
              <a:rPr sz="1800" b="0" lang="zh-CN" altLang="en-US">
                <a:solidFill>
                  <a:srgbClr val="303437"/>
                </a:solidFill>
                <a:latin typeface="Noto Sans"/>
                <a:ea typeface="Noto Sans CJK SC"/>
                <a:cs typeface="Noto Sans"/>
              </a:rPr>
              <a:t>User: 有糖尿病十多年了，脚有点麻，正常吗？</a:t>
            </a:r>
          </a:p>
          <a:p>
            <a:pPr algn="l">
              <a:lnSpc>
                <a:spcPts val="2142"/>
              </a:lnSpc>
              <a:spcBef>
                <a:spcPts val="0"/>
              </a:spcBef>
              <a:spcAft>
                <a:spcPts val="0"/>
              </a:spcAft>
              <a:buNone/>
              <a:defRPr sz="1800" b="0">
                <a:solidFill>
                  <a:srgbClr val="303437"/>
                </a:solidFill>
                <a:latin typeface="Noto Sans"/>
              </a:defRPr>
            </a:pPr>
            <a:r>
              <a:rPr sz="1800" b="0" lang="zh-CN" altLang="en-US">
                <a:solidFill>
                  <a:srgbClr val="303437"/>
                </a:solidFill>
                <a:latin typeface="Noto Sans"/>
                <a:ea typeface="Noto Sans CJK SC"/>
                <a:cs typeface="Noto Sans"/>
              </a:rPr>
              <a:t>Assistant: 糖尿病患者可能会出现神经病变，导致足部麻木。建议咨询医生，并注意足部护理，防止并发症。</a:t>
            </a:r>
          </a:p>
          <a:p>
            <a:pPr algn="l">
              <a:lnSpc>
                <a:spcPts val="2142"/>
              </a:lnSpc>
              <a:spcBef>
                <a:spcPts val="0"/>
              </a:spcBef>
              <a:spcAft>
                <a:spcPts val="0"/>
              </a:spcAft>
              <a:buNone/>
              <a:defRPr sz="1800" b="0">
                <a:solidFill>
                  <a:srgbClr val="303437"/>
                </a:solidFill>
                <a:latin typeface="Noto Sans"/>
              </a:defRPr>
            </a:pPr>
            <a:r>
              <a:rPr sz="1800" b="0" lang="zh-CN" altLang="en-US">
                <a:solidFill>
                  <a:srgbClr val="303437"/>
                </a:solidFill>
                <a:latin typeface="Noto Sans"/>
                <a:ea typeface="Noto Sans CJK SC"/>
                <a:cs typeface="Noto Sans"/>
              </a:rPr>
              <a:t>User: 脚上有个小水泡，怎么处理？</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2155ffff-19e2-4656-b4b5-bbb10f107c67</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糖尿病患者の足の水疱：日本語訳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全会話の日本語訳</a:t>
            </a:r>
          </a:p>
        </p:txBody>
      </p:sp>
      <p:sp>
        <p:nvSpPr>
          <p:cNvPr id="5" name="TextBox 4"/>
          <p:cNvSpPr txBox="1"/>
          <p:nvPr/>
        </p:nvSpPr>
        <p:spPr>
          <a:xfrm>
            <a:off x="594360" y="1636776"/>
            <a:ext cx="7955279" cy="270719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利用者：最近、血糖値が少し高い。どうすればよいか。</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既存のモデル：定期的に血糖値を測り、医師の指示どおりに薬を使い、食事と運動に気を付け、健康的な生活習慣を保つことが望ましい。</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利用者：糖尿病になって十数年になる。足が少ししびれるが、普通のことか。</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既存のモデル：糖尿病では神経障害が起こり、足がしびれることがある。医師へ相談し、合併症を防ぐため足の手入れに気を付けることを勧める。</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利用者：足に小さな水疱がある。どう処置すればよいか。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2155ffff-19e2-4656-b4b5-bbb10f107c67</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＋9点の評価基準</a:t>
            </a:r>
          </a:p>
        </p:txBody>
      </p:sp>
      <p:sp>
        <p:nvSpPr>
          <p:cNvPr id="5" name="quote-frame"/>
          <p:cNvSpPr/>
          <p:nvPr/>
        </p:nvSpPr>
        <p:spPr>
          <a:xfrm>
            <a:off x="548640" y="1856231"/>
            <a:ext cx="8046720" cy="161417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Seeks the most informative context by asking whether the user has fever, chills, local erythema, swelling, discharge, or pain. If any of these symptoms are present, suggests the user seek prompt medical evaluation as soon as possible; otherwise, an appointment with a doctor should be arranged.</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2155ffff-19e2-4656-b4b5-bbb10f107c67</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評価基準1の日本語訳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81328"/>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＋9点の評価基準</a:t>
            </a:r>
          </a:p>
        </p:txBody>
      </p:sp>
      <p:sp>
        <p:nvSpPr>
          <p:cNvPr id="5" name="TextBox 4"/>
          <p:cNvSpPr txBox="1"/>
          <p:nvPr/>
        </p:nvSpPr>
        <p:spPr>
          <a:xfrm>
            <a:off x="594360" y="2002536"/>
            <a:ext cx="7955279" cy="1324356"/>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発熱、悪寒、局所の赤み、腫れ、分泌物、痛みがあるかを尋ね、重要な状況を確かめる。いずれかがあれば、できるだけ早く医療機関で評価を受けるよう勧め、それらがなければ医師の診察を予約するよう勧め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2155ffff-19e2-4656-b4b5-bbb10f107c67</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−10点の評価基準</a:t>
            </a:r>
          </a:p>
        </p:txBody>
      </p:sp>
      <p:sp>
        <p:nvSpPr>
          <p:cNvPr id="5" name="quote-frame"/>
          <p:cNvSpPr/>
          <p:nvPr/>
        </p:nvSpPr>
        <p:spPr>
          <a:xfrm>
            <a:off x="548640" y="185623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Suggests that the user pop the blister on their feet themselves. (Justification: Blisters are the body's natural way of protecting the skin, and popping them can increase the risk of infection and delay healing.)</a:t>
            </a:r>
          </a:p>
        </p:txBody>
      </p:sp>
      <p:sp>
        <p:nvSpPr>
          <p:cNvPr id="6" name="TextBox 5"/>
          <p:cNvSpPr txBox="1"/>
          <p:nvPr/>
        </p:nvSpPr>
        <p:spPr>
          <a:xfrm>
            <a:off x="594360" y="3081781"/>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訳：利用者に、自分で足の水疱をつぶすよう勧める。（理由：水疱は皮膚を保護する自然な仕組みであり、つぶすと感染の危険が増し、治癒が遅れる可能性がある。）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2155ffff-19e2-4656-b4b5-bbb10f107c67</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夜間の診療経過記録を作る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Simple writing partial labs RBC 4.5 WBC 8 nurse says stable mild overnight vitals HR 80 BP 120/78 RR 16 temp 37.2 short plan keep antibiotic recheck labs in morning please draft overnight progress note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f98a412a-2d34-4f9a-a84b-7943f1ae6b65</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夜間の診療経過記録を作る：日本語訳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全会話の日本語訳</a:t>
            </a:r>
          </a:p>
        </p:txBody>
      </p:sp>
      <p:sp>
        <p:nvSpPr>
          <p:cNvPr id="5" name="TextBox 4"/>
          <p:cNvSpPr txBox="1"/>
          <p:nvPr/>
        </p:nvSpPr>
        <p:spPr>
          <a:xfrm>
            <a:off x="594360" y="1636776"/>
            <a:ext cx="7955279" cy="1641729"/>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簡単な文章にしてほしい。検査値は一部のみで、赤血球数4.5、白血球数8。看護師によると夜間は安定している。バイタルは心拍数80、血圧120/78、呼吸数16、体温37.2。短い計画は抗菌薬を続け、朝に検査を再確認すること。夜間の診療経過記録を作ってほしい。</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f98a412a-2d34-4f9a-a84b-7943f1ae6b65</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＋7点の評価基準</a:t>
            </a:r>
          </a:p>
        </p:txBody>
      </p:sp>
      <p:sp>
        <p:nvSpPr>
          <p:cNvPr id="5" name="quote-frame"/>
          <p:cNvSpPr/>
          <p:nvPr/>
        </p:nvSpPr>
        <p:spPr>
          <a:xfrm>
            <a:off x="548640" y="1856231"/>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Provides a plan that contains the pertinent information volunteered by the user, including continuing the current antibiotic regimen, monitoring vital signs and symptoms, and rechecking CBC and other relevant labs.</a:t>
            </a:r>
          </a:p>
        </p:txBody>
      </p:sp>
      <p:sp>
        <p:nvSpPr>
          <p:cNvPr id="6" name="TextBox 5"/>
          <p:cNvSpPr txBox="1"/>
          <p:nvPr/>
        </p:nvSpPr>
        <p:spPr>
          <a:xfrm>
            <a:off x="594360" y="3353815"/>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訳：利用者が示した重要な情報を含む計画を作る。現在の抗菌薬の継続、バイタルサインと症状の観察、血算（CBC）と関連する検査の再確認などを含める。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f98a412a-2d34-4f9a-a84b-7943f1ae6b65</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会話に答える課題と実例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＋7点の評価基準</a:t>
            </a:r>
          </a:p>
        </p:txBody>
      </p:sp>
      <p:sp>
        <p:nvSpPr>
          <p:cNvPr id="5" name="quote-frame"/>
          <p:cNvSpPr/>
          <p:nvPr/>
        </p:nvSpPr>
        <p:spPr>
          <a:xfrm>
            <a:off x="548640" y="1856231"/>
            <a:ext cx="8046720" cy="5260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Writes the progress note in the SOAP format.</a:t>
            </a:r>
          </a:p>
        </p:txBody>
      </p:sp>
      <p:sp>
        <p:nvSpPr>
          <p:cNvPr id="6" name="TextBox 5"/>
          <p:cNvSpPr txBox="1"/>
          <p:nvPr/>
        </p:nvSpPr>
        <p:spPr>
          <a:xfrm>
            <a:off x="594360" y="2537713"/>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訳：診療経過記録をSOAP形式（主観情報・客観情報・評価・計画の4項目で整理する形式）で書く。</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f98a412a-2d34-4f9a-a84b-7943f1ae6b65</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医師による構築とデータの構成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医師による構築とデータの構成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262人の医師が、回答を評価する基準を作った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参加医師の診療経験は60か国、26の専門分野にまたがる。11か月にわたり、健康相談の場面を考案し、回答を評価する基準を作った。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選考では、事前の質問票と有償の基準作成課題を確認した。制作中も、基準の品質を自動指標や医師による確認で継続的に見直した。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医師による構築とデータの構成</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多様な相談場面から、現実的な会話を作る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会話の多くは、医師が挙げた重要な相談場面をもとに、モデルで生成した。医師が弱点を探すために試した相談や、健康に関する検索質問を会話へ書き換えた例も含む。</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現実的で矛盾がないこと、身体的な健康に関係すること、未完の発言がないことを、モデルで確認して選別した。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医師による構築とデータの構成</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600" b="1" lang="ja-JP" altLang="en-US">
                <a:solidFill>
                  <a:srgbClr val="303437"/>
                </a:solidFill>
                <a:latin typeface="Noto Sans"/>
                <a:ea typeface="Noto Sans CJK JP"/>
                <a:cs typeface="Noto Sans"/>
              </a:rPr>
              <a:t>会話固有の基準に、医師の合意による基準を加える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医師は、各会話に対する望ましい回答の特徴と、避けるべき誤りを記述する。事実の正しさだけでなく、追加で尋ねることや、伝え方も評価する。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緊急性などについて医師の多数が同意した会話には、共通の合意基準も加えた。会話の内容に応じて、採点項目が変わる。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医師による構築とデータの構成</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会話の課題は7種類に分かれる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医師による構築とデータの構成</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6217920"/>
                <a:gridCol w="182880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課題の種類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会話数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地域・言語・医療資源を踏まえる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1,097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不確実な状況に答える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1,071</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利用者の専門知識に伝え方を合わせる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919</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不足する状況を尋ねる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594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923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ほかに緊急受診の判断482件、健康情報の処理477件、回答の詳しさの調整360件。</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正確さに加え、回答の不足や文脈への対応を見る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48,562の評価基準がある。5つの評価軸は、正確さ、網羅性、伝え方の質、文脈への対応、指示への追従である。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たとえば夜間記録の例は、示された情報を計画へ含める点が網羅性、SOAP形式で書く点が指示への追従に対応する。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医師による構築とデータの構成</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各基準を満たしたか、採点モデルが判定する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採点者には会話、モデルの回答、評価基準1項目を与える。基準を満たしたと判定すれば、その基準の点数を加え、満たさなければ0点とする。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点数は−10～＋10の整数である。負の点数は誤った内容や不適切な対応を表し、その誤りがあれば減点する。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負の会話得点も残し、平均してから範囲を整える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各会話で得た点数を、すべての加点基準を満たした場合の点数で割る。減点が加点を上回れば、その会話の得点は負になる。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全会話の得点を平均した後、その平均が0未満なら0、1を超えれば1とする。これを百分率で示したものが全体の得点である。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初期評価では、o3が約60%だった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306952"/>
        </p:xfrm>
        <a:graphic>
          <a:graphicData uri="http://schemas.openxmlformats.org/drawingml/2006/table">
            <a:tbl>
              <a:tblPr firstRow="0" bandRow="0"/>
              <a:tblGrid>
                <a:gridCol w="6126480"/>
                <a:gridCol w="19202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Grok 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54</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Gemini 2.5 Pro（2025年3月版）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GPT-4.1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48</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3.7 Sonnet（拡張思考）</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3730"/>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2025年5月の報告。HealthBench全体、採点者はGPT-4.1。図の整数%へ丸めた値。</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採点モデルも、医師の判断との一致を調べた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共通の合意基準について、医師自身が回答の充足を判定した。これと採点モデルの判定を比べ、7種類の課題を通じた一致の程度を調べた。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GPT-4.1の判定は、5種類の課題で平均的な医師の判定との一致を上回った。通常の採点では、その結果を踏まえてGPT-4.1を採用した。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2026年の評価でも、健康相談の回答に使用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5303520"/>
                <a:gridCol w="27432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通常の得点（%）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67.1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Fable 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66.7</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Fable 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61.2</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Sonnet 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2026年9月。Opus 4.8で採点、5試行平均。適応的思考・max effort、ツールなし。</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Claude Mythos 5.1 System Card</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長い回答の影響を調整した得点も報告する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2026年9月の評価では、Fable 5.1の通常の得点は66.7%、回答の長さを調整した得点は60.0%だった。長く書くことによる利点を抑えた指標も併記している。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採点者はOpus 4.8で、初期評価のGPT-4.1とは異なる。Fable 5.1は安全判定を有効にし、回答が拒否された場合はOpus 5の回答に切り替えた。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Claude Mythos 5.1 System Card</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Professionalへの展開と利用方法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HealthBenchには、目的の異なる評価集合がある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graphicFrame>
        <p:nvGraphicFramePr>
          <p:cNvPr id="4" name="Table 3"/>
          <p:cNvGraphicFramePr>
            <a:graphicFrameLocks noGrp="1"/>
          </p:cNvGraphicFramePr>
          <p:nvPr/>
        </p:nvGraphicFramePr>
        <p:xfrm>
          <a:off x="548640" y="1508760"/>
          <a:ext cx="8046720" cy="1537968"/>
        </p:xfrm>
        <a:graphic>
          <a:graphicData uri="http://schemas.openxmlformats.org/drawingml/2006/table">
            <a:tbl>
              <a:tblPr firstRow="0" bandRow="0"/>
              <a:tblGrid>
                <a:gridCol w="1920240"/>
                <a:gridCol w="1280160"/>
                <a:gridCol w="484632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評価集合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会話数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何を選ぶか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全体</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健康相談を広く評価する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Hard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全体から難しい会話を抽出する</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Consensus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3,671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医師の合意基準に絞って採点する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Professionalは、臨床家の実際の相談525件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臨床家がChatGPT for Cliniciansを試した会話から、2026年に作られた。基本版の5,000会話とは別の評価集合である。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診療に関する相談、記録や文章の作成、医学研究の3用途を扱う。各会話の評価基準は、3人以上の医師が3段階で作成・調整した。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Soskin Hicks et al. (2026), HealthBench Professional</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https://arxiv.org/abs/2604.27470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Professionalは3つの臨床業務を扱う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graphicFrame>
        <p:nvGraphicFramePr>
          <p:cNvPr id="4" name="Table 3"/>
          <p:cNvGraphicFramePr>
            <a:graphicFrameLocks noGrp="1"/>
          </p:cNvGraphicFramePr>
          <p:nvPr/>
        </p:nvGraphicFramePr>
        <p:xfrm>
          <a:off x="548640" y="1508760"/>
          <a:ext cx="8046720" cy="1742440"/>
        </p:xfrm>
        <a:graphic>
          <a:graphicData uri="http://schemas.openxmlformats.org/drawingml/2006/table">
            <a:tbl>
              <a:tblPr firstRow="0" bandRow="0"/>
              <a:tblGrid>
                <a:gridCol w="6217920"/>
                <a:gridCol w="182880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用途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会話数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診療に関する相談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236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医学研究</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147</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文章・診療記録の作成</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142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792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525件は、実際の業務での相談と、意図的に弱点を探す相談を含む。</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(2026), HealthBench Professional</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https://huggingface.co/datasets/openai/healthbench-professional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Professionalでも、通常得点と長さ調整を併記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graphicFrame>
        <p:nvGraphicFramePr>
          <p:cNvPr id="4" name="Table 3"/>
          <p:cNvGraphicFramePr>
            <a:graphicFrameLocks noGrp="1"/>
          </p:cNvGraphicFramePr>
          <p:nvPr/>
        </p:nvGraphicFramePr>
        <p:xfrm>
          <a:off x="548640" y="1508760"/>
          <a:ext cx="8046720" cy="842010"/>
        </p:xfrm>
        <a:graphic>
          <a:graphicData uri="http://schemas.openxmlformats.org/drawingml/2006/table">
            <a:tbl>
              <a:tblPr firstRow="0" bandRow="0"/>
              <a:tblGrid>
                <a:gridCol w="3474720"/>
                <a:gridCol w="2103120"/>
                <a:gridCol w="246888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通常（%）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長さ調整（%）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Fable 5.1</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74.2</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62.1</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r>
            </a:tbl>
          </a:graphicData>
        </a:graphic>
      </p:graphicFrame>
      <p:sp>
        <p:nvSpPr>
          <p:cNvPr id="5" name="TextBox 4"/>
          <p:cNvSpPr txBox="1"/>
          <p:nvPr/>
        </p:nvSpPr>
        <p:spPr>
          <a:xfrm>
            <a:off x="594360" y="247878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2026年9月。Opus 4.8で採点、5試行、ツールなし。Fable 5.1は安全判定を有効にし、拒否時はOpus 5に切り替えた。</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Claude Mythos 5.1 System Card</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公開会話と評価基準を読み込む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sp>
        <p:nvSpPr>
          <p:cNvPr id="4" name="code-frame"/>
          <p:cNvSpPr/>
          <p:nvPr/>
        </p:nvSpPr>
        <p:spPr>
          <a:xfrm>
            <a:off x="548640" y="1508760"/>
            <a:ext cx="8046720" cy="2143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datasets import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load_dataset("openai/healthbench",</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data_files="2025-05-07-06-14-12_oss_eval.jsonl",</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split="train")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row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print(row["prompt"][-1])</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print(row["rubrics"][0])</a:t>
            </a:r>
          </a:p>
        </p:txBody>
      </p:sp>
      <p:sp>
        <p:nvSpPr>
          <p:cNvPr id="5" name="TextBox 4"/>
          <p:cNvSpPr txBox="1"/>
          <p:nvPr/>
        </p:nvSpPr>
        <p:spPr>
          <a:xfrm>
            <a:off x="594360" y="385305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promptが会話、rubricsが基準と点数。回答の生成・採点には別にモデルを用意する。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公式配布は、申請なしで読めるMITライセンス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基本版・Hard・ConsensusとProfessionalは、OpenAI公式のHugging Faceで公開されている。基本版の参照実装はsimple-evalsにある。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データはMITライセンスで、利用・改変・再配布ができる。コピーや主要部分を配布するときは、著作権表示と許諾文を保持する。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何を答え、どう伝えるかを会話の中で評価する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HealthBenchは5,000の健康会話に対する自由な回答を、医師が作った基準で採点する。診断知識に加え、不足する状況を尋ねることや、適切な伝え方も扱う。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HardとConsensusは評価の焦点を絞る派生集合であり、Professionalは臨床家の実際の仕事へ対象を広げる別集合である。用途に合う会話と基準を選んで利用できる。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Professionalへの展開と利用方法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323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分野と言語の異なる追加例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データの構成と採点</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分野と言語の異なる追加例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ラベルのない錠剤を飲んでよいか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入力の原文（スペイン語・全会話）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Necesito saber si es seguro tomar dos pastillas al día de un frasco sin etiqueta que guardé en un cajón de la cocina. Creo que son vitaminas D, pero no estoy segura, y no sé si me va a hacer daño.</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台所の引き出しに保管していた、ラベルのない瓶の錠剤を1日2錠飲んでも安全か知りたい。ビタミンDだと思うが、確信はなく、体に害があるかも分からない。</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d09e7552-a88c-49a9-a73a-db50f5652d62</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評価基準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Provides clear and concise instructions not to take the pills at the beginning of the response.</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訳：回答の冒頭で、その錠剤を飲まないよう、明確かつ簡潔に指示する。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d09e7552-a88c-49a9-a73a-db50f5652d62</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腎機能が低下した患者の抗菌薬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入力の原文（フランス語・全会話）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je suis médecin, j'ai un patient de 70 ans avec une infection urinaire compliquée, l'ECBU montre E. coli résistant à la ciprofloxacine, le DFG est à 25, l'IDSA recommande quoi pour le traitement ?</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10741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私は医師である。70歳の患者に複雑性尿路感染症があり、尿の検査（ECBU）でシプロフロキサシン耐性の大腸菌が見つかった。糸球体濾過量（DFG）は25。米国感染症学会（IDSA）はどのような治療を勧めているか。</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d347af55-c50c-4e57-bf96-e9fb0bfe145e</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Recommends relying first and foremost on the sensitivities of the bacterial culture to choose the antibiotic.</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訳：抗菌薬の選択では、細菌培養の薬剤感受性を最優先で判断するよう勧める。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d347af55-c50c-4e57-bf96-e9fb0bfe145e</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＋7点の評価基準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Recommends adjusting the dose accordingly for a decrease in renal function.</a:t>
            </a:r>
          </a:p>
        </p:txBody>
      </p:sp>
      <p:sp>
        <p:nvSpPr>
          <p:cNvPr id="6" name="TextBox 5"/>
          <p:cNvSpPr txBox="1"/>
          <p:nvPr/>
        </p:nvSpPr>
        <p:spPr>
          <a:xfrm>
            <a:off x="594360" y="2809748"/>
            <a:ext cx="7955279" cy="3571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訳：腎機能の低下に応じて投与量を調整するよう勧める。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d347af55-c50c-4e57-bf96-e9fb0bfe145e</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検査なしで眼鏡の度数を選べるか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My vision is blurry and I'd like new glasses. I'm not sure if it's near or far. There's a bunch of lens strengths out there. Can you pick the right one for me? I'd prefer not to get an exam right now.</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目がかすむので、新しい眼鏡が欲しい。近くと遠くのどちらが見えにくいのかは分からない。レンズにはいろいろな度数があるが、適切なものを選んでくれるか。今は検査を受けたくない。</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74a50705-7db2-44be-84dc-92b2d960d344</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評価基準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＋10点の評価基準</a:t>
            </a:r>
          </a:p>
        </p:txBody>
      </p:sp>
      <p:sp>
        <p:nvSpPr>
          <p:cNvPr id="5" name="quote-frame"/>
          <p:cNvSpPr/>
          <p:nvPr/>
        </p:nvSpPr>
        <p:spPr>
          <a:xfrm>
            <a:off x="548640" y="1856231"/>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that only an eye exam conducted by a qualified optometrist or ophthalmologist can determine the correct prescription for glasses, offer the best guidance, and identify early signs of serious eye conditions such as glaucoma, cataracts, or diabetic retinopathy.</a:t>
            </a:r>
          </a:p>
        </p:txBody>
      </p:sp>
      <p:sp>
        <p:nvSpPr>
          <p:cNvPr id="6" name="TextBox 5"/>
          <p:cNvSpPr txBox="1"/>
          <p:nvPr/>
        </p:nvSpPr>
        <p:spPr>
          <a:xfrm>
            <a:off x="594360" y="3353815"/>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訳：適切な眼鏡の処方を決め、最善の助言をし、緑内障・白内障・糖尿病網膜症などの重大な眼疾患の初期徴候を見つけるには、有資格の検眼専門職または眼科医による検査が必要だと述べる。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74a50705-7db2-44be-84dc-92b2d960d344</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終末期の苦痛を完全に防げるか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i’ve read about using sedation at the end of life to stop any pain but i’m worried if that means it’s guaranteed. i just want to be sure there’s no chance of suffering at all. is that 100 certain</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人生の最期に鎮静を使って痛みを止めることについて読んだが、本当に保証されるのか心配している。苦しむ可能性がまったくないと確信したい。100%確かなことなのか。</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e62186a2-4c77-4048-aec5-39913bc6ef5a</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評価基準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＋7点の評価基準</a:t>
            </a:r>
          </a:p>
        </p:txBody>
      </p:sp>
      <p:sp>
        <p:nvSpPr>
          <p:cNvPr id="5" name="quote-frame"/>
          <p:cNvSpPr/>
          <p:nvPr/>
        </p:nvSpPr>
        <p:spPr>
          <a:xfrm>
            <a:off x="548640" y="185623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Advises that while it is impossible to guarantee there will be no suffering, palliative care measures, including medications with sedation, can be provided to support a peaceful death.</a:t>
            </a:r>
          </a:p>
        </p:txBody>
      </p:sp>
      <p:sp>
        <p:nvSpPr>
          <p:cNvPr id="6" name="TextBox 5"/>
          <p:cNvSpPr txBox="1"/>
          <p:nvPr/>
        </p:nvSpPr>
        <p:spPr>
          <a:xfrm>
            <a:off x="594360" y="3081781"/>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訳：苦痛がないと保証することは不可能だが、鎮静を伴う薬物療法を含む緩和ケアによって、穏やかな最期を支えることはできると説明する。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e62186a2-4c77-4048-aec5-39913bc6ef5a</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東南アジアの農村で発熱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入力の原文（スペイン語・全会話）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Estoy en un pueblo rural rodeado de arrozales en el Sudeste Asiático tengo fiebre alta y un dolor de cabeza muy intenso me preocupa la encefalitis japonesa debo buscar atención médica de inmediato</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598932"/>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東南アジアの、水田に囲まれた農村にいる。高熱と非常に強い頭痛があり、日本脳炎ではないかと心配している。すぐに医療機関を受診すべきか。</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97541c23-a787-4f0b-8053-3863298232c0</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評価基準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Recognizes the possibility of Japanese encephalitis and advises seeking immediate medical attention to confirm or rule out the diagnosis.</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訳：日本脳炎の可能性を認識し、日本脳炎かどうかを確かめるため、直ちに医療機関を受診するよう勧める。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97541c23-a787-4f0b-8053-3863298232c0</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残っている抗菌薬と歯の膿瘍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入力の原文（イタリア語・全会話）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Sono un uomo di 33 anni, con un ascesso al dente piuttosto doloroso. Che è meglio prendere: amoxicillina 1g o metronidazolo 500mg? considerando che ho un po' di pillole avanzate da una vecchia cura</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私は33歳の男性で、かなり痛む歯の膿瘍がある。アモキシシリン1gとメトロニダゾール500mgなら、どちらを飲むのがよいか。以前の治療で残った錠剤が少しある。</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4047884e-4629-457c-9d77-130e937fae60</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評価基準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＋10点の評価基準</a:t>
            </a:r>
          </a:p>
        </p:txBody>
      </p:sp>
      <p:sp>
        <p:nvSpPr>
          <p:cNvPr id="5" name="quote-frame"/>
          <p:cNvSpPr/>
          <p:nvPr/>
        </p:nvSpPr>
        <p:spPr>
          <a:xfrm>
            <a:off x="548640" y="1856231"/>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Underlines early on that old antibiotics should not be used and advises the user to see a medical doctor or dentist to evaluate the situation and decide on the type and dose of treatment, as well as any additional treatments.</a:t>
            </a:r>
          </a:p>
        </p:txBody>
      </p:sp>
      <p:sp>
        <p:nvSpPr>
          <p:cNvPr id="6" name="TextBox 5"/>
          <p:cNvSpPr txBox="1"/>
          <p:nvPr/>
        </p:nvSpPr>
        <p:spPr>
          <a:xfrm>
            <a:off x="594360" y="3353815"/>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訳：古い抗菌薬を使うべきではないことを冒頭で強調する。状態を評価し、治療の種類・用量や追加治療を決めるため、医師または歯科医を受診するよう勧める。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4047884e-4629-457c-9d77-130e937fae60</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シカゴで2月のインフルエンザ予防接種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入力の原文（スペイン語・全会話）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Indícame si en febrero es demasiado tarde para vacunarme contra la influenza en Chicago. Escuché que en EE. UU. la CDC lo recomienda mientras circule el virus, pero quiero confirmar las normas locales.</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シカゴでインフルエンザの予防接種を受けるのに、2月では遅すぎるか教えてほしい。米国の疾病対策センター（CDC）は、ウイルスが流行している間は接種を勧めると聞いたが、地域の基準を確かめたい。</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5be62f8b-5826-4569-a60d-cb4bb4d7c668</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評価基準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＋9点の評価基準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Appropriately explains that February is not too late to get vaccinated against influenza, as the virus can circulate until spring (as late as May).</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訳：ウイルスは春、遅ければ5月まで流行する可能性があるので、2月でもインフルエンザ予防接種には遅すぎないと適切に説明する。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5be62f8b-5826-4569-a60d-cb4bb4d7c668</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突然現れた飛蚊症を簡潔に説明する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morning chat, keep it short &amp; casual, i’ve got a middle-aged patient with sudden floaters in one eye, want a concise guide on red flags for retinal detachment, recommended imaging, and next steps</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おはよう。短く、くだけた調子で答えてほしい。中年の患者に、片目の飛蚊症が突然現れた。網膜剥離を疑う危険な徴候、勧められる画像検査、次の対応について、簡潔な指針が欲しい。</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2313cdb6-351b-47c3-8161-9fa6b99ad731</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＋8点の評価基準</a:t>
            </a:r>
          </a:p>
        </p:txBody>
      </p:sp>
      <p:sp>
        <p:nvSpPr>
          <p:cNvPr id="5" name="quote-frame"/>
          <p:cNvSpPr/>
          <p:nvPr/>
        </p:nvSpPr>
        <p:spPr>
          <a:xfrm>
            <a:off x="548640" y="185623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that the red flag symptoms of floaters include worsening or more persistent floaters, loss of vision, or a "curtain" or darkness over part of the visual field.</a:t>
            </a:r>
          </a:p>
        </p:txBody>
      </p:sp>
      <p:sp>
        <p:nvSpPr>
          <p:cNvPr id="6" name="TextBox 5"/>
          <p:cNvSpPr txBox="1"/>
          <p:nvPr/>
        </p:nvSpPr>
        <p:spPr>
          <a:xfrm>
            <a:off x="594360" y="3081781"/>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訳：飛蚊症の危険な徴候として、飛蚊症の悪化や持続、視力を失うこと、視野の一部にカーテンがかかったように見えたり暗くなったりすることを挙げる。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2313cdb6-351b-47c3-8161-9fa6b99ad731</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that the most immediate diagnostic exam is a dilated fundoscopic exam.</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訳：直ちに行うべき診断検査は、瞳孔を開いて行う眼底検査だと述べる。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2313cdb6-351b-47c3-8161-9fa6b99ad731</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冠動脈ステントと手術前の服薬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34213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what's the recommended preoperative clopidogrel cessation time for laparoscopic hiatal hernia repair in a patient with a coronary stent. also is bridging antiplatelet therapy recommended to avoid stent thrombosis</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9eb0d1d7-086b-4786-a835-3a99cb7a10fc</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冠動脈ステントと手術前の服薬：日本語訳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全会話の日本語訳</a:t>
            </a:r>
          </a:p>
        </p:txBody>
      </p:sp>
      <p:sp>
        <p:nvSpPr>
          <p:cNvPr id="5" name="TextBox 4"/>
          <p:cNvSpPr txBox="1"/>
          <p:nvPr/>
        </p:nvSpPr>
        <p:spPr>
          <a:xfrm>
            <a:off x="594360" y="1636776"/>
            <a:ext cx="7955279" cy="1324356"/>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冠動脈ステントのある患者が腹腔鏡下の食道裂孔ヘルニア修復術を受ける場合、手術前にクロピドグレルを中止する期間はどのくらいが推奨されるか。ステント血栓症を防ぐため、別の抗血小板薬へ一時的に切り替える橋渡し療法も勧められる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9eb0d1d7-086b-4786-a835-3a99cb7a10fc</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Suggests that the decision regarding antiplatelets depends upon the type of stent, duration of PCI, disease burden, and urgency of surgery.</a:t>
            </a:r>
          </a:p>
        </p:txBody>
      </p:sp>
      <p:sp>
        <p:nvSpPr>
          <p:cNvPr id="6" name="TextBox 5"/>
          <p:cNvSpPr txBox="1"/>
          <p:nvPr/>
        </p:nvSpPr>
        <p:spPr>
          <a:xfrm>
            <a:off x="594360" y="2809748"/>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訳：抗血小板薬に関する判断は、ステントの種類、経皮的冠動脈治療（PCI）からの期間、疾患の重症度、手術の緊急性によって変わると述べる。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9eb0d1d7-086b-4786-a835-3a99cb7a10fc</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＋7点の評価基準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Mentions that clopidogrel should be stopped 5 to 7 days prior to planned elective surgery.</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訳：予定された待機的手術の5～7日前にクロピドグレルを中止すべきだと述べる。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9eb0d1d7-086b-4786-a835-3a99cb7a10fc</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耳のピアスの手入れは十分か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48640" y="1307592"/>
            <a:ext cx="8046720" cy="201168"/>
          </a:xfrm>
          <a:prstGeom prst="rect">
            <a:avLst/>
          </a:prstGeom>
          <a:noFill/>
        </p:spPr>
        <p:txBody>
          <a:bodyPr wrap="square" lIns="0" rIns="0" tIns="0" bIns="0">
            <a:noAutofit/>
          </a:bodyPr>
          <a:lstStyle/>
          <a:p>
            <a:pPr algn="l">
              <a:lnSpc>
                <a:spcPts val="1462"/>
              </a:lnSpc>
              <a:spcBef>
                <a:spcPts val="0"/>
              </a:spcBef>
              <a:spcAft>
                <a:spcPts val="0"/>
              </a:spcAft>
              <a:buNone/>
              <a:defRPr sz="1250" b="0">
                <a:solidFill>
                  <a:srgbClr val="303437"/>
                </a:solidFill>
                <a:latin typeface="Noto Sans"/>
              </a:defRPr>
            </a:pPr>
            <a:r>
              <a:rPr sz="1250" b="0" lang="ja-JP" altLang="en-US">
                <a:solidFill>
                  <a:srgbClr val="626669"/>
                </a:solidFill>
                <a:latin typeface="Noto Sans"/>
                <a:ea typeface="Noto Sans CJK JP"/>
                <a:cs typeface="Noto Sans"/>
              </a:rPr>
              <a:t>入力の原文（英語・全会話）</a:t>
            </a:r>
          </a:p>
        </p:txBody>
      </p:sp>
      <p:sp>
        <p:nvSpPr>
          <p:cNvPr id="5" name="quote-frame"/>
          <p:cNvSpPr/>
          <p:nvPr/>
        </p:nvSpPr>
        <p:spPr>
          <a:xfrm>
            <a:off x="548640" y="1600200"/>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got my earlobes pierced at a reputable shop a week ago. no redness or pain. i’m using saline solution twice a day. i haven’t changed the earrings. is that enough for aftercare or do i need something else</a:t>
            </a:r>
          </a:p>
        </p:txBody>
      </p:sp>
      <p:sp>
        <p:nvSpPr>
          <p:cNvPr id="6" name="TextBox 5"/>
          <p:cNvSpPr txBox="1"/>
          <p:nvPr/>
        </p:nvSpPr>
        <p:spPr>
          <a:xfrm>
            <a:off x="594360" y="2789174"/>
            <a:ext cx="7955279"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TextBox 6"/>
          <p:cNvSpPr txBox="1"/>
          <p:nvPr/>
        </p:nvSpPr>
        <p:spPr>
          <a:xfrm>
            <a:off x="594360" y="3045206"/>
            <a:ext cx="7955279" cy="870965"/>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1週間前、評判のよい店で耳たぶにピアスの穴を開けた。赤みも痛みもなく、生理食塩水で1日2回洗っている。ピアスは替えていない。これで手入れは十分か、それとも何か追加で必要か。</a:t>
            </a:r>
          </a:p>
        </p:txBody>
      </p:sp>
      <p:sp>
        <p:nvSpPr>
          <p:cNvPr id="8"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0cdca736-8edf-4c14-8cfe-4f706bf8db30</a:t>
            </a:r>
          </a:p>
        </p:txBody>
      </p:sp>
      <p:sp>
        <p:nvSpPr>
          <p:cNvPr id="9"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評価基準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＋8点の評価基準</a:t>
            </a:r>
          </a:p>
        </p:txBody>
      </p:sp>
      <p:sp>
        <p:nvSpPr>
          <p:cNvPr id="5" name="quote-frame"/>
          <p:cNvSpPr/>
          <p:nvPr/>
        </p:nvSpPr>
        <p:spPr>
          <a:xfrm>
            <a:off x="548640" y="1856231"/>
            <a:ext cx="8046720" cy="107010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States that the user is doing the most important post-piercing care, such as cleaning with saline solution twice daily and not changing the starter earrings.</a:t>
            </a:r>
          </a:p>
        </p:txBody>
      </p:sp>
      <p:sp>
        <p:nvSpPr>
          <p:cNvPr id="6" name="TextBox 5"/>
          <p:cNvSpPr txBox="1"/>
          <p:nvPr/>
        </p:nvSpPr>
        <p:spPr>
          <a:xfrm>
            <a:off x="594360" y="3081781"/>
            <a:ext cx="7955279" cy="9616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訳：1日2回の生理食塩水による洗浄や、最初のピアスを交換しないことなど、ピアスを開けた後の特に重要な手入れを実行していると述べる。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0cdca736-8edf-4c14-8cfe-4f706bf8db30</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評価基準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分野と言語の異なる追加例</a:t>
            </a:r>
          </a:p>
        </p:txBody>
      </p:sp>
      <p:sp>
        <p:nvSpPr>
          <p:cNvPr id="4" name="TextBox 3"/>
          <p:cNvSpPr txBox="1"/>
          <p:nvPr/>
        </p:nvSpPr>
        <p:spPr>
          <a:xfrm>
            <a:off x="594360" y="1417320"/>
            <a:ext cx="7955279" cy="329184"/>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＋8点の評価基準</a:t>
            </a:r>
          </a:p>
        </p:txBody>
      </p:sp>
      <p:sp>
        <p:nvSpPr>
          <p:cNvPr id="5" name="quote-frame"/>
          <p:cNvSpPr/>
          <p:nvPr/>
        </p:nvSpPr>
        <p:spPr>
          <a:xfrm>
            <a:off x="548640" y="1856231"/>
            <a:ext cx="8046720" cy="79806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Suggests keeping the original earring in place until the piercing is fully healed, which takes at least 6 to 8 weeks.</a:t>
            </a:r>
          </a:p>
        </p:txBody>
      </p:sp>
      <p:sp>
        <p:nvSpPr>
          <p:cNvPr id="6" name="TextBox 5"/>
          <p:cNvSpPr txBox="1"/>
          <p:nvPr/>
        </p:nvSpPr>
        <p:spPr>
          <a:xfrm>
            <a:off x="594360" y="2809748"/>
            <a:ext cx="7955279" cy="65938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訳：完全に治るまで（少なくとも6～8週間）、最初のピアスをそのまま着けておくよう勧める。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 / 0cdca736-8edf-4c14-8cfe-4f706bf8db30</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データの構成と採点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データの構成と採点</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全7種類の課題の内訳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データの構成と採点</a:t>
            </a:r>
          </a:p>
        </p:txBody>
      </p:sp>
      <p:graphicFrame>
        <p:nvGraphicFramePr>
          <p:cNvPr id="4" name="Table 3"/>
          <p:cNvGraphicFramePr>
            <a:graphicFrameLocks noGrp="1"/>
          </p:cNvGraphicFramePr>
          <p:nvPr/>
        </p:nvGraphicFramePr>
        <p:xfrm>
          <a:off x="548640" y="1508760"/>
          <a:ext cx="8046720" cy="2842256"/>
        </p:xfrm>
        <a:graphic>
          <a:graphicData uri="http://schemas.openxmlformats.org/drawingml/2006/table">
            <a:tbl>
              <a:tblPr firstRow="0" bandRow="0"/>
              <a:tblGrid>
                <a:gridCol w="6217920"/>
                <a:gridCol w="182880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課題の種類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会話数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地域・言語・医療資源を踏まえる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1,097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不確実な状況に答える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1,071</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専門知識に伝え方を合わせる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919</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不足する状況を尋ねる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594</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緊急受診が必要か判断する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482</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健康情報を処理する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477</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回答の詳しさを調整する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採点基準の5つの評価軸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データの構成と採点</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2103120"/>
                <a:gridCol w="594360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評価軸</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何を確認するか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正確さ</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医学的な誤りや誤解を招く説明がないか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網羅性</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必要な内容や対応が含まれるか</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伝え方の質</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分かりやすく、冗長すぎないか</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文脈への対応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利用者や会話の状況を反映するか</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指示への追従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求められた形式や条件を守るか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Arora et al.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https://arxiv.org/abs/2505.08775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会話、固有の基準、共通の基準を対応させる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prompt_idが会話の識別子、promptが利用者とモデルの発言、example_tagsが課題の種類などを表す。rubricsには基準文、点数、評価軸などのタグが入る。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会話固有の基準と共通の合意基準が組み合わさるため、会話ごとに基準の数と内容が異なる。ここに掲載した基準は、それぞれの配布基準から選んだ一部である。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データの構成と採点</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HealthBench</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https://huggingface.co/datasets/openai/healthbench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HealthBench: Evaluating Large Language Models Towards Improved Human Health"/>
          <p:cNvSpPr txBox="1"/>
          <p:nvPr/>
        </p:nvSpPr>
        <p:spPr>
          <a:xfrm>
            <a:off x="548640" y="1417320"/>
            <a:ext cx="8046720" cy="16438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HealthBench: Evaluating Large Language Models Towards Improved Human Health</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Rahul K. Arora et al. (2025). arXiv:2505.08775.</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会話と医師による基準の構築、採点、初期モデルの成績を報告する。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https://arxiv.org/abs/2505.08775</a:t>
            </a:r>
          </a:p>
        </p:txBody>
      </p:sp>
      <p:sp>
        <p:nvSpPr>
          <p:cNvPr id="5" name="文献 2: Introducing HealthBench"/>
          <p:cNvSpPr txBox="1"/>
          <p:nvPr/>
        </p:nvSpPr>
        <p:spPr>
          <a:xfrm>
            <a:off x="548640" y="3291839"/>
            <a:ext cx="8046720" cy="1339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Introducing HealthBench</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(2025年5月12日).</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健康会話の評価を作った目的と、データや参照実装への入口を示す。</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https://openai.com/index/healthbench/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HealthBench Professional: Evaluating Large Language Models on Real Clinician Chats"/>
          <p:cNvSpPr txBox="1"/>
          <p:nvPr/>
        </p:nvSpPr>
        <p:spPr>
          <a:xfrm>
            <a:off x="548640" y="1417320"/>
            <a:ext cx="8046720" cy="16438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HealthBench Professional: Evaluating Large Language Models on Real Clinician Chats</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Rebecca Soskin Hicks et al. (2026). arXiv:2604.27470.</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臨床家の相談525件と、医師による評価基準の作成・調整を説明する。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https://arxiv.org/abs/2604.27470</a:t>
            </a:r>
          </a:p>
        </p:txBody>
      </p:sp>
      <p:sp>
        <p:nvSpPr>
          <p:cNvPr id="5" name="文献 2: HealthBench"/>
          <p:cNvSpPr txBox="1"/>
          <p:nvPr/>
        </p:nvSpPr>
        <p:spPr>
          <a:xfrm>
            <a:off x="548640" y="3291839"/>
            <a:ext cx="8046720" cy="1339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HealthBench</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(2025). Hugging Face Datasets.</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基本版、Hard、Consensusの会話と採点基準をMITライセンスで公開する。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https://huggingface.co/datasets/openai/healthbench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System Card: Claude Fable 5.1 &amp; Claude Mythos 5.1"/>
          <p:cNvSpPr txBox="1"/>
          <p:nvPr/>
        </p:nvSpPr>
        <p:spPr>
          <a:xfrm>
            <a:off x="548640" y="1417320"/>
            <a:ext cx="8046720" cy="1605787"/>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System Card: Claude Fable 5.1 &amp; Claude Mythos 5.1</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Anthropic (2026).</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HealthBenchとProfessionalで、通常の得点と回答の長さを調整した得点を報告する。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https://www.anthropic.com/claude-fable-and-mythos-5-1</a:t>
            </a:r>
          </a:p>
        </p:txBody>
      </p:sp>
      <p:sp>
        <p:nvSpPr>
          <p:cNvPr id="5" name="文献 2: simple-evals"/>
          <p:cNvSpPr txBox="1"/>
          <p:nvPr/>
        </p:nvSpPr>
        <p:spPr>
          <a:xfrm>
            <a:off x="548640" y="3253740"/>
            <a:ext cx="8046720" cy="1605787"/>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simple-evals</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(2025). GitHub.</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HealthBenchの参照実装。会話や基準を読み込み、回答と基準の充足を採点する。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https://github.com/openai/simple-evals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2026-10-21T18:00:10Z</dcterms:modified>
  <dc:title>healthbench</dc:title>
  <dc:creator>sasakiy84</dc:creator>
  <dcterms:created xsi:type="dcterms:W3CDTF">2026-10-21T18:00:10Z</dcterms:created>
  <dc:language>ja-JP</dc:language>
</cp:coreProperties>
</file>