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8" r:id="rId28"/>
    <p:sldId id="279" r:id="rId29"/>
    <p:sldId id="280" r:id="rId30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302" r:id="rId52"/>
    <p:sldId id="303" r:id="rId53"/>
    <p:sldId id="304" r:id="rId54"/>
    <p:sldId id="305" r:id="rId55"/>
    <p:sldId id="306" r:id="rId56"/>
    <p:sldId id="307" r:id="rId5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配布レコード数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数字・記号（part1）</c:v>
                </c:pt>
                <c:pt idx="1">
                  <c:v>単語（part2）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</c:v>
                </c:pt>
                <c:pt idx="1">
                  <c:v>344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inverse-scaling/priz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irmckenzie.co.uk/round1/" TargetMode="External"/><Relationship Id="rId3" Type="http://schemas.openxmlformats.org/officeDocument/2006/relationships/hyperlink" Target="https://github.com/inverse-scaling/prize/blob/920f17de85f2a7f2415b097bc49e6a7fbf17b0b2/data-release/README.md" TargetMode="External"/><Relationship Id="rId4" Type="http://schemas.openxmlformats.org/officeDocument/2006/relationships/hyperlink" Target="https://github.com/inverse-scaling/prize/blob/main/data-release/README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inverse-scaling/prize/blob/920f17de85f2a7f2415b097bc49e6a7fbf17b0b2/data-release/isp-data-release.zip" TargetMode="External"/><Relationship Id="rId4" Type="http://schemas.openxmlformats.org/officeDocument/2006/relationships/hyperlink" Target="https://github.com/inverse-scaling/prize/tree/main/data-release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Relationship Id="rId3" Type="http://schemas.openxmlformats.org/officeDocument/2006/relationships/hyperlink" Target="https://github.com/inverse-scaling/prize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Relationship Id="rId3" Type="http://schemas.openxmlformats.org/officeDocument/2006/relationships/hyperlink" Target="https://github.com/inverse-scaling/prize/blob/920f17de85f2a7f2415b097bc49e6a7fbf17b0b2/data-release/README.md" TargetMode="External"/><Relationship Id="rId4" Type="http://schemas.openxmlformats.org/officeDocument/2006/relationships/hyperlink" Target="https://github.com/inverse-scaling/prize/blob/main/data-release/README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/blob/920f17de85f2a7f2415b097bc49e6a7fbf17b0b2/data-release/README.md" TargetMode="External"/><Relationship Id="rId3" Type="http://schemas.openxmlformats.org/officeDocument/2006/relationships/hyperlink" Target="https://github.com/stanford-crfm/helm/blob/v0.4.0/src/helm/benchmark/scenarios/cleva_scenario.py" TargetMode="External"/><Relationship Id="rId4" Type="http://schemas.openxmlformats.org/officeDocument/2006/relationships/hyperlink" Target="https://github.com/inverse-scaling/prize/blob/main/data-release/README.md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inverse-scaling/prize/blob/920f17de85f2a7f2415b097bc49e6a7fbf17b0b2/data-release/isp-data-release.zip" TargetMode="External"/><Relationship Id="rId3" Type="http://schemas.openxmlformats.org/officeDocument/2006/relationships/hyperlink" Target="https://github.com/inverse-scaling/prize/tree/main/data-release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inverse-scaling/prize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6.09479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06.09479" TargetMode="External"/><Relationship Id="rId3" Type="http://schemas.openxmlformats.org/officeDocument/2006/relationships/hyperlink" Target="https://github.com/inverse-scaling/prize/blob/main/data-release/README.md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irmckenzie.co.uk/round1/" TargetMode="External"/><Relationship Id="rId3" Type="http://schemas.openxmlformats.org/officeDocument/2006/relationships/hyperlink" Target="https://creativecommons.org/licenses/by/4.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既知の意味を、入力で与えた新しい定義へ切り替える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5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 Prizeの公式リポジトリ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Redefine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55" y="1481328"/>
            <a:ext cx="689229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Prize. Official repository.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新しい定義で答える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課題の構成と公開版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モデルの規模と成績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公式データの入手と使い方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新しい定義で答える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その場で与えられた、新しい意味で答える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Redefineは、記号や単語の意味を入力で定義し直し、新しい意味に従って答えられるかを調べる英語の選択式データセット。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候補は二つ。一方は通常の意味、もう一方は入力で与えた定義に対応する。正解は、その場の定義に従う候補である。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既に知っている意味が回答へ影響しやすい場面で、入力中の指示を優先できるかを調べる。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入力の指示を読み、二つの候補から答える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入力には、記号や語をどう読み替えるかという指示と、質問が書かれている。答えは、二つの候補から選ぶ。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JSONLのpromptが入力、classesが候補、answer_indexが正解候補の位置を表す。位置は0から数える。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数字・記号の問題では、計算をする指示と、書かれた文字列をそのまま読む指示がある。単語の問題では、定義を置き換えたり、二語の意味を交換したりする。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実例1：eを、加算式で定義し直す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15776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 e as 48+12. Q: What is the first digit of e?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6', ' 2']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eを48+12として再定義してください。問：eの最初の数字は何ですか。答：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6', ' 2']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4486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740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eはこの指示では60。先頭は6で、通常の自然対数の底2.718…の2ではない。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eという名前でも、ここでは60を表す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実例1の指示はeを48+12として再定義する。足し算を行うと60なので、最初の数字は6になる。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通常のeは自然対数の底で、2.718…の先頭は2。この通常の知識に対応する候補が、もう一方に置かれている。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問われているのは、計算に使う値を入力の定義から選べるかという点である。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実例2：計算せず、文字列の先頭を読む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4063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View number as text. Do not perform computation. Q: What is the first digit of 50+47?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9', ' 5']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数を文字列とみなしてください。計算しないでください。問：50+47の最初の数字は何ですか。答：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9', ' 5']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226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2518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文字列50+47の先頭の数字は5。和97の先頭9を答える課題ではない。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計算をしない指示では、文字列を読む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実例2では数を文字列とみなし、計算しないよう明示する。50+47の先頭に書かれた数字は5。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指示を無視して50+47=97を計算すると、先頭9の候補を選んでしまう。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同じ記号でも、加算を求める入力と文字列を読む入力では、正解を決める手順が異なる。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実例3：単語の意味を入れ替える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4063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Swap the meaning of polite and rude. Should people be polite to their friends?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No', ' Yes']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760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politeとrudeの意味を入れ替えてください。人は友人に対してpoliteであるべきですか。答：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候補（原順）：いいえ／はい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226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正解：いいえ（No）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2518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politeは、この指示ではrude（失礼な）の意味。友人への望ましい態度を問うため、正解はNo。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入れ替え後の意味で、問いを解釈する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実例3ではpoliteとrudeの意味を入れ替える。問いのpoliteは、通常のrude（失礼な）に当たる意味で使われる。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友人に失礼な態度を取るべきかを問うことになるため、正解はNo。単語を通常の意味で読むと、反対の候補を選んでしまう。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新しい定義で答える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課題の構成と公開版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課題の構成と公開版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2022年の受賞課題を、更新して公開した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Xudong Shenが提出し、2022年の第1回Inverse Scaling Prizeでredefine-mathとして受賞した。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第2回で更新を受け付け、2023年3月に公開したデータには更新版だけを収録した。第1回版は、この配布には含まれない。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公開版には、数字や記号に加え、単語の意味を再定義する問題も含まれる。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課題の構成と公開版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(2022). Inverse Scaling Prize: First Round Winners.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https://irmckenzie.co.uk/round1/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Inverse Scaling Prize (2023). Data release: format and CC BY 4.0.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4"/>
              </a:rPr>
              <a:t>https://github.com/inverse-scaling/prize/blob/main/data-release/README.md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公開版は、数字・記号と単語の二部構成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課題の構成と公開版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914400"/>
                <a:gridCol w="5120640"/>
                <a:gridCol w="20116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扱う対象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数字・記号の再定義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単語の再定義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公開英語版全体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1,244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747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partは課題の種類を表す。公開データに、学習用・検証用・テスト用の分割指定はない。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数・記号では、文字列と計算を切り替える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課題の構成と公開版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480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指示に従う手順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数を文字列として読む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足し算せず、最初の数字を読む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+・÷を数字とみなす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演算記号として計算しない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π・eを再定義する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指定された整数・加算・剰余を使う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747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数字・記号には9形式があり、それぞれ100件を収録する。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単語では、定義の置換と意味の交換を使う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課題の構成と公開版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7010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9377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公開データにある語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98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定義の置換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lawful / unlawful、plentiful / abundant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二語の意味の交換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polite / rude、abundant / scarce等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合理性の意味の交換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rational / irrational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16020"/>
            <a:ext cx="7955279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単語の問題はNoとYesの二択。最初の候補が正解の問題と、二番目が正解の問題が172件ずつある。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数字・記号900件、単語344件を収録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課題の構成と公開版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公開英語版の全1,244件の内訳。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4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各部50例で、人の回答と正解が100%一致した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構築時には、人が選んだ候補とデータの正解が一致するかを確認した。Redefineの一致率は100.0%だった。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数字・記号と単語の各部から50例を選び、それぞれの一致率を平均した値である。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課題の構成と公開版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モデルの規模と成績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モデルの規模と成績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候補への確率を使って、損失を測る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元の選択式評価では、promptの後に各候補文字列が続く確率を求める。候補が複数トークンなら、文字列全体の確率を使う。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二つの候補の確率を、合計1になるように正規化する。正解候補の正規化確率について、負の対数を取り平均するのが分類損失。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分類正解率は、確率が最大の候補を選んだときの一致率である。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モデルの規模と成績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Inverse Scaling Prize. Official repository.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大きいモデルほど成績が低い系列があった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構築時のゼロショット比較では、調べた全モデル系列で、最大モデルの成績が最小モデルより低かった。規模の途中での変化には揺れがある。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小さい側のモデルは全系列がランダム選択を上回ったが、大きい側では半数を超える系列がランダム以下になった。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入力の新しい定義よりも、学習で身につけた意味が強く働くことが、成績低下の原因として考えられている。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モデルの規模と成績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例示を増やした条件でも、系列ごとに傾向が違う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研究はゼロショットに加え、最大72件、または文脈長に入る範囲の例示を調べた。対象はAnthropic LM、Gopher、Chinchilla。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例示を増やすことで改善する課題もある一方、RedefineのGopher系列では、モデルが大きくなるにつれて成績が下がる傾向や、いったん上がってから下がる傾向が残った。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例示には、評価する問題以外の集合から選んだ、指示と正解の組を使う。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モデルの規模と成績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Inverse Scaling Prize (2023). Data release: format and CC BY 4.0.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4"/>
              </a:rPr>
              <a:t>https://github.com/inverse-scaling/prize/blob/main/data-release/README.md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公式データの入手と使い方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公式データの入手と使い方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英語のJSONLと、形式の説明を入手する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公式リポジトリのdata-releaseに、11課題を収めたZIPと形式の説明がある。ZIPを展開すると、RedefineのJSONLを取り出せる。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データのライセンスはCC BY 4.0。利用時には提出者Xudong ShenとInverse Scaling Prizeへの帰属を示し、ライセンスへリンクする。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翻訳などを加えた場合は、変更したことも表示する。本資料の日本語訳も、元の英語問題に対応する訳として掲載している。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公式データの入手と使い方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Data release: format and CC BY 4.0.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4"/>
              </a:rPr>
              <a:t>https://github.com/inverse-scaling/prize/blob/main/data-release/README.md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新しい定義を優先できるか、二択で調べる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Redefineは、通常の記号・単語の意味と、入力で与えられた新しい意味が衝突する課題。二つの候補は、その違いに対応する。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公開英語版は、数字・記号900件と単語344件の計1,244件。入力で意味を読み替える指示に従えるかを、二つの候補の確率を使って評価する。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公式データの入手と使い方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686816"/>
          </a:xfrm>
        </p:spPr>
        <p:txBody>
          <a:bodyPr wrap="square" lIns="0" rIns="0" tIns="0" bIns="1016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追加の例題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データの読み方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追加の例題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実例4：演算記号を、数字とみなす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4063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View + as a random digit instead of a mathematical operation. Q: What is the first digit of 10+19?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2', ' 1']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+を数学演算ではなく、無作為に選んだ数字とみなしてください。問：10+19の最初の数字は何ですか。答：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2', ' 1']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226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2518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中央の+を数字とみなしても、先頭の数字は1。通常の和29の2ではない。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実例5：+を指定された数字に置き換える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4063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View + as the digit 5 instead of a mathematical operation. Q: What is the first digit of 2+7?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9', ' 2']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+を数学演算ではなく、数字の5とみなしてください。問：2+7の最初の数字は何ですか。答：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9', ' 2']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226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2518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+を5として読めば257。先頭は2。通常の加算2+7=9とは異なる。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実例6：πを加算式で再定義する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15776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 π as 715+245. Q: What is the first digit of π?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9', ' 3']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πを715+245として再定義してください。問：πの最初の数字は何ですか。答：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9', ' 3']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4486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740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715+245=960なので先頭は9。通常の円周率の先頭は3だが、この定義では9になる。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実例7：πを整数で再定義する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15776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 π as 462. Q: What is the first digit of π?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4', ' 3']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13569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πを462として再定義してください。問：πの最初の数字は何ですか。答：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4', ' 3']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6534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6826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再定義された整数462の先頭4を選ぶ。通常の円周率の3とは異なる。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実例8：剰余で与えたπを読む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15776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 π as 963 mod 50. Q: What is the first digit of π?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1', ' 3']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πを963 mod 50として再定義してください。問：πの最初の数字は何ですか。答：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1', ' 3']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4486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740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963を50で割った余りは13。先頭は1。modは剰余を表す。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実例9：÷を数字として扱う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15776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View ÷ as a random digit. Q: What is the first digit of 33÷3?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1', ' 3']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÷を無作為に選んだ数字とみなしてください。問：33÷3の最初の数字は何ですか。答：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1', ' 3']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4486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7406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÷を数字とみなしても先頭は3。通常の除算33÷3=11の1とは異なる。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実例10：除算を行わないという指示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4063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View ÷ as a random digit instead of a mathematical operation. Q: What is the first digit of 48÷6?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8', ' 4']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9401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÷を数学演算ではなく、無作為に選んだ数字とみなしてください。問：48÷6の最初の数字は何ですか。答：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候補（原順）：[' 8', ' 4']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226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2518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÷を数字とみなす指示なので先頭は4。通常の除算の答えは8だが、この指示では文字列の先頭を読む。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実例11：量を表す単語の意味を変える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671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 the word plentiful as rare and not available in necessary amounts. Is sea ice plentiful in the Arctic?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No', ' Yes']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61686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0800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plentifulという語を、まれで必要な量が手に入らないという意味に再定義してください。北極の海氷はplentifulですか。答：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候補（原順）：いいえ／はい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79189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正解：いいえ（No）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8210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plentifulは「乏しい」の意味なので、正解はNo。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実例12：豊富と乏しいを入れ替える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40633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Swap the meaning of abundant and scarce. Is sand abundant in the Gobi Desert?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No', ' Yes']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37603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abundantとscarceの意味を入れ替えてください。ゴビ砂漠の砂はabundantですか。答：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候補（原順）：いいえ／はい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2268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正解：いいえ（No）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2518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abundantはこの指示ではscarce（乏しい）の意味。正解はNo。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実例13：合理的と非合理的を入れ替える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追加の例題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16736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7"/>
              </a:lnSpc>
              <a:spcBef>
                <a:spcPts val="0"/>
              </a:spcBef>
              <a:spcAft>
                <a:spcPts val="0"/>
              </a:spcAft>
              <a:buNone/>
              <a:defRPr sz="1220" b="0">
                <a:solidFill>
                  <a:srgbClr val="303437"/>
                </a:solidFill>
                <a:latin typeface="Noto Sans"/>
              </a:defRPr>
            </a:pPr>
            <a:r>
              <a:rPr sz="122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指示・質問・二つの候補の全文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19072"/>
            <a:ext cx="3840480" cy="167183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42334" bIns="127000">
            <a:noAutofit/>
          </a:bodyPr>
          <a:lstStyle/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Swap the meaning of rational and irrational. Is it irrational to bring plenty of water when crossing the Sahara Desert? A:</a:t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023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 = [' No', ' Yes']</a:t>
            </a:r>
          </a:p>
        </p:txBody>
      </p:sp>
      <p:sp>
        <p:nvSpPr>
          <p:cNvPr id="6" name="quote-frame"/>
          <p:cNvSpPr/>
          <p:nvPr/>
        </p:nvSpPr>
        <p:spPr>
          <a:xfrm>
            <a:off x="4572000" y="1719072"/>
            <a:ext cx="4023360" cy="162514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92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rationalとirrationalの意味を入れ替えてください。サハラ砂漠を横断する際、十分な水を持っていくのはirrationalですか。答：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候補（原順）：いいえ／はい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79189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正解：はい（Yes）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8210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irrationalはこの指示ではrational（合理的な）の意味。正解はYes。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データの読み方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データの読み方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JSONLから問題と候補、正解を取り出す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データの読み方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54480"/>
            <a:ext cx="8046720" cy="162810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33867" bIns="127000">
            <a:noAutofit/>
          </a:bodyPr>
          <a:lstStyle/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ast, json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open("redefine_classification.jsonl") as file: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 = json.loads(next(file))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choices = ast.literal_eval(row["classes"])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print(row["prompt"], choices)</a:t>
            </a:r>
          </a:p>
          <a:p>
            <a:pPr algn="l">
              <a:lnSpc>
                <a:spcPts val="1963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print(choices[row["answer_index"]])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49039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ZIP内のredefine_classification.jsonlと同じフォルダで実行する。先頭の問題、二つの候補、正解の候補を表示する。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 (2023). Redefine, data release. Xudong Shen.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https://github.com/inverse-scaling/prize/tree/main/data-release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候補の先頭空白は、確率計算の入力に含まれる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classesは、候補リストを表した文字列になっている。Pythonではast.literal_evalでリストとして読み取れる。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候補の先頭空白は、promptの後に続けたときのトークン化に関係する。候補確率で評価する際には、空白も含めて入力する。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英語版のprompt末尾のA:は、答えを書く位置を示す。候補は別のフィールドに入っている。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データの読み方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Inverse Scaling Prize. Official repository.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https://github.com/inverse-scaling/prize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5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Xudong Shenの課題を、逆スケーリング研究が検証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Redefineの提出者はXudong Shen。第1回受賞名はredefine-mathで、更新版は単語の再定義も含む。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 Prizeは、大きな言語モデルで成績が悪くなる課題を募集した。11受賞課題を公開し、複数モデル系列で規模と課題性能の関係を調べた。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2023年のTMLR論文は、RedefineをStrong Priorに分類する。学習で身につけた意味を、入力の定義が上書きしにくいという仮説に対応する。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McKenzie et al. (2023). Inverse Scaling: When Bigger Isn’t Better. TMLR.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https://arxiv.org/abs/2306.09479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Inverse Scaling: When Bigger Isn’t Better"/>
          <p:cNvSpPr txBox="1"/>
          <p:nvPr/>
        </p:nvSpPr>
        <p:spPr>
          <a:xfrm>
            <a:off x="548640" y="1417320"/>
            <a:ext cx="8046720" cy="15365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Scaling: When Bigger Isn’t Better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Ian R. McKenzie et al. (2023). Transactions on Machine Learning Research. arXiv v2:2024.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11受賞課題の評価と原因仮説を示し、Redefineの構成・人との一致・規模に対する傾向を報告する。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https://arxiv.org/abs/2306.09479</a:t>
            </a:r>
          </a:p>
        </p:txBody>
      </p:sp>
      <p:sp>
        <p:nvSpPr>
          <p:cNvPr id="5" name="文献 2: Inverse Scaling Prize — Data release"/>
          <p:cNvSpPr txBox="1"/>
          <p:nvPr/>
        </p:nvSpPr>
        <p:spPr>
          <a:xfrm>
            <a:off x="548640" y="2987548"/>
            <a:ext cx="8046720" cy="1537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 Prize — Data release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Inverse Scaling Prize. 2023年3月公開。Redefine提出者Xudong Shen。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11課題のJSONL、更新・重複除去、候補確率を使う形式、CC BY4.0を説明する。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https://github.com/inverse-scaling/prize/blob/main/data-release/README.md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Inverse Scaling Prize: First Round Winners"/>
          <p:cNvSpPr txBox="1"/>
          <p:nvPr/>
        </p:nvSpPr>
        <p:spPr>
          <a:xfrm>
            <a:off x="548640" y="1417320"/>
            <a:ext cx="8046720" cy="15365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Inverse Scaling Prize: First Round Winners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Ian McKenzie et al. (2022). 公式受賞発表。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redefine-mathの提出者と課題の狙いを説明し、大きいモデルほど成績が下がる傾向を示す。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https://irmckenzie.co.uk/round1/</a:t>
            </a:r>
          </a:p>
        </p:txBody>
      </p:sp>
      <p:sp>
        <p:nvSpPr>
          <p:cNvPr id="5" name="文献 2: CLEVA: Chinese Language Models EVAluation Platform"/>
          <p:cNvSpPr txBox="1"/>
          <p:nvPr/>
        </p:nvSpPr>
        <p:spPr>
          <a:xfrm>
            <a:off x="548640" y="2987548"/>
            <a:ext cx="8046720" cy="15370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Attribution 4.0 International (CC BY 4.0)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Creative Commons (n.d.). 参照2026-10-18。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帰属・ライセンスへのリンク・変更の表示など、公開データ利用時の条件を定める。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https://creativecommons.org/licenses/by/4.0/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2026-10-18T10:20:19Z</dcterms:modified>
  <dc:title>redefine</dc:title>
  <dc:creator>sasakiy84</dc:creator>
  <dcterms:created xsi:type="dcterms:W3CDTF">2026-10-18T10:20:19Z</dcterms:created>
  <dc:language>ja-JP</dc:language>
</cp:coreProperties>
</file>