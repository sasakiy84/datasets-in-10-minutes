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4"/>
    <p:sldId id="275" r:id="rId25"/>
    <p:sldId id="276" r:id="rId26"/>
    <p:sldId id="277" r:id="rId27"/>
    <p:sldId id="279" r:id="rId29"/>
    <p:sldId id="280" r:id="rId30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300" r:id="rId50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50" Type="http://schemas.openxmlformats.org/officeDocument/2006/relationships/slide" Target="slides/slide45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THUNLP-AIPoet/CCP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6.0197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6.01979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6.0197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6.01979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Relationship Id="rId3" Type="http://schemas.openxmlformats.org/officeDocument/2006/relationships/hyperlink" Target="https://github.com/THUNLP-AIPoet/CCP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6.01979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NLP-AIPoet/CCP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6.01979" TargetMode="External"/><Relationship Id="rId3" Type="http://schemas.openxmlformats.org/officeDocument/2006/relationships/hyperlink" Target="https://aclanthology.org/2023.emnlp-demo.17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NLP-AIPoet/CCPM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NLP-AIPoet/CCPM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NLP-AIPoet/CCPM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6.01979" TargetMode="External"/><Relationship Id="rId3" Type="http://schemas.openxmlformats.org/officeDocument/2006/relationships/hyperlink" Target="https://github.com/THUNLP-AIPoet/CCPM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N19-1423/" TargetMode="External"/><Relationship Id="rId3" Type="http://schemas.openxmlformats.org/officeDocument/2006/relationships/hyperlink" Target="https://github.com/THUNLP-AIPoet/BERT-CCPoe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CCPM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Chinese Classical Poetry Matching Dataset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現代中国語の説明に合う、中国古典の詩句を選ぶ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公式配布：CCPMのデータと技術報告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CCPM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55" y="1481328"/>
            <a:ext cx="5189488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現代語の説明から古典詩句を選ぶ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対訳と似た詩句から問題を作る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正解率で意味の対応を評価する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CLEVAでの後利用と公開配布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現代語の説明から古典詩句を選ぶ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現代語の説明から古典詩句を選ぶ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四つの似た詩句から、説明に対応する一つを選ぶ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CCPMは、中国古典詩の意味理解を調べる四択データセット。現代中国語の説明を読み、意味が最も対応する古典詩句を選ぶ。古典詩句と現代語訳の対が、正解の根拠になる。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候補には、正解に似た語や表現を持つ別の詩句も含まれる。似た言葉の中から、意味の違いを読み取ることが求められる。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現代語の説明から古典詩句を選ぶ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実例1：遠い故郷を恨まない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現代語の説明から古典詩句を選ぶ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34586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現代語：也不要埋怨故乡太遥远。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莫恨故乡遥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谁道故乡遥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故乡应渐遥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莫动故乡情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現代語：故郷があまりにも遠いことを、恨んでもいけない。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故郷が遠いことを恨むな。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誰が故郷は遠いと言ったのか。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故郷は次第に遠くなるはずだ。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故郷への思いをかき立てるな。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莫恨故乡遥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実例2：山の雨が晴れ始める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現代語の説明から古典詩句を選ぶ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現代語：山间连绵阴雨刚刚有了一点停止的意思。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寒雨初开霁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山晓雨初霁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宿雨天初霁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山雨初含霁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01472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現代語：山間で降り続いた雨に、ようやく少しやむ気配が見えてきた。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冷たい雨が、今しがた上がった。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明け方の山で、雨が今しがた上がった。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一晩降った雨で曇った空が、今しがた晴れた。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山の雨に、ようやく晴れる兆しが見え始めた。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山雨初含霁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実例3：病を抱えて独り高台へ登る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現代語の説明から古典詩句を選ぶ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現代語：一生当中疾病缠身今日独上高台。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一春多病几登台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百年多病独登台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百年多病负登临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况多愁病独登台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46346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現代語：一生のあいだ病に苦しみ、今日、独りで高台へ登る。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春のあいだ病がちで、幾度高台へ登っただろう。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長い一生を病がちに過ごし、独り高台へ登る。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長い一生を病がちに過ごし、高みに登ることもかなわない。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まして、憂いも病も多く、独り高台へ登る。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　百年多病独登台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短い詩句の中に、主体・時間・感情が含まれる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「莫恨」と「谁道」では、故郷が遠いという話題が同じでも、「恨むな」と「誰が言った」の違いがある。「初含霁」は晴れ始める気配を表し、雨の場所や時間も候補ごとに変わる。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五言・七言の一行を中心とし、二行で一つの問題になる例もある。現代語の長い説明から、短い詩句へ圧縮された意味を対応させる。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現代語の説明から古典詩句を選ぶ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対訳と似た詩句から問題を作る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対訳を整え、正解に似た三つの候補を集める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sp>
        <p:nvSpPr>
          <p:cNvPr id="1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508760"/>
            <a:ext cx="7863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9000"/>
              </a:lnSpc>
              <a:spcAft>
                <a:spcPts val="1400"/>
              </a:spcAft>
              <a:defRPr sz="2100">
                <a:latin typeface="Noto Sans CJK JP"/>
              </a:defRPr>
            </a:pPr>
            <a:r>
              <a:t>約6,000段落の古典文と現代語訳をWebから収集する。</a:t>
            </a:r>
          </a:p>
          <a:p>
            <a:pPr>
              <a:lnSpc>
                <a:spcPct val="119000"/>
              </a:lnSpc>
              <a:spcAft>
                <a:spcPts val="1400"/>
              </a:spcAft>
              <a:defRPr sz="2100">
                <a:latin typeface="Noto Sans CJK JP"/>
              </a:defRPr>
            </a:pPr>
            <a:r>
              <a:t>句読点やWeb上の行境界で分割し、五言・七言の詩型に合う27,218の対訳を残す。二行の対も含む。</a:t>
            </a:r>
          </a:p>
          <a:p>
            <a:pPr>
              <a:lnSpc>
                <a:spcPct val="119000"/>
              </a:lnSpc>
              <a:spcAft>
                <a:spcPts val="1400"/>
              </a:spcAft>
              <a:defRPr sz="2100">
                <a:latin typeface="Noto Sans CJK JP"/>
              </a:defRPr>
            </a:pPr>
            <a:r>
              <a:t>正解に似た別の詩句を三つ選び、正解と混ぜて四択問題にする。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五言・七言の一行と二行を対象にする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収集した古典文には、詩以外の文学も含まれていた。そこで、よく使われる五言・七言の詩型に合う長さの詩句を残した。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二行で連続した意味を持つ対は、そのまま二行単位で扱う。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正解の詩句に似た候補を、詩のコーパスから探す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中国古典詩で事前学習したBERT-CCPoemを使い、各詩句をベクトルで表す。正解とのコサイン類似度を求め、局所性鋭敏型ハッシュ（LSH）で似た候補を効率よく探す。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検索の素材はCCPC-Full v1.0で、926,024作品、8,933,162文を含む。意味の類似度に、文字列の最長共通部分列（LCS）も加え、候補の順序を付け直す。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意味と文字列の似方を合わせ、負例を選ぶ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57988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Sim(A, B) = 0.4 × LCS(A, B) + 0.6 × EMB(A, B)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負例1：最も似た候補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負例2：類似度順位2〜5から無作為に一つ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負例3：類似度順位6〜10から無作為に一つ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1330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EMBは詩句ベクトルのコサイン類似度。三つの負例を正解と混ぜ、選択肢の順番を入れ替える。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27,218問を学習・検証・テストに分ける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1920240"/>
                <a:gridCol w="32918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公開の正解欄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 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21,778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あり（0〜3）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検証 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2,720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あり（0〜3）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2,720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学習・検証には正解が付く。公開テストの正解は非公開。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一行の問題が全体の約9割を占める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割合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五言・一行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12,706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46.68%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七言・一行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11,738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43.13%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五言・二行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1,281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4.71%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七言・二行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1,493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5.49%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全27,218問。形式別の件数は、データ構築時の集計。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データは説明・四候補・正解番号を持つ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対訳と似た詩句から問題を作る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778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"translation": "也不要埋怨故乡太遥远。",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"choices": ["莫恨故乡遥", "谁道故乡遥",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"故乡应渐遥", "莫动故乡情"],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"answer": 0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879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translationが問題文、choicesが四候補。answer=0は先頭の候補Aを指す。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正解率で意味の対応を評価する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正解率で意味の対応を評価する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評価は、正しい候補を選んだ問題の割合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選んだ候補が正解と一致した問題の割合を、Accuracy（正解率）で評価する。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2021年の実験では、学習21,778問でBERTを微調整し、テスト2,720問で評価した。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正解率で意味の対応を評価する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BERTの二方式は、テストで約83〜85%の正解率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正解率で意味の対応を評価する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29260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方式（2021年）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テストAccuracy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BERT-Cls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BERT-Match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2021年の報告値。同じテスト2,720問で評価。両方式の基盤はbert-base-chinese。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説明と候補を一緒に読むか、別々に表すか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正解率で意味の対応を評価する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3794760" cy="2240280"/>
          </a:xfrm>
          <a:prstGeom prst="roundRect">
            <a:avLst/>
          </a:prstGeom>
          <a:solidFill>
            <a:srgbClr val="EBEDEB"/>
          </a:solidFill>
          <a:ln>
            <a:solidFill>
              <a:srgbClr val="626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64207"/>
            <a:ext cx="3575304" cy="2020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BERT-Cls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説明＋候補を連結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↓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BERTの[CLS]表現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↓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一致するかを分類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554480"/>
            <a:ext cx="3794760" cy="2240280"/>
          </a:xfrm>
          <a:prstGeom prst="roundRect">
            <a:avLst/>
          </a:prstGeom>
          <a:solidFill>
            <a:srgbClr val="EBEDEB"/>
          </a:solidFill>
          <a:ln>
            <a:solidFill>
              <a:srgbClr val="626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7448" y="1664207"/>
            <a:ext cx="3575304" cy="2020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BERT-Match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説明と候補を別々に符号化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↓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それぞれのベクトル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↓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コサイン類似度が最大の候補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Clsは説明と詩句の間で注意機構が働く。Matchは別々の表現を作り、その近さで選ぶ。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CLEVAでの後利用と公開配布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CLEVAでの後利用と公開配布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CLEVAは、古典中国語理解の評価へ採用した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2023年のCLEVAは、中国語モデルを多様な課題で評価するプラットフォーム。CCPMの四択問題を、古典中国語理解の評価に用いる。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現代語の説明と四候補を提示し、選んだ候補の正誤を正解率で評価する。実例2の雨の問題は、CLEVA論文にも掲載されている。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HELMにも同課題の評価実装が公開されている。CLEVAで評価した問題の総数は、公開説明には記されていない。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CLEVAでの後利用と公開配布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 2023: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公式GitHubで問題と技術報告を公開する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公式GitHubは、学習・検証・公開テストのJSONLと技術報告を公開している。利用時にはCCPMの論文を引用する。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リポジトリにはライセンスが明示されていない。再利用・再配布の条件は、配布元へ確認する。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CLEVAでの後利用と公開配布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まとめ：似た言葉の中から、対応する意味を選ぶ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CCPMは、現代中国語の説明と古典詩句の対応を問う27,218問の四択データ。正解との対訳に、似た詩句を検索した三つの負例を組み合わせる。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2021年のBERT二方式は、テストで84.96%と82.60%の正解率を示した。後にCLEVAの古典中国語理解にも採用され、中国語モデルの意味理解を調べる課題となった。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CLEVAでの後利用と公開配布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Qi, Sun, Yi &amp; Zhang (2021). CCPM: A Chinese Classical Poetry Matching Dataset. arXiv:2106.01979v1.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Li et al. (2023). CLEVA: Chinese Language Models EVAluation Platform. EMNLP 2023: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追加10問の原文と日本語訳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入力形式と詩句の読み方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実例4：消えた灯を再びともす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現代語：昏暗的灯熄灭了又被重新点亮。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渔灯灭复明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残灯灭又然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残灯暗复明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残灯灭又明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現代語：薄暗い灯が消え、またともされた。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漁火が消え、また明るくなる。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消えかけの灯が消え、また燃える。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消えかけの灯が暗くなり、また明るくなる。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消えかけの灯が消え、また明るくなる。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残灯灭又明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実例5：清らかな泉を愛する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現代語：清冽的泉水纯净透明，惹人喜爱。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却爱石泉清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寒泉自清洁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爱此寒泉清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爱此清秋光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現代語：澄んで冷たい泉の水は、清らかで透明で、心を引く。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かえって、岩間の泉の清らかさを愛する。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冷たい泉は、おのずと清らかだ。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この冷たい泉の清らかさを愛する。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この澄んだ秋の光を愛する。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爱此寒泉清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実例6：西風に帰る時を尋ねる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247192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現代語：曾经听说秦地刮起西风就会下雨，西风啊，你什么时候回去啊？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为问西风来几日，夕阳宫殿亦秋声。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尝闻秦地西风雨，为问西风早晚回。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驿使回时曾寄语，西风早晚渡秦川。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并州旧日风声恶，怅望乡书早晚回。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47192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現代語：秦の地では西風が吹くと雨になると聞いた。西風よ、いつ帰ってゆくのか。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西風に、来て何日になるか尋ねる。夕日の宮殿にも秋の響き。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秦の地の西風は雨をもたらすと聞く。西風に、いつ帰るのか尋ねる。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使者が戻る時に言葉を託した。西風はいつ秦の地を渡るのか。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并州の昔日の風は激しかった。故郷の便りを待ち望む、いつ帰るのか。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　尝闻秦地西风雨，为问西风早晚回。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実例7：雨と水煙のもの寂しい景色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現代語：大雨激起水雾，空蒙一片，天地都是萧瑟的景象。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村烟空处渡，野色望中开。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空烟迷雨色，萧飒望中来。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乱山烟雨外，欲望失苍苍。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空蒙迷远望，萧瑟送寒声。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47192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現代語：大雨が水煙を巻き上げ、辺りはかすみ、天地はもの寂しい景色になった。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村の煙が途切れる所を渡り、野の景色が眺めの中で開ける。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立ちこめる煙が雨の景色をかすませ、もの寂しさが視界に迫る。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幾重もの山は煙る雨の向こう。眺めようとしても青々とした姿を見失う。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かすみが遠くの眺めを覆い、寒々しい物音がもの寂しく響く。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　空烟迷雨色，萧飒望中来。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実例8：半ばは修道、半ばは君ゆえ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7945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現代語：这缘由，一半是因为修道人的清心寡欲，一半是因为曾经拥有过的你。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半缘修道半缘君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尘缘悟后道缘长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半缘山野半缘君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生缘断处参吾道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0231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現代語：そのわけは、半分は修道者として欲を抑えて心静かに暮らすため、半分はかつてともにいたあなたのためだ。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半ばは道を修めるゆえ、半ばは君ゆえ。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俗世との縁を悟った後、道との縁は長くなる。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半ばは山野ゆえ、半ばは君ゆえ。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生の縁が断たれる所で、私の道を究める。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半缘修道半缘君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実例9：取り戻されない河湟の地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現代語：国土一角仍沦陷，天子没有收河湟。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未收天子河湟地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天子新收秦陇地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天不收子地容君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全收朔雪天王地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2517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現代語：国土の一角はいまだ敵の手にあり、天子は河湟の地を取り戻していない。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天子は、河湟の地をまだ取り戻していない。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天子は、秦隴の地を新たに取り戻した。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天は子を受け入れず、地は君を受け入れる。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天王の地である、雪深い北方をすべて取り戻す。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未收天子河湟地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実例10：白髪が簪を支えられない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現代語：白发越搔越短，简直要不能插簪了。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近欲不胜簪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浑欲不胜簪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酒秃不胜簪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浑欲不胜愁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178612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現代語：白髪はかくほどに短くなり、もう簪を挿せないほどだ。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ほとんど、簪を支えられなくなりそうだ。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まったく、簪を支えられなくなりそうだ。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酒で髪が抜け、簪を支えられない。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まったく、憂いに堪えられなくなりそうだ。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　浑欲不胜簪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実例11：深い雲の中にいる人を探す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現代語：可是林深云密，我也不知道他到底在哪。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云深不可知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云深杳何处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云迷不知处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云深不知处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現代語：けれど林は深く雲は濃く、私にも、あの人がいったいどこにいるのか分からない。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雲が深く、知りようがない。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雲が深く、いずことも知れない。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雲にかすみ、居場所が分からない。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雲が深く、居場所が分からない。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云深不知处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実例12：秋の野風に鳴く蝉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現代語：初秋寒蝉在野外晨风中嘶声噪鸣。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猿啸野风秋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蝉噪风前急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蝉噪野风秋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萤散野风秋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156599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現代語：初秋の蝉が、野の朝風の中で、声をからして鳴いている。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猿が、秋の野風の中で叫ぶ。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蝉が、風の前でせわしなく鳴く。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蝉が、秋の野風の中で鳴く。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蛍が、秋の野風の中で散る。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蝉噪野风秋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実例13：北を望み、飛ぶ鳥を眺める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追加10問の原文と日本語訳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中国語原文：現代語の説明と古典候補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234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日本語訳：説明と各候補の意味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545336"/>
            <a:ext cx="3474720" cy="246346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現代語：我向北方观望，一片渺茫，鸟儿可以自由地飞来飞去。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茫茫极浦舟南北，渺渺长空鸟去来。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云水苍茫共渺然，眼看飞鸟没苍烟。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六合茫茫天共远，五湖杳杳雁飞还。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北望茫茫渺渺间，鸟飞不尽又飞还。</a:t>
            </a:r>
          </a:p>
        </p:txBody>
      </p:sp>
      <p:sp>
        <p:nvSpPr>
          <p:cNvPr id="7" name="quote-frame"/>
          <p:cNvSpPr/>
          <p:nvPr/>
        </p:nvSpPr>
        <p:spPr>
          <a:xfrm>
            <a:off x="4206240" y="1545336"/>
            <a:ext cx="4389120" cy="247192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現代語：北を望むと、はるかにかすみ、鳥は自由に行き来している。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広々とした遠い水辺を舟が南北に行く。はるかな空を鳥が行き来する。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雲も水も一様に果てしなくかすむ。飛ぶ鳥が青いもやへ消えるのを見る。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天地は果てしなく遠い。いくつもの湖を雁が遠くへ飛び、また帰る。</a:t>
            </a:r>
          </a:p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北を望めば、果てしなく、はるかにかすむ。鳥は尽きることなく飛び、また帰る。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北望茫茫渺渺间，鸟飞不尽又飞还。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809744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入力形式と詩句の読み方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入力形式と詩句の読み方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同じ説明に、異なる候補の組が付く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入力形式と詩句の読み方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43150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3657600"/>
                <a:gridCol w="3657600"/>
              </a:tblGrid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候補の組1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候補の組2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寒雨初开霁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山雨初含霁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山晓雨初霁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久雨初收霁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宿雨天初霁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山晓雨初霁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山雨初含霁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山雨幸初霁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1" lang="ja-JP" altLang="en-US">
                          <a:solidFill>
                            <a:srgbClr val="B13731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3910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共通の説明：「山间连绵阴雨刚刚有了一点停止的意思。」</a:t>
            </a:r>
          </a:p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候補の組1が、実例2とCLEVA論文に掲載された問題。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正解位置は、学習・検証ともほぼ均等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入力形式と詩句の読み方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377440"/>
                <a:gridCol w="23774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正解の候補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5,324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5,455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5,452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5,547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一部の問題には、説明の欠落や形式の例外がある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公開テストには、説明が空の問題が1問ある。四候補は残っているが、説明との意味対応を評価するための入力が欠けている。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五言・七言の詩型に当てはまらない文や、特殊な漢字表記を含む問題もある。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学習と公開テストで、説明と四候補が一致する問題が1問ある。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入力形式と詩句の読み方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JSONLから問題文・候補・正解を読み出す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入力形式と詩句の読み方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2219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open("train.jsonl", encoding="utf-8") as f: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question = json.loads(next(f))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print(question["translation"])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i, verse in enumerate(question["choices"]):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print(f"{chr(65+i)}. {verse}")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print("正解:", chr(65 + question["answer"]))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8620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train.jsonlは1行に1問のJSONを収める。最初の問題の説明、四候補、正解記号を表示する。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候補の細かな語と、説明の意味を対応させる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実例11の候補A「云深不可知」とD「云深不知处」は、共通する語が多い。Aは「雲が深く、知りようがない」、Dは「雲が深く、居場所が分からない」と読める。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現代語の説明には「不知道他到底在哪」（あの人がどこにいるのか分からない）とあり、場所を表す「处」との対応が判断の手掛かりになる。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入力形式と詩句の読み方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THUNLP-AIPoet (2021). CCPM.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CCPM: A Chinese Classical Poetry Matching Dataset"/>
          <p:cNvSpPr txBox="1"/>
          <p:nvPr/>
        </p:nvSpPr>
        <p:spPr>
          <a:xfrm>
            <a:off x="548640" y="1463040"/>
            <a:ext cx="8046720" cy="1574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CCPM: A Chinese Classical Poetry Matching Dataset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Wenhao Li, Fanchao Qi, Maosong Sun, Xiaoyuan Yi, Jiarui Zhang · 2021 · arXiv:2106.01979v1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古典詩と現代語訳から四択問題を構成し、似た詩句を負例として検索する。BERT二方式の評価を報告する。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https://arxiv.org/abs/2106.01979</a:t>
            </a:r>
          </a:p>
        </p:txBody>
      </p:sp>
      <p:sp>
        <p:nvSpPr>
          <p:cNvPr id="5" name="文献 2: CCPM — Official Dataset Repository"/>
          <p:cNvSpPr txBox="1"/>
          <p:nvPr/>
        </p:nvSpPr>
        <p:spPr>
          <a:xfrm>
            <a:off x="548640" y="3040507"/>
            <a:ext cx="8046720" cy="1574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CCPM — Official Dataset Repository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THUNLP-AIPoet · 2021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学習・検証・正解非公開テストのJSONLと技術報告、データ形式、正解率による評価方法を公開する。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https://github.com/THUNLP-AIPoet/CCPM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CLEVA: Chinese Language Models EVAluation Platform"/>
          <p:cNvSpPr txBox="1"/>
          <p:nvPr/>
        </p:nvSpPr>
        <p:spPr>
          <a:xfrm>
            <a:off x="548640" y="1463040"/>
            <a:ext cx="8046720" cy="1574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Yanyang Li et al. · 2023 · EMNLP: System Demonstrations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中国語モデルの多様な能力を評価するプラットフォーム。CCPMを古典中国語理解の課題へ採用する。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5" name="文献 2: CLEVAClassicalChineseUnderstandingScenario / Converter"/>
          <p:cNvSpPr txBox="1"/>
          <p:nvPr/>
        </p:nvSpPr>
        <p:spPr>
          <a:xfrm>
            <a:off x="548640" y="3040507"/>
            <a:ext cx="8046720" cy="1574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CLEVAClassicalChineseUnderstandingScenario / Converter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 · Python実装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外部配布データとテンプレートを読み込み、現代語説明・候補・ラベルをHELMの入力と参照へ変換する。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BERT: Pre-training of Deep Bidirectional Transformers for Language Understanding"/>
          <p:cNvSpPr txBox="1"/>
          <p:nvPr/>
        </p:nvSpPr>
        <p:spPr>
          <a:xfrm>
            <a:off x="548640" y="1463040"/>
            <a:ext cx="8046720" cy="161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BERT: Pre-training of Deep Bidirectional Transformers for Language Understanding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Jacob Devlin, Ming-Wei Chang, Kenton Lee, Kristina Toutanova · 2019 · NAACL-HLT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双方向Transformerの事前学習と、文分類などへの微調整を提案する。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https://aclanthology.org/N19-1423/</a:t>
            </a:r>
          </a:p>
        </p:txBody>
      </p:sp>
      <p:sp>
        <p:nvSpPr>
          <p:cNvPr id="5" name="文献 2: BERT-CCPoem"/>
          <p:cNvSpPr txBox="1"/>
          <p:nvPr/>
        </p:nvSpPr>
        <p:spPr>
          <a:xfrm>
            <a:off x="548640" y="3308350"/>
            <a:ext cx="8046720" cy="15744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BERT-CCPoem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Zhipeng Guo, Jinyi Hu, Maosong Sun · 2020 · 公式実装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古典詩コーパスで学習したモデルと表現を公開し、CCPMでは似た詩句の検索に利用される。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https://github.com/THUNLP-AIPoet/BERT-CCPoem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2026-10-18T09:31:34Z</dcterms:modified>
  <dc:title>ccpm</dc:title>
  <dc:creator>sasakiy84</dc:creator>
  <dcterms:created xsi:type="dcterms:W3CDTF">2026-10-18T09:31:34Z</dcterms:created>
  <dc:language>ja-JP</dc:language>
</cp:coreProperties>
</file>