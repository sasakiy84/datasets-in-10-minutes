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THUNLP-AIPoet/CCP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aclanthology.org/2023.emnlp-demo.17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9-1423/" TargetMode="External"/><Relationship Id="rId3" Type="http://schemas.openxmlformats.org/officeDocument/2006/relationships/hyperlink" Target="https://github.com/THUNLP-AIPoet/BERT-CCPoe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presentation/run_specs_cleva_v1.con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Classical Poetry Matching Dataset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現代中国語の説明に合う、中国古典の詩句を選ぶ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公式配布：CCPMのデータと技術報告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255" y="1481328"/>
            <a:ext cx="5189488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CLEVAでの後利用と公開配布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四つの似た詩句から、説明に対応する一つを選ぶ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CCPMは、中国古典詩の意味理解を調べる四択データセット。現代中国語で書かれた説明を読み、意味が最も対応する古典詩句を選ぶ。古典詩句と現代語訳の対を、正解の根拠として使う。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候補には、正解に似た語や表現を持つ別の詩句を含める。詩を新しく書く課題ではなく、与えられた候補の意味の違いを識別する。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実例1：遠い故郷を恨まない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3458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現代語：也不要埋怨故乡太遥远。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莫恨故乡遥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谁道故乡遥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故乡应渐遥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莫动故乡情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現代語：故郷があまりにも遠いことを、恨んでもいけない。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故郷が遠いことを恨むな。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誰が故郷は遠いと言ったのか。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故郷は次第に遠くなるはずだ。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故郷への思いをかき立てるな。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莫恨故乡遥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train.jsonl:14行 / answer=0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実例2：山の雨が晴れ始める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現代語：山间连绵阴雨刚刚有了一点停止的意思。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寒雨初开霁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山晓雨初霁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宿雨天初霁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山雨初含霁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147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現代語：山間で降り続いた雨に、ようやく少しやむ気配が見えてきた。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冷たい雨が、今しがた上がった。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明け方の山で、雨が今しがた上がった。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一晩降った雨で曇った空が、今しがた晴れた。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山の雨に、ようやく晴れる兆しが見え始めた。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山雨初含霁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train.jsonl:18823行 / answer=3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実例3：病を抱えて独り高台へ登る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現代語：一生当中疾病缠身今日独上高台。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一春多病几登台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百年多病独登台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百年多病负登临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况多愁病独登台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現代語：一生のあいだ病に苦しみ、今日、独りで高台へ登る。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春のあいだ病がちで、幾度高台へ登っただろう。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長い一生を病がちに過ごし、独り高台へ登る。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長い一生を病がちに過ごし、高みに登ることもかなわない。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まして、憂いも病も多く、独り高台へ登る。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百年多病独登台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train.jsonl:14876行 / answer=1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短い詩句の中に、主体・時間・感情が含まれる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「莫恨」と「谁道」では、故郷が遠いという話題が同じでも、「恨むな」と「誰が言った」の違いがある。「初含霁」は晴れ始める気配を表し、雨の場所や時間も候補ごとに変わる。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五言・七言の一行を中心とし、二行で一つの問題になる例もある。現代語の長い説明から、短い詩句へ圧縮された意味を対応させる。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対訳を整え、正解に似た三つの候補を集める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874519" cy="1097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47088"/>
            <a:ext cx="1655063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Webの古典文と</a:t>
            </a:r>
          </a:p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現代語訳を収集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304" y="202996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737360"/>
            <a:ext cx="1874519" cy="1097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5768" y="1847088"/>
            <a:ext cx="1655063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行ごとに分割し</a:t>
            </a:r>
          </a:p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詩型で絞り込む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202996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737360"/>
            <a:ext cx="1874519" cy="1097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847088"/>
            <a:ext cx="1655063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似た詩句から</a:t>
            </a:r>
          </a:p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負例を三つ選ぶ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7104" y="2029968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737360"/>
            <a:ext cx="1874519" cy="1097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0568" y="1847088"/>
            <a:ext cx="1655063" cy="877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正解と混ぜて</a:t>
            </a:r>
          </a:p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四択問題にする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約6,000段落の古典文と現代語訳から始め、分割・形式の絞り込みを経て、27,218の対訳にした。句読点やWeb上の行境界で区切り、一行に分けきれない二行の対も残した。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五言・七言の一行と二行を対象にする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収集した古典文には、詩以外の文学も含まれていた。そこで、よく使われる五言・七言の詩型に合う長さの詩句を残した。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二行で連続した意味を持つ対は、そのまま二行単位で扱う。ここでいう27,218件は問題数であり、詩の作品数や作者数ではない。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正解の詩句に似た候補を、詩のコーパスから探す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中国古典詩で事前学習したBERT-CCPoemを使い、各詩句をベクトルで表す。正解とのコサイン類似度を求め、局所性鋭敏型ハッシュ（LSH）で似た候補を効率よく探す。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検索の素材はCCPC-Full v1.0で、926,024作品、8,933,162文を含む。意味の類似度に、文字列の最長共通部分列（LCS）も加え、候補の順序を付け直す。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意味と文字列の似方を合わせ、負例を選ぶ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5798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Sim(A, B) = 0.4 × LCS(A, B) + 0.6 × EMB(A, B)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負例1：最も似た候補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負例2：類似度順位2〜5から無作為に一つ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負例3：類似度順位6〜10から無作為に一つ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1330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EMBは詩句ベクトルのコサイン類似度。三つの負例を正解と混ぜ、選択肢の順番を入れ替える。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27,218問を学習・検証・テストに分ける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920240"/>
                <a:gridCol w="3291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公開の正解欄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件数は配布ファイルの全行と一致。論文のテスト正解率と、公開テストの正解なし配布を区別する。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一行の問題が全体の約9割を占める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12,706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11,738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43.13%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1,493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5.49%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全27,218問。形式別の件数は構築時の集計。配布文字列には特殊な表記を含む少数の例もある。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データは説明・四候補・正解番号を持つ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778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"translation": "也不要埋怨故乡太遥远。",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"choices": ["莫恨故乡遥", "谁道故乡遥",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"故乡应渐遥", "莫动故乡情"],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"answer": 0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87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answerは0始まりの位置。表示上のA/B/C/Dは、元の候補順へ対応させる。元JSONLには問題ID・詩題・作者の欄はない。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説明文だけでは、問題を一意に特定できない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比較する単位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説明文の種類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21,483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説明＋四候補の種類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2026-10-18、配布全件の文字列を加工せず集計。学習と公開テストには、説明と四候補が同じ問題が1件ある。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評価は、正しい候補を選んだ問題の割合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指標はAccuracy（正解率）。各問題で予測した選択肢が元のanswerと一致したかを数え、評価した問題数で割る。四つの候補から一つを選ぶため、各問の正誤は0か1になる。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2021年の実験は、学習分割でBERTを微調整し、テスト分割で評価した。公開テストの正解は非公開で、比較表には2021年の報告値を示す。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BERTの二方式は、テストで約83〜85%の正解率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方式（2021年）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テストAccuracy (%)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BERT-Cls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BERT-Match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CCPMの同じテスト2,720問を対象とする、構築時の報告値。BERTの基盤はbert-base-chinese。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説明と候補を一緒に読むか、別々に表すか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BERT-Cls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説明＋候補を連結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BERTの[CLS]表現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一致するかを分類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744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BERT-Match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説明と候補を別々に符号化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それぞれのベクトル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コサイン類似度が最大の候補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Clsは説明と詩句の間で注意機構が働く。Matchは別々の表現を作り、その近さで選ぶ。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両方式を同じ学習設定で微調整した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文の符号化器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bert-base-chinese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最適化手法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Adam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初期学習率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2×10⁻⁵、線形に減衰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 epochs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BERT-CCPoemは負例の検索に使うモデルで、ここで評価した二方式の基盤とは区別する。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CLEVAでの後利用と公開配布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CLEVAは、古典中国語理解の評価へ採用した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2023年のCLEVAは、中国語モデルを多様な課題で評価するプラットフォーム。古典中国語理解の課題としてCCPMから四択問題を抽出し、現代語と古典候補の意味の対応を正解率で評価する。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掲載例は実例2の「山間の雨が晴れ始める」問題で、公式trainの18,823行と四候補・正解Dが一致する。同じ説明文に別候補が付く問題もある。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2023: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HELMにも課題の実装があり、公開実行は0件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v0.4.0にはCLEVAClassicalChineseUnderstandingScenarioがあり、実例1と同じ説明・候補・正解Aを記す。データとテンプレートを外部ZIPから読み、候補の番号を正解参照へ変換する。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Classic v0.4.0の公開run_specs全8,526件にはCLEVA実行がない。CLEVA用評価ZIPも取得できていないため、HELMでの得点、実際の学習例数や生成条件は示さない。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CLEVAClassicalChineseUnderstandingScenario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元のCCPM配布と、後利用の集合を区別する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5715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確認できた内容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CCPM公式配布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全27,218問、train/valid正解、test_public正解なし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CLEVA論文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CCPMから抽出する課題と、候補まで一致した掲載例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HELM実装・設定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同課題のクラス、外部データ読込、6テンプレートID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HELM公開実行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0件。CLEVA評価集合・保存requestは未取得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2023: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CLEVAClassicalChineseUnderstandingScenario / Converter. HELM v0.4.0.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公式JSONLを取得でき、再利用条件は確認が必要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公式GitHubはtrain.jsonl、valid.jsonl、test_public.jsonlと技術報告を公開し、利用時にはCCPMの引用を求める。2021年8月21日の更新版には、これらを含む五つのファイルがある。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リポジトリにはライセンスファイルがなく、元Web素材の個別出所・作者も各レコードには含まれない。古典詩の原句、現代語説明、収集データの利用条件を同じものとして推定せず、配布元を確認して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まとめ：似た言葉の中から、対応する意味を選ぶ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CCPMは現代中国語の説明と古典詩句の対応を問う27,218問の四択データ。正解との対訳に、似た詩句を検索した三つの負例を組み合わせる。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2021年のBERT二方式はテスト正解率84.96%と82.60%。後にCLEVAの古典中国語理解へ採用された。公開元データ・掲載例・未取得の後利用集合を対応させて読む。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CLEVAでの後利用と公開配布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(2023). CLEVA: Chinese Language Models EVAluation Platform. EMNLP 2023: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追加10問の原文と日本語訳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分割・重複・入力形式の補足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実例4：消えた灯を再びともす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現代語：昏暗的灯熄灭了又被重新点亮。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渔灯灭复明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残灯灭又然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残灯暗复明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残灯灭又明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現代語：薄暗い灯が消え、またともされた。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漁火が消え、また明るくなる。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消えかけの灯が消え、また燃える。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消えかけの灯が暗くなり、また明るくなる。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消えかけの灯が消え、また明るくなる。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残灯灭又明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valid.jsonl:1行 / answer=3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実例5：清らかな泉を愛する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現代語：清冽的泉水纯净透明，惹人喜爱。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却爱石泉清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寒泉自清洁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爱此寒泉清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爱此清秋光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現代語：澄んで冷たい泉の水は、清らかで透明で、心を引く。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かえって、岩間の泉の清らかさを愛する。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冷たい泉は、おのずと清らかだ。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この冷たい泉の清らかさを愛する。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この澄んだ秋の光を愛する。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爱此寒泉清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valid.jsonl:5行 / answer=2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実例6：西風に帰る時を尋ねる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現代語：曾经听说秦地刮起西风就会下雨，西风啊，你什么时候回去啊？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为问西风来几日，夕阳宫殿亦秋声。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尝闻秦地西风雨，为问西风早晚回。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驿使回时曾寄语，西风早晚渡秦川。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并州旧日风声恶，怅望乡书早晚回。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現代語：秦の地では西風が吹くと雨になると聞いた。西風よ、いつ帰ってゆくのか。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西風に、来て何日になるか尋ねる。夕日の宮殿にも秋の響き。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秦の地の西風は雨をもたらすと聞く。西風に、いつ帰るのか尋ねる。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使者が戻る時に言葉を託した。西風はいつ秦の地を渡るのか。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并州の昔日の風は激しかった。故郷の便りを待ち望む、いつ帰るのか。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尝闻秦地西风雨，为问西风早晚回。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valid.jsonl:14行 / answer=1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実例7：雨と水煙のもの寂しい景色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現代語：大雨激起水雾，空蒙一片，天地都是萧瑟的景象。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村烟空处渡，野色望中开。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空烟迷雨色，萧飒望中来。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乱山烟雨外，欲望失苍苍。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空蒙迷远望，萧瑟送寒声。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現代語：大雨が水煙を巻き上げ、辺りはかすみ、天地はもの寂しい景色になった。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村の煙が途切れる所を渡り、野の景色が眺めの中で開ける。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立ちこめる煙が雨の景色をかすませ、もの寂しさが視界に迫る。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幾重もの山は煙る雨の向こう。眺めようとしても青々とした姿を見失う。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かすみが遠くの眺めを覆い、もの寂しい様子が寒々しい音を送る。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空烟迷雨色，萧飒望中来。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valid.jsonl:24行 / answer=1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実例8：半ばは修道、半ばは君ゆえ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7945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現代語：这缘由，一半是因为修道人的清心寡欲，一半是因为曾经拥有过的你。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半缘修道半缘君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尘缘悟后道缘长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半缘山野半缘君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生缘断处参吾道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231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現代語：そのわけは、半分は修道者として欲を抑えて心静かに暮らすため、半分はかつてともにいたあなたのためだ。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半ばは道を修めるゆえ、半ばは君ゆえ。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俗世との縁を悟った後、道との縁は長くなる。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半ばは山野ゆえ、半ばは君ゆえ。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生の縁が断たれる所で、私の道を究める。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半缘修道半缘君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valid.jsonl:25行 / answer=0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実例9：取り戻されない河湟の地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現代語：国土一角仍沦陷，天子没有收河湟。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未收天子河湟地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天子新收秦陇地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天不收子地容君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全收朔雪天王地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2517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現代語：国土の一角はいまだ敵の手にあり、天子は河湟の地を取り戻していない。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天子は、河湟の地をまだ取り戻していない。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天子は、秦隴の地を新たに取り戻した。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天は子を受け入れず、地は君を受け入れる。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天王の地である、雪深い北方をすべて取り戻す。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未收天子河湟地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valid.jsonl:35行 / answer=0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実例10：白髪が簪を支えられない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現代語：白发越搔越短，简直要不能插簪了。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酒秃不胜簪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浑欲不胜愁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7861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現代語：白髪はかくほどに短くなり、もう簪を挿せないほどだ。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ほとんど、簪を支えられなくなりそうだ。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まったく、簪を支えられなくなりそうだ。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酒で髪が抜け、簪を支えられない。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まったく、憂いに堪えられなくなりそうだ。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浑欲不胜簪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valid.jsonl:47行 / answer=1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実例11：深い雲の中にいる人を探す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現代語：可是林深云密，我也不知道他到底在哪。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云深不可知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云深杳何处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云迷不知处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云深不知处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現代語：けれど林は深く雲は濃く、私にも、あの人がいったいどこにいるのか分からない。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雲が深く、知りようがない。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雲が深く、いずことも知れない。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雲にかすみ、居場所が分からない。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雲が深く、居場所が分からない。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云深不知处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valid.jsonl:52行 / answer=3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実例12：秋の野風に鳴く蝉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現代語：初秋寒蝉在野外晨风中嘶声噪鸣。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猿啸野风秋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蝉噪风前急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蝉噪野风秋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萤散野风秋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現代語：初秋の寒蝉が、野の朝風の中で、声をからして鳴いている。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猿が、秋の野風の中で叫ぶ。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蝉が、風の前でせわしなく鳴く。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蝉が、秋の野風の中で鳴く。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蛍が、秋の野風の中で散る。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蝉噪野风秋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valid.jsonl:60行 / answer=2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実例13：北を望み、飛ぶ鳥を眺める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現代語：我向北方观望，一片渺茫，鸟儿可以自由地飞来飞去。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茫茫极浦舟南北，渺渺长空鸟去来。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云水苍茫共渺然，眼看飞鸟没苍烟。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六合茫茫天共远，五湖杳杳雁飞还。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北望茫茫渺渺间，鸟飞不尽又飞还。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現代語：北を望むと、はるかにかすみ、鳥は自由に行き来している。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広々とした遠い水辺を舟が南北に行く。はるかな空を鳥が行き来する。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雲も水も一様に果てしなくかすむ。飛ぶ鳥が青いもやへ消えるのを見る。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天地は果てしなく遠い。いくつもの湖を雁が遠くへ飛び、また帰る。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北を望めば、果てしなく、はるかにかすむ。鳥は尽きることなく飛び、また帰る。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北望茫茫渺渺间，鸟飞不尽又飞还。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 valid.jsonl:65行 / answer=3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分割・重複・入力形式の補足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同じ雨の説明でも、候補と正解位置が変わる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43150"/>
        </p:xfrm>
        <a:graphic>
          <a:graphicData uri="http://schemas.openxmlformats.org/drawingml/2006/table">
            <a:tbl>
              <a:tblPr firstRow="0" bandRow="0"/>
              <a:tblGrid>
                <a:gridCol w="731520"/>
                <a:gridCol w="3657600"/>
                <a:gridCol w="365760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 18,823行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 21,287行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寒雨初开霁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久雨初收霁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宿雨天初霁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山雨幸初霁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D（answer=3）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A（answer=0）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3910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両方の説明は「山间连绵阴雨刚刚有了一点停止的意思。」。CLEVA掲載例は18,823行。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形式別件数の内訳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1463040"/>
                <a:gridCol w="1463040"/>
                <a:gridCol w="1463040"/>
                <a:gridCol w="14630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10,166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12,706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9,392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1,173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1,173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11,738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1,195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1,493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27,218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正解位置は、学習・検証ともほぼ均等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377440"/>
                <a:gridCol w="23774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 / 表示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/ 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/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 / 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5,547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公開テストにはanswerがない。候補順を維持し、0始まりの番号をA〜Dへ対応させた。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分割間の一致は、比較する単位で異なる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2011680"/>
                <a:gridCol w="28346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組み合わせ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共通の説明文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共通の説明＋四候補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× 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× 公開テスト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 × 公開テスト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全行の説明文と四候補を、表記を変えずに比較した共通要素数。説明＋候補の一致1件はtrain14,734行とtest_public1,020行。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配布文字列には、空の説明や特殊な表記もある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公開テスト2,026行のtranslationは空文字列で、四候補は残っている。正解が非公開のため、意図した説明や答えは補っていない。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学習6,518行には「公曰：勿杀」という五言・七言に収まらない正解文字列がある。別の行には拡張漢字や文字コードを表すような文字列もあり、配布物を一律に標準漢字だけへ直していない。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一つのJSONL行から四候補と参照位置を読む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968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record = json.loads(line)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modern = record["translation"]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record["choices"]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# train / valid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answer_index = record["answer"]  # 0, 1, 2, 3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answer_text = choices[answer_index]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78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CCPM配布の読み方。CLEVAの実際のpromptは、別途配布されるテンプレートで組み立てる。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候補の細かな語と、説明の意味を対応させる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実例11の候補A「云深不可知」とD「云深不知处」は、共通する語が多い。Aは「雲が深く、知りようがない」、Dは「雲が深く、居場所が分からない」と読める。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現代語の説明には「不知道他到底在哪」（あの人がどこにいるのか分からない）とあり、場所を表す「处」との対応が判断の手掛かりになる。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分割・重複・入力形式の補足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THUNLP-AIPoet. CCPM. 公式配布、commit e7db1a0dc1ac1ffdd0ec91f74793c29ae9c8efa5、2026-10-18参照。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CPM: A Chinese Classical Poetry Matching Dataset"/>
          <p:cNvSpPr txBox="1"/>
          <p:nvPr/>
        </p:nvSpPr>
        <p:spPr>
          <a:xfrm>
            <a:off x="548640" y="146304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CCPM: A Chinese Classical Poetry Matching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Wenhao Li, Fanchao Qi, Maosong Sun, Xiaoyuan Yi, Jiarui Zhang · 2021 · arXiv:2106.01979v1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古典詩と現代語訳から四択問題を構成し、似た詩句を負例として検索する。BERT二方式の評価を報告する。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  <p:sp>
        <p:nvSpPr>
          <p:cNvPr id="5" name="文献 2: CCPM — Official Dataset Repository"/>
          <p:cNvSpPr txBox="1"/>
          <p:nvPr/>
        </p:nvSpPr>
        <p:spPr>
          <a:xfrm>
            <a:off x="548640" y="3040507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 — Official Dataset Repository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THUNLP-AIPoet · 2021 · commit e7db1a0dc1ac1ffdd0ec91f74793c29ae9c8efa5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学習・検証・正解非公開テストのJSONLと技術報告、データ形式、正解率による評価方法を公開する。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46304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· 2023 · EMNLP: System Demonstrations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中国語モデルの多様な能力を評価するプラットフォーム。CCPMを古典中国語理解の課題へ採用する。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ClassicalChineseUnderstandingScenario / Converter"/>
          <p:cNvSpPr txBox="1"/>
          <p:nvPr/>
        </p:nvSpPr>
        <p:spPr>
          <a:xfrm>
            <a:off x="548640" y="3040507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CLEVAClassicalChineseUnderstandingScenario / Converter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 · Python実装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外部配布データとテンプレートを読み込み、現代語説明・候補・ラベルをHELMの入力と参照へ変換する。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BERT: Pre-training of Deep Bidirectional Transformers for Language Understanding"/>
          <p:cNvSpPr txBox="1"/>
          <p:nvPr/>
        </p:nvSpPr>
        <p:spPr>
          <a:xfrm>
            <a:off x="548640" y="1463040"/>
            <a:ext cx="8046720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BERT: Pre-training of Deep Bidirectional Transformers for Language Understanding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Jacob Devlin, Ming-Wei Chang, Kenton Lee, Kristina Toutanova · 2019 · NAACL-HLT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双方向Transformerの事前学習と、文分類などへの微調整を提案する。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https://aclanthology.org/N19-1423/</a:t>
            </a:r>
          </a:p>
        </p:txBody>
      </p:sp>
      <p:sp>
        <p:nvSpPr>
          <p:cNvPr id="5" name="文献 2: BERT-CCPoem"/>
          <p:cNvSpPr txBox="1"/>
          <p:nvPr/>
        </p:nvSpPr>
        <p:spPr>
          <a:xfrm>
            <a:off x="548640" y="330835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BERT-CCPoem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Zhipeng Guo, Jinyi Hu, Maosong Sun · 2020 · 公式実装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古典詩コーパスで学習したモデルと表現を公開し、CCPMでは似た詩句の検索に利用される。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https://github.com/THUNLP-AIPoet/BERT-CCPoem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run_specs_cleva_v1.conf"/>
          <p:cNvSpPr txBox="1"/>
          <p:nvPr/>
        </p:nvSpPr>
        <p:spPr>
          <a:xfrm>
            <a:off x="548640" y="1463040"/>
            <a:ext cx="8046720" cy="13458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run_specs_cleva_v1.conf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 · CLEVA設定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古典中国語理解を含む課題とprompt IDを設定し、同課題には0〜5の六つのIDを登録する。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https://github.com/stanford-crfm/helm/blob/v0.4.0/src/helm/benchmark/presentation/run_specs_cleva_v1.conf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2026-10-18T09:31:34Z</dcterms:modified>
  <dc:title>ccpm</dc:title>
  <dc:creator>sasakiy84</dc:creator>
  <dcterms:created xsi:type="dcterms:W3CDTF">2026-10-18T09:31:34Z</dcterms:created>
  <dc:language>ja-JP</dc:language>
</cp:coreProperties>
</file>