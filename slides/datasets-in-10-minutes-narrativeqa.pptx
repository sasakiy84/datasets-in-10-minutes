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8" r:id="rId38"/>
    <p:sldId id="290" r:id="rId40"/>
    <p:sldId id="289" r:id="rId39"/>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4" r:id="rId64"/>
    <p:sldId id="315" r:id="rId65"/>
    <p:sldId id="316" r:id="rId66"/>
    <p:sldId id="317" r:id="rId6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9.xml"/><Relationship Id="rId40" Type="http://schemas.openxmlformats.org/officeDocument/2006/relationships/slide" Target="slides/slide28.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作品数</c:v>
                </c:pt>
              </c:strCache>
            </c:strRef>
          </c:tx>
          <c:spPr>
            <a:solidFill>
              <a:srgbClr val="2C9100"/>
            </a:solidFill>
            <a:ln>
              <a:noFill/>
            </a:ln>
          </c:spPr>
          <c:cat>
            <c:strRef>
              <c:f>Sheet1!$A$2:$A$6</c:f>
              <c:strCache>
                <c:ptCount val="5"/>
                <c:pt idx="0">
                  <c:v>200–399</c:v>
                </c:pt>
                <c:pt idx="1">
                  <c:v>400–599</c:v>
                </c:pt>
                <c:pt idx="2">
                  <c:v>600–799</c:v>
                </c:pt>
                <c:pt idx="3">
                  <c:v>800–999</c:v>
                </c:pt>
                <c:pt idx="4">
                  <c:v>1,000–1,199</c:v>
                </c:pt>
              </c:strCache>
            </c:strRef>
          </c:cat>
          <c:val>
            <c:numRef>
              <c:f>Sheet1!$B$2:$B$6</c:f>
              <c:numCache>
                <c:formatCode>General</c:formatCode>
                <c:ptCount val="5"/>
                <c:pt idx="0">
                  <c:v>289.0</c:v>
                </c:pt>
                <c:pt idx="1">
                  <c:v>336.0</c:v>
                </c:pt>
                <c:pt idx="2">
                  <c:v>490.0</c:v>
                </c:pt>
                <c:pt idx="3">
                  <c:v>349.0</c:v>
                </c:pt>
                <c:pt idx="4">
                  <c:v>108.0</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google-deepmind/narrativeq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8-1023/"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8-1023/"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8-102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google-deepmind/narrativeqa"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8-1023/"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8-102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8-1023/"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8-102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github.com/google-deepmind/narrativeqa"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Q18-102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8-1023/"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Q18-1023/"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Q18-1023/"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google-deepmind/narrativeqa"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main/src/helm/benchmark/scenarios/narrativeqa_scenario.py" TargetMode="External"/><Relationship Id="rId3" Type="http://schemas.openxmlformats.org/officeDocument/2006/relationships/hyperlink" Target="https://github.com/google-deepmind/narrativeqa"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google-deepmind/narrativeqa/tree/master/third_party/wikipedia"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8-1023/"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8-1023/"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Q18-1023/" TargetMode="External"/><Relationship Id="rId3" Type="http://schemas.openxmlformats.org/officeDocument/2006/relationships/hyperlink" Target="https://arxiv.org/abs/2211.09110" TargetMode="External"/><Relationship Id="rId4" Type="http://schemas.openxmlformats.org/officeDocument/2006/relationships/hyperlink" Target="https://github.com/google-deepmind/narrativeqa"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deepmind/narrativeqa" TargetMode="External"/><Relationship Id="rId3" Type="http://schemas.openxmlformats.org/officeDocument/2006/relationships/hyperlink" Target="https://github.com/google-deepmind/narrativeqa/blob/master/third_party/wikipedia/LICENSE" TargetMode="External"/><Relationship Id="rId4" Type="http://schemas.openxmlformats.org/officeDocument/2006/relationships/hyperlink" Target="https://github.com/google-deepmind/narrativeqa/blob/master/third_party/wikipedia/ATTRIBUTIO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NarrativeQA</a:t>
            </a:r>
          </a:p>
        </p:txBody>
      </p:sp>
      <p:sp>
        <p:nvSpPr>
          <p:cNvPr id="3" name="Subtitle 2"/>
          <p:cNvSpPr>
            <a:spLocks noGrp="1"/>
          </p:cNvSpPr>
          <p:nvPr>
            <p:ph type="subTitle" idx="1"/>
          </p:nvPr>
        </p:nvSpPr>
        <p:spPr>
          <a:xfrm>
            <a:off x="548640" y="2647277"/>
            <a:ext cx="8046720" cy="1091565"/>
          </a:xfrm>
        </p:spPr>
        <p:txBody>
          <a:bodyPr lIns="0" rIns="0" tIns="0" bIns="10160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The NarrativeQA Reading Comprehension Challenge</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物語を読んで、自由な言葉で答える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公式配布ページ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NarrativeQA</a:t>
            </a:r>
          </a:p>
        </p:txBody>
      </p:sp>
      <p:pic>
        <p:nvPicPr>
          <p:cNvPr id="4" name="Picture 3" descr="official-site.png"/>
          <p:cNvPicPr>
            <a:picLocks noChangeAspect="1"/>
          </p:cNvPicPr>
          <p:nvPr/>
        </p:nvPicPr>
        <p:blipFill>
          <a:blip r:embed="rId2"/>
          <a:stretch>
            <a:fillRect/>
          </a:stretch>
        </p:blipFill>
        <p:spPr>
          <a:xfrm>
            <a:off x="2366467" y="1481328"/>
            <a:ext cx="4411065"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https://github.com/google-deepmind/narrativeqa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物語の理解を問う実例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作成方法とデータの全体像</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採点とモデルの到達水準</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入手方法と利用条件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物語の理解を問う実例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物語の理解を問う実例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本や映画の物語について答える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NarrativeQAは、書籍や映画の物語を読み、登場人物の行動や出来事の理由について短い回答を作るデータセット。</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物語全文を読む条件と、Wikipediaの要約全文を読む条件がある。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各質問に、人が書いた2つの参照回答が付いている。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実例では要約の関連箇所を抜粋し、質問と二つの参照回答は全文を示す。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物語の理解を問う実例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実例1：旅の後で一人になる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物語の理解を問う実例</a:t>
            </a:r>
          </a:p>
        </p:txBody>
      </p:sp>
      <p:sp>
        <p:nvSpPr>
          <p:cNvPr id="4" name="TextBox 3"/>
          <p:cNvSpPr txBox="1"/>
          <p:nvPr/>
        </p:nvSpPr>
        <p:spPr>
          <a:xfrm>
            <a:off x="548640" y="1280160"/>
            <a:ext cx="420624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532466"/>
            <a:ext cx="4206240" cy="2438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254" bIns="889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Maskull, a man longing for adventures, accepts an invitation from Krag, an acquaintance of his friend Nightspore, to travel to Tormance after a seance. The three set off in a crystal ship from an abandoned observatory in Scotland but Maskull awakens to find himself alone on Tormance.</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Question: When Maskull wakes up in Tormance, how many of his friends are with him?</a:t>
            </a:r>
          </a:p>
        </p:txBody>
      </p:sp>
      <p:sp>
        <p:nvSpPr>
          <p:cNvPr id="6" name="TextBox 5"/>
          <p:cNvSpPr txBox="1"/>
          <p:nvPr/>
        </p:nvSpPr>
        <p:spPr>
          <a:xfrm>
            <a:off x="548640" y="4203702"/>
            <a:ext cx="2029967" cy="419100"/>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None</a:t>
            </a:r>
          </a:p>
        </p:txBody>
      </p:sp>
      <p:sp>
        <p:nvSpPr>
          <p:cNvPr id="7" name="TextBox 6"/>
          <p:cNvSpPr txBox="1"/>
          <p:nvPr/>
        </p:nvSpPr>
        <p:spPr>
          <a:xfrm>
            <a:off x="2651760" y="4203702"/>
            <a:ext cx="2029967" cy="419100"/>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None.</a:t>
            </a:r>
          </a:p>
        </p:txBody>
      </p:sp>
      <p:sp>
        <p:nvSpPr>
          <p:cNvPr id="8" name="TextBox 7"/>
          <p:cNvSpPr txBox="1"/>
          <p:nvPr/>
        </p:nvSpPr>
        <p:spPr>
          <a:xfrm>
            <a:off x="4937759" y="1280160"/>
            <a:ext cx="365760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a:t>
            </a:r>
          </a:p>
        </p:txBody>
      </p:sp>
      <p:sp>
        <p:nvSpPr>
          <p:cNvPr id="9" name="quote-frame"/>
          <p:cNvSpPr/>
          <p:nvPr/>
        </p:nvSpPr>
        <p:spPr>
          <a:xfrm>
            <a:off x="4937759" y="1524000"/>
            <a:ext cx="3657600" cy="2260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39" bIns="889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冒険に憧れるマスカルは、交霊会の後、友人ナイトスポアの知人クラグからトーマンスへの旅に誘われ、それを受け入れる。3人はスコットランドの廃天文台から水晶の船で出発するが、目を覚ましたマスカルはトーマンスに一人でいることに気づく。</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質問：マスカルがトーマンスで目を覚ましたとき、友人は何人一緒にいるか。</a:t>
            </a:r>
          </a:p>
        </p:txBody>
      </p:sp>
      <p:sp>
        <p:nvSpPr>
          <p:cNvPr id="10" name="TextBox 9"/>
          <p:cNvSpPr txBox="1"/>
          <p:nvPr/>
        </p:nvSpPr>
        <p:spPr>
          <a:xfrm>
            <a:off x="4937759" y="3883555"/>
            <a:ext cx="3657600" cy="728472"/>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参照回答：誰もいない。／誰もいない。</a:t>
            </a:r>
          </a:p>
        </p:txBody>
      </p:sp>
      <p:sp>
        <p:nvSpPr>
          <p:cNvPr id="11"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A Voyage to Arcturus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12" name="English-reference-label"/>
          <p:cNvSpPr txBox="1"/>
          <p:nvPr/>
        </p:nvSpPr>
        <p:spPr>
          <a:xfrm>
            <a:off x="548640" y="3977216"/>
            <a:ext cx="420624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出発時の人数と到着後の状態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旅に出たのは3人だが、質問は「目を覚ましたとき」に一緒にいる友人の人数を尋ねている。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根拠は最後の alone。「一人でいる」から「友人は誰もいない」と言い換えて答える。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物語の理解を問う実例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実例2：意図と結果を区別する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物語の理解を問う実例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591733"/>
            <a:ext cx="8046720" cy="1439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0777" bIns="127000">
            <a:noAutofit/>
          </a:bodyPr>
          <a:lstStyle/>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However, it soon becomes clear that the teenagers who play the game and lose are being imprisoned inside the virtual reality world by the central villain: "Arcade". It would seem that "Arcade" was once a little boy who was beaten to death by his mother, and the computer company felt it would be a good idea to use some of the boy's brain cells in order to make the game's villain more realistic. Instead, it made the game deadly.</a:t>
            </a:r>
          </a:p>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Question: Why did Vertigo/Tronics include the boy's brain cells into the game?</a:t>
            </a:r>
          </a:p>
        </p:txBody>
      </p:sp>
      <p:sp>
        <p:nvSpPr>
          <p:cNvPr id="6" name="TextBox 5"/>
          <p:cNvSpPr txBox="1"/>
          <p:nvPr/>
        </p:nvSpPr>
        <p:spPr>
          <a:xfrm>
            <a:off x="594360" y="3256083"/>
            <a:ext cx="3886200" cy="113157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To make the villain character of the game more realistic.</a:t>
            </a:r>
          </a:p>
        </p:txBody>
      </p:sp>
      <p:sp>
        <p:nvSpPr>
          <p:cNvPr id="7" name="TextBox 6"/>
          <p:cNvSpPr txBox="1"/>
          <p:nvPr/>
        </p:nvSpPr>
        <p:spPr>
          <a:xfrm>
            <a:off x="4681728" y="3256083"/>
            <a:ext cx="3886200" cy="113157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To make the Villian more realistic.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Arcade (film)</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9" name="English-reference-label"/>
          <p:cNvSpPr txBox="1"/>
          <p:nvPr/>
        </p:nvSpPr>
        <p:spPr>
          <a:xfrm>
            <a:off x="548640" y="3037416"/>
            <a:ext cx="804672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実例2：意図と結果を区別する（訳）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物語の理解を問う実例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要約抜粋・質問・参照回答の日本語訳</a:t>
            </a:r>
          </a:p>
        </p:txBody>
      </p:sp>
      <p:sp>
        <p:nvSpPr>
          <p:cNvPr id="5" name="quote-frame"/>
          <p:cNvSpPr/>
          <p:nvPr/>
        </p:nvSpPr>
        <p:spPr>
          <a:xfrm>
            <a:off x="548640" y="1557866"/>
            <a:ext cx="8046720" cy="1837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0774"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しかし、ゲームに負けた若者たちが、中心となる悪役「アーケード」によって仮想現実の世界に閉じ込められていることが、やがて明らかになる。アーケードは、かつて母親に殴り殺された少年だったらしい。コンピューター会社は、ゲームの悪役をより現実的にするため、その少年の脳細胞の一部を使うとよいと考えた。ところが、それによってゲームは命に関わるものになってしまった。</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質問：ヴァーティゴ／トロニクス社は、なぜ少年の脳細胞をゲームに組み込んだのか。</a:t>
            </a:r>
          </a:p>
        </p:txBody>
      </p:sp>
      <p:sp>
        <p:nvSpPr>
          <p:cNvPr id="6" name="TextBox 5"/>
          <p:cNvSpPr txBox="1"/>
          <p:nvPr/>
        </p:nvSpPr>
        <p:spPr>
          <a:xfrm>
            <a:off x="594360" y="3504212"/>
            <a:ext cx="7955279" cy="710184"/>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参照回答：ゲームの悪役をより現実的にするため。／悪役をより現実的にするため。</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Arcade (film)</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会社の目的と起きた結果を分ける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脳細胞を使った目的は、悪役をより現実的にすること。</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ゲームが命に関わるものになったのは、その結果。質問の why が何を尋ねているかを追う。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物語の理解を問う実例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実例3：二つの参照回答が食い違う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物語の理解を問う実例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600200"/>
            <a:ext cx="8046720" cy="1938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7203"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Kitty's social activities start to affect Ashe's political career; she strains Ashe's relationship with Lord Parham, the prime minister, and also flirts with the dashing but unprincipled Geoffrey Cliffe. After their child dies, Kitty is left a physical wreck and goes with Ashe to Italy to try to recover her health. Kitty meets Cliffe in Italy and runs off with him, while Ashe is in England trying to suppress a salacious book Kitty has written.</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Question: WHERE DID KITTY BEGIN HER AFFAIR WITH GEOFFERY CLIFFE?</a:t>
            </a:r>
          </a:p>
        </p:txBody>
      </p:sp>
      <p:sp>
        <p:nvSpPr>
          <p:cNvPr id="6" name="TextBox 5"/>
          <p:cNvSpPr txBox="1"/>
          <p:nvPr/>
        </p:nvSpPr>
        <p:spPr>
          <a:xfrm>
            <a:off x="594360" y="3766507"/>
            <a:ext cx="3886200" cy="438149"/>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IN ITALY</a:t>
            </a:r>
          </a:p>
        </p:txBody>
      </p:sp>
      <p:sp>
        <p:nvSpPr>
          <p:cNvPr id="7" name="TextBox 6"/>
          <p:cNvSpPr txBox="1"/>
          <p:nvPr/>
        </p:nvSpPr>
        <p:spPr>
          <a:xfrm>
            <a:off x="4681728" y="3766507"/>
            <a:ext cx="3886200" cy="438149"/>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London</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The Marriage of William Ashe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9" name="English-reference-label"/>
          <p:cNvSpPr txBox="1"/>
          <p:nvPr/>
        </p:nvSpPr>
        <p:spPr>
          <a:xfrm>
            <a:off x="548640" y="3545416"/>
            <a:ext cx="804672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実例3：二つの参照回答が食い違う（訳）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物語の理解を問う実例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要約抜粋・質問・参照回答の日本語訳</a:t>
            </a:r>
          </a:p>
        </p:txBody>
      </p:sp>
      <p:sp>
        <p:nvSpPr>
          <p:cNvPr id="5" name="quote-frame"/>
          <p:cNvSpPr/>
          <p:nvPr/>
        </p:nvSpPr>
        <p:spPr>
          <a:xfrm>
            <a:off x="548640" y="1566333"/>
            <a:ext cx="8046720" cy="1989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5729"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キティの社交活動はアッシュの政治家としての仕事に影響し始める。彼女は首相パラム卿とアッシュの関係を悪化させ、魅力的だが節操のないジェフリー・クリフとも浮ついた関係になる。子どもを亡くしたキティはすっかり体を壊し、健康を取り戻そうとアッシュとイタリアへ行く。キティはそこでクリフと会い、彼と駆け落ちする。その間、アッシュはイギリスで、キティが書いた扇情的な本の出版を差し止めようとしていた。</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質問：キティはどこでジェフリー・クリフと不倫関係を始めたか。</a:t>
            </a:r>
          </a:p>
        </p:txBody>
      </p:sp>
      <p:sp>
        <p:nvSpPr>
          <p:cNvPr id="6" name="TextBox 5"/>
          <p:cNvSpPr txBox="1"/>
          <p:nvPr/>
        </p:nvSpPr>
        <p:spPr>
          <a:xfrm>
            <a:off x="594360" y="3665773"/>
            <a:ext cx="7955279" cy="400812"/>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参照回答：イタリア。／ロンドン。</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The Marriage of William Ashe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二つの回答が一致するとは限らない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参照回答は「イタリア」と「ロンドン」で食い違っている。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要約には、先にクリフと浮ついた関係になり、後でイタリアで駆け落ちしたとある。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「関係を始めた」時点の解釈が曖昧。2つの回答を集めることと、合意を取ることは違う。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物語の理解を問う実例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作成方法とデータの全体像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作成方法とデータの全体像</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そのまま抜き出すだけでは答えにくい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短い文章から答えの位置を選ぶ課題に対し、長い物語を理解して答える課題として作られた。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質問は要約を見て作り、回答は自分の言葉で書くよう求めた。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回答が連続した文字列として現れる割合は、要約で44.05%、物語全文で29.57%。</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作品と、その作品の要約をそろえる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書籍はProject Gutenberg、映画は脚本サイトなどから物語を集めた。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Wikipediaの要約を対応付け、人が同じ作品かどうかを確認した。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映画化作品・異なる公開年の作品・シリーズの別の作品を取り違えないように照合した。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要約を読んで質問と最初の回答を書く</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作業者に見せたのは要約。物語全文を読む人に尋ねるつもりで、1回の作業につき10問を作る。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回答は自分の言葉で書き、要約からのコピーを画面上で抑止した。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はい・いいえで答える質問や、作者・俳優に関する質問は避けるよう指示した。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別の人が答えられるかを確かめる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別の作業者が、要約を読んで質問に答えられるかを判定し、独立した回答を追加した。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答えられないと判断された質問は2.3%。</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同じ作品の質問を、学習・開発・テストの間にまたがらせず、作品ごとに分割した。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1,572作品、46,765問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作成方法とデータの全体像</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3017520"/>
                <a:gridCol w="2194560"/>
                <a:gridCol w="2834640"/>
              </a:tblGrid>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分割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作品数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質問数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学習</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1,102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32,747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開発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3,461</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テスト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355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10,557</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1,572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46,765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59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公開CSVの全件集計。1作品に複数の質問が付く。</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書籍と映画がほぼ半数ずつ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作成方法とデータの全体像</a:t>
            </a:r>
          </a:p>
        </p:txBody>
      </p:sp>
      <p:graphicFrame>
        <p:nvGraphicFramePr>
          <p:cNvPr id="4" name="Table 3"/>
          <p:cNvGraphicFramePr>
            <a:graphicFrameLocks noGrp="1"/>
          </p:cNvGraphicFramePr>
          <p:nvPr/>
        </p:nvGraphicFramePr>
        <p:xfrm>
          <a:off x="548640" y="1508760"/>
          <a:ext cx="8046720" cy="1371600"/>
        </p:xfrm>
        <a:graphic>
          <a:graphicData uri="http://schemas.openxmlformats.org/drawingml/2006/table">
            <a:tbl>
              <a:tblPr firstRow="0" bandRow="0"/>
              <a:tblGrid>
                <a:gridCol w="3017520"/>
                <a:gridCol w="2194560"/>
                <a:gridCol w="2834640"/>
              </a:tblGrid>
              <a:tr h="457200">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素材</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作品数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割合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書籍</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783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49.8%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映画</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789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50.2%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815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全1,572作品。書籍はGutenberg、映画は脚本を元にしている。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要約は数百語の文章</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作成方法とデータの全体像</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横軸：要約の単語数。縦軸：作品数。全1,572作品を各1回集計。</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https://github.com/google-deepmind/narrativeqa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物語全文は要約より大幅に長い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作成方法とデータの全体像</a:t>
            </a:r>
          </a:p>
        </p:txBody>
      </p:sp>
      <p:graphicFrame>
        <p:nvGraphicFramePr>
          <p:cNvPr id="4" name="Table 3"/>
          <p:cNvGraphicFramePr>
            <a:graphicFrameLocks noGrp="1"/>
          </p:cNvGraphicFramePr>
          <p:nvPr/>
        </p:nvGraphicFramePr>
        <p:xfrm>
          <a:off x="548640" y="1508760"/>
          <a:ext cx="8046720" cy="1394460"/>
        </p:xfrm>
        <a:graphic>
          <a:graphicData uri="http://schemas.openxmlformats.org/drawingml/2006/table">
            <a:tbl>
              <a:tblPr firstRow="0" bandRow="0"/>
              <a:tblGrid>
                <a:gridCol w="4754880"/>
                <a:gridCol w="3291840"/>
              </a:tblGrid>
              <a:tr h="464820">
                <a:tc>
                  <a:txBody>
                    <a:bodyPr wrap="square">
                      <a:noAutofit/>
                    </a:bodyPr>
                    <a:lstStyle/>
                    <a:p>
                      <a:pPr algn="l">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テスト集合の入力</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平均単語数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64820">
                <a:tc>
                  <a:txBody>
                    <a:bodyPr wrap="square">
                      <a:noAutofit/>
                    </a:bodyPr>
                    <a:lstStyle/>
                    <a:p>
                      <a:pPr algn="l">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要約</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654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64820">
                <a:tc>
                  <a:txBody>
                    <a:bodyPr wrap="square">
                      <a:noAutofit/>
                    </a:bodyPr>
                    <a:lstStyle/>
                    <a:p>
                      <a:pPr algn="l">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物語全文</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57,780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0438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2018年の公表値。物語全文の平均は要約の約88倍。</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採点とモデルの到達水準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採点とモデルの到達水準</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ROUGE-L：語の並びの重なりを測る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生成した回答と参照回答の、順序を保った語の共通部分を使って採点する。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語の重なりを使うため、意味が近い別の言い回しには低い得点が付くこともある。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2018年の評価では、BLEU-1・BLEU-4・METEOR・ROUGE-Lを併用し、各質問の二つの参照回答を使った。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採点とモデルの到達水準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2018年：要約から答える条件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採点とモデルの到達水準</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5852160"/>
                <a:gridCol w="219456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方式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ROUGE-L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文脈なしの生成モデル</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13.15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語を選ぶAttention Sum Reader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22.26</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回答範囲を選ぶSpan Prediction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36.30</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人の参照回答同士</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57.02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59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テスト集合。人の値は、一方の参照回答をもう一方で採点。</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同じ範囲選択方式でも、全文は難しい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採点とモデルの到達水準</a:t>
            </a:r>
          </a:p>
        </p:txBody>
      </p:sp>
      <p:graphicFrame>
        <p:nvGraphicFramePr>
          <p:cNvPr id="4" name="Table 3"/>
          <p:cNvGraphicFramePr>
            <a:graphicFrameLocks noGrp="1"/>
          </p:cNvGraphicFramePr>
          <p:nvPr/>
        </p:nvGraphicFramePr>
        <p:xfrm>
          <a:off x="548640" y="1508760"/>
          <a:ext cx="8046720" cy="1394460"/>
        </p:xfrm>
        <a:graphic>
          <a:graphicData uri="http://schemas.openxmlformats.org/drawingml/2006/table">
            <a:tbl>
              <a:tblPr firstRow="0" bandRow="0"/>
              <a:tblGrid>
                <a:gridCol w="5120640"/>
                <a:gridCol w="2926080"/>
              </a:tblGrid>
              <a:tr h="464820">
                <a:tc>
                  <a:txBody>
                    <a:bodyPr wrap="square">
                      <a:noAutofit/>
                    </a:bodyPr>
                    <a:lstStyle/>
                    <a:p>
                      <a:pPr algn="l">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入力</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ROUGE-L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64820">
                <a:tc>
                  <a:txBody>
                    <a:bodyPr wrap="square">
                      <a:noAutofit/>
                    </a:bodyPr>
                    <a:lstStyle/>
                    <a:p>
                      <a:pPr algn="l">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要約</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36.30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64820">
                <a:tc>
                  <a:txBody>
                    <a:bodyPr wrap="square">
                      <a:noAutofit/>
                    </a:bodyPr>
                    <a:lstStyle/>
                    <a:p>
                      <a:pPr algn="l">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物語全文</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6.22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0438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2018年のSpan Prediction、テスト集合。全文条件は検索した文章片を利用。</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入手方法と利用条件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入手方法と利用条件</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3つのCSVを作品IDで結び付ける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documents.csv：作品の種類、分割、原文・WikipediaのURL。</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summaries.csv：Wikipedia要約と、その分かち書き済みの列。</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qaps.csv：質問、2つの回答、分かち書き済みの列。document_idで対応させる。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入手方法と利用条件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要約と質問を、作品IDで結び付ける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入手方法と利用条件</a:t>
            </a:r>
          </a:p>
        </p:txBody>
      </p:sp>
      <p:sp>
        <p:nvSpPr>
          <p:cNvPr id="5" name="code-frame"/>
          <p:cNvSpPr/>
          <p:nvPr/>
        </p:nvSpPr>
        <p:spPr>
          <a:xfrm>
            <a:off x="548640" y="1557866"/>
            <a:ext cx="8046720"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5249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import csv</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def rows(path):</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with open(path, newline="", encoding="utf-8") as f:</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return list(csv.DictReader(f))</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summaries = {</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r["document_id"]: r for r in rows("summaries.csv")</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q = rows("qaps.csv")[0]</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print(summaries[q["document_id"]]["summary"])</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print(q["question"], q["answer1"], q["answer2"])</a:t>
            </a:r>
          </a:p>
        </p:txBody>
      </p:sp>
      <p:sp>
        <p:nvSpPr>
          <p:cNvPr id="6" name="TextBox 5"/>
          <p:cNvSpPr txBox="1"/>
          <p:nvPr/>
        </p:nvSpPr>
        <p:spPr>
          <a:xfrm>
            <a:off x="594360" y="4114800"/>
            <a:ext cx="7955279" cy="502920"/>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document_idが同じ要約と質問を組み合わせる。二つの回答が参照回答になる。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https://github.com/google-deepmind/narrativeqa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配布ファイルと権利の範囲</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公開データは、作品の情報、Wikipediaの要約、質問と参照回答を持つ3つのCSV。物語本文は各URLから取得する。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リポジトリのLICENSEはApache 2.0。Wikipediaの要約はCC BY-SA 3.0で、各記事への出典表記がある。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再利用する際は、データセットの条件に加え、要約と元の作品それぞれの出所や利用条件を確認する。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入手方法と利用条件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Wikipedia LICENSE and ATTRIBUTION.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https://github.com/google-deepmind/narrativeqa/tree/master/third_party/wikipedia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物語の理解と回答表現を一緒に見る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書籍・映画の1,572作品に、46,765問と2つずつの参照回答がある。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質問の意図、人物や出来事のつながりを読み取り、短く言い換えて答える。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入力が要約か物語全文かをそろえ、語の重なりの得点と回答の意味を併せて読む。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入手方法と利用条件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686816"/>
          </a:xfrm>
        </p:spPr>
        <p:txBody>
          <a:bodyPr wrap="square" lIns="0" rIns="0" tIns="0" bIns="1016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質問と回答の長さ</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実例4：ジェイコブの仕事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0160"/>
            <a:ext cx="393192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524000"/>
            <a:ext cx="3931920" cy="1185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609" bIns="889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Her brother, Jacob, also goes to Nordrum farm to become a herdsman there.</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Question: Jacob goes to Nordrum farm to become what?</a:t>
            </a:r>
          </a:p>
        </p:txBody>
      </p:sp>
      <p:sp>
        <p:nvSpPr>
          <p:cNvPr id="6" name="TextBox 5"/>
          <p:cNvSpPr txBox="1"/>
          <p:nvPr/>
        </p:nvSpPr>
        <p:spPr>
          <a:xfrm>
            <a:off x="548640" y="2938100"/>
            <a:ext cx="3931920" cy="728472"/>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a herdsman</a:t>
            </a:r>
          </a:p>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a herdsman</a:t>
            </a:r>
          </a:p>
        </p:txBody>
      </p:sp>
      <p:sp>
        <p:nvSpPr>
          <p:cNvPr id="7" name="TextBox 6"/>
          <p:cNvSpPr txBox="1"/>
          <p:nvPr/>
        </p:nvSpPr>
        <p:spPr>
          <a:xfrm>
            <a:off x="4663440" y="1280160"/>
            <a:ext cx="393192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a:t>
            </a:r>
          </a:p>
        </p:txBody>
      </p:sp>
      <p:sp>
        <p:nvSpPr>
          <p:cNvPr id="8" name="quote-frame"/>
          <p:cNvSpPr/>
          <p:nvPr/>
        </p:nvSpPr>
        <p:spPr>
          <a:xfrm>
            <a:off x="4663440" y="1532466"/>
            <a:ext cx="3931920" cy="1278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6213" bIns="889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彼女の兄弟のジェイコブも、家畜の世話をする仕事に就くため、ノルドルム農場へ行く。</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質問：ジェイコブは何になるためにノルドルム農場へ行くか。</a:t>
            </a:r>
          </a:p>
        </p:txBody>
      </p:sp>
      <p:sp>
        <p:nvSpPr>
          <p:cNvPr id="9" name="TextBox 8"/>
          <p:cNvSpPr txBox="1"/>
          <p:nvPr/>
        </p:nvSpPr>
        <p:spPr>
          <a:xfrm>
            <a:off x="4663440" y="2918826"/>
            <a:ext cx="3931920" cy="728472"/>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参照回答：家畜の世話をする人。／家畜の世話をする人。</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Lisbeth Longfrock</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11" name="English-reference-label"/>
          <p:cNvSpPr txBox="1"/>
          <p:nvPr/>
        </p:nvSpPr>
        <p:spPr>
          <a:xfrm>
            <a:off x="548640" y="2715683"/>
            <a:ext cx="393192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実例5：姉妹が再会する場所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0160"/>
            <a:ext cx="393192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524000"/>
            <a:ext cx="3931920" cy="1608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609" bIns="889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The final part, "What Life Is", details how the two sisters are eventually reunited. Sophia returns to England and the house of her childhood, where Constance still lives.</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Question: Where do Sophia and Constance reunite?</a:t>
            </a:r>
          </a:p>
        </p:txBody>
      </p:sp>
      <p:sp>
        <p:nvSpPr>
          <p:cNvPr id="6" name="TextBox 5"/>
          <p:cNvSpPr txBox="1"/>
          <p:nvPr/>
        </p:nvSpPr>
        <p:spPr>
          <a:xfrm>
            <a:off x="548640" y="3357150"/>
            <a:ext cx="3931920" cy="1037843"/>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In their old childhood home in England.</a:t>
            </a:r>
          </a:p>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England.</a:t>
            </a:r>
          </a:p>
        </p:txBody>
      </p:sp>
      <p:sp>
        <p:nvSpPr>
          <p:cNvPr id="7" name="TextBox 6"/>
          <p:cNvSpPr txBox="1"/>
          <p:nvPr/>
        </p:nvSpPr>
        <p:spPr>
          <a:xfrm>
            <a:off x="4663440" y="1280160"/>
            <a:ext cx="393192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a:t>
            </a:r>
          </a:p>
        </p:txBody>
      </p:sp>
      <p:sp>
        <p:nvSpPr>
          <p:cNvPr id="8" name="quote-frame"/>
          <p:cNvSpPr/>
          <p:nvPr/>
        </p:nvSpPr>
        <p:spPr>
          <a:xfrm>
            <a:off x="4663440" y="1532466"/>
            <a:ext cx="3931920" cy="1507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6213" bIns="889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最後の部「人生とは」では、姉妹がついに再会するまでが描かれる。ソフィアはイギリスに帰り、コンスタンスが今も住む子ども時代の家に戻る。</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質問：ソフィアとコンスタンスはどこで再会するか。</a:t>
            </a:r>
          </a:p>
        </p:txBody>
      </p:sp>
      <p:sp>
        <p:nvSpPr>
          <p:cNvPr id="9" name="TextBox 8"/>
          <p:cNvSpPr txBox="1"/>
          <p:nvPr/>
        </p:nvSpPr>
        <p:spPr>
          <a:xfrm>
            <a:off x="4663440" y="3133917"/>
            <a:ext cx="3931920" cy="728472"/>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参照回答：イギリスにある子ども時代の家。／イギリス。</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The Old Wives' Tale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11" name="English-reference-label"/>
          <p:cNvSpPr txBox="1"/>
          <p:nvPr/>
        </p:nvSpPr>
        <p:spPr>
          <a:xfrm>
            <a:off x="548640" y="3139016"/>
            <a:ext cx="393192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実例6：社会階層の違い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583266"/>
            <a:ext cx="8046720" cy="1659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4853"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The killer's identity is not as significant a revelation in the story as are the roles of the influential and secretive Frettlby family, and their secret: they have an illegitimate daughter living on the streets. The class divide between Melbourne's wealthy and less fortunate is addressed throughout the plot.</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Question: What significant differences of people in Melbourne is highlighted through the story?</a:t>
            </a:r>
          </a:p>
        </p:txBody>
      </p:sp>
      <p:sp>
        <p:nvSpPr>
          <p:cNvPr id="6" name="TextBox 5"/>
          <p:cNvSpPr txBox="1"/>
          <p:nvPr/>
        </p:nvSpPr>
        <p:spPr>
          <a:xfrm>
            <a:off x="594360" y="3479762"/>
            <a:ext cx="3886200" cy="78486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The class divide between the wealthy and the poor.</a:t>
            </a:r>
          </a:p>
        </p:txBody>
      </p:sp>
      <p:sp>
        <p:nvSpPr>
          <p:cNvPr id="7" name="TextBox 6"/>
          <p:cNvSpPr txBox="1"/>
          <p:nvPr/>
        </p:nvSpPr>
        <p:spPr>
          <a:xfrm>
            <a:off x="4681728" y="3479762"/>
            <a:ext cx="3886200" cy="78486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Wealth versus poverty</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The Mystery of a Hansom Cab</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9" name="English-reference-label"/>
          <p:cNvSpPr txBox="1"/>
          <p:nvPr/>
        </p:nvSpPr>
        <p:spPr>
          <a:xfrm>
            <a:off x="548640" y="3249082"/>
            <a:ext cx="804672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実例6：社会階層の違い（訳）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要約抜粋・質問・参照回答の日本語訳</a:t>
            </a:r>
          </a:p>
        </p:txBody>
      </p:sp>
      <p:sp>
        <p:nvSpPr>
          <p:cNvPr id="5" name="quote-frame"/>
          <p:cNvSpPr/>
          <p:nvPr/>
        </p:nvSpPr>
        <p:spPr>
          <a:xfrm>
            <a:off x="548640" y="1557866"/>
            <a:ext cx="8046720" cy="1811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8513"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物語で犯人の正体以上に重要なのは、影響力があり秘密の多いフレットルビー家の役割と、同家の婚外子の娘が路上生活をしているという秘密である。メルボルンの富裕層と恵まれない人々との階級の隔たりが、物語を通して扱われ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質問：物語では、メルボルンの人々のどのような大きな違いが浮き彫りになるか。</a:t>
            </a:r>
          </a:p>
        </p:txBody>
      </p:sp>
      <p:sp>
        <p:nvSpPr>
          <p:cNvPr id="6" name="TextBox 5"/>
          <p:cNvSpPr txBox="1"/>
          <p:nvPr/>
        </p:nvSpPr>
        <p:spPr>
          <a:xfrm>
            <a:off x="594360" y="3478952"/>
            <a:ext cx="7955279" cy="710184"/>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参照回答：裕福な人々と貧しい人々との階級の隔たり。／富と貧困。</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The Mystery of a Hansom Cab</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実例7：病気から回復する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0160"/>
            <a:ext cx="393192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524000"/>
            <a:ext cx="3931920" cy="1185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609" bIns="889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Tancred falls ill, and is released at the instigation of Eva, who nurses him back to health.</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Question: What did Eva do with Tancred when he was released?</a:t>
            </a:r>
          </a:p>
        </p:txBody>
      </p:sp>
      <p:sp>
        <p:nvSpPr>
          <p:cNvPr id="6" name="TextBox 5"/>
          <p:cNvSpPr txBox="1"/>
          <p:nvPr/>
        </p:nvSpPr>
        <p:spPr>
          <a:xfrm>
            <a:off x="548640" y="2938100"/>
            <a:ext cx="3931920" cy="1656587"/>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She nursed him back to health.</a:t>
            </a:r>
          </a:p>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After Tancred was released, Eva nurses him back to health.</a:t>
            </a:r>
          </a:p>
        </p:txBody>
      </p:sp>
      <p:sp>
        <p:nvSpPr>
          <p:cNvPr id="7" name="TextBox 6"/>
          <p:cNvSpPr txBox="1"/>
          <p:nvPr/>
        </p:nvSpPr>
        <p:spPr>
          <a:xfrm>
            <a:off x="4663440" y="1280160"/>
            <a:ext cx="393192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a:t>
            </a:r>
          </a:p>
        </p:txBody>
      </p:sp>
      <p:sp>
        <p:nvSpPr>
          <p:cNvPr id="8" name="quote-frame"/>
          <p:cNvSpPr/>
          <p:nvPr/>
        </p:nvSpPr>
        <p:spPr>
          <a:xfrm>
            <a:off x="4663440" y="1532466"/>
            <a:ext cx="3931920" cy="1278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6213" bIns="889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タンクレッドは病気になり、エヴァの働きかけで釈放される。エヴァは彼を看病し、健康を回復させる。</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質問：タンクレッドが釈放されたとき、エヴァは彼に何をしたか。</a:t>
            </a:r>
          </a:p>
        </p:txBody>
      </p:sp>
      <p:sp>
        <p:nvSpPr>
          <p:cNvPr id="9" name="TextBox 8"/>
          <p:cNvSpPr txBox="1"/>
          <p:nvPr/>
        </p:nvSpPr>
        <p:spPr>
          <a:xfrm>
            <a:off x="4663440" y="2918826"/>
            <a:ext cx="3931920" cy="1347215"/>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参照回答：看病して健康を回復させた。／釈放されたタンクレッドを看病し、健康を回復させた。</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Tancred (novel)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11" name="English-reference-label"/>
          <p:cNvSpPr txBox="1"/>
          <p:nvPr/>
        </p:nvSpPr>
        <p:spPr>
          <a:xfrm>
            <a:off x="548640" y="2715683"/>
            <a:ext cx="393192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実例8：隠していた身分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583266"/>
            <a:ext cx="8046720" cy="1227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4198" bIns="127000">
            <a:noAutofit/>
          </a:bodyPr>
          <a:lstStyle/>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Noto Sans"/>
                <a:ea typeface="Noto Sans CJK JP"/>
                <a:cs typeface="Noto Sans"/>
              </a:rPr>
              <a:t>Several years after her marriage, Émilie discovers that Maximilien is not a clothier at all, but in fact a Vicomte de Longueville who has become a Peer of France. The young man finally explains why he secretly tended a store: he did it in order to support his family, sacrificing himself for his sick sister and for his brother, who had departed the country.</a:t>
            </a:r>
          </a:p>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Noto Sans"/>
                <a:ea typeface="Noto Sans CJK JP"/>
                <a:cs typeface="Noto Sans"/>
              </a:rPr>
              <a:t>Question: What does Emilie find out several years after being married?</a:t>
            </a:r>
          </a:p>
        </p:txBody>
      </p:sp>
      <p:sp>
        <p:nvSpPr>
          <p:cNvPr id="6" name="TextBox 5"/>
          <p:cNvSpPr txBox="1"/>
          <p:nvPr/>
        </p:nvSpPr>
        <p:spPr>
          <a:xfrm>
            <a:off x="594360" y="3039205"/>
            <a:ext cx="3886200" cy="14782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Maximilie is a Peer of France not a cloth merchant.</a:t>
            </a:r>
          </a:p>
        </p:txBody>
      </p:sp>
      <p:sp>
        <p:nvSpPr>
          <p:cNvPr id="7" name="TextBox 6"/>
          <p:cNvSpPr txBox="1"/>
          <p:nvPr/>
        </p:nvSpPr>
        <p:spPr>
          <a:xfrm>
            <a:off x="4681728" y="3039205"/>
            <a:ext cx="3886200" cy="14782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Maximilien is not a clothier; he is a Vicomte de Longueville and a Peer of France.</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Le Bal de Sceaux</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9" name="English-reference-label"/>
          <p:cNvSpPr txBox="1"/>
          <p:nvPr/>
        </p:nvSpPr>
        <p:spPr>
          <a:xfrm>
            <a:off x="548640" y="2817282"/>
            <a:ext cx="804672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実例8：隠していた身分（訳）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要約抜粋・質問・参照回答の日本語訳</a:t>
            </a:r>
          </a:p>
        </p:txBody>
      </p:sp>
      <p:sp>
        <p:nvSpPr>
          <p:cNvPr id="5" name="quote-frame"/>
          <p:cNvSpPr/>
          <p:nvPr/>
        </p:nvSpPr>
        <p:spPr>
          <a:xfrm>
            <a:off x="548640" y="1566333"/>
            <a:ext cx="8046720" cy="1498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6397"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結婚から数年後、エミリーは、マクシミリアンが布商人ではなく、貴族院議員となったロングヴィル子爵だと知る。彼は、ひそかに店を切り盛りしていた理由をようやく説明する。病気の姉か妹や、国外へ去った兄か弟のために身を犠牲にし、家族を支えていたのだった。</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質問：エミリーは結婚から数年後、何を知るか。</a:t>
            </a:r>
          </a:p>
        </p:txBody>
      </p:sp>
      <p:sp>
        <p:nvSpPr>
          <p:cNvPr id="6" name="TextBox 5"/>
          <p:cNvSpPr txBox="1"/>
          <p:nvPr/>
        </p:nvSpPr>
        <p:spPr>
          <a:xfrm>
            <a:off x="594360" y="3169875"/>
            <a:ext cx="7955279" cy="1019556"/>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参照回答：マクシミリアンは布商人ではなく、フランスの貴族院議員だった。／布商人ではなく、ロングヴィル子爵でフランスの貴族院議員だった。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Le Bal de Sceaux</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実例9：子どもたちへの脅し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0160"/>
            <a:ext cx="420624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532466"/>
            <a:ext cx="4206240" cy="1811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254" bIns="889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By such means, as the play's plot unfolds, the children are guaranteed new, credible lives. "Act or die," he commands. But if they fail to perform the play to its conclusion, or if they rebel, they will be killed by jealous Hera.</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Question: Who will kill the children if they rebel ?</a:t>
            </a:r>
          </a:p>
        </p:txBody>
      </p:sp>
      <p:sp>
        <p:nvSpPr>
          <p:cNvPr id="6" name="TextBox 5"/>
          <p:cNvSpPr txBox="1"/>
          <p:nvPr/>
        </p:nvSpPr>
        <p:spPr>
          <a:xfrm>
            <a:off x="548640" y="3575140"/>
            <a:ext cx="2029967" cy="728472"/>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Jealous Hera will kill them.</a:t>
            </a:r>
          </a:p>
        </p:txBody>
      </p:sp>
      <p:sp>
        <p:nvSpPr>
          <p:cNvPr id="7" name="TextBox 6"/>
          <p:cNvSpPr txBox="1"/>
          <p:nvPr/>
        </p:nvSpPr>
        <p:spPr>
          <a:xfrm>
            <a:off x="2651760" y="3575140"/>
            <a:ext cx="2029967" cy="419100"/>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Hera</a:t>
            </a:r>
          </a:p>
        </p:txBody>
      </p:sp>
      <p:sp>
        <p:nvSpPr>
          <p:cNvPr id="8" name="TextBox 7"/>
          <p:cNvSpPr txBox="1"/>
          <p:nvPr/>
        </p:nvSpPr>
        <p:spPr>
          <a:xfrm>
            <a:off x="4937759" y="1280160"/>
            <a:ext cx="365760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a:t>
            </a:r>
          </a:p>
        </p:txBody>
      </p:sp>
      <p:sp>
        <p:nvSpPr>
          <p:cNvPr id="9" name="quote-frame"/>
          <p:cNvSpPr/>
          <p:nvPr/>
        </p:nvSpPr>
        <p:spPr>
          <a:xfrm>
            <a:off x="4937759" y="1524000"/>
            <a:ext cx="3657600" cy="2057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39" bIns="889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こうして劇の筋書きが進むにつれ、子どもたちには、もっともらしい新たな人生が保証される。「演じるか、死ぬかだ」と彼は命じる。だが、劇を最後まで演じ切れなかったり、反抗したりすれば、嫉妬に燃えるヘラに殺されてしまう。</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質問：子どもたちが反抗したら、誰が彼らを殺すか。</a:t>
            </a:r>
          </a:p>
        </p:txBody>
      </p:sp>
      <p:sp>
        <p:nvSpPr>
          <p:cNvPr id="10" name="TextBox 9"/>
          <p:cNvSpPr txBox="1"/>
          <p:nvPr/>
        </p:nvSpPr>
        <p:spPr>
          <a:xfrm>
            <a:off x="4937759" y="3690964"/>
            <a:ext cx="3657600" cy="728472"/>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参照回答：嫉妬に燃えるヘラ。／ヘラ。</a:t>
            </a:r>
          </a:p>
        </p:txBody>
      </p:sp>
      <p:sp>
        <p:nvSpPr>
          <p:cNvPr id="11"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12 (2003 film)</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12" name="English-reference-label"/>
          <p:cNvSpPr txBox="1"/>
          <p:nvPr/>
        </p:nvSpPr>
        <p:spPr>
          <a:xfrm>
            <a:off x="548640" y="3350682"/>
            <a:ext cx="420624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実例10：セッションを打ち切る理由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591733"/>
            <a:ext cx="8046720" cy="1439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0777" bIns="127000">
            <a:noAutofit/>
          </a:bodyPr>
          <a:lstStyle/>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They begin their sessions, but soon it is clear that they are developing romantic feelings for each other. Cheryl's husband, who loves her deeply, fights to suppress his jealousy, at first withholding a love poem that Mark has sent by mail to Cheryl, which she eventually finds. After several attempts, Mark and Cheryl are able to have mutually satisfying sex, but decide to cut the sessions short on account of their burgeoning feelings.</a:t>
            </a:r>
          </a:p>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Question: Why do Mark and Cheryl stop their sessions?</a:t>
            </a:r>
          </a:p>
        </p:txBody>
      </p:sp>
      <p:sp>
        <p:nvSpPr>
          <p:cNvPr id="6" name="TextBox 5"/>
          <p:cNvSpPr txBox="1"/>
          <p:nvPr/>
        </p:nvSpPr>
        <p:spPr>
          <a:xfrm>
            <a:off x="594360" y="3256083"/>
            <a:ext cx="3886200" cy="113157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They are becoming emotionally attached to one another. </a:t>
            </a:r>
          </a:p>
        </p:txBody>
      </p:sp>
      <p:sp>
        <p:nvSpPr>
          <p:cNvPr id="7" name="TextBox 6"/>
          <p:cNvSpPr txBox="1"/>
          <p:nvPr/>
        </p:nvSpPr>
        <p:spPr>
          <a:xfrm>
            <a:off x="4681728" y="3256083"/>
            <a:ext cx="3886200" cy="113157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They are developing feelings for each other.</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The Sessions (film)</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9" name="English-reference-label"/>
          <p:cNvSpPr txBox="1"/>
          <p:nvPr/>
        </p:nvSpPr>
        <p:spPr>
          <a:xfrm>
            <a:off x="548640" y="3037416"/>
            <a:ext cx="804672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実例10：セッションを打ち切る理由（訳）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要約抜粋・質問・参照回答の日本語訳</a:t>
            </a:r>
          </a:p>
        </p:txBody>
      </p:sp>
      <p:sp>
        <p:nvSpPr>
          <p:cNvPr id="5" name="quote-frame"/>
          <p:cNvSpPr/>
          <p:nvPr/>
        </p:nvSpPr>
        <p:spPr>
          <a:xfrm>
            <a:off x="548640" y="1574800"/>
            <a:ext cx="8046720" cy="1684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4751"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2人はセッションを始めるが、やがて互いに恋愛感情を抱いていることが明らかになる。シェリルを深く愛する夫は嫉妬を抑えようとし、マークから彼女に郵送された恋の詩を初めは隠すが、彼女は結局それを見つける。何度か試みた後、マークとシェリルは互いに満足のいく性交をするが、気持ちが高まりつつあるため、セッションを予定より早く切り上げることにす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質問：マークとシェリルは、なぜセッションをやめるか。</a:t>
            </a:r>
          </a:p>
        </p:txBody>
      </p:sp>
      <p:sp>
        <p:nvSpPr>
          <p:cNvPr id="6" name="TextBox 5"/>
          <p:cNvSpPr txBox="1"/>
          <p:nvPr/>
        </p:nvSpPr>
        <p:spPr>
          <a:xfrm>
            <a:off x="594360" y="3356670"/>
            <a:ext cx="7955279" cy="710184"/>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参照回答：互いに情が移り始めているから。／互いに恋愛感情を抱くようになったから。</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The Sessions (film)</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実例11：抜擢された理由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0160"/>
            <a:ext cx="420624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532466"/>
            <a:ext cx="4206240" cy="2277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254" bIns="889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Tom Grunick (Hurt), a local news anchorman who until recently was a sports anchorman, is likeable and telegenic, but lacks news experience and knows that he was only hired for his good looks and charm. He is attracted to Jane, although he is also intimidated by her skills and intensity.</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Question: Who got promoted mainly because of their good looks?</a:t>
            </a:r>
          </a:p>
        </p:txBody>
      </p:sp>
      <p:sp>
        <p:nvSpPr>
          <p:cNvPr id="6" name="TextBox 5"/>
          <p:cNvSpPr txBox="1"/>
          <p:nvPr/>
        </p:nvSpPr>
        <p:spPr>
          <a:xfrm>
            <a:off x="548640" y="3981477"/>
            <a:ext cx="2029967" cy="419100"/>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Tom</a:t>
            </a:r>
          </a:p>
        </p:txBody>
      </p:sp>
      <p:sp>
        <p:nvSpPr>
          <p:cNvPr id="7" name="TextBox 6"/>
          <p:cNvSpPr txBox="1"/>
          <p:nvPr/>
        </p:nvSpPr>
        <p:spPr>
          <a:xfrm>
            <a:off x="2651760" y="3981477"/>
            <a:ext cx="2029967" cy="584200"/>
          </a:xfrm>
          <a:prstGeom prst="rect">
            <a:avLst/>
          </a:prstGeom>
          <a:noFill/>
        </p:spPr>
        <p:txBody>
          <a:bodyPr wrap="square" lIns="0" rIns="0" tIns="0" bIns="16510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Tom Grunick.</a:t>
            </a:r>
          </a:p>
        </p:txBody>
      </p:sp>
      <p:sp>
        <p:nvSpPr>
          <p:cNvPr id="8" name="TextBox 7"/>
          <p:cNvSpPr txBox="1"/>
          <p:nvPr/>
        </p:nvSpPr>
        <p:spPr>
          <a:xfrm>
            <a:off x="4937759" y="1280160"/>
            <a:ext cx="365760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a:t>
            </a:r>
          </a:p>
        </p:txBody>
      </p:sp>
      <p:sp>
        <p:nvSpPr>
          <p:cNvPr id="9" name="quote-frame"/>
          <p:cNvSpPr/>
          <p:nvPr/>
        </p:nvSpPr>
        <p:spPr>
          <a:xfrm>
            <a:off x="4937759" y="1524000"/>
            <a:ext cx="3657600" cy="2269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39" bIns="889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つい最近までスポーツ担当だった地方局のニュースキャスター、トム・グルニック（ハート）は、感じがよくテレビ映えするが、ニュースの経験は乏しい。容姿と魅力だけを買われて採用されたと自覚している。彼はジェーンに引かれる一方、その力量と熱意には気後れもしてい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質問：主に容姿のよさを理由に昇進したのは誰か。</a:t>
            </a:r>
          </a:p>
        </p:txBody>
      </p:sp>
      <p:sp>
        <p:nvSpPr>
          <p:cNvPr id="10" name="TextBox 9"/>
          <p:cNvSpPr txBox="1"/>
          <p:nvPr/>
        </p:nvSpPr>
        <p:spPr>
          <a:xfrm>
            <a:off x="4937759" y="3892022"/>
            <a:ext cx="3657600" cy="728472"/>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参照回答：トム。／トム・グルニック。</a:t>
            </a:r>
          </a:p>
        </p:txBody>
      </p:sp>
      <p:sp>
        <p:nvSpPr>
          <p:cNvPr id="11"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Broadcast News (film)</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12" name="English-reference-label"/>
          <p:cNvSpPr txBox="1"/>
          <p:nvPr/>
        </p:nvSpPr>
        <p:spPr>
          <a:xfrm>
            <a:off x="548640" y="3816349"/>
            <a:ext cx="420624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実例12：悪役が狙う祝祭</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600200"/>
            <a:ext cx="804672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7203"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Jews and African-Americans have enjoyed a tenuous peace with the White Christians over the previous few decades, because the current Santa (the son of the cruel Santa who stomped Mordechai's dreidel years earlier) has pursued a policy of inclusion and tolerance. This Santa is murdered and replaced by his son, Damian, who seeks to destroy Hanukkah and Kwanzaa thus reserving December for Christmas alone.</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Question: Which holidays did Damian want to destroy?</a:t>
            </a:r>
          </a:p>
        </p:txBody>
      </p:sp>
      <p:sp>
        <p:nvSpPr>
          <p:cNvPr id="6" name="TextBox 5"/>
          <p:cNvSpPr txBox="1"/>
          <p:nvPr/>
        </p:nvSpPr>
        <p:spPr>
          <a:xfrm>
            <a:off x="594360" y="3783440"/>
            <a:ext cx="3886200" cy="438149"/>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Kwanzaa and Hanukkah.</a:t>
            </a:r>
          </a:p>
        </p:txBody>
      </p:sp>
      <p:sp>
        <p:nvSpPr>
          <p:cNvPr id="7" name="TextBox 6"/>
          <p:cNvSpPr txBox="1"/>
          <p:nvPr/>
        </p:nvSpPr>
        <p:spPr>
          <a:xfrm>
            <a:off x="4681728" y="3783440"/>
            <a:ext cx="3886200" cy="438149"/>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Hanukkah and Kwanzaa</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The Hebrew Hammer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9" name="English-reference-label"/>
          <p:cNvSpPr txBox="1"/>
          <p:nvPr/>
        </p:nvSpPr>
        <p:spPr>
          <a:xfrm>
            <a:off x="548640" y="3562350"/>
            <a:ext cx="804672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実例12：悪役が狙う祝祭（訳）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要約抜粋・質問・参照回答の日本語訳</a:t>
            </a:r>
          </a:p>
        </p:txBody>
      </p:sp>
      <p:sp>
        <p:nvSpPr>
          <p:cNvPr id="5" name="quote-frame"/>
          <p:cNvSpPr/>
          <p:nvPr/>
        </p:nvSpPr>
        <p:spPr>
          <a:xfrm>
            <a:off x="548640" y="1557866"/>
            <a:ext cx="8046720" cy="2201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0529" bIns="12700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ここ数十年、ユダヤ系の人々とアフリカ系アメリカ人は、白人のキリスト教徒と、かろうじて平和を保ってきた。現在のサンタは、昔モルデカイのドレイドルを踏みつけた残酷なサンタの息子で、包摂と寛容を方針としているからだ。このサンタは殺され、息子ダミアンに取って代わられる。ダミアンはハヌカーとクワンザをなくし、12月をクリスマスだけの月にしようとする。</a:t>
            </a:r>
          </a:p>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質問：ダミアンはどの祝祭をなくそうとしたか。</a:t>
            </a:r>
          </a:p>
        </p:txBody>
      </p:sp>
      <p:sp>
        <p:nvSpPr>
          <p:cNvPr id="6" name="TextBox 5"/>
          <p:cNvSpPr txBox="1"/>
          <p:nvPr/>
        </p:nvSpPr>
        <p:spPr>
          <a:xfrm>
            <a:off x="594360" y="3867273"/>
            <a:ext cx="7955279" cy="400812"/>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参照回答：クワンザとハヌカー。／ハヌカーとクワンザ。</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The Hebrew Hammer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実例13：助けを断った理由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0160"/>
            <a:ext cx="393192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要約からの抜粋・質問は全文</a:t>
            </a:r>
          </a:p>
        </p:txBody>
      </p:sp>
      <p:sp>
        <p:nvSpPr>
          <p:cNvPr id="5" name="quote-frame"/>
          <p:cNvSpPr/>
          <p:nvPr/>
        </p:nvSpPr>
        <p:spPr>
          <a:xfrm>
            <a:off x="548640" y="1524000"/>
            <a:ext cx="3931920" cy="1439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609" bIns="889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Gordon asks Ben for help. After Ben refuses to help because of his trust in the police, Gordon gets caught by the police as well and is tortured.</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Question: Why does Ben not agree to help Gordon?</a:t>
            </a:r>
          </a:p>
        </p:txBody>
      </p:sp>
      <p:sp>
        <p:nvSpPr>
          <p:cNvPr id="6" name="TextBox 5"/>
          <p:cNvSpPr txBox="1"/>
          <p:nvPr/>
        </p:nvSpPr>
        <p:spPr>
          <a:xfrm>
            <a:off x="548640" y="3198426"/>
            <a:ext cx="3931920" cy="1037843"/>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 Ben trusts the police too much to help.</a:t>
            </a:r>
          </a:p>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 He trusts the police</a:t>
            </a:r>
          </a:p>
        </p:txBody>
      </p:sp>
      <p:sp>
        <p:nvSpPr>
          <p:cNvPr id="7" name="TextBox 6"/>
          <p:cNvSpPr txBox="1"/>
          <p:nvPr/>
        </p:nvSpPr>
        <p:spPr>
          <a:xfrm>
            <a:off x="4663440" y="1280160"/>
            <a:ext cx="3931920" cy="18288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a:t>
            </a:r>
          </a:p>
        </p:txBody>
      </p:sp>
      <p:sp>
        <p:nvSpPr>
          <p:cNvPr id="8" name="quote-frame"/>
          <p:cNvSpPr/>
          <p:nvPr/>
        </p:nvSpPr>
        <p:spPr>
          <a:xfrm>
            <a:off x="4663440" y="1532466"/>
            <a:ext cx="3931920" cy="1507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6213" bIns="889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ゴードンはベンに助けを求める。ベンは警察を信頼しているため、助けを断る。その後、ゴードンも警察に捕まり、拷問される。</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質問：ベンはなぜゴードンを助けることに同意しないか。</a:t>
            </a:r>
          </a:p>
        </p:txBody>
      </p:sp>
      <p:sp>
        <p:nvSpPr>
          <p:cNvPr id="9" name="TextBox 8"/>
          <p:cNvSpPr txBox="1"/>
          <p:nvPr/>
        </p:nvSpPr>
        <p:spPr>
          <a:xfrm>
            <a:off x="4663440" y="3133917"/>
            <a:ext cx="3931920" cy="1037843"/>
          </a:xfrm>
          <a:prstGeom prst="rect">
            <a:avLst/>
          </a:prstGeom>
          <a:noFill/>
        </p:spPr>
        <p:txBody>
          <a:bodyPr wrap="square" lIns="0" rIns="0" tIns="0" bIns="0">
            <a:noAutofit/>
          </a:bodyPr>
          <a:lstStyle/>
          <a:p>
            <a:pPr algn="l">
              <a:lnSpc>
                <a:spcPts val="2310"/>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参照回答：ベンが警察を信頼しすぎているから。／警察を信頼しているから。</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 A Dry White Season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sp>
        <p:nvSpPr>
          <p:cNvPr id="11" name="English-reference-label"/>
          <p:cNvSpPr txBox="1"/>
          <p:nvPr/>
        </p:nvSpPr>
        <p:spPr>
          <a:xfrm>
            <a:off x="548640" y="2969683"/>
            <a:ext cx="3931920" cy="165100"/>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参照回答</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質問と回答の長さ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質問と回答の長さ</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質問は平均約10語、回答は約5語</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質問と回答の長さ</a:t>
            </a:r>
          </a:p>
        </p:txBody>
      </p:sp>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回答は短くても、物語を理解して自分の言葉で答える必要がある。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DeepMind (n.d.). NarrativeQA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https://github.com/google-deepmind/narrativeqa</a:t>
            </a:r>
          </a:p>
        </p:txBody>
      </p:sp>
      <p:graphicFrame>
        <p:nvGraphicFramePr>
          <p:cNvPr id="7" name="Table 6"/>
          <p:cNvGraphicFramePr>
            <a:graphicFrameLocks noGrp="1"/>
          </p:cNvGraphicFramePr>
          <p:nvPr/>
        </p:nvGraphicFramePr>
        <p:xfrm>
          <a:off x="548640" y="1508760"/>
          <a:ext cx="8046720" cy="1485900"/>
        </p:xfrm>
        <a:graphic>
          <a:graphicData uri="http://schemas.openxmlformats.org/drawingml/2006/table">
            <a:tbl>
              <a:tblPr firstRow="1" bandRow="1">
                <a:tableStyleId>{5C22544A-7EE6-4342-B048-85BDC9FD1C3A}</a:tableStyleId>
              </a:tblPr>
              <a:tblGrid>
                <a:gridCol w="4953000"/>
                <a:gridCol w="3093720"/>
              </a:tblGrid>
              <a:tr h="495300">
                <a:tc>
                  <a:txBody>
                    <a:bodyPr/>
                    <a:lstStyle/>
                    <a:p>
                      <a:pPr algn="l">
                        <a:buNone/>
                        <a:defRPr sz="2100" b="0">
                          <a:solidFill>
                            <a:srgbClr val="303437"/>
                          </a:solidFill>
                          <a:latin typeface="Noto Sans"/>
                        </a:defRPr>
                      </a:pPr>
                      <a:r>
                        <a:t>対象</a:t>
                      </a:r>
                    </a:p>
                  </a:txBody>
                  <a:tcPr marT="50800" marB="50800" marL="50800" marR="50800">
                    <a:solidFill>
                      <a:srgbClr val="FFFEF8"/>
                    </a:solidFill>
                  </a:tcPr>
                </a:tc>
                <a:tc>
                  <a:txBody>
                    <a:bodyPr/>
                    <a:lstStyle/>
                    <a:p>
                      <a:pPr algn="l">
                        <a:buNone/>
                        <a:defRPr sz="2100" b="0">
                          <a:solidFill>
                            <a:srgbClr val="303437"/>
                          </a:solidFill>
                          <a:latin typeface="Noto Sans"/>
                        </a:defRPr>
                      </a:pPr>
                      <a:r>
                        <a:t>平均の長さ</a:t>
                      </a:r>
                    </a:p>
                  </a:txBody>
                  <a:tcPr marT="50800" marB="50800" marL="50800" marR="50800">
                    <a:solidFill>
                      <a:srgbClr val="FFFEF8"/>
                    </a:solidFill>
                  </a:tcPr>
                </a:tc>
              </a:tr>
              <a:tr h="495300">
                <a:tc>
                  <a:txBody>
                    <a:bodyPr/>
                    <a:lstStyle/>
                    <a:p>
                      <a:pPr algn="l">
                        <a:buNone/>
                        <a:defRPr sz="2100" b="0">
                          <a:solidFill>
                            <a:srgbClr val="303437"/>
                          </a:solidFill>
                          <a:latin typeface="Noto Sans"/>
                        </a:defRPr>
                      </a:pPr>
                      <a:r>
                        <a:t>質問</a:t>
                      </a:r>
                    </a:p>
                  </a:txBody>
                  <a:tcPr marT="50800" marB="50800" marL="50800" marR="50800">
                    <a:solidFill>
                      <a:srgbClr val="FFFEF8"/>
                    </a:solidFill>
                  </a:tcPr>
                </a:tc>
                <a:tc>
                  <a:txBody>
                    <a:bodyPr/>
                    <a:lstStyle/>
                    <a:p>
                      <a:pPr algn="l">
                        <a:buNone/>
                        <a:defRPr sz="2100" b="0">
                          <a:solidFill>
                            <a:srgbClr val="303437"/>
                          </a:solidFill>
                          <a:latin typeface="Noto Sans"/>
                        </a:defRPr>
                      </a:pPr>
                      <a:r>
                        <a:t>約10語</a:t>
                      </a:r>
                    </a:p>
                  </a:txBody>
                  <a:tcPr marT="50800" marB="50800" marL="50800" marR="50800">
                    <a:solidFill>
                      <a:srgbClr val="FFFEF8"/>
                    </a:solidFill>
                  </a:tcPr>
                </a:tc>
              </a:tr>
              <a:tr h="495300">
                <a:tc>
                  <a:txBody>
                    <a:bodyPr/>
                    <a:lstStyle/>
                    <a:p>
                      <a:pPr algn="l">
                        <a:buNone/>
                        <a:defRPr sz="2100" b="0">
                          <a:solidFill>
                            <a:srgbClr val="303437"/>
                          </a:solidFill>
                          <a:latin typeface="Noto Sans"/>
                        </a:defRPr>
                      </a:pPr>
                      <a:r>
                        <a:t>第1参照回答</a:t>
                      </a:r>
                    </a:p>
                  </a:txBody>
                  <a:tcPr marT="50800" marB="50800" marL="50800" marR="50800">
                    <a:solidFill>
                      <a:srgbClr val="FFFEF8"/>
                    </a:solidFill>
                  </a:tcPr>
                </a:tc>
                <a:tc>
                  <a:txBody>
                    <a:bodyPr/>
                    <a:lstStyle/>
                    <a:p>
                      <a:pPr algn="l">
                        <a:buNone/>
                        <a:defRPr sz="2100" b="0">
                          <a:solidFill>
                            <a:srgbClr val="303437"/>
                          </a:solidFill>
                          <a:latin typeface="Noto Sans"/>
                        </a:defRPr>
                      </a:pPr>
                      <a:r>
                        <a:t>約5語</a:t>
                      </a:r>
                    </a:p>
                  </a:txBody>
                  <a:tcPr marT="50800" marB="50800" marL="50800" marR="50800">
                    <a:solidFill>
                      <a:srgbClr val="FFFEF8"/>
                    </a:solidFill>
                  </a:tcPr>
                </a:tc>
              </a:tr>
            </a:tbl>
          </a:graphicData>
        </a:graphic>
      </p:graphicFrame>
      <p:cxnSp>
        <p:nvCxnSpPr>
          <p:cNvPr id="8" name="Connector 7"/>
          <p:cNvCxnSpPr/>
          <p:nvPr/>
        </p:nvCxnSpPr>
        <p:spPr>
          <a:xfrm>
            <a:off x="548640" y="1498600"/>
            <a:ext cx="8046720" cy="0"/>
          </a:xfrm>
          <a:prstGeom prst="line">
            <a:avLst/>
          </a:prstGeom>
          <a:ln w="8890">
            <a:solidFill>
              <a:srgbClr val="62666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48640" y="1993900"/>
            <a:ext cx="8046720" cy="0"/>
          </a:xfrm>
          <a:prstGeom prst="line">
            <a:avLst/>
          </a:prstGeom>
          <a:ln w="8890">
            <a:solidFill>
              <a:srgbClr val="62666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48640" y="2984500"/>
            <a:ext cx="8046720" cy="0"/>
          </a:xfrm>
          <a:prstGeom prst="line">
            <a:avLst/>
          </a:prstGeom>
          <a:ln w="8890">
            <a:solidFill>
              <a:srgbClr val="62666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DeepMindとOxfordによる読解課題</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Tomáš Kočiský、Edward Grefenstetteらによる、DeepMindとUniversity of Oxfordの共同研究。</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言語理解・質問応答の研究として、文章から回答範囲を抜き出すだけでない課題を提案した。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2017年にプレプリントを公開し、2018年にTACLで発表された。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Kočiský et al. (2018). The NarrativeQA Reading Comprehension Challenge. TACL.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https://aclanthology.org/Q18-1023/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The NarrativeQA Reading Comprehension Challenge"/>
          <p:cNvSpPr txBox="1"/>
          <p:nvPr/>
        </p:nvSpPr>
        <p:spPr>
          <a:xfrm>
            <a:off x="548640" y="1463040"/>
            <a:ext cx="8046720" cy="1417320"/>
          </a:xfrm>
          <a:prstGeom prst="rect">
            <a:avLst/>
          </a:prstGeom>
          <a:noFill/>
        </p:spPr>
        <p:txBody>
          <a:bodyPr wrap="square" lIns="0" rIns="0" tIns="0" bIns="0">
            <a:noAutofit/>
          </a:bodyPr>
          <a:lstStyle/>
          <a:p>
            <a:pPr algn="l">
              <a:lnSpc>
                <a:spcPct val="118000"/>
              </a:lnSpc>
              <a:spcBef>
                <a:spcPts val="0"/>
              </a:spcBef>
              <a:spcAft>
                <a:spcPts val="500"/>
              </a:spcAft>
              <a:buNone/>
              <a:defRPr sz="2000" b="1">
                <a:solidFill>
                  <a:srgbClr val="303437"/>
                </a:solidFill>
                <a:latin typeface="Noto Sans"/>
              </a:defRPr>
            </a:pPr>
            <a:r>
              <a:rPr sz="2000" b="1" lang="ja-JP" altLang="en-US">
                <a:solidFill>
                  <a:srgbClr val="303437"/>
                </a:solidFill>
                <a:latin typeface="Noto Sans"/>
                <a:ea typeface="Noto Sans CJK JP"/>
                <a:cs typeface="Noto Sans"/>
              </a:rPr>
              <a:t>The NarrativeQA Reading Comprehension Challenge</a:t>
            </a:r>
          </a:p>
          <a:p>
            <a:pPr>
              <a:lnSpc>
                <a:spcPct val="118000"/>
              </a:lnSpc>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Kočiský et al. · 2018 · TACL 6:317–328</a:t>
            </a:r>
          </a:p>
          <a:p>
            <a:pPr>
              <a:lnSpc>
                <a:spcPct val="118000"/>
              </a:lnSpc>
              <a:spcAft>
                <a:spcPts val="500"/>
              </a:spcAft>
              <a:buNone/>
              <a:defRPr sz="1700" b="0">
                <a:solidFill>
                  <a:srgbClr val="303437"/>
                </a:solidFill>
                <a:latin typeface="Noto Sans"/>
              </a:defRPr>
            </a:pPr>
            <a:r>
              <a:rPr sz="1700" b="0" lang="ja-JP" altLang="en-US">
                <a:solidFill>
                  <a:srgbClr val="303437"/>
                </a:solidFill>
                <a:latin typeface="Noto Sans"/>
                <a:ea typeface="Noto Sans CJK JP"/>
                <a:cs typeface="Noto Sans"/>
              </a:rPr>
              <a:t>作品と質問の作成、物語全文と要約を読む条件、構築時の評価を報告する。</a:t>
            </a:r>
          </a:p>
          <a:p>
            <a:pPr>
              <a:lnSpc>
                <a:spcPct val="118000"/>
              </a:lnSpc>
              <a:spcAft>
                <a:spcPts val="0"/>
              </a:spcAft>
              <a:buNone/>
              <a:defRPr sz="1200" b="0">
                <a:solidFill>
                  <a:srgbClr val="303437"/>
                </a:solidFill>
                <a:latin typeface="Noto Sans"/>
              </a:defRPr>
            </a:pPr>
            <a:r>
              <a:rPr sz="1200" b="0" lang="ja-JP" altLang="en-US">
                <a:solidFill>
                  <a:srgbClr val="2166AC"/>
                </a:solidFill>
                <a:latin typeface="Noto Sans"/>
                <a:ea typeface="Noto Sans CJK JP"/>
                <a:cs typeface="Noto Sans"/>
                <a:hlinkClick r:id="rId2"/>
              </a:rPr>
              <a:t>https://aclanthology.org/Q18-1023/</a:t>
            </a:r>
          </a:p>
        </p:txBody>
      </p:sp>
      <p:sp>
        <p:nvSpPr>
          <p:cNvPr id="5" name="文献: NarrativeQA dataset"/>
          <p:cNvSpPr txBox="1"/>
          <p:nvPr/>
        </p:nvSpPr>
        <p:spPr>
          <a:xfrm>
            <a:off x="548640" y="3127248"/>
            <a:ext cx="8046720" cy="1417320"/>
          </a:xfrm>
          <a:prstGeom prst="rect">
            <a:avLst/>
          </a:prstGeom>
          <a:noFill/>
        </p:spPr>
        <p:txBody>
          <a:bodyPr wrap="square" lIns="0" rIns="0" tIns="0" bIns="0">
            <a:noAutofit/>
          </a:bodyPr>
          <a:lstStyle/>
          <a:p>
            <a:pPr algn="l">
              <a:lnSpc>
                <a:spcPct val="118000"/>
              </a:lnSpc>
              <a:spcBef>
                <a:spcPts val="0"/>
              </a:spcBef>
              <a:spcAft>
                <a:spcPts val="500"/>
              </a:spcAft>
              <a:buNone/>
              <a:defRPr sz="2000" b="1">
                <a:solidFill>
                  <a:srgbClr val="303437"/>
                </a:solidFill>
                <a:latin typeface="Noto Sans"/>
              </a:defRPr>
            </a:pPr>
            <a:r>
              <a:rPr sz="2000" b="1" lang="ja-JP" altLang="en-US">
                <a:solidFill>
                  <a:srgbClr val="303437"/>
                </a:solidFill>
                <a:latin typeface="Noto Sans"/>
                <a:ea typeface="Noto Sans CJK JP"/>
                <a:cs typeface="Noto Sans"/>
              </a:rPr>
              <a:t>NarrativeQA dataset</a:t>
            </a:r>
          </a:p>
          <a:p>
            <a:pPr>
              <a:lnSpc>
                <a:spcPct val="118000"/>
              </a:lnSpc>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Google DeepMind (n.d.). 公式リポジトリ。参照2026-10-19。</a:t>
            </a:r>
          </a:p>
          <a:p>
            <a:pPr>
              <a:lnSpc>
                <a:spcPct val="118000"/>
              </a:lnSpc>
              <a:spcAft>
                <a:spcPts val="500"/>
              </a:spcAft>
              <a:buNone/>
              <a:defRPr sz="1700" b="0">
                <a:solidFill>
                  <a:srgbClr val="303437"/>
                </a:solidFill>
                <a:latin typeface="Noto Sans"/>
              </a:defRPr>
            </a:pPr>
            <a:r>
              <a:rPr sz="1700" b="0" lang="ja-JP" altLang="en-US">
                <a:solidFill>
                  <a:srgbClr val="303437"/>
                </a:solidFill>
                <a:latin typeface="Noto Sans"/>
                <a:ea typeface="Noto Sans CJK JP"/>
                <a:cs typeface="Noto Sans"/>
              </a:rPr>
              <a:t>作品の情報・要約・質問回答のCSVと、物語を取得するスクリプトを公開する。</a:t>
            </a:r>
          </a:p>
          <a:p>
            <a:pPr>
              <a:lnSpc>
                <a:spcPct val="118000"/>
              </a:lnSpc>
              <a:spcAft>
                <a:spcPts val="0"/>
              </a:spcAft>
              <a:buNone/>
              <a:defRPr sz="1200" b="0">
                <a:solidFill>
                  <a:srgbClr val="303437"/>
                </a:solidFill>
                <a:latin typeface="Noto Sans"/>
              </a:defRPr>
            </a:pPr>
            <a:r>
              <a:rPr sz="1200" b="0" lang="ja-JP" altLang="en-US">
                <a:solidFill>
                  <a:srgbClr val="2166AC"/>
                </a:solidFill>
                <a:latin typeface="Noto Sans"/>
                <a:ea typeface="Noto Sans CJK JP"/>
                <a:cs typeface="Noto Sans"/>
                <a:hlinkClick r:id="rId4"/>
              </a:rPr>
              <a:t>https://github.com/google-deepmind/narrativeqa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NarrativeQA — Wikipedia summaries: LICENSE"/>
          <p:cNvSpPr txBox="1"/>
          <p:nvPr/>
        </p:nvSpPr>
        <p:spPr>
          <a:xfrm>
            <a:off x="548640" y="1463040"/>
            <a:ext cx="8046720" cy="1417320"/>
          </a:xfrm>
          <a:prstGeom prst="rect">
            <a:avLst/>
          </a:prstGeom>
          <a:noFill/>
        </p:spPr>
        <p:txBody>
          <a:bodyPr wrap="square" lIns="0" rIns="0" tIns="0" bIns="0">
            <a:noAutofit/>
          </a:bodyPr>
          <a:lstStyle/>
          <a:p>
            <a:pPr algn="l">
              <a:lnSpc>
                <a:spcPct val="118000"/>
              </a:lnSpc>
              <a:spcBef>
                <a:spcPts val="0"/>
              </a:spcBef>
              <a:spcAft>
                <a:spcPts val="500"/>
              </a:spcAft>
              <a:buNone/>
              <a:defRPr sz="2000" b="1">
                <a:solidFill>
                  <a:srgbClr val="303437"/>
                </a:solidFill>
                <a:latin typeface="Noto Sans"/>
              </a:defRPr>
            </a:pPr>
            <a:r>
              <a:rPr sz="2000" b="1" lang="ja-JP" altLang="en-US">
                <a:solidFill>
                  <a:srgbClr val="303437"/>
                </a:solidFill>
                <a:latin typeface="Noto Sans"/>
                <a:ea typeface="Noto Sans CJK JP"/>
                <a:cs typeface="Noto Sans"/>
              </a:rPr>
              <a:t>NarrativeQA — Wikipedia summaries: LICENSE</a:t>
            </a:r>
          </a:p>
          <a:p>
            <a:pPr>
              <a:lnSpc>
                <a:spcPct val="118000"/>
              </a:lnSpc>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Google DeepMind (n.d.). 参照2026-10-19。</a:t>
            </a:r>
          </a:p>
          <a:p>
            <a:pPr>
              <a:lnSpc>
                <a:spcPct val="118000"/>
              </a:lnSpc>
              <a:spcAft>
                <a:spcPts val="500"/>
              </a:spcAft>
              <a:buNone/>
              <a:defRPr sz="1700" b="0">
                <a:solidFill>
                  <a:srgbClr val="303437"/>
                </a:solidFill>
                <a:latin typeface="Noto Sans"/>
              </a:defRPr>
            </a:pPr>
            <a:r>
              <a:rPr sz="1700" b="0" lang="ja-JP" altLang="en-US">
                <a:solidFill>
                  <a:srgbClr val="303437"/>
                </a:solidFill>
                <a:latin typeface="Noto Sans"/>
                <a:ea typeface="Noto Sans CJK JP"/>
                <a:cs typeface="Noto Sans"/>
              </a:rPr>
              <a:t>Wikipedia由来の要約にCC BY-SA 3.0を適用する。</a:t>
            </a:r>
          </a:p>
          <a:p>
            <a:pPr>
              <a:lnSpc>
                <a:spcPct val="118000"/>
              </a:lnSpc>
              <a:spcAft>
                <a:spcPts val="0"/>
              </a:spcAft>
              <a:buNone/>
              <a:defRPr sz="1200" b="0">
                <a:solidFill>
                  <a:srgbClr val="303437"/>
                </a:solidFill>
                <a:latin typeface="Noto Sans"/>
              </a:defRPr>
            </a:pPr>
            <a:r>
              <a:rPr sz="1200" b="0" lang="ja-JP" altLang="en-US">
                <a:solidFill>
                  <a:srgbClr val="2166AC"/>
                </a:solidFill>
                <a:latin typeface="Noto Sans"/>
                <a:ea typeface="Noto Sans CJK JP"/>
                <a:cs typeface="Noto Sans"/>
                <a:hlinkClick r:id="rId3"/>
              </a:rPr>
              <a:t>https://github.com/google-deepmind/narrativeqa/blob/master/third_party/wikipedia/LICENSE</a:t>
            </a:r>
          </a:p>
        </p:txBody>
      </p:sp>
      <p:sp>
        <p:nvSpPr>
          <p:cNvPr id="5" name="文献: NarrativeQA — Wikipedia summaries: ATTRIBUTION"/>
          <p:cNvSpPr txBox="1"/>
          <p:nvPr/>
        </p:nvSpPr>
        <p:spPr>
          <a:xfrm>
            <a:off x="548640" y="3127248"/>
            <a:ext cx="8046720" cy="1671320"/>
          </a:xfrm>
          <a:prstGeom prst="rect">
            <a:avLst/>
          </a:prstGeom>
          <a:noFill/>
        </p:spPr>
        <p:txBody>
          <a:bodyPr wrap="square" lIns="0" rIns="0" tIns="0" bIns="0">
            <a:noAutofit/>
          </a:bodyPr>
          <a:lstStyle/>
          <a:p>
            <a:pPr algn="l">
              <a:lnSpc>
                <a:spcPct val="118000"/>
              </a:lnSpc>
              <a:spcBef>
                <a:spcPts val="0"/>
              </a:spcBef>
              <a:spcAft>
                <a:spcPts val="500"/>
              </a:spcAft>
              <a:buNone/>
              <a:defRPr sz="2000" b="1">
                <a:solidFill>
                  <a:srgbClr val="303437"/>
                </a:solidFill>
                <a:latin typeface="Noto Sans"/>
              </a:defRPr>
            </a:pPr>
            <a:r>
              <a:rPr sz="2000" b="1" lang="ja-JP" altLang="en-US">
                <a:solidFill>
                  <a:srgbClr val="303437"/>
                </a:solidFill>
                <a:latin typeface="Noto Sans"/>
                <a:ea typeface="Noto Sans CJK JP"/>
                <a:cs typeface="Noto Sans"/>
              </a:rPr>
              <a:t>NarrativeQA — Wikipedia summaries: ATTRIBUTION</a:t>
            </a:r>
          </a:p>
          <a:p>
            <a:pPr>
              <a:lnSpc>
                <a:spcPct val="118000"/>
              </a:lnSpc>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Google DeepMind (n.d.). 参照2026-10-19。</a:t>
            </a:r>
          </a:p>
          <a:p>
            <a:pPr>
              <a:lnSpc>
                <a:spcPct val="118000"/>
              </a:lnSpc>
              <a:spcAft>
                <a:spcPts val="500"/>
              </a:spcAft>
              <a:buNone/>
              <a:defRPr sz="1700" b="0">
                <a:solidFill>
                  <a:srgbClr val="303437"/>
                </a:solidFill>
                <a:latin typeface="Noto Sans"/>
              </a:defRPr>
            </a:pPr>
            <a:r>
              <a:rPr sz="1700" b="0" lang="ja-JP" altLang="en-US">
                <a:solidFill>
                  <a:srgbClr val="303437"/>
                </a:solidFill>
                <a:latin typeface="Noto Sans"/>
                <a:ea typeface="Noto Sans CJK JP"/>
                <a:cs typeface="Noto Sans"/>
              </a:rPr>
              <a:t>Wikipedia要約の作成者への帰属と、documents.csvのwiki_url列にある記事リンクを案内する。</a:t>
            </a:r>
          </a:p>
          <a:p>
            <a:pPr>
              <a:lnSpc>
                <a:spcPct val="118000"/>
              </a:lnSpc>
              <a:spcAft>
                <a:spcPts val="0"/>
              </a:spcAft>
              <a:buNone/>
              <a:defRPr sz="1200" b="0">
                <a:solidFill>
                  <a:srgbClr val="303437"/>
                </a:solidFill>
                <a:latin typeface="Noto Sans"/>
              </a:defRPr>
            </a:pPr>
            <a:r>
              <a:rPr sz="1200" b="0" lang="ja-JP" altLang="en-US">
                <a:solidFill>
                  <a:srgbClr val="2166AC"/>
                </a:solidFill>
                <a:latin typeface="Noto Sans"/>
                <a:ea typeface="Noto Sans CJK JP"/>
                <a:cs typeface="Noto Sans"/>
                <a:hlinkClick r:id="rId4"/>
              </a:rPr>
              <a:t>https://github.com/google-deepmind/narrativeqa/blob/master/third_party/wikipedia/ATTRIBUTION</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2026-10-18T06:42:39Z</dcterms:modified>
  <dc:title>narrativeqa</dc:title>
  <dc:creator>sasakiy84</dc:creator>
  <dcterms:created xsi:type="dcterms:W3CDTF">2026-10-18T06:42:39Z</dcterms:created>
  <dc:language>ja-JP</dc:language>
</cp:coreProperties>
</file>