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anhaidgroup/deepmatcher/blob/master/Datasets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haidgroup/deepmatcher/blob/master/Datasets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matching_scenario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haidgroup/deepmatcher/blob/master/Datasets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matching_scenario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haidgroup/deepmatcher/blob/master/Datasets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oi.org/10.1145/3183713.3196926" TargetMode="External"/><Relationship Id="rId3" Type="http://schemas.openxmlformats.org/officeDocument/2006/relationships/hyperlink" Target="https://crfm.stanford.edu/helm/classic/v0.4.0/#/groups/entity_matching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haidgroup/deepmatcher/blob/master/Datasets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matching_scenario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haidgroup/deepmatcher/blob/master/Datasets.md" TargetMode="External"/><Relationship Id="rId3" Type="http://schemas.openxmlformats.org/officeDocument/2006/relationships/hyperlink" Target="https://github.com/stanford-crfm/helm/blob/v0.3.0/src/helm/benchmark/scenarios/entity_matching_scenario.py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entity_matching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matching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matching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matching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oi.org/10.1145/3183713.3196926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entity_matching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haidgroup/deepmatcher/blob/master/Datasets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nhaidgroup/deepmatcher/blob/master/Datasets.md" TargetMode="External"/><Relationship Id="rId3" Type="http://schemas.openxmlformats.org/officeDocument/2006/relationships/hyperlink" Target="https://github.com/anhaidgroup/deepmatcher/blob/master/LICENSE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oi.org/10.1145/3183713.3196926" TargetMode="External"/><Relationship Id="rId3" Type="http://schemas.openxmlformats.org/officeDocument/2006/relationships/hyperlink" Target="https://crfm.stanford.edu/helm/classic/v0.4.0/#/groups/entity_matching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nhaidgroup/deepmatcher/blob/master/Datasets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entity_matching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entity_matching_scenari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matching_scenario_fixed_random_state.py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entity_matching_scenario.py" TargetMode="External"/><Relationship Id="rId3" Type="http://schemas.openxmlformats.org/officeDocument/2006/relationships/hyperlink" Target="https://github.com/anhaidgroup/deepmatcher/blob/master/Datasets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oi.org/10.1145/3183713.3196926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oi.org/10.1145/3183713.3196926" TargetMode="External"/><Relationship Id="rId3" Type="http://schemas.openxmlformats.org/officeDocument/2006/relationships/hyperlink" Target="https://github.com/anhaidgroup/deepmatcher/blob/master/Datasets.md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entity_matching_scenario.py" TargetMode="External"/><Relationship Id="rId3" Type="http://schemas.openxmlformats.org/officeDocument/2006/relationships/hyperlink" Target="https://crfm.stanford.edu/helm/classic/v0.4.0/#/groups/entity_match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Entity Matching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レコードの同一実体判定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DeepMatcherのデータとHELM Classicでの評価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DeepMatcherが公開するデータ一覧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84" y="1371600"/>
            <a:ext cx="5513832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二つの記録が同じものを指すか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三種類のデータと候補ペア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正解率と実行条件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入手方法と評価の使い方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二つの記録が同じものを指すか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二つの記録が、同じ実体を指すか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二つのレコードが同じ実体を指すかを判定する。対象は商品、楽曲、飲食店、論文、企業など。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入力は二つのレコードの属性。出力は、同一ならYes、別ならNoという二値の回答である。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同じ実体でも、名称や属性の表記が異なる。省略、価格差、欠測、別の欄へ移った情報も手掛かりになる。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候補を探した後のペアを判定する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一般の名寄せでは、まず比較候補を絞るblockingを行い、その後で候補ペアを判定する。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このデータには、候補生成後の二レコードと、同一かどうかのラベルがある。HELMは与えられた各ペアに答える。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表全体の全組合せを探索する処理は、ここで採点する範囲には含まれない。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EntityMatchingScenario. HELM v0.3.0.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https://github.com/stanford-crfm/helm/blob/v0.3.0/src/helm/benchmark/scenarios/entity_matching_scenario.py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実例1：Amber Wavesの度数差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Beer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684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Beer_Name: Amber Waves Ale. Brew_Factory_Name: Capitol City Brewing. Style: American Amber / Red Ale. ABV: 5.40 %. Product B is Beer_Name: Capitol City Amber Waves Ale. Brew_Factory_Name: Capitol City Brewing Company. Style: Amber Ale. ABV: 5.60 %.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23876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Aの商品：ビール名はAmber Waves Ale。醸造所はCapitol City Brewing。スタイルはアメリカン・アンバー／レッドエール。アルコール度数は5.40%。 Bの商品：ビール名はCapitol City Amber Waves Ale。醸造所はCapitol City Brewing Company。スタイルはアンバーエール。アルコール度数は5.60%。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554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Beer test pair row 29（0始まり）、A=563 / B=1177。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一致する名前と、食い違う度数を読む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醸造所名にCompanyが加わり、度数にも差があるが、配布ラベルは同じビール。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Aの名称Amber Waves Aleに対し、Bは醸造所名を含むCapitol City Amber Waves Ale。スタイルの粒度も異なる。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正解は配布されたペアのラベルを使う。実例では、同じ商品をすべての属性の完全一致で定義していない。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実例2：同じSonyシリーズでも容量が違う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Abt_Buy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9049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name: sony 1gb memory stick pro duo mark 2 media card msmt1g. description: sony 1gb memory stick pro duo mark 2 media card msmt1g 160 mbps transfer speed 940mb actual capacity. price: 19.0. Product B is name: sony 8gb memory stick pro duo card msmt8g. description: 8 gb. price: 49.85.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21674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Aの商品：名称はSony 1GB Memory Stick PRO Duo Mark 2メディアカード、型番msmt1g。説明は、同じ名称と型番、転送速度160Mbps、実容量940MB。価格は19.0。 Bの商品：名称はSony 8GB Memory Stick PRO Duoカード、型番msmt8g。説明は8GB。価格は49.85。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3530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Abt_Buy test pair row 1849（0始まり）、A=658 / B=669。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型番と容量が、似た商品を分ける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ブランドやシリーズの一致だけでは足りない。1GBと8GB、型番の末尾も異なる。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このデータでは、製品の説明が長い文章として残る。名称と説明の両方を読み、同じシリーズ内の別製品を区別する。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priceやdescriptionの空欄は、HELMの文字列ではnanとして現れる。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EntityMatchingScenario. HELM v0.3.0.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https://github.com/stanford-crfm/helm/blob/v0.3.0/src/helm/benchmark/scenarios/entity_matching_scenario.py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実例3：別の欄へ移動した曲の情報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Dirty_iTunes_Amazon / test / 二レコードと質問の全文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396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4534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Song_Name: Illusion ( feat . Echosmith ) Zedd True Colors Dance , Music , Electronic $ 1.29 2015 Interscope Records 6:30. Artist_Name: nan. Album_Name: nan. Genre: nan. Price: nan. CopyRight: nan. Time: nan. Released: 18-May-15. Product B is Song_Name: Illusion [ feat . Echosmith ] True Colors $ 1.29 ( C ) 2015 Interscope Records 6:25. Artist_Name: Zedd. Album_Name: nan. Genre: Dance &amp; Electronic. Price: nan. CopyRight: nan. Time: nan. Released: May 18 , 2015. Are A and B the same?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4503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43（0始まり）、A=1413 / B=51590。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実例3：別の欄へ移動した曲の情報（訳）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日本語訳：同じ二レコードと質問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3875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9934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Aの商品：曲名欄は「Illusion（Echosmith参加） Zedd True Colors ダンス、音楽、エレクトロニック $1.29 2015 Interscope Records 6:30」。アーティスト、アルバム、ジャンル、価格、著作権、時間の各欄はnan。発売日は18-May-15。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Bの商品：曲名欄は「Illusion［Echosmith参加］ True Colors $1.29 (C) 2015 Interscope Records 6:25」。アーティストはZedd。アルバムはnan。ジャンルはダンス＆エレクトロニック。価格、著作権、時間の各欄はnan。発売日はMay 18, 2015。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AとBは同じか。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3656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43（0始まり）、A=1413 / B=51590。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Dirtyは、属性値を別の欄へ移したデータ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曲名以外の各属性値を、同じレコードの曲名欄へ50%の確率で移す。移動した元の欄は空欄になる。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曲名欄にアーティスト、アルバム、ジャンル、価格、時間が混在する。列名だけで比較する方法には難しい配置になる。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時間は6:30と6:25。欠測欄があっても、移動先の曲名欄に情報が残っている。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二つの記録が同じものを指すか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三種類のデータと候補ペア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三種類のデータと候補ペア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研究23課題、公開13設定、HELM実行3対象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2018年の研究は、構造化11、文章6、Dirty 6の計23課題で、教師ありの照合手法を比較した。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DeepMatcherの公開一覧とHELMの実装は13設定。公開一覧は構造化7、文章2、Dirty 4である。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固定Classic版の201実行はBeer、Abt-Buy、Dirty iTunes-Amazonの3対象。各対象に67モデル設定がある。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三種類のデータと候補ペア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et al. (2018). Deep Learning for Entity Matching: A Design Space Exploration. SIGMOD.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https://doi.org/10.1145/3183713.3196926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候補ペアに、人手や既存正解を付ける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Beerは2015年秋のUW–Madison授業で、BeerAdvocateとRateBeerを収集し、表へ抽出、候補生成、候補の無作為標本への同一／別の注釈を行った。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iTunes-Amazonも同じ手順。Abt-Buyなどは、既存の正解対応を使い、候補集合内の一致を正例、それ以外を負例にした。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ペアをtrain、validation、testへ3:1:1で分割する。作業者数や一致率は、ここで用いた公開説明に記載がない。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三種類のデータと候補ペア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配布のペア数と、正例の数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三種類のデータと候補ペア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7927848" cy="1682496"/>
        </p:xfrm>
        <a:graphic>
          <a:graphicData uri="http://schemas.openxmlformats.org/drawingml/2006/table">
            <a:tbl>
              <a:tblPr firstRow="0" bandRow="0"/>
              <a:tblGrid>
                <a:gridCol w="2880360"/>
                <a:gridCol w="1737360"/>
                <a:gridCol w="1737360"/>
                <a:gridCol w="1572768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268 / 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 / 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 / 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Abt_Buy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5,743 / 616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1,916 / 206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1,916 / 206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Dirty_iTunes_Amazon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321 / 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109 / 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109 / 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各セルは全ペア数 / 正例数。元の配布CSVを全件集計。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学習プールだけ、正負を同数へそろえる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学習ペアの正例と負例を同数にする。HELMは負例を正例数まで間引き、正例も同数抽出する。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元のtrainから、Beerは80、Abt-Buyは1,232、Dirty iTunes-Amazonは156ペアになる。この中から提示例を選ぶ。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validとtestの正負比は変更しない。同じ片側レコードが分割間で再登場するため、未知の実体だけで評価する分割ではない。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三種類のデータと候補ペア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EntityMatchingScenario. HELM v0.3.0.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https://github.com/stanford-crfm/helm/blob/v0.3.0/src/helm/benchmark/scenarios/entity_matching_scenario.py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二つの表と、ラベル付き候補は別の件数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三種類のデータと候補ペア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54480"/>
                <a:gridCol w="1554480"/>
                <a:gridCol w="14630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表Aの行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表Bの行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属性数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4,345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Abt_Buy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Dirty_iTunes_Amazon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6,907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55,923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表A/Bは配布tableA.csvとtableB.csvの実測行数。候補ペア数は分割表に示す。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空欄と、別の欄へ移った値を区別する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Abt-Buyの表Bは1,092行。そのうちdescriptionは441行、priceは502行が空欄。表Aのpriceも1,081行中663行が空欄である。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Dirty iTunes-Amazonの表Bは55,923行。Artist_Nameの27,950行が空欄だが、値がSong_Nameへ移動している場合がある。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pandasで読み込んだ空欄はnanになる。Beerの度数欄の「-」は文字列として保持され、空欄とは扱いが異なる。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三種類のデータと候補ペア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EntityMatchingScenario. HELM v0.3.0.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https://github.com/stanford-crfm/helm/blob/v0.3.0/src/helm/benchmark/scenarios/entity_matching_scenario.py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正解率と実行条件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正解率と実行条件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正解率：YesかNoが参照と一致するか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HELMは、生成した回答と配布ラベルの文字列を比較する。ここでは大文字小文字、句読点、空白を正規化するquasi exact matchを示す。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9実行の全保存出力を再採点したところ、Yes/No以外の回答はなく、exact matchとprefix系の値も一致した。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test内のペアごとの0/1を平均し、OPTとdavinciは3試行を等重み平均する。Llama 2は1試行である。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正解率と実行条件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公開HELM実行のtest正解率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正解率と実行条件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709928"/>
                <a:gridCol w="1709928"/>
                <a:gridCol w="1700784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Abt-Buy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Dirty音楽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34.07%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35.84%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42.20%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90.48%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92.02%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96.64%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 2 70B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92.31%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71.20%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55.96%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OPT / davinciは3試行、Llama 2は1試行。各試行のtestは91 / 493 / 109ペア。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常にNoと答えた場合との比較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正解率と実行条件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560320"/>
                <a:gridCol w="20116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test正例 / 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常にNo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 / 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84.62%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Abt_Buy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 / 493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87.42%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Dirty_iTunes_Amazon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 / 109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75.23%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正例が少ない集合では、常にNoと答えても正解率が高くなる。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OPTは提示例の試行ごとに挙動が変わる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正解率と実行条件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709928"/>
                <a:gridCol w="1709928"/>
                <a:gridCol w="1700784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70.33%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15.38%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16.48%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Abt_Buy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81.95%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12.58%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12.98%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Dirty_iTunes_Amazon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77.06%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24.77%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24.77%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試行1は3対象とも全ペアへYesと回答。温度は0だが、提示する学習例が試行間で異なる。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2018年の教師あり評価は、正例のF1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正解率と実行条件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Hybrid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Magellan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Abt-Buy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Dirty iTunes-Amazon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ペアを3:1:1に分割して学習・調整・test。正例の適合率と再現率の調和平均（%）。HELMの正解率とは指標・学習条件が異なる。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et al. (2018). Deep Learning for Entity Matching: A Design Space Exploration. SIGMOD.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https://doi.org/10.1145/3183713.3196926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公開保存実行で確認した条件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9実行すべてで、実際の提示例は5件、温度0、出力上限5トークン、生成1件、改行で停止する設定だった。入力の切り詰めは0件。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validとtestを合わせて最大1,000ペアを評価する。BeerとDirty音楽は全valid/test、Abt-Buyはvalid 507とtest 493ペアを評価した。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Abt-Buyの配布testは1,916ペア。成績表の493ペアはその部分集合で、3モデル間では入力と正解が一致した。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正解率と実行条件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入手方法と評価の使い方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入手方法と評価の使い方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配布一覧から、実装のファイル名を照合する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公開一覧は元表、候補ペア、正解を含むzipへのリンクを持つ。3対象のzipを取得し、CSVと公開run入力を全件照合した。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HELMの13設定のうち、FodorsとDBLP-Scholar系の3設定は、実装が作るzip名と配布先のzip名が異なった。取得時には公式一覧のリンクを使う。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公開固定版は2023年の評価。今回確認した配布repoの最終commitは2021-06-13で、最新モデルの順位として扱わない。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入手方法と評価の使い方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コードのライセンスと元データの条件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DeepMatcherのコードはBSD 3-Clause、HELMのコードはApache 2.0で公開されている。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データはBeerAdvocate、RateBeer、商品サイト、楽曲販売サイトなどに由来する。公開Datasets.mdと取得zipには、全データ共通の独立したライセンス文を確認できなかった。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この資料は出所・IDを添えた短いレコード引用を使う。再配布や業務利用には、元データと取得時点の利用条件を確認する。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入手方法と評価の使い方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Mudgal &amp; Li (2018). DeepMatcher LICENSE（BSD 3-Clause、コード）。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https://github.com/anhaidgroup/deepmatcher/blob/master/LICENSE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表記差を読み、同じ実体かを答える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Entity Matchingは、候補ペアの二レコードを同一実体へ対応付ける課題。DeepMatcherは構造化、文章、属性移動という違いを比較するデータを公開した。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HELMは属性を文章化し、5件の提示例からYes/Noを生成させる。負例比、評価するペア、試行ごとの提示例をそろえて成績を読む。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型番や容量が違う負例、表記や一部属性が食い違う正例を含め、文字列の重なりだけでは決まらない照合を評価できる。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入手方法と評価の使い方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et al. (2018). Deep Learning for Entity Matching: A Design Space Exploration. SIGMOD.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https://doi.org/10.1145/3183713.3196926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対象と再現条件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実例4：Easyを共有する別のビール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Beer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684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Beer_Name: Easy Amber Ale. Brew_Factory_Name: Scottsdale Beer Company. Style: American Amber / Red Ale. ABV: 5.70 %. Product B is Beer_Name: Upland Easy Chair Amber Ale. Brew_Factory_Name: Upland Brewing Company. Style: Amber Ale. ABV: 5.60 %.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23876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Aの商品：ビール名はEasy Amber Ale。醸造所はScottsdale Beer Company。スタイルはアメリカン・アンバー／レッドエール。度数は5.70%。 Bの商品：ビール名はUpland Easy Chair Amber Ale。醸造所はUpland Brewing Company。スタイルはアンバーエール。度数は5.60%。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554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Beer test pair row 57（0始まり）、A=2494 / B=2565。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実例5：度数が欠けても同じ銘柄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Beer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684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Beer_Name: Centurion Barleywine Ale. Brew_Factory_Name: Golden City Brewery. Style: American Barleywine. ABV: -. Product B is Beer_Name: Golden City Centurion Barleywine Ale. Brew_Factory_Name: Golden City Brewery. Style: Barley Wine. ABV: 11.20 %.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2379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Aの商品：ビール名はCenturion Barleywine Ale。醸造所はGolden City Brewery。スタイルはアメリカン・バーレーワイン。度数は「-」。 Bの商品：ビール名はGolden City Centurion Barleywine Ale。醸造所はGolden City Brewery。スタイルはバーレーワイン。度数は11.20%。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46973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Beer test pair row 88（0始まり）、A=4161 / B=2409。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実例6：OrganicとNon-Organicの違い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Beer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684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Beer_Name: Green Lakes Organic Ale. Brew_Factory_Name: Deschutes Brewery. Style: American Amber / Red Ale. ABV: 5.20 %. Product B is Beer_Name: Deschutes Green Lakes Non-Organic Ale. Brew_Factory_Name: Deschutes Brewery. Style: Amber Ale. ABV: 6.40 %.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2379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Aの商品：ビール名はGreen Lakes Organic Ale。醸造所はDeschutes Brewery。スタイルはアメリカン・アンバー／レッドエール。度数は5.20%。 Bの商品：ビール名はDeschutes Green Lakes Non-Organic Ale。醸造所はDeschutes Brewery。スタイルはアンバーエール。度数は6.40%。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46973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Beer test pair row 53（0始まり）、A=76 / B=2831。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実例7：型番が一致する充電器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Abt_Buy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684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name: canon battery charger 1133b001. description: canon battery charger 1133b001 compatible with canon nb-5l lithium battery black finish. price: nan. Product B is name: canon cb-2lx battery charger 1133b001. description: nan. price: nan.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1938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Aの商品：名称はCanonバッテリー充電器1133b001。説明は、Canonバッテリー充電器1133b001、Canon NB-5Lリチウム電池に対応、黒仕上げ。価格はnan。 Bの商品：名称はCanon CB-2LXバッテリー充電器1133b001。説明と価格はnan。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670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Abt_Buy test pair row 750（0始まり）、A=797 / B=259。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実例8：対応プリンターが同じインク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Abt_Buy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9049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name: canon photo ink cartridge cl52. description: canon photo ink cartridge cl52 compatible with pixma ip6210d and ip6220d printers. price: 25.0. Product B is name: canon ink cartridge for pixma ip1600 , ip6210d and ip6220d printers 0617b002. description: color. price: 19.11.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21674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Aの商品：名称はCanon写真用インクカートリッジCL52。説明は、同製品がPIXMA iP6210DとiP6220Dに対応すること。価格は25.0。 Bの商品：名称はCanon PIXMA iP1600、iP6210D、iP6220Dプリンター用インクカートリッジ0617b002。説明はカラー。価格は19.11。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3530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Abt_Buy test pair row 1785（0始まり）、A=110 / B=84。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実例9：価格が少し異なる電気ケトル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Abt_Buy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947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name: cuisinart cordless electric kettle kua17. description: cuisinart cordless electric kettle kua17 1-3/4 quart capacity automatic shut-off indicator light splash guard spout cord storage in base chrome finish. price: 70.0. Product B is name: cuisinart cordless automatic electric kettle. description: nan. price: 69.95.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21674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Aの商品：名称はCuisinartコードレス電気ケトルKUA17。説明は同名称と型番、容量1と3/4クォート、自動電源オフ、表示灯、飛び散り防止の注ぎ口、台座にコード収納、クローム仕上げ。価格は70.0。 Bの商品：名称はCuisinartコードレス自動電気ケトル。説明はnan。価格は69.95。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3530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Abt_Buy test pair row 1249（0始まり）、A=18 / B=211。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実例10：セットと単体の違い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Abt_Buy / test / 二レコードと質問の全文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17904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517904"/>
            <a:ext cx="33832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87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691640"/>
            <a:ext cx="4480560" cy="19049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1806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name: garmin suction cup mount and 12-volt adapter kit 0101097900. description: garmin suction cup mount and 12-volt adapter kit 0101097900 suction cup mount and 12-volt adapter included. price: 30.0. Product B is name: garmin suction cup mount 010-10823-00. description: nan. price: 24.84. Are A and B the same?</a:t>
            </a:r>
          </a:p>
        </p:txBody>
      </p:sp>
      <p:sp>
        <p:nvSpPr>
          <p:cNvPr id="8" name="quote-frame"/>
          <p:cNvSpPr/>
          <p:nvPr/>
        </p:nvSpPr>
        <p:spPr>
          <a:xfrm>
            <a:off x="5212080" y="1691640"/>
            <a:ext cx="3383280" cy="1938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78739" bIns="101600">
            <a:no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Aの商品：名称はGarmin吸盤マウントと12Vアダプターのキット0101097900。説明は同名称と型番、吸盤マウントと12Vアダプターを含むこと。価格は30.0。 Bの商品：名称はGarmin吸盤マウント010-10823-00。説明はnan。価格は24.84。 AとBは同じか。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670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Abt_Buy test pair row 516（0始まり）、A=421 / B=275。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実例11：同じ曲名のカラオケ版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Dirty_iTunes_Amazon / test / 二レコードと質問の全文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336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4534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Song_Name: Bad Blood ( Karaoke Version ) Taylor Swift Pop , Music $ 1.29 3:29. Artist_Name: nan. Album_Name: Taylor Swift Karaoke : 1989. Genre: nan. Price: nan. CopyRight: ‰ ãÑ 2014 Big Machine Records , LLC. Time: nan. Released: 3-Mar-15. Product B is Song_Name: Bad Blood Taylor Swift Pop 3:31 October 27 , 2014. Artist_Name: nan. Album_Name: 1989. Genre: nan. Price: $ 1.29. CopyRight: ( C ) 2014 Big Machine Records , LLC .. Time: nan. Released: nan. Are A and B the same?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98576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95（0始まり）、A=6621 / B=784。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実例11：同じ曲名のカラオケ版（訳）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日本語訳：同じ二レコードと質問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463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8401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Aの商品：曲名欄は「Bad Blood（カラオケ版） Taylor Swift ポップ、音楽 $1.29 3:29」。アーティストはnan。アルバムはTaylor Swift Karaoke: 1989。ジャンルと価格はnan。著作権欄は「‰ ãÑ 2014 Big Machine Records, LLC」。時間はnan。発売日は3-Mar-15。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Bの商品：曲名欄は「Bad Blood Taylor Swift ポップ 3:31 October 27, 2014」。アーティストはnan。アルバムは1989。ジャンルはnan。価格は$1.29。著作権欄は「(C) 2014 Big Machine Records, LLC」。時間と発売日はnan。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AとBは同じか。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1276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95（0始まり）、A=6621 / B=784。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実例12：同じアルバムの異なる曲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Dirty_iTunes_Amazon / test / 二レコードと質問の全文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336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4534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Song_Name: Illusion ( feat . Echosmith ) True Colors 2015 Interscope Records 6:30. Artist_Name: Zedd. Album_Name: nan. Genre: Dance , Music , Electronic. Price: $ 1.29. CopyRight: nan. Time: nan. Released: 18-May-15. Product B is Song_Name: Papercut [ feat . Troye Sivan ] Zedd Dance &amp; Electronic 7:23. Artist_Name: nan. Album_Name: True Colors. Genre: nan. Price: $ 1.29. CopyRight: ( C ) 2015 Interscope Records. Time: nan. Released: May 18 , 2015. Are A and B the same?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98576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32（0始まり）、A=1410 / B=51576。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実例12：同じアルバムの異なる曲（訳）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日本語訳：同じ二レコードと質問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328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9934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Aの商品：曲名欄は「Illusion（Echosmith参加） True Colors 2015 Interscope Records 6:30」。アーティストはZedd。アルバムはnan。ジャンルはダンス、音楽、エレクトロニック。価格は$1.29。著作権と時間はnan。発売日は18-May-15。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Bの商品：曲名欄は「Papercut［Troye Sivan参加］ Zedd ダンス＆エレクトロニック 7:23」。アーティストはnan。アルバムはTrue Colors。ジャンルはnan。価格は$1.29。著作権は(C) 2015 Interscope Records。時間はnan。発売日はMay 18, 2015。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AとBは同じか。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977301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 — 別の実体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32（0始まり）、A=1410 / B=51576。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実例13：年の表記が異なるBillyの正例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Dirty_iTunes_Amazon / test / 二レコードと質問の全文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336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4534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Product A is Song_Name: Billy Keith Urban In the Ranch Country , Music , Honky Tonk , Contemporary Country 3:46. Artist_Name: nan. Album_Name: nan. Genre: nan. Price: $ 1.29. CopyRight: 1997 Capitol Nashville. Time: nan. Released: 1997. Product B is Song_Name: Billy Country ( c ) 1997 Capitol Nashville February 10 , 2004. Artist_Name: Keith Urban. Album_Name: Keith Urban In The Ranch. Genre: nan. Price: $ 1.29. CopyRight: nan. Time: 3:46. Released: nan. Are A and B the same?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98576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76（0始まり）、A=4547 / B=26140。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実例13：年の表記が異なるBillyの正例（訳）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日本語訳：同じ二レコードと質問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572768"/>
            <a:ext cx="8046720" cy="2463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8401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Aの商品：曲名欄は「Billy Keith Urban In the Ranch カントリー、音楽、ホンキートンク、現代カントリー 3:46」。アーティスト、アルバム、ジャンルはnan。価格は$1.29。著作権は1997 Capitol Nashville。時間はnan。発売年は1997。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Bの商品：曲名欄は「Billy カントリー (c) 1997 Capitol Nashville February 10, 2004」。アーティストはKeith Urban。アルバムはKeith Urban In The Ranch。ジャンルはnan。価格は$1.29。著作権はnan。時間は3:46。発売日はnan。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AとBは同じか。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1276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正解：Yes — 同じ実体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 Dirty_iTunes_Amazon test pair row 76（0始まり）、A=4547 / B=26140。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対象と再現条件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構造化の7データ設定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4225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1554480"/>
                <a:gridCol w="1554480"/>
                <a:gridCol w="109728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属性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BeerAdvo-RateBeer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iTunes-Amazon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Fodors-Zagats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DBLP-ACM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12,363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2,220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DBLP-Scholar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28,707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Amazon-Google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11,460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Walmart-Amazon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10,242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379976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公開一覧の値。DBLP-ScholarはHELMではDBLP_GoogleScholar。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文章2設定とDirty 4設定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8833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1554480"/>
                <a:gridCol w="1554480"/>
                <a:gridCol w="1097280"/>
              </a:tblGrid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属性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Abt-Buy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Company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112,632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28,200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iTunes-Amazon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DBLP-ACM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12,363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2,220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DBLP-Scholar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28,707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Walmart-Amazon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10,242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34340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上2行が文章、下4行がDirty。公開一覧の値。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同じレコードは、別の分割にも現れる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08760"/>
                <a:gridCol w="1554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 / test共有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表AのID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表BのID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Abt_Buy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Dirty_iTunes_Amazon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元CSVをIDで照合。ペアの重複は0だが、片側レコードは共有する。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Beer：Llama 2の91ペアを数える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回答Yes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回答No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同じ（Yes）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別（No）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正解84 / 91 = 92.31%。正例の再現率は11 / 14。正解率だけではこの内訳は表れない。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v0.4.0（2023-11-17）。公開保存runの入力・出力・statsを再照合。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属性を列順に文章へ変換する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4224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3979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 = ". ".join(f"{col}: {row[col]}" for col in columns)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id列を除外し、列順を保つ。空欄はnan。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text = f"Product A is {A}. Product B is {B}."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text += " Are A and B the same?"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answer = "Yes" if label else "No"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29000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説明用に変数名を短縮。検証では公式serialize_rowを変更せず実行し、9,800件の公開入力と正解を配布CSVへ照合した。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EntityMatchingScenario. HELM v0.3.0.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https://github.com/stanford-crfm/helm/blob/v0.3.0/src/helm/benchmark/scenarios/entity_matching_scenario.py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保存された状態で、同じ評価ペアを追跡する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HELMの初期実行はNumPy乱数状態を0へ初期化していなかった。その後の実装は、データごとの保存乱数状態を読み込み、同じ抽出を再現する。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保存状態のCodaLab URLは今回503を返した。乱数seed 0で同じペアを得たとは主張せず、公開scenario_stateに保存されたペア・提示例・出力を根拠とした。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13実例は配布test CSVの原行、二つの表の原行、SHA256、公開runのinstance IDと対応する。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Entity matching fixed random state. HELM v0.3.0.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https://github.com/stanford-crfm/helm/blob/v0.3.0/src/helm/benchmark/scenarios/entity_matching_scenario_fixed_random_state.py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13設定の実装名と、配布zip名の相違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Fodors_Zagatsの実装はfodors_zagats_exp_data.zipを要求するが、公式一覧はfodors_zagat_exp_data.zip。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DBLP_GoogleScholarの実装はdblp_googlescholar_exp_data.zipを要求するが、公式一覧はdblp_scholar_exp_data.zip。Dirty版も同じscholar名である。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2026-10-18にHTTPSで13生成URLを確認し、この3件は404、他10件は200だった。CompanyはHEADのみで、全量を取得していない。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対象と再現条件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EntityMatchingScenario. HELM v0.3.0.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https://github.com/stanford-crfm/helm/blob/v0.3.0/src/helm/benchmark/scenarios/entity_matching_scenario.py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Mudgal &amp; Li et al. DeepMatcher: Datasets for DeepMatcher paper. 固定commit a89ffe6、2026-10-18参照。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深層学習の得意な照合条件を比較した研究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Sidharth MudgalとHan Liらは、Wisconsin–Madison、Johnson Controls、WalmartLabs、Facebookの研究者と2018年SIGMODで発表した。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SIF、RNN、Attention、Hybridと、特徴量を設計するMagellanを23課題で比較。構造化データでは優位が限られ、文章やDirtyで改善を報告した。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HELMは同じ公開候補ペアを言語モデルの生成課題へ変換する。2018年の教師ありF1と、2023年の少数例提示の正解率は異なる設定である。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Mudgal et al. (2018). Deep Learning for Entity Matching: A Design Space Exploration. SIGMOD.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https://doi.org/10.1145/3183713.3196926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Deep Learning for Entity Matching: A Design Space Exploration"/>
          <p:cNvSpPr txBox="1"/>
          <p:nvPr/>
        </p:nvSpPr>
        <p:spPr>
          <a:xfrm>
            <a:off x="548640" y="1463040"/>
            <a:ext cx="8046720" cy="1275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Deep Learning for Entity Matching: A Design Space Exploration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Sidharth Mudgal, Han Li, Theodoros Rekatsinas, AnHai Doan, Youngchoon Park, Ganesh Krishnan, Rohit Deep, Esteban Arcaute &amp; Vijay Raghavendra. 2018. SIGMOD.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23課題を用い、データの構造と属性の乱れによる照合手法の違いを分析する。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https://doi.org/10.1145/3183713.3196926</a:t>
            </a:r>
          </a:p>
        </p:txBody>
      </p:sp>
      <p:sp>
        <p:nvSpPr>
          <p:cNvPr id="5" name="文献 2: Datasets for DeepMatcher paper"/>
          <p:cNvSpPr txBox="1"/>
          <p:nvPr/>
        </p:nvSpPr>
        <p:spPr>
          <a:xfrm>
            <a:off x="548640" y="3020695"/>
            <a:ext cx="8046720" cy="1094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Datasets for DeepMatcher paper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DeepMatcher authors. GitHub. 固定commit a89ffe6（2021-06-13）。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公開13設定の規模、候補生成、ラベル付け、Dirty変換と配布先を記載する。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https://github.com/anhaidgroup/deepmatcher/blob/master/Datasets.md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EntityMatchingScenario and fixed random state"/>
          <p:cNvSpPr txBox="1"/>
          <p:nvPr/>
        </p:nvSpPr>
        <p:spPr>
          <a:xfrm>
            <a:off x="548640" y="1463040"/>
            <a:ext cx="8046720" cy="134035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EntityMatchingScenario and fixed random state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CRFM. HELM v0.3.0.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13設定の登録、正負の学習抽出、属性の文章化、Yes/No参照、乱数状態を定義する。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https://github.com/stanford-crfm/helm/blob/v0.3.0/src/helm/benchmark/scenarios/entity_matching_scenario.py</a:t>
            </a:r>
          </a:p>
        </p:txBody>
      </p:sp>
      <p:sp>
        <p:nvSpPr>
          <p:cNvPr id="5" name="文献 2: HELM Classic — Entity matching"/>
          <p:cNvSpPr txBox="1"/>
          <p:nvPr/>
        </p:nvSpPr>
        <p:spPr>
          <a:xfrm>
            <a:off x="548640" y="3085846"/>
            <a:ext cx="8046720" cy="1094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— Entity matching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CRFM. v0.4.0（2023-11-17固定版）。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3対象の保存実行と、モデル別・試行別の正解率、入力、生成出力を公開する。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https://crfm.stanford.edu/helm/classic/v0.4.0/#/groups/entity_matching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2026-10-18T08:47:18Z</dcterms:modified>
  <dc:title>entity-matching</dc:title>
  <dc:creator>sasakiy84</dc:creator>
  <dcterms:created xsi:type="dcterms:W3CDTF">2026-10-18T08:47:18Z</dcterms:created>
  <dc:language>ja-JP</dc:language>
</cp:coreProperties>
</file>