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4"/>
    <p:sldId id="275" r:id="rId25"/>
    <p:sldId id="276" r:id="rId26"/>
    <p:sldId id="277" r:id="rId27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8" r:id="rId58"/>
    <p:sldId id="311" r:id="rId61"/>
    <p:sldId id="312" r:id="rId62"/>
    <p:sldId id="313" r:id="rId63"/>
    <p:sldId id="314" r:id="rId6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8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anhaidgroup/deepmatcher/blob/master/Datasets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145/3183713.3196926" TargetMode="External"/><Relationship Id="rId3" Type="http://schemas.openxmlformats.org/officeDocument/2006/relationships/hyperlink" Target="https://github.com/anhaidgroup/deepmatcher/blob/master/Datasets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Relationship Id="rId3" Type="http://schemas.openxmlformats.org/officeDocument/2006/relationships/hyperlink" Target="https://github.com/stanford-crfm/helm/blob/v0.3.0/src/helm/benchmark/scenarios/entity_matching_scenario.p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145/3183713.3196926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45/3183713.3196926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nhaidgroup/deepmatcher/blob/master/Datasets.md" TargetMode="External"/><Relationship Id="rId3" Type="http://schemas.openxmlformats.org/officeDocument/2006/relationships/hyperlink" Target="https://github.com/anhaidgroup/deepmatcher/blob/master/LICENSE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145/3183713.3196926" TargetMode="External"/><Relationship Id="rId3" Type="http://schemas.openxmlformats.org/officeDocument/2006/relationships/hyperlink" Target="https://github.com/anhaidgroup/deepmatcher/blob/master/Datasets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/blob/master/Datasets.m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145/3183713.3196926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45/3183713.3196926" TargetMode="External"/><Relationship Id="rId3" Type="http://schemas.openxmlformats.org/officeDocument/2006/relationships/hyperlink" Target="https://github.com/anhaidgroup/deepmatcher/blob/master/Datasets.md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nhaidgroup/deepmatcher" TargetMode="External"/><Relationship Id="rId3" Type="http://schemas.openxmlformats.org/officeDocument/2006/relationships/hyperlink" Target="https://github.com/anhaidgroup/deepmatcher/blob/master/LICENS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1055370"/>
          </a:xfrm>
        </p:spPr>
        <p:txBody>
          <a:bodyPr wrap="square" lIns="0" rIns="0" tIns="0" bIns="1524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142365"/>
          </a:xfrm>
        </p:spPr>
        <p:txBody>
          <a:bodyPr lIns="0" rIns="0" tIns="0" bIns="15240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二つの記録が同じ実体を指すか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構造化・文章・属性を移したデータで比べる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DeepMatcherが公開するデータ一覧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84" y="1371600"/>
            <a:ext cx="5513832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二つの記録が同じものを指すか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三種類のデータと候補ペア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同じ実体を見つける精度を測る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データの入手と使い方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二つの記録が同じものを指すか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二つの記録が、同じ実体を指すか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二つのレコードが同じ実体を指すかを判定する。対象は商品、楽曲、飲食店、論文、企業など。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各ペアには、同じ実体を指すかという二値のラベルが付く。本資料では、同じならYes、別ならNoと表示する。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同じ実体でも、名称や属性の表記が異なる。省略、価格差、空欄、別の欄へ移った情報も手掛かりになる。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候補を探した後のペアを判定する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名寄せでは、まず比較する候補を絞る処理（blocking）を行い、その後で候補ペアを判定する。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このデータでは、あらかじめ絞った候補ペアに、同じ実体なら1、別なら0の正解を付けている。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元表のIDから二つのレコードを取り出し、その属性を合わせて読むことで判定する。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実例1：Amber Wavesの度数差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Beer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684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Beer_Name: Amber Waves Ale. Brew_Factory_Name: Capitol City Brewing. Style: American Amber / Red Ale. ABV: 5.40 %. Product B is Beer_Name: Capitol City Amber Waves Ale. Brew_Factory_Name: Capitol City Brewing Company. Style: Amber Ale. ABV: 5.60 %.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387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Aの商品：ビール名はAmber Waves Ale。醸造所はCapitol City Brewing。スタイルはアメリカン・アンバー／レッドエール。アルコール度数は5.40%。 Bの商品：ビール名はCapitol City Amber Waves Ale。醸造所はCapitol City Brewing Company。スタイルはアンバーエール。アルコール度数は5.60%。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5544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表記や一部の数値が違っても、同じビールを指す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醸造所名にCompanyが加わり、度数にも差があるが、正解ラベルは同じビールを示す。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Aの名称Amber Waves Aleに対し、Bは醸造所名を含むCapitol City Amber Waves Ale。スタイルの表し方も異なる。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名称、醸造所、スタイルなどを合わせて読む。すべての属性が完全に一致している必要はない。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実例2：同じSonyシリーズでも容量が違う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Abt_Buy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9049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name: sony 1gb memory stick pro duo mark 2 media card msmt1g. description: sony 1gb memory stick pro duo mark 2 media card msmt1g 160 mbps transfer speed 940mb actual capacity. price: 19.0. Product B is name: sony 8gb memory stick pro duo card msmt8g. description: 8 gb. price: 49.85.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1674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Aの商品：名称はSony 1GB Memory Stick PRO Duo Mark 2メディアカード、型番msmt1g。説明は、同じ名称と型番、転送速度160Mbps、実容量940MB。価格は19.0。 Bの商品：名称はSony 8GB Memory Stick PRO Duoカード、型番msmt8g。説明は8GB。価格は49.85。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530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型番と容量が、似た商品を分ける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ブランドやシリーズの一致だけでは足りない。1GBと8GB、型番の末尾も異なる。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このデータでは、製品の説明が長い文章として残る。名称と説明の両方を読み、同じシリーズ内の別製品を区別する。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本資料の文章化した例では、priceやdescriptionの空欄をnanと表す。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実例3：別の欄へ移動した曲の情報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Dirty_iTunes_Amazon / test / 二レコードと質問の全文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96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4534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Song_Name: Illusion ( feat . Echosmith ) Zedd True Colors Dance , Music , Electronic $ 1.29 2015 Interscope Records 6:30. Artist_Name: nan. Album_Name: nan. Genre: nan. Price: nan. CopyRight: nan. Time: nan. Released: 18-May-15. Product B is Song_Name: Illusion [ feat . Echosmith ] True Colors $ 1.29 ( C ) 2015 Interscope Records 6:25. Artist_Name: Zedd. Album_Name: nan. Genre: Dance &amp; Electronic. Price: nan. CopyRight: nan. Time: nan. Released: May 18 , 2015. Are A and B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4503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実例3：別の欄へ移動した曲の情報（訳）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日本語訳：同じ二レコードと質問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87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9934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Aの商品：曲名欄は「Illusion（Echosmith参加） Zedd True Colors ダンス、音楽、エレクトロニック $1.29 2015 Interscope Records 6:30」。アーティスト、アルバム、ジャンル、価格、著作権、時間の各欄はnan。発売日は18-May-15。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Bの商品：曲名欄は「Illusion［Echosmith参加］ True Colors $1.29 (C) 2015 Interscope Records 6:25」。アーティストはZedd。アルバムはnan。ジャンルはダンス＆エレクトロニック。価格、著作権、時間の各欄はnan。発売日はMay 18, 2015。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AとBは同じか。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365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Dirtyは、属性値を別の欄へ移したデータ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曲名以外の各属性値を、同じレコードの曲名欄へ50%の確率で移す。移動した元の欄は空欄になる。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曲名欄にアーティスト、アルバム、ジャンル、価格、時間が混在する。列名だけで比較する方法には難しい配置になる。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時間は6:30と6:25。欠測欄があっても、移動先の曲名欄に情報が残っている。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二つの記録が同じものを指すか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三種類のデータと候補ペア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研究の23課題から、13設定を公開した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2018年の研究は、構造化11、文章6、Dirty 6の計23課題で、教師ありの照合手法を比較した。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公式一覧は、そのうち構造化7、文章2、Dirty 4の計13設定を公開する。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本資料はBeer、Abt-Buy、Dirty iTunes-Amazonの3対象を例に、各形式で照合するときの手掛かりを見る。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et al. (2018). Deep Learning for Entity Matching: A Design Space Exploration. SIGMOD.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https://doi.org/10.1145/3183713.3196926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候補ペアに、同じか別かの正解を付ける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Beerは2015年秋のUW–Madisonの授業で、BeerAdvocateとRateBeerから集めた情報を表にまとめた。比較候補を絞り、無作為に選んだ候補へ、同じか別かを人手で注釈した。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iTunes-Amazonも同じ手順。Abt-Buyなどは、既存の正解対応を使い、候補集合内の一致を正例、それ以外を負例にした。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ペアをtrain、validation、testへ3:1:1で分割する。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配布のペア数と、正例の数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927848" cy="1682496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1737360"/>
                <a:gridCol w="1737360"/>
                <a:gridCol w="1572768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268 / 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 / 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 / 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Abt_Buy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5,743 / 616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1,916 / 206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1,916 / 206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Dirty_iTunes_Amazon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321 / 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109 / 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109 / 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各セルは全ペア数／同じ実体を指す正例数。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元表の規模と、比較に使う属性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554480"/>
                <a:gridCol w="1554480"/>
                <a:gridCol w="14630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表Aの行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表Bの行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属性数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4,345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Abt_Buy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Dirty_iTunes_Amazon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6,907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55,923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表Aと表Bの規模。ラベルは、これらの表から選ばれた候補ペアに付いている。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空欄でも、情報が別の欄に残ることがある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Abt-Buyの表Bは1,092行。そのうちdescriptionは441行、priceは502行が空欄。表Aのpriceも1,081行中663行が空欄である。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Dirty iTunes-Amazonの表Bは55,923行。Artist_Nameの27,950行が空欄だが、値がSong_Nameへ移動している場合がある。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本資料の入力例では空欄をnanと表示する。Beerの度数欄の「-」は、文字として記録されている。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三種類のデータと候補ペア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同じ実体を見つける精度を測る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同じ実体を見つける精度を測る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同じ実体のペアに、適合率と再現率を使う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同じだと判定したペアのうち、実際に同じだった割合が適合率。実際に同じペアのうち、見つけられた割合が再現率である。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F1は、この二つの調和平均。見つけたペアの正確さと、見逃しの少なさをまとめる。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別の実体を指すペアが多いので、全体の正解率だけでなく、同じペアをどれだけ拾えたかも見る。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同じ実体を見つける精度を測る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et al. (2018). Deep Learning for Entity Matching: A Design Space Exploration. SIGMOD.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https://doi.org/10.1145/3183713.3196926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2018年の教師あり評価は、正例のF1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同じ実体を見つける精度を測る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Hybrid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Magellan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Abt-Buy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Dirty iTunes-Amazon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2018年の教師あり学習でのF1（%）。学習・開発・テストを3:1:1へ分割。実例で扱う3対象の値。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et al. (2018). Deep Learning for Entity Matching: A Design Space Exploration. SIGMOD.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https://doi.org/10.1145/3183713.3196926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学習・開発・テストの役割を分けて使う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trainで照合モデルを学習し、validationで調整、testで最後の性能を測る。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分割は候補ペア単位。同じ商品や楽曲が、別の相手とのペアとして複数の分割へ現れる場合がある。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未知の実体だけへの性能を調べるときは、元表のIDを使って分割を設計する。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同じ実体を見つける精度を測る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データの入手と使い方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データの入手と使い方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公式一覧から、元表と候補ペアを入手する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DeepMatcherの公式一覧から、二つの元表とラベル付き候補ペアをまとめたZIPを取得できる。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ZIPには、元表のtableA.csv・tableB.csvと、train.csv・valid.csv・test.csvの候補ペアが含まれる。ペアの左右のIDを使い、対応する元レコードを取り出せる。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データの入手と使い方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コードのライセンスと元データの条件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DeepMatcherのコードはBSD 3-Clauseで公開されている。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データはBeerAdvocate、RateBeer、商品サイト、楽曲販売サイトなどに由来する。公開Datasets.mdと取得ZIPには、全データ共通の独立したライセンス文を確認できなかった。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再配布や業務利用には、元データと取得時点の利用条件を確認する。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データの入手と使い方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Mudgal &amp; Li. DeepMatcher LICENSE（BSD 3-Clause、コード）.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https://github.com/anhaidgroup/deepmatcher/blob/master/LICENSE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表記差を読み、同じ実体かを答える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Entity Matchingは、候補ペアの二レコードを同じ実体へ対応付ける課題。DeepMatcherは構造化、文章、属性移動という違いを比較するデータを公開した。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元表と候補ペアが分かれているので、同じペアと正解を使って、異なる照合手法を比べられる。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型番や容量が違う負例、表記や一部属性が食い違う正例を含め、文字列の重なりだけでは決まらない照合を評価できる。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データの入手と使い方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et al. (2018). Deep Learning for Entity Matching: A Design Space Exploration. SIGMOD.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https://doi.org/10.1145/3183713.3196926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収録データと読み込み方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実例4：Easyを共有する別のビール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Beer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684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Beer_Name: Easy Amber Ale. Brew_Factory_Name: Scottsdale Beer Company. Style: American Amber / Red Ale. ABV: 5.70 %. Product B is Beer_Name: Upland Easy Chair Amber Ale. Brew_Factory_Name: Upland Brewing Company. Style: Amber Ale. ABV: 5.60 %.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387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Aの商品：ビール名はEasy Amber Ale。醸造所はScottsdale Beer Company。スタイルはアメリカン・アンバー／レッドエール。度数は5.70%。 Bの商品：ビール名はUpland Easy Chair Amber Ale。醸造所はUpland Brewing Company。スタイルはアンバーエール。度数は5.60%。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5544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実例5：度数が欠けても同じ銘柄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Beer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684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Beer_Name: Centurion Barleywine Ale. Brew_Factory_Name: Golden City Brewery. Style: American Barleywine. ABV: -. Product B is Beer_Name: Golden City Centurion Barleywine Ale. Brew_Factory_Name: Golden City Brewery. Style: Barley Wine. ABV: 11.20 %.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379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Aの商品：ビール名はCenturion Barleywine Ale。醸造所はGolden City Brewery。スタイルはアメリカン・バーレーワイン。度数は「-」。 Bの商品：ビール名はGolden City Centurion Barleywine Ale。醸造所はGolden City Brewery。スタイルはバーレーワイン。度数は11.20%。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4697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実例6：OrganicとNon-Organicの違い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Beer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684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Beer_Name: Green Lakes Organic Ale. Brew_Factory_Name: Deschutes Brewery. Style: American Amber / Red Ale. ABV: 5.20 %. Product B is Beer_Name: Deschutes Green Lakes Non-Organic Ale. Brew_Factory_Name: Deschutes Brewery. Style: Amber Ale. ABV: 6.40 %.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379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Aの商品：ビール名はGreen Lakes Organic Ale。醸造所はDeschutes Brewery。スタイルはアメリカン・アンバー／レッドエール。度数は5.20%。 Bの商品：ビール名はDeschutes Green Lakes Non-Organic Ale。醸造所はDeschutes Brewery。スタイルはアンバーエール。度数は6.40%。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4697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実例7：型番が一致する充電器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Abt_Buy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684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name: canon battery charger 1133b001. description: canon battery charger 1133b001 compatible with canon nb-5l lithium battery black finish. price: nan. Product B is name: canon cb-2lx battery charger 1133b001. description: nan. price: nan.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1938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Aの商品：名称はCanonバッテリー充電器1133b001。説明は、Canonバッテリー充電器1133b001、Canon NB-5Lリチウム電池に対応、黒仕上げ。価格はnan。 Bの商品：名称はCanon CB-2LXバッテリー充電器1133b001。説明と価格はnan。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670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実例8：対応機種が一部共通するインク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Abt_Buy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9049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name: canon photo ink cartridge cl52. description: canon photo ink cartridge cl52 compatible with pixma ip6210d and ip6220d printers. price: 25.0. Product B is name: canon ink cartridge for pixma ip1600 , ip6210d and ip6220d printers 0617b002. description: color. price: 19.11.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1674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Aの商品：名称はCanon写真用インクカートリッジCL52。説明は、同製品がPIXMA iP6210DとiP6220Dに対応すること。価格は25.0。 Bの商品：名称はCanon PIXMA iP1600、iP6210D、iP6220Dプリンター用インクカートリッジ0617b002。説明はカラー。価格は19.11。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530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実例9：価格が少し異なる電気ケトル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Abt_Buy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9473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name: cuisinart cordless electric kettle kua17. description: cuisinart cordless electric kettle kua17 1-3/4 quart capacity automatic shut-off indicator light splash guard spout cord storage in base chrome finish. price: 70.0. Product B is name: cuisinart cordless automatic electric kettle. description: nan. price: 69.95.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21674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Aの商品：名称はCuisinartコードレス電気ケトルKUA17。説明は同名称と型番、容量1と3/4クォート、自動電源オフ、表示灯、飛び散り防止の注ぎ口、台座にコード収納、クローム仕上げ。価格は70.0。 Bの商品：名称はCuisinartコードレス自動電気ケトル。説明はnan。価格は69.95。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530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実例10：セットと単体の違い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Abt_Buy / test / 二レコードと質問の全文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5179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691640"/>
            <a:ext cx="4480560" cy="19049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1806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name: garmin suction cup mount and 12-volt adapter kit 0101097900. description: garmin suction cup mount and 12-volt adapter kit 0101097900 suction cup mount and 12-volt adapter included. price: 30.0. Product B is name: garmin suction cup mount 010-10823-00. description: nan. price: 24.84. Are A and B the same?</a:t>
            </a:r>
          </a:p>
        </p:txBody>
      </p:sp>
      <p:sp>
        <p:nvSpPr>
          <p:cNvPr id="8" name="quote-frame"/>
          <p:cNvSpPr/>
          <p:nvPr/>
        </p:nvSpPr>
        <p:spPr>
          <a:xfrm>
            <a:off x="5212080" y="1691640"/>
            <a:ext cx="3383280" cy="1938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8739" bIns="10160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Aの商品：名称はGarmin吸盤マウントと12Vアダプターのキット0101097900。説明は同名称と型番、吸盤マウントと12Vアダプターを含むこと。価格は30.0。 Bの商品：名称はGarmin吸盤マウント010-10823-00。説明はnan。価格は24.84。 AとBは同じか。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670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実例11：同じ曲名のカラオケ版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Dirty_iTunes_Amazon / test / 二レコードと質問の全文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36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4534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Song_Name: Bad Blood ( Karaoke Version ) Taylor Swift Pop , Music $ 1.29 3:29. Artist_Name: nan. Album_Name: Taylor Swift Karaoke : 1989. Genre: nan. Price: nan. CopyRight: ‰ ãÑ 2014 Big Machine Records , LLC. Time: nan. Released: 3-Mar-15. Product B is Song_Name: Bad Blood Taylor Swift Pop 3:31 October 27 , 2014. Artist_Name: nan. Album_Name: 1989. Genre: nan. Price: $ 1.29. CopyRight: ( C ) 2014 Big Machine Records , LLC .. Time: nan. Released: nan. Are A and B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857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実例11：同じ曲名のカラオケ版（訳）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日本語訳：同じ二レコードと質問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463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8401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Aの商品：曲名欄は「Bad Blood（カラオケ版） Taylor Swift ポップ、音楽 $1.29 3:29」。アーティストはnan。アルバムはTaylor Swift Karaoke: 1989。ジャンルと価格はnan。著作権欄は「‰ ãÑ 2014 Big Machine Records, LLC」。時間はnan。発売日は3-Mar-15。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Bの商品：曲名欄は「Bad Blood Taylor Swift ポップ 3:31 October 27, 2014」。アーティストはnan。アルバムは1989。ジャンルはnan。価格は$1.29。著作権欄は「(C) 2014 Big Machine Records, LLC」。時間と発売日はnan。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AとBは同じか。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27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実例12：同じアルバムの異なる曲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Dirty_iTunes_Amazon / test / 二レコードと質問の全文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36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4534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Song_Name: Illusion ( feat . Echosmith ) True Colors 2015 Interscope Records 6:30. Artist_Name: Zedd. Album_Name: nan. Genre: Dance , Music , Electronic. Price: $ 1.29. CopyRight: nan. Time: nan. Released: 18-May-15. Product B is Song_Name: Papercut [ feat . Troye Sivan ] Zedd Dance &amp; Electronic 7:23. Artist_Name: nan. Album_Name: True Colors. Genre: nan. Price: $ 1.29. CopyRight: ( C ) 2015 Interscope Records. Time: nan. Released: May 18 , 2015. Are A and B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857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実例12：同じアルバムの異なる曲（訳）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日本語訳：同じ二レコードと質問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283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9934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Aの商品：曲名欄は「Illusion（Echosmith参加） True Colors 2015 Interscope Records 6:30」。アーティストはZedd。アルバムはnan。ジャンルはダンス、音楽、エレクトロニック。価格は$1.29。著作権と時間はnan。発売日は18-May-15。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Bの商品：曲名欄は「Papercut［Troye Sivan参加］ Zedd ダンス＆エレクトロニック 7:23」。アーティストはnan。アルバムはTrue Colors。ジャンルはnan。価格は$1.29。著作権は(C) 2015 Interscope Records。時間はnan。発売日はMay 18, 2015。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AとBは同じか。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7730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 — 別の実体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実例13：年の表記が異なる同じ曲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Dirty_iTunes_Amazon / test / 二レコードと質問の全文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336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4534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Product A is Song_Name: Billy Keith Urban In the Ranch Country , Music , Honky Tonk , Contemporary Country 3:46. Artist_Name: nan. Album_Name: nan. Genre: nan. Price: $ 1.29. CopyRight: 1997 Capitol Nashville. Time: nan. Released: 1997. Product B is Song_Name: Billy Country ( c ) 1997 Capitol Nashville February 10 , 2004. Artist_Name: Keith Urban. Album_Name: Keith Urban In The Ranch. Genre: nan. Price: $ 1.29. CopyRight: nan. Time: 3:46. Released: nan. Are A and B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857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実例13：年の表記が異なる同じ曲（訳）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日本語訳：同じ二レコードと質問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463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8401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Aの商品：曲名欄は「Billy Keith Urban In the Ranch カントリー、音楽、ホンキートンク、現代カントリー 3:46」。アーティスト、アルバム、ジャンルはnan。価格は$1.29。著作権は1997 Capitol Nashville。時間はnan。発売年は1997。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Bの商品：曲名欄は「Billy カントリー (c) 1997 Capitol Nashville February 10, 2004」。アーティストはKeith Urban。アルバムはKeith Urban In The Ranch。ジャンルはnan。価格は$1.29。著作権はnan。時間は3:46。発売日はnan。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AとBは同じか。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276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正解：Yes — 同じ実体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収録データと読み込み方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収録データと読み込み方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構造化された7種類のデータ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収録データと読み込み方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44168"/>
          <a:ext cx="8046720" cy="284225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1554480"/>
                <a:gridCol w="1554480"/>
                <a:gridCol w="109728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ペア数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BeerAdvo-RateBeer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iTunes-Amazon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Fodors-Zagats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DBLP-ACM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12,363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2,220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DBLP-Scholar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28,707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Amazon-Google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11,460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Walmart-Amazon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10,242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29176"/>
            <a:ext cx="7955279" cy="302768"/>
          </a:xfrm>
          <a:prstGeom prst="rect">
            <a:avLst/>
          </a:prstGeom>
          <a:noFill/>
        </p:spPr>
        <p:txBody>
          <a:bodyPr wrap="square" lIns="0" rIns="0" tIns="50800" bIns="5080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構造化データでは、各属性が決まった列に整理されている。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文章2種類と、属性を移した4種類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収録データと読み込み方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8833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1554480"/>
                <a:gridCol w="1554480"/>
                <a:gridCol w="109728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ペア数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Abt-Buy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9,575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1,028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Company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112,632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28,200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iTunes-Amazon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DBLP-ACM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12,363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2,220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DBLP-Scholar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28,707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Walmart-Amazon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10,242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&amp; Li et al.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4340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上2行が文章、下4行がDirty。公開一覧の値。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候補ペアを読み、二つの元レコードを取り出す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収録データと読み込み方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460500"/>
            <a:ext cx="8046720" cy="22648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979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 = pd.read_csv("tableA.csv").set_index("id")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b = pd.read_csv("tableB.csv").set_index("id")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pairs = pd.read_csv("test.csv")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pair = pairs.iloc[0]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print(a.loc[pair["ltable_id"]])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print(b.loc[pair["rtable_id"]])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print("正解:", "Yes" if pair["label"] else "No")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73500"/>
            <a:ext cx="7955279" cy="6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BeerのZIPを展開し、exp_dataフォルダで実行する。test.csvの左右のIDで元表を引き、二つの記録と同一／別の正解を表示する。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DeepMatcher authors. Datasets for DeepMatcher paper.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文章や属性の乱れで、深層学習の強みを調べた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Mudgal、Liらは2018年、データの構造や属性の乱れが、照合手法の性能にどう関わるかを23課題で比較した。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DeepMatcherの深層モデルは、属性の文章から特徴を学ぶ。比較したMagellanは、人が設計した特徴量を使う手法である。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構造化データでは深層学習の優位が限られ、長い文章や、属性を別の欄へ移したDirtyデータでは改善が報告された。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Mudgal et al. (2018). Deep Learning for Entity Matching: A Design Space Exploration. SIGMOD.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https://doi.org/10.1145/3183713.3196926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Deep Learning for Entity Matching: A Design Space Exploration"/>
          <p:cNvSpPr txBox="1"/>
          <p:nvPr/>
        </p:nvSpPr>
        <p:spPr>
          <a:xfrm>
            <a:off x="548640" y="1463040"/>
            <a:ext cx="8046720" cy="1465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 Learning for Entity Matching: A Design Space Exploration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Sidharth Mudgal, Han Li, Theodoros Rekatsinas, AnHai Doan, Youngchoon Park, Ganesh Krishnan, Rohit Deep, Esteban Arcaute &amp; Vijay Raghavendra. 2018. SIGMOD.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23課題を用い、データの構造と属性の乱れによる照合手法の違いを分析する。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https://doi.org/10.1145/3183713.3196926</a:t>
            </a:r>
          </a:p>
        </p:txBody>
      </p:sp>
      <p:sp>
        <p:nvSpPr>
          <p:cNvPr id="5" name="文献 2: Datasets for DeepMatcher paper"/>
          <p:cNvSpPr txBox="1"/>
          <p:nvPr/>
        </p:nvSpPr>
        <p:spPr>
          <a:xfrm>
            <a:off x="548640" y="3020695"/>
            <a:ext cx="8046720" cy="12488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Datasets for DeepMatcher paper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DeepMatcher authors. (n.d.). GitHub. 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公開13設定の規模、候補生成、ラベル付け、Dirty変換と配布先を記載する。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https://github.com/anhaidgroup/deepmatcher/blob/master/Datasets.md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EntityMatchingScenario and fixed random state"/>
          <p:cNvSpPr txBox="1"/>
          <p:nvPr/>
        </p:nvSpPr>
        <p:spPr>
          <a:xfrm>
            <a:off x="548640" y="1463040"/>
            <a:ext cx="8046720" cy="1544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DeepMatcher authors (n.d.). 公式リポジトリ。2026-10-18参照。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照合モデルの学習・評価コードと、公開データの一覧や利用例を提供する。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https://github.com/anhaidgroup/deepmatcher</a:t>
            </a:r>
          </a:p>
        </p:txBody>
      </p:sp>
      <p:sp>
        <p:nvSpPr>
          <p:cNvPr id="5" name="文献 2: HELM Classic — Entity matching"/>
          <p:cNvSpPr txBox="1"/>
          <p:nvPr/>
        </p:nvSpPr>
        <p:spPr>
          <a:xfrm>
            <a:off x="548640" y="3085846"/>
            <a:ext cx="8046720" cy="12488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DeepMatcher LICENSE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DeepMatcher authors (n.d.). BSD 3-Clause。2026-10-18参照。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実装コードの再利用・再配布に必要な著作権表示などの条件を示す。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https://github.com/anhaidgroup/deepmatcher/blob/master/LICENSE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2026-10-18T08:47:18Z</dcterms:modified>
  <dc:title>entity-matching</dc:title>
  <dc:creator>sasakiy84</dc:creator>
  <dcterms:created xsi:type="dcterms:W3CDTF">2026-10-18T08:47:18Z</dcterms:created>
  <dc:language>ja-JP</dc:language>
</cp:coreProperties>
</file>