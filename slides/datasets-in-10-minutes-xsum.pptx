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9" r:id="rId49"/>
    <p:sldId id="300" r:id="rId50"/>
    <p:sldId id="302" r:id="rId52"/>
    <p:sldId id="303" r:id="rId53"/>
    <p:sldId id="305" r:id="rId55"/>
    <p:sldId id="306" r:id="rId56"/>
    <p:sldId id="308" r:id="rId58"/>
    <p:sldId id="309" r:id="rId59"/>
    <p:sldId id="311" r:id="rId61"/>
    <p:sldId id="312" r:id="rId62"/>
    <p:sldId id="313" r:id="rId63"/>
    <p:sldId id="314" r:id="rId64"/>
    <p:sldId id="316" r:id="rId66"/>
    <p:sldId id="317" r:id="rId67"/>
    <p:sldId id="319" r:id="rId69"/>
    <p:sldId id="320" r:id="rId70"/>
    <p:sldId id="322" r:id="rId72"/>
    <p:sldId id="323" r:id="rId73"/>
    <p:sldId id="324" r:id="rId74"/>
    <p:sldId id="325" r:id="rId75"/>
    <p:sldId id="326" r:id="rId76"/>
    <p:sldId id="327" r:id="rId77"/>
    <p:sldId id="328" r:id="rId78"/>
    <p:sldId id="329" r:id="rId79"/>
    <p:sldId id="330" r:id="rId80"/>
    <p:sldId id="331" r:id="rId81"/>
    <p:sldId id="332" r:id="rId82"/>
    <p:sldId id="333" r:id="rId8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7" Type="http://schemas.openxmlformats.org/officeDocument/2006/relationships/slide" Target="slides/slide63.xml"/><Relationship Id="rId78" Type="http://schemas.openxmlformats.org/officeDocument/2006/relationships/slide" Target="slides/slide64.xml"/><Relationship Id="rId79" Type="http://schemas.openxmlformats.org/officeDocument/2006/relationships/slide" Target="slides/slide65.xml"/><Relationship Id="rId80" Type="http://schemas.openxmlformats.org/officeDocument/2006/relationships/slide" Target="slides/slide66.xml"/><Relationship Id="rId81" Type="http://schemas.openxmlformats.org/officeDocument/2006/relationships/slide" Target="slides/slide67.xml"/><Relationship Id="rId82" Type="http://schemas.openxmlformats.org/officeDocument/2006/relationships/slide" Target="slides/slide68.xml"/><Relationship Id="rId83"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159</c:v>
                </c:pt>
                <c:pt idx="1">
                  <c:v>1030</c:v>
                </c:pt>
                <c:pt idx="2">
                  <c:v>2139</c:v>
                </c:pt>
                <c:pt idx="3">
                  <c:v>4116</c:v>
                </c:pt>
                <c:pt idx="4">
                  <c:v>2935</c:v>
                </c:pt>
                <c:pt idx="5">
                  <c:v>955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EdinburghNLP/XSu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0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0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acl-main.173/"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EdinburghNLP/XSu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EdinburghNLP/xsu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EdinburghNLP/xsum"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8-1206/"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8-1206/"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EdinburghNLP/xsum"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173/"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acl-main.703/"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XSum</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Extreme Summarization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ニュース記事から
要点を一文で生成する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XSumの公式公開ページ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XSum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https://github.com/EdinburghNLP/XSum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記事の要点を、短い一文にまとめる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XSumは、BBCの英語ニュース記事を入力し、その要点を一文で生成する要約データセットである。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記者が書いた冒頭の要約文を参照要約とし、その文を取り除いた残りの記事を入力本文にする。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記事の一文をそのまま抜き出すだけでは参照に届きにくく、複数の情報をまとめたり、言い換えたりする必要がある。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document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冒頭の参照要約を除いた記事本文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summary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記者が書いた一文の参照要約</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BBC記事の識別子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実例1：捜索と出廷（原文）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34227252（test行1）。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Officers searched properties in the Waterfront Park and Colonsay View areas of the city on Wednesday.</a:t>
            </a:r>
          </a:p>
          <a:p>
            <a:pPr>
              <a:lnSpc>
                <a:spcPts val="2257"/>
              </a:lnSpc>
              <a:spcBef>
                <a:spcPts val="0"/>
              </a:spcBef>
              <a:spcAft>
                <a:spcPts val="0"/>
              </a:spcAft>
              <a:buNone/>
            </a:pPr>
            <a:r>
              <a:rPr sz="1850" b="0" lang="ja-JP">
                <a:solidFill>
                  <a:srgbClr val="303437"/>
                </a:solidFill>
                <a:latin typeface="Noto Sans"/>
                <a:ea typeface="Noto Sans CJK JP"/>
                <a:cs typeface="Noto Sans"/>
              </a:rPr>
              <a:t>Text: Detectives said three firearms, ammunition and a five-figure sum of money were recovered.</a:t>
            </a:r>
          </a:p>
          <a:p>
            <a:pPr>
              <a:lnSpc>
                <a:spcPts val="2257"/>
              </a:lnSpc>
              <a:spcBef>
                <a:spcPts val="0"/>
              </a:spcBef>
              <a:spcAft>
                <a:spcPts val="0"/>
              </a:spcAft>
              <a:buNone/>
            </a:pPr>
            <a:r>
              <a:rPr sz="1850" b="0" lang="ja-JP">
                <a:solidFill>
                  <a:srgbClr val="303437"/>
                </a:solidFill>
                <a:latin typeface="Noto Sans"/>
                <a:ea typeface="Noto Sans CJK JP"/>
                <a:cs typeface="Noto Sans"/>
              </a:rPr>
              <a:t>Text: A 26-year-old man who was arrested and charged appeared at Edinburgh Sheriff Court on Thursday.</a:t>
            </a:r>
          </a:p>
          <a:p>
            <a:pPr>
              <a:lnSpc>
                <a:spcPts val="2257"/>
              </a:lnSpc>
              <a:spcBef>
                <a:spcPts val="0"/>
              </a:spcBef>
              <a:spcAft>
                <a:spcPts val="0"/>
              </a:spcAft>
              <a:buNone/>
            </a:pPr>
            <a:r>
              <a:rPr sz="1850" b="0" lang="ja-JP">
                <a:solidFill>
                  <a:srgbClr val="303437"/>
                </a:solidFill>
                <a:latin typeface="Noto Sans"/>
                <a:ea typeface="Noto Sans CJK JP"/>
                <a:cs typeface="Noto Sans"/>
              </a:rPr>
              <a:t>Summary: A man has appeared in court after firearms, ammunition and cash were seized by police in Edinburgh.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実例1：捜索と出廷（日本語訳）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34227252（test行1）。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入力本文：警察官は水曜日、市内のウォーターフロント・パークとコロンゼイ・ビュー地区の物件を捜索した。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入力本文：刑事によると、銃器3丁、弾薬、5桁の金額の現金を押収した。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入力本文：逮捕・起訴された26歳の男は木曜日、エディンバラのシェリフ裁判所に出廷した。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参照要約：エディンバラで警察が銃器、弾薬、現金を押収し、男が出廷した。</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BBC記事ID 34227252。入力は、要約として使う冒頭文を除いた本文。</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記事本文と参照要約を照らし合わせる。要約が表す出来事と、その根拠が本文にあるかを別々に読む。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実例2：本文にない人名（原文）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36175342（test行3）。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The 48-year-old former Arsenal goalkeeper played for the Royals for four years.</a:t>
            </a:r>
          </a:p>
          <a:p>
            <a:pPr>
              <a:lnSpc>
                <a:spcPts val="2257"/>
              </a:lnSpc>
              <a:spcBef>
                <a:spcPts val="0"/>
              </a:spcBef>
              <a:spcAft>
                <a:spcPts val="0"/>
              </a:spcAft>
              <a:buNone/>
            </a:pPr>
            <a:r>
              <a:rPr sz="1850" b="0" lang="ja-JP">
                <a:solidFill>
                  <a:srgbClr val="303437"/>
                </a:solidFill>
                <a:latin typeface="Noto Sans"/>
                <a:ea typeface="Noto Sans CJK JP"/>
                <a:cs typeface="Noto Sans"/>
              </a:rPr>
              <a:t>Text: He was appointed youth academy director in 2000 and has been director of football since 2003.</a:t>
            </a:r>
          </a:p>
          <a:p>
            <a:pPr>
              <a:lnSpc>
                <a:spcPts val="2257"/>
              </a:lnSpc>
              <a:spcBef>
                <a:spcPts val="0"/>
              </a:spcBef>
              <a:spcAft>
                <a:spcPts val="0"/>
              </a:spcAft>
              <a:buNone/>
            </a:pPr>
            <a:r>
              <a:rPr sz="1850" b="0" lang="ja-JP">
                <a:solidFill>
                  <a:srgbClr val="303437"/>
                </a:solidFill>
                <a:latin typeface="Noto Sans"/>
                <a:ea typeface="Noto Sans CJK JP"/>
                <a:cs typeface="Noto Sans"/>
              </a:rPr>
              <a:t>Text: A West Brom statement said: "He played a key role in the Championship club twice winning promotion to the Premier League in 2006 and 2012."</a:t>
            </a:r>
          </a:p>
          <a:p>
            <a:pPr>
              <a:lnSpc>
                <a:spcPts val="2257"/>
              </a:lnSpc>
              <a:spcBef>
                <a:spcPts val="0"/>
              </a:spcBef>
              <a:spcAft>
                <a:spcPts val="0"/>
              </a:spcAft>
              <a:buNone/>
            </a:pPr>
            <a:r>
              <a:rPr sz="1850" b="0" lang="ja-JP">
                <a:solidFill>
                  <a:srgbClr val="303437"/>
                </a:solidFill>
                <a:latin typeface="Noto Sans"/>
                <a:ea typeface="Noto Sans CJK JP"/>
                <a:cs typeface="Noto Sans"/>
              </a:rPr>
              <a:t>Summary: West Brom have appointed Nicky Hammond as technical director, ending his 20-year association with Reading.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実例2：本文にない人名（日本語訳）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36175342（test行3）。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入力本文：48歳の元アーセナルGKは、ロイヤルズで4年間プレーした。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入力本文：2000年に育成部門の責任者に、2003年にはフットボール部門の責任者に就いた。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入力本文：ウェスト・ブロムは声明で「2006年と2012年のプレミアリーグ昇格に大きく貢献した」と述べた。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参照要約：ウェスト・ブロムはニッキー・ハモンドをテクニカルディレクターに任命し、レディングとの20年の関係が終わった。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参照要約のNicky Hammondという人名と新しい任命は、この入力本文には明記されていない。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記事本文と参照要約を照らし合わせる。要約が表す出来事と、その根拠が本文にあるかを別々に読む。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実例3：野鳥の救助（原文）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37250267（test行127）。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The bird's head and wings became stuck in the wire fence in Bethesda while it was chasing a wood pigeon.</a:t>
            </a:r>
          </a:p>
          <a:p>
            <a:pPr>
              <a:lnSpc>
                <a:spcPts val="2257"/>
              </a:lnSpc>
              <a:spcBef>
                <a:spcPts val="0"/>
              </a:spcBef>
              <a:spcAft>
                <a:spcPts val="0"/>
              </a:spcAft>
              <a:buNone/>
            </a:pPr>
            <a:r>
              <a:rPr sz="1850" b="0" lang="ja-JP">
                <a:solidFill>
                  <a:srgbClr val="303437"/>
                </a:solidFill>
                <a:latin typeface="Noto Sans"/>
                <a:ea typeface="Noto Sans CJK JP"/>
                <a:cs typeface="Noto Sans"/>
              </a:rPr>
              <a:t>Text: RSPCA Inspector Mike Pugh, who freed the animal, said: "The buzzard was feisty, but luckily, had not had much feather damage.</a:t>
            </a:r>
          </a:p>
          <a:p>
            <a:pPr>
              <a:lnSpc>
                <a:spcPts val="2257"/>
              </a:lnSpc>
              <a:spcBef>
                <a:spcPts val="0"/>
              </a:spcBef>
              <a:spcAft>
                <a:spcPts val="0"/>
              </a:spcAft>
              <a:buNone/>
            </a:pPr>
            <a:r>
              <a:rPr sz="1850" b="0" lang="ja-JP">
                <a:solidFill>
                  <a:srgbClr val="303437"/>
                </a:solidFill>
                <a:latin typeface="Noto Sans"/>
                <a:ea typeface="Noto Sans CJK JP"/>
                <a:cs typeface="Noto Sans"/>
              </a:rPr>
              <a:t>Text: "I released the bird back to the wild where he belongs straight away."</a:t>
            </a:r>
          </a:p>
          <a:p>
            <a:pPr>
              <a:lnSpc>
                <a:spcPts val="2257"/>
              </a:lnSpc>
              <a:spcBef>
                <a:spcPts val="0"/>
              </a:spcBef>
              <a:spcAft>
                <a:spcPts val="0"/>
              </a:spcAft>
              <a:buNone/>
            </a:pPr>
            <a:r>
              <a:rPr sz="1850" b="0" lang="ja-JP">
                <a:solidFill>
                  <a:srgbClr val="303437"/>
                </a:solidFill>
                <a:latin typeface="Noto Sans"/>
                <a:ea typeface="Noto Sans CJK JP"/>
                <a:cs typeface="Noto Sans"/>
              </a:rPr>
              <a:t>Summary: A buzzard has been rescued after becoming trapped between fencing and a wall in Gwynedd.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実例3：野鳥の救助（日本語訳）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37250267（test行127）。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入力本文：モリバトを追っていた鳥の頭と翼が、ベセスダの金網に引っ掛かった。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入力本文：救助したRSPCAのマイク・ピュー調査員は「ノスリは暴れたが、幸い羽の損傷はほとんどなかった。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入力本文：すぐに本来の居場所である野生に戻した」と話した。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参照要約：グウィネズで、柵と壁の間に挟まったノスリが救助された。</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BBC記事ID 37250267。入力は、要約として使う冒頭文を除いた本文。</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記事本文と参照要約を照らし合わせる。要約が表す出来事と、その根拠が本文にあるかを別々に読む。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冒頭の数文をコピーする要約から進む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CNN／DailyMailなどでは、記事の冒頭を取り出すだけでも、比較的高いROUGEを得られる。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XSumは短い一文で記事全体の内容を伝える課題を設定した。入力には、その一文自体を含めない。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論文の分析では、参照要約の約83%の2語連続列が入力に現れなかった。抽出だけでは再現しにくい特徴がある。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BBC記事と冒頭の要約文を対応付けた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2010〜2017年のBBCニュースを集め、導入部に一文の要約がある記事を利用した。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要約文を本文から除き、一つの記事と一つの参照要約の組を作った。ニュースの各分野を含む。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記事を学習・開発・テストへ分け、約22.7万件の対を公開した。配布レコードは記事本文と参照要約を別の欄で持つ。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参照要約にだけ現れる情報もある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Nicky Hammondの実例では、入力本文に人名や新しい任命の記述がなく、参照要約には含まれている。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冒頭の一文を入力から除く構築方法によって、残りの本文だけでは復元できない情報が生じる場合がある。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参照との一致だけを追うと、入力に根拠のない情報まで足してしまうおそれがある。記事に基づく正しさを別に確かめる必要がある。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204,045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要約モデルの学習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11,332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設定の調整やモデルの選択</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11,334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最終的な比較</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短い参照に対し、入力記事の長さは幅広い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今回の公開test全11,334件を空白区切りで数えると、本文の中央値は295語、参照要約の平均は21.1語だった。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本文は0語から10,315語まであり、記事以外の表示文や一覧も残る。例の道路一覧も一つのdocumentとして配布されている。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論文Table 1の本文平均431.07語・要約23.26語は、全体と論文の前処理による集計である。今回のtestの空白区切り集計とは条件が異なる。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ROUGEは、参照要約との語句の一致を測る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ROUGE-1は単語、ROUGE-2は連続する2語の一致を測る。ROUGE-Lは、順序を保った共通部分列を使う。</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適合率と再現率からF1を求める。例えば参照と生成が同じ2語列を共有すれば、その一致がROUGE-2に寄与する。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言い換えが正しくても語句が違えば低くなり得る。入力にない人名を生成しても、参照にあれば一致として数えられる。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同じ2語列が、ROUGE-2へ寄与する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023360"/>
                <a:gridCol w="40233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説明用の文字列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連続する2語列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参照：police seized firearms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police seized / seized firearms</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生成：police seized cash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police seized / seized cash</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一致する列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police seizedの1列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各2列中1列が一致するため、適合率・再現率・F1はいずれも0.5。説明用の例。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4206240"/>
                <a:gridCol w="1280160"/>
                <a:gridCol w="1280160"/>
                <a:gridCol w="12801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LEAD（冒頭の抽出）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11.95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CONVS2S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31.27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25.23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話題を使うT-CONVS2S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31.89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11.54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論文Table 4。test全件に対するROUGE F1×100。最後の行はenc(t′,tD), dec(tD)。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v0.4.0（2023-11-17）のxsum-sampled。結果表はtestの518件、CPUで指標を計算した実行を参照する。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入力本文を空白区切りの512語までに制限し、最大5例を提示する。学習側の例題候補は50〜150語の記事から選ぶ。</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生成温度は0.3、3試行。表はROUGE-2 F1×100であり、別にあるvalid 482件の結果を混ぜていない。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ROUGE-2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15.49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12.40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 518件、ROUGE-2 F1×100。CPUで指標計算、最大5例提示。</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要約では、参照との語句の一致と、入力記事に根拠があることを併せて調べる。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語句の一致に加え、事実への忠実性を調べる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後続研究は、抽象型要約が入力にない情報を生成する問題を、XSumなどで分析した。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HELMはROUGEに加え、SummaCやQAFactEvalによる自動評価、要約の品質に関する人手評価も組み合わせている。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語句の一致、記事からの含意、質問応答での整合、人の判断はそれぞれ異なる測り方であり、一つの指標だけでは置き換えられない。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Maynez et al. (2020). On Faithfulness and Factuality in Abstractive Summarization. ACL.</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https://aclanthology.org/2020.acl-main.173/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後続の事前学習モデルによる結果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graphicFrame>
        <p:nvGraphicFramePr>
          <p:cNvPr id="4" name="Table 3"/>
          <p:cNvGraphicFramePr>
            <a:graphicFrameLocks noGrp="1"/>
          </p:cNvGraphicFramePr>
          <p:nvPr/>
        </p:nvGraphicFramePr>
        <p:xfrm>
          <a:off x="548640" y="1508760"/>
          <a:ext cx="8046720" cy="841248"/>
        </p:xfrm>
        <a:graphic>
          <a:graphicData uri="http://schemas.openxmlformats.org/drawingml/2006/table">
            <a:tbl>
              <a:tblPr firstRow="0" bandRow="0"/>
              <a:tblGrid>
                <a:gridCol w="4206240"/>
                <a:gridCol w="1280160"/>
                <a:gridCol w="1280160"/>
                <a:gridCol w="128016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BARTのXSum 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BART（2020）</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45.14</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22.27</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37.25</a:t>
                      </a:r>
                    </a:p>
                  </a:txBody>
                  <a:tcPr marL="63500" marR="63500" marT="38100" marB="38100" anchor="ctr">
                    <a:lnL w="7620">
                      <a:noFill/>
                    </a:lnL>
                    <a:lnR w="762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extBox 4"/>
          <p:cNvSpPr txBox="1"/>
          <p:nvPr/>
        </p:nvSpPr>
        <p:spPr>
          <a:xfrm>
            <a:off x="594360" y="2551176"/>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BART論文Table 4。XSumで微調整したモデル。HELMの518件・少数例提示とは条件が異なる。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Lewis et al. (2020). BART: Denoising Sequence-to-Sequence Pre-training for Natural Language Generation, Translation, and Comprehension. ACL.</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https://aclanthology.org/2020.acl-main.703/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作者のXSumリポジトリに、記事ID、分割、データ取得手順がある。EdinburghNLP/xsumのミラーにも本文と要約を収録する。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利用条件は、記事本文とコードでそれぞれ確認する。BBC由来の文章を再配布・公開する場合は、配布元の条件と記事の権利を確認する。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XSum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https://github.com/EdinburghNLP/XSum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load_dataset("EdinburghNLP/xsum",</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revision="7d4d486c")</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ds["test"][0]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print(example["document"])</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XSumの要点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BBC記事の要点を一文にまとめる、言い換えの多い要約課題である。冒頭の参照要約を入力から取り除いている。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約22.7万件を収録するが、参照にだけある人名など、入力から裏付けられない情報が残る場合がある。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ROUGEの一致と、記事に根拠があることを分けて評価する。HELMの518件・512語制限も比較条件に含める。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追加例1：道路の一覧から要約（原文）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34833729（test行53）。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Causanagh Road, Loughgall</a:t>
            </a:r>
          </a:p>
          <a:p>
            <a:pPr>
              <a:lnSpc>
                <a:spcPts val="2257"/>
              </a:lnSpc>
              <a:spcBef>
                <a:spcPts val="0"/>
              </a:spcBef>
              <a:spcAft>
                <a:spcPts val="0"/>
              </a:spcAft>
              <a:buNone/>
            </a:pPr>
            <a:r>
              <a:rPr sz="1850" b="0" lang="ja-JP">
                <a:solidFill>
                  <a:srgbClr val="303437"/>
                </a:solidFill>
                <a:latin typeface="Noto Sans"/>
                <a:ea typeface="Noto Sans CJK JP"/>
                <a:cs typeface="Noto Sans"/>
              </a:rPr>
              <a:t>Text: Tannyoky Road, Poyntzpass</a:t>
            </a:r>
          </a:p>
          <a:p>
            <a:pPr>
              <a:lnSpc>
                <a:spcPts val="2257"/>
              </a:lnSpc>
              <a:spcBef>
                <a:spcPts val="0"/>
              </a:spcBef>
              <a:spcAft>
                <a:spcPts val="0"/>
              </a:spcAft>
              <a:buNone/>
            </a:pPr>
            <a:r>
              <a:rPr sz="1850" b="0" lang="ja-JP">
                <a:solidFill>
                  <a:srgbClr val="303437"/>
                </a:solidFill>
                <a:latin typeface="Noto Sans"/>
                <a:ea typeface="Noto Sans CJK JP"/>
                <a:cs typeface="Noto Sans"/>
              </a:rPr>
              <a:t>Text: Carrowreagh Road, Dundonald</a:t>
            </a:r>
          </a:p>
          <a:p>
            <a:pPr>
              <a:lnSpc>
                <a:spcPts val="2257"/>
              </a:lnSpc>
              <a:spcBef>
                <a:spcPts val="0"/>
              </a:spcBef>
              <a:spcAft>
                <a:spcPts val="0"/>
              </a:spcAft>
              <a:buNone/>
            </a:pPr>
            <a:r>
              <a:rPr sz="1850" b="0" lang="ja-JP">
                <a:solidFill>
                  <a:srgbClr val="303437"/>
                </a:solidFill>
                <a:latin typeface="Noto Sans"/>
                <a:ea typeface="Noto Sans CJK JP"/>
                <a:cs typeface="Noto Sans"/>
              </a:rPr>
              <a:t>Text: Edenticullo Road, Hillsborough</a:t>
            </a:r>
          </a:p>
          <a:p>
            <a:pPr>
              <a:lnSpc>
                <a:spcPts val="2257"/>
              </a:lnSpc>
              <a:spcBef>
                <a:spcPts val="0"/>
              </a:spcBef>
              <a:spcAft>
                <a:spcPts val="0"/>
              </a:spcAft>
              <a:buNone/>
            </a:pPr>
            <a:r>
              <a:rPr sz="1850" b="0" lang="ja-JP">
                <a:solidFill>
                  <a:srgbClr val="303437"/>
                </a:solidFill>
                <a:latin typeface="Noto Sans"/>
                <a:ea typeface="Noto Sans CJK JP"/>
                <a:cs typeface="Noto Sans"/>
              </a:rPr>
              <a:t>Text: New Line Road, Rathfriland</a:t>
            </a:r>
          </a:p>
          <a:p>
            <a:pPr>
              <a:lnSpc>
                <a:spcPts val="2257"/>
              </a:lnSpc>
              <a:spcBef>
                <a:spcPts val="0"/>
              </a:spcBef>
              <a:spcAft>
                <a:spcPts val="0"/>
              </a:spcAft>
              <a:buNone/>
            </a:pPr>
            <a:r>
              <a:rPr sz="1850" b="0" lang="ja-JP">
                <a:solidFill>
                  <a:srgbClr val="303437"/>
                </a:solidFill>
                <a:latin typeface="Noto Sans"/>
                <a:ea typeface="Noto Sans CJK JP"/>
                <a:cs typeface="Noto Sans"/>
              </a:rPr>
              <a:t>Text: Drumanure Road, Derrygonnelly</a:t>
            </a:r>
          </a:p>
          <a:p>
            <a:pPr>
              <a:lnSpc>
                <a:spcPts val="2257"/>
              </a:lnSpc>
              <a:spcBef>
                <a:spcPts val="0"/>
              </a:spcBef>
              <a:spcAft>
                <a:spcPts val="0"/>
              </a:spcAft>
              <a:buNone/>
            </a:pPr>
            <a:r>
              <a:rPr sz="1850" b="0" lang="ja-JP">
                <a:solidFill>
                  <a:srgbClr val="303437"/>
                </a:solidFill>
                <a:latin typeface="Noto Sans"/>
                <a:ea typeface="Noto Sans CJK JP"/>
                <a:cs typeface="Noto Sans"/>
              </a:rPr>
              <a:t>Summary: These roads in Northern Ireland are closed due to poor weather conditions as of Friday 15 January.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追加例1：道路の一覧から要約（日本語訳）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34833729（test行53）。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入力本文：コーサナー・ロード（ラフガル）</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入力本文：タニオーキー・ロード（ポイントパス）</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入力本文：キャロウリー・ロード（ダンドナルド）</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入力本文：エデンティキュロ・ロード（ヒルズバラ）</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入力本文：ニュー・ライン・ロード（ラスフリランド）</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入力本文：ドラマヌア・ロード（デリーゴネリー）</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参照要約：北アイルランドのこれらの道路は、1月15日金曜日現在、悪天候のため通行止めになっている。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追加例2：完成予定と未完成の部屋（原文）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34231916（test行272）。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16736"/>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02920" y="1572768"/>
            <a:ext cx="8183879" cy="2668777"/>
          </a:xfrm>
          <a:prstGeom prst="rect">
            <a:avLst/>
          </a:prstGeom>
          <a:solidFill>
            <a:srgbClr val="EBEDEB"/>
          </a:solidFill>
          <a:ln>
            <a:noFill/>
          </a:ln>
        </p:spPr>
        <p:txBody>
          <a:bodyPr wrap="square" lIns="127000" rIns="127000" tIns="88900" bIns="88900">
            <a:noAutofit/>
          </a:bodyPr>
          <a:lstStyle/>
          <a:p>
            <a:pPr>
              <a:lnSpc>
                <a:spcPts val="2145"/>
              </a:lnSpc>
              <a:spcBef>
                <a:spcPts val="0"/>
              </a:spcBef>
              <a:spcAft>
                <a:spcPts val="0"/>
              </a:spcAft>
              <a:buNone/>
            </a:pPr>
            <a:r>
              <a:rPr sz="1850" b="0" lang="ja-JP">
                <a:solidFill>
                  <a:srgbClr val="303437"/>
                </a:solidFill>
                <a:latin typeface="Noto Sans"/>
                <a:ea typeface="Noto Sans CJK JP"/>
                <a:cs typeface="Noto Sans"/>
              </a:rPr>
              <a:t>Text: Penglais Farm will have a total of 1,000 rooms, but only 700 will be ready this month to welcome students.</a:t>
            </a:r>
          </a:p>
          <a:p>
            <a:pPr>
              <a:lnSpc>
                <a:spcPts val="2145"/>
              </a:lnSpc>
              <a:spcBef>
                <a:spcPts val="0"/>
              </a:spcBef>
              <a:spcAft>
                <a:spcPts val="0"/>
              </a:spcAft>
              <a:buNone/>
            </a:pPr>
            <a:r>
              <a:rPr sz="1850" b="0" lang="ja-JP">
                <a:solidFill>
                  <a:srgbClr val="303437"/>
                </a:solidFill>
                <a:latin typeface="Noto Sans"/>
                <a:ea typeface="Noto Sans CJK JP"/>
                <a:cs typeface="Noto Sans"/>
              </a:rPr>
              <a:t>Text: The university said developer Balfour Beatty confirmed the remaining 300 rooms will be ready during the 2015-16 academic year.</a:t>
            </a:r>
          </a:p>
          <a:p>
            <a:pPr>
              <a:lnSpc>
                <a:spcPts val="2145"/>
              </a:lnSpc>
              <a:spcBef>
                <a:spcPts val="0"/>
              </a:spcBef>
              <a:spcAft>
                <a:spcPts val="0"/>
              </a:spcAft>
              <a:buNone/>
            </a:pPr>
            <a:r>
              <a:rPr sz="1850" b="0" lang="ja-JP">
                <a:solidFill>
                  <a:srgbClr val="303437"/>
                </a:solidFill>
                <a:latin typeface="Noto Sans"/>
                <a:ea typeface="Noto Sans CJK JP"/>
                <a:cs typeface="Noto Sans"/>
              </a:rPr>
              <a:t>Text: Balfour Beatty has been asked to comment.</a:t>
            </a:r>
          </a:p>
          <a:p>
            <a:pPr>
              <a:lnSpc>
                <a:spcPts val="2145"/>
              </a:lnSpc>
              <a:spcBef>
                <a:spcPts val="0"/>
              </a:spcBef>
              <a:spcAft>
                <a:spcPts val="0"/>
              </a:spcAft>
              <a:buNone/>
            </a:pPr>
            <a:r>
              <a:rPr sz="1850" b="0" lang="ja-JP">
                <a:solidFill>
                  <a:srgbClr val="303437"/>
                </a:solidFill>
                <a:latin typeface="Noto Sans"/>
                <a:ea typeface="Noto Sans CJK JP"/>
                <a:cs typeface="Noto Sans"/>
              </a:rPr>
              <a:t>Text: The unfinished rooms have not been let to students.</a:t>
            </a:r>
          </a:p>
          <a:p>
            <a:pPr>
              <a:lnSpc>
                <a:spcPts val="2145"/>
              </a:lnSpc>
              <a:spcBef>
                <a:spcPts val="0"/>
              </a:spcBef>
              <a:spcAft>
                <a:spcPts val="0"/>
              </a:spcAft>
              <a:buNone/>
            </a:pPr>
            <a:r>
              <a:rPr sz="1850" b="0" lang="ja-JP">
                <a:solidFill>
                  <a:srgbClr val="303437"/>
                </a:solidFill>
                <a:latin typeface="Noto Sans"/>
                <a:ea typeface="Noto Sans CJK JP"/>
                <a:cs typeface="Noto Sans"/>
              </a:rPr>
              <a:t>Summary: Hundreds of rooms at a £45m student halls development at Aberystwyth University will not be ready for the new term.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追加例2：完成予定と未完成の部屋（日本語訳）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34231916（test行272）。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入力本文：Penglais Farmには計1,000室が設けられるが、今月、学生を迎えられるのは700室だけだ。</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入力本文：大学によると、開発会社Balfour Beattyは残る300室が2015〜16年度中に完成すると確認した。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入力本文：同社にコメントを求めている。</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入力本文：未完成の部屋は学生に貸し出されていない。</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参照要約：アベリストウィス大学で4,500万ポンドをかけて開発中の学生寮の数百室が、新学期に間に合わない。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追加例3：小学校の定員拡大（原文）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30157987（test行382）。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Sayes Court will double in size and provide an additional 210 places by September 2015.</a:t>
            </a:r>
          </a:p>
          <a:p>
            <a:pPr>
              <a:lnSpc>
                <a:spcPts val="2257"/>
              </a:lnSpc>
              <a:spcBef>
                <a:spcPts val="0"/>
              </a:spcBef>
              <a:spcAft>
                <a:spcPts val="0"/>
              </a:spcAft>
              <a:buNone/>
            </a:pPr>
            <a:r>
              <a:rPr sz="1850" b="0" lang="ja-JP">
                <a:solidFill>
                  <a:srgbClr val="303437"/>
                </a:solidFill>
                <a:latin typeface="Noto Sans"/>
                <a:ea typeface="Noto Sans CJK JP"/>
                <a:cs typeface="Noto Sans"/>
              </a:rPr>
              <a:t>Text: Surrey County Council said it needs to "bridge a Â£215m funding gap" for 13,000 places, blaming an "unprecedented demand" on its services.</a:t>
            </a:r>
          </a:p>
          <a:p>
            <a:pPr>
              <a:lnSpc>
                <a:spcPts val="2257"/>
              </a:lnSpc>
              <a:spcBef>
                <a:spcPts val="0"/>
              </a:spcBef>
              <a:spcAft>
                <a:spcPts val="0"/>
              </a:spcAft>
              <a:buNone/>
            </a:pPr>
            <a:r>
              <a:rPr sz="1850" b="0" lang="ja-JP">
                <a:solidFill>
                  <a:srgbClr val="303437"/>
                </a:solidFill>
                <a:latin typeface="Noto Sans"/>
                <a:ea typeface="Noto Sans CJK JP"/>
                <a:cs typeface="Noto Sans"/>
              </a:rPr>
              <a:t>Text: It said nearby Esher School is also being completely rebuilt to boost capacity by 210 places.</a:t>
            </a:r>
          </a:p>
          <a:p>
            <a:pPr>
              <a:lnSpc>
                <a:spcPts val="2257"/>
              </a:lnSpc>
              <a:spcBef>
                <a:spcPts val="0"/>
              </a:spcBef>
              <a:spcAft>
                <a:spcPts val="0"/>
              </a:spcAft>
              <a:buNone/>
            </a:pPr>
            <a:r>
              <a:rPr sz="1850" b="0" lang="ja-JP">
                <a:solidFill>
                  <a:srgbClr val="303437"/>
                </a:solidFill>
                <a:latin typeface="Noto Sans"/>
                <a:ea typeface="Noto Sans CJK JP"/>
                <a:cs typeface="Noto Sans"/>
              </a:rPr>
              <a:t>Summary: An artist's impression of how an expanded primary school in Addlestone will look has been unveiled.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追加例3：小学校の定員拡大（日本語訳）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30157987（test行382）。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入力本文：Sayes Courtは2015年9月までに規模を倍にし、定員を210人増やす。</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入力本文：サリー州議会は、需要の前例のない増大により、1万3,000人分の定員に必要な2億1,500万ポンドの資金不足を埋める必要があると述べた。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入力本文：近くのEsher Schoolも全面改築され、定員が210人増えるという。</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参照要約：アドルストーンの小学校を拡張した際の完成予想図が公開された。</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追加例4：投票から開票へ（原文）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32610327（test行434）。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Polling booths opened at 07:00 BST in the area's 15 constituencies, with results expected to be declared after midnight.</a:t>
            </a:r>
          </a:p>
          <a:p>
            <a:pPr>
              <a:lnSpc>
                <a:spcPts val="2257"/>
              </a:lnSpc>
              <a:spcBef>
                <a:spcPts val="0"/>
              </a:spcBef>
              <a:spcAft>
                <a:spcPts val="0"/>
              </a:spcAft>
              <a:buNone/>
            </a:pPr>
            <a:r>
              <a:rPr sz="1850" b="0" lang="ja-JP">
                <a:solidFill>
                  <a:srgbClr val="303437"/>
                </a:solidFill>
                <a:latin typeface="Noto Sans"/>
                <a:ea typeface="Noto Sans CJK JP"/>
                <a:cs typeface="Noto Sans"/>
              </a:rPr>
              <a:t>Text: Votes will be counted after the polls close at 22:00 BST.</a:t>
            </a:r>
          </a:p>
          <a:p>
            <a:pPr>
              <a:lnSpc>
                <a:spcPts val="2257"/>
              </a:lnSpc>
              <a:spcBef>
                <a:spcPts val="0"/>
              </a:spcBef>
              <a:spcAft>
                <a:spcPts val="0"/>
              </a:spcAft>
              <a:buNone/>
            </a:pPr>
            <a:r>
              <a:rPr sz="1850" b="0" lang="ja-JP">
                <a:solidFill>
                  <a:srgbClr val="303437"/>
                </a:solidFill>
                <a:latin typeface="Noto Sans"/>
                <a:ea typeface="Noto Sans CJK JP"/>
                <a:cs typeface="Noto Sans"/>
              </a:rPr>
              <a:t>Text: For the latest news from all the counts on Merseyside, go to our election live service or check the results on your constituency profile page.</a:t>
            </a:r>
          </a:p>
          <a:p>
            <a:pPr>
              <a:lnSpc>
                <a:spcPts val="2257"/>
              </a:lnSpc>
              <a:spcBef>
                <a:spcPts val="0"/>
              </a:spcBef>
              <a:spcAft>
                <a:spcPts val="0"/>
              </a:spcAft>
              <a:buNone/>
            </a:pPr>
            <a:r>
              <a:rPr sz="1850" b="0" lang="ja-JP">
                <a:solidFill>
                  <a:srgbClr val="303437"/>
                </a:solidFill>
                <a:latin typeface="Noto Sans"/>
                <a:ea typeface="Noto Sans CJK JP"/>
                <a:cs typeface="Noto Sans"/>
              </a:rPr>
              <a:t>Summary: People are voting across Merseyside in the general and local council elections.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追加例4：投票から開票へ（日本語訳）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32610327（test行434）。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入力本文：地域内の15選挙区では午前7時（英国夏時間）に投票が始まり、結果は深夜以降に発表される見込みだ。</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入力本文：午後10時の投票終了後に開票する。</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入力本文：マージーサイド各地の開票の最新情報は選挙ライブサービスか、各選挙区の結果ページで確認できる。</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参照要約：マージーサイド各地で、総選挙と地方議会選挙の投票が行われている。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追加例5：テニスの試合結果（原文）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29218607（test行492）。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Watson, 22, was seeded eighth in the tournament but lost 7-5 6-2 to the world number 101 in Seoul.</a:t>
            </a:r>
          </a:p>
          <a:p>
            <a:pPr>
              <a:lnSpc>
                <a:spcPts val="2257"/>
              </a:lnSpc>
              <a:spcBef>
                <a:spcPts val="0"/>
              </a:spcBef>
              <a:spcAft>
                <a:spcPts val="0"/>
              </a:spcAft>
              <a:buNone/>
            </a:pPr>
            <a:r>
              <a:rPr sz="1850" b="0" lang="ja-JP">
                <a:solidFill>
                  <a:srgbClr val="303437"/>
                </a:solidFill>
                <a:latin typeface="Noto Sans"/>
                <a:ea typeface="Noto Sans CJK JP"/>
                <a:cs typeface="Noto Sans"/>
              </a:rPr>
              <a:t>Text: The British number one, ranked 46 in the world, converted just one of seven break points in the first set and the American dominated the second set.</a:t>
            </a:r>
          </a:p>
          <a:p>
            <a:pPr>
              <a:lnSpc>
                <a:spcPts val="2257"/>
              </a:lnSpc>
              <a:spcBef>
                <a:spcPts val="0"/>
              </a:spcBef>
              <a:spcAft>
                <a:spcPts val="0"/>
              </a:spcAft>
              <a:buNone/>
            </a:pPr>
            <a:r>
              <a:rPr sz="1850" b="0" lang="ja-JP">
                <a:solidFill>
                  <a:srgbClr val="303437"/>
                </a:solidFill>
                <a:latin typeface="Noto Sans"/>
                <a:ea typeface="Noto Sans CJK JP"/>
                <a:cs typeface="Noto Sans"/>
              </a:rPr>
              <a:t>Text: Watson's early departure comes less than a month after her first-round defeat in straight sets at the US Open.</a:t>
            </a:r>
          </a:p>
          <a:p>
            <a:pPr>
              <a:lnSpc>
                <a:spcPts val="2257"/>
              </a:lnSpc>
              <a:spcBef>
                <a:spcPts val="0"/>
              </a:spcBef>
              <a:spcAft>
                <a:spcPts val="0"/>
              </a:spcAft>
              <a:buNone/>
            </a:pPr>
            <a:r>
              <a:rPr sz="1850" b="0" lang="ja-JP">
                <a:solidFill>
                  <a:srgbClr val="303437"/>
                </a:solidFill>
                <a:latin typeface="Noto Sans"/>
                <a:ea typeface="Noto Sans CJK JP"/>
                <a:cs typeface="Noto Sans"/>
              </a:rPr>
              <a:t>Summary: Britain's Heather Watson has been knocked out of the first round of the Korea Open by qualifier Nicole Gibbs.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追加例5：テニスの試合結果（日本語訳）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29218607（test行492）。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入力本文：第8シードの22歳ワトソンは、ソウルで世界101位の選手に7-5、6-2で敗れた。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入力本文：世界46位の英国1位選手は、第1セットの7度のブレークポイントのうち1度しか生かせず、第2セットは米国選手が優勢だった。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入力本文：全米オープンでストレート負けの初戦敗退を喫してから1か月もたたないうちの早期敗退となった。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参照要約：英国のヘザー・ワトソンは、韓国オープンの初戦で予選通過者のニコール・ギブスに敗れた。</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追加例6：グラミー賞候補（原文）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30358562（test行532）。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6 December 2014 Last updated at 09:15 GMT</a:t>
            </a:r>
          </a:p>
          <a:p>
            <a:pPr>
              <a:lnSpc>
                <a:spcPts val="2257"/>
              </a:lnSpc>
              <a:spcBef>
                <a:spcPts val="0"/>
              </a:spcBef>
              <a:spcAft>
                <a:spcPts val="0"/>
              </a:spcAft>
              <a:buNone/>
            </a:pPr>
            <a:r>
              <a:rPr sz="1850" b="0" lang="ja-JP">
                <a:solidFill>
                  <a:srgbClr val="303437"/>
                </a:solidFill>
                <a:latin typeface="Noto Sans"/>
                <a:ea typeface="Noto Sans CJK JP"/>
                <a:cs typeface="Noto Sans"/>
              </a:rPr>
              <a:t>Text: The Grammy Awards is one of the most prestigious music ceremony's in the world.</a:t>
            </a:r>
          </a:p>
          <a:p>
            <a:pPr>
              <a:lnSpc>
                <a:spcPts val="2257"/>
              </a:lnSpc>
              <a:spcBef>
                <a:spcPts val="0"/>
              </a:spcBef>
              <a:spcAft>
                <a:spcPts val="0"/>
              </a:spcAft>
              <a:buNone/>
            </a:pPr>
            <a:r>
              <a:rPr sz="1850" b="0" lang="ja-JP">
                <a:solidFill>
                  <a:srgbClr val="303437"/>
                </a:solidFill>
                <a:latin typeface="Noto Sans"/>
                <a:ea typeface="Noto Sans CJK JP"/>
                <a:cs typeface="Noto Sans"/>
              </a:rPr>
              <a:t>Text: Sam Smith, who topped the BBC's Sound of 2014 in January, has six nominations including best new artist.</a:t>
            </a:r>
          </a:p>
          <a:p>
            <a:pPr>
              <a:lnSpc>
                <a:spcPts val="2257"/>
              </a:lnSpc>
              <a:spcBef>
                <a:spcPts val="0"/>
              </a:spcBef>
              <a:spcAft>
                <a:spcPts val="0"/>
              </a:spcAft>
              <a:buNone/>
            </a:pPr>
            <a:r>
              <a:rPr sz="1850" b="0" lang="ja-JP">
                <a:solidFill>
                  <a:srgbClr val="303437"/>
                </a:solidFill>
                <a:latin typeface="Noto Sans"/>
                <a:ea typeface="Noto Sans CJK JP"/>
                <a:cs typeface="Noto Sans"/>
              </a:rPr>
              <a:t>Text: His single Stay With Me is also up for best pop performance and record of the year.</a:t>
            </a:r>
          </a:p>
          <a:p>
            <a:pPr>
              <a:lnSpc>
                <a:spcPts val="2257"/>
              </a:lnSpc>
              <a:spcBef>
                <a:spcPts val="0"/>
              </a:spcBef>
              <a:spcAft>
                <a:spcPts val="0"/>
              </a:spcAft>
              <a:buNone/>
            </a:pPr>
            <a:r>
              <a:rPr sz="1850" b="0" lang="ja-JP">
                <a:solidFill>
                  <a:srgbClr val="303437"/>
                </a:solidFill>
                <a:latin typeface="Noto Sans"/>
                <a:ea typeface="Noto Sans CJK JP"/>
                <a:cs typeface="Noto Sans"/>
              </a:rPr>
              <a:t>Summary: British artists have scooped several nominations for the 2015 Grammys.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追加例6：グラミー賞候補（日本語訳）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30358562（test行532）。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入力本文：2014年12月6日、最終更新09:15 GMT。</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入力本文：グラミー賞は世界で最も権威ある音楽賞の一つである。</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入力本文：1月にBBC Sound of 2014の首位となったサム・スミスは、最優秀新人賞を含む6部門に候補入りした。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入力本文：シングル「Stay With Me」も最優秀ポップ・パフォーマンスと年間最優秀レコードの候補になっている。</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参照要約：英国のアーティストが、2015年グラミー賞の複数部門で候補入りした。</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追加例7：停電と復旧（原文）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36852171（test行570）。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Areas in Counties Londonderry, Antrim and Down were affected.</a:t>
            </a:r>
          </a:p>
          <a:p>
            <a:pPr>
              <a:lnSpc>
                <a:spcPts val="2257"/>
              </a:lnSpc>
              <a:spcBef>
                <a:spcPts val="0"/>
              </a:spcBef>
              <a:spcAft>
                <a:spcPts val="0"/>
              </a:spcAft>
              <a:buNone/>
            </a:pPr>
            <a:r>
              <a:rPr sz="1850" b="0" lang="ja-JP">
                <a:solidFill>
                  <a:srgbClr val="303437"/>
                </a:solidFill>
                <a:latin typeface="Noto Sans"/>
                <a:ea typeface="Noto Sans CJK JP"/>
                <a:cs typeface="Noto Sans"/>
              </a:rPr>
              <a:t>Text: A spokesperson for Northern Ireland Electricity said was an equipment fault was detected at 21.40 BST.</a:t>
            </a:r>
          </a:p>
          <a:p>
            <a:pPr>
              <a:lnSpc>
                <a:spcPts val="2257"/>
              </a:lnSpc>
              <a:spcBef>
                <a:spcPts val="0"/>
              </a:spcBef>
              <a:spcAft>
                <a:spcPts val="0"/>
              </a:spcAft>
              <a:buNone/>
            </a:pPr>
            <a:r>
              <a:rPr sz="1850" b="0" lang="ja-JP">
                <a:solidFill>
                  <a:srgbClr val="303437"/>
                </a:solidFill>
                <a:latin typeface="Noto Sans"/>
                <a:ea typeface="Noto Sans CJK JP"/>
                <a:cs typeface="Noto Sans"/>
              </a:rPr>
              <a:t>Text: All properties have had power restored had their power restored by 22.14 BST.</a:t>
            </a:r>
          </a:p>
          <a:p>
            <a:pPr>
              <a:lnSpc>
                <a:spcPts val="2257"/>
              </a:lnSpc>
              <a:spcBef>
                <a:spcPts val="0"/>
              </a:spcBef>
              <a:spcAft>
                <a:spcPts val="0"/>
              </a:spcAft>
              <a:buNone/>
            </a:pPr>
            <a:r>
              <a:rPr sz="1850" b="0" lang="ja-JP">
                <a:solidFill>
                  <a:srgbClr val="303437"/>
                </a:solidFill>
                <a:latin typeface="Noto Sans"/>
                <a:ea typeface="Noto Sans CJK JP"/>
                <a:cs typeface="Noto Sans"/>
              </a:rPr>
              <a:t>Summary: Several thousand customers were left without electricity for a time on Wednesday night.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追加例7：停電と復旧（日本語訳）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36852171（test行570）。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70306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入力本文：ロンドンデリー、アントリム、ダウン各県の地域が影響を受けた。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入力本文：北アイルランド電力の広報担当によると、21時40分（英国夏時間）に設備の故障が検出された。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入力本文：22時14分までに、すべての建物への電力供給が復旧した。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参照要約：水曜日の夜、数千世帯が一時停電した。</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追加例8：山での救助（原文）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38586981（test行791）。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Two were picked up by a coastguard helicopter high up on the 3,196ft (974 metre) Munro.</a:t>
            </a:r>
          </a:p>
          <a:p>
            <a:pPr>
              <a:lnSpc>
                <a:spcPts val="2257"/>
              </a:lnSpc>
              <a:spcBef>
                <a:spcPts val="0"/>
              </a:spcBef>
              <a:spcAft>
                <a:spcPts val="0"/>
              </a:spcAft>
              <a:buNone/>
            </a:pPr>
            <a:r>
              <a:rPr sz="1850" b="0" lang="ja-JP">
                <a:solidFill>
                  <a:srgbClr val="303437"/>
                </a:solidFill>
                <a:latin typeface="Noto Sans"/>
                <a:ea typeface="Noto Sans CJK JP"/>
                <a:cs typeface="Noto Sans"/>
              </a:rPr>
              <a:t>Text: Lomond Mountain Rescue Team located two others on the lower slopes.</a:t>
            </a:r>
          </a:p>
          <a:p>
            <a:pPr>
              <a:lnSpc>
                <a:spcPts val="2257"/>
              </a:lnSpc>
              <a:spcBef>
                <a:spcPts val="0"/>
              </a:spcBef>
              <a:spcAft>
                <a:spcPts val="0"/>
              </a:spcAft>
              <a:buNone/>
            </a:pPr>
            <a:r>
              <a:rPr sz="1850" b="0" lang="ja-JP">
                <a:solidFill>
                  <a:srgbClr val="303437"/>
                </a:solidFill>
                <a:latin typeface="Noto Sans"/>
                <a:ea typeface="Noto Sans CJK JP"/>
                <a:cs typeface="Noto Sans"/>
              </a:rPr>
              <a:t>Text: Mountain weather forecasters were predicting winds of up to 80mph with frequent snow showers at summit level in western Scotland for Wednesday.</a:t>
            </a:r>
          </a:p>
          <a:p>
            <a:pPr>
              <a:lnSpc>
                <a:spcPts val="2257"/>
              </a:lnSpc>
              <a:spcBef>
                <a:spcPts val="0"/>
              </a:spcBef>
              <a:spcAft>
                <a:spcPts val="0"/>
              </a:spcAft>
              <a:buNone/>
            </a:pPr>
            <a:r>
              <a:rPr sz="1850" b="0" lang="ja-JP">
                <a:solidFill>
                  <a:srgbClr val="303437"/>
                </a:solidFill>
                <a:latin typeface="Noto Sans"/>
                <a:ea typeface="Noto Sans CJK JP"/>
                <a:cs typeface="Noto Sans"/>
              </a:rPr>
              <a:t>Summary: Four hillwalkers who got into difficulties during severe weather on Ben Lomond have been rescued.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追加例8：山での救助（日本語訳）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38586981（test行791）。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入力本文：2人は標高3,196フィート（974m）の山の高所で、沿岸警備隊のヘリコプターに救助された。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入力本文：ローモンド山岳救助隊は、低い斜面で別の2人を発見した。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入力本文：山岳気象予報では、水曜日のスコットランド西部の山頂付近で、最大時速80マイルの風が吹き、にわか雪がたびたび降ると予想されていた。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参照要約：ベン・ローモンドで悪天候のため動けなくなった登山者4人が救助された。</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追加例9：サッカー選手の期限付き移籍（原文）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29771956（test行15）。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833751"/>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The 33-year-old has featured only twice for the Foxes this term, having signed a new one-year deal with the Premier League newcomers in the summer.</a:t>
            </a:r>
          </a:p>
          <a:p>
            <a:pPr>
              <a:lnSpc>
                <a:spcPts val="2257"/>
              </a:lnSpc>
              <a:spcBef>
                <a:spcPts val="0"/>
              </a:spcBef>
              <a:spcAft>
                <a:spcPts val="0"/>
              </a:spcAft>
              <a:buNone/>
            </a:pPr>
            <a:r>
              <a:rPr sz="1850" b="0" lang="ja-JP">
                <a:solidFill>
                  <a:srgbClr val="303437"/>
                </a:solidFill>
                <a:latin typeface="Noto Sans"/>
                <a:ea typeface="Noto Sans CJK JP"/>
                <a:cs typeface="Noto Sans"/>
              </a:rPr>
              <a:t>Text: Former Blackpool forward Taylor-Fletcher scored three goals in 23 games for his parent club last season.</a:t>
            </a:r>
          </a:p>
          <a:p>
            <a:pPr>
              <a:lnSpc>
                <a:spcPts val="2257"/>
              </a:lnSpc>
              <a:spcBef>
                <a:spcPts val="0"/>
              </a:spcBef>
              <a:spcAft>
                <a:spcPts val="0"/>
              </a:spcAft>
              <a:buNone/>
            </a:pPr>
            <a:r>
              <a:rPr sz="1850" b="0" lang="ja-JP">
                <a:solidFill>
                  <a:srgbClr val="303437"/>
                </a:solidFill>
                <a:latin typeface="Noto Sans"/>
                <a:ea typeface="Noto Sans CJK JP"/>
                <a:cs typeface="Noto Sans"/>
              </a:rPr>
              <a:t>Text: He joined the 13th-placed Owls prior to Saturday's Championship game against Norwich City.</a:t>
            </a:r>
          </a:p>
          <a:p>
            <a:pPr>
              <a:lnSpc>
                <a:spcPts val="2257"/>
              </a:lnSpc>
              <a:spcBef>
                <a:spcPts val="0"/>
              </a:spcBef>
              <a:spcAft>
                <a:spcPts val="0"/>
              </a:spcAft>
              <a:buNone/>
            </a:pPr>
            <a:r>
              <a:rPr sz="1850" b="0" lang="ja-JP">
                <a:solidFill>
                  <a:srgbClr val="303437"/>
                </a:solidFill>
                <a:latin typeface="Noto Sans"/>
                <a:ea typeface="Noto Sans CJK JP"/>
                <a:cs typeface="Noto Sans"/>
              </a:rPr>
              <a:t>Summary: Leicester City striker Gary Taylor-Fletcher has joined Sheffield Wednesday on an initial month-long loan.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074"/>
              </a:lnSpc>
            </a:pPr>
            <a:r>
              <a:rPr sz="2650" b="1">
                <a:solidFill>
                  <a:srgbClr val="303437"/>
                </a:solidFill>
                <a:latin typeface="Noto Sans"/>
                <a:ea typeface="Noto Sans CJK JP"/>
              </a:rPr>
              <a:t>追加例9：サッカー選手の期限付き移籍（日本語訳）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29771956（test行15）。</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2245359"/>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入力本文：33歳の選手は、夏にプレミアリーグ昇格組と新たな1年契約を結んだが、今季のフォクシーズでの出場は2試合だけだ。</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入力本文：元ブラックプールFWのテイラー＝フレッチャーは、昨季、所属元のクラブで23試合に出場して3得点した。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入力本文：ノリッジとの土曜日の2部リーグの試合前に、13位のオウルズへ加わった。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参照要約：レスター・シティのFWギャリー・テイラー＝フレッチャーが、当初1か月の期限付き移籍でシェフィールド・ウェンズデイに加わった。</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追加例10：宇宙飛行士との交流（原文）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35480672（test行161）。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original-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原文</a:t>
            </a:r>
          </a:p>
        </p:txBody>
      </p:sp>
      <p:sp>
        <p:nvSpPr>
          <p:cNvPr id="9" name="original-panel"/>
          <p:cNvSpPr txBox="1"/>
          <p:nvPr/>
        </p:nvSpPr>
        <p:spPr>
          <a:xfrm>
            <a:off x="548640" y="1655064"/>
            <a:ext cx="8046720" cy="2547112"/>
          </a:xfrm>
          <a:prstGeom prst="rect">
            <a:avLst/>
          </a:prstGeom>
          <a:solidFill>
            <a:srgbClr val="EBEDEB"/>
          </a:solidFill>
          <a:ln>
            <a:noFill/>
          </a:ln>
        </p:spPr>
        <p:txBody>
          <a:bodyPr wrap="square" lIns="152400" rIns="152400" tIns="101600" bIns="101600">
            <a:noAutofit/>
          </a:bodyPr>
          <a:lstStyle/>
          <a:p>
            <a:pPr>
              <a:lnSpc>
                <a:spcPts val="2257"/>
              </a:lnSpc>
              <a:spcBef>
                <a:spcPts val="0"/>
              </a:spcBef>
              <a:spcAft>
                <a:spcPts val="0"/>
              </a:spcAft>
              <a:buNone/>
            </a:pPr>
            <a:r>
              <a:rPr sz="1850" b="0" lang="ja-JP">
                <a:solidFill>
                  <a:srgbClr val="303437"/>
                </a:solidFill>
                <a:latin typeface="Noto Sans"/>
                <a:ea typeface="Noto Sans CJK JP"/>
                <a:cs typeface="Noto Sans"/>
              </a:rPr>
              <a:t>Text: 3 February 2016 Last updated at 08:07 GMT</a:t>
            </a:r>
          </a:p>
          <a:p>
            <a:pPr>
              <a:lnSpc>
                <a:spcPts val="2257"/>
              </a:lnSpc>
              <a:spcBef>
                <a:spcPts val="0"/>
              </a:spcBef>
              <a:spcAft>
                <a:spcPts val="0"/>
              </a:spcAft>
              <a:buNone/>
            </a:pPr>
            <a:r>
              <a:rPr sz="1850" b="0" lang="ja-JP">
                <a:solidFill>
                  <a:srgbClr val="303437"/>
                </a:solidFill>
                <a:latin typeface="Noto Sans"/>
                <a:ea typeface="Noto Sans CJK JP"/>
                <a:cs typeface="Noto Sans"/>
              </a:rPr>
              <a:t>Text: The British astronaut has been up there for six weeks, but took time out to speak to children and share some experiments.</a:t>
            </a:r>
          </a:p>
          <a:p>
            <a:pPr>
              <a:lnSpc>
                <a:spcPts val="2257"/>
              </a:lnSpc>
              <a:spcBef>
                <a:spcPts val="0"/>
              </a:spcBef>
              <a:spcAft>
                <a:spcPts val="0"/>
              </a:spcAft>
              <a:buNone/>
            </a:pPr>
            <a:r>
              <a:rPr sz="1850" b="0" lang="ja-JP">
                <a:solidFill>
                  <a:srgbClr val="303437"/>
                </a:solidFill>
                <a:latin typeface="Noto Sans"/>
                <a:ea typeface="Noto Sans CJK JP"/>
                <a:cs typeface="Noto Sans"/>
              </a:rPr>
              <a:t>Text: Leah went to meet some of kids lucky enough to be able to talk direct to the astronaut...</a:t>
            </a:r>
          </a:p>
          <a:p>
            <a:pPr>
              <a:lnSpc>
                <a:spcPts val="2257"/>
              </a:lnSpc>
              <a:spcBef>
                <a:spcPts val="0"/>
              </a:spcBef>
              <a:spcAft>
                <a:spcPts val="0"/>
              </a:spcAft>
              <a:buNone/>
            </a:pPr>
            <a:r>
              <a:rPr sz="1850" b="0" lang="ja-JP">
                <a:solidFill>
                  <a:srgbClr val="303437"/>
                </a:solidFill>
                <a:latin typeface="Noto Sans"/>
                <a:ea typeface="Noto Sans CJK JP"/>
                <a:cs typeface="Noto Sans"/>
              </a:rPr>
              <a:t>Summary: Children across Britain linked up with Tim Peake on the International Space Station yesterday for a big question and answer session.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nSpc>
                <a:spcPts val="3247"/>
              </a:lnSpc>
            </a:pPr>
            <a:r>
              <a:rPr sz="2800" b="1">
                <a:solidFill>
                  <a:srgbClr val="303437"/>
                </a:solidFill>
                <a:latin typeface="Noto Sans"/>
                <a:ea typeface="Noto Sans CJK JP"/>
              </a:rPr>
              <a:t>追加例10：宇宙飛行士との交流（日本語訳）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 BBC記事ID 35480672（test行161）。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
        <p:nvSpPr>
          <p:cNvPr id="8" name="translation-label"/>
          <p:cNvSpPr txBox="1"/>
          <p:nvPr/>
        </p:nvSpPr>
        <p:spPr>
          <a:xfrm>
            <a:off x="548640" y="1399032"/>
            <a:ext cx="4572000" cy="201168"/>
          </a:xfrm>
          <a:prstGeom prst="rect">
            <a:avLst/>
          </a:prstGeom>
          <a:noFill/>
        </p:spPr>
        <p:txBody>
          <a:bodyPr wrap="square" lIns="0" rIns="0" tIns="0" bIns="0">
            <a:noAutofit/>
          </a:bodyPr>
          <a:lstStyle/>
          <a:p>
            <a:pPr>
              <a:lnSpc>
                <a:spcPts val="1464"/>
              </a:lnSpc>
              <a:spcBef>
                <a:spcPts val="0"/>
              </a:spcBef>
              <a:spcAft>
                <a:spcPts val="0"/>
              </a:spcAft>
              <a:buNone/>
            </a:pPr>
            <a:r>
              <a:rPr sz="1200" b="0" lang="ja-JP">
                <a:solidFill>
                  <a:srgbClr val="626669"/>
                </a:solidFill>
                <a:latin typeface="Noto Sans"/>
                <a:ea typeface="Noto Sans CJK JP"/>
                <a:cs typeface="Noto Sans"/>
              </a:rPr>
              <a:t>日本語訳</a:t>
            </a:r>
          </a:p>
        </p:txBody>
      </p:sp>
      <p:sp>
        <p:nvSpPr>
          <p:cNvPr id="9" name="translation-body"/>
          <p:cNvSpPr txBox="1"/>
          <p:nvPr/>
        </p:nvSpPr>
        <p:spPr>
          <a:xfrm>
            <a:off x="594360" y="1655064"/>
            <a:ext cx="7955279" cy="1974215"/>
          </a:xfrm>
          <a:prstGeom prst="rect">
            <a:avLst/>
          </a:prstGeom>
          <a:noFill/>
        </p:spPr>
        <p:txBody>
          <a:bodyPr wrap="square" lIns="0" rIns="0" tIns="0" bIns="0">
            <a:noAutofit/>
          </a:bodyPr>
          <a:lstStyle/>
          <a:p>
            <a:pPr>
              <a:lnSpc>
                <a:spcPts val="2135"/>
              </a:lnSpc>
              <a:spcBef>
                <a:spcPts val="0"/>
              </a:spcBef>
              <a:spcAft>
                <a:spcPts val="0"/>
              </a:spcAft>
              <a:buNone/>
            </a:pPr>
            <a:r>
              <a:rPr sz="1750" b="0" lang="ja-JP">
                <a:solidFill>
                  <a:srgbClr val="303437"/>
                </a:solidFill>
                <a:latin typeface="Noto Sans"/>
                <a:ea typeface="Noto Sans CJK JP"/>
                <a:cs typeface="Noto Sans"/>
              </a:rPr>
              <a:t>入力本文：2016年2月3日、最終更新08:07 GMT。</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入力本文：英国の宇宙飛行士は6週間、宇宙に滞在しているが、時間を取って子どもたちと話し、実験を紹介した。</a:t>
            </a:r>
          </a:p>
          <a:p>
            <a:pPr>
              <a:lnSpc>
                <a:spcPts val="2135"/>
              </a:lnSpc>
              <a:spcBef>
                <a:spcPts val="0"/>
              </a:spcBef>
              <a:spcAft>
                <a:spcPts val="0"/>
              </a:spcAft>
              <a:buNone/>
            </a:pPr>
            <a:r>
              <a:rPr sz="1750" b="0" lang="ja-JP">
                <a:solidFill>
                  <a:srgbClr val="303437"/>
                </a:solidFill>
                <a:latin typeface="Noto Sans"/>
                <a:ea typeface="Noto Sans CJK JP"/>
                <a:cs typeface="Noto Sans"/>
              </a:rPr>
              <a:t>入力本文：リアは、この宇宙飛行士と直接話せる幸運に恵まれた子どもたちに会いに行った。</a:t>
            </a:r>
          </a:p>
          <a:p>
            <a:pPr>
              <a:lnSpc>
                <a:spcPts val="2135"/>
              </a:lnSpc>
              <a:spcBef>
                <a:spcPts val="0"/>
              </a:spcBef>
              <a:spcAft>
                <a:spcPts val="0"/>
              </a:spcAft>
              <a:buNone/>
            </a:pPr>
            <a:r>
              <a:rPr sz="1750" b="0" lang="ja-JP">
                <a:solidFill>
                  <a:srgbClr val="303437"/>
                </a:solidFill>
                <a:latin typeface="Noto Sans"/>
                <a:ea typeface="Noto Sans CJK JP"/>
                <a:cs typeface="Noto Sans"/>
              </a:rPr>
              <a:t>参照要約：昨日、英国各地の子どもたちが国際宇宙ステーションにいるティム・ピークと通信し、大規模な質疑応答を行った。</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test全11,334件。横軸は空白区切りの語数、縦軸は件数。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https://huggingface.co/datasets/EdinburghNLP/xsum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376.1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295.0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308.2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10,315.0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入力はdocument。要約summaryは含めていない。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対象は改訂7d4d486cのtest全11,334件。表示した13例だけの集計ではない。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EdinburghNLP/xsum、改訂7d4d486c。test全11,334件を集計。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配布文面の不備と、参照の追加情報</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追加例には、道路名だけの一覧や、Last updated atの時刻、停電記事の重複表現もある。配布文面を原文欄に保持した。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参照要約にだけ場所・人名・金額が現れることがある。追加例の学生寮では4,500万ポンドという金額は入力本文にない。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これらは特定の掲載例の観察であり、全記事での発生率を推定したものではない。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EdinburghNLP/xsum、改訂7d4d486c。2026-10-17参照。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Shashi Narayan、Shay B. Cohen、最終著者Mirella Lapataによる、エディンバラ大学の研究である。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EMNLP 2018で発表された。話題情報を取り込む畳み込み型の要約モデルと、XSumデータセットを提案した。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Shashi Narayan et al. (2018). Don’t Give Me the Details, Just the Summary! Topic-Aware Convolutional Neural Networks for Extreme Summarization. EMNLP 2018.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Don’t Give Me the Details, Just the Summary! Topic-Aware Convolutional Neural Networks for Extreme Summarization"/>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Don’t Give Me the Details, Just the Summary! Topic-Aware Convolutional Neural Networks for Extreme Summarization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Shashi Narayan, Shay B. Cohen, Mirella Lapata / EMNLP 2018</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XSumの作成方法、実例、初期評価を報告した研究。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https://aclanthology.org/D18-1206/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XSum：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XSum：公開データと配布情報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EdinburghNLP/xsum / 改訂7d4d486c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https://huggingface.co/datasets/EdinburghNLP/xsum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On Faithfulness and Factuality in Abstractive Summarization"/>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On Faithfulness and Factuality in Abstractive Summarization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Joshua Maynez, Shashi Narayan, Bernd Bohnet, Ryan McDonald / ACL 2020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XSumなどで、要約が入力に忠実か、事実に沿うかを分析した。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https://aclanthology.org/2020.acl-main.173/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ART: Denoising Sequence-to-Sequence Pre-training for Natural Language Generation, Translation, and Comprehension"/>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BART: Denoising Sequence-to-Sequence Pre-training for Natural Language Generation, Translation, and Comprehension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Lewis et al. / ACL 2020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事前学習した生成モデルをXSumで微調整し、要約性能を報告した。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https://aclanthology.org/2020.acl-main.703/</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2026-10-17T16:09:03Z</dcterms:modified>
  <dc:title>xsum</dc:title>
  <dc:creator>sasakiy84</dc:creator>
  <dcterms:created xsi:type="dcterms:W3CDTF">2026-10-17T16:09:03Z</dcterms:created>
  <dc:language>ja-JP</dc:language>
</cp:coreProperties>
</file>