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cohere.com/research/globalmmlu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3304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3304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fr/test?row=14041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CohereForAI/Global-MMLU/viewer/fr/test?row=14041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sw/test?row=102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sw/test?row=102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hi/test?row=293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hi/test?row=293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3304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3304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12.03304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3304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3304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CohereForAI/Global-MMLU/viewer/fr/test?row=14041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12.03304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3304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12.03304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3304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anthropic.com/claude-fable-and-mythos-5-1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3304" TargetMode="External"/><Relationship Id="rId3" Type="http://schemas.openxmlformats.org/officeDocument/2006/relationships/hyperlink" Target="https://www.anthropic.com/claude-fable-and-mythos-5-1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12.03304" TargetMode="External"/><Relationship Id="rId3" Type="http://schemas.openxmlformats.org/officeDocument/2006/relationships/hyperlink" Target="https://www.anthropic.com/claude-fable-and-mythos-5-1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CohereForAI/Global-MMLU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3304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yo/test?row=13897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hi/test?row=13928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hi/test?row=13928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es/test?row=13614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es/test?row=13614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en/test?row=8032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fr/test?row=9799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fr/test?row=9799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sw/test?row=10279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es/test?row=16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yo/test?row=243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hi/test?row=6642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hi/test?row=6642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ohereForAI/Global-MMLU/viewer/ja/test?row=276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12.03304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CohereLabs/Global-MMLU-Lite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3304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12.03304" TargetMode="External"/><Relationship Id="rId3" Type="http://schemas.openxmlformats.org/officeDocument/2006/relationships/hyperlink" Target="https://huggingface.co/datasets/CohereForAI/Global-MMLU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009.03300" TargetMode="External"/><Relationship Id="rId3" Type="http://schemas.openxmlformats.org/officeDocument/2006/relationships/hyperlink" Target="https://huggingface.co/datasets/openai/MMMLU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anthropic.com/claude-fable-and-mythos-5-1" TargetMode="External"/><Relationship Id="rId3" Type="http://schemas.openxmlformats.org/officeDocument/2006/relationships/hyperlink" Target="https://huggingface.co/datasets/CohereLabs/Global-MMLU-Lit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Global-MMLU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10280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MMLU: Massive Multitask Language Understanding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42言語で知識を問う評価と、文化への依存性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Global-MMLUの公式サイト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 MMLU（2026-10-21参照）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https://cohere.com/research/globalmmlu</a:t>
            </a:r>
          </a:p>
        </p:txBody>
      </p:sp>
      <p:pic>
        <p:nvPicPr>
          <p:cNvPr id="7" name="Picture 6" descr="official-s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9983" y="1481328"/>
            <a:ext cx="5804033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多言語の設問と文化の知識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翻訳・注釈とデータの構成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正答率と文化依存性の分析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現在の利用と入手方法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多言語の設問と文化の知識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多言語の設問と文化の知識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設問と4選択肢を読み、正解の記号を答える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Global-MMLUは、57科目の知識を問うMMLUの設問を42言語へ広げた評価データである。モデルは設問とA〜Dの選択肢を読み、一つの答えを選ぶ。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文化・地域・方言の知識が正解に必要かという注釈を加え、言語ごとの正答率と、問われる知識の性質をあわせて調べられる。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多言語の設問と文化の知識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Singh et al. (2024/2025), Global MMLU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翻訳した設問にも、元の社会や制度が残る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MMLUには米国の歴史・法律・会計など、特定の社会を前提とする設問がある。日本語やスワヒリ語へ訳しても、知識の対象がその言語の地域へ変わるわけではない。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Global-MMLUは翻訳品質を改善すると同時に、こうした文化への依存性を注釈した。単なる言語別の順位から、何を知っていると解けるかへ分析を広げる。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多言語の設問と文化の知識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Singh et al. (2024/2025), Global MMLU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 アウグストゥスの神性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多言語の設問と文化の知識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配布原文（フランス語・全文 / 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1673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日本語訳（本資料）</a:t>
            </a:r>
          </a:p>
        </p:txBody>
      </p:sp>
      <p:sp>
        <p:nvSpPr>
          <p:cNvPr id="6" name="original-question"/>
          <p:cNvSpPr/>
          <p:nvPr/>
        </p:nvSpPr>
        <p:spPr>
          <a:xfrm>
            <a:off x="548640" y="1664208"/>
            <a:ext cx="3840480" cy="240173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Le numen d’Auguste faisait référence à l’une des caractéristiques suivantes. Laquelle ?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Pouvoir divin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Virilité sexuelle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Perspicacité militaire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Intellect philosophique</a:t>
            </a:r>
          </a:p>
        </p:txBody>
      </p:sp>
      <p:sp>
        <p:nvSpPr>
          <p:cNvPr id="7" name="japanese-translation"/>
          <p:cNvSpPr/>
          <p:nvPr/>
        </p:nvSpPr>
        <p:spPr>
          <a:xfrm>
            <a:off x="4663440" y="1664208"/>
            <a:ext cx="3931920" cy="185741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アウグストゥスのヌーメンは、次のどの特性を指したか。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神的な力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性的な活力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軍事的な才覚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哲学的な知性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94360" y="4167544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正解：A　神的な力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fr / world_religions/test/170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https://huggingface.co/datasets/CohereForAI/Global-MMLU/viewer/fr/test?row=14041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 訳す言語と、問われる文化は別に見える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ヌーメンは神的な力や意思を表す語。ローマの皇帝崇拝に関する文化的知識が必要になる。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この問題の配布注釈はCS（Culturally Sensitive）。フランス語の設問でも、問われるのは古代ローマの宗教・政治に関する知識である。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多言語の設問と文化の知識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fr / world_religions/test/170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https://huggingface.co/datasets/CohereForAI/Global-MMLU/viewer/fr/test?row=14041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 尿をためる器官：原文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多言語の設問と文化の知識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配布原文（スワヒリ語・全文 / CA）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194930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Ni muundo gani kati ya yafuatayo unafafanua vyema muundo unaokusanya mkojo mwilini?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Kibofu cha mkojo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Figo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Kojojito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Mrija wa mkojo</a:t>
            </a:r>
          </a:p>
        </p:txBody>
      </p:sp>
      <p:sp>
        <p:nvSpPr>
          <p:cNvPr id="6" name="answer"/>
          <p:cNvSpPr txBox="1"/>
          <p:nvPr/>
        </p:nvSpPr>
        <p:spPr>
          <a:xfrm>
            <a:off x="594360" y="3740516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正解：A　Kibofu cha mkojo</a:t>
            </a:r>
          </a:p>
        </p:txBody>
      </p:sp>
      <p:sp>
        <p:nvSpPr>
          <p:cNvPr id="7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sw / anatomy/test/2</a:t>
            </a:r>
          </a:p>
        </p:txBody>
      </p:sp>
      <p:sp>
        <p:nvSpPr>
          <p:cNvPr id="8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https://huggingface.co/datasets/CohereForAI/Global-MMLU/viewer/sw/test?row=102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 尿をためる器官：日本語訳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多言語の設問と文化の知識</a:t>
            </a:r>
          </a:p>
        </p:txBody>
      </p:sp>
      <p:sp>
        <p:nvSpPr>
          <p:cNvPr id="4" name="quote-frame"/>
          <p:cNvSpPr/>
          <p:nvPr/>
        </p:nvSpPr>
        <p:spPr>
          <a:xfrm>
            <a:off x="548640" y="1508760"/>
            <a:ext cx="8046720" cy="173667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体内で尿をためる構造を最も適切に表すものはどれか。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膀胱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腎臓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尿管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尿道</a:t>
            </a:r>
          </a:p>
        </p:txBody>
      </p:sp>
      <p:sp>
        <p:nvSpPr>
          <p:cNvPr id="5" name="answer"/>
          <p:cNvSpPr txBox="1"/>
          <p:nvPr/>
        </p:nvSpPr>
        <p:spPr>
          <a:xfrm>
            <a:off x="594360" y="3372433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正解：A　膀胱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sw / anatomy/test/2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https://huggingface.co/datasets/CohereForAI/Global-MMLU/viewer/sw/test?row=102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 北へ進むと北極星はどう見えるか：原文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多言語の設問と文化の知識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配布原文（ヒンディー語・全文 / CS）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197704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संयुक्त राज्य अमेरिका से कनाडा में उत्तर की यात्रा करते समय आपको नॉर्थ स्टार (पोलारिस) _________ होता हुआ दिखेगा।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A. अधिक चमकदार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B. अधिक धुंधला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C. आकाश में और ऊपर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D. आकाश में और नीचे</a:t>
            </a:r>
          </a:p>
        </p:txBody>
      </p:sp>
      <p:sp>
        <p:nvSpPr>
          <p:cNvPr id="6" name="answer"/>
          <p:cNvSpPr txBox="1"/>
          <p:nvPr/>
        </p:nvSpPr>
        <p:spPr>
          <a:xfrm>
            <a:off x="594360" y="3768254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正解：C　आकाश में और ऊपर</a:t>
            </a:r>
          </a:p>
        </p:txBody>
      </p:sp>
      <p:sp>
        <p:nvSpPr>
          <p:cNvPr id="7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hi / astronomy/test/58</a:t>
            </a:r>
          </a:p>
        </p:txBody>
      </p:sp>
      <p:sp>
        <p:nvSpPr>
          <p:cNvPr id="8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https://huggingface.co/datasets/CohereForAI/Global-MMLU/viewer/hi/test?row=293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700" b="0">
                <a:solidFill>
                  <a:srgbClr val="303437"/>
                </a:solidFill>
                <a:latin typeface="Noto Sans"/>
              </a:defRPr>
            </a:pPr>
            <a:r>
              <a:rPr sz="27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 北へ進むと北極星はどう見えるか：日本語訳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多言語の設問と文化の知識</a:t>
            </a:r>
          </a:p>
        </p:txBody>
      </p:sp>
      <p:sp>
        <p:nvSpPr>
          <p:cNvPr id="4" name="quote-frame"/>
          <p:cNvSpPr/>
          <p:nvPr/>
        </p:nvSpPr>
        <p:spPr>
          <a:xfrm>
            <a:off x="548640" y="1508760"/>
            <a:ext cx="8046720" cy="173667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米国からカナダへ北上すると、北極星はどのように見えるか。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明るくなる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暗くなる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空の中で高くなる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空の中で低くなる</a:t>
            </a:r>
          </a:p>
        </p:txBody>
      </p:sp>
      <p:sp>
        <p:nvSpPr>
          <p:cNvPr id="5" name="answer"/>
          <p:cNvSpPr txBox="1"/>
          <p:nvPr/>
        </p:nvSpPr>
        <p:spPr>
          <a:xfrm>
            <a:off x="594360" y="3372433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正解：C　空の中で高くなる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hi / astronomy/test/58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https://huggingface.co/datasets/CohereForAI/Global-MMLU/viewer/hi/test?row=293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CSは文化・地域・方言のいずれかに依存する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CS（Culturally Sensitive）は、特定の文化、地域、英語の方言の知識が答えに必要だと注釈された設問である。CA（Culturally Agnostic）は、そのいずれも必要とされなかった設問である。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膀胱を選ぶ例2はCA、米国からカナダへの移動を含む例3はCS。CSには宗教や制度に加え、地域の位置関係を含む問題も入る。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多言語の設問と文化の知識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Singh et al. (2024/2025), Global MMLU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翻訳・注釈とデータの構成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翻訳・注釈とデータの構成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同じ14,042問を、42言語で配布する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翻訳・注釈とデータの構成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3015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2560320"/>
                <a:gridCol w="365760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問数／言語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42言語の件数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14,042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589,764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11,970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9979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testを評価に、devを回答例の提示に使う。翻訳版を含むレコード数である。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Dataset Card（2026-10-21参照）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英語に加え、41言語の翻訳を組み合わせた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日本語・中国語・アラビア語などの利用者が多い言語から、ヨルバ語・イボ語・チェワ語などまでを含む。42言語の設問を、共通の問題IDで対応させている。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内容は代数・物理・医学・法律・歴史・宗教など57科目。初等教育から大学・専門職向けまで、幅広い水準の知識を問う。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翻訳・注釈とデータの構成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Singh et al. (2024/2025), Global MMLU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42言語を4種類の出所で構成した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翻訳・注釈とデータの構成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92653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1005840"/>
                <a:gridCol w="4297680"/>
              </a:tblGrid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作成・確認の方法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英語のMMLU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元の英語問題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546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人手翻訳・専門家の修正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MMMLUの10言語＋独自の4言語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コミュニティの修正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母語話者が一部の機械翻訳を修正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機械翻訳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Google Translateによる翻訳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Singh et al. (2024/2025), Global MMLU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専門家と母語話者が翻訳の意味を確認した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アラビア語・フランス語・ヒンディー語・スペイン語では、有償の専門作業者が機械翻訳を読み、必要な修正を加えた。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別の11言語では、コミュニティの母語話者が英語と翻訳を比べ、意図が伝わらない箇所を修正した。各言語で50件以上の人手翻訳・修正を得たものを採用した。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残りの人手翻訳10言語にはOpenAIのMMMLUを使った。日本語・スワヒリ語・ヨルバ語などがここに含まれる。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翻訳・注釈とデータの構成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Singh et al. (2024/2025), Global MMLU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文化への依存性は、英語の2,850問へ注釈した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57科目から50問ずつ抽出し、英語の設問と回答に文化・地域・方言の知識が必要かを人手で判断した。研究には、有償作業者とコミュニティの計200人が参加した。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各問を最低3人が確認し、半数以上の作業者が付けたタグを採用した。三つの知識のいずれかが必要ならCS、どれも該当しなければCAとなる。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この注釈を、同じ問題に対応する41言語の翻訳へ引き継いだ。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翻訳・注釈とデータの構成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Singh et al. (2024/2025), Global MMLU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文化注釈は、全testの一部に付いている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翻訳・注釈とデータの構成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25600"/>
        </p:xfrm>
        <a:graphic>
          <a:graphicData uri="http://schemas.openxmlformats.org/drawingml/2006/table">
            <a:tbl>
              <a:tblPr firstRow="0" bandRow="0"/>
              <a:tblGrid>
                <a:gridCol w="4846320"/>
                <a:gridCol w="1645920"/>
                <a:gridCol w="155448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test内の範囲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割合 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文化・地域・方言に依存：CS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792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上記に依存しない：CA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2,058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文化注釈の対象外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11,192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79.7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623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注釈済み2,850問の中では、CSが27.8%、CAが72.2%を占める。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Dataset Card（2026-10-21参照）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注釈値をたどり、判断の根拠も調べられる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配布データには、正解の記号に加えて、作業者ごとの知識タグ、文化名、地域・国、時間による変化の有無、参照した表現が入る。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例えばアウグストゥスの問題では、文化の候補としてWestern Culture、地域としてEuropeやNorth America、国としてItalyが記録されている。複数の作業者の判断を残している。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翻訳・注釈とデータの構成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fr / world_religions/test/170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https://huggingface.co/datasets/CohereForAI/Global-MMLU/viewer/fr/test?row=14041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MMMLUの翻訳に、言語と文化注釈を追加した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翻訳・注釈とデータの構成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567180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2926080"/>
                <a:gridCol w="283464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翻訳の範囲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文化注釈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MMLU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英語の57科目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OpenAI MMMLU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14言語へ専門翻訳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Global-MMLU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英語を含む42言語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2,850問にCS / CAなど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0395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Global-MMLUはMMMLUの10言語を利用し、4言語は独自に専門家が修正した。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Singh et al. (2024/2025), Global MMLU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正答率と文化依存性の分析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正答率と文化依存性の分析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正解記号との一致を、正答率として集計する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一つの問題で、モデルが選んだA〜Dと配布正解が一致すれば1、不一致なら0とする。集合内で平均し、正答率を百分率で報告する。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公開時の研究は、14モデル・9系列を5-shotで評価した。5-shotとは、設問の前に正解付きの例を5件示す設定である。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公開モデルには選択肢の尤度、API経由のモデルには生成した回答記号を使った。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正答率と文化依存性の分析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Singh et al. (2024/2025), Global MMLU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公開時の分析では、CSの成績のほうが高かった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正答率と文化依存性の分析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4020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2194560"/>
                <a:gridCol w="219456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公開モデルの規模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CA正答率 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CS正答率 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小規模モデル群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51.3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中規模モデル群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61.7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大規模モデル群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61.6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66.8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2079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2024/2025年の研究で報告されたモデル群の平均。5-shot評価、非公開モデルは除く。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Singh et al. (2024/2025), Global MMLU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CSとCAは、科目の構成も異なる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CSには人文・社会科学の設問が多く、CAにはSTEMや医学の設問が多い。研究では前者の正答率が高い傾向があった。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一方で、言語間の成績のばらつきはCSのほうが大きく、CS・CAを切り替えるとモデルの順位も動いた。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文化への依存性を切り口に加えると、全体平均だけでは見えにくい成績の差を調べられる。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正答率と文化依存性の分析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Singh et al. (2024/2025), Global MMLU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Fable 5.1は42言語のGMMLUで94.0%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正答率と文化依存性の分析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5025"/>
        </p:xfrm>
        <a:graphic>
          <a:graphicData uri="http://schemas.openxmlformats.org/drawingml/2006/table">
            <a:tbl>
              <a:tblPr firstRow="0" bandRow="0"/>
              <a:tblGrid>
                <a:gridCol w="4937760"/>
                <a:gridCol w="310896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平均正答率 (%)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Fable 5.1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94.0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Fable 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93.6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92.5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Sonnet 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4180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2026年のSystem Card。adaptive thinking・max effort、各モデル1試行。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Anthropic (2026), Claude Fable 5.1 &amp; Mythos 5.1 System Card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https://www.anthropic.com/claude-fable-and-mythos-5-1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文化別の分析と、全体の到達水準を使い分ける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公開時の研究はCS・CAによるモデル挙動の違いを調べた。Fable 5.1のSystem Cardは、42言語にわたる平均正答率を報告している。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全体の正答率は多言語で知識を選べる水準を示す。文化・地域の知識への依存性を調べたいときは、注釈されたCS・CAの部分集合を選ぶ。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正答率と文化依存性の分析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517136"/>
            <a:ext cx="8183879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  <a:buNone/>
              <a:defRPr sz="780" b="0">
                <a:solidFill>
                  <a:srgbClr val="303437"/>
                </a:solidFill>
                <a:latin typeface="Noto Sans"/>
              </a:defRPr>
            </a:pPr>
            <a:r>
              <a:rPr sz="78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Singh et al. (2024/2025), Global MMLU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626102"/>
            <a:ext cx="8183879" cy="174498"/>
          </a:xfrm>
          <a:prstGeom prst="rect">
            <a:avLst/>
          </a:prstGeom>
          <a:noFill/>
        </p:spPr>
        <p:txBody>
          <a:bodyPr wrap="none" lIns="0" rIns="0" tIns="19050" bIns="0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  <a:buNone/>
              <a:defRPr sz="780" b="0">
                <a:solidFill>
                  <a:srgbClr val="303437"/>
                </a:solidFill>
                <a:latin typeface="Noto Sans"/>
              </a:defRPr>
            </a:pPr>
            <a:r>
              <a:rPr sz="78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  <p:sp>
        <p:nvSpPr>
          <p:cNvPr id="7" name="source-bibliography"/>
          <p:cNvSpPr txBox="1"/>
          <p:nvPr/>
        </p:nvSpPr>
        <p:spPr>
          <a:xfrm>
            <a:off x="502920" y="4800600"/>
            <a:ext cx="8183879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  <a:buNone/>
              <a:defRPr sz="780" b="0">
                <a:solidFill>
                  <a:srgbClr val="303437"/>
                </a:solidFill>
                <a:latin typeface="Noto Sans"/>
              </a:defRPr>
            </a:pPr>
            <a:r>
              <a:rPr sz="78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Anthropic (2026), Claude Fable 5.1 &amp; Mythos 5.1 System Card</a:t>
            </a:r>
          </a:p>
        </p:txBody>
      </p:sp>
      <p:sp>
        <p:nvSpPr>
          <p:cNvPr id="8" name="source-url"/>
          <p:cNvSpPr txBox="1"/>
          <p:nvPr/>
        </p:nvSpPr>
        <p:spPr>
          <a:xfrm>
            <a:off x="502920" y="4909566"/>
            <a:ext cx="8183879" cy="174498"/>
          </a:xfrm>
          <a:prstGeom prst="rect">
            <a:avLst/>
          </a:prstGeom>
          <a:noFill/>
        </p:spPr>
        <p:txBody>
          <a:bodyPr wrap="none" lIns="0" rIns="0" tIns="19050" bIns="0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  <a:buNone/>
              <a:defRPr sz="780" b="0">
                <a:solidFill>
                  <a:srgbClr val="303437"/>
                </a:solidFill>
                <a:latin typeface="Noto Sans"/>
              </a:defRPr>
            </a:pPr>
            <a:r>
              <a:rPr sz="78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https://www.anthropic.com/claude-fable-and-mythos-5-1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550" b="0">
                <a:solidFill>
                  <a:srgbClr val="303437"/>
                </a:solidFill>
                <a:latin typeface="Noto Sans"/>
              </a:defRPr>
            </a:pPr>
            <a:r>
              <a:rPr sz="25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英語の知識評価から、翻訳と文化の分析へ広がった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95485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6126480"/>
              </a:tblGrid>
              <a:tr h="3990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公開時点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データと役割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90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2020/2021年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MMLU：英語で57科目の知識を評価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90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2024年9月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MMMLU：14言語の専門翻訳を公開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90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2024年12月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Global-MMLU：42言語と文化注釈を公開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909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Fable 5.1：42言語の平均正答率を報告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-bibliography"/>
          <p:cNvSpPr txBox="1"/>
          <p:nvPr/>
        </p:nvSpPr>
        <p:spPr>
          <a:xfrm>
            <a:off x="502920" y="4517136"/>
            <a:ext cx="8183879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  <a:buNone/>
              <a:defRPr sz="780" b="0">
                <a:solidFill>
                  <a:srgbClr val="303437"/>
                </a:solidFill>
                <a:latin typeface="Noto Sans"/>
              </a:defRPr>
            </a:pPr>
            <a:r>
              <a:rPr sz="78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Singh et al. (2024/2025), Global MMLU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626102"/>
            <a:ext cx="8183879" cy="174498"/>
          </a:xfrm>
          <a:prstGeom prst="rect">
            <a:avLst/>
          </a:prstGeom>
          <a:noFill/>
        </p:spPr>
        <p:txBody>
          <a:bodyPr wrap="none" lIns="0" rIns="0" tIns="19050" bIns="0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  <a:buNone/>
              <a:defRPr sz="780" b="0">
                <a:solidFill>
                  <a:srgbClr val="303437"/>
                </a:solidFill>
                <a:latin typeface="Noto Sans"/>
              </a:defRPr>
            </a:pPr>
            <a:r>
              <a:rPr sz="78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  <p:sp>
        <p:nvSpPr>
          <p:cNvPr id="7" name="source-bibliography"/>
          <p:cNvSpPr txBox="1"/>
          <p:nvPr/>
        </p:nvSpPr>
        <p:spPr>
          <a:xfrm>
            <a:off x="502920" y="4800600"/>
            <a:ext cx="8183879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  <a:buNone/>
              <a:defRPr sz="780" b="0">
                <a:solidFill>
                  <a:srgbClr val="303437"/>
                </a:solidFill>
                <a:latin typeface="Noto Sans"/>
              </a:defRPr>
            </a:pPr>
            <a:r>
              <a:rPr sz="78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Anthropic (2026), Claude Fable 5.1 &amp; Mythos 5.1 System Card</a:t>
            </a:r>
          </a:p>
        </p:txBody>
      </p:sp>
      <p:sp>
        <p:nvSpPr>
          <p:cNvPr id="8" name="source-url"/>
          <p:cNvSpPr txBox="1"/>
          <p:nvPr/>
        </p:nvSpPr>
        <p:spPr>
          <a:xfrm>
            <a:off x="502920" y="4909566"/>
            <a:ext cx="8183879" cy="174498"/>
          </a:xfrm>
          <a:prstGeom prst="rect">
            <a:avLst/>
          </a:prstGeom>
          <a:noFill/>
        </p:spPr>
        <p:txBody>
          <a:bodyPr wrap="none" lIns="0" rIns="0" tIns="19050" bIns="0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  <a:buNone/>
              <a:defRPr sz="780" b="0">
                <a:solidFill>
                  <a:srgbClr val="303437"/>
                </a:solidFill>
                <a:latin typeface="Noto Sans"/>
              </a:defRPr>
            </a:pPr>
            <a:r>
              <a:rPr sz="78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https://www.anthropic.com/claude-fable-and-mythos-5-1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言語と分割を選び、設問とラベルを確認する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14312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datasets import load_dataset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ds = load_dataset("CohereForAI/Global-MMLU",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      "sw", split="test")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 = ds[0]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print(r["question"], r["answer"])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print(r["cultural_sensitivity_label"])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53053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swはスワヒリ語。CS / CAを絞る前に、is_annotatedで注釈の有無を確認する。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Dataset Card（2026-10-21参照）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言語と分割を選び、Parquetで入手する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公式配布先はHugging Face。言語ごとにdev・testを選べる。申請なしで取得でき、Apache License 2.0で利用・改変・配布できる。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1言語のtestは14,042問。配布Parquetの容量は、英語が約3.73 MiB、日本語が約4.16 MiBである。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全testは広い科目の多言語評価、CS・CAは文化への依存性の分析に使える。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Dataset Card（2026-10-21参照）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42言語の知識評価に文化注釈を加えた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共通の14,042問を42言語に展開し、言語による成績の違いを調べる。人手翻訳・専門家やコミュニティの修正・機械翻訳を組み合わせている。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2,850問の文化注釈により、宗教・制度・地域・方言の知識が関わるCSと、該当しないCAを分析できる。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言語を増やすことと、問われる文化を増やすことの違いを、具体的な設問と注釈から確かめられる。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現在の利用と入手方法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Singh et al. (2024/2025), Global MMLU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34035"/>
            <a:ext cx="8046720" cy="6868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言語と内容の異なる追加例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注釈の内訳と評価条件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例4 マシアハの語義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言語と内容の異なる追加例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配布原文（ヨルバ語・全文 / 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1673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日本語訳（本資料）</a:t>
            </a:r>
          </a:p>
        </p:txBody>
      </p:sp>
      <p:sp>
        <p:nvSpPr>
          <p:cNvPr id="6" name="original-question"/>
          <p:cNvSpPr/>
          <p:nvPr/>
        </p:nvSpPr>
        <p:spPr>
          <a:xfrm>
            <a:off x="548640" y="1664208"/>
            <a:ext cx="3840480" cy="185741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Kí ni ọ̀rọ̀ Hébérù mèsáyà túmọ̀ sí? 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Ẹni àmì òróró    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Ọlọ́run 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Wòlíì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Ìlà ti Dáfídì </a:t>
            </a:r>
          </a:p>
        </p:txBody>
      </p:sp>
      <p:sp>
        <p:nvSpPr>
          <p:cNvPr id="7" name="japanese-translation"/>
          <p:cNvSpPr/>
          <p:nvPr/>
        </p:nvSpPr>
        <p:spPr>
          <a:xfrm>
            <a:off x="4663440" y="1664208"/>
            <a:ext cx="3931920" cy="185741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ヘブライ語のmashiachは何を意味するか。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油を注がれた者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神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預言者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ダビデの家系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94360" y="3648623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正解：A　油を注がれた者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yo / world_religions/test/26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https://huggingface.co/datasets/CohereForAI/Global-MMLU/viewer/yo/test?row=13897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例5 二本の剣を帯びたグル：原文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言語と内容の異なる追加例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配布原文（ヒンディー語・全文 / CS）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168975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किस गुरु ने लौकिक और आध्यात्मिक सत्ता के प्रतीक के रूप में दो तलवारें धारण कीं?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A. गुरु नानक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B. गुरु अर्जन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C. गुरु हरगोबिंद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D. गुरु राम दास</a:t>
            </a:r>
          </a:p>
        </p:txBody>
      </p:sp>
      <p:sp>
        <p:nvSpPr>
          <p:cNvPr id="6" name="answer"/>
          <p:cNvSpPr txBox="1"/>
          <p:nvPr/>
        </p:nvSpPr>
        <p:spPr>
          <a:xfrm>
            <a:off x="594360" y="3480966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正解：C　गुरु हरगोबिंद</a:t>
            </a:r>
          </a:p>
        </p:txBody>
      </p:sp>
      <p:sp>
        <p:nvSpPr>
          <p:cNvPr id="7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hi / world_religions/test/57</a:t>
            </a:r>
          </a:p>
        </p:txBody>
      </p:sp>
      <p:sp>
        <p:nvSpPr>
          <p:cNvPr id="8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https://huggingface.co/datasets/CohereForAI/Global-MMLU/viewer/hi/test?row=13928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例5 二本の剣を帯びたグル：日本語訳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言語と内容の異なる追加例</a:t>
            </a:r>
          </a:p>
        </p:txBody>
      </p:sp>
      <p:sp>
        <p:nvSpPr>
          <p:cNvPr id="4" name="quote-frame"/>
          <p:cNvSpPr/>
          <p:nvPr/>
        </p:nvSpPr>
        <p:spPr>
          <a:xfrm>
            <a:off x="548640" y="1508760"/>
            <a:ext cx="8046720" cy="203907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世俗的権威と精神的権威を象徴する二本の剣を帯びたのは、どのグルか。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グル・ナーナク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グル・アルジャン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グル・ハルゴービンド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グル・ラーム・ダース</a:t>
            </a:r>
          </a:p>
        </p:txBody>
      </p:sp>
      <p:sp>
        <p:nvSpPr>
          <p:cNvPr id="5" name="answer"/>
          <p:cNvSpPr txBox="1"/>
          <p:nvPr/>
        </p:nvSpPr>
        <p:spPr>
          <a:xfrm>
            <a:off x="594360" y="3674833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正解：C　グル・ハルゴービンド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hi / world_religions/test/57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https://huggingface.co/datasets/CohereForAI/Global-MMLU/viewer/hi/test?row=13928</a:t>
            </a:r>
          </a:p>
        </p:txBody>
      </p:sp>
      <p:sp>
        <p:nvSpPr>
          <p:cNvPr id="8" name="cultural-term-explanation"/>
          <p:cNvSpPr txBox="1"/>
          <p:nvPr/>
        </p:nvSpPr>
        <p:spPr>
          <a:xfrm>
            <a:off x="594360" y="4154821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グルはシク教の指導者。二本の剣は世俗と精神の権威を表す。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例6 米国で宣戦の権限を持つ機関：原文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言語と内容の異なる追加例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配布原文（スペイン語・全文 / CS）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194930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En el gobierno de los Estados Unidos, el poder de declarar la guerra recae sobre: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el Presidente de los Estados Unidos;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el Ministerio de Defensa;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el presidente del Estado Mayor Conjunto;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el Congreso.</a:t>
            </a:r>
          </a:p>
        </p:txBody>
      </p:sp>
      <p:sp>
        <p:nvSpPr>
          <p:cNvPr id="6" name="answer"/>
          <p:cNvSpPr txBox="1"/>
          <p:nvPr/>
        </p:nvSpPr>
        <p:spPr>
          <a:xfrm>
            <a:off x="594360" y="3740516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正解：D　el Congreso.</a:t>
            </a:r>
          </a:p>
        </p:txBody>
      </p:sp>
      <p:sp>
        <p:nvSpPr>
          <p:cNvPr id="7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es / us_foreign_policy/test/9</a:t>
            </a:r>
          </a:p>
        </p:txBody>
      </p:sp>
      <p:sp>
        <p:nvSpPr>
          <p:cNvPr id="8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https://huggingface.co/datasets/CohereForAI/Global-MMLU/viewer/es/test?row=13614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例6 米国で宣戦の権限を持つ機関：日本語訳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言語と内容の異なる追加例</a:t>
            </a:r>
          </a:p>
        </p:txBody>
      </p:sp>
      <p:sp>
        <p:nvSpPr>
          <p:cNvPr id="4" name="quote-frame"/>
          <p:cNvSpPr/>
          <p:nvPr/>
        </p:nvSpPr>
        <p:spPr>
          <a:xfrm>
            <a:off x="548640" y="1508760"/>
            <a:ext cx="8046720" cy="173667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米国政府で、宣戦を行う権限を持つのは誰か。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米国大統領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国防省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統合参謀本部議長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連邦議会</a:t>
            </a:r>
          </a:p>
        </p:txBody>
      </p:sp>
      <p:sp>
        <p:nvSpPr>
          <p:cNvPr id="5" name="answer"/>
          <p:cNvSpPr txBox="1"/>
          <p:nvPr/>
        </p:nvSpPr>
        <p:spPr>
          <a:xfrm>
            <a:off x="594360" y="3372433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正解：D　連邦議会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es / us_foreign_policy/test/9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https://huggingface.co/datasets/CohereForAI/Global-MMLU/viewer/es/test?row=13614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例7 地域の呼び名が指す道具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言語と内容の異なる追加例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配布原文（英語・全文 / 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1673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日本語訳（本資料）</a:t>
            </a:r>
          </a:p>
        </p:txBody>
      </p:sp>
      <p:sp>
        <p:nvSpPr>
          <p:cNvPr id="6" name="original-question"/>
          <p:cNvSpPr/>
          <p:nvPr/>
        </p:nvSpPr>
        <p:spPr>
          <a:xfrm>
            <a:off x="548640" y="1664208"/>
            <a:ext cx="3840480" cy="185741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'Arkansas toothpick' is better known by what name?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Scottie Pippen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spare rib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pinkie finger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Bowie knife</a:t>
            </a:r>
          </a:p>
        </p:txBody>
      </p:sp>
      <p:sp>
        <p:nvSpPr>
          <p:cNvPr id="7" name="japanese-translation"/>
          <p:cNvSpPr/>
          <p:nvPr/>
        </p:nvSpPr>
        <p:spPr>
          <a:xfrm>
            <a:off x="4663440" y="1664208"/>
            <a:ext cx="3931920" cy="185741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「Arkansas toothpick」は、どの名前でよく知られているか。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スコッティ・ピッペン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スペアリブ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小指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ボウイナイフ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94360" y="3648623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正解：D　ボウイナイフ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en / miscellaneous/test/648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https://huggingface.co/datasets/CohereForAI/Global-MMLU/viewer/en/test?row=8032</a:t>
            </a:r>
          </a:p>
        </p:txBody>
      </p:sp>
      <p:sp>
        <p:nvSpPr>
          <p:cNvPr id="11" name="cultural-term-explanation"/>
          <p:cNvSpPr txBox="1"/>
          <p:nvPr/>
        </p:nvSpPr>
        <p:spPr>
          <a:xfrm>
            <a:off x="594360" y="4128532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Arkansas toothpickは、大型ナイフの地域的な呼び名。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 カントが考える行為の道徳的価値：原文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言語と内容の異なる追加例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配布原文（フランス語・全文 / CS）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166166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Selon Kant, la valeur morale d’une action dépend :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du caractère moral de l’agent qui l’exécute.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des conséquences de l’action.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de la maxime sur laquelle se base l’action.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toutes les propositions ci-dessus.</a:t>
            </a:r>
          </a:p>
        </p:txBody>
      </p:sp>
      <p:sp>
        <p:nvSpPr>
          <p:cNvPr id="6" name="answer"/>
          <p:cNvSpPr txBox="1"/>
          <p:nvPr/>
        </p:nvSpPr>
        <p:spPr>
          <a:xfrm>
            <a:off x="594360" y="3452873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正解：C　de la maxime sur laquelle se base l’action.</a:t>
            </a:r>
          </a:p>
        </p:txBody>
      </p:sp>
      <p:sp>
        <p:nvSpPr>
          <p:cNvPr id="7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fr / philosophy/test/85</a:t>
            </a:r>
          </a:p>
        </p:txBody>
      </p:sp>
      <p:sp>
        <p:nvSpPr>
          <p:cNvPr id="8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https://huggingface.co/datasets/CohereForAI/Global-MMLU/viewer/fr/test?row=9799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700" b="0">
                <a:solidFill>
                  <a:srgbClr val="303437"/>
                </a:solidFill>
                <a:latin typeface="Noto Sans"/>
              </a:defRPr>
            </a:pPr>
            <a:r>
              <a:rPr sz="27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 カントが考える行為の道徳的価値：日本語訳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言語と内容の異なる追加例</a:t>
            </a:r>
          </a:p>
        </p:txBody>
      </p:sp>
      <p:sp>
        <p:nvSpPr>
          <p:cNvPr id="4" name="quote-frame"/>
          <p:cNvSpPr/>
          <p:nvPr/>
        </p:nvSpPr>
        <p:spPr>
          <a:xfrm>
            <a:off x="548640" y="1508760"/>
            <a:ext cx="8046720" cy="173667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カントによると、行為の道徳的価値は何に依存するか。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行為者の道徳的な性格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行為がもたらす結果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その行為が従う格率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上のすべて</a:t>
            </a:r>
          </a:p>
        </p:txBody>
      </p:sp>
      <p:sp>
        <p:nvSpPr>
          <p:cNvPr id="5" name="answer"/>
          <p:cNvSpPr txBox="1"/>
          <p:nvPr/>
        </p:nvSpPr>
        <p:spPr>
          <a:xfrm>
            <a:off x="594360" y="3372433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正解：C　その行為が従う格率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fr / philosophy/test/85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https://huggingface.co/datasets/CohereForAI/Global-MMLU/viewer/fr/test?row=9799</a:t>
            </a:r>
          </a:p>
        </p:txBody>
      </p:sp>
      <p:sp>
        <p:nvSpPr>
          <p:cNvPr id="8" name="cultural-term-explanation"/>
          <p:cNvSpPr txBox="1"/>
          <p:nvPr/>
        </p:nvSpPr>
        <p:spPr>
          <a:xfrm>
            <a:off x="594360" y="3852409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格率は、行為するときに自分が従う主観的な原則を指す。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 インカの軍事的拡大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言語と内容の異なる追加例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配布原文（スワヒリ語・全文 / 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1673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日本語訳（本資料）</a:t>
            </a:r>
          </a:p>
        </p:txBody>
      </p:sp>
      <p:sp>
        <p:nvSpPr>
          <p:cNvPr id="6" name="original-question"/>
          <p:cNvSpPr/>
          <p:nvPr/>
        </p:nvSpPr>
        <p:spPr>
          <a:xfrm>
            <a:off x="548640" y="1664208"/>
            <a:ext cx="3840480" cy="185741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Inca ilianza lini upanuzi wake wa kijeshi kote Amerika Kusini?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200 A.D.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900 A.D.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1450 A.D.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1650 A.D.</a:t>
            </a:r>
          </a:p>
        </p:txBody>
      </p:sp>
      <p:sp>
        <p:nvSpPr>
          <p:cNvPr id="7" name="japanese-translation"/>
          <p:cNvSpPr/>
          <p:nvPr/>
        </p:nvSpPr>
        <p:spPr>
          <a:xfrm>
            <a:off x="4663440" y="1664208"/>
            <a:ext cx="3931920" cy="185741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インカが南米各地への軍事的拡大を始めたのはいつか。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西暦200年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西暦900年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西暦1450年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西暦1650年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94360" y="3648623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正解：C　西暦1450年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sw / prehistory/test/254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https://huggingface.co/datasets/CohereForAI/Global-MMLU/viewer/sw/test?row=10279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例10 乗法群における逆元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言語と内容の異なる追加例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配布原文（スペイン語・全文 / CA）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1673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日本語訳（本資料）</a:t>
            </a:r>
          </a:p>
        </p:txBody>
      </p:sp>
      <p:sp>
        <p:nvSpPr>
          <p:cNvPr id="6" name="original-question"/>
          <p:cNvSpPr/>
          <p:nvPr/>
        </p:nvSpPr>
        <p:spPr>
          <a:xfrm>
            <a:off x="548640" y="1664208"/>
            <a:ext cx="3840480" cy="185741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El inverso de -i en el grupo multiplicativo, {1, -1, i, -i} es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1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-1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i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-i</a:t>
            </a:r>
          </a:p>
        </p:txBody>
      </p:sp>
      <p:sp>
        <p:nvSpPr>
          <p:cNvPr id="7" name="japanese-translation"/>
          <p:cNvSpPr/>
          <p:nvPr/>
        </p:nvSpPr>
        <p:spPr>
          <a:xfrm>
            <a:off x="4663440" y="1664208"/>
            <a:ext cx="3931920" cy="185741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乗法群 {1, −1, i, −i} において、−iの逆元はどれか。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1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−1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i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−i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94360" y="3648623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正解：C　i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es / abstract_algebra/test/16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https://huggingface.co/datasets/CohereForAI/Global-MMLU/viewer/es/test?row=16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例11 太陽系で二番目に多い元素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言語と内容の異なる追加例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配布原文（ヨルバ語・全文 / CA）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16736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日本語訳（本資料）</a:t>
            </a:r>
          </a:p>
        </p:txBody>
      </p:sp>
      <p:sp>
        <p:nvSpPr>
          <p:cNvPr id="6" name="original-question"/>
          <p:cNvSpPr/>
          <p:nvPr/>
        </p:nvSpPr>
        <p:spPr>
          <a:xfrm>
            <a:off x="548640" y="1664208"/>
            <a:ext cx="3840480" cy="185741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Kí ni ẹ́límẹ́ntì kejì tó wọ́pọ̀ jù nínú ètò ìyíká òrùn?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Irin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Olù-omi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Mẹ̀tánì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Ìlíọ́mù</a:t>
            </a:r>
          </a:p>
        </p:txBody>
      </p:sp>
      <p:sp>
        <p:nvSpPr>
          <p:cNvPr id="7" name="japanese-translation"/>
          <p:cNvSpPr/>
          <p:nvPr/>
        </p:nvSpPr>
        <p:spPr>
          <a:xfrm>
            <a:off x="4663440" y="1664208"/>
            <a:ext cx="3931920" cy="185741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太陽系で二番目に多い元素は何か。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鉄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水素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メタン</a:t>
            </a:r>
          </a:p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ヘリウム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594360" y="3648623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正解：D　ヘリウム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yo / astronomy/test/8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https://huggingface.co/datasets/CohereForAI/Global-MMLU/viewer/yo/test?row=243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例12 米国の司法部門の役割：原文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言語と内容の異なる追加例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配布原文（ヒンディー語・全文 / CS）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197704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संयुक्त राज्य अमरीका की सरकार की न्यायिक शाखा के पास कानून ________ की शक्ति होती है।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A. की व्याख्या करने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B. बनाने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C. का प्रवर्तन करने</a:t>
            </a:r>
          </a:p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D. की अवहेलना करने</a:t>
            </a:r>
          </a:p>
        </p:txBody>
      </p:sp>
      <p:sp>
        <p:nvSpPr>
          <p:cNvPr id="6" name="answer"/>
          <p:cNvSpPr txBox="1"/>
          <p:nvPr/>
        </p:nvSpPr>
        <p:spPr>
          <a:xfrm>
            <a:off x="594360" y="3768254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正解：A　की व्याख्या करने</a:t>
            </a:r>
          </a:p>
        </p:txBody>
      </p:sp>
      <p:sp>
        <p:nvSpPr>
          <p:cNvPr id="7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hi / jurisprudence/test/78</a:t>
            </a:r>
          </a:p>
        </p:txBody>
      </p:sp>
      <p:sp>
        <p:nvSpPr>
          <p:cNvPr id="8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https://huggingface.co/datasets/CohereForAI/Global-MMLU/viewer/hi/test?row=6642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例12 米国の司法部門の役割：日本語訳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言語と内容の異なる追加例</a:t>
            </a:r>
          </a:p>
        </p:txBody>
      </p:sp>
      <p:sp>
        <p:nvSpPr>
          <p:cNvPr id="4" name="quote-frame"/>
          <p:cNvSpPr/>
          <p:nvPr/>
        </p:nvSpPr>
        <p:spPr>
          <a:xfrm>
            <a:off x="548640" y="1508760"/>
            <a:ext cx="8046720" cy="173667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米国政府の司法部門は、法律をどのように扱う権限を持つか。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解釈する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制定する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執行する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無視する</a:t>
            </a:r>
          </a:p>
        </p:txBody>
      </p:sp>
      <p:sp>
        <p:nvSpPr>
          <p:cNvPr id="5" name="answer"/>
          <p:cNvSpPr txBox="1"/>
          <p:nvPr/>
        </p:nvSpPr>
        <p:spPr>
          <a:xfrm>
            <a:off x="594360" y="3372433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正解：A　解釈する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hi / jurisprudence/test/78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https://huggingface.co/datasets/CohereForAI/Global-MMLU/viewer/hi/test?row=6642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例13 銀河系中心のブラックホール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言語と内容の異なる追加例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配布原文（日本語・全文 / CA）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64208"/>
            <a:ext cx="8046720" cy="173710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天の川銀河の中心にあるブラックホールの名前は次のうちどれか？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アルタイルA*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アルセフィナA*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フォーマルハウトA*</a:t>
            </a:r>
          </a:p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サギタリウスA*</a:t>
            </a:r>
          </a:p>
        </p:txBody>
      </p:sp>
      <p:sp>
        <p:nvSpPr>
          <p:cNvPr id="6" name="answer"/>
          <p:cNvSpPr txBox="1"/>
          <p:nvPr/>
        </p:nvSpPr>
        <p:spPr>
          <a:xfrm>
            <a:off x="594360" y="3528313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正解：D　サギタリウスA*</a:t>
            </a:r>
          </a:p>
        </p:txBody>
      </p:sp>
      <p:sp>
        <p:nvSpPr>
          <p:cNvPr id="7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 / ja / astronomy/test/41</a:t>
            </a:r>
          </a:p>
        </p:txBody>
      </p:sp>
      <p:sp>
        <p:nvSpPr>
          <p:cNvPr id="8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https://huggingface.co/datasets/CohereForAI/Global-MMLU/viewer/ja/test?row=276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注釈済み2,850問は6分野に分かれる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注釈の内訳と評価条件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88336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1463040"/>
                <a:gridCol w="1463040"/>
                <a:gridCol w="146304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STEM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927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社会科学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392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医学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ビジネス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Singh et al. (2024/2025), Global MMLU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7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Global-MMLU Lite 3.0は23言語を収録する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初版（2024年12月）は15言語、CS200問＋CA200問／言語の計6,000レコード。人手翻訳・修正済みの小規模版として公開した。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2.0（2025年12月）は3言語を追加。3.0（2026年5月）はチェコ語・ハンガリー語・オディア語・スロバキア語・タジク語を追加し、イタリア語を更新した。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現行3.0のtestは23言語・9,200レコード。論文のLite評価は初版の15言語の結果である。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注釈の内訳と評価条件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Cohere Labs, Global-MMLU-Lite Dataset Card / Version 3.0（2026-10-21参照）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https://huggingface.co/datasets/CohereLabs/Global-MMLU-Lite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注釈は英語の設問に対する作業者の判断である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文化・地域・方言への依存性は、英語の設問を見て判定し、そのラベルを翻訳へ引き継いだ。言語ごとに別々の文化注釈を収集した設計ではない。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作業者間の一致度は科目で異なり、解剖学では文化依存の判断が一致した一方、道徳的状況判断などでは判断が分かれた。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英語のMMLUが問う知識の偏りを、42言語への翻訳と文化注釈によって可視化したデータである。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注釈の内訳と評価条件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63440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Singh et al. (2024/2025), Global MMLU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37176"/>
            <a:ext cx="8183879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Global MMLU: Understanding and Addressing Cultural and Linguistic Biases in Multilingual Evaluation"/>
          <p:cNvSpPr txBox="1"/>
          <p:nvPr/>
        </p:nvSpPr>
        <p:spPr>
          <a:xfrm>
            <a:off x="548640" y="1463040"/>
            <a:ext cx="8046720" cy="15942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 MMLU: Understanding and Addressing Cultural and Linguistic Biases in Multilingual Evaluation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Shivalika Singh et al. / 2024, revised 2025 / arXiv:2412.03304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42言語への翻訳と、文化・地域・方言への依存性を調べた研究。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</a:t>
            </a:r>
          </a:p>
        </p:txBody>
      </p:sp>
      <p:sp>
        <p:nvSpPr>
          <p:cNvPr id="5" name="文献 2: Global-MMLU Dataset Card"/>
          <p:cNvSpPr txBox="1"/>
          <p:nvPr/>
        </p:nvSpPr>
        <p:spPr>
          <a:xfrm>
            <a:off x="548640" y="3327019"/>
            <a:ext cx="8046720" cy="12411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Global-MMLU Dataset Card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Cohere Labs / n.d. / Hugging Face / 2026-10-21参照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言語別のデータ、文化注釈のフィールド、利用条件を公開。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https://huggingface.co/datasets/CohereForAI/Global-MMLU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Measuring Massive Multitask Language Understanding"/>
          <p:cNvSpPr txBox="1"/>
          <p:nvPr/>
        </p:nvSpPr>
        <p:spPr>
          <a:xfrm>
            <a:off x="548640" y="1463040"/>
            <a:ext cx="8046720" cy="12411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Measuring Massive Multitask Language Understanding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Dan Hendrycks et al. / ICLR 2021 / arXiv:2009.03300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57科目にわたる英語の知識評価MMLUを提案。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https://arxiv.org/abs/2009.03300</a:t>
            </a:r>
          </a:p>
        </p:txBody>
      </p:sp>
      <p:sp>
        <p:nvSpPr>
          <p:cNvPr id="5" name="文献 2: MMMLU Dataset Card"/>
          <p:cNvSpPr txBox="1"/>
          <p:nvPr/>
        </p:nvSpPr>
        <p:spPr>
          <a:xfrm>
            <a:off x="548640" y="2986659"/>
            <a:ext cx="8046720" cy="12411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MMMLU Dataset Card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/ 2024 / Hugging Face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MMLUのtestを専門翻訳者が14言語へ翻訳した配布物。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https://huggingface.co/datasets/openai/MMMLU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参考文献</a:t>
            </a:r>
          </a:p>
        </p:txBody>
      </p:sp>
      <p:sp>
        <p:nvSpPr>
          <p:cNvPr id="4" name="文献 1: Claude Fable 5.1 &amp; Mythos 5.1 System Card"/>
          <p:cNvSpPr txBox="1"/>
          <p:nvPr/>
        </p:nvSpPr>
        <p:spPr>
          <a:xfrm>
            <a:off x="548640" y="1463040"/>
            <a:ext cx="8046720" cy="12411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Claude Fable 5.1 &amp; Mythos 5.1 System Card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Anthropic / 2026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GMMLUの42言語の平均正答率と、評価時の思考設定を報告。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https://www.anthropic.com/claude-fable-and-mythos-5-1</a:t>
            </a:r>
          </a:p>
        </p:txBody>
      </p:sp>
      <p:sp>
        <p:nvSpPr>
          <p:cNvPr id="5" name="文献 2: Global-MMLU-Lite Dataset Card"/>
          <p:cNvSpPr txBox="1"/>
          <p:nvPr/>
        </p:nvSpPr>
        <p:spPr>
          <a:xfrm>
            <a:off x="548640" y="3012440"/>
            <a:ext cx="8046720" cy="139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Global-MMLU-Lite Dataset Card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Cohere Labs / Version 3.0, May 2026 / Hugging Face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23言語のLite 3.0と、公開版ごとの言語追加を記載する。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https://huggingface.co/datasets/CohereLabs/Global-MMLU-Lite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2026-10-21T12:16:23Z</dcterms:modified>
  <dc:title>global-mmlu</dc:title>
  <dc:creator>sasakiy84</dc:creator>
  <dcterms:created xsi:type="dcterms:W3CDTF">2026-10-21T12:16:23Z</dcterms:created>
  <dc:language>ja-JP</dc:language>
</cp:coreProperties>
</file>