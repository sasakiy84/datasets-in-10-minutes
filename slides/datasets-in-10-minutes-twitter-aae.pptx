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1" r:id="rId51"/>
    <p:sldId id="302" r:id="rId52"/>
    <p:sldId id="303" r:id="rId53"/>
    <p:sldId id="304" r:id="rId5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slanglab.cs.umass.edu/TwitterAAE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6-1120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main/src/helm/benchmark/scenarios/twitter_aae_scenario.py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langlab/twitteraa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6-1120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6-1120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6-1120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6-1120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main/src/helm/benchmark/scenarios/twitter_aae_scenario.p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main/src/helm/benchmark/metrics/basic_metrics.py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6-1120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P18-1131/" TargetMode="External"/><Relationship Id="rId3" Type="http://schemas.openxmlformats.org/officeDocument/2006/relationships/hyperlink" Target="https://github.com/stanford-crfm/helm/blob/main/src/helm/benchmark/scenarios/twitter_aae_scenario.py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langlab.cs.umass.edu/TwitterAAE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main/src/helm/benchmark/metrics/basic_metrics.py" TargetMode="External"/><Relationship Id="rId3" Type="http://schemas.openxmlformats.org/officeDocument/2006/relationships/hyperlink" Target="https://crfm.stanford.edu/helm/classic/v0.4.0/#/groups/twitter_aae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twitter_aae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6-1120/" TargetMode="External"/><Relationship Id="rId3" Type="http://schemas.openxmlformats.org/officeDocument/2006/relationships/hyperlink" Target="https://aclanthology.org/P18-1131/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6-1120/" TargetMode="External"/><Relationship Id="rId3" Type="http://schemas.openxmlformats.org/officeDocument/2006/relationships/hyperlink" Target="https://aclanthology.org/P18-1131/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Relationship Id="rId3" Type="http://schemas.openxmlformats.org/officeDocument/2006/relationships/hyperlink" Target="https://slanglab.cs.umass.edu/TwitterAAE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TwitterAAE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African-American English on Twitter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会話の言語的多様性と言語モデルの評価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公式サイト：研究と配布への入口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TwitterAAE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72" y="1481328"/>
            <a:ext cx="6786254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UMass SLANG Lab (n.d.), TwitterAAE: Research on African-American English on Twitter.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https://slanglab.cs.umass.edu/TwitterAAE/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投稿の実例と言語モデルの課題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人口統計と言語を結ぶ構築方法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HELMの評価条件と結果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利用の変化と公開範囲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投稿の実例と言語モデルの課題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投稿の実例と言語モデルの課題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AAEを含む会話をNLPの対象にする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投稿の実例と言語モデルの課題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10431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TwitterAAEは、Twitter上のアフリカ系米国人英語（AAE）に関連する表現を調べる言語資源。投稿の位置に対応する地域の人口構成と、使われる言葉の関係から分析する。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70810"/>
            <a:ext cx="7955279" cy="10431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AAEには語彙・発音・文法の体系がある。主流の書き言葉を中心に作られたNLPツールが、こうした会話をどの程度扱えるかを調べた。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Blodgett, Green &amp; O’Connor (2016), Demographic Dialectal Variation in Social Media: A Case Study of African-American English. EMNLP, 1119–1130.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https://aclanthology.org/D16-1120/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HELMでは、投稿の予測しやすさを比べる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投稿の実例と言語モデルの課題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7106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HELMでは、AA系・white系の言語的特徴が多い投稿をそれぞれ集め、言語モデルがどれだけ予測できるかを比べる。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8324"/>
            <a:ext cx="7955279" cy="10431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入力は投稿全文で、直前までの文字列から次のトークンを予測する。参照回答の代わりに、実際に書かれた文字列の確率を評価する。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CRFM, HELM TwitterAAEScenario.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https://github.com/stanford-crfm/helm/blob/main/src/helm/benchmark/scenarios/twitter_aae_scenario.py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AA・whiteは、言語の特徴に基づく抽出条件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投稿の実例と言語モデルの課題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10431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本編3例と追加10例は、HELMの公開評価に使われた13件の投稿全文。大文字や独自のつづり、句読点にも会話の特徴が現れる。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70810"/>
            <a:ext cx="7955279" cy="10431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aa／whiteは抽出条件の名前。地域の人口構成に関連する言語の混合比を使っており、投稿者の自己申告による人種を表すラベルではない。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Blodgett et al. (n.d.), twitteraae. 人口統計と言語を結ぶ混合モデルのREADME。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https://github.com/slanglab/twitteraae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実例1：電話代を払ってでも話したい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投稿の実例と言語モデルの課題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aa抽出条件・投稿全文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65300"/>
            <a:ext cx="8046720" cy="7366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9652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IMA PAY OOMFS FONE BILL ,JUS KUZ I WANNA TALK TO 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0306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04820"/>
            <a:ext cx="7955279" cy="7106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あのフォロワーの子と話したいからってだけで、携帯代を払ってやるつもり。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98392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OOMFはone of my followers（フォロワーの一人）の略。FONEやJUSなど、発音に近づけたつづりも使う。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実例2：短い願いと呼びかけ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投稿の実例と言語モデルの課題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aa抽出条件・投稿全文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4656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just wanna be happy bruh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67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25422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ただ幸せになりたいんだよ、なあ。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86508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bruhはくだけた呼びかけ。wannaはwant toの縮約で、短い投稿でも会話の調子が伝わる。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実例3：white側にも語りかけの表現がある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投稿の実例と言語モデルの課題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white抽出条件・投稿全文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4656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Sweet sleep, how I missed you my love.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67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25422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ああ愛しい眠り、どれほど恋しかったことか。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86508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sleepを恋人のように呼ぶ、擬人化した語りかけ。white抽出集合にもこのような会話が含まれる。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人口統計と言語を結ぶ構築方法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人口統計と言語を結ぶ構築方法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2013年の位置付き投稿から会話を集める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人口統計と言語を結ぶ構築方法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8321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2013年の公開Twitterストリーム160億件から、米国の国勢調査block groupに位置を対応できる約9,000万件を得た。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7955279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フォロワーの多いアカウントや、ハッシュタグの多い投稿、リンク・宣伝語を含む投稿、リツイートなどを除いた。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11880"/>
            <a:ext cx="7955279" cy="8412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前処理後は約5,920万投稿・280万ユーザー。位置情報を公開する利用者の会話が対象となる。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Blodgett, Green &amp; O’Connor (2016), Demographic Dialectal Variation in Social Media: A Case Study of African-American English. EMNLP, 1119–1130.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https://aclanthology.org/D16-1120/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地域の人口構成を、言語の手掛かりにする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人口統計と言語を結ぶ構築方法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9978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投稿位置を、通常600〜3,000人が暮らすblock groupへ結び付け、2013年American Community Surveyの人口構成を参照する。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25471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非ヒスパニック白人・非ヒスパニック黒人・ヒスパニック・アジア系の4比率を、各ユーザーの投稿位置で平均した。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0528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近隣地域の人口構成を、投稿の言語的特徴を推定する手掛かりにする。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Blodgett, Green &amp; O’Connor (2016), Demographic Dialectal Variation in Social Media: A Case Study of African-American English. EMNLP, 1119–1130.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https://aclanthology.org/D16-1120/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一人の中にも、一つの投稿にも混合を認める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人口統計と言語を結ぶ構築方法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10431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4集団に対応する単語分布を学習し、各投稿でそれらが占める混合比を推定する。ユーザーに対応付けた地域の人口比率を、その推定の事前分布に使う。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70810"/>
            <a:ext cx="7955279" cy="10431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同じ人でも、投稿によって使う表現は変わる。ユーザー単位と投稿単位の混合比で、その変化を表現する。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Blodgett, Green &amp; O’Connor (2016), Demographic Dialectal Variation in Social Media: A Case Study of African-American English. EMNLP, 1119–1130.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https://aclanthology.org/D16-1120/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AAEに特徴的な文法が多く現れる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人口統計と言語を結ぶ構築方法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87347"/>
        </p:xfrm>
        <a:graphic>
          <a:graphicData uri="http://schemas.openxmlformats.org/drawingml/2006/table">
            <a:tbl>
              <a:tblPr firstRow="0" bandRow="0"/>
              <a:tblGrid>
                <a:gridCol w="2148840"/>
                <a:gridCol w="3703320"/>
                <a:gridCol w="21945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公開された用例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AA／white比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習慣を表すbe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 be tripping bruh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11.94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未来を表すgon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Then she gon be single Af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14.26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254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完了を表すdone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 done laughed so hard that I’m weak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8.68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9727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ユーザー単位で作った2016年の両コーパスを比較。表記だけでなく、既知の文法現象とも照合した。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Blodgett, Green &amp; O’Connor (2016), Demographic Dialectal Variation in Social Media: A Case Study of African-American English. EMNLP, 1119–1130.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https://aclanthology.org/D16-1120/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HELMは、投稿ごとの言語的特徴で集合を作る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人口統計と言語を結ぶ構築方法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76272"/>
        </p:xfrm>
        <a:graphic>
          <a:graphicData uri="http://schemas.openxmlformats.org/drawingml/2006/table">
            <a:tbl>
              <a:tblPr firstRow="0" bandRow="0"/>
              <a:tblGrid>
                <a:gridCol w="2331720"/>
                <a:gridCol w="5715000"/>
              </a:tblGrid>
              <a:tr h="43891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選び方と件数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8686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2016年の解析集合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ユーザーの対応言語成分80%以上、ヒスパニック系・アジア系は計5%未満。AA約83万／white約730万投稿。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8686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HELMの抽出集合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投稿のAA比率上位83万／white比率上位730万から、それぞれ5万投稿を無作為抽出。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86200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2016年の分析はユーザーごとに選び、HELMは投稿ごとの混合比で選ぶ。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CRFM, HELM TwitterAAEScenario.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https://github.com/stanford-crfm/helm/blob/main/src/helm/benchmark/scenarios/twitter_aae_scenario.py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HELMの評価条件と結果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HELMの評価条件と結果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BPBが低いほど、投稿を予測しやすい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HELMの評価条件と結果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9978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言語モデルは、先行する文字列を条件に各トークンの確率を付ける。予測対象の負の対数確率を合計し、そのbyte数で割ってbitsへ換算する。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25471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bits per byte（BPB）は、1 byteを表すために必要な平均情報量。低いほど、その文字列に高い確率を与えている。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0528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トークンの区切りがモデル間で異なるため、HELMの主要指標にはbyteで正規化したBPBを使う。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CRFM, HELM BasicMetrics.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https://github.com/stanford-crfm/helm/blob/main/src/helm/benchmark/metrics/basic_metrics.py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HELMではAA側のBPBが高かった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HELMの評価条件と結果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42110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1463040"/>
                <a:gridCol w="1463040"/>
                <a:gridCol w="19202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モデル（公開年）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white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差 AA−white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OPT-175B（2022）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2.114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1.506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0.608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277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2.522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1.862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0.660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5203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BPB（低いほど良い）。2022年公開の2モデルを、AA・white各1,000投稿で比較。提示例なし。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AA側の投稿では、両モデルとも予測が難しい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HELMの評価条件と結果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byte数で正規化した予測の難しさは、両モデルともAA抽出条件の投稿で大きかった。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08098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二つの集合には、つづり・話題・長さ・会話の形式などの違いがある。得点差には、こうした内容や表現の違いが含まれる。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言語同定では、英語を取りこぼしていた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HELMの評価条件と結果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9298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2016年の解析では、langid.pyがAA側の13.2%、white側の7.6%を非英語と判定した。Twitterの識別結果でも、欠損値を非英語に数えるかどうかの両条件でAA側の割合が高かった。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57462"/>
            <a:ext cx="7955279" cy="9298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AA混合比を10段階に分け、各識別条件で非英語とされた投稿から計1,500件を人手で調べた。明らかな非英語は13件（約0.87%）だった。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1885"/>
            <a:ext cx="7955279" cy="6351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英語だけを残す前処理そのものが、方言を含む意見や会話を取りこぼす問題につながる。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Blodgett, Green &amp; O’Connor (2016), Demographic Dialectal Variation in Social Media: A Case Study of African-American English. EMNLP, 1119–1130.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https://aclanthology.org/D16-1120/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利用の変化と公開範囲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利用の変化と公開範囲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会話の解析から、言語モデルの格差測定へ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利用の変化と公開範囲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2016年は人口統計と言語の混合モデルを作り、言語同定・構文解析の差を調べた。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08098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2018年にはAAEと主流米国英語の各250投稿にUniversal Dependencies注釈を付け、構文解析の資源を拡張した。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53156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Classicでは、同じ元コーパスから投稿を別途抽出し、言語モデルの予測しやすさを比べる評価へ広がった。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Blodgett, Wei &amp; O’Connor (2018), Twitter Universal Dependency Parsing for African-American and Mainstream American English. ACL, 1415–1425.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https://aclanthology.org/P18-1131/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CRFM, HELM TwitterAAEScenario. 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https://github.com/stanford-crfm/helm/blob/main/src/helm/benchmark/scenarios/twitter_aae_scenario.py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研究用コーパスと評価結果を公式サイトで入手する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利用の変化と公開範囲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66535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公式サイトの全体配布TwitterAAE-full-v1.zipは表示容量5.5 GB。研究目的のみでの提供と2016年論文の引用が案内されている。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92985"/>
            <a:ext cx="7955279" cy="9751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HELMはAA・white各5万投稿のCSVを案内し、Classicの評価ページで、実際に使った投稿とモデルの得点を公開している。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32746"/>
            <a:ext cx="7955279" cy="66535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推定モデルのコードはMITライセンス。投稿本文の利用は、公式サイトの研究目的という条件と、元投稿の権利を確認する。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UMass SLANG Lab (n.d.), TwitterAAE: Research on African-American English on Twitter.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https://slanglab.cs.umass.edu/TwitterAAE/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多様な表現を、そのまま評価の対象にする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利用の変化と公開範囲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66535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TwitterAAEは地域人口構成を手掛かりに、AAEに関連する表現を大規模な会話から取り出し、言語的特徴との対応を検証した。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92985"/>
            <a:ext cx="7955279" cy="66535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HELMは、同じコーパスから言語的特徴で選んだ二つの投稿集合を作り、それぞれの投稿に対するBPBを比べる。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22930"/>
            <a:ext cx="7955279" cy="66535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39"/>
              </a:lnSpc>
              <a:spcBef>
                <a:spcPts val="0"/>
              </a:spcBef>
              <a:spcAft>
                <a:spcPts val="0"/>
              </a:spcAft>
              <a:buNone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言語モデルの予測しやすさと、言語同定による取りこぼしを調べることで、NLPが扱える会話の範囲を見直せる。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(2023), Holistic Evaluation of Language Models. TMLR.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追加の投稿例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入力と指標の補足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追加の投稿例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実例4：終わった数を数える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aa抽出条件・投稿全文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4656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 down 1 to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67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25422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4つ終わった、あと1つ。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86508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終わった数と残りの数を、短い対比で伝える。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実例5：強い空腹を伝える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aa抽出条件・投稿全文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4656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I'm hungry 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67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25422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めちゃくちゃ腹減った。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86508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afは強い強調を加える俗語。hungryと組み合わせ、空腹の強さを伝える。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実例6：帰宅を短く伝える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aa抽出条件・投稿全文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3979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Bk at da crib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55936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7688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家に戻った。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18774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Bkはback、daはthe、cribは家を指すくだけた表現。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実例7：書き続ける一日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aa抽出条件・投稿全文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4656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All day im writen nd writen!!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67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25422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一日中、書いてはまた書いてる!!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86508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ndはandの略。writenの反復と感嘆符が、書き続ける調子を作る。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実例8：歌詞を覚えたい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aa抽出条件・投稿全文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4656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gotta learn the words to this song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67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25422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この歌の歌詞を覚えなきゃ。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86508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省略形gottaを含む、日常のひとこと。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実例9：疲れを否定する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white抽出条件・投稿全文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3979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Not tired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55936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7688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全然疲れてない。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18774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tiredの否定とat allの強調を含む。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実例10：夜に誰かを思う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white抽出条件・投稿全文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4656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It's nights like these that I think about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67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25422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こんな夜には、君のことを考えてしまう。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86508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縮約形と語りかけを含む。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実例11：続けられるか分からない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white抽出条件・投稿全文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4656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don't know how much longer I can do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67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25422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あとどれくらいこれを続けられるか、分からない。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86508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thisの具体的な内容は省かれ、続けることへの迷いを短く伝える。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実例12：言葉を失う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white抽出条件・投稿全文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73766"/>
            <a:ext cx="8046720" cy="381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186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cannot even.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55936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7688"/>
            <a:ext cx="7955279" cy="3782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もう、言葉も出ない。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18774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cannot even.は、驚きやあきれなどで言葉が続かないことを表す口語表現。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実例13：昼寝の後も疲れる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追加の投稿例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HELM test / white抽出条件・投稿全文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6833"/>
            <a:ext cx="8046720" cy="46566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8119" bIns="12700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 took a 3 hour nap earlier why am I exhausted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67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25422"/>
            <a:ext cx="7955279" cy="7106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さっき3時間も昼寝したのに、なんでこんなに疲れてるんだろう。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18994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3時間という長さと、まだ疲れているという疑問を一息に伝える。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入力と指標の補足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入力と指標の補足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HELMの投稿は、AA側が平均約40文字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入力と指標の補足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011680"/>
                <a:gridCol w="20116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1,000投稿ずつの文字数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white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39.85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57.17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最小／最大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2／261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2／422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HELMで使われた各1,000投稿の文字数。Unicodeの文字単位で、エスケープ表現も入力のつづりどおり数えた。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絵文字のエスケープ表現も入力に含む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入力と指標の補足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HELMの入力には、絵文字を「\ud83d\ude02」のようなエスケープ表現にした投稿もある。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08098"/>
            <a:ext cx="7955279" cy="9978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モデルは、この表現を含む文字列に確率を付ける。画面で絵文字として表示した場合とは、入力の長さやトークンの分割が変わる。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公開実行のJSONから、投稿全文を読み出す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入力と指標の補足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429000"/>
            <a:ext cx="7955279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公開されたscenario_state.jsonには、評価に使った投稿とリクエストを収める。最初の投稿のinput.textを取り出す。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  <p:sp>
        <p:nvSpPr>
          <p:cNvPr id="7" name="code-frame"/>
          <p:cNvSpPr txBox="1"/>
          <p:nvPr/>
        </p:nvSpPr>
        <p:spPr>
          <a:xfrm>
            <a:off x="594360" y="1651000"/>
            <a:ext cx="7955279" cy="1414018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txBody>
          <a:bodyPr wrap="none" lIns="152400" rIns="152400" tIns="76200" bIns="127000">
            <a:spAutoFit/>
          </a:bodyPr>
          <a:lstStyle/>
          <a:p>
            <a:pPr>
              <a:lnSpc>
                <a:spcPts val="1900"/>
              </a:lnSpc>
              <a:spcAft>
                <a:spcPts val="0"/>
              </a:spcAft>
              <a:defRPr sz="1550">
                <a:solidFill>
                  <a:srgbClr val="303437"/>
                </a:solidFill>
                <a:latin typeface="DejaVu Sans Mono"/>
              </a:defRPr>
            </a:pPr>
            <a:r>
              <a:t>import json</a:t>
            </a:r>
          </a:p>
          <a:p>
            <a:pPr>
              <a:lnSpc>
                <a:spcPts val="1900"/>
              </a:lnSpc>
              <a:spcAft>
                <a:spcPts val="0"/>
              </a:spcAft>
              <a:defRPr sz="1550">
                <a:solidFill>
                  <a:srgbClr val="303437"/>
                </a:solidFill>
                <a:latin typeface="DejaVu Sans Mono"/>
              </a:defRPr>
            </a:pPr>
            <a:r>
              <a:t>with open("scenario_state.json", encoding="utf-8") as f:</a:t>
            </a:r>
          </a:p>
          <a:p>
            <a:pPr>
              <a:lnSpc>
                <a:spcPts val="1900"/>
              </a:lnSpc>
              <a:spcAft>
                <a:spcPts val="0"/>
              </a:spcAft>
              <a:defRPr sz="1550">
                <a:solidFill>
                  <a:srgbClr val="303437"/>
                </a:solidFill>
                <a:latin typeface="DejaVu Sans Mono"/>
              </a:defRPr>
            </a:pPr>
            <a:r>
              <a:t>    state = json.load(f)</a:t>
            </a:r>
          </a:p>
          <a:p>
            <a:pPr>
              <a:lnSpc>
                <a:spcPts val="1900"/>
              </a:lnSpc>
              <a:spcAft>
                <a:spcPts val="0"/>
              </a:spcAft>
              <a:defRPr sz="1550">
                <a:solidFill>
                  <a:srgbClr val="303437"/>
                </a:solidFill>
                <a:latin typeface="DejaVu Sans Mono"/>
              </a:defRPr>
            </a:pPr>
            <a:r>
              <a:t>post = state["request_states"][0]["instance"]</a:t>
            </a:r>
          </a:p>
          <a:p>
            <a:pPr>
              <a:lnSpc>
                <a:spcPts val="1900"/>
              </a:lnSpc>
              <a:spcAft>
                <a:spcPts val="0"/>
              </a:spcAft>
              <a:defRPr sz="1550">
                <a:solidFill>
                  <a:srgbClr val="303437"/>
                </a:solidFill>
                <a:latin typeface="DejaVu Sans Mono"/>
              </a:defRPr>
            </a:pPr>
            <a:r>
              <a:t>print(post["input"]["text"])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BPBは、全投稿の総byte数で割って求める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入力と指標の補足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6502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予測対象トークンの対数確率の総和をL、予測対象のbyte数の総和をBとすると、BPB = −L / (B × ln 2)。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77872"/>
            <a:ext cx="7955279" cy="6502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すべての投稿の対数確率とbyte数を合計してから計算するため、長い投稿ほど大きな重みを持つ。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92704"/>
            <a:ext cx="7955279" cy="6502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実例1のtext-davinci-003では、対数確率の和は−101.668、52 byte。1投稿のBPBは約2.821となる。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BasicMetrics.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https://github.com/stanford-crfm/helm/blob/main/src/helm/benchmark/metrics/basic_metrics.py</a:t>
            </a:r>
          </a:p>
          <a:p>
            <a:pPr>
              <a:lnSpc>
                <a:spcPts val="115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perplexityでは分母がトークンになる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入力と指標の補足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71600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2103120"/>
                <a:gridCol w="21031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white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OPT-175B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184.99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65.76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152.51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77.07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815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同じ公開実行のperplexity。モデル間ではトークンの分割が異なるため、主要な比較にはBPBを用いた。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 — TwitterAAE.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https://crfm.stanford.edu/helm/classic/v0.4.0/#/groups/twitter_aae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言語学とNLPをつないだ研究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7955279" cy="9978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 Lin Blodgett、Lisa Green、Brendan O’Connorによる2016年EMNLP論文。UMass Amherstの計算機科学と言語学の研究として発表された。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25471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既知のAAEの発音・文法上の特徴との対応を検証し、大規模な統計モデルの抽出結果を言語学的分析へ結び付けた。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70528"/>
            <a:ext cx="7955279" cy="680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2018年の構文解析研究ではJohnny Tian-Zheng Weiが加わり、AAEと主流米国英語のUD注釈を整えた。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Blodgett, Green &amp; O’Connor (2016), Demographic Dialectal Variation in Social Media: A Case Study of African-American English. EMNLP, 1119–1130.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https://aclanthology.org/D16-1120/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Blodgett, Wei &amp; O’Connor (2018), Twitter Universal Dependency Parsing for African-American and Mainstream American English. ACL, 1415–1425.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https://aclanthology.org/P18-1131/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Demographic Dialectal Variation in Social Media: A Case Study of African-American English"/>
          <p:cNvSpPr txBox="1"/>
          <p:nvPr/>
        </p:nvSpPr>
        <p:spPr>
          <a:xfrm>
            <a:off x="548640" y="1463040"/>
            <a:ext cx="8046720" cy="18567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Demographic Dialectal Variation in Social Media: A Case Study of African-American English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Su Lin Blodgett, Lisa Green, Brendan O’Connor · 2016 · EMNLP, 1119–1130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地域人口統計を用いた言語混合モデルと、AAEに対する言語同定・構文解析の差を示す。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https://aclanthology.org/D16-1120/</a:t>
            </a:r>
          </a:p>
        </p:txBody>
      </p:sp>
      <p:sp>
        <p:nvSpPr>
          <p:cNvPr id="5" name="文献 2: Twitter Universal Dependency Parsing for African-American and Mainstream American English"/>
          <p:cNvSpPr txBox="1"/>
          <p:nvPr/>
        </p:nvSpPr>
        <p:spPr>
          <a:xfrm>
            <a:off x="548640" y="3322828"/>
            <a:ext cx="8046720" cy="160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Twitter Universal Dependency Parsing for African-American and Mainstream American English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Su Lin Blodgett, Johnny Tian-Zheng Wei, Brendan O’Connor · 2018 · ACL, 1415–1425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二つの英語変種のツイートにUD注釈を付け、構文解析モデルを比較する。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https://aclanthology.org/P18-1131/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15888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· 2023 · Transactions on Machine Learning Research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多様なシナリオと指標をそろえ、言語モデルの能力と格差を測るHELMの評価設計。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  <p:sp>
        <p:nvSpPr>
          <p:cNvPr id="5" name="文献 2: TwitterAAE: Research on African-American English on Twitter"/>
          <p:cNvSpPr txBox="1"/>
          <p:nvPr/>
        </p:nvSpPr>
        <p:spPr>
          <a:xfrm>
            <a:off x="548640" y="3054985"/>
            <a:ext cx="8046720" cy="13355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TwitterAAE: Research on African-American English on Twitter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UMass SLANG Lab · n.d. · 公式研究ページ（2026-10-18参照）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論文、研究用コーパス、言語混合比推定モデル、UD注釈の配布をまとめる。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https://slanglab.cs.umass.edu/TwitterAAE/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2026-10-18T06:57:38Z</dcterms:modified>
  <dc:title>twitter-aae</dc:title>
  <dc:creator>sasakiy84</dc:creator>
  <dcterms:created xsi:type="dcterms:W3CDTF">2026-10-18T06:57:38Z</dcterms:created>
  <dc:language>ja-JP</dc:language>
</cp:coreProperties>
</file>