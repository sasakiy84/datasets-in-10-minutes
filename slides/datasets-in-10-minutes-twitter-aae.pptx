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Relationship Id="rId50" Type="http://schemas.openxmlformats.org/officeDocument/2006/relationships/slide" Target="slides/slide45.xml"/><Relationship Id="rId51" Type="http://schemas.openxmlformats.org/officeDocument/2006/relationships/slide" Target="slides/slide46.xml"/><Relationship Id="rId52" Type="http://schemas.openxmlformats.org/officeDocument/2006/relationships/slide" Target="slides/slide47.xml"/><Relationship Id="rId53" Type="http://schemas.openxmlformats.org/officeDocument/2006/relationships/slide" Target="slides/slide48.xml"/><Relationship Id="rId54" Type="http://schemas.openxmlformats.org/officeDocument/2006/relationships/slide" Target="slides/slide4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slanglab.cs.umass.edu/TwitterAAE/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6-1120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main/src/helm/benchmark/scenarios/twitter_aae_scenario.py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langlab/twitteraae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twitter_aae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twitter_aae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twitter_aae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6-1120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6-1120/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6-1120/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6-1120/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main/src/helm/benchmark/scenarios/twitter_aae_scenario.py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main/src/helm/benchmark/metrics/basic_metrics.py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twitter_aae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twitter_aae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6-1120/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P18-1131/" TargetMode="External"/><Relationship Id="rId3" Type="http://schemas.openxmlformats.org/officeDocument/2006/relationships/hyperlink" Target="https://github.com/stanford-crfm/helm/blob/main/src/helm/benchmark/scenarios/twitter_aae_scenario.py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langlab.cs.umass.edu/TwitterAAE/" TargetMode="Externa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211.09110" TargetMode="Externa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twitter_aae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twitter_aae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twitter_aae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twitter_aae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twitter_aae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twitter_aae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twitter_aae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twitter_aae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twitter_aae" TargetMode="Externa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twitter_aae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twitter_aae" TargetMode="Externa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twitter_aae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twitter_aae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github.com/stanford-crfm/helm/blob/main/src/helm/benchmark/metrics/basic_metrics.py" TargetMode="External"/><Relationship Id="rId3" Type="http://schemas.openxmlformats.org/officeDocument/2006/relationships/hyperlink" Target="https://crfm.stanford.edu/helm/classic/v0.4.0/#/groups/twitter_aae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#/groups/twitter_aae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slanglab.cs.umass.edu/TwitterAAE/" TargetMode="Externa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6-1120/" TargetMode="External"/><Relationship Id="rId3" Type="http://schemas.openxmlformats.org/officeDocument/2006/relationships/hyperlink" Target="https://aclanthology.org/P18-1131/" TargetMode="Externa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D16-1120/" TargetMode="External"/><Relationship Id="rId3" Type="http://schemas.openxmlformats.org/officeDocument/2006/relationships/hyperlink" Target="https://aclanthology.org/P18-1131/" TargetMode="Externa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211.09110" TargetMode="External"/><Relationship Id="rId3" Type="http://schemas.openxmlformats.org/officeDocument/2006/relationships/hyperlink" Target="https://slanglab.cs.umass.edu/TwitterAAE/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637627"/>
            <a:ext cx="8046720" cy="90297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400" b="0">
                <a:solidFill>
                  <a:srgbClr val="303437"/>
                </a:solidFill>
                <a:latin typeface="Noto Sans"/>
              </a:defRPr>
            </a:pPr>
            <a:r>
              <a:rPr sz="5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TwitterAAE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2647277"/>
            <a:ext cx="8046720" cy="989965"/>
          </a:xfrm>
        </p:spPr>
        <p:txBody>
          <a:bodyPr lIns="0" rIns="0" tIns="0" bIns="0">
            <a:noAutofit/>
          </a:bodyPr>
          <a:lstStyle/>
          <a:p>
            <a:pPr algn="ctr">
              <a:lnSpc>
                <a:spcPct val="125000"/>
              </a:lnSpc>
              <a:spcAft>
                <a:spcPts val="120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African-American English on Twitter</a:t>
            </a:r>
          </a:p>
          <a:p>
            <a:pPr algn="ctr">
              <a:lnSpc>
                <a:spcPct val="125000"/>
              </a:lnSpc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会話の言語的多様性と言語モデルの評価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2296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000" b="0">
                <a:solidFill>
                  <a:srgbClr val="303437"/>
                </a:solidFill>
                <a:latin typeface="Noto Sans"/>
              </a:defRPr>
            </a:pPr>
            <a:r>
              <a:rPr sz="1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公式サイト：研究と配布への入口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TwitterAAE</a:t>
            </a:r>
          </a:p>
        </p:txBody>
      </p:sp>
      <p:pic>
        <p:nvPicPr>
          <p:cNvPr id="4" name="Picture 3" descr="official-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8872" y="1481328"/>
            <a:ext cx="6786254" cy="3063240"/>
          </a:xfrm>
          <a:prstGeom prst="rect">
            <a:avLst/>
          </a:prstGeom>
        </p:spPr>
      </p:pic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UMass SLANG Lab (n.d.), TwitterAAE: Research on African-American English on Twitter. 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https://slanglab.cs.umass.edu/TwitterAAE/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63901"/>
            <a:ext cx="7863840" cy="2362199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投稿の実例と言語モデルの課題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人口統計と言語を結ぶ構築方法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HELMの評価条件と結果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4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利用の変化と公開範囲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投稿の実例と言語モデルの課題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投稿の実例と言語モデルの課題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AAEを含む会話をNLPの対象にする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投稿の実例と言語モデルの課題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104317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18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TwitterAAEは、Twitter上のAfrican-American English（AAE）に関連する言語を、地域の人口統計と言葉の共起から分析する資源。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670810"/>
            <a:ext cx="7955279" cy="104317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18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AAEには語彙・発音・文法の体系がある。主流の書き言葉を中心に作られたNLPツールが、こうした会話をどの程度扱えるかを調べた。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Blodgett, Green &amp; O’Connor (2016), Demographic Dialectal Variation in Social Media: A Case Study of African-American English. EMNLP, 1119–1130.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https://aclanthology.org/D16-1120/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HELMでは、投稿の予測しやすさを比べる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投稿の実例と言語モデルの課題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7106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18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HELMは、AA寄り・white寄りの言語混合比で抽出した二つの投稿集合に、言語モデルが付ける確率を測る。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338324"/>
            <a:ext cx="7955279" cy="104317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18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入力は投稿全文で、直前までの文字列から次のトークンを予測する。参照回答の代わりに、実際に書かれた文字列の確率を評価する。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CRFM, HELM TwitterAAEScenario. AA／whiteの抽出とtestインスタンス。2026-10-18確認。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https://github.com/stanford-crfm/helm/blob/main/src/helm/benchmark/scenarios/twitter_aae_scenario.py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実例はHELMの公開実行入力から示す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投稿の実例と言語モデルの課題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104317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18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以下の3例とAppendixの10例は、公開されたscenario_stateから選んだ別々の投稿。元の大文字・つづり・句読点を保って全文を示す。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670810"/>
            <a:ext cx="7955279" cy="104317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18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aa／whiteはデータの抽出条件名。元の推定値は、人口統計に関連付けられた言語が文中で占める割合であり、話者の自己申告人種ではない。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Blodgett et al. (n.d.), twitteraae. 人口統計と言語を結ぶ混合モデルのREADME。2026-10-18参照。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https://github.com/slanglab/twitteraae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実例1：電話代を払ってでも話したい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投稿の実例と言語モデルの課題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21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HELM test / aa抽出条件・投稿全文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73352"/>
            <a:ext cx="8046720" cy="949198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736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IMA PAY OOMFS FONE BILL ,JUS KUZ I WANNA TALK TO HER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823718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21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3125470"/>
            <a:ext cx="7955279" cy="7106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74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あのフォロワーの子と話したいからってだけで、携帯代を払ってやるつもり。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4019042"/>
            <a:ext cx="7955279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65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OOMFはone of my followersの略。大文字やつづりの工夫も、実際に採点された文字列の一部。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CRFM, HELM Classic v0.4.0, TwitterAAE. 公開実行suite v0.3.0。 instance: aa/id19602（HELM内ID）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https://crfm.stanford.edu/helm/classic/v0.4.0/#/groups/twitter_aae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実例2：短い願いと呼びかけ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投稿の実例と言語モデルの課題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21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HELM test / aa抽出条件・投稿全文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73352"/>
            <a:ext cx="8046720" cy="601598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736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 just wanna be happy bruh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476119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21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777871"/>
            <a:ext cx="7955279" cy="37820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74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ただ幸せになりたいんだよ、なあ。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338957"/>
            <a:ext cx="7955279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65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bruhという呼びかけとwannaの縮約を含む。語りかけの調子を保って訳した。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CRFM, HELM Classic v0.4.0, TwitterAAE. 公開実行suite v0.3.0。 instance: aa/id15055（HELM内ID）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https://crfm.stanford.edu/helm/classic/v0.4.0/#/groups/twitter_aae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実例3：white側にもくだけた会話がある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投稿の実例と言語モデルの課題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21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HELM test / white抽出条件・投稿全文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73352"/>
            <a:ext cx="8046720" cy="601598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736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Sweet sleep, how I missed you my love.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476119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21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777871"/>
            <a:ext cx="7955279" cy="37820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74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ああ愛しい眠り、どれほど恋しかったことか。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338957"/>
            <a:ext cx="7955279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65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sleepを恋人のように呼ぶ、擬人化した語りかけ。white抽出集合にもこのような会話が含まれる。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CRFM, HELM Classic v0.4.0, TwitterAAE. 公開実行suite v0.3.0。 instance: white/id12363（HELM内ID）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https://crfm.stanford.edu/helm/classic/v0.4.0/#/groups/twitter_aae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人口統計と言語を結ぶ構築方法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人口統計と言語を結ぶ構築方法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2013年の位置付き投稿から会話を集める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人口統計と言語を結ぶ構築方法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83210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2013年の公開Twitterストリーム160億件から、米国の国勢調査block groupに位置を対応できる約9,000万件を得た。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423160"/>
            <a:ext cx="7955279" cy="10789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フォロワー1,000人以上の著者、3個以上のハッシュタグ、http・follow・mentionを含む投稿、リツイートなどを除いた。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611880"/>
            <a:ext cx="7955279" cy="84124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前処理後は約5,920万投稿・280万ユーザー。位置情報を公開する利用者の会話が対象となる。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Blodgett, Green &amp; O’Connor (2016), Demographic Dialectal Variation in Social Media: A Case Study of African-American English. EMNLP, 1119–1130.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https://aclanthology.org/D16-1120/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地域の人口構成を、言語の手掛かりにする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人口統計と言語を結ぶ構築方法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9978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投稿位置を、通常600〜3,000人が暮らすblock groupへ結び付け、2013年American Community Surveyの人口構成を参照する。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625471"/>
            <a:ext cx="7955279" cy="68046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非ヒスパニック白人・非ヒスパニック黒人・ヒスパニック・アジア系の4比率を、各ユーザーの投稿位置で平均した。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470528"/>
            <a:ext cx="7955279" cy="68046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これは近隣地域の人口構成を介した遠隔教師信号。個人に人種を尋ねた注釈は付けていない。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Blodgett, Green &amp; O’Connor (2016), Demographic Dialectal Variation in Social Media: A Case Study of African-American English. EMNLP, 1119–1130.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https://aclanthology.org/D16-1120/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一人の中にも、一つの投稿にも混合を認める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人口統計と言語を結ぶ構築方法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104317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18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4集団に対応する単語分布を学習し、各投稿でそれらが占める混合比を推定する。ユーザーに対応付けた地域の人口比率を、その推定の事前分布に使う。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670810"/>
            <a:ext cx="7955279" cy="104317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618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同じ人が投稿ごとに異なる表現を使える設計。特定のキーワードを一度使っただけで、その人の全投稿を同じ言語に固定しない。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Blodgett, Green &amp; O’Connor (2016), Demographic Dialectal Variation in Social Media: A Case Study of African-American English. EMNLP, 1119–1130.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https://aclanthology.org/D16-1120/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言語的特徴との対応を確かめた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人口統計と言語を結ぶ構築方法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887347"/>
        </p:xfrm>
        <a:graphic>
          <a:graphicData uri="http://schemas.openxmlformats.org/drawingml/2006/table">
            <a:tbl>
              <a:tblPr firstRow="0" bandRow="0"/>
              <a:tblGrid>
                <a:gridCol w="2148840"/>
                <a:gridCol w="3703320"/>
                <a:gridCol w="219456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構文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公開された用例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AA／white比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習慣を表すbe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 be tripping bruh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11.94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未来を表すgon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Then she gon be single Af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14.26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2547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完了を表すdone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 done laughed so hard that I’m weak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12"/>
                        </a:lnSpc>
                        <a:buNone/>
                        <a:defRPr sz="17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7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8.68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597275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ユーザー単位で作った2016年の両コーパスを比較。表記だけでなく、既知の文法現象とも照合した。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Blodgett, Green &amp; O’Connor (2016), Demographic Dialectal Variation in Social Media: A Case Study of African-American English. EMNLP, 1119–1130.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https://aclanthology.org/D16-1120/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2016年の集合とHELMの集合は作り方が違う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人口統計と言語を結ぶ構築方法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729994"/>
        </p:xfrm>
        <a:graphic>
          <a:graphicData uri="http://schemas.openxmlformats.org/drawingml/2006/table">
            <a:tbl>
              <a:tblPr firstRow="0" bandRow="0"/>
              <a:tblGrid>
                <a:gridCol w="2331720"/>
                <a:gridCol w="571500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選び方と件数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5468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2016年の解析集合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ユーザーの対応言語比率80%以上、他2成分の合計5%未満。AA約83万／white約730万投稿。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5468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HELMの抽出集合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投稿のAA比率上位83万／white比率上位730万から、それぞれ5万投稿を無作為抽出。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439922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HELMの公開コードが記載する二段階の抽出。2016年の解析集合をそのまま5万件にしたものではない。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CRFM, HELM TwitterAAEScenario. AA／whiteの抽出とtestインスタンス。2026-10-18確認。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https://github.com/stanford-crfm/helm/blob/main/src/helm/benchmark/scenarios/twitter_aae_scenario.py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HELMの評価条件と結果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HELMの評価条件と結果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低いbits per byteほど投稿を予測できる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HELMの評価条件と結果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9978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言語モデルは、先行する文字列を条件に各トークンの確率を付ける。予測対象の対数確率を合計し、そのbyte数で割ってbitsへ換算する。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625471"/>
            <a:ext cx="7955279" cy="68046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bits per byte（BPB）は、1 byteを表すために必要な平均情報量。低いほど、その文字列に高い確率を与えている。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470528"/>
            <a:ext cx="7955279" cy="68046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トークンの区切りがモデル間で異なるため、HELMの主要指標にはbyteで正規化したBPBを使う。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CRFM, HELM BasicMetrics. 対数確率・byte数からの集約。2026-10-18確認。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https://github.com/stanford-crfm/helm/blob/main/src/helm/benchmark/metrics/basic_metrics.py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HELMではAA側のBPBが高かった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HELMの評価条件と結果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642110"/>
        </p:xfrm>
        <a:graphic>
          <a:graphicData uri="http://schemas.openxmlformats.org/drawingml/2006/table">
            <a:tbl>
              <a:tblPr firstRow="0" bandRow="0"/>
              <a:tblGrid>
                <a:gridCol w="3200400"/>
                <a:gridCol w="1463040"/>
                <a:gridCol w="1463040"/>
                <a:gridCol w="192024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モデル（公開年）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white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差 AA−white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OPT-175B（2022）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2.114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1.506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0.608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72771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text-davinci-003（2022）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2.522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1.862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0.660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35203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BPB、低いほど良い。Classic v0.4.0収録・suite v0.3.0、各条件1,000投稿、提示例0、各1試行。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CRFM, HELM Classic v0.4.0, TwitterAAE. 公開実行suite v0.3.0。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https://crfm.stanford.edu/helm/classic/v0.4.0/#/groups/twitter_aae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得点差は、二つの抽出集合での予測の差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HELMの評価条件と結果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68046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byte数で正規化した予測の難しさは、両モデルともAA抽出条件の投稿で大きかった。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308098"/>
            <a:ext cx="7955279" cy="68046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集合にはつづり、話題、長さ、会話の形式などの違いも含まれる。同じ内容だけを方言で書き換えた対訳実験ではない。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153156"/>
            <a:ext cx="7955279" cy="68046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この値が示すのは公開実行時の投稿集合での差であり、2026年のモデルの順位ではない。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CRFM, HELM Classic v0.4.0, TwitterAAE. 公開実行suite v0.3.0。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https://crfm.stanford.edu/helm/classic/v0.4.0/#/groups/twitter_aae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言語同定では、英語を取りこぼしていた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HELMの評価条件と結果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9298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2016年の解析では、langid.pyがAA側の13.2%、white側の7.6%を非英語と判定した。Twitterの識別結果でも、欠損値を非英語に数えるかどうかの両条件でAA側の割合が高かった。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557462"/>
            <a:ext cx="7955279" cy="92983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AA混合比を10段階に分け、各識別条件で非英語とされた投稿から計1,500件を人手で調べた。明らかな非英語は13件（約0.87%）だった。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651885"/>
            <a:ext cx="7955279" cy="63512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20"/>
              </a:lnSpc>
              <a:spcBef>
                <a:spcPts val="0"/>
              </a:spcBef>
              <a:spcAft>
                <a:spcPts val="0"/>
              </a:spcAft>
              <a:buNone/>
              <a:defRPr sz="1950" b="0">
                <a:solidFill>
                  <a:srgbClr val="303437"/>
                </a:solidFill>
                <a:latin typeface="Noto Sans"/>
              </a:defRPr>
            </a:pPr>
            <a:r>
              <a:rPr sz="19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英語だけを残す前処理そのものが、方言を含む意見や会話を取りこぼす問題につながる。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Blodgett, Green &amp; O’Connor (2016), Demographic Dialectal Variation in Social Media: A Case Study of African-American English. EMNLP, 1119–1130.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https://aclanthology.org/D16-1120/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利用の変化と公開範囲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利用の変化と公開範囲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会話の解析から、言語モデルの格差測定へ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利用の変化と公開範囲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68046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2016年は人口統計と言語の混合モデルを作り、言語同定・構文解析の差を調べた。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308098"/>
            <a:ext cx="7955279" cy="68046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2018年にはAAEと主流米国英語の各250投稿にUniversal Dependencies注釈を付け、構文解析の資源を拡張した。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153156"/>
            <a:ext cx="7955279" cy="68046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 Classicは別途抽出した投稿を言語モデリングに用いる。2026-10-18確認の公開実装にもAA／whiteの両条件が残る。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51713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Blodgett, Wei &amp; O’Connor (2018), Twitter Universal Dependency Parsing for African-American and Mainstream American English. ACL, 1415–1425.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https://aclanthology.org/P18-1131/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Stanford CRFM, HELM TwitterAAEScenario. AA／whiteの抽出とtestインスタンス。2026-10-18確認。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https://github.com/stanford-crfm/helm/blob/main/src/helm/benchmark/scenarios/twitter_aae_scenario.py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公式配布とHELMの公開記録を使い分ける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利用の変化と公開範囲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66535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39"/>
              </a:lnSpc>
              <a:spcBef>
                <a:spcPts val="0"/>
              </a:spcBef>
              <a:spcAft>
                <a:spcPts val="0"/>
              </a:spcAft>
              <a:buNone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公式サイトの全体配布TwitterAAE-full-v1.zipは表示容量5.5 GB。研究目的のみでの提供と2016年論文の引用が案内されている。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292985"/>
            <a:ext cx="7955279" cy="97516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39"/>
              </a:lnSpc>
              <a:spcBef>
                <a:spcPts val="0"/>
              </a:spcBef>
              <a:spcAft>
                <a:spcPts val="0"/>
              </a:spcAft>
              <a:buNone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HELMの5万件CSVはCodaLabのURLを参照する。今回の取得では双方503となったが、公開実行の1,000投稿ずつと得点は取得できた。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432746"/>
            <a:ext cx="7955279" cy="66535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39"/>
              </a:lnSpc>
              <a:spcBef>
                <a:spcPts val="0"/>
              </a:spcBef>
              <a:spcAft>
                <a:spcPts val="0"/>
              </a:spcAft>
              <a:buNone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推定モデルのコードにはMITライセンスがある。投稿本文の権利や再配布範囲は、コードのMITライセンスとは別に扱う。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UMass SLANG Lab (n.d.), TwitterAAE: Research on African-American English on Twitter. 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https://slanglab.cs.umass.edu/TwitterAAE/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多様な表現を、そのまま評価の対象にする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利用の変化と公開範囲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66535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39"/>
              </a:lnSpc>
              <a:spcBef>
                <a:spcPts val="0"/>
              </a:spcBef>
              <a:spcAft>
                <a:spcPts val="0"/>
              </a:spcAft>
              <a:buNone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TwitterAAEは地域人口構成を手掛かりに、AAEに関連する表現を大規模な会話から取り出し、言語的特徴との対応を検証した。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292985"/>
            <a:ext cx="7955279" cy="66535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39"/>
              </a:lnSpc>
              <a:spcBef>
                <a:spcPts val="0"/>
              </a:spcBef>
              <a:spcAft>
                <a:spcPts val="0"/>
              </a:spcAft>
              <a:buNone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HELMは、同じコーパスから二つの言語抽出集合を作り、それぞれの投稿に対するBPBを比べる。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122930"/>
            <a:ext cx="7955279" cy="665353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39"/>
              </a:lnSpc>
              <a:spcBef>
                <a:spcPts val="0"/>
              </a:spcBef>
              <a:spcAft>
                <a:spcPts val="0"/>
              </a:spcAft>
              <a:buNone/>
              <a:defRPr sz="2050" b="0">
                <a:solidFill>
                  <a:srgbClr val="303437"/>
                </a:solidFill>
                <a:latin typeface="Noto Sans"/>
              </a:defRPr>
            </a:pPr>
            <a:r>
              <a:rPr sz="20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元の集合の作り方と公開実行の範囲を押さえると、投稿の予測しにくさと、既存NLP処理の取りこぼしを具体的に捉えられる。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Liang et al. (2023), Holistic Evaluation of Language Models. TMLR.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https://arxiv.org/abs/2211.09110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8483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972511"/>
            <a:ext cx="7863840" cy="1744980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追加の投稿例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版・実行条件の補足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追加の投稿例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追加の投稿例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実例4：終わった数を数える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追加の投稿例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21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HELM test / aa抽出条件・投稿全文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73352"/>
            <a:ext cx="8046720" cy="601598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736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 down 1 to go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476119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21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777871"/>
            <a:ext cx="7955279" cy="37820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74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4つ終わった、あと1つ。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338957"/>
            <a:ext cx="7955279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65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何を数えているかは、この投稿だけでは分からない。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CRFM, HELM Classic v0.4.0, TwitterAAE. 公開実行suite v0.3.0。 instance: aa/id42642（HELM内ID）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https://crfm.stanford.edu/helm/classic/v0.4.0/#/groups/twitter_aae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実例5：強い空腹を伝える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追加の投稿例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21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HELM test / aa抽出条件・投稿全文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73352"/>
            <a:ext cx="8046720" cy="601598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736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I'm hungry af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476119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21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777871"/>
            <a:ext cx="7955279" cy="37820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74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めちゃくちゃ腹減った。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338957"/>
            <a:ext cx="7955279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65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afの強調を、日本語でも強い話し言葉で表した。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CRFM, HELM Classic v0.4.0, TwitterAAE. 公開実行suite v0.3.0。 instance: aa/id8369（HELM内ID）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https://crfm.stanford.edu/helm/classic/v0.4.0/#/groups/twitter_aae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実例6：帰宅を短く伝える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追加の投稿例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21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HELM test / aa抽出条件・投稿全文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73352"/>
            <a:ext cx="8046720" cy="601598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736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Bk at da crib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476119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21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777871"/>
            <a:ext cx="7955279" cy="37820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74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家に戻った。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338957"/>
            <a:ext cx="7955279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65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Bkはback、daはthe、cribは家を指すくだけた表現。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CRFM, HELM Classic v0.4.0, TwitterAAE. 公開実行suite v0.3.0。 instance: aa/id46250（HELM内ID）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https://crfm.stanford.edu/helm/classic/v0.4.0/#/groups/twitter_aae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実例7：書き続ける一日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追加の投稿例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21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HELM test / aa抽出条件・投稿全文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73352"/>
            <a:ext cx="8046720" cy="601598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736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All day im writen nd writen!!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476119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21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777871"/>
            <a:ext cx="7955279" cy="37820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74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一日中、書いてはまた書いてる!!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338957"/>
            <a:ext cx="7955279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65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ndはandに相当する。反復と感嘆符も表現の一部。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CRFM, HELM Classic v0.4.0, TwitterAAE. 公開実行suite v0.3.0。 instance: aa/id24647（HELM内ID）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https://crfm.stanford.edu/helm/classic/v0.4.0/#/groups/twitter_aae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実例8：歌詞を覚えたい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追加の投稿例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21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HELM test / aa抽出条件・投稿全文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73352"/>
            <a:ext cx="8046720" cy="601598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736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 gotta learn the words to this song 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476119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21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777871"/>
            <a:ext cx="7955279" cy="37820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74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この歌の歌詞を覚えなきゃ。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338957"/>
            <a:ext cx="7955279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65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省略形gottaを含む、日常のひとこと。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CRFM, HELM Classic v0.4.0, TwitterAAE. 公開実行suite v0.3.0。 instance: aa/id29079（HELM内ID）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https://crfm.stanford.edu/helm/classic/v0.4.0/#/groups/twitter_aae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実例9：疲れを否定する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追加の投稿例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21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HELM test / white抽出条件・投稿全文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73352"/>
            <a:ext cx="8046720" cy="601598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736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Not tired at 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476119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21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777871"/>
            <a:ext cx="7955279" cy="37820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74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全然疲れてない。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338957"/>
            <a:ext cx="7955279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65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tiredの否定とat allの強調を含む。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CRFM, HELM Classic v0.4.0, TwitterAAE. 公開実行suite v0.3.0。 instance: white/id32104（HELM内ID）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https://crfm.stanford.edu/helm/classic/v0.4.0/#/groups/twitter_aae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実例10：夜に誰かを思う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追加の投稿例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21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HELM test / white抽出条件・投稿全文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73352"/>
            <a:ext cx="8046720" cy="601598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736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It's nights like these that I think about you.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476119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21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777871"/>
            <a:ext cx="7955279" cy="37820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74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こんな夜には、君のことを考えてしまう。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338957"/>
            <a:ext cx="7955279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65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縮約形と語りかけを含む。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CRFM, HELM Classic v0.4.0, TwitterAAE. 公開実行suite v0.3.0。 instance: white/id46712（HELM内ID）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https://crfm.stanford.edu/helm/classic/v0.4.0/#/groups/twitter_aae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実例11：続けられるか分からない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追加の投稿例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21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HELM test / white抽出条件・投稿全文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73352"/>
            <a:ext cx="8046720" cy="601598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736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 don't know how much longer I can do this.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476119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21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777871"/>
            <a:ext cx="7955279" cy="37820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74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あとどれくらいこれを続けられるか、分からない。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338957"/>
            <a:ext cx="7955279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65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thisの指す内容は公開された一文からは特定できない。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CRFM, HELM Classic v0.4.0, TwitterAAE. 公開実行suite v0.3.0。 instance: white/id42460（HELM内ID）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https://crfm.stanford.edu/helm/classic/v0.4.0/#/groups/twitter_aae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実例12：言葉を失う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追加の投稿例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21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HELM test / white抽出条件・投稿全文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73352"/>
            <a:ext cx="8046720" cy="601598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736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 cannot even.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476119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21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777871"/>
            <a:ext cx="7955279" cy="37820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74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もう、言葉も出ない。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338957"/>
            <a:ext cx="7955279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65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 cannot even.は文脈に依存する口語表現として訳した。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CRFM, HELM Classic v0.4.0, TwitterAAE. 公開実行suite v0.3.0。 instance: white/id19412（HELM内ID）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https://crfm.stanford.edu/helm/classic/v0.4.0/#/groups/twitter_aae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実例13：昼寝の後も疲れる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追加の投稿例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53312"/>
            <a:ext cx="8046720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21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HELM test / white抽出条件・投稿全文</a:t>
            </a:r>
          </a:p>
        </p:txBody>
      </p:sp>
      <p:sp>
        <p:nvSpPr>
          <p:cNvPr id="5" name="quote-frame"/>
          <p:cNvSpPr/>
          <p:nvPr/>
        </p:nvSpPr>
        <p:spPr>
          <a:xfrm>
            <a:off x="548640" y="1673352"/>
            <a:ext cx="8046720" cy="601598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 wrap="square" lIns="177800" rIns="177800" tIns="101600" bIns="127000">
            <a:noAutofit/>
          </a:bodyPr>
          <a:lstStyle/>
          <a:p>
            <a:pPr algn="l">
              <a:lnSpc>
                <a:spcPts val="2736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303437"/>
                </a:solidFill>
                <a:latin typeface="Noto Sans"/>
              </a:defRPr>
            </a:pPr>
            <a:r>
              <a:rPr sz="23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I took a 3 hour nap earlier why am I exhausted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476119"/>
            <a:ext cx="7955279" cy="2286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521"/>
              </a:lnSpc>
              <a:spcBef>
                <a:spcPts val="0"/>
              </a:spcBef>
              <a:spcAft>
                <a:spcPts val="0"/>
              </a:spcAft>
              <a:buNone/>
              <a:defRPr sz="1300" b="0">
                <a:solidFill>
                  <a:srgbClr val="303437"/>
                </a:solidFill>
                <a:latin typeface="Noto Sans"/>
              </a:defRPr>
            </a:pPr>
            <a:r>
              <a:rPr sz="13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日本語訳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777871"/>
            <a:ext cx="7955279" cy="7106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574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さっき3時間も昼寝したのに、なんでこんなに疲れてるんだろう。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3671443"/>
            <a:ext cx="7955279" cy="59436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65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時間の数値と疑問の調子を保った。</a:t>
            </a:r>
          </a:p>
        </p:txBody>
      </p:sp>
      <p:sp>
        <p:nvSpPr>
          <p:cNvPr id="9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CRFM, HELM Classic v0.4.0, TwitterAAE. 公開実行suite v0.3.0。 instance: white/id5140（HELM内ID）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https://crfm.stanford.edu/helm/classic/v0.4.0/#/groups/twitter_aae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版・実行条件の補足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版・実行条件の補足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公開実行入力の長さを確かめた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版・実行条件の補足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828800"/>
        </p:xfrm>
        <a:graphic>
          <a:graphicData uri="http://schemas.openxmlformats.org/drawingml/2006/table">
            <a:tbl>
              <a:tblPr firstRow="0" bandRow="0"/>
              <a:tblGrid>
                <a:gridCol w="4023360"/>
                <a:gridCol w="2011680"/>
                <a:gridCol w="201168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1,000投稿ずつの文字数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white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平均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39.85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57.17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中央値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33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48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最小／最大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2／261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2／422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5387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Unicodeコードポイント数。エスケープ文字列は入力のまま数えた。元の2013年ツイート表示上の文字数ではない。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CRFM, HELM Classic v0.4.0, TwitterAAE. 公開実行suite v0.3.0。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https://crfm.stanford.edu/helm/classic/v0.4.0/#/groups/twitter_aae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文字の表現も、評価入力の一部になる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版・実行条件の補足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68046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公開入力には、絵文字を文字列のまま表した「\ud83d\ude02」のようなエスケープ表現もある。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308098"/>
            <a:ext cx="7955279" cy="9978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本資料の実例はそれらを復号・訂正せず、公開実行で使われたinput.textを保存する。短い自然文だけを選び、本文の実例で表記を追いやすくした。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470529"/>
            <a:ext cx="7955279" cy="68046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HELM内のid11841などは投稿のTwitter IDではなく、条件内のインスタンスID。同じ番号でもAAとwhiteで本文が異なる。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CRFM, HELM Classic v0.4.0, TwitterAAE. 公開実行suite v0.3.0。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https://crfm.stanford.edu/helm/classic/v0.4.0/#/groups/twitter_aae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公開実行の設定は両モデルで共通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版・実行条件の補足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523744"/>
        </p:xfrm>
        <a:graphic>
          <a:graphicData uri="http://schemas.openxmlformats.org/drawingml/2006/table">
            <a:tbl>
              <a:tblPr firstRow="0" bandRow="0"/>
              <a:tblGrid>
                <a:gridCol w="4937760"/>
                <a:gridCol w="310896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設定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値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method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language_modeling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max_eval_instances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1,000（test）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max_train_instances / 試行数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 / 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temperature / max_tokens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 / 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prompt_truncated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0（両モデル・両条件）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233672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生成した回答の採点ではなく、echo_promptで既存の投稿の確率を取得する。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CRFM, HELM Classic v0.4.0, TwitterAAE. 公開実行suite v0.3.0。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https://crfm.stanford.edu/helm/classic/v0.4.0/#/groups/twitter_aae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BPBは投稿ごとの比を単純平均しない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版・実行条件の補足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6502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予測対象トークンの対数確率の総和をL、予測対象のbyte数の総和をBとすると、BPB = −L / (B × ln 2)。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277872"/>
            <a:ext cx="7955279" cy="6502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投稿ごとの長さで重みが変わる、総byte数による集約。トークン単位のperplexityとは分母が異なる。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092704"/>
            <a:ext cx="7955279" cy="6502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379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実例1のtext-davinci-003では、対数確率の和は−101.668、52 byte。1投稿のBPBは約2.821となる。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51713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115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CRFM, HELM BasicMetrics. 対数確率・byte数からの集約。2026-10-18確認。</a:t>
            </a:r>
          </a:p>
          <a:p>
            <a:pPr>
              <a:lnSpc>
                <a:spcPts val="115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https://github.com/stanford-crfm/helm/blob/main/src/helm/benchmark/metrics/basic_metrics.py</a:t>
            </a:r>
          </a:p>
          <a:p>
            <a:pPr>
              <a:lnSpc>
                <a:spcPts val="115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Stanford CRFM, HELM Classic v0.4.0, TwitterAAE. 公開実行suite v0.3.0。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https://crfm.stanford.edu/helm/classic/v0.4.0/#/groups/twitter_aae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perplexityでは分母がトークンになる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版・実行条件の補足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371600"/>
        </p:xfrm>
        <a:graphic>
          <a:graphicData uri="http://schemas.openxmlformats.org/drawingml/2006/table">
            <a:tbl>
              <a:tblPr firstRow="0" bandRow="0"/>
              <a:tblGrid>
                <a:gridCol w="3840480"/>
                <a:gridCol w="2103120"/>
                <a:gridCol w="2103120"/>
              </a:tblGrid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AA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white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OPT-175B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184.99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65.76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5720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text-davinci-003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152.51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415"/>
                        </a:lnSpc>
                        <a:buNone/>
                        <a:defRPr sz="21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21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77.07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08152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047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同じ公開実行のperplexity。モデル間ではトークンの分割が異なるため、主要な比較にはBPBを用いた。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CRFM, HELM Classic v0.4.0, TwitterAAE. 公開実行suite v0.3.0。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https://crfm.stanford.edu/helm/classic/v0.4.0/#/groups/twitter_aae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公開範囲と取得できた範囲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版・実行条件の補足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68046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公式の全体ZIP（5.5 GB）は未取得。公式UD配布ZIPと公開HELM入力2,000件を取得し、13実例は後者から選定した。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308098"/>
            <a:ext cx="7955279" cy="68046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公式サイトは研究目的での利用と論文の引用を求めている。投稿本文についての包括的な再配布許諾は確認できなかった。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153156"/>
            <a:ext cx="7955279" cy="68046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原文、訳、条件内ID、固定実行URL、原レコード、取得ファイルのSHA-256を制作記録へ保存した。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UMass SLANG Lab (n.d.), TwitterAAE: Research on African-American English on Twitter. 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https://slanglab.cs.umass.edu/TwitterAAE/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言語学とNLPをつないだ研究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1463040"/>
            <a:ext cx="7955279" cy="997839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Su Lin Blodgett、Lisa Green、Brendan O’Connorによる2016年EMNLP論文。UMass Amherstの計算機科学と言語学の研究として発表された。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2625471"/>
            <a:ext cx="7955279" cy="68046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既知のAAEの発音・文法上の特徴との対応を検証し、大規模な統計モデルの抽出結果を言語学的分析へ結び付けた。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470528"/>
            <a:ext cx="7955279" cy="680466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499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303437"/>
                </a:solidFill>
                <a:latin typeface="Noto Sans"/>
              </a:defRPr>
            </a:pPr>
            <a:r>
              <a:rPr sz="21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2018年の構文解析研究ではJohnny Tian-Zheng Weiが加わり、AAEと主流米国英語のUD注釈を整えた。</a:t>
            </a:r>
          </a:p>
        </p:txBody>
      </p:sp>
      <p:sp>
        <p:nvSpPr>
          <p:cNvPr id="7" name="sources"/>
          <p:cNvSpPr txBox="1"/>
          <p:nvPr/>
        </p:nvSpPr>
        <p:spPr>
          <a:xfrm>
            <a:off x="502920" y="451713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Blodgett, Green &amp; O’Connor (2016), Demographic Dialectal Variation in Social Media: A Case Study of African-American English. EMNLP, 1119–1130.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https://aclanthology.org/D16-1120/</a:t>
            </a:r>
          </a:p>
          <a:p>
            <a:pPr>
              <a:lnSpc>
                <a:spcPts val="940"/>
              </a:lnSpc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[2] Blodgett, Wei &amp; O’Connor (2018), Twitter Universal Dependency Parsing for African-American and Mainstream American English. ACL, 1415–1425.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https://aclanthology.org/P18-1131/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Demographic Dialectal Variation in Social Media: A Case Study of African-American English"/>
          <p:cNvSpPr txBox="1"/>
          <p:nvPr/>
        </p:nvSpPr>
        <p:spPr>
          <a:xfrm>
            <a:off x="548640" y="1463040"/>
            <a:ext cx="8046720" cy="162814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Demographic Dialectal Variation in Social Media: A Case Study of African-American English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Su Lin Blodgett, Lisa Green, Brendan O’Connor · 2016 · EMNLP, 1119–1130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地域人口統計を用いた言語混合モデルと、AAEに対する言語同定・構文解析の差を示す。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https://aclanthology.org/D16-1120/</a:t>
            </a:r>
          </a:p>
        </p:txBody>
      </p:sp>
      <p:sp>
        <p:nvSpPr>
          <p:cNvPr id="5" name="文献 2: Twitter Universal Dependency Parsing for African-American and Mainstream American English"/>
          <p:cNvSpPr txBox="1"/>
          <p:nvPr/>
        </p:nvSpPr>
        <p:spPr>
          <a:xfrm>
            <a:off x="548640" y="3322828"/>
            <a:ext cx="8046720" cy="1374775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Twitter Universal Dependency Parsing for African-American and Mainstream American English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Su Lin Blodgett, Johnny Tian-Zheng Wei, Brendan O’Connor · 2018 · ACL, 1415–1425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二つの英語変種のツイートにUD注釈を付け、構文解析モデルを比較する。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https://aclanthology.org/P18-1131/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Holistic Evaluation of Language Models"/>
          <p:cNvSpPr txBox="1"/>
          <p:nvPr/>
        </p:nvSpPr>
        <p:spPr>
          <a:xfrm>
            <a:off x="548640" y="1463040"/>
            <a:ext cx="8046720" cy="1360297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Holistic Evaluation of Language Models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Percy Liang et al. · 2023 · Transactions on Machine Learning Research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多様なシナリオと指標をそろえ、言語モデルの能力と格差を測るHELMの評価設計。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https://arxiv.org/abs/2211.09110</a:t>
            </a:r>
          </a:p>
        </p:txBody>
      </p:sp>
      <p:sp>
        <p:nvSpPr>
          <p:cNvPr id="5" name="文献 2: TwitterAAE: Research on African-American English on Twitter"/>
          <p:cNvSpPr txBox="1"/>
          <p:nvPr/>
        </p:nvSpPr>
        <p:spPr>
          <a:xfrm>
            <a:off x="548640" y="3054985"/>
            <a:ext cx="8046720" cy="110693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TwitterAAE: Research on African-American English on Twitter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UMass SLANG Lab · n.d. · 公式研究ページ（2026-10-18参照）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論文、研究用コーパス、言語混合比推定モデル、UD注釈の配布をまとめる。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https://slanglab.cs.umass.edu/TwitterAAE/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sasakiy84</cp:lastModifiedBy>
  <cp:revision>500</cp:revision>
  <dcterms:modified xsi:type="dcterms:W3CDTF">2026-10-18T06:57:38Z</dcterms:modified>
  <dc:title>twitter-aae</dc:title>
  <dc:creator>sasakiy84</dc:creator>
  <dcterms:created xsi:type="dcterms:W3CDTF">2026-10-18T06:57:38Z</dcterms:created>
  <dc:language>ja-JP</dc:language>
</cp:coreProperties>
</file>