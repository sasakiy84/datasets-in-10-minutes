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2" r:id="rId4"/>
    <p:sldId id="263" r:id="rId3"/>
    <p:sldId id="264" r:id="rId2"/>
    <p:sldId id="265" r:id="rId15"/>
    <p:sldId id="266" r:id="rId16"/>
    <p:sldId id="267" r:id="rId17"/>
    <p:sldId id="268" r:id="rId18"/>
    <p:sldId id="269" r:id="rId19"/>
    <p:sldId id="270" r:id="rId20"/>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301" r:id="rId51"/>
    <p:sldId id="302" r:id="rId52"/>
    <p:sldId id="303" r:id="rId53"/>
    <p:sldId id="304" r:id="rId5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slanglab.cs.umass.edu/TwitterAA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12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langlab/twitteraa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120/"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12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120/"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120/"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120/"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8-1131/" TargetMode="External"/><Relationship Id="rId3" Type="http://schemas.openxmlformats.org/officeDocument/2006/relationships/hyperlink" Target="https://github.com/stanford-crfm/helm/blob/main/src/helm/benchmark/scenarios/twitter_aae_scenario.p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langlab.cs.umass.edu/TwitterAAE/"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 Id="rId3" Type="http://schemas.openxmlformats.org/officeDocument/2006/relationships/hyperlink" Target="https://aclanthology.org/D16-112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twitter_aae"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120/" TargetMode="External"/><Relationship Id="rId3" Type="http://schemas.openxmlformats.org/officeDocument/2006/relationships/hyperlink" Target="https://aclanthology.org/P18-1131/"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120/" TargetMode="External"/><Relationship Id="rId3" Type="http://schemas.openxmlformats.org/officeDocument/2006/relationships/hyperlink" Target="https://aclanthology.org/P18-1131/"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 Id="rId3" Type="http://schemas.openxmlformats.org/officeDocument/2006/relationships/hyperlink" Target="https://slanglab.cs.umass.edu/TwitterAAE/"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TwitterAAE</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African-American English on Twitter</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会話の言語的多様性を捉えるコーパス</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公式サイト：研究と配布への入口</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TwitterAAE</a:t>
            </a:r>
          </a:p>
        </p:txBody>
      </p:sp>
      <p:pic>
        <p:nvPicPr>
          <p:cNvPr id="4" name="Picture 3" descr="official-site.png"/>
          <p:cNvPicPr>
            <a:picLocks noChangeAspect="1"/>
          </p:cNvPicPr>
          <p:nvPr/>
        </p:nvPicPr>
        <p:blipFill>
          <a:blip r:embed="rId2"/>
          <a:stretch>
            <a:fillRect/>
          </a:stretch>
        </p:blipFill>
        <p:spPr>
          <a:xfrm>
            <a:off x="1178872" y="1481328"/>
            <a:ext cx="6786254"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UMass SLANG Lab (n.d.), TwitterAAE: Research on African-American English on Twitter. </a:t>
            </a:r>
            <a:r>
              <a:rPr sz="810" b="0" lang="ja-JP" altLang="en-US">
                <a:solidFill>
                  <a:srgbClr val="626669"/>
                </a:solidFill>
                <a:latin typeface="Noto Sans"/>
                <a:ea typeface="Noto Sans CJK JP"/>
                <a:cs typeface="Noto Sans"/>
                <a:hlinkClick r:id="rId3"/>
              </a:rPr>
              <a:t>https://slanglab.cs.umass.edu/TwitterAAE/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投稿の実例と言語的特徴</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人口統計と言語を結ぶ構築方法</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公開データと解析への利用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投稿の実例と言語的特徴</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投稿の実例と言語的特徴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AAEを含む会話をNLPの対象にする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投稿の実例と言語的特徴</a:t>
            </a:r>
          </a:p>
        </p:txBody>
      </p:sp>
      <p:sp>
        <p:nvSpPr>
          <p:cNvPr id="4" name="TextBox 3"/>
          <p:cNvSpPr txBox="1"/>
          <p:nvPr/>
        </p:nvSpPr>
        <p:spPr>
          <a:xfrm>
            <a:off x="594360" y="1463040"/>
            <a:ext cx="7955279" cy="1043178"/>
          </a:xfrm>
          <a:prstGeom prst="rect">
            <a:avLst/>
          </a:prstGeom>
          <a:noFill/>
        </p:spPr>
        <p:txBody>
          <a:bodyPr wrap="square" lIns="0" rIns="0" tIns="0" bIns="0">
            <a:noAutofit/>
          </a:bodyPr>
          <a:lstStyle/>
          <a:p>
            <a:pPr algn="l">
              <a:lnSpc>
                <a:spcPts val="2618"/>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TwitterAAEは、Twitter上のアフリカ系米国人英語（AAE）に関連する表現を調べる言語資源。投稿位置に対応する地域の人口構成と言葉の使い方を結び付けて構築した。</a:t>
            </a:r>
          </a:p>
        </p:txBody>
      </p:sp>
      <p:sp>
        <p:nvSpPr>
          <p:cNvPr id="5" name="TextBox 4"/>
          <p:cNvSpPr txBox="1"/>
          <p:nvPr/>
        </p:nvSpPr>
        <p:spPr>
          <a:xfrm>
            <a:off x="594360" y="2670810"/>
            <a:ext cx="7955279" cy="1043178"/>
          </a:xfrm>
          <a:prstGeom prst="rect">
            <a:avLst/>
          </a:prstGeom>
          <a:noFill/>
        </p:spPr>
        <p:txBody>
          <a:bodyPr wrap="square" lIns="0" rIns="0" tIns="0" bIns="0">
            <a:noAutofit/>
          </a:bodyPr>
          <a:lstStyle/>
          <a:p>
            <a:pPr algn="l">
              <a:lnSpc>
                <a:spcPts val="2618"/>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AAEには語彙・発音・文法の体系がある。主流の書き言葉を中心に作られたNLPツールが、こうした会話をどの程度扱えるかを調べた。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Blodgett, Green &amp; O’Connor (2016), Demographic Dialectal Variation in Social Media: A Case Study of African-American English. EMNLP, 1119–1130.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https://aclanthology.org/D16-1120/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AA・whiteは、言語的特徴に基づく名前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投稿の実例と言語的特徴</a:t>
            </a:r>
          </a:p>
        </p:txBody>
      </p:sp>
      <p:sp>
        <p:nvSpPr>
          <p:cNvPr id="4" name="TextBox 3"/>
          <p:cNvSpPr txBox="1"/>
          <p:nvPr/>
        </p:nvSpPr>
        <p:spPr>
          <a:xfrm>
            <a:off x="594360" y="1463040"/>
            <a:ext cx="7955279" cy="1043178"/>
          </a:xfrm>
          <a:prstGeom prst="rect">
            <a:avLst/>
          </a:prstGeom>
          <a:noFill/>
        </p:spPr>
        <p:txBody>
          <a:bodyPr wrap="square" lIns="0" rIns="0" tIns="0" bIns="0">
            <a:noAutofit/>
          </a:bodyPr>
          <a:lstStyle/>
          <a:p>
            <a:pPr algn="l">
              <a:lnSpc>
                <a:spcPts val="2618"/>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本編3例と追加10例では、異なる13件の投稿全文を示す。大文字や独自のつづり、句読点にも会話の特徴が現れる。</a:t>
            </a:r>
          </a:p>
        </p:txBody>
      </p:sp>
      <p:sp>
        <p:nvSpPr>
          <p:cNvPr id="5" name="TextBox 4"/>
          <p:cNvSpPr txBox="1"/>
          <p:nvPr/>
        </p:nvSpPr>
        <p:spPr>
          <a:xfrm>
            <a:off x="594360" y="2670810"/>
            <a:ext cx="7955279" cy="1043178"/>
          </a:xfrm>
          <a:prstGeom prst="rect">
            <a:avLst/>
          </a:prstGeom>
          <a:noFill/>
        </p:spPr>
        <p:txBody>
          <a:bodyPr wrap="square" lIns="0" rIns="0" tIns="0" bIns="0">
            <a:noAutofit/>
          </a:bodyPr>
          <a:lstStyle/>
          <a:p>
            <a:pPr algn="l">
              <a:lnSpc>
                <a:spcPts val="2618"/>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aa／whiteは、地域の人口構成に関連する言語の混合比に基づく名前。投稿者の自己申告による人種を表すラベルではない。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Blodgett et al. (n.d.), twitteraae. 人口統計と言語を結ぶ混合モデルのREADME。</a:t>
            </a:r>
            <a:r>
              <a:rPr sz="810" b="0" lang="ja-JP" altLang="en-US">
                <a:solidFill>
                  <a:srgbClr val="626669"/>
                </a:solidFill>
                <a:latin typeface="Noto Sans"/>
                <a:ea typeface="Noto Sans CJK JP"/>
                <a:cs typeface="Noto Sans"/>
                <a:hlinkClick r:id="rId2"/>
              </a:rPr>
              <a:t>https://github.com/slanglab/twitteraae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実例1：電話代を払ってでも話したい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投稿の実例と言語的特徴</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aa群（言語的特徴で抽出）</a:t>
            </a:r>
          </a:p>
        </p:txBody>
      </p:sp>
      <p:sp>
        <p:nvSpPr>
          <p:cNvPr id="5" name="quote-frame"/>
          <p:cNvSpPr/>
          <p:nvPr/>
        </p:nvSpPr>
        <p:spPr>
          <a:xfrm>
            <a:off x="548640" y="1765300"/>
            <a:ext cx="8046720" cy="736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652"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IMA PAY OOMFS FONE BILL ,JUS KUZ I WANNA TALK TO HER</a:t>
            </a:r>
          </a:p>
        </p:txBody>
      </p:sp>
      <p:sp>
        <p:nvSpPr>
          <p:cNvPr id="6" name="TextBox 5"/>
          <p:cNvSpPr txBox="1"/>
          <p:nvPr/>
        </p:nvSpPr>
        <p:spPr>
          <a:xfrm>
            <a:off x="594360" y="2703068"/>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3004820"/>
            <a:ext cx="7955279" cy="710692"/>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あのフォロワーの子と話したいからってだけで、携帯代を払ってやるつもり。</a:t>
            </a:r>
          </a:p>
        </p:txBody>
      </p:sp>
      <p:sp>
        <p:nvSpPr>
          <p:cNvPr id="8" name="TextBox 7"/>
          <p:cNvSpPr txBox="1"/>
          <p:nvPr/>
        </p:nvSpPr>
        <p:spPr>
          <a:xfrm>
            <a:off x="594360" y="3898392"/>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OOMFはone of my followers（フォロワーの一人）の略。FONEやJUSなど、発音に近づけたつづりも使う。</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実例2：短い願いと呼びかけ</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投稿の実例と言語的特徴</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aa群（言語的特徴で抽出）</a:t>
            </a:r>
          </a:p>
        </p:txBody>
      </p:sp>
      <p:sp>
        <p:nvSpPr>
          <p:cNvPr id="5" name="quote-frame"/>
          <p:cNvSpPr/>
          <p:nvPr/>
        </p:nvSpPr>
        <p:spPr>
          <a:xfrm>
            <a:off x="548640" y="1756833"/>
            <a:ext cx="8046720" cy="4656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I just wanna be happy bruh</a:t>
            </a:r>
          </a:p>
        </p:txBody>
      </p:sp>
      <p:sp>
        <p:nvSpPr>
          <p:cNvPr id="6" name="TextBox 5"/>
          <p:cNvSpPr txBox="1"/>
          <p:nvPr/>
        </p:nvSpPr>
        <p:spPr>
          <a:xfrm>
            <a:off x="594360" y="2423670"/>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725422"/>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ただ幸せになりたいんだよ、なあ。</a:t>
            </a:r>
          </a:p>
        </p:txBody>
      </p:sp>
      <p:sp>
        <p:nvSpPr>
          <p:cNvPr id="8" name="TextBox 7"/>
          <p:cNvSpPr txBox="1"/>
          <p:nvPr/>
        </p:nvSpPr>
        <p:spPr>
          <a:xfrm>
            <a:off x="594360" y="3286508"/>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bruhはくだけた呼びかけ。wannaはwant toの縮約で、短い投稿でも会話の調子が伝わる。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実例3：white側にも語りかけの表現がある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投稿の実例と言語的特徴</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white群（言語的特徴で抽出）</a:t>
            </a:r>
          </a:p>
        </p:txBody>
      </p:sp>
      <p:sp>
        <p:nvSpPr>
          <p:cNvPr id="5" name="quote-frame"/>
          <p:cNvSpPr/>
          <p:nvPr/>
        </p:nvSpPr>
        <p:spPr>
          <a:xfrm>
            <a:off x="548640" y="1756833"/>
            <a:ext cx="8046720" cy="4656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Sweet sleep, how I missed you my love.</a:t>
            </a:r>
          </a:p>
        </p:txBody>
      </p:sp>
      <p:sp>
        <p:nvSpPr>
          <p:cNvPr id="6" name="TextBox 5"/>
          <p:cNvSpPr txBox="1"/>
          <p:nvPr/>
        </p:nvSpPr>
        <p:spPr>
          <a:xfrm>
            <a:off x="594360" y="2423670"/>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725422"/>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ああ愛しい眠り、どれほど恋しかったことか。</a:t>
            </a:r>
          </a:p>
        </p:txBody>
      </p:sp>
      <p:sp>
        <p:nvSpPr>
          <p:cNvPr id="8" name="TextBox 7"/>
          <p:cNvSpPr txBox="1"/>
          <p:nvPr/>
        </p:nvSpPr>
        <p:spPr>
          <a:xfrm>
            <a:off x="594360" y="3286508"/>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sleepを恋人のように呼ぶ、擬人化した語りかけ。white抽出集合にもこのような会話が含まれる。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人口統計と言語を結ぶ構築方法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人口統計と言語を結ぶ構築方法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2013年の位置付き投稿から会話を集める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人口統計と言語を結ぶ構築方法</a:t>
            </a:r>
          </a:p>
        </p:txBody>
      </p:sp>
      <p:sp>
        <p:nvSpPr>
          <p:cNvPr id="4" name="TextBox 3"/>
          <p:cNvSpPr txBox="1"/>
          <p:nvPr/>
        </p:nvSpPr>
        <p:spPr>
          <a:xfrm>
            <a:off x="594360" y="1463040"/>
            <a:ext cx="7955279" cy="832104"/>
          </a:xfrm>
          <a:prstGeom prst="rect">
            <a:avLst/>
          </a:prstGeom>
          <a:noFill/>
        </p:spPr>
        <p:txBody>
          <a:bodyPr wrap="square" lIns="0" rIns="0" tIns="0" bIns="0">
            <a:noAutofit/>
          </a:bodyPr>
          <a:lstStyle/>
          <a:p>
            <a:pPr algn="l">
              <a:lnSpc>
                <a:spcPts val="2379"/>
              </a:lnSpc>
              <a:spcBef>
                <a:spcPts val="0"/>
              </a:spcBef>
              <a:spcAft>
                <a:spcPts val="0"/>
              </a:spcAft>
              <a:buNone/>
              <a:defRPr sz="2100" b="0">
                <a:solidFill>
                  <a:srgbClr val="303437"/>
                </a:solidFill>
                <a:latin typeface="Noto Sans"/>
              </a:defRPr>
            </a:pPr>
            <a:r>
              <a:rPr sz="2000" b="0" lang="ja-JP" altLang="en-US">
                <a:solidFill>
                  <a:srgbClr val="303437"/>
                </a:solidFill>
                <a:latin typeface="Noto Sans"/>
                <a:ea typeface="Noto Sans CJK JP"/>
                <a:cs typeface="Noto Sans"/>
              </a:rPr>
              <a:t>2013年の公開Twitterストリーム160億件から、米国の国勢調査block groupに位置を対応できる約9,000万件を得た。</a:t>
            </a:r>
          </a:p>
        </p:txBody>
      </p:sp>
      <p:sp>
        <p:nvSpPr>
          <p:cNvPr id="5" name="TextBox 4"/>
          <p:cNvSpPr txBox="1"/>
          <p:nvPr/>
        </p:nvSpPr>
        <p:spPr>
          <a:xfrm>
            <a:off x="594360" y="2423160"/>
            <a:ext cx="7955279" cy="1078992"/>
          </a:xfrm>
          <a:prstGeom prst="rect">
            <a:avLst/>
          </a:prstGeom>
          <a:noFill/>
        </p:spPr>
        <p:txBody>
          <a:bodyPr wrap="square" lIns="0" rIns="0" tIns="0" bIns="0">
            <a:noAutofit/>
          </a:bodyPr>
          <a:lstStyle/>
          <a:p>
            <a:pPr algn="l">
              <a:lnSpc>
                <a:spcPts val="2379"/>
              </a:lnSpc>
              <a:spcBef>
                <a:spcPts val="0"/>
              </a:spcBef>
              <a:spcAft>
                <a:spcPts val="0"/>
              </a:spcAft>
              <a:buNone/>
              <a:defRPr sz="2100" b="0">
                <a:solidFill>
                  <a:srgbClr val="303437"/>
                </a:solidFill>
                <a:latin typeface="Noto Sans"/>
              </a:defRPr>
            </a:pPr>
            <a:r>
              <a:rPr sz="2000" b="0" lang="ja-JP" altLang="en-US">
                <a:solidFill>
                  <a:srgbClr val="303437"/>
                </a:solidFill>
                <a:latin typeface="Noto Sans"/>
                <a:ea typeface="Noto Sans CJK JP"/>
                <a:cs typeface="Noto Sans"/>
              </a:rPr>
              <a:t>フォロワーの多いアカウントや、ハッシュタグの多い投稿、リンク・宣伝語を含む投稿、リツイートなどを除いた。</a:t>
            </a:r>
          </a:p>
        </p:txBody>
      </p:sp>
      <p:sp>
        <p:nvSpPr>
          <p:cNvPr id="6" name="TextBox 5"/>
          <p:cNvSpPr txBox="1"/>
          <p:nvPr/>
        </p:nvSpPr>
        <p:spPr>
          <a:xfrm>
            <a:off x="594360" y="3611880"/>
            <a:ext cx="7955279" cy="841248"/>
          </a:xfrm>
          <a:prstGeom prst="rect">
            <a:avLst/>
          </a:prstGeom>
          <a:noFill/>
        </p:spPr>
        <p:txBody>
          <a:bodyPr wrap="square" lIns="0" rIns="0" tIns="0" bIns="0">
            <a:noAutofit/>
          </a:bodyPr>
          <a:lstStyle/>
          <a:p>
            <a:pPr algn="l">
              <a:lnSpc>
                <a:spcPts val="2379"/>
              </a:lnSpc>
              <a:spcBef>
                <a:spcPts val="0"/>
              </a:spcBef>
              <a:spcAft>
                <a:spcPts val="0"/>
              </a:spcAft>
              <a:buNone/>
              <a:defRPr sz="2100" b="0">
                <a:solidFill>
                  <a:srgbClr val="303437"/>
                </a:solidFill>
                <a:latin typeface="Noto Sans"/>
              </a:defRPr>
            </a:pPr>
            <a:r>
              <a:rPr sz="2000" b="0" lang="ja-JP" altLang="en-US">
                <a:solidFill>
                  <a:srgbClr val="303437"/>
                </a:solidFill>
                <a:latin typeface="Noto Sans"/>
                <a:ea typeface="Noto Sans CJK JP"/>
                <a:cs typeface="Noto Sans"/>
              </a:rPr>
              <a:t>前処理後は約5,920万投稿・280万ユーザー。位置情報を公開する利用者の会話が対象となる。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Blodgett, Green &amp; O’Connor (2016), Demographic Dialectal Variation in Social Media: A Case Study of African-American English. EMNLP, 1119–1130.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https://aclanthology.org/D16-1120/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地域の人口構成を、言語の手掛かりにする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人口統計と言語を結ぶ構築方法</a:t>
            </a:r>
          </a:p>
        </p:txBody>
      </p:sp>
      <p:sp>
        <p:nvSpPr>
          <p:cNvPr id="4" name="TextBox 3"/>
          <p:cNvSpPr txBox="1"/>
          <p:nvPr/>
        </p:nvSpPr>
        <p:spPr>
          <a:xfrm>
            <a:off x="594360" y="1463040"/>
            <a:ext cx="7955279" cy="997839"/>
          </a:xfrm>
          <a:prstGeom prst="rect">
            <a:avLst/>
          </a:prstGeom>
          <a:noFill/>
        </p:spPr>
        <p:txBody>
          <a:bodyPr wrap="square" lIns="0" rIns="0" tIns="0" bIns="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投稿位置を、通常600〜3,000人が暮らすblock groupへ結び付け、2013年American Community Surveyの人口構成を参照する。</a:t>
            </a:r>
          </a:p>
        </p:txBody>
      </p:sp>
      <p:sp>
        <p:nvSpPr>
          <p:cNvPr id="5" name="TextBox 4"/>
          <p:cNvSpPr txBox="1"/>
          <p:nvPr/>
        </p:nvSpPr>
        <p:spPr>
          <a:xfrm>
            <a:off x="594360" y="2625471"/>
            <a:ext cx="7955279" cy="680466"/>
          </a:xfrm>
          <a:prstGeom prst="rect">
            <a:avLst/>
          </a:prstGeom>
          <a:noFill/>
        </p:spPr>
        <p:txBody>
          <a:bodyPr wrap="square" lIns="0" rIns="0" tIns="0" bIns="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非ヒスパニック白人・非ヒスパニック黒人・ヒスパニック・アジア系の4比率を、各ユーザーの投稿位置で平均した。</a:t>
            </a:r>
          </a:p>
        </p:txBody>
      </p:sp>
      <p:sp>
        <p:nvSpPr>
          <p:cNvPr id="6" name="TextBox 5"/>
          <p:cNvSpPr txBox="1"/>
          <p:nvPr/>
        </p:nvSpPr>
        <p:spPr>
          <a:xfrm>
            <a:off x="594360" y="3470528"/>
            <a:ext cx="7955279" cy="680466"/>
          </a:xfrm>
          <a:prstGeom prst="rect">
            <a:avLst/>
          </a:prstGeom>
          <a:noFill/>
        </p:spPr>
        <p:txBody>
          <a:bodyPr wrap="square" lIns="0" rIns="0" tIns="0" bIns="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近隣地域の人口構成を、投稿の言語的特徴を推定する手掛かりにする。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Blodgett, Green &amp; O’Connor (2016), Demographic Dialectal Variation in Social Media: A Case Study of African-American English. EMNLP, 1119–1130.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https://aclanthology.org/D16-1120/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一人の中にも、一つの投稿にも混合を認める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人口統計と言語を結ぶ構築方法</a:t>
            </a:r>
          </a:p>
        </p:txBody>
      </p:sp>
      <p:sp>
        <p:nvSpPr>
          <p:cNvPr id="4" name="TextBox 3"/>
          <p:cNvSpPr txBox="1"/>
          <p:nvPr/>
        </p:nvSpPr>
        <p:spPr>
          <a:xfrm>
            <a:off x="594360" y="1463040"/>
            <a:ext cx="7955279" cy="1043178"/>
          </a:xfrm>
          <a:prstGeom prst="rect">
            <a:avLst/>
          </a:prstGeom>
          <a:noFill/>
        </p:spPr>
        <p:txBody>
          <a:bodyPr wrap="square" lIns="0" rIns="0" tIns="0" bIns="0">
            <a:noAutofit/>
          </a:bodyPr>
          <a:lstStyle/>
          <a:p>
            <a:pPr algn="l">
              <a:lnSpc>
                <a:spcPts val="2618"/>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4集団に対応する単語分布を学習し、各投稿でそれらが占める混合比を推定する。ユーザーに対応付けた地域の人口比率を、その推定の事前分布に使う。</a:t>
            </a:r>
          </a:p>
        </p:txBody>
      </p:sp>
      <p:sp>
        <p:nvSpPr>
          <p:cNvPr id="5" name="TextBox 4"/>
          <p:cNvSpPr txBox="1"/>
          <p:nvPr/>
        </p:nvSpPr>
        <p:spPr>
          <a:xfrm>
            <a:off x="594360" y="2670810"/>
            <a:ext cx="7955279" cy="1043178"/>
          </a:xfrm>
          <a:prstGeom prst="rect">
            <a:avLst/>
          </a:prstGeom>
          <a:noFill/>
        </p:spPr>
        <p:txBody>
          <a:bodyPr wrap="square" lIns="0" rIns="0" tIns="0" bIns="0">
            <a:noAutofit/>
          </a:bodyPr>
          <a:lstStyle/>
          <a:p>
            <a:pPr algn="l">
              <a:lnSpc>
                <a:spcPts val="2618"/>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同じ人でも、投稿によって使う表現は変わる。ユーザー単位と投稿単位の混合比で、その変化を表現する。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Blodgett, Green &amp; O’Connor (2016), Demographic Dialectal Variation in Social Media: A Case Study of African-American English. EMNLP, 1119–1130.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https://aclanthology.org/D16-1120/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AAEに特徴的な文法が多く現れる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人口統計と言語を結ぶ構築方法</a:t>
            </a:r>
          </a:p>
        </p:txBody>
      </p:sp>
      <p:graphicFrame>
        <p:nvGraphicFramePr>
          <p:cNvPr id="4" name="Table 3"/>
          <p:cNvGraphicFramePr>
            <a:graphicFrameLocks noGrp="1"/>
          </p:cNvGraphicFramePr>
          <p:nvPr/>
        </p:nvGraphicFramePr>
        <p:xfrm>
          <a:off x="548640" y="1508760"/>
          <a:ext cx="8046720" cy="1887347"/>
        </p:xfrm>
        <a:graphic>
          <a:graphicData uri="http://schemas.openxmlformats.org/drawingml/2006/table">
            <a:tbl>
              <a:tblPr firstRow="0" bandRow="0"/>
              <a:tblGrid>
                <a:gridCol w="2148840"/>
                <a:gridCol w="3703320"/>
                <a:gridCol w="2194560"/>
              </a:tblGrid>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公開された用例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AA／white比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習慣を表すbe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I be tripping bruh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11.94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未来を表すgon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Then she gon be single Af</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14.26</a:t>
                      </a:r>
                    </a:p>
                  </a:txBody>
                  <a:tcPr marL="63500" marR="63500" marT="38100" marB="38100" anchor="ctr">
                    <a:lnL w="7620">
                      <a:noFill/>
                    </a:lnL>
                    <a:lnR w="7620">
                      <a:noFill/>
                    </a:lnR>
                    <a:lnT w="7620">
                      <a:noFill/>
                    </a:lnT>
                    <a:lnB w="7620">
                      <a:noFill/>
                    </a:lnB>
                    <a:solidFill>
                      <a:srgbClr val="FFFEF8"/>
                    </a:solidFill>
                  </a:tcPr>
                </a:tc>
              </a:tr>
              <a:tr h="625475">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完了を表すdone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I done laughed so hard that I’m weak</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8.68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97275"/>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ユーザー単位で作った2016年の両コーパスを比較。表記だけでなく、既知の文法現象とも照合した。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Blodgett, Green &amp; O’Connor (2016), Demographic Dialectal Variation in Social Media: A Case Study of African-American English. EMNLP, 1119–1130.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https://aclanthology.org/D16-1120/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言語同定では、英語を取りこぼしていた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人口統計と言語を結ぶ構築方法</a:t>
            </a:r>
          </a:p>
        </p:txBody>
      </p:sp>
      <p:sp>
        <p:nvSpPr>
          <p:cNvPr id="4" name="TextBox 3"/>
          <p:cNvSpPr txBox="1"/>
          <p:nvPr/>
        </p:nvSpPr>
        <p:spPr>
          <a:xfrm>
            <a:off x="594360" y="1463040"/>
            <a:ext cx="7955279" cy="929830"/>
          </a:xfrm>
          <a:prstGeom prst="rect">
            <a:avLst/>
          </a:prstGeom>
          <a:noFill/>
        </p:spPr>
        <p:txBody>
          <a:bodyPr wrap="square" lIns="0" rIns="0" tIns="0" bIns="0">
            <a:noAutofit/>
          </a:bodyPr>
          <a:lstStyle/>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2016年の解析では、langid.pyがAA側の13.2%、white側の7.6%を非英語と判定した。Twitterの識別結果でも、欠損値を非英語に数えるかどうかの両条件でAA側の割合が高かった。</a:t>
            </a:r>
          </a:p>
        </p:txBody>
      </p:sp>
      <p:sp>
        <p:nvSpPr>
          <p:cNvPr id="5" name="TextBox 4"/>
          <p:cNvSpPr txBox="1"/>
          <p:nvPr/>
        </p:nvSpPr>
        <p:spPr>
          <a:xfrm>
            <a:off x="594360" y="2557462"/>
            <a:ext cx="7955279" cy="929830"/>
          </a:xfrm>
          <a:prstGeom prst="rect">
            <a:avLst/>
          </a:prstGeom>
          <a:noFill/>
        </p:spPr>
        <p:txBody>
          <a:bodyPr wrap="square" lIns="0" rIns="0" tIns="0" bIns="0">
            <a:noAutofit/>
          </a:bodyPr>
          <a:lstStyle/>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AA混合比を10段階に分け、各識別条件で非英語とされた投稿から計1,500件を人手で調べた。明らかな非英語は13件（約0.87%）だった。</a:t>
            </a:r>
          </a:p>
        </p:txBody>
      </p:sp>
      <p:sp>
        <p:nvSpPr>
          <p:cNvPr id="6" name="TextBox 5"/>
          <p:cNvSpPr txBox="1"/>
          <p:nvPr/>
        </p:nvSpPr>
        <p:spPr>
          <a:xfrm>
            <a:off x="594360" y="3651885"/>
            <a:ext cx="7955279" cy="635127"/>
          </a:xfrm>
          <a:prstGeom prst="rect">
            <a:avLst/>
          </a:prstGeom>
          <a:noFill/>
        </p:spPr>
        <p:txBody>
          <a:bodyPr wrap="square" lIns="0" rIns="0" tIns="0" bIns="0">
            <a:noAutofit/>
          </a:bodyPr>
          <a:lstStyle/>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英語だけを残す前処理そのものが、方言を含む意見や会話を取りこぼす問題につながる。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Blodgett, Green &amp; O’Connor (2016), Demographic Dialectal Variation in Social Media: A Case Study of African-American English. EMNLP, 1119–1130.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https://aclanthology.org/D16-1120/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公開データと解析への利用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公開データと解析への利用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構文解析のための注釈も公開されている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公開データと解析への利用</a:t>
            </a:r>
          </a:p>
        </p:txBody>
      </p:sp>
      <p:sp>
        <p:nvSpPr>
          <p:cNvPr id="4" name="TextBox 3"/>
          <p:cNvSpPr txBox="1"/>
          <p:nvPr/>
        </p:nvSpPr>
        <p:spPr>
          <a:xfrm>
            <a:off x="594360" y="1463040"/>
            <a:ext cx="7955279" cy="680466"/>
          </a:xfrm>
          <a:prstGeom prst="rect">
            <a:avLst/>
          </a:prstGeom>
          <a:noFill/>
        </p:spPr>
        <p:txBody>
          <a:bodyPr wrap="square" lIns="0" rIns="0" tIns="0" bIns="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2016年は人口統計と言語の混合モデルを作り、言語同定・構文解析の差を調べた。</a:t>
            </a:r>
          </a:p>
        </p:txBody>
      </p:sp>
      <p:sp>
        <p:nvSpPr>
          <p:cNvPr id="5" name="TextBox 4"/>
          <p:cNvSpPr txBox="1"/>
          <p:nvPr/>
        </p:nvSpPr>
        <p:spPr>
          <a:xfrm>
            <a:off x="594360" y="2308098"/>
            <a:ext cx="7955279" cy="680466"/>
          </a:xfrm>
          <a:prstGeom prst="rect">
            <a:avLst/>
          </a:prstGeom>
          <a:noFill/>
        </p:spPr>
        <p:txBody>
          <a:bodyPr wrap="square" lIns="0" rIns="0" tIns="0" bIns="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2018年にはAAEと主流米国英語の各250投稿にUniversal Dependencies注釈を付け、構文解析の資源を拡張した。</a:t>
            </a:r>
          </a:p>
        </p:txBody>
      </p:sp>
      <p:sp>
        <p:nvSpPr>
          <p:cNvPr id="6" name="TextBox 5"/>
          <p:cNvSpPr txBox="1"/>
          <p:nvPr/>
        </p:nvSpPr>
        <p:spPr>
          <a:xfrm>
            <a:off x="594360" y="3153156"/>
            <a:ext cx="7955279" cy="680466"/>
          </a:xfrm>
          <a:prstGeom prst="rect">
            <a:avLst/>
          </a:prstGeom>
          <a:noFill/>
        </p:spPr>
        <p:txBody>
          <a:bodyPr wrap="square" lIns="0" rIns="0" tIns="0" bIns="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
            </a:r>
          </a:p>
        </p:txBody>
      </p:sp>
      <p:sp>
        <p:nvSpPr>
          <p:cNvPr id="7"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Blodgett, Wei &amp; O’Connor (2018). Twitter Universal Dependency Parsing for African-American and Mainstream American English. ACL, 1415–1425.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https://aclanthology.org/P18-1131/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公式サイトで、コーパスと解析用資源を入手する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公開データと解析への利用</a:t>
            </a:r>
          </a:p>
        </p:txBody>
      </p:sp>
      <p:sp>
        <p:nvSpPr>
          <p:cNvPr id="4" name="TextBox 3"/>
          <p:cNvSpPr txBox="1"/>
          <p:nvPr/>
        </p:nvSpPr>
        <p:spPr>
          <a:xfrm>
            <a:off x="594360" y="1463040"/>
            <a:ext cx="7955279" cy="665353"/>
          </a:xfrm>
          <a:prstGeom prst="rect">
            <a:avLst/>
          </a:prstGeom>
          <a:noFill/>
        </p:spPr>
        <p:txBody>
          <a:bodyPr wrap="square" lIns="0" rIns="0" tIns="0" bIns="0">
            <a:noAutofit/>
          </a:bodyPr>
          <a:lstStyle/>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公式サイトの全体配布TwitterAAE-full-v1.zipは表示容量5.5 GB。研究目的のみでの提供と2016年論文の引用が案内されている。</a:t>
            </a:r>
          </a:p>
        </p:txBody>
      </p:sp>
      <p:sp>
        <p:nvSpPr>
          <p:cNvPr id="5" name="TextBox 4"/>
          <p:cNvSpPr txBox="1"/>
          <p:nvPr/>
        </p:nvSpPr>
        <p:spPr>
          <a:xfrm>
            <a:off x="594360" y="2292985"/>
            <a:ext cx="7955279" cy="975169"/>
          </a:xfrm>
          <a:prstGeom prst="rect">
            <a:avLst/>
          </a:prstGeom>
          <a:noFill/>
        </p:spPr>
        <p:txBody>
          <a:bodyPr wrap="square" lIns="0" rIns="0" tIns="0" bIns="0">
            <a:noAutofit/>
          </a:bodyPr>
          <a:lstStyle/>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言語混合比の推定モデルと、2018年の構文解析用注釈も、公式ページから入手できる。</a:t>
            </a:r>
          </a:p>
        </p:txBody>
      </p:sp>
      <p:sp>
        <p:nvSpPr>
          <p:cNvPr id="6" name="TextBox 5"/>
          <p:cNvSpPr txBox="1"/>
          <p:nvPr/>
        </p:nvSpPr>
        <p:spPr>
          <a:xfrm>
            <a:off x="594360" y="3432746"/>
            <a:ext cx="7955279" cy="665353"/>
          </a:xfrm>
          <a:prstGeom prst="rect">
            <a:avLst/>
          </a:prstGeom>
          <a:noFill/>
        </p:spPr>
        <p:txBody>
          <a:bodyPr wrap="square" lIns="0" rIns="0" tIns="0" bIns="0">
            <a:noAutofit/>
          </a:bodyPr>
          <a:lstStyle/>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推定モデルのコードはMITライセンス。投稿本文の利用は、公式サイトの研究目的という条件と、元投稿の権利を確認する。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UMass SLANG Lab (n.d.), TwitterAAE: Research on African-American English on Twitter. </a:t>
            </a:r>
            <a:r>
              <a:rPr sz="810" b="0" lang="ja-JP" altLang="en-US">
                <a:solidFill>
                  <a:srgbClr val="626669"/>
                </a:solidFill>
                <a:latin typeface="Noto Sans"/>
                <a:ea typeface="Noto Sans CJK JP"/>
                <a:cs typeface="Noto Sans"/>
                <a:hlinkClick r:id="rId2"/>
              </a:rPr>
              <a:t>https://slanglab.cs.umass.edu/TwitterAAE/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多様な表現を、そのまま評価の対象にする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公開データと解析への利用</a:t>
            </a:r>
          </a:p>
        </p:txBody>
      </p:sp>
      <p:sp>
        <p:nvSpPr>
          <p:cNvPr id="4" name="TextBox 3"/>
          <p:cNvSpPr txBox="1"/>
          <p:nvPr/>
        </p:nvSpPr>
        <p:spPr>
          <a:xfrm>
            <a:off x="594360" y="1463040"/>
            <a:ext cx="7955279" cy="665353"/>
          </a:xfrm>
          <a:prstGeom prst="rect">
            <a:avLst/>
          </a:prstGeom>
          <a:noFill/>
        </p:spPr>
        <p:txBody>
          <a:bodyPr wrap="square" lIns="0" rIns="0" tIns="0" bIns="0">
            <a:noAutofit/>
          </a:bodyPr>
          <a:lstStyle/>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TwitterAAEは地域人口構成を手掛かりに、AAEに関連する表現を大規模な会話から取り出し、言語的特徴との対応を検証した。</a:t>
            </a:r>
          </a:p>
        </p:txBody>
      </p:sp>
      <p:sp>
        <p:nvSpPr>
          <p:cNvPr id="5" name="TextBox 4"/>
          <p:cNvSpPr txBox="1"/>
          <p:nvPr/>
        </p:nvSpPr>
        <p:spPr>
          <a:xfrm>
            <a:off x="594360" y="2292985"/>
            <a:ext cx="7955279" cy="665353"/>
          </a:xfrm>
          <a:prstGeom prst="rect">
            <a:avLst/>
          </a:prstGeom>
          <a:noFill/>
        </p:spPr>
        <p:txBody>
          <a:bodyPr wrap="square" lIns="0" rIns="0" tIns="0" bIns="0">
            <a:noAutofit/>
          </a:bodyPr>
          <a:lstStyle/>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2016年の研究は、既知のAAEの文法との対応や、言語同定・構文解析ツールによる扱いの差を調べた。</a:t>
            </a:r>
          </a:p>
        </p:txBody>
      </p:sp>
      <p:sp>
        <p:nvSpPr>
          <p:cNvPr id="6" name="TextBox 5"/>
          <p:cNvSpPr txBox="1"/>
          <p:nvPr/>
        </p:nvSpPr>
        <p:spPr>
          <a:xfrm>
            <a:off x="594360" y="3122930"/>
            <a:ext cx="7955279" cy="665353"/>
          </a:xfrm>
          <a:prstGeom prst="rect">
            <a:avLst/>
          </a:prstGeom>
          <a:noFill/>
        </p:spPr>
        <p:txBody>
          <a:bodyPr wrap="square" lIns="0" rIns="0" tIns="0" bIns="0">
            <a:noAutofit/>
          </a:bodyPr>
          <a:lstStyle/>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方言を含む意見や会話も扱えるNLPのために、言語的な多様性を研究する資源となる。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Blodgett, Green &amp; O’Connor (2016). Demographic Dialectal Variation in Social Media: A Case Study of African-American English. EMNLP, 1119–1130.</a:t>
            </a:r>
          </a:p>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https://aclanthology.org/D16-1120/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追加の投稿例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追加の投稿例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実例4：終わった数を数える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aa群（言語的特徴で抽出）</a:t>
            </a:r>
          </a:p>
        </p:txBody>
      </p:sp>
      <p:sp>
        <p:nvSpPr>
          <p:cNvPr id="5" name="quote-frame"/>
          <p:cNvSpPr/>
          <p:nvPr/>
        </p:nvSpPr>
        <p:spPr>
          <a:xfrm>
            <a:off x="548640" y="1756833"/>
            <a:ext cx="8046720" cy="4656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4 down 1 to go</a:t>
            </a:r>
          </a:p>
        </p:txBody>
      </p:sp>
      <p:sp>
        <p:nvSpPr>
          <p:cNvPr id="6" name="TextBox 5"/>
          <p:cNvSpPr txBox="1"/>
          <p:nvPr/>
        </p:nvSpPr>
        <p:spPr>
          <a:xfrm>
            <a:off x="594360" y="2423670"/>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725422"/>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4つ終わった、あと1つ。</a:t>
            </a:r>
          </a:p>
        </p:txBody>
      </p:sp>
      <p:sp>
        <p:nvSpPr>
          <p:cNvPr id="8" name="TextBox 7"/>
          <p:cNvSpPr txBox="1"/>
          <p:nvPr/>
        </p:nvSpPr>
        <p:spPr>
          <a:xfrm>
            <a:off x="594360" y="3286508"/>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終わった数と残りの数を、短い対比で伝える。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実例5：強い空腹を伝える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aa群（言語的特徴で抽出）</a:t>
            </a:r>
          </a:p>
        </p:txBody>
      </p:sp>
      <p:sp>
        <p:nvSpPr>
          <p:cNvPr id="5" name="quote-frame"/>
          <p:cNvSpPr/>
          <p:nvPr/>
        </p:nvSpPr>
        <p:spPr>
          <a:xfrm>
            <a:off x="548640" y="1756833"/>
            <a:ext cx="8046720" cy="4656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I'm hungry af</a:t>
            </a:r>
          </a:p>
        </p:txBody>
      </p:sp>
      <p:sp>
        <p:nvSpPr>
          <p:cNvPr id="6" name="TextBox 5"/>
          <p:cNvSpPr txBox="1"/>
          <p:nvPr/>
        </p:nvSpPr>
        <p:spPr>
          <a:xfrm>
            <a:off x="594360" y="2423670"/>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725422"/>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めちゃくちゃ腹減った。</a:t>
            </a:r>
          </a:p>
        </p:txBody>
      </p:sp>
      <p:sp>
        <p:nvSpPr>
          <p:cNvPr id="8" name="TextBox 7"/>
          <p:cNvSpPr txBox="1"/>
          <p:nvPr/>
        </p:nvSpPr>
        <p:spPr>
          <a:xfrm>
            <a:off x="594360" y="3286508"/>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afは強い強調を加える俗語。hungryと組み合わせ、空腹の強さを伝える。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実例6：帰宅を短く伝える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aa群（言語的特徴で抽出）</a:t>
            </a:r>
          </a:p>
        </p:txBody>
      </p:sp>
      <p:sp>
        <p:nvSpPr>
          <p:cNvPr id="5" name="quote-frame"/>
          <p:cNvSpPr/>
          <p:nvPr/>
        </p:nvSpPr>
        <p:spPr>
          <a:xfrm>
            <a:off x="548640" y="1756833"/>
            <a:ext cx="8046720" cy="3979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Bk at da crib</a:t>
            </a:r>
          </a:p>
        </p:txBody>
      </p:sp>
      <p:sp>
        <p:nvSpPr>
          <p:cNvPr id="6" name="TextBox 5"/>
          <p:cNvSpPr txBox="1"/>
          <p:nvPr/>
        </p:nvSpPr>
        <p:spPr>
          <a:xfrm>
            <a:off x="594360" y="2355936"/>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657688"/>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家に戻った。</a:t>
            </a:r>
          </a:p>
        </p:txBody>
      </p:sp>
      <p:sp>
        <p:nvSpPr>
          <p:cNvPr id="8" name="TextBox 7"/>
          <p:cNvSpPr txBox="1"/>
          <p:nvPr/>
        </p:nvSpPr>
        <p:spPr>
          <a:xfrm>
            <a:off x="594360" y="3218774"/>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Bkはback、daはthe、cribは家を指すくだけた表現。</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実例7：書き続ける一日</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aa群（言語的特徴で抽出）</a:t>
            </a:r>
          </a:p>
        </p:txBody>
      </p:sp>
      <p:sp>
        <p:nvSpPr>
          <p:cNvPr id="5" name="quote-frame"/>
          <p:cNvSpPr/>
          <p:nvPr/>
        </p:nvSpPr>
        <p:spPr>
          <a:xfrm>
            <a:off x="548640" y="1756833"/>
            <a:ext cx="8046720" cy="4656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All day im writen nd writen!!</a:t>
            </a:r>
          </a:p>
        </p:txBody>
      </p:sp>
      <p:sp>
        <p:nvSpPr>
          <p:cNvPr id="6" name="TextBox 5"/>
          <p:cNvSpPr txBox="1"/>
          <p:nvPr/>
        </p:nvSpPr>
        <p:spPr>
          <a:xfrm>
            <a:off x="594360" y="2423670"/>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725422"/>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一日中、書いてはまた書いてる!!</a:t>
            </a:r>
          </a:p>
        </p:txBody>
      </p:sp>
      <p:sp>
        <p:nvSpPr>
          <p:cNvPr id="8" name="TextBox 7"/>
          <p:cNvSpPr txBox="1"/>
          <p:nvPr/>
        </p:nvSpPr>
        <p:spPr>
          <a:xfrm>
            <a:off x="594360" y="3286508"/>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ndはandの略。writenの反復と感嘆符が、書き続ける調子を作る。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実例8：歌詞を覚えたい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aa群（言語的特徴で抽出）</a:t>
            </a:r>
          </a:p>
        </p:txBody>
      </p:sp>
      <p:sp>
        <p:nvSpPr>
          <p:cNvPr id="5" name="quote-frame"/>
          <p:cNvSpPr/>
          <p:nvPr/>
        </p:nvSpPr>
        <p:spPr>
          <a:xfrm>
            <a:off x="548640" y="1756833"/>
            <a:ext cx="8046720" cy="4656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I gotta learn the words to this song .</a:t>
            </a:r>
          </a:p>
        </p:txBody>
      </p:sp>
      <p:sp>
        <p:nvSpPr>
          <p:cNvPr id="6" name="TextBox 5"/>
          <p:cNvSpPr txBox="1"/>
          <p:nvPr/>
        </p:nvSpPr>
        <p:spPr>
          <a:xfrm>
            <a:off x="594360" y="2423670"/>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725422"/>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この歌の歌詞を覚えなきゃ。</a:t>
            </a:r>
          </a:p>
        </p:txBody>
      </p:sp>
      <p:sp>
        <p:nvSpPr>
          <p:cNvPr id="8" name="TextBox 7"/>
          <p:cNvSpPr txBox="1"/>
          <p:nvPr/>
        </p:nvSpPr>
        <p:spPr>
          <a:xfrm>
            <a:off x="594360" y="3286508"/>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省略形gottaを含む、日常のひとこと。</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実例9：疲れを否定する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white群（言語的特徴で抽出）</a:t>
            </a:r>
          </a:p>
        </p:txBody>
      </p:sp>
      <p:sp>
        <p:nvSpPr>
          <p:cNvPr id="5" name="quote-frame"/>
          <p:cNvSpPr/>
          <p:nvPr/>
        </p:nvSpPr>
        <p:spPr>
          <a:xfrm>
            <a:off x="548640" y="1756833"/>
            <a:ext cx="8046720" cy="3979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Not tired at all</a:t>
            </a:r>
          </a:p>
        </p:txBody>
      </p:sp>
      <p:sp>
        <p:nvSpPr>
          <p:cNvPr id="6" name="TextBox 5"/>
          <p:cNvSpPr txBox="1"/>
          <p:nvPr/>
        </p:nvSpPr>
        <p:spPr>
          <a:xfrm>
            <a:off x="594360" y="2355936"/>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657688"/>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全然疲れてない。</a:t>
            </a:r>
          </a:p>
        </p:txBody>
      </p:sp>
      <p:sp>
        <p:nvSpPr>
          <p:cNvPr id="8" name="TextBox 7"/>
          <p:cNvSpPr txBox="1"/>
          <p:nvPr/>
        </p:nvSpPr>
        <p:spPr>
          <a:xfrm>
            <a:off x="594360" y="3218774"/>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tiredの否定とat allの強調を含む。</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実例10：夜に誰かを思う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white群（言語的特徴で抽出）</a:t>
            </a:r>
          </a:p>
        </p:txBody>
      </p:sp>
      <p:sp>
        <p:nvSpPr>
          <p:cNvPr id="5" name="quote-frame"/>
          <p:cNvSpPr/>
          <p:nvPr/>
        </p:nvSpPr>
        <p:spPr>
          <a:xfrm>
            <a:off x="548640" y="1756833"/>
            <a:ext cx="8046720" cy="4656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It's nights like these that I think about you.</a:t>
            </a:r>
          </a:p>
        </p:txBody>
      </p:sp>
      <p:sp>
        <p:nvSpPr>
          <p:cNvPr id="6" name="TextBox 5"/>
          <p:cNvSpPr txBox="1"/>
          <p:nvPr/>
        </p:nvSpPr>
        <p:spPr>
          <a:xfrm>
            <a:off x="594360" y="2423670"/>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725422"/>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こんな夜には、君のことを考えてしまう。</a:t>
            </a:r>
          </a:p>
        </p:txBody>
      </p:sp>
      <p:sp>
        <p:nvSpPr>
          <p:cNvPr id="8" name="TextBox 7"/>
          <p:cNvSpPr txBox="1"/>
          <p:nvPr/>
        </p:nvSpPr>
        <p:spPr>
          <a:xfrm>
            <a:off x="594360" y="3286508"/>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縮約形と語りかけを含む。</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実例11：続けられるか分からない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white群（言語的特徴で抽出）</a:t>
            </a:r>
          </a:p>
        </p:txBody>
      </p:sp>
      <p:sp>
        <p:nvSpPr>
          <p:cNvPr id="5" name="quote-frame"/>
          <p:cNvSpPr/>
          <p:nvPr/>
        </p:nvSpPr>
        <p:spPr>
          <a:xfrm>
            <a:off x="548640" y="1756833"/>
            <a:ext cx="8046720" cy="4656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I don't know how much longer I can do this.</a:t>
            </a:r>
          </a:p>
        </p:txBody>
      </p:sp>
      <p:sp>
        <p:nvSpPr>
          <p:cNvPr id="6" name="TextBox 5"/>
          <p:cNvSpPr txBox="1"/>
          <p:nvPr/>
        </p:nvSpPr>
        <p:spPr>
          <a:xfrm>
            <a:off x="594360" y="2423670"/>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725422"/>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あとどれくらいこれを続けられるか、分からない。</a:t>
            </a:r>
          </a:p>
        </p:txBody>
      </p:sp>
      <p:sp>
        <p:nvSpPr>
          <p:cNvPr id="8" name="TextBox 7"/>
          <p:cNvSpPr txBox="1"/>
          <p:nvPr/>
        </p:nvSpPr>
        <p:spPr>
          <a:xfrm>
            <a:off x="594360" y="3286508"/>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thisの具体的な内容は省かれ、続けることへの迷いを短く伝える。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実例12：言葉を失う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white群（言語的特徴で抽出）</a:t>
            </a:r>
          </a:p>
        </p:txBody>
      </p:sp>
      <p:sp>
        <p:nvSpPr>
          <p:cNvPr id="5" name="quote-frame"/>
          <p:cNvSpPr/>
          <p:nvPr/>
        </p:nvSpPr>
        <p:spPr>
          <a:xfrm>
            <a:off x="548640" y="1773766"/>
            <a:ext cx="8046720" cy="381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86"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I cannot even.</a:t>
            </a:r>
          </a:p>
        </p:txBody>
      </p:sp>
      <p:sp>
        <p:nvSpPr>
          <p:cNvPr id="6" name="TextBox 5"/>
          <p:cNvSpPr txBox="1"/>
          <p:nvPr/>
        </p:nvSpPr>
        <p:spPr>
          <a:xfrm>
            <a:off x="594360" y="2355936"/>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657688"/>
            <a:ext cx="7955279" cy="378206"/>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もう、言葉も出ない。</a:t>
            </a:r>
          </a:p>
        </p:txBody>
      </p:sp>
      <p:sp>
        <p:nvSpPr>
          <p:cNvPr id="8" name="TextBox 7"/>
          <p:cNvSpPr txBox="1"/>
          <p:nvPr/>
        </p:nvSpPr>
        <p:spPr>
          <a:xfrm>
            <a:off x="594360" y="3218774"/>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I cannot even.は、驚きやあきれなどで言葉が続かないことを表す口語表現。</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実例13：昼寝の後も疲れる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追加の投稿例</a:t>
            </a:r>
          </a:p>
        </p:txBody>
      </p:sp>
      <p:sp>
        <p:nvSpPr>
          <p:cNvPr id="4" name="TextBox 3"/>
          <p:cNvSpPr txBox="1"/>
          <p:nvPr/>
        </p:nvSpPr>
        <p:spPr>
          <a:xfrm>
            <a:off x="548640" y="1353312"/>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投稿全文 / white群（言語的特徴で抽出）</a:t>
            </a:r>
          </a:p>
        </p:txBody>
      </p:sp>
      <p:sp>
        <p:nvSpPr>
          <p:cNvPr id="5" name="quote-frame"/>
          <p:cNvSpPr/>
          <p:nvPr/>
        </p:nvSpPr>
        <p:spPr>
          <a:xfrm>
            <a:off x="548640" y="1756833"/>
            <a:ext cx="8046720" cy="4656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8119" bIns="127000">
            <a:noAutofit/>
          </a:bodyPr>
          <a:lstStyle/>
          <a:p>
            <a:pPr algn="l">
              <a:lnSpc>
                <a:spcPts val="2736"/>
              </a:lnSpc>
              <a:spcBef>
                <a:spcPts val="0"/>
              </a:spcBef>
              <a:spcAft>
                <a:spcPts val="0"/>
              </a:spcAft>
              <a:buNone/>
              <a:defRPr sz="2300" b="0">
                <a:solidFill>
                  <a:srgbClr val="303437"/>
                </a:solidFill>
                <a:latin typeface="Noto Sans"/>
              </a:defRPr>
            </a:pPr>
            <a:r>
              <a:rPr sz="2300" b="0" lang="ja-JP" altLang="en-US">
                <a:solidFill>
                  <a:srgbClr val="303437"/>
                </a:solidFill>
                <a:latin typeface="Noto Sans"/>
                <a:ea typeface="Noto Sans CJK JP"/>
                <a:cs typeface="Noto Sans"/>
              </a:rPr>
              <a:t>I took a 3 hour nap earlier why am I exhausted</a:t>
            </a:r>
          </a:p>
        </p:txBody>
      </p:sp>
      <p:sp>
        <p:nvSpPr>
          <p:cNvPr id="6" name="TextBox 5"/>
          <p:cNvSpPr txBox="1"/>
          <p:nvPr/>
        </p:nvSpPr>
        <p:spPr>
          <a:xfrm>
            <a:off x="594360" y="2423670"/>
            <a:ext cx="7955279"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日本語訳</a:t>
            </a:r>
          </a:p>
        </p:txBody>
      </p:sp>
      <p:sp>
        <p:nvSpPr>
          <p:cNvPr id="7" name="TextBox 6"/>
          <p:cNvSpPr txBox="1"/>
          <p:nvPr/>
        </p:nvSpPr>
        <p:spPr>
          <a:xfrm>
            <a:off x="594360" y="2725422"/>
            <a:ext cx="7955279" cy="710692"/>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さっき3時間も昼寝したのに、なんでこんなに疲れてるんだろう。</a:t>
            </a:r>
          </a:p>
        </p:txBody>
      </p:sp>
      <p:sp>
        <p:nvSpPr>
          <p:cNvPr id="8" name="TextBox 7"/>
          <p:cNvSpPr txBox="1"/>
          <p:nvPr/>
        </p:nvSpPr>
        <p:spPr>
          <a:xfrm>
            <a:off x="594360" y="3618994"/>
            <a:ext cx="7955279" cy="594360"/>
          </a:xfrm>
          <a:prstGeom prst="rect">
            <a:avLst/>
          </a:prstGeom>
          <a:noFill/>
        </p:spPr>
        <p:txBody>
          <a:bodyPr wrap="square" lIns="0" rIns="0" tIns="0" bIns="0">
            <a:noAutofit/>
          </a:bodyPr>
          <a:lstStyle/>
          <a:p>
            <a:pPr algn="l">
              <a:lnSpc>
                <a:spcPts val="206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3時間という長さと、まだ疲れているという疑問を一息に伝える。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 TwitterAAE.  </a:t>
            </a:r>
            <a:r>
              <a:rPr sz="810" b="0" lang="ja-JP" altLang="en-US">
                <a:solidFill>
                  <a:srgbClr val="626669"/>
                </a:solidFill>
                <a:latin typeface="Noto Sans"/>
                <a:ea typeface="Noto Sans CJK JP"/>
                <a:cs typeface="Noto Sans"/>
                <a:hlinkClick r:id="rId2"/>
              </a:rPr>
              <a:t>https://crfm.stanford.edu/helm/classic/v0.4.0/#/groups/twitter_aae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言語学とNLPをつないだ研究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TextBox 3"/>
          <p:cNvSpPr txBox="1"/>
          <p:nvPr/>
        </p:nvSpPr>
        <p:spPr>
          <a:xfrm>
            <a:off x="594360" y="1463040"/>
            <a:ext cx="7955279" cy="997839"/>
          </a:xfrm>
          <a:prstGeom prst="rect">
            <a:avLst/>
          </a:prstGeom>
          <a:noFill/>
        </p:spPr>
        <p:txBody>
          <a:bodyPr wrap="square" lIns="0" rIns="0" tIns="0" bIns="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Su Lin Blodgett、Lisa Green、Brendan O’Connorによる2016年EMNLP論文。UMass Amherstの計算機科学と言語学の研究として発表された。</a:t>
            </a:r>
          </a:p>
        </p:txBody>
      </p:sp>
      <p:sp>
        <p:nvSpPr>
          <p:cNvPr id="5" name="TextBox 4"/>
          <p:cNvSpPr txBox="1"/>
          <p:nvPr/>
        </p:nvSpPr>
        <p:spPr>
          <a:xfrm>
            <a:off x="594360" y="2625471"/>
            <a:ext cx="7955279" cy="680466"/>
          </a:xfrm>
          <a:prstGeom prst="rect">
            <a:avLst/>
          </a:prstGeom>
          <a:noFill/>
        </p:spPr>
        <p:txBody>
          <a:bodyPr wrap="square" lIns="0" rIns="0" tIns="0" bIns="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既知のAAEの発音・文法上の特徴との対応を検証し、大規模な統計モデルの抽出結果を言語学的分析へ結び付けた。</a:t>
            </a:r>
          </a:p>
        </p:txBody>
      </p:sp>
      <p:sp>
        <p:nvSpPr>
          <p:cNvPr id="6" name="TextBox 5"/>
          <p:cNvSpPr txBox="1"/>
          <p:nvPr/>
        </p:nvSpPr>
        <p:spPr>
          <a:xfrm>
            <a:off x="594360" y="3470528"/>
            <a:ext cx="7955279" cy="680466"/>
          </a:xfrm>
          <a:prstGeom prst="rect">
            <a:avLst/>
          </a:prstGeom>
          <a:noFill/>
        </p:spPr>
        <p:txBody>
          <a:bodyPr wrap="square" lIns="0" rIns="0" tIns="0" bIns="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2018年の構文解析研究ではJohnny Tian-Zheng Weiが加わり、AAEと主流米国英語のUD注釈を整えた。</a:t>
            </a:r>
          </a:p>
        </p:txBody>
      </p:sp>
      <p:sp>
        <p:nvSpPr>
          <p:cNvPr id="7"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Blodgett, Green &amp; O’Connor (2016), Demographic Dialectal Variation in Social Media: A Case Study of African-American English. EMNLP, 1119–1130.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https://aclanthology.org/D16-1120/</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Blodgett, Wei &amp; O’Connor (2018), Twitter Universal Dependency Parsing for African-American and Mainstream American English. ACL, 1415–1425.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https://aclanthology.org/P18-1131/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文献 1: Demographic Dialectal Variation in Social Media: A Case Study of African-American English"/>
          <p:cNvSpPr txBox="1"/>
          <p:nvPr/>
        </p:nvSpPr>
        <p:spPr>
          <a:xfrm>
            <a:off x="548640" y="1463040"/>
            <a:ext cx="8046720" cy="1856740"/>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Demographic Dialectal Variation in Social Media: A Case Study of African-American English</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Su Lin Blodgett, Lisa Green, Brendan O’Connor · 2016 · EMNLP, 1119–1130</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地域人口統計を用いた言語混合モデルと、AAEに対する言語同定・構文解析の差を示す。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https://aclanthology.org/D16-1120/</a:t>
            </a:r>
          </a:p>
        </p:txBody>
      </p:sp>
      <p:sp>
        <p:nvSpPr>
          <p:cNvPr id="5" name="文献 2: Twitter Universal Dependency Parsing for African-American and Mainstream American English"/>
          <p:cNvSpPr txBox="1"/>
          <p:nvPr/>
        </p:nvSpPr>
        <p:spPr>
          <a:xfrm>
            <a:off x="548640" y="3322828"/>
            <a:ext cx="8046720" cy="1603375"/>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Twitter Universal Dependency Parsing for African-American and Mainstream American English</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Su Lin Blodgett, Johnny Tian-Zheng Wei, Brendan O’Connor · 2018 · ACL, 1415–1425</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二つの英語変種のツイートにUD注釈を付け、構文解析モデルを比較する。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https://aclanthology.org/P18-1131/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5" name="文献 2: TwitterAAE: Research on African-American English on Twitter"/>
          <p:cNvSpPr txBox="1"/>
          <p:nvPr/>
        </p:nvSpPr>
        <p:spPr>
          <a:xfrm>
            <a:off x="548640" y="3054985"/>
            <a:ext cx="8046720" cy="1335532"/>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TwitterAAE: Research on African-American English on Twitter</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UMass SLANG Lab · n.d. · 公式研究ページ（2026-10-18参照）</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論文、研究用コーパス、言語混合比推定モデル、UD注釈の配布をまとめる。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https://slanglab.cs.umass.edu/TwitterAAE/</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2026-10-18T06:57:38Z</dcterms:modified>
  <dc:title>twitter-aae</dc:title>
  <dc:creator>sasakiy84</dc:creator>
  <dcterms:created xsi:type="dcterms:W3CDTF">2026-10-18T06:57:38Z</dcterms:created>
  <dc:language>ja-JP</dc:language>
</cp:coreProperties>
</file>