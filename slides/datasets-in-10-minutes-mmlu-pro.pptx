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tiger-lab-mmlu-pro.hf.spac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TIGER-Lab/MMLU-Pro"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TIGER-Lab/MMLU-Pro"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TIGER-Lab/MMLU-Pro"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406.01574"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406.01574"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mercor.com/apex/oss-benchmarks/oss-mmlu-pro-leaderboard/"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406.01574"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406.01574"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TIGER-Lab/MMLU-Pro" TargetMode="External"/><Relationship Id="rId3" Type="http://schemas.openxmlformats.org/officeDocument/2006/relationships/hyperlink" Target="https://www.mercor.com/apex/oss-benchmarks/oss-mmlu-pro-leaderboard/"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TIGER-Lab/MMLU-Pro" TargetMode="External"/><Relationship Id="rId3" Type="http://schemas.openxmlformats.org/officeDocument/2006/relationships/hyperlink" Target="https://github.com/TIGER-AI-Lab/MMLU-Pro"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406.01574"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IGER-Lab/MMLU-Pro"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TIGER-Lab/MMLU-Pro"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406.01574"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406.01574" TargetMode="External"/><Relationship Id="rId3" Type="http://schemas.openxmlformats.org/officeDocument/2006/relationships/hyperlink" Target="https://huggingface.co/datasets/TIGER-Lab/MMLU-Pro"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IGER-AI-Lab/MMLU-Pro" TargetMode="External"/><Relationship Id="rId3" Type="http://schemas.openxmlformats.org/officeDocument/2006/relationships/hyperlink" Target="https://www.mercor.com/apex/oss-benchmarks/oss-mmlu-pro-leaderboard/"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37627"/>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MMLU-Pro</a:t>
            </a:r>
          </a:p>
        </p:txBody>
      </p:sp>
      <p:sp>
        <p:nvSpPr>
          <p:cNvPr id="3" name="Subtitle 2"/>
          <p:cNvSpPr>
            <a:spLocks noGrp="1"/>
          </p:cNvSpPr>
          <p:nvPr>
            <p:ph type="subTitle" idx="1"/>
          </p:nvPr>
        </p:nvSpPr>
        <p:spPr>
          <a:xfrm>
            <a:off x="548640" y="2647277"/>
            <a:ext cx="8046720" cy="1028065"/>
          </a:xfrm>
        </p:spPr>
        <p:txBody>
          <a:bodyPr lIns="0" rIns="0" tIns="0" bIns="3810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MMLU: Massive Multitask Language Understanding</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選択肢を増やし、推論を重視した14分野の知識評価</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MMLU-Proの公式リーダーボード</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公式サイト</a:t>
            </a:r>
          </a:p>
        </p:txBody>
      </p:sp>
      <p:pic>
        <p:nvPicPr>
          <p:cNvPr id="4" name="Picture 3" descr="official-site.png"/>
          <p:cNvPicPr>
            <a:picLocks noChangeAspect="1"/>
          </p:cNvPicPr>
          <p:nvPr/>
        </p:nvPicPr>
        <p:blipFill>
          <a:blip r:embed="rId2"/>
          <a:stretch>
            <a:fillRect/>
          </a:stretch>
        </p:blipFill>
        <p:spPr>
          <a:xfrm>
            <a:off x="548640" y="1353312"/>
            <a:ext cx="8046720" cy="2983992"/>
          </a:xfrm>
          <a:prstGeom prst="rect">
            <a:avLst/>
          </a:prstGeom>
        </p:spPr>
      </p:pic>
      <p:sp>
        <p:nvSpPr>
          <p:cNvPr id="5"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Leaderboard.</a:t>
            </a:r>
          </a:p>
        </p:txBody>
      </p:sp>
      <p:sp>
        <p:nvSpPr>
          <p:cNvPr id="6"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https://tiger-lab-mmlu-pro.hf.space/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課題と三つの実例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採点方法とモデルの成績</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問題の構築とデータの構成</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更新と評価での利用</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79443"/>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課題と三つの実例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課題と三つの実例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14分野の設問に、最大10個の選択肢で答える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MMLU-Proは、幅広い学術・専門分野の知識と推論を測る、英語の選択式問題集である。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MMLUから簡単・曖昧な問題などを除き、理工系の問題を追加した。誤答の選択肢も増やし、通常はA〜Jの10択から選ぶ。</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評価用12,032問と、例示用70問を配布している。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課題と三つの実例</a:t>
            </a:r>
          </a:p>
        </p:txBody>
      </p:sp>
      <p:sp>
        <p:nvSpPr>
          <p:cNvPr id="5"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6"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例1：減数分裂後の染色体数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課題と三つの実例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設問原文</a:t>
            </a:r>
          </a:p>
        </p:txBody>
      </p:sp>
      <p:sp>
        <p:nvSpPr>
          <p:cNvPr id="5" name="original-question"/>
          <p:cNvSpPr txBox="1"/>
          <p:nvPr/>
        </p:nvSpPr>
        <p:spPr>
          <a:xfrm>
            <a:off x="594360" y="1514856"/>
            <a:ext cx="7955279" cy="553212"/>
          </a:xfrm>
          <a:prstGeom prst="rect">
            <a:avLst/>
          </a:prstGeom>
          <a:noFill/>
        </p:spPr>
        <p:txBody>
          <a:bodyPr wrap="square" lIns="0" rIns="0" tIns="0" bIns="0">
            <a:noAutofit/>
          </a:bodyPr>
          <a:lstStyle/>
          <a:p>
            <a:pPr algn="l">
              <a:lnSpc>
                <a:spcPts val="2033"/>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Imagine an organism whose 2n = 96. Meiosis would leave this organism’s cells with how many chromosomes?</a:t>
            </a:r>
          </a:p>
        </p:txBody>
      </p:sp>
      <p:sp>
        <p:nvSpPr>
          <p:cNvPr id="6" name="japanese-question"/>
          <p:cNvSpPr txBox="1"/>
          <p:nvPr/>
        </p:nvSpPr>
        <p:spPr>
          <a:xfrm>
            <a:off x="594360" y="2141220"/>
            <a:ext cx="7955279" cy="600202"/>
          </a:xfrm>
          <a:prstGeom prst="rect">
            <a:avLst/>
          </a:prstGeom>
          <a:noFill/>
        </p:spPr>
        <p:txBody>
          <a:bodyPr wrap="square" lIns="0" rIns="0" tIns="0" bIns="0">
            <a:noAutofit/>
          </a:bodyPr>
          <a:lstStyle/>
          <a:p>
            <a:pPr algn="l">
              <a:lnSpc>
                <a:spcPts val="2147"/>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2n=96の生物を考える。減数分裂後、この生物の細胞の染色体数はいくつになるか。</a:t>
            </a:r>
          </a:p>
        </p:txBody>
      </p:sp>
      <p:sp>
        <p:nvSpPr>
          <p:cNvPr id="7" name="option-A"/>
          <p:cNvSpPr txBox="1"/>
          <p:nvPr/>
        </p:nvSpPr>
        <p:spPr>
          <a:xfrm>
            <a:off x="704088" y="2816717"/>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4</a:t>
            </a:r>
          </a:p>
        </p:txBody>
      </p:sp>
      <p:sp>
        <p:nvSpPr>
          <p:cNvPr id="8" name="option-F"/>
          <p:cNvSpPr txBox="1"/>
          <p:nvPr/>
        </p:nvSpPr>
        <p:spPr>
          <a:xfrm>
            <a:off x="4681727" y="2816717"/>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 2</a:t>
            </a:r>
          </a:p>
        </p:txBody>
      </p:sp>
      <p:sp>
        <p:nvSpPr>
          <p:cNvPr id="9" name="option-B"/>
          <p:cNvSpPr txBox="1"/>
          <p:nvPr/>
        </p:nvSpPr>
        <p:spPr>
          <a:xfrm>
            <a:off x="704088" y="3074006"/>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B. 16</a:t>
            </a:r>
          </a:p>
        </p:txBody>
      </p:sp>
      <p:sp>
        <p:nvSpPr>
          <p:cNvPr id="10" name="option-G"/>
          <p:cNvSpPr txBox="1"/>
          <p:nvPr/>
        </p:nvSpPr>
        <p:spPr>
          <a:xfrm>
            <a:off x="4681727" y="3074006"/>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G. 24</a:t>
            </a:r>
          </a:p>
        </p:txBody>
      </p:sp>
      <p:sp>
        <p:nvSpPr>
          <p:cNvPr id="11" name="option-C"/>
          <p:cNvSpPr txBox="1"/>
          <p:nvPr/>
        </p:nvSpPr>
        <p:spPr>
          <a:xfrm>
            <a:off x="704088" y="3331283"/>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 32</a:t>
            </a:r>
          </a:p>
        </p:txBody>
      </p:sp>
      <p:sp>
        <p:nvSpPr>
          <p:cNvPr id="12" name="option-H"/>
          <p:cNvSpPr txBox="1"/>
          <p:nvPr/>
        </p:nvSpPr>
        <p:spPr>
          <a:xfrm>
            <a:off x="4681727" y="3331283"/>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H. 8</a:t>
            </a:r>
          </a:p>
        </p:txBody>
      </p:sp>
      <p:sp>
        <p:nvSpPr>
          <p:cNvPr id="13" name="option-D"/>
          <p:cNvSpPr txBox="1"/>
          <p:nvPr/>
        </p:nvSpPr>
        <p:spPr>
          <a:xfrm>
            <a:off x="704088" y="3588572"/>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 64</a:t>
            </a:r>
          </a:p>
        </p:txBody>
      </p:sp>
      <p:sp>
        <p:nvSpPr>
          <p:cNvPr id="14" name="option-I"/>
          <p:cNvSpPr txBox="1"/>
          <p:nvPr/>
        </p:nvSpPr>
        <p:spPr>
          <a:xfrm>
            <a:off x="4681727" y="3588572"/>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96</a:t>
            </a:r>
          </a:p>
        </p:txBody>
      </p:sp>
      <p:sp>
        <p:nvSpPr>
          <p:cNvPr id="15" name="option-E"/>
          <p:cNvSpPr txBox="1"/>
          <p:nvPr/>
        </p:nvSpPr>
        <p:spPr>
          <a:xfrm>
            <a:off x="704088" y="3845849"/>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 192</a:t>
            </a:r>
          </a:p>
        </p:txBody>
      </p:sp>
      <p:sp>
        <p:nvSpPr>
          <p:cNvPr id="16" name="option-J"/>
          <p:cNvSpPr txBox="1"/>
          <p:nvPr/>
        </p:nvSpPr>
        <p:spPr>
          <a:xfrm>
            <a:off x="4656327" y="3845849"/>
            <a:ext cx="3829304" cy="438353"/>
          </a:xfrm>
          <a:prstGeom prst="rect">
            <a:avLst/>
          </a:prstGeom>
          <a:noFill/>
        </p:spPr>
        <p:txBody>
          <a:bodyPr wrap="square" lIns="2540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J. 48</a:t>
            </a:r>
          </a:p>
        </p:txBody>
      </p:sp>
      <p:sp>
        <p:nvSpPr>
          <p:cNvPr id="17" name="answer"/>
          <p:cNvSpPr txBox="1"/>
          <p:nvPr/>
        </p:nvSpPr>
        <p:spPr>
          <a:xfrm>
            <a:off x="594360" y="4108473"/>
            <a:ext cx="7955279" cy="444500"/>
          </a:xfrm>
          <a:prstGeom prst="rect">
            <a:avLst/>
          </a:prstGeom>
          <a:noFill/>
        </p:spPr>
        <p:txBody>
          <a:bodyPr wrap="square" lIns="0" rIns="0" tIns="0" bIns="0">
            <a:noAutofit/>
          </a:bodyPr>
          <a:lstStyle/>
          <a:p>
            <a:pPr algn="l">
              <a:lnSpc>
                <a:spcPts val="246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正解：J．48</a:t>
            </a:r>
          </a:p>
        </p:txBody>
      </p:sp>
      <p:sp>
        <p:nvSpPr>
          <p:cNvPr id="18"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19"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例2：空気の圧縮とエントロピー</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課題と三つの実例</a:t>
            </a:r>
          </a:p>
        </p:txBody>
      </p:sp>
      <p:sp>
        <p:nvSpPr>
          <p:cNvPr id="4" name="TextBox 3"/>
          <p:cNvSpPr txBox="1"/>
          <p:nvPr/>
        </p:nvSpPr>
        <p:spPr>
          <a:xfrm>
            <a:off x="548640" y="1298448"/>
            <a:ext cx="8046720" cy="21031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問題の英語原文（全文）</a:t>
            </a:r>
          </a:p>
        </p:txBody>
      </p:sp>
      <p:sp>
        <p:nvSpPr>
          <p:cNvPr id="5" name="quote-background"/>
          <p:cNvSpPr/>
          <p:nvPr/>
        </p:nvSpPr>
        <p:spPr>
          <a:xfrm>
            <a:off x="548640" y="1572768"/>
            <a:ext cx="8046720" cy="253175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riginal-question"/>
          <p:cNvSpPr txBox="1"/>
          <p:nvPr/>
        </p:nvSpPr>
        <p:spPr>
          <a:xfrm>
            <a:off x="713232" y="1645920"/>
            <a:ext cx="7717536" cy="1078992"/>
          </a:xfrm>
          <a:prstGeom prst="rect">
            <a:avLst/>
          </a:prstGeom>
          <a:noFill/>
        </p:spPr>
        <p:txBody>
          <a:bodyPr wrap="square" lIns="0" rIns="0" tIns="0" bIns="0">
            <a:noAutofit/>
          </a:bodyPr>
          <a:lstStyle/>
          <a:p>
            <a:pPr algn="l">
              <a:lnSpc>
                <a:spcPts val="201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Three kilograms of air are at an initial state of 100kPa, 300°K.The air is then compressedpolytropicallywith n = 2.56, to a final pressure of 500kPa. Assuming constant specificheats, calculate the change in entropy using the threeideal gas equations.</a:t>
            </a:r>
          </a:p>
        </p:txBody>
      </p:sp>
      <p:sp>
        <p:nvSpPr>
          <p:cNvPr id="7" name="option-A"/>
          <p:cNvSpPr txBox="1"/>
          <p:nvPr/>
        </p:nvSpPr>
        <p:spPr>
          <a:xfrm>
            <a:off x="704088" y="2800311"/>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2.50 kJ/°K</a:t>
            </a:r>
          </a:p>
        </p:txBody>
      </p:sp>
      <p:sp>
        <p:nvSpPr>
          <p:cNvPr id="8" name="option-F"/>
          <p:cNvSpPr txBox="1"/>
          <p:nvPr/>
        </p:nvSpPr>
        <p:spPr>
          <a:xfrm>
            <a:off x="4681727" y="2800311"/>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 1.57 kJ/°K</a:t>
            </a:r>
          </a:p>
        </p:txBody>
      </p:sp>
      <p:sp>
        <p:nvSpPr>
          <p:cNvPr id="9" name="option-B"/>
          <p:cNvSpPr txBox="1"/>
          <p:nvPr/>
        </p:nvSpPr>
        <p:spPr>
          <a:xfrm>
            <a:off x="704088" y="3057602"/>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B. 1.25 kJ/°K</a:t>
            </a:r>
          </a:p>
        </p:txBody>
      </p:sp>
      <p:sp>
        <p:nvSpPr>
          <p:cNvPr id="10" name="option-G"/>
          <p:cNvSpPr txBox="1"/>
          <p:nvPr/>
        </p:nvSpPr>
        <p:spPr>
          <a:xfrm>
            <a:off x="4681727" y="3057602"/>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G. 0.75 kJ/°K</a:t>
            </a:r>
          </a:p>
        </p:txBody>
      </p:sp>
      <p:sp>
        <p:nvSpPr>
          <p:cNvPr id="11" name="option-C"/>
          <p:cNvSpPr txBox="1"/>
          <p:nvPr/>
        </p:nvSpPr>
        <p:spPr>
          <a:xfrm>
            <a:off x="704088" y="3314878"/>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 2.00 kJ/°K</a:t>
            </a:r>
          </a:p>
        </p:txBody>
      </p:sp>
      <p:sp>
        <p:nvSpPr>
          <p:cNvPr id="12" name="option-H"/>
          <p:cNvSpPr txBox="1"/>
          <p:nvPr/>
        </p:nvSpPr>
        <p:spPr>
          <a:xfrm>
            <a:off x="4681727" y="3314878"/>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H. 1.10 kJ/°K</a:t>
            </a:r>
          </a:p>
        </p:txBody>
      </p:sp>
      <p:sp>
        <p:nvSpPr>
          <p:cNvPr id="13" name="option-D"/>
          <p:cNvSpPr txBox="1"/>
          <p:nvPr/>
        </p:nvSpPr>
        <p:spPr>
          <a:xfrm>
            <a:off x="704088" y="3572168"/>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 1.75 kJ/°K</a:t>
            </a:r>
          </a:p>
        </p:txBody>
      </p:sp>
      <p:sp>
        <p:nvSpPr>
          <p:cNvPr id="14" name="option-I"/>
          <p:cNvSpPr txBox="1"/>
          <p:nvPr/>
        </p:nvSpPr>
        <p:spPr>
          <a:xfrm>
            <a:off x="4681727" y="3572168"/>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1.00 kJ/°K</a:t>
            </a:r>
          </a:p>
        </p:txBody>
      </p:sp>
      <p:sp>
        <p:nvSpPr>
          <p:cNvPr id="15" name="option-E"/>
          <p:cNvSpPr txBox="1"/>
          <p:nvPr/>
        </p:nvSpPr>
        <p:spPr>
          <a:xfrm>
            <a:off x="704088" y="3829444"/>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 2.25 kJ/°K</a:t>
            </a:r>
          </a:p>
        </p:txBody>
      </p:sp>
      <p:sp>
        <p:nvSpPr>
          <p:cNvPr id="16" name="option-J"/>
          <p:cNvSpPr txBox="1"/>
          <p:nvPr/>
        </p:nvSpPr>
        <p:spPr>
          <a:xfrm>
            <a:off x="4656327" y="3829444"/>
            <a:ext cx="3829304" cy="438353"/>
          </a:xfrm>
          <a:prstGeom prst="rect">
            <a:avLst/>
          </a:prstGeom>
          <a:noFill/>
        </p:spPr>
        <p:txBody>
          <a:bodyPr wrap="square" lIns="2540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J. 1.40 kJ/°K</a:t>
            </a:r>
          </a:p>
        </p:txBody>
      </p:sp>
      <p:sp>
        <p:nvSpPr>
          <p:cNvPr id="17"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18"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課題と三つの実例</a:t>
            </a:r>
          </a:p>
        </p:txBody>
      </p:sp>
      <p:sp>
        <p:nvSpPr>
          <p:cNvPr id="4" name="TextBox 3"/>
          <p:cNvSpPr txBox="1"/>
          <p:nvPr/>
        </p:nvSpPr>
        <p:spPr>
          <a:xfrm>
            <a:off x="548640" y="1298448"/>
            <a:ext cx="8046720" cy="21031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問題の日本語訳（全文）</a:t>
            </a:r>
          </a:p>
        </p:txBody>
      </p:sp>
      <p:sp>
        <p:nvSpPr>
          <p:cNvPr id="5" name="quote-background"/>
          <p:cNvSpPr/>
          <p:nvPr/>
        </p:nvSpPr>
        <p:spPr>
          <a:xfrm>
            <a:off x="548640" y="1496568"/>
            <a:ext cx="8046720" cy="263187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japanese-question"/>
          <p:cNvSpPr txBox="1"/>
          <p:nvPr/>
        </p:nvSpPr>
        <p:spPr>
          <a:xfrm>
            <a:off x="713232" y="1569720"/>
            <a:ext cx="7717536" cy="1119632"/>
          </a:xfrm>
          <a:prstGeom prst="rect">
            <a:avLst/>
          </a:prstGeom>
          <a:noFill/>
        </p:spPr>
        <p:txBody>
          <a:bodyPr wrap="square" lIns="0" rIns="0" tIns="0" bIns="0">
            <a:noAutofit/>
          </a:bodyPr>
          <a:lstStyle/>
          <a:p>
            <a:pPr algn="l">
              <a:lnSpc>
                <a:spcPts val="2128"/>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3kgの空気が初期状態100kPa、300Kにある。この空気を指数n=2.56でポリトロープ圧縮し、最終圧力を500kPaとする。比熱一定と仮定し、三つの理想気体の式からエントロピー変化を求めよ。</a:t>
            </a:r>
          </a:p>
        </p:txBody>
      </p:sp>
      <p:sp>
        <p:nvSpPr>
          <p:cNvPr id="7" name="option-A"/>
          <p:cNvSpPr txBox="1"/>
          <p:nvPr/>
        </p:nvSpPr>
        <p:spPr>
          <a:xfrm>
            <a:off x="704088" y="2783740"/>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 2.50 kJ/K</a:t>
            </a:r>
          </a:p>
        </p:txBody>
      </p:sp>
      <p:sp>
        <p:nvSpPr>
          <p:cNvPr id="8" name="option-F"/>
          <p:cNvSpPr txBox="1"/>
          <p:nvPr/>
        </p:nvSpPr>
        <p:spPr>
          <a:xfrm>
            <a:off x="4681727" y="2783740"/>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F. 1.57 kJ/K</a:t>
            </a:r>
          </a:p>
        </p:txBody>
      </p:sp>
      <p:sp>
        <p:nvSpPr>
          <p:cNvPr id="9" name="option-B"/>
          <p:cNvSpPr txBox="1"/>
          <p:nvPr/>
        </p:nvSpPr>
        <p:spPr>
          <a:xfrm>
            <a:off x="704088" y="3054885"/>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B. 1.25 kJ/K</a:t>
            </a:r>
          </a:p>
        </p:txBody>
      </p:sp>
      <p:sp>
        <p:nvSpPr>
          <p:cNvPr id="10" name="option-G"/>
          <p:cNvSpPr txBox="1"/>
          <p:nvPr/>
        </p:nvSpPr>
        <p:spPr>
          <a:xfrm>
            <a:off x="4681727" y="3054885"/>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G. 0.75 kJ/K</a:t>
            </a:r>
          </a:p>
        </p:txBody>
      </p:sp>
      <p:sp>
        <p:nvSpPr>
          <p:cNvPr id="11" name="option-C"/>
          <p:cNvSpPr txBox="1"/>
          <p:nvPr/>
        </p:nvSpPr>
        <p:spPr>
          <a:xfrm>
            <a:off x="704088" y="3325674"/>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 2.00 kJ/K</a:t>
            </a:r>
          </a:p>
        </p:txBody>
      </p:sp>
      <p:sp>
        <p:nvSpPr>
          <p:cNvPr id="12" name="option-H"/>
          <p:cNvSpPr txBox="1"/>
          <p:nvPr/>
        </p:nvSpPr>
        <p:spPr>
          <a:xfrm>
            <a:off x="4681727" y="3325674"/>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H. 1.10 kJ/K</a:t>
            </a:r>
          </a:p>
        </p:txBody>
      </p:sp>
      <p:sp>
        <p:nvSpPr>
          <p:cNvPr id="13" name="option-D"/>
          <p:cNvSpPr txBox="1"/>
          <p:nvPr/>
        </p:nvSpPr>
        <p:spPr>
          <a:xfrm>
            <a:off x="704088" y="3596451"/>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D. 1.75 kJ/K</a:t>
            </a:r>
          </a:p>
        </p:txBody>
      </p:sp>
      <p:sp>
        <p:nvSpPr>
          <p:cNvPr id="14" name="option-I"/>
          <p:cNvSpPr txBox="1"/>
          <p:nvPr/>
        </p:nvSpPr>
        <p:spPr>
          <a:xfrm>
            <a:off x="4681727" y="3596451"/>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I. 1.00 kJ/K</a:t>
            </a:r>
          </a:p>
        </p:txBody>
      </p:sp>
      <p:sp>
        <p:nvSpPr>
          <p:cNvPr id="15" name="option-E"/>
          <p:cNvSpPr txBox="1"/>
          <p:nvPr/>
        </p:nvSpPr>
        <p:spPr>
          <a:xfrm>
            <a:off x="704088" y="3867228"/>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E. 2.25 kJ/K</a:t>
            </a:r>
          </a:p>
        </p:txBody>
      </p:sp>
      <p:sp>
        <p:nvSpPr>
          <p:cNvPr id="16" name="option-J"/>
          <p:cNvSpPr txBox="1"/>
          <p:nvPr/>
        </p:nvSpPr>
        <p:spPr>
          <a:xfrm>
            <a:off x="4656327" y="3867228"/>
            <a:ext cx="3829304" cy="455512"/>
          </a:xfrm>
          <a:prstGeom prst="rect">
            <a:avLst/>
          </a:prstGeom>
          <a:noFill/>
        </p:spPr>
        <p:txBody>
          <a:bodyPr wrap="square" lIns="2540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J. 1.40 kJ/K</a:t>
            </a:r>
          </a:p>
        </p:txBody>
      </p:sp>
      <p:sp>
        <p:nvSpPr>
          <p:cNvPr id="17" name="answer"/>
          <p:cNvSpPr txBox="1"/>
          <p:nvPr/>
        </p:nvSpPr>
        <p:spPr>
          <a:xfrm>
            <a:off x="594360" y="4204638"/>
            <a:ext cx="7955279" cy="444500"/>
          </a:xfrm>
          <a:prstGeom prst="rect">
            <a:avLst/>
          </a:prstGeom>
          <a:noFill/>
        </p:spPr>
        <p:txBody>
          <a:bodyPr wrap="square" lIns="0" rIns="0" tIns="0" bIns="0">
            <a:noAutofit/>
          </a:bodyPr>
          <a:lstStyle/>
          <a:p>
            <a:pPr algn="l">
              <a:lnSpc>
                <a:spcPts val="246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正解：F．1.57 kJ/K</a:t>
            </a:r>
          </a:p>
        </p:txBody>
      </p:sp>
      <p:sp>
        <p:nvSpPr>
          <p:cNvPr id="18"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19"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例2：正解を導く考え方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比熱 cₚ=1.005、気体定数 R=0.287 kJ/(kg·K) とする。</a:t>
            </a:r>
          </a:p>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pVⁿ一定より T₂/T₁=exp[((n−1)/n) ln5]。</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n=2.56より、ΔS=3[cₚ·(n−1)/n−R] ln5≈1.57 kJ/K。</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課題と三つの実例</a:t>
            </a:r>
          </a:p>
        </p:txBody>
      </p:sp>
      <p:sp>
        <p:nvSpPr>
          <p:cNvPr id="5"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6"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例3：夫婦による不動産の共同所有</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課題と三つの実例</a:t>
            </a:r>
          </a:p>
        </p:txBody>
      </p:sp>
      <p:sp>
        <p:nvSpPr>
          <p:cNvPr id="4" name="TextBox 3"/>
          <p:cNvSpPr txBox="1"/>
          <p:nvPr/>
        </p:nvSpPr>
        <p:spPr>
          <a:xfrm>
            <a:off x="548640" y="1298448"/>
            <a:ext cx="8046720" cy="21031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問題の英語原文（全文）</a:t>
            </a:r>
          </a:p>
        </p:txBody>
      </p:sp>
      <p:sp>
        <p:nvSpPr>
          <p:cNvPr id="5" name="quote-background"/>
          <p:cNvSpPr/>
          <p:nvPr/>
        </p:nvSpPr>
        <p:spPr>
          <a:xfrm>
            <a:off x="548640" y="1572768"/>
            <a:ext cx="8046720" cy="278032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riginal-question"/>
          <p:cNvSpPr txBox="1"/>
          <p:nvPr/>
        </p:nvSpPr>
        <p:spPr>
          <a:xfrm>
            <a:off x="713232" y="1645920"/>
            <a:ext cx="7717536" cy="758952"/>
          </a:xfrm>
          <a:prstGeom prst="rect">
            <a:avLst/>
          </a:prstGeom>
          <a:noFill/>
        </p:spPr>
        <p:txBody>
          <a:bodyPr wrap="square" lIns="0" rIns="0" tIns="0" bIns="0">
            <a:noAutofit/>
          </a:bodyPr>
          <a:lstStyle/>
          <a:p>
            <a:pPr algn="l">
              <a:lnSpc>
                <a:spcPts val="1848"/>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A wife and husband are married and own a dairy as tenants by the entirety. If the wife transfers her interest in the dairy by quitclaim deed to her aunt without the husband's knowledge, what interest, if any, does the aunt have?</a:t>
            </a:r>
          </a:p>
        </p:txBody>
      </p:sp>
      <p:sp>
        <p:nvSpPr>
          <p:cNvPr id="7" name="option-A"/>
          <p:cNvSpPr txBox="1"/>
          <p:nvPr/>
        </p:nvSpPr>
        <p:spPr>
          <a:xfrm>
            <a:off x="704088" y="2474815"/>
            <a:ext cx="3803904" cy="412372"/>
          </a:xfrm>
          <a:prstGeom prst="rect">
            <a:avLst/>
          </a:prstGeom>
          <a:noFill/>
        </p:spPr>
        <p:txBody>
          <a:bodyPr wrap="square" lIns="0" rIns="0" tIns="0" bIns="0">
            <a:noAutofit/>
          </a:bodyPr>
          <a:lstStyle/>
          <a:p>
            <a:pPr algn="l">
              <a:lnSpc>
                <a:spcPts val="1765"/>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A. A temporary leasehold interest.</a:t>
            </a:r>
          </a:p>
        </p:txBody>
      </p:sp>
      <p:sp>
        <p:nvSpPr>
          <p:cNvPr id="8" name="option-F"/>
          <p:cNvSpPr txBox="1"/>
          <p:nvPr/>
        </p:nvSpPr>
        <p:spPr>
          <a:xfrm>
            <a:off x="4681727" y="2474815"/>
            <a:ext cx="3803904" cy="412372"/>
          </a:xfrm>
          <a:prstGeom prst="rect">
            <a:avLst/>
          </a:prstGeom>
          <a:noFill/>
        </p:spPr>
        <p:txBody>
          <a:bodyPr wrap="square" lIns="0" rIns="0" tIns="0" bIns="0">
            <a:noAutofit/>
          </a:bodyPr>
          <a:lstStyle/>
          <a:p>
            <a:pPr algn="l">
              <a:lnSpc>
                <a:spcPts val="1765"/>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F. A life estate in the dairy.</a:t>
            </a:r>
          </a:p>
        </p:txBody>
      </p:sp>
      <p:sp>
        <p:nvSpPr>
          <p:cNvPr id="9" name="option-B"/>
          <p:cNvSpPr txBox="1"/>
          <p:nvPr/>
        </p:nvSpPr>
        <p:spPr>
          <a:xfrm>
            <a:off x="704088" y="2711072"/>
            <a:ext cx="3803904" cy="636654"/>
          </a:xfrm>
          <a:prstGeom prst="rect">
            <a:avLst/>
          </a:prstGeom>
          <a:noFill/>
        </p:spPr>
        <p:txBody>
          <a:bodyPr wrap="square" lIns="0" rIns="0" tIns="0" bIns="0">
            <a:noAutofit/>
          </a:bodyPr>
          <a:lstStyle/>
          <a:p>
            <a:pPr algn="l">
              <a:lnSpc>
                <a:spcPts val="1765"/>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B. An undivided one-half interest with right of survivorship.</a:t>
            </a:r>
          </a:p>
        </p:txBody>
      </p:sp>
      <p:sp>
        <p:nvSpPr>
          <p:cNvPr id="10" name="option-G"/>
          <p:cNvSpPr txBox="1"/>
          <p:nvPr/>
        </p:nvSpPr>
        <p:spPr>
          <a:xfrm>
            <a:off x="4681727" y="2711072"/>
            <a:ext cx="3803904" cy="636654"/>
          </a:xfrm>
          <a:prstGeom prst="rect">
            <a:avLst/>
          </a:prstGeom>
          <a:noFill/>
        </p:spPr>
        <p:txBody>
          <a:bodyPr wrap="square" lIns="0" rIns="0" tIns="0" bIns="0">
            <a:noAutofit/>
          </a:bodyPr>
          <a:lstStyle/>
          <a:p>
            <a:pPr algn="l">
              <a:lnSpc>
                <a:spcPts val="1765"/>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G. A legal claim to future profits from the dairy.</a:t>
            </a:r>
          </a:p>
        </p:txBody>
      </p:sp>
      <p:sp>
        <p:nvSpPr>
          <p:cNvPr id="11" name="option-C"/>
          <p:cNvSpPr txBox="1"/>
          <p:nvPr/>
        </p:nvSpPr>
        <p:spPr>
          <a:xfrm>
            <a:off x="704088" y="3172133"/>
            <a:ext cx="3803904" cy="636654"/>
          </a:xfrm>
          <a:prstGeom prst="rect">
            <a:avLst/>
          </a:prstGeom>
          <a:noFill/>
        </p:spPr>
        <p:txBody>
          <a:bodyPr wrap="square" lIns="0" rIns="0" tIns="0" bIns="0">
            <a:noAutofit/>
          </a:bodyPr>
          <a:lstStyle/>
          <a:p>
            <a:pPr algn="l">
              <a:lnSpc>
                <a:spcPts val="1765"/>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C. An undivided one-third interest with right of survivorship.</a:t>
            </a:r>
          </a:p>
        </p:txBody>
      </p:sp>
      <p:sp>
        <p:nvSpPr>
          <p:cNvPr id="12" name="option-H"/>
          <p:cNvSpPr txBox="1"/>
          <p:nvPr/>
        </p:nvSpPr>
        <p:spPr>
          <a:xfrm>
            <a:off x="4681727" y="3172133"/>
            <a:ext cx="3803904" cy="412372"/>
          </a:xfrm>
          <a:prstGeom prst="rect">
            <a:avLst/>
          </a:prstGeom>
          <a:noFill/>
        </p:spPr>
        <p:txBody>
          <a:bodyPr wrap="square" lIns="0" rIns="0" tIns="0" bIns="0">
            <a:noAutofit/>
          </a:bodyPr>
          <a:lstStyle/>
          <a:p>
            <a:pPr algn="l">
              <a:lnSpc>
                <a:spcPts val="1765"/>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H. No interest.</a:t>
            </a:r>
          </a:p>
        </p:txBody>
      </p:sp>
      <p:sp>
        <p:nvSpPr>
          <p:cNvPr id="13" name="option-D"/>
          <p:cNvSpPr txBox="1"/>
          <p:nvPr/>
        </p:nvSpPr>
        <p:spPr>
          <a:xfrm>
            <a:off x="704088" y="3633562"/>
            <a:ext cx="3803904" cy="412372"/>
          </a:xfrm>
          <a:prstGeom prst="rect">
            <a:avLst/>
          </a:prstGeom>
          <a:noFill/>
        </p:spPr>
        <p:txBody>
          <a:bodyPr wrap="square" lIns="0" rIns="0" tIns="0" bIns="0">
            <a:noAutofit/>
          </a:bodyPr>
          <a:lstStyle/>
          <a:p>
            <a:pPr algn="l">
              <a:lnSpc>
                <a:spcPts val="1765"/>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D. The right to inhabit the dairy.</a:t>
            </a:r>
          </a:p>
        </p:txBody>
      </p:sp>
      <p:sp>
        <p:nvSpPr>
          <p:cNvPr id="14" name="option-I"/>
          <p:cNvSpPr txBox="1"/>
          <p:nvPr/>
        </p:nvSpPr>
        <p:spPr>
          <a:xfrm>
            <a:off x="4681727" y="3633562"/>
            <a:ext cx="3803904" cy="412372"/>
          </a:xfrm>
          <a:prstGeom prst="rect">
            <a:avLst/>
          </a:prstGeom>
          <a:noFill/>
        </p:spPr>
        <p:txBody>
          <a:bodyPr wrap="square" lIns="0" rIns="0" tIns="0" bIns="0">
            <a:noAutofit/>
          </a:bodyPr>
          <a:lstStyle/>
          <a:p>
            <a:pPr algn="l">
              <a:lnSpc>
                <a:spcPts val="1765"/>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I. A lien against the entire property.</a:t>
            </a:r>
          </a:p>
        </p:txBody>
      </p:sp>
      <p:sp>
        <p:nvSpPr>
          <p:cNvPr id="15" name="option-E"/>
          <p:cNvSpPr txBox="1"/>
          <p:nvPr/>
        </p:nvSpPr>
        <p:spPr>
          <a:xfrm>
            <a:off x="704088" y="3870177"/>
            <a:ext cx="3803904" cy="636654"/>
          </a:xfrm>
          <a:prstGeom prst="rect">
            <a:avLst/>
          </a:prstGeom>
          <a:noFill/>
        </p:spPr>
        <p:txBody>
          <a:bodyPr wrap="square" lIns="0" rIns="0" tIns="0" bIns="0">
            <a:noAutofit/>
          </a:bodyPr>
          <a:lstStyle/>
          <a:p>
            <a:pPr algn="l">
              <a:lnSpc>
                <a:spcPts val="1765"/>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E. An undivided one-half interest without right of survivorship.</a:t>
            </a:r>
          </a:p>
        </p:txBody>
      </p:sp>
      <p:sp>
        <p:nvSpPr>
          <p:cNvPr id="16" name="option-J"/>
          <p:cNvSpPr txBox="1"/>
          <p:nvPr/>
        </p:nvSpPr>
        <p:spPr>
          <a:xfrm>
            <a:off x="4656327" y="3870177"/>
            <a:ext cx="3829304" cy="412372"/>
          </a:xfrm>
          <a:prstGeom prst="rect">
            <a:avLst/>
          </a:prstGeom>
          <a:noFill/>
        </p:spPr>
        <p:txBody>
          <a:bodyPr wrap="square" lIns="25400" rIns="0" tIns="0" bIns="0">
            <a:noAutofit/>
          </a:bodyPr>
          <a:lstStyle/>
          <a:p>
            <a:pPr algn="l">
              <a:lnSpc>
                <a:spcPts val="1765"/>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J. Full ownership of the property.</a:t>
            </a:r>
          </a:p>
        </p:txBody>
      </p:sp>
      <p:sp>
        <p:nvSpPr>
          <p:cNvPr id="17"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18"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課題と三つの実例</a:t>
            </a:r>
          </a:p>
        </p:txBody>
      </p:sp>
      <p:sp>
        <p:nvSpPr>
          <p:cNvPr id="4" name="TextBox 3"/>
          <p:cNvSpPr txBox="1"/>
          <p:nvPr/>
        </p:nvSpPr>
        <p:spPr>
          <a:xfrm>
            <a:off x="548640" y="1298448"/>
            <a:ext cx="8046720" cy="21031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問題の日本語訳（全文）</a:t>
            </a:r>
          </a:p>
        </p:txBody>
      </p:sp>
      <p:sp>
        <p:nvSpPr>
          <p:cNvPr id="5" name="quote-background"/>
          <p:cNvSpPr/>
          <p:nvPr/>
        </p:nvSpPr>
        <p:spPr>
          <a:xfrm>
            <a:off x="548640" y="1572768"/>
            <a:ext cx="8046720" cy="245048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japanese-question"/>
          <p:cNvSpPr txBox="1"/>
          <p:nvPr/>
        </p:nvSpPr>
        <p:spPr>
          <a:xfrm>
            <a:off x="713232" y="1645920"/>
            <a:ext cx="7717536" cy="737616"/>
          </a:xfrm>
          <a:prstGeom prst="rect">
            <a:avLst/>
          </a:prstGeom>
          <a:noFill/>
        </p:spPr>
        <p:txBody>
          <a:bodyPr wrap="square" lIns="0" rIns="0" tIns="0" bIns="0">
            <a:noAutofit/>
          </a:bodyPr>
          <a:lstStyle/>
          <a:p>
            <a:pPr algn="l">
              <a:lnSpc>
                <a:spcPts val="179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夫婦が酪農場をtenancy by the entiretyの形で所有している。妻が夫に知らせず、権利放棄証書で自分の持分をおばへ譲渡した場合、おばはどのような権利を持つか。</a:t>
            </a:r>
          </a:p>
        </p:txBody>
      </p:sp>
      <p:sp>
        <p:nvSpPr>
          <p:cNvPr id="7" name="option-A"/>
          <p:cNvSpPr txBox="1"/>
          <p:nvPr/>
        </p:nvSpPr>
        <p:spPr>
          <a:xfrm>
            <a:off x="704088" y="2241070"/>
            <a:ext cx="3803904" cy="422009"/>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A. 一時的な賃借権。</a:t>
            </a:r>
          </a:p>
        </p:txBody>
      </p:sp>
      <p:sp>
        <p:nvSpPr>
          <p:cNvPr id="8" name="option-F"/>
          <p:cNvSpPr txBox="1"/>
          <p:nvPr/>
        </p:nvSpPr>
        <p:spPr>
          <a:xfrm>
            <a:off x="4681727" y="2241070"/>
            <a:ext cx="3803904" cy="422009"/>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F. 酪農場の終身権。</a:t>
            </a:r>
          </a:p>
        </p:txBody>
      </p:sp>
      <p:sp>
        <p:nvSpPr>
          <p:cNvPr id="9" name="option-B"/>
          <p:cNvSpPr txBox="1"/>
          <p:nvPr/>
        </p:nvSpPr>
        <p:spPr>
          <a:xfrm>
            <a:off x="704088" y="2470991"/>
            <a:ext cx="3803904" cy="639446"/>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B. 生存者権付きの分割されていない2分の1の持分。</a:t>
            </a:r>
          </a:p>
        </p:txBody>
      </p:sp>
      <p:sp>
        <p:nvSpPr>
          <p:cNvPr id="10" name="option-G"/>
          <p:cNvSpPr txBox="1"/>
          <p:nvPr/>
        </p:nvSpPr>
        <p:spPr>
          <a:xfrm>
            <a:off x="4681727" y="2470991"/>
            <a:ext cx="3803904" cy="638431"/>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G. 酪農場の将来の利益に対する法的請求権。</a:t>
            </a:r>
          </a:p>
        </p:txBody>
      </p:sp>
      <p:sp>
        <p:nvSpPr>
          <p:cNvPr id="11" name="option-C"/>
          <p:cNvSpPr txBox="1"/>
          <p:nvPr/>
        </p:nvSpPr>
        <p:spPr>
          <a:xfrm>
            <a:off x="704088" y="2918691"/>
            <a:ext cx="3803904" cy="639446"/>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C. 生存者権付きの分割されていない3分の1の持分。</a:t>
            </a:r>
          </a:p>
        </p:txBody>
      </p:sp>
      <p:sp>
        <p:nvSpPr>
          <p:cNvPr id="12" name="option-H"/>
          <p:cNvSpPr txBox="1"/>
          <p:nvPr/>
        </p:nvSpPr>
        <p:spPr>
          <a:xfrm>
            <a:off x="4681727" y="2918691"/>
            <a:ext cx="3803904" cy="422009"/>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H. 権利はない。</a:t>
            </a:r>
          </a:p>
        </p:txBody>
      </p:sp>
      <p:sp>
        <p:nvSpPr>
          <p:cNvPr id="13" name="option-D"/>
          <p:cNvSpPr txBox="1"/>
          <p:nvPr/>
        </p:nvSpPr>
        <p:spPr>
          <a:xfrm>
            <a:off x="704088" y="3366392"/>
            <a:ext cx="3803904" cy="422009"/>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D. 酪農場に居住する権利。</a:t>
            </a:r>
          </a:p>
        </p:txBody>
      </p:sp>
      <p:sp>
        <p:nvSpPr>
          <p:cNvPr id="14" name="option-I"/>
          <p:cNvSpPr txBox="1"/>
          <p:nvPr/>
        </p:nvSpPr>
        <p:spPr>
          <a:xfrm>
            <a:off x="4681727" y="3366392"/>
            <a:ext cx="3803904" cy="422009"/>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I. 不動産全体に対する担保権。</a:t>
            </a:r>
          </a:p>
        </p:txBody>
      </p:sp>
      <p:sp>
        <p:nvSpPr>
          <p:cNvPr id="15" name="option-E"/>
          <p:cNvSpPr txBox="1"/>
          <p:nvPr/>
        </p:nvSpPr>
        <p:spPr>
          <a:xfrm>
            <a:off x="704088" y="3596313"/>
            <a:ext cx="3803904" cy="639446"/>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E. 生存者権のない、分割されていない2分の1の持分。</a:t>
            </a:r>
          </a:p>
        </p:txBody>
      </p:sp>
      <p:sp>
        <p:nvSpPr>
          <p:cNvPr id="16" name="option-J"/>
          <p:cNvSpPr txBox="1"/>
          <p:nvPr/>
        </p:nvSpPr>
        <p:spPr>
          <a:xfrm>
            <a:off x="4656327" y="3596313"/>
            <a:ext cx="3829304" cy="422009"/>
          </a:xfrm>
          <a:prstGeom prst="rect">
            <a:avLst/>
          </a:prstGeom>
          <a:noFill/>
        </p:spPr>
        <p:txBody>
          <a:bodyPr wrap="square" lIns="2540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J. 不動産の完全な所有権。</a:t>
            </a:r>
          </a:p>
        </p:txBody>
      </p:sp>
      <p:sp>
        <p:nvSpPr>
          <p:cNvPr id="17" name="answer"/>
          <p:cNvSpPr txBox="1"/>
          <p:nvPr/>
        </p:nvSpPr>
        <p:spPr>
          <a:xfrm>
            <a:off x="594360" y="4099451"/>
            <a:ext cx="7955279" cy="444500"/>
          </a:xfrm>
          <a:prstGeom prst="rect">
            <a:avLst/>
          </a:prstGeom>
          <a:noFill/>
        </p:spPr>
        <p:txBody>
          <a:bodyPr wrap="square" lIns="0" rIns="0" tIns="0" bIns="0">
            <a:noAutofit/>
          </a:bodyPr>
          <a:lstStyle/>
          <a:p>
            <a:pPr algn="l">
              <a:lnSpc>
                <a:spcPts val="246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正解：H．権利はない。</a:t>
            </a:r>
          </a:p>
        </p:txBody>
      </p:sp>
      <p:sp>
        <p:nvSpPr>
          <p:cNvPr id="18"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19"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例3：正解を導く考え方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tenancy by the entiretyは米国法で夫婦を一体として扱う共同所有形態。この設問では一方だけで権利を譲れないため、おばの権利は生じない。quitclaim deedは譲渡人の権利を保証せず移す証書である。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課題と三つの実例</a:t>
            </a:r>
          </a:p>
        </p:txBody>
      </p:sp>
      <p:sp>
        <p:nvSpPr>
          <p:cNvPr id="5"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6"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79443"/>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採点方法とモデルの成績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採点方法とモデルの成績</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正解の選択肢と一致した回答の割合を測る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設問と全選択肢を示し、モデルに最終的な選択肢の記号を答えさせる。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2024年の評価は、生成した説明からA〜Jを抽出する。抽出できなければ選択肢を無作為に一つ選ぶ。</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参照正解に一致した設問の割合を正解率とする。CoTは思考過程を示して回答を導く方法である。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採点方法とモデルの成績</a:t>
            </a:r>
          </a:p>
        </p:txBody>
      </p:sp>
      <p:sp>
        <p:nvSpPr>
          <p:cNvPr id="5"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Wang et al., 2024. MMLU-Pro: A More Robust and Challenging Multi-Task Language Understanding Benchmark.</a:t>
            </a:r>
          </a:p>
        </p:txBody>
      </p:sp>
      <p:sp>
        <p:nvSpPr>
          <p:cNvPr id="6"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https://arxiv.org/abs/2406.01574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2024年の評価では、GPT-4oが72.6%</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採点方法とモデルの成績</a:t>
            </a:r>
          </a:p>
        </p:txBody>
      </p:sp>
      <p:graphicFrame>
        <p:nvGraphicFramePr>
          <p:cNvPr id="4" name="Table 3"/>
          <p:cNvGraphicFramePr>
            <a:graphicFrameLocks noGrp="1"/>
          </p:cNvGraphicFramePr>
          <p:nvPr/>
        </p:nvGraphicFramePr>
        <p:xfrm>
          <a:off x="548640" y="1508760"/>
          <a:ext cx="8046720" cy="2011680"/>
        </p:xfrm>
        <a:graphic>
          <a:graphicData uri="http://schemas.openxmlformats.org/drawingml/2006/table">
            <a:tbl>
              <a:tblPr firstRow="0" bandRow="0"/>
              <a:tblGrid>
                <a:gridCol w="5212080"/>
                <a:gridCol w="1005840"/>
                <a:gridCol w="1828800"/>
              </a:tblGrid>
              <a:tr h="40233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例示数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233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GPT-4o</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72.6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233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Gemini 1.5 Pro</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69.0</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 3 Opus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68.5</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Llama 3 70B Instruct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56.2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4845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CoTで回答。5-shotは同じ分野の解答例5問を示す。Geminiは例示なし。</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Wang et al., 2024. MMLU-Pro: A More Robust and Challenging Multi-Task Language Understanding Benchmark.</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https://arxiv.org/abs/2406.01574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GPT-4oは、CoTで19.09ポイント高くなる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採点方法とモデルの成績</a:t>
            </a:r>
          </a:p>
        </p:txBody>
      </p:sp>
      <p:graphicFrame>
        <p:nvGraphicFramePr>
          <p:cNvPr id="4" name="Table 3"/>
          <p:cNvGraphicFramePr>
            <a:graphicFrameLocks noGrp="1"/>
          </p:cNvGraphicFramePr>
          <p:nvPr/>
        </p:nvGraphicFramePr>
        <p:xfrm>
          <a:off x="548640" y="1508760"/>
          <a:ext cx="8046720" cy="1356357"/>
        </p:xfrm>
        <a:graphic>
          <a:graphicData uri="http://schemas.openxmlformats.org/drawingml/2006/table">
            <a:tbl>
              <a:tblPr firstRow="0" bandRow="0"/>
              <a:tblGrid>
                <a:gridCol w="5943600"/>
                <a:gridCol w="2103120"/>
              </a:tblGrid>
              <a:tr h="452119">
                <a:tc>
                  <a:txBody>
                    <a:bodyPr wrap="square">
                      <a:noAutofit/>
                    </a:bodyPr>
                    <a:lstStyle/>
                    <a:p>
                      <a:pPr algn="l">
                        <a:lnSpc>
                          <a:spcPts val="2760"/>
                        </a:lnSpc>
                        <a:buNone/>
                        <a:defRPr sz="2400" b="0">
                          <a:solidFill>
                            <a:srgbClr val="303437"/>
                          </a:solidFill>
                          <a:latin typeface="Noto Sans"/>
                        </a:defRPr>
                      </a:pPr>
                      <a:r>
                        <a:rPr sz="2400" b="0" lang="ja-JP" altLang="en-US">
                          <a:solidFill>
                            <a:srgbClr val="303437"/>
                          </a:solidFill>
                          <a:latin typeface="Noto Sans"/>
                          <a:ea typeface="Noto Sans CJK JP"/>
                          <a:cs typeface="Noto Sans"/>
                        </a:rPr>
                        <a:t>回答方法</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760"/>
                        </a:lnSpc>
                        <a:buNone/>
                        <a:defRPr sz="2400" b="0">
                          <a:solidFill>
                            <a:srgbClr val="303437"/>
                          </a:solidFill>
                          <a:latin typeface="Noto Sans"/>
                        </a:defRPr>
                      </a:pPr>
                      <a:r>
                        <a:rPr sz="2400" b="0" lang="ja-JP" altLang="en-US">
                          <a:solidFill>
                            <a:srgbClr val="303437"/>
                          </a:solidFill>
                          <a:latin typeface="Noto Sans"/>
                          <a:ea typeface="Noto Sans CJK JP"/>
                          <a:cs typeface="Noto Sans"/>
                        </a:rPr>
                        <a:t>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2119">
                <a:tc>
                  <a:txBody>
                    <a:bodyPr wrap="square">
                      <a:noAutofit/>
                    </a:bodyPr>
                    <a:lstStyle/>
                    <a:p>
                      <a:pPr algn="l">
                        <a:lnSpc>
                          <a:spcPts val="2760"/>
                        </a:lnSpc>
                        <a:buNone/>
                        <a:defRPr sz="2400" b="0">
                          <a:solidFill>
                            <a:srgbClr val="303437"/>
                          </a:solidFill>
                          <a:latin typeface="Noto Sans"/>
                        </a:defRPr>
                      </a:pPr>
                      <a:r>
                        <a:rPr sz="2400" b="0" lang="ja-JP" altLang="en-US">
                          <a:solidFill>
                            <a:srgbClr val="303437"/>
                          </a:solidFill>
                          <a:latin typeface="Noto Sans"/>
                          <a:ea typeface="Noto Sans CJK JP"/>
                          <a:cs typeface="Noto Sans"/>
                        </a:rPr>
                        <a:t>解き方を示すCoT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760"/>
                        </a:lnSpc>
                        <a:buNone/>
                        <a:defRPr sz="2400" b="0">
                          <a:solidFill>
                            <a:srgbClr val="303437"/>
                          </a:solidFill>
                          <a:latin typeface="Noto Sans"/>
                        </a:defRPr>
                      </a:pPr>
                      <a:r>
                        <a:rPr sz="2400" b="0" lang="ja-JP" altLang="en-US">
                          <a:solidFill>
                            <a:srgbClr val="303437"/>
                          </a:solidFill>
                          <a:latin typeface="Noto Sans"/>
                          <a:ea typeface="Noto Sans CJK JP"/>
                          <a:cs typeface="Noto Sans"/>
                        </a:rPr>
                        <a:t>72.55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2119">
                <a:tc>
                  <a:txBody>
                    <a:bodyPr wrap="square">
                      <a:noAutofit/>
                    </a:bodyPr>
                    <a:lstStyle/>
                    <a:p>
                      <a:pPr algn="l">
                        <a:lnSpc>
                          <a:spcPts val="2760"/>
                        </a:lnSpc>
                        <a:buNone/>
                        <a:defRPr sz="2400" b="0">
                          <a:solidFill>
                            <a:srgbClr val="303437"/>
                          </a:solidFill>
                          <a:latin typeface="Noto Sans"/>
                        </a:defRPr>
                      </a:pPr>
                      <a:r>
                        <a:rPr sz="2400" b="0" lang="ja-JP" altLang="en-US">
                          <a:solidFill>
                            <a:srgbClr val="303437"/>
                          </a:solidFill>
                          <a:latin typeface="Noto Sans"/>
                          <a:ea typeface="Noto Sans CJK JP"/>
                          <a:cs typeface="Noto Sans"/>
                        </a:rPr>
                        <a:t>答えを直接返すDirect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760"/>
                        </a:lnSpc>
                        <a:buNone/>
                        <a:defRPr sz="2400" b="0">
                          <a:solidFill>
                            <a:srgbClr val="303437"/>
                          </a:solidFill>
                          <a:latin typeface="Noto Sans"/>
                        </a:defRPr>
                      </a:pPr>
                      <a:r>
                        <a:rPr sz="2400" b="0" lang="ja-JP" altLang="en-US">
                          <a:solidFill>
                            <a:srgbClr val="303437"/>
                          </a:solidFill>
                          <a:latin typeface="Noto Sans"/>
                          <a:ea typeface="Noto Sans CJK JP"/>
                          <a:cs typeface="Noto Sans"/>
                        </a:rPr>
                        <a:t>53.46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2993135"/>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同じ設問集合での比較。回答の導き方が成績に影響する。</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Mercorの2026年評価では、上位が93%台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採点方法とモデルの成績</a:t>
            </a:r>
          </a:p>
        </p:txBody>
      </p:sp>
      <p:graphicFrame>
        <p:nvGraphicFramePr>
          <p:cNvPr id="4" name="Table 3"/>
          <p:cNvGraphicFramePr>
            <a:graphicFrameLocks noGrp="1"/>
          </p:cNvGraphicFramePr>
          <p:nvPr/>
        </p:nvGraphicFramePr>
        <p:xfrm>
          <a:off x="548640" y="1508760"/>
          <a:ext cx="8046720" cy="2041520"/>
        </p:xfrm>
        <a:graphic>
          <a:graphicData uri="http://schemas.openxmlformats.org/drawingml/2006/table">
            <a:tbl>
              <a:tblPr firstRow="0" bandRow="0"/>
              <a:tblGrid>
                <a:gridCol w="5760720"/>
                <a:gridCol w="2286000"/>
              </a:tblGrid>
              <a:tr h="408304">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モデル／推論設定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Pass@1(%)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8304">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Claude Opus 5.5 Max</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93.4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8304">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Claude Fable 5.1 Max</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93.0</a:t>
                      </a:r>
                    </a:p>
                  </a:txBody>
                  <a:tcPr marL="63500" marR="63500" marT="38100" marB="38100" anchor="ctr">
                    <a:lnL w="7620">
                      <a:noFill/>
                    </a:lnL>
                    <a:lnR w="7620">
                      <a:noFill/>
                    </a:lnR>
                    <a:lnT w="7620">
                      <a:noFill/>
                    </a:lnT>
                    <a:lnB w="7620">
                      <a:noFill/>
                    </a:lnB>
                    <a:solidFill>
                      <a:srgbClr val="FFFEF8"/>
                    </a:solidFill>
                  </a:tcPr>
                </a:tc>
              </a:tr>
              <a:tr h="408304">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GPT-6 Astra Max</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91.5</a:t>
                      </a:r>
                    </a:p>
                  </a:txBody>
                  <a:tcPr marL="63500" marR="63500" marT="38100" marB="38100" anchor="ctr">
                    <a:lnL w="7620">
                      <a:noFill/>
                    </a:lnL>
                    <a:lnR w="7620">
                      <a:noFill/>
                    </a:lnR>
                    <a:lnT w="7620">
                      <a:noFill/>
                    </a:lnT>
                    <a:lnB w="7620">
                      <a:noFill/>
                    </a:lnB>
                    <a:solidFill>
                      <a:srgbClr val="FFFEF8"/>
                    </a:solidFill>
                  </a:tcPr>
                </a:tc>
              </a:tr>
              <a:tr h="408304">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Gemini 3.1 Pro High</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91.3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78300"/>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MercorのMMLU-Pro公開評価。12,032問、2026-10-22参照。</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Mercor, 2026. MMLU-Pro leaderboard (2026-10-22参照).</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https://www.mercor.com/apex/oss-benchmarks/oss-mmlu-pro-leaderboard/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79443"/>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問題の構築とデータの構成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問題の構築とデータの構成</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MMLUの問題を選び直し、理工系の設問を補った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MMLUの57科目を14の広い分野へまとめる。8種類の小型モデルで、5個以上が正解した問題を簡単と判定し、5,886問を除いた。</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STEMのWeb教材、TheoremQA、SciBenchから問題を加える。解法から短い答えを取り出し、人が対応を確認する。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最終的な12,032問のうち6,810問がMMLUに由来し、5,222問が追加された問題である。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問題の構築とデータの構成</a:t>
            </a:r>
          </a:p>
        </p:txBody>
      </p:sp>
      <p:sp>
        <p:nvSpPr>
          <p:cNvPr id="5"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Wang et al., 2024. MMLU-Pro: A More Robust and Challenging Multi-Task Language Understanding Benchmark.</a:t>
            </a:r>
          </a:p>
        </p:txBody>
      </p:sp>
      <p:sp>
        <p:nvSpPr>
          <p:cNvPr id="6"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https://arxiv.org/abs/2406.01574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誤答の選択肢を加え、専門家が正解を確認した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通常4択の設問に、GPT-4-Turboで誤答候補を6個加える。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専門家が正解と問題文を点検し、必要な情報が欠ける問題や、画像・表を必要とする問題などを除く。</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Gemini 1.5 Proで、誤答とされた選択肢に正解が紛れていないかを調べ、人が再確認する。重複した正解候補は除く。</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問題の構築とデータの構成</a:t>
            </a:r>
          </a:p>
        </p:txBody>
      </p:sp>
      <p:sp>
        <p:nvSpPr>
          <p:cNvPr id="5"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Wang et al., 2024. MMLU-Pro: A More Robust and Challenging Multi-Task Language Understanding Benchmark.</a:t>
            </a:r>
          </a:p>
        </p:txBody>
      </p:sp>
      <p:sp>
        <p:nvSpPr>
          <p:cNvPr id="6"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https://arxiv.org/abs/2406.01574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14分野は、理工系から人文社会まで広がる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問題の構築とデータの構成</a:t>
            </a:r>
          </a:p>
        </p:txBody>
      </p:sp>
      <p:graphicFrame>
        <p:nvGraphicFramePr>
          <p:cNvPr id="4" name="Table 3"/>
          <p:cNvGraphicFramePr>
            <a:graphicFrameLocks noGrp="1"/>
          </p:cNvGraphicFramePr>
          <p:nvPr/>
        </p:nvGraphicFramePr>
        <p:xfrm>
          <a:off x="548640" y="1508760"/>
          <a:ext cx="8046720" cy="2799080"/>
        </p:xfrm>
        <a:graphic>
          <a:graphicData uri="http://schemas.openxmlformats.org/drawingml/2006/table">
            <a:tbl>
              <a:tblPr firstRow="0" bandRow="0"/>
              <a:tblGrid>
                <a:gridCol w="5669280"/>
                <a:gridCol w="2377440"/>
              </a:tblGrid>
              <a:tr h="3498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分野</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評価用の問数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498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数学</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1351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498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物理</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1299</a:t>
                      </a:r>
                    </a:p>
                  </a:txBody>
                  <a:tcPr marL="63500" marR="63500" marT="38100" marB="38100" anchor="ctr">
                    <a:lnL w="7620">
                      <a:noFill/>
                    </a:lnL>
                    <a:lnR w="7620">
                      <a:noFill/>
                    </a:lnR>
                    <a:lnT w="7620">
                      <a:noFill/>
                    </a:lnT>
                    <a:lnB w="7620">
                      <a:noFill/>
                    </a:lnB>
                    <a:solidFill>
                      <a:srgbClr val="FFFEF8"/>
                    </a:solidFill>
                  </a:tcPr>
                </a:tc>
              </a:tr>
              <a:tr h="3498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化学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1132</a:t>
                      </a:r>
                    </a:p>
                  </a:txBody>
                  <a:tcPr marL="63500" marR="63500" marT="38100" marB="38100" anchor="ctr">
                    <a:lnL w="7620">
                      <a:noFill/>
                    </a:lnL>
                    <a:lnR w="7620">
                      <a:noFill/>
                    </a:lnR>
                    <a:lnT w="7620">
                      <a:noFill/>
                    </a:lnT>
                    <a:lnB w="7620">
                      <a:noFill/>
                    </a:lnB>
                    <a:solidFill>
                      <a:srgbClr val="FFFEF8"/>
                    </a:solidFill>
                  </a:tcPr>
                </a:tc>
              </a:tr>
              <a:tr h="3498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法律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1101</a:t>
                      </a:r>
                    </a:p>
                  </a:txBody>
                  <a:tcPr marL="63500" marR="63500" marT="38100" marB="38100" anchor="ctr">
                    <a:lnL w="7620">
                      <a:noFill/>
                    </a:lnL>
                    <a:lnR w="7620">
                      <a:noFill/>
                    </a:lnR>
                    <a:lnT w="7620">
                      <a:noFill/>
                    </a:lnT>
                    <a:lnB w="7620">
                      <a:noFill/>
                    </a:lnB>
                    <a:solidFill>
                      <a:srgbClr val="FFFEF8"/>
                    </a:solidFill>
                  </a:tcPr>
                </a:tc>
              </a:tr>
              <a:tr h="3498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工学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969</a:t>
                      </a:r>
                    </a:p>
                  </a:txBody>
                  <a:tcPr marL="63500" marR="63500" marT="38100" marB="38100" anchor="ctr">
                    <a:lnL w="7620">
                      <a:noFill/>
                    </a:lnL>
                    <a:lnR w="7620">
                      <a:noFill/>
                    </a:lnR>
                    <a:lnT w="7620">
                      <a:noFill/>
                    </a:lnT>
                    <a:lnB w="7620">
                      <a:noFill/>
                    </a:lnB>
                    <a:solidFill>
                      <a:srgbClr val="FFFEF8"/>
                    </a:solidFill>
                  </a:tcPr>
                </a:tc>
              </a:tr>
              <a:tr h="3498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その他</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924</a:t>
                      </a:r>
                    </a:p>
                  </a:txBody>
                  <a:tcPr marL="63500" marR="63500" marT="38100" marB="38100" anchor="ctr">
                    <a:lnL w="7620">
                      <a:noFill/>
                    </a:lnL>
                    <a:lnR w="7620">
                      <a:noFill/>
                    </a:lnR>
                    <a:lnT w="7620">
                      <a:noFill/>
                    </a:lnT>
                    <a:lnB w="7620">
                      <a:noFill/>
                    </a:lnB>
                    <a:solidFill>
                      <a:srgbClr val="FFFEF8"/>
                    </a:solidFill>
                  </a:tcPr>
                </a:tc>
              </a:tr>
              <a:tr h="3498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経済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844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6"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健康・心理・歴史なども評価する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問題の構築とデータの構成</a:t>
            </a:r>
          </a:p>
        </p:txBody>
      </p:sp>
      <p:graphicFrame>
        <p:nvGraphicFramePr>
          <p:cNvPr id="4" name="Table 3"/>
          <p:cNvGraphicFramePr>
            <a:graphicFrameLocks noGrp="1"/>
          </p:cNvGraphicFramePr>
          <p:nvPr/>
        </p:nvGraphicFramePr>
        <p:xfrm>
          <a:off x="548640" y="1508760"/>
          <a:ext cx="8046720" cy="2799080"/>
        </p:xfrm>
        <a:graphic>
          <a:graphicData uri="http://schemas.openxmlformats.org/drawingml/2006/table">
            <a:tbl>
              <a:tblPr firstRow="0" bandRow="0"/>
              <a:tblGrid>
                <a:gridCol w="5669280"/>
                <a:gridCol w="2377440"/>
              </a:tblGrid>
              <a:tr h="3498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分野</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評価用の問数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498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健康</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818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498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心理</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798</a:t>
                      </a:r>
                    </a:p>
                  </a:txBody>
                  <a:tcPr marL="63500" marR="63500" marT="38100" marB="38100" anchor="ctr">
                    <a:lnL w="7620">
                      <a:noFill/>
                    </a:lnL>
                    <a:lnR w="7620">
                      <a:noFill/>
                    </a:lnR>
                    <a:lnT w="7620">
                      <a:noFill/>
                    </a:lnT>
                    <a:lnB w="7620">
                      <a:noFill/>
                    </a:lnB>
                    <a:solidFill>
                      <a:srgbClr val="FFFEF8"/>
                    </a:solidFill>
                  </a:tcPr>
                </a:tc>
              </a:tr>
              <a:tr h="3498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ビジネス</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789</a:t>
                      </a:r>
                    </a:p>
                  </a:txBody>
                  <a:tcPr marL="63500" marR="63500" marT="38100" marB="38100" anchor="ctr">
                    <a:lnL w="7620">
                      <a:noFill/>
                    </a:lnL>
                    <a:lnR w="7620">
                      <a:noFill/>
                    </a:lnR>
                    <a:lnT w="7620">
                      <a:noFill/>
                    </a:lnT>
                    <a:lnB w="7620">
                      <a:noFill/>
                    </a:lnB>
                    <a:solidFill>
                      <a:srgbClr val="FFFEF8"/>
                    </a:solidFill>
                  </a:tcPr>
                </a:tc>
              </a:tr>
              <a:tr h="3498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生物</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717</a:t>
                      </a:r>
                    </a:p>
                  </a:txBody>
                  <a:tcPr marL="63500" marR="63500" marT="38100" marB="38100" anchor="ctr">
                    <a:lnL w="7620">
                      <a:noFill/>
                    </a:lnL>
                    <a:lnR w="7620">
                      <a:noFill/>
                    </a:lnR>
                    <a:lnT w="7620">
                      <a:noFill/>
                    </a:lnT>
                    <a:lnB w="7620">
                      <a:noFill/>
                    </a:lnB>
                    <a:solidFill>
                      <a:srgbClr val="FFFEF8"/>
                    </a:solidFill>
                  </a:tcPr>
                </a:tc>
              </a:tr>
              <a:tr h="3498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哲学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499</a:t>
                      </a:r>
                    </a:p>
                  </a:txBody>
                  <a:tcPr marL="63500" marR="63500" marT="38100" marB="38100" anchor="ctr">
                    <a:lnL w="7620">
                      <a:noFill/>
                    </a:lnL>
                    <a:lnR w="7620">
                      <a:noFill/>
                    </a:lnR>
                    <a:lnT w="7620">
                      <a:noFill/>
                    </a:lnT>
                    <a:lnB w="7620">
                      <a:noFill/>
                    </a:lnB>
                    <a:solidFill>
                      <a:srgbClr val="FFFEF8"/>
                    </a:solidFill>
                  </a:tcPr>
                </a:tc>
              </a:tr>
              <a:tr h="3498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計算機科学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410</a:t>
                      </a:r>
                    </a:p>
                  </a:txBody>
                  <a:tcPr marL="63500" marR="63500" marT="38100" marB="38100" anchor="ctr">
                    <a:lnL w="7620">
                      <a:noFill/>
                    </a:lnL>
                    <a:lnR w="7620">
                      <a:noFill/>
                    </a:lnR>
                    <a:lnT w="7620">
                      <a:noFill/>
                    </a:lnT>
                    <a:lnB w="7620">
                      <a:noFill/>
                    </a:lnB>
                    <a:solidFill>
                      <a:srgbClr val="FFFEF8"/>
                    </a:solidFill>
                  </a:tcPr>
                </a:tc>
              </a:tr>
              <a:tr h="349885">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歴史</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381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6"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83%の設問が10択で、残りはそれより少ない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問題の構築とデータの構成</a:t>
            </a:r>
          </a:p>
        </p:txBody>
      </p:sp>
      <p:graphicFrame>
        <p:nvGraphicFramePr>
          <p:cNvPr id="4" name="Table 3"/>
          <p:cNvGraphicFramePr>
            <a:graphicFrameLocks noGrp="1"/>
          </p:cNvGraphicFramePr>
          <p:nvPr/>
        </p:nvGraphicFramePr>
        <p:xfrm>
          <a:off x="548640" y="1508760"/>
          <a:ext cx="8046720" cy="2041520"/>
        </p:xfrm>
        <a:graphic>
          <a:graphicData uri="http://schemas.openxmlformats.org/drawingml/2006/table">
            <a:tbl>
              <a:tblPr firstRow="0" bandRow="0"/>
              <a:tblGrid>
                <a:gridCol w="5943600"/>
                <a:gridCol w="2103120"/>
              </a:tblGrid>
              <a:tr h="408304">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2026年の配布テスト集合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8304">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10択の問題数</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9981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8304">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選択肢数の平均</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9.47</a:t>
                      </a:r>
                    </a:p>
                  </a:txBody>
                  <a:tcPr marL="63500" marR="63500" marT="38100" marB="38100" anchor="ctr">
                    <a:lnL w="7620">
                      <a:noFill/>
                    </a:lnL>
                    <a:lnR w="7620">
                      <a:noFill/>
                    </a:lnR>
                    <a:lnT w="7620">
                      <a:noFill/>
                    </a:lnT>
                    <a:lnB w="7620">
                      <a:noFill/>
                    </a:lnB>
                    <a:solidFill>
                      <a:srgbClr val="FFFEF8"/>
                    </a:solidFill>
                  </a:tcPr>
                </a:tc>
              </a:tr>
              <a:tr h="408304">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10択以外の問題数</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2051</a:t>
                      </a:r>
                    </a:p>
                  </a:txBody>
                  <a:tcPr marL="63500" marR="63500" marT="38100" marB="38100" anchor="ctr">
                    <a:lnL w="7620">
                      <a:noFill/>
                    </a:lnL>
                    <a:lnR w="7620">
                      <a:noFill/>
                    </a:lnR>
                    <a:lnT w="7620">
                      <a:noFill/>
                    </a:lnT>
                    <a:lnB w="7620">
                      <a:noFill/>
                    </a:lnB>
                    <a:solidFill>
                      <a:srgbClr val="FFFEF8"/>
                    </a:solidFill>
                  </a:tcPr>
                </a:tc>
              </a:tr>
              <a:tr h="408304">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例示用validationの問数</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70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78300"/>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人の点検で不適切な選択肢を除いた結果、すべてが10択ではない。</a:t>
            </a:r>
          </a:p>
        </p:txBody>
      </p:sp>
      <p:sp>
        <p:nvSpPr>
          <p:cNvPr id="6"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7"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79443"/>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更新と評価での利用</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更新と評価での利用</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正解の訂正と選択肢の整形が続いている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2025年4月に、医療専門家の確認に基づいて医療分野の正解15件を訂正した。</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2026年1月、理工系の一部で回答の手掛かりとなった選択肢の先頭の空白を修正した。</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モデルの公開評価も更新され、2026年にはFable 5.1やGPT-6 Astraなどの成績が報告されている。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更新と評価での利用</a:t>
            </a:r>
          </a:p>
        </p:txBody>
      </p:sp>
      <p:sp>
        <p:nvSpPr>
          <p:cNvPr id="5" name="source-bib"/>
          <p:cNvSpPr txBox="1"/>
          <p:nvPr/>
        </p:nvSpPr>
        <p:spPr>
          <a:xfrm>
            <a:off x="502920" y="4590288"/>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6" name="source-url"/>
          <p:cNvSpPr txBox="1"/>
          <p:nvPr/>
        </p:nvSpPr>
        <p:spPr>
          <a:xfrm>
            <a:off x="502920" y="4704588"/>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
        <p:nvSpPr>
          <p:cNvPr id="7" name="source-bib"/>
          <p:cNvSpPr txBox="1"/>
          <p:nvPr/>
        </p:nvSpPr>
        <p:spPr>
          <a:xfrm>
            <a:off x="502920" y="4864607"/>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Mercor, 2026. MMLU-Pro leaderboard (2026-10-22参照).</a:t>
            </a:r>
          </a:p>
        </p:txBody>
      </p:sp>
      <p:sp>
        <p:nvSpPr>
          <p:cNvPr id="8" name="source-url"/>
          <p:cNvSpPr txBox="1"/>
          <p:nvPr/>
        </p:nvSpPr>
        <p:spPr>
          <a:xfrm>
            <a:off x="502920" y="4978907"/>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https://www.mercor.com/apex/oss-benchmarks/oss-mmlu-pro-leaderboard/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公式配布には設問・全選択肢・正解記号が入る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TIGER-Lab/MMLU-Proから、testの12,032問とvalidationの70問を取得できる。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設問、全選択肢、正解記号、分野、出所を同じレコードで確認できる。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データカードはMITを指定する。評価コードのライセンスはApache 2.0で、公式リポジトリにある。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更新と評価での利用</a:t>
            </a:r>
          </a:p>
        </p:txBody>
      </p:sp>
      <p:sp>
        <p:nvSpPr>
          <p:cNvPr id="5" name="source-bib"/>
          <p:cNvSpPr txBox="1"/>
          <p:nvPr/>
        </p:nvSpPr>
        <p:spPr>
          <a:xfrm>
            <a:off x="502920" y="4590288"/>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6" name="source-url"/>
          <p:cNvSpPr txBox="1"/>
          <p:nvPr/>
        </p:nvSpPr>
        <p:spPr>
          <a:xfrm>
            <a:off x="502920" y="4704588"/>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
        <p:nvSpPr>
          <p:cNvPr id="7" name="source-bib"/>
          <p:cNvSpPr txBox="1"/>
          <p:nvPr/>
        </p:nvSpPr>
        <p:spPr>
          <a:xfrm>
            <a:off x="502920" y="4864607"/>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TIGER-AI-Lab, 2026. MMLU-Pro official repository.</a:t>
            </a:r>
          </a:p>
        </p:txBody>
      </p:sp>
      <p:sp>
        <p:nvSpPr>
          <p:cNvPr id="8" name="source-url"/>
          <p:cNvSpPr txBox="1"/>
          <p:nvPr/>
        </p:nvSpPr>
        <p:spPr>
          <a:xfrm>
            <a:off x="502920" y="4978907"/>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https://github.com/TIGER-AI-Lab/MMLU-Pro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知識の幅と、増えた選択肢から選ぶ推論を評価する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MMLU-Proは、MMLUの設問を選び直し、理工系の問題を補って、14分野の知識と推論を評価する。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最大10択の設問を、専門家が点検した参照正解で採点する。全体ではCoTを使うモデルに強みが見られた。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公開される設問・正解・分野情報を使い、総合成績と分野別の得手不得手を調べられる。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更新と評価での利用</a:t>
            </a:r>
          </a:p>
        </p:txBody>
      </p:sp>
      <p:sp>
        <p:nvSpPr>
          <p:cNvPr id="5"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Wang et al., 2024. MMLU-Pro: A More Robust and Challenging Multi-Task Language Understanding Benchmark.</a:t>
            </a:r>
          </a:p>
        </p:txBody>
      </p:sp>
      <p:sp>
        <p:nvSpPr>
          <p:cNvPr id="6"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https://arxiv.org/abs/2406.01574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57403"/>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2281121"/>
            <a:ext cx="7863840" cy="112776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分野の広がりを示す追加例</a:t>
            </a:r>
          </a:p>
          <a:p>
            <a:pPr marL="457200" indent="-457200">
              <a:lnSpc>
                <a:spcPts val="3660"/>
              </a:lnSpc>
              <a:spcAft>
                <a:spcPts val="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評価条件と参考文献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例4：等差数列から等比数列へ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分野の広がりを示す追加例</a:t>
            </a:r>
          </a:p>
        </p:txBody>
      </p:sp>
      <p:sp>
        <p:nvSpPr>
          <p:cNvPr id="4" name="TextBox 3"/>
          <p:cNvSpPr txBox="1"/>
          <p:nvPr/>
        </p:nvSpPr>
        <p:spPr>
          <a:xfrm>
            <a:off x="548640" y="1298448"/>
            <a:ext cx="8046720" cy="21031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問題の英語原文（全文）</a:t>
            </a:r>
          </a:p>
        </p:txBody>
      </p:sp>
      <p:sp>
        <p:nvSpPr>
          <p:cNvPr id="5" name="quote-background"/>
          <p:cNvSpPr/>
          <p:nvPr/>
        </p:nvSpPr>
        <p:spPr>
          <a:xfrm>
            <a:off x="548640" y="1572768"/>
            <a:ext cx="8046720" cy="278736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riginal-question"/>
          <p:cNvSpPr txBox="1"/>
          <p:nvPr/>
        </p:nvSpPr>
        <p:spPr>
          <a:xfrm>
            <a:off x="713232" y="1645920"/>
            <a:ext cx="7717536" cy="1335024"/>
          </a:xfrm>
          <a:prstGeom prst="rect">
            <a:avLst/>
          </a:prstGeom>
          <a:noFill/>
        </p:spPr>
        <p:txBody>
          <a:bodyPr wrap="square" lIns="0" rIns="0" tIns="0" bIns="0">
            <a:noAutofit/>
          </a:bodyPr>
          <a:lstStyle/>
          <a:p>
            <a:pPr algn="l">
              <a:lnSpc>
                <a:spcPts val="201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sequence of three real numbers forms an arithmetic progression with a first term of 9. If 2 is added to the second term and 20 is added to the third term, the three resulting numbers form a geometric progression. What is the smallest possible value for the third term of the geometric progression?</a:t>
            </a:r>
          </a:p>
        </p:txBody>
      </p:sp>
      <p:sp>
        <p:nvSpPr>
          <p:cNvPr id="7" name="option-A"/>
          <p:cNvSpPr txBox="1"/>
          <p:nvPr/>
        </p:nvSpPr>
        <p:spPr>
          <a:xfrm>
            <a:off x="704088" y="3055620"/>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12</a:t>
            </a:r>
          </a:p>
        </p:txBody>
      </p:sp>
      <p:sp>
        <p:nvSpPr>
          <p:cNvPr id="8" name="option-F"/>
          <p:cNvSpPr txBox="1"/>
          <p:nvPr/>
        </p:nvSpPr>
        <p:spPr>
          <a:xfrm>
            <a:off x="4681727" y="3055620"/>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 3</a:t>
            </a:r>
          </a:p>
        </p:txBody>
      </p:sp>
      <p:sp>
        <p:nvSpPr>
          <p:cNvPr id="9" name="option-B"/>
          <p:cNvSpPr txBox="1"/>
          <p:nvPr/>
        </p:nvSpPr>
        <p:spPr>
          <a:xfrm>
            <a:off x="704088" y="3312910"/>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B. 16</a:t>
            </a:r>
          </a:p>
        </p:txBody>
      </p:sp>
      <p:sp>
        <p:nvSpPr>
          <p:cNvPr id="10" name="option-G"/>
          <p:cNvSpPr txBox="1"/>
          <p:nvPr/>
        </p:nvSpPr>
        <p:spPr>
          <a:xfrm>
            <a:off x="4681727" y="3312910"/>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G. -1</a:t>
            </a:r>
          </a:p>
        </p:txBody>
      </p:sp>
      <p:sp>
        <p:nvSpPr>
          <p:cNvPr id="11" name="option-C"/>
          <p:cNvSpPr txBox="1"/>
          <p:nvPr/>
        </p:nvSpPr>
        <p:spPr>
          <a:xfrm>
            <a:off x="704088" y="3570199"/>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 2</a:t>
            </a:r>
          </a:p>
        </p:txBody>
      </p:sp>
      <p:sp>
        <p:nvSpPr>
          <p:cNvPr id="12" name="option-H"/>
          <p:cNvSpPr txBox="1"/>
          <p:nvPr/>
        </p:nvSpPr>
        <p:spPr>
          <a:xfrm>
            <a:off x="4681727" y="3570199"/>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H. 0</a:t>
            </a:r>
          </a:p>
        </p:txBody>
      </p:sp>
      <p:sp>
        <p:nvSpPr>
          <p:cNvPr id="13" name="option-D"/>
          <p:cNvSpPr txBox="1"/>
          <p:nvPr/>
        </p:nvSpPr>
        <p:spPr>
          <a:xfrm>
            <a:off x="704088" y="3827844"/>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 7</a:t>
            </a:r>
          </a:p>
        </p:txBody>
      </p:sp>
      <p:sp>
        <p:nvSpPr>
          <p:cNvPr id="14" name="option-I"/>
          <p:cNvSpPr txBox="1"/>
          <p:nvPr/>
        </p:nvSpPr>
        <p:spPr>
          <a:xfrm>
            <a:off x="4681727" y="3827844"/>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1</a:t>
            </a:r>
          </a:p>
        </p:txBody>
      </p:sp>
      <p:sp>
        <p:nvSpPr>
          <p:cNvPr id="15" name="option-E"/>
          <p:cNvSpPr txBox="1"/>
          <p:nvPr/>
        </p:nvSpPr>
        <p:spPr>
          <a:xfrm>
            <a:off x="704088" y="4085121"/>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 5</a:t>
            </a:r>
          </a:p>
        </p:txBody>
      </p:sp>
      <p:sp>
        <p:nvSpPr>
          <p:cNvPr id="16" name="option-J"/>
          <p:cNvSpPr txBox="1"/>
          <p:nvPr/>
        </p:nvSpPr>
        <p:spPr>
          <a:xfrm>
            <a:off x="4656327" y="4085121"/>
            <a:ext cx="3829304" cy="438353"/>
          </a:xfrm>
          <a:prstGeom prst="rect">
            <a:avLst/>
          </a:prstGeom>
          <a:noFill/>
        </p:spPr>
        <p:txBody>
          <a:bodyPr wrap="square" lIns="2540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J. 9</a:t>
            </a:r>
          </a:p>
        </p:txBody>
      </p:sp>
      <p:sp>
        <p:nvSpPr>
          <p:cNvPr id="17"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18"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分野の広がりを示す追加例</a:t>
            </a:r>
          </a:p>
        </p:txBody>
      </p:sp>
      <p:sp>
        <p:nvSpPr>
          <p:cNvPr id="4" name="TextBox 3"/>
          <p:cNvSpPr txBox="1"/>
          <p:nvPr/>
        </p:nvSpPr>
        <p:spPr>
          <a:xfrm>
            <a:off x="548640" y="1298448"/>
            <a:ext cx="8046720" cy="21031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問題の日本語訳（全文）</a:t>
            </a:r>
          </a:p>
        </p:txBody>
      </p:sp>
      <p:sp>
        <p:nvSpPr>
          <p:cNvPr id="5" name="quote-background"/>
          <p:cNvSpPr/>
          <p:nvPr/>
        </p:nvSpPr>
        <p:spPr>
          <a:xfrm>
            <a:off x="548640" y="1572768"/>
            <a:ext cx="8046720" cy="236151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japanese-question"/>
          <p:cNvSpPr txBox="1"/>
          <p:nvPr/>
        </p:nvSpPr>
        <p:spPr>
          <a:xfrm>
            <a:off x="713232" y="1645920"/>
            <a:ext cx="7717536" cy="865632"/>
          </a:xfrm>
          <a:prstGeom prst="rect">
            <a:avLst/>
          </a:prstGeom>
          <a:noFill/>
        </p:spPr>
        <p:txBody>
          <a:bodyPr wrap="square" lIns="0" rIns="0" tIns="0" bIns="0">
            <a:noAutofit/>
          </a:bodyPr>
          <a:lstStyle/>
          <a:p>
            <a:pPr algn="l">
              <a:lnSpc>
                <a:spcPts val="2128"/>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三つの実数が、初項9の等差数列をなす。第2項に2、第3項に20を加えると、得られる三つの数は等比数列をなす。その等比数列の第3項として可能な最小値はいくつか。</a:t>
            </a:r>
          </a:p>
        </p:txBody>
      </p:sp>
      <p:sp>
        <p:nvSpPr>
          <p:cNvPr id="7" name="option-A"/>
          <p:cNvSpPr txBox="1"/>
          <p:nvPr/>
        </p:nvSpPr>
        <p:spPr>
          <a:xfrm>
            <a:off x="704088" y="2589582"/>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 12</a:t>
            </a:r>
          </a:p>
        </p:txBody>
      </p:sp>
      <p:sp>
        <p:nvSpPr>
          <p:cNvPr id="8" name="option-F"/>
          <p:cNvSpPr txBox="1"/>
          <p:nvPr/>
        </p:nvSpPr>
        <p:spPr>
          <a:xfrm>
            <a:off x="4681727" y="2589582"/>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F. 3</a:t>
            </a:r>
          </a:p>
        </p:txBody>
      </p:sp>
      <p:sp>
        <p:nvSpPr>
          <p:cNvPr id="9" name="option-B"/>
          <p:cNvSpPr txBox="1"/>
          <p:nvPr/>
        </p:nvSpPr>
        <p:spPr>
          <a:xfrm>
            <a:off x="704088" y="2860728"/>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B. 16</a:t>
            </a:r>
          </a:p>
        </p:txBody>
      </p:sp>
      <p:sp>
        <p:nvSpPr>
          <p:cNvPr id="10" name="option-G"/>
          <p:cNvSpPr txBox="1"/>
          <p:nvPr/>
        </p:nvSpPr>
        <p:spPr>
          <a:xfrm>
            <a:off x="4681727" y="2860728"/>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G. −1</a:t>
            </a:r>
          </a:p>
        </p:txBody>
      </p:sp>
      <p:sp>
        <p:nvSpPr>
          <p:cNvPr id="11" name="option-C"/>
          <p:cNvSpPr txBox="1"/>
          <p:nvPr/>
        </p:nvSpPr>
        <p:spPr>
          <a:xfrm>
            <a:off x="704088" y="3131517"/>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 2</a:t>
            </a:r>
          </a:p>
        </p:txBody>
      </p:sp>
      <p:sp>
        <p:nvSpPr>
          <p:cNvPr id="12" name="option-H"/>
          <p:cNvSpPr txBox="1"/>
          <p:nvPr/>
        </p:nvSpPr>
        <p:spPr>
          <a:xfrm>
            <a:off x="4681727" y="3131517"/>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H. 0</a:t>
            </a:r>
          </a:p>
        </p:txBody>
      </p:sp>
      <p:sp>
        <p:nvSpPr>
          <p:cNvPr id="13" name="option-D"/>
          <p:cNvSpPr txBox="1"/>
          <p:nvPr/>
        </p:nvSpPr>
        <p:spPr>
          <a:xfrm>
            <a:off x="704088" y="3402294"/>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D. 7</a:t>
            </a:r>
          </a:p>
        </p:txBody>
      </p:sp>
      <p:sp>
        <p:nvSpPr>
          <p:cNvPr id="14" name="option-I"/>
          <p:cNvSpPr txBox="1"/>
          <p:nvPr/>
        </p:nvSpPr>
        <p:spPr>
          <a:xfrm>
            <a:off x="4681727" y="3402294"/>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I. 1</a:t>
            </a:r>
          </a:p>
        </p:txBody>
      </p:sp>
      <p:sp>
        <p:nvSpPr>
          <p:cNvPr id="15" name="option-E"/>
          <p:cNvSpPr txBox="1"/>
          <p:nvPr/>
        </p:nvSpPr>
        <p:spPr>
          <a:xfrm>
            <a:off x="704088" y="3673071"/>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E. 5</a:t>
            </a:r>
          </a:p>
        </p:txBody>
      </p:sp>
      <p:sp>
        <p:nvSpPr>
          <p:cNvPr id="16" name="option-J"/>
          <p:cNvSpPr txBox="1"/>
          <p:nvPr/>
        </p:nvSpPr>
        <p:spPr>
          <a:xfrm>
            <a:off x="4656327" y="3673071"/>
            <a:ext cx="3829304" cy="455512"/>
          </a:xfrm>
          <a:prstGeom prst="rect">
            <a:avLst/>
          </a:prstGeom>
          <a:noFill/>
        </p:spPr>
        <p:txBody>
          <a:bodyPr wrap="square" lIns="2540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J. 9</a:t>
            </a:r>
          </a:p>
        </p:txBody>
      </p:sp>
      <p:sp>
        <p:nvSpPr>
          <p:cNvPr id="17" name="answer"/>
          <p:cNvSpPr txBox="1"/>
          <p:nvPr/>
        </p:nvSpPr>
        <p:spPr>
          <a:xfrm>
            <a:off x="594360" y="4010480"/>
            <a:ext cx="7955279" cy="444500"/>
          </a:xfrm>
          <a:prstGeom prst="rect">
            <a:avLst/>
          </a:prstGeom>
          <a:noFill/>
        </p:spPr>
        <p:txBody>
          <a:bodyPr wrap="square" lIns="0" rIns="0" tIns="0" bIns="0">
            <a:noAutofit/>
          </a:bodyPr>
          <a:lstStyle/>
          <a:p>
            <a:pPr algn="l">
              <a:lnSpc>
                <a:spcPts val="246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正解：I．1</a:t>
            </a:r>
          </a:p>
        </p:txBody>
      </p:sp>
      <p:sp>
        <p:nvSpPr>
          <p:cNvPr id="18"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19"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例5：鋼橋の熱膨張</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分野の広がりを示す追加例</a:t>
            </a:r>
          </a:p>
        </p:txBody>
      </p:sp>
      <p:sp>
        <p:nvSpPr>
          <p:cNvPr id="4" name="TextBox 3"/>
          <p:cNvSpPr txBox="1"/>
          <p:nvPr/>
        </p:nvSpPr>
        <p:spPr>
          <a:xfrm>
            <a:off x="548640" y="1298448"/>
            <a:ext cx="8046720" cy="21031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問題の英語原文（全文）</a:t>
            </a:r>
          </a:p>
        </p:txBody>
      </p:sp>
      <p:sp>
        <p:nvSpPr>
          <p:cNvPr id="5" name="quote-background"/>
          <p:cNvSpPr/>
          <p:nvPr/>
        </p:nvSpPr>
        <p:spPr>
          <a:xfrm>
            <a:off x="548640" y="1572768"/>
            <a:ext cx="8046720" cy="278736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riginal-question"/>
          <p:cNvSpPr txBox="1"/>
          <p:nvPr/>
        </p:nvSpPr>
        <p:spPr>
          <a:xfrm>
            <a:off x="713232" y="1645920"/>
            <a:ext cx="7717536" cy="1335024"/>
          </a:xfrm>
          <a:prstGeom prst="rect">
            <a:avLst/>
          </a:prstGeom>
          <a:noFill/>
        </p:spPr>
        <p:txBody>
          <a:bodyPr wrap="square" lIns="0" rIns="0" tIns="0" bIns="0">
            <a:noAutofit/>
          </a:bodyPr>
          <a:lstStyle/>
          <a:p>
            <a:pPr algn="l">
              <a:lnSpc>
                <a:spcPts val="201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In the design of a modern steel bridge, provisions must obviously be made for expansion. How much does this amount to in the case of a bridge two miles long which is subjected to temperatures ranging from - 40°F to + 110°F, assuming an average expansion coefficient of .000012/°C?</a:t>
            </a:r>
          </a:p>
        </p:txBody>
      </p:sp>
      <p:sp>
        <p:nvSpPr>
          <p:cNvPr id="7" name="option-A"/>
          <p:cNvSpPr txBox="1"/>
          <p:nvPr/>
        </p:nvSpPr>
        <p:spPr>
          <a:xfrm>
            <a:off x="704088" y="3055620"/>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.003 miles</a:t>
            </a:r>
          </a:p>
        </p:txBody>
      </p:sp>
      <p:sp>
        <p:nvSpPr>
          <p:cNvPr id="8" name="option-F"/>
          <p:cNvSpPr txBox="1"/>
          <p:nvPr/>
        </p:nvSpPr>
        <p:spPr>
          <a:xfrm>
            <a:off x="4681727" y="3055620"/>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 .009 miles</a:t>
            </a:r>
          </a:p>
        </p:txBody>
      </p:sp>
      <p:sp>
        <p:nvSpPr>
          <p:cNvPr id="9" name="option-B"/>
          <p:cNvSpPr txBox="1"/>
          <p:nvPr/>
        </p:nvSpPr>
        <p:spPr>
          <a:xfrm>
            <a:off x="704088" y="3312910"/>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B. .001 miles</a:t>
            </a:r>
          </a:p>
        </p:txBody>
      </p:sp>
      <p:sp>
        <p:nvSpPr>
          <p:cNvPr id="10" name="option-G"/>
          <p:cNvSpPr txBox="1"/>
          <p:nvPr/>
        </p:nvSpPr>
        <p:spPr>
          <a:xfrm>
            <a:off x="4681727" y="3312910"/>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G. .006 miles</a:t>
            </a:r>
          </a:p>
        </p:txBody>
      </p:sp>
      <p:sp>
        <p:nvSpPr>
          <p:cNvPr id="11" name="option-C"/>
          <p:cNvSpPr txBox="1"/>
          <p:nvPr/>
        </p:nvSpPr>
        <p:spPr>
          <a:xfrm>
            <a:off x="704088" y="3570199"/>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 .008 miles</a:t>
            </a:r>
          </a:p>
        </p:txBody>
      </p:sp>
      <p:sp>
        <p:nvSpPr>
          <p:cNvPr id="12" name="option-H"/>
          <p:cNvSpPr txBox="1"/>
          <p:nvPr/>
        </p:nvSpPr>
        <p:spPr>
          <a:xfrm>
            <a:off x="4681727" y="3570199"/>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H. .002 miles</a:t>
            </a:r>
          </a:p>
        </p:txBody>
      </p:sp>
      <p:sp>
        <p:nvSpPr>
          <p:cNvPr id="13" name="option-D"/>
          <p:cNvSpPr txBox="1"/>
          <p:nvPr/>
        </p:nvSpPr>
        <p:spPr>
          <a:xfrm>
            <a:off x="704088" y="3827844"/>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 .0005 miles</a:t>
            </a:r>
          </a:p>
        </p:txBody>
      </p:sp>
      <p:sp>
        <p:nvSpPr>
          <p:cNvPr id="14" name="option-I"/>
          <p:cNvSpPr txBox="1"/>
          <p:nvPr/>
        </p:nvSpPr>
        <p:spPr>
          <a:xfrm>
            <a:off x="4681727" y="3827844"/>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.004 miles</a:t>
            </a:r>
          </a:p>
        </p:txBody>
      </p:sp>
      <p:sp>
        <p:nvSpPr>
          <p:cNvPr id="15" name="option-E"/>
          <p:cNvSpPr txBox="1"/>
          <p:nvPr/>
        </p:nvSpPr>
        <p:spPr>
          <a:xfrm>
            <a:off x="704088" y="4085121"/>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 .005 miles</a:t>
            </a:r>
          </a:p>
        </p:txBody>
      </p:sp>
      <p:sp>
        <p:nvSpPr>
          <p:cNvPr id="16" name="option-J"/>
          <p:cNvSpPr txBox="1"/>
          <p:nvPr/>
        </p:nvSpPr>
        <p:spPr>
          <a:xfrm>
            <a:off x="4656327" y="4085121"/>
            <a:ext cx="3829304" cy="438353"/>
          </a:xfrm>
          <a:prstGeom prst="rect">
            <a:avLst/>
          </a:prstGeom>
          <a:noFill/>
        </p:spPr>
        <p:txBody>
          <a:bodyPr wrap="square" lIns="2540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J. .007 miles</a:t>
            </a:r>
          </a:p>
        </p:txBody>
      </p:sp>
      <p:sp>
        <p:nvSpPr>
          <p:cNvPr id="17"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18"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分野の広がりを示す追加例</a:t>
            </a:r>
          </a:p>
        </p:txBody>
      </p:sp>
      <p:sp>
        <p:nvSpPr>
          <p:cNvPr id="4" name="TextBox 3"/>
          <p:cNvSpPr txBox="1"/>
          <p:nvPr/>
        </p:nvSpPr>
        <p:spPr>
          <a:xfrm>
            <a:off x="548640" y="1298448"/>
            <a:ext cx="8046720" cy="21031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問題の日本語訳（全文）</a:t>
            </a:r>
          </a:p>
        </p:txBody>
      </p:sp>
      <p:sp>
        <p:nvSpPr>
          <p:cNvPr id="5" name="quote-background"/>
          <p:cNvSpPr/>
          <p:nvPr/>
        </p:nvSpPr>
        <p:spPr>
          <a:xfrm>
            <a:off x="548640" y="1572768"/>
            <a:ext cx="8046720" cy="236271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japanese-question"/>
          <p:cNvSpPr txBox="1"/>
          <p:nvPr/>
        </p:nvSpPr>
        <p:spPr>
          <a:xfrm>
            <a:off x="713232" y="1645920"/>
            <a:ext cx="7717536" cy="865632"/>
          </a:xfrm>
          <a:prstGeom prst="rect">
            <a:avLst/>
          </a:prstGeom>
          <a:noFill/>
        </p:spPr>
        <p:txBody>
          <a:bodyPr wrap="square" lIns="0" rIns="0" tIns="0" bIns="0">
            <a:noAutofit/>
          </a:bodyPr>
          <a:lstStyle/>
          <a:p>
            <a:pPr algn="l">
              <a:lnSpc>
                <a:spcPts val="2128"/>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現代的な鋼橋を設計する際には、膨張への備えが必要である。長さ2マイルの橋が−40°Fから+110°Fまでの温度にさらされる場合、平均膨張係数を0.000012/°Cとすると、膨張量はどれほどか。</a:t>
            </a:r>
          </a:p>
        </p:txBody>
      </p:sp>
      <p:sp>
        <p:nvSpPr>
          <p:cNvPr id="7" name="option-A"/>
          <p:cNvSpPr txBox="1"/>
          <p:nvPr/>
        </p:nvSpPr>
        <p:spPr>
          <a:xfrm>
            <a:off x="704088" y="2612737"/>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 0.003マイル</a:t>
            </a:r>
          </a:p>
        </p:txBody>
      </p:sp>
      <p:sp>
        <p:nvSpPr>
          <p:cNvPr id="8" name="option-F"/>
          <p:cNvSpPr txBox="1"/>
          <p:nvPr/>
        </p:nvSpPr>
        <p:spPr>
          <a:xfrm>
            <a:off x="4681727" y="2612737"/>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F. 0.009マイル</a:t>
            </a:r>
          </a:p>
        </p:txBody>
      </p:sp>
      <p:sp>
        <p:nvSpPr>
          <p:cNvPr id="9" name="option-B"/>
          <p:cNvSpPr txBox="1"/>
          <p:nvPr/>
        </p:nvSpPr>
        <p:spPr>
          <a:xfrm>
            <a:off x="704088" y="2883882"/>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B. 0.001マイル</a:t>
            </a:r>
          </a:p>
        </p:txBody>
      </p:sp>
      <p:sp>
        <p:nvSpPr>
          <p:cNvPr id="10" name="option-G"/>
          <p:cNvSpPr txBox="1"/>
          <p:nvPr/>
        </p:nvSpPr>
        <p:spPr>
          <a:xfrm>
            <a:off x="4681727" y="2883882"/>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G. 0.006マイル</a:t>
            </a:r>
          </a:p>
        </p:txBody>
      </p:sp>
      <p:sp>
        <p:nvSpPr>
          <p:cNvPr id="11" name="option-C"/>
          <p:cNvSpPr txBox="1"/>
          <p:nvPr/>
        </p:nvSpPr>
        <p:spPr>
          <a:xfrm>
            <a:off x="704088" y="3154671"/>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 0.008マイル</a:t>
            </a:r>
          </a:p>
        </p:txBody>
      </p:sp>
      <p:sp>
        <p:nvSpPr>
          <p:cNvPr id="12" name="option-H"/>
          <p:cNvSpPr txBox="1"/>
          <p:nvPr/>
        </p:nvSpPr>
        <p:spPr>
          <a:xfrm>
            <a:off x="4681727" y="3154671"/>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H. 0.002マイル</a:t>
            </a:r>
          </a:p>
        </p:txBody>
      </p:sp>
      <p:sp>
        <p:nvSpPr>
          <p:cNvPr id="13" name="option-D"/>
          <p:cNvSpPr txBox="1"/>
          <p:nvPr/>
        </p:nvSpPr>
        <p:spPr>
          <a:xfrm>
            <a:off x="704088" y="3425449"/>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D. 0.0005マイル</a:t>
            </a:r>
          </a:p>
        </p:txBody>
      </p:sp>
      <p:sp>
        <p:nvSpPr>
          <p:cNvPr id="14" name="option-I"/>
          <p:cNvSpPr txBox="1"/>
          <p:nvPr/>
        </p:nvSpPr>
        <p:spPr>
          <a:xfrm>
            <a:off x="4681727" y="3425449"/>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I. 0.004マイル</a:t>
            </a:r>
          </a:p>
        </p:txBody>
      </p:sp>
      <p:sp>
        <p:nvSpPr>
          <p:cNvPr id="15" name="option-E"/>
          <p:cNvSpPr txBox="1"/>
          <p:nvPr/>
        </p:nvSpPr>
        <p:spPr>
          <a:xfrm>
            <a:off x="704088" y="3696226"/>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E. 0.005マイル</a:t>
            </a:r>
          </a:p>
        </p:txBody>
      </p:sp>
      <p:sp>
        <p:nvSpPr>
          <p:cNvPr id="16" name="option-J"/>
          <p:cNvSpPr txBox="1"/>
          <p:nvPr/>
        </p:nvSpPr>
        <p:spPr>
          <a:xfrm>
            <a:off x="4656327" y="3696226"/>
            <a:ext cx="3829304" cy="477461"/>
          </a:xfrm>
          <a:prstGeom prst="rect">
            <a:avLst/>
          </a:prstGeom>
          <a:noFill/>
        </p:spPr>
        <p:txBody>
          <a:bodyPr wrap="square" lIns="2540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J. 0.007マイル</a:t>
            </a:r>
          </a:p>
        </p:txBody>
      </p:sp>
      <p:sp>
        <p:nvSpPr>
          <p:cNvPr id="17" name="answer"/>
          <p:cNvSpPr txBox="1"/>
          <p:nvPr/>
        </p:nvSpPr>
        <p:spPr>
          <a:xfrm>
            <a:off x="594360" y="4011686"/>
            <a:ext cx="7955279" cy="444500"/>
          </a:xfrm>
          <a:prstGeom prst="rect">
            <a:avLst/>
          </a:prstGeom>
          <a:noFill/>
        </p:spPr>
        <p:txBody>
          <a:bodyPr wrap="square" lIns="0" rIns="0" tIns="0" bIns="0">
            <a:noAutofit/>
          </a:bodyPr>
          <a:lstStyle/>
          <a:p>
            <a:pPr algn="l">
              <a:lnSpc>
                <a:spcPts val="246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正解：H．0.002マイル</a:t>
            </a:r>
          </a:p>
        </p:txBody>
      </p:sp>
      <p:sp>
        <p:nvSpPr>
          <p:cNvPr id="18"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19"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例6：一次反応で分解する割合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分野の広がりを示す追加例</a:t>
            </a:r>
          </a:p>
        </p:txBody>
      </p:sp>
      <p:sp>
        <p:nvSpPr>
          <p:cNvPr id="4" name="TextBox 3"/>
          <p:cNvSpPr txBox="1"/>
          <p:nvPr/>
        </p:nvSpPr>
        <p:spPr>
          <a:xfrm>
            <a:off x="548640" y="1298448"/>
            <a:ext cx="8046720" cy="21031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問題の英語原文（全文）</a:t>
            </a:r>
          </a:p>
        </p:txBody>
      </p:sp>
      <p:sp>
        <p:nvSpPr>
          <p:cNvPr id="5" name="quote-background"/>
          <p:cNvSpPr/>
          <p:nvPr/>
        </p:nvSpPr>
        <p:spPr>
          <a:xfrm>
            <a:off x="548640" y="1572768"/>
            <a:ext cx="8046720" cy="253175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riginal-question"/>
          <p:cNvSpPr txBox="1"/>
          <p:nvPr/>
        </p:nvSpPr>
        <p:spPr>
          <a:xfrm>
            <a:off x="713232" y="1645920"/>
            <a:ext cx="7717536" cy="1078992"/>
          </a:xfrm>
          <a:prstGeom prst="rect">
            <a:avLst/>
          </a:prstGeom>
          <a:noFill/>
        </p:spPr>
        <p:txBody>
          <a:bodyPr wrap="square" lIns="0" rIns="0" tIns="0" bIns="0">
            <a:noAutofit/>
          </a:bodyPr>
          <a:lstStyle/>
          <a:p>
            <a:pPr algn="l">
              <a:lnSpc>
                <a:spcPts val="201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reaction C₂H₄O → CH₄ + CO is a first-order reaction with a specific rate constant of .0123 min⁻¹ at 415°C. Calculate the percent of original C₂H₄O present that will be decomposed after heating at 415°C for 1 hour.</a:t>
            </a:r>
          </a:p>
        </p:txBody>
      </p:sp>
      <p:sp>
        <p:nvSpPr>
          <p:cNvPr id="7" name="option-A"/>
          <p:cNvSpPr txBox="1"/>
          <p:nvPr/>
        </p:nvSpPr>
        <p:spPr>
          <a:xfrm>
            <a:off x="704088" y="2800311"/>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52.1%</a:t>
            </a:r>
          </a:p>
        </p:txBody>
      </p:sp>
      <p:sp>
        <p:nvSpPr>
          <p:cNvPr id="8" name="option-F"/>
          <p:cNvSpPr txBox="1"/>
          <p:nvPr/>
        </p:nvSpPr>
        <p:spPr>
          <a:xfrm>
            <a:off x="4681727" y="2800311"/>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 63.2%</a:t>
            </a:r>
          </a:p>
        </p:txBody>
      </p:sp>
      <p:sp>
        <p:nvSpPr>
          <p:cNvPr id="9" name="option-B"/>
          <p:cNvSpPr txBox="1"/>
          <p:nvPr/>
        </p:nvSpPr>
        <p:spPr>
          <a:xfrm>
            <a:off x="704088" y="3057602"/>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B. 55.5%</a:t>
            </a:r>
          </a:p>
        </p:txBody>
      </p:sp>
      <p:sp>
        <p:nvSpPr>
          <p:cNvPr id="10" name="option-G"/>
          <p:cNvSpPr txBox="1"/>
          <p:nvPr/>
        </p:nvSpPr>
        <p:spPr>
          <a:xfrm>
            <a:off x="4681727" y="3057602"/>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G. 69.7%</a:t>
            </a:r>
          </a:p>
        </p:txBody>
      </p:sp>
      <p:sp>
        <p:nvSpPr>
          <p:cNvPr id="11" name="option-C"/>
          <p:cNvSpPr txBox="1"/>
          <p:nvPr/>
        </p:nvSpPr>
        <p:spPr>
          <a:xfrm>
            <a:off x="704088" y="3314878"/>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 47.9%</a:t>
            </a:r>
          </a:p>
        </p:txBody>
      </p:sp>
      <p:sp>
        <p:nvSpPr>
          <p:cNvPr id="12" name="option-H"/>
          <p:cNvSpPr txBox="1"/>
          <p:nvPr/>
        </p:nvSpPr>
        <p:spPr>
          <a:xfrm>
            <a:off x="4681727" y="3314878"/>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H. 75.4%</a:t>
            </a:r>
          </a:p>
        </p:txBody>
      </p:sp>
      <p:sp>
        <p:nvSpPr>
          <p:cNvPr id="13" name="option-D"/>
          <p:cNvSpPr txBox="1"/>
          <p:nvPr/>
        </p:nvSpPr>
        <p:spPr>
          <a:xfrm>
            <a:off x="704088" y="3572168"/>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 30%</a:t>
            </a:r>
          </a:p>
        </p:txBody>
      </p:sp>
      <p:sp>
        <p:nvSpPr>
          <p:cNvPr id="14" name="option-I"/>
          <p:cNvSpPr txBox="1"/>
          <p:nvPr/>
        </p:nvSpPr>
        <p:spPr>
          <a:xfrm>
            <a:off x="4681727" y="3572168"/>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85%</a:t>
            </a:r>
          </a:p>
        </p:txBody>
      </p:sp>
      <p:sp>
        <p:nvSpPr>
          <p:cNvPr id="15" name="option-E"/>
          <p:cNvSpPr txBox="1"/>
          <p:nvPr/>
        </p:nvSpPr>
        <p:spPr>
          <a:xfrm>
            <a:off x="704088" y="3829444"/>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 60%</a:t>
            </a:r>
          </a:p>
        </p:txBody>
      </p:sp>
      <p:sp>
        <p:nvSpPr>
          <p:cNvPr id="16" name="option-J"/>
          <p:cNvSpPr txBox="1"/>
          <p:nvPr/>
        </p:nvSpPr>
        <p:spPr>
          <a:xfrm>
            <a:off x="4656327" y="3829444"/>
            <a:ext cx="3829304" cy="438353"/>
          </a:xfrm>
          <a:prstGeom prst="rect">
            <a:avLst/>
          </a:prstGeom>
          <a:noFill/>
        </p:spPr>
        <p:txBody>
          <a:bodyPr wrap="square" lIns="2540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J. 50%</a:t>
            </a:r>
          </a:p>
        </p:txBody>
      </p:sp>
      <p:sp>
        <p:nvSpPr>
          <p:cNvPr id="17"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18"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分野の広がりを示す追加例</a:t>
            </a:r>
          </a:p>
        </p:txBody>
      </p:sp>
      <p:sp>
        <p:nvSpPr>
          <p:cNvPr id="4" name="TextBox 3"/>
          <p:cNvSpPr txBox="1"/>
          <p:nvPr/>
        </p:nvSpPr>
        <p:spPr>
          <a:xfrm>
            <a:off x="548640" y="1298448"/>
            <a:ext cx="8046720" cy="21031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問題の日本語訳（全文）</a:t>
            </a:r>
          </a:p>
        </p:txBody>
      </p:sp>
      <p:sp>
        <p:nvSpPr>
          <p:cNvPr id="5" name="quote-background"/>
          <p:cNvSpPr/>
          <p:nvPr/>
        </p:nvSpPr>
        <p:spPr>
          <a:xfrm>
            <a:off x="548640" y="1572768"/>
            <a:ext cx="8046720" cy="236151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japanese-question"/>
          <p:cNvSpPr txBox="1"/>
          <p:nvPr/>
        </p:nvSpPr>
        <p:spPr>
          <a:xfrm>
            <a:off x="713232" y="1645920"/>
            <a:ext cx="7717536" cy="865632"/>
          </a:xfrm>
          <a:prstGeom prst="rect">
            <a:avLst/>
          </a:prstGeom>
          <a:noFill/>
        </p:spPr>
        <p:txBody>
          <a:bodyPr wrap="square" lIns="0" rIns="0" tIns="0" bIns="0">
            <a:noAutofit/>
          </a:bodyPr>
          <a:lstStyle/>
          <a:p>
            <a:pPr algn="l">
              <a:lnSpc>
                <a:spcPts val="2128"/>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反応C₂H₄O→CH₄+COは一次反応で、415°Cでの速度定数は0.0123 min⁻¹である。415°Cで1時間加熱した後、最初に存在したC₂H₄Oの何パーセントが分解するか計算せよ。</a:t>
            </a:r>
          </a:p>
        </p:txBody>
      </p:sp>
      <p:sp>
        <p:nvSpPr>
          <p:cNvPr id="7" name="option-A"/>
          <p:cNvSpPr txBox="1"/>
          <p:nvPr/>
        </p:nvSpPr>
        <p:spPr>
          <a:xfrm>
            <a:off x="704088" y="2589582"/>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 52.1%</a:t>
            </a:r>
          </a:p>
        </p:txBody>
      </p:sp>
      <p:sp>
        <p:nvSpPr>
          <p:cNvPr id="8" name="option-F"/>
          <p:cNvSpPr txBox="1"/>
          <p:nvPr/>
        </p:nvSpPr>
        <p:spPr>
          <a:xfrm>
            <a:off x="4681727" y="2589582"/>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F. 63.2%</a:t>
            </a:r>
          </a:p>
        </p:txBody>
      </p:sp>
      <p:sp>
        <p:nvSpPr>
          <p:cNvPr id="9" name="option-B"/>
          <p:cNvSpPr txBox="1"/>
          <p:nvPr/>
        </p:nvSpPr>
        <p:spPr>
          <a:xfrm>
            <a:off x="704088" y="2860728"/>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B. 55.5%</a:t>
            </a:r>
          </a:p>
        </p:txBody>
      </p:sp>
      <p:sp>
        <p:nvSpPr>
          <p:cNvPr id="10" name="option-G"/>
          <p:cNvSpPr txBox="1"/>
          <p:nvPr/>
        </p:nvSpPr>
        <p:spPr>
          <a:xfrm>
            <a:off x="4681727" y="2860728"/>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G. 69.7%</a:t>
            </a:r>
          </a:p>
        </p:txBody>
      </p:sp>
      <p:sp>
        <p:nvSpPr>
          <p:cNvPr id="11" name="option-C"/>
          <p:cNvSpPr txBox="1"/>
          <p:nvPr/>
        </p:nvSpPr>
        <p:spPr>
          <a:xfrm>
            <a:off x="704088" y="3131517"/>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 47.9%</a:t>
            </a:r>
          </a:p>
        </p:txBody>
      </p:sp>
      <p:sp>
        <p:nvSpPr>
          <p:cNvPr id="12" name="option-H"/>
          <p:cNvSpPr txBox="1"/>
          <p:nvPr/>
        </p:nvSpPr>
        <p:spPr>
          <a:xfrm>
            <a:off x="4681727" y="3131517"/>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H. 75.4%</a:t>
            </a:r>
          </a:p>
        </p:txBody>
      </p:sp>
      <p:sp>
        <p:nvSpPr>
          <p:cNvPr id="13" name="option-D"/>
          <p:cNvSpPr txBox="1"/>
          <p:nvPr/>
        </p:nvSpPr>
        <p:spPr>
          <a:xfrm>
            <a:off x="704088" y="3402294"/>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D. 30%</a:t>
            </a:r>
          </a:p>
        </p:txBody>
      </p:sp>
      <p:sp>
        <p:nvSpPr>
          <p:cNvPr id="14" name="option-I"/>
          <p:cNvSpPr txBox="1"/>
          <p:nvPr/>
        </p:nvSpPr>
        <p:spPr>
          <a:xfrm>
            <a:off x="4681727" y="3402294"/>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I. 85%</a:t>
            </a:r>
          </a:p>
        </p:txBody>
      </p:sp>
      <p:sp>
        <p:nvSpPr>
          <p:cNvPr id="15" name="option-E"/>
          <p:cNvSpPr txBox="1"/>
          <p:nvPr/>
        </p:nvSpPr>
        <p:spPr>
          <a:xfrm>
            <a:off x="704088" y="3673071"/>
            <a:ext cx="3803904" cy="455512"/>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E. 60%</a:t>
            </a:r>
          </a:p>
        </p:txBody>
      </p:sp>
      <p:sp>
        <p:nvSpPr>
          <p:cNvPr id="16" name="option-J"/>
          <p:cNvSpPr txBox="1"/>
          <p:nvPr/>
        </p:nvSpPr>
        <p:spPr>
          <a:xfrm>
            <a:off x="4656327" y="3673071"/>
            <a:ext cx="3829304" cy="455512"/>
          </a:xfrm>
          <a:prstGeom prst="rect">
            <a:avLst/>
          </a:prstGeom>
          <a:noFill/>
        </p:spPr>
        <p:txBody>
          <a:bodyPr wrap="square" lIns="2540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J. 50%</a:t>
            </a:r>
          </a:p>
        </p:txBody>
      </p:sp>
      <p:sp>
        <p:nvSpPr>
          <p:cNvPr id="17" name="answer"/>
          <p:cNvSpPr txBox="1"/>
          <p:nvPr/>
        </p:nvSpPr>
        <p:spPr>
          <a:xfrm>
            <a:off x="594360" y="4010480"/>
            <a:ext cx="7955279" cy="444500"/>
          </a:xfrm>
          <a:prstGeom prst="rect">
            <a:avLst/>
          </a:prstGeom>
          <a:noFill/>
        </p:spPr>
        <p:txBody>
          <a:bodyPr wrap="square" lIns="0" rIns="0" tIns="0" bIns="0">
            <a:noAutofit/>
          </a:bodyPr>
          <a:lstStyle/>
          <a:p>
            <a:pPr algn="l">
              <a:lnSpc>
                <a:spcPts val="246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正解：A．52.1%</a:t>
            </a:r>
          </a:p>
        </p:txBody>
      </p:sp>
      <p:sp>
        <p:nvSpPr>
          <p:cNvPr id="18"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19"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例7：三値論理で256通りを表す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分野の広がりを示す追加例</a:t>
            </a:r>
          </a:p>
        </p:txBody>
      </p:sp>
      <p:sp>
        <p:nvSpPr>
          <p:cNvPr id="4" name="TextBox 3"/>
          <p:cNvSpPr txBox="1"/>
          <p:nvPr/>
        </p:nvSpPr>
        <p:spPr>
          <a:xfrm>
            <a:off x="548640" y="1298448"/>
            <a:ext cx="8046720" cy="21031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問題の英語原文（全文）</a:t>
            </a:r>
          </a:p>
        </p:txBody>
      </p:sp>
      <p:sp>
        <p:nvSpPr>
          <p:cNvPr id="5" name="quote-background"/>
          <p:cNvSpPr/>
          <p:nvPr/>
        </p:nvSpPr>
        <p:spPr>
          <a:xfrm>
            <a:off x="548640" y="1572768"/>
            <a:ext cx="8046720" cy="278736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riginal-question"/>
          <p:cNvSpPr txBox="1"/>
          <p:nvPr/>
        </p:nvSpPr>
        <p:spPr>
          <a:xfrm>
            <a:off x="713232" y="1645920"/>
            <a:ext cx="7717536" cy="1335024"/>
          </a:xfrm>
          <a:prstGeom prst="rect">
            <a:avLst/>
          </a:prstGeom>
          <a:noFill/>
        </p:spPr>
        <p:txBody>
          <a:bodyPr wrap="square" lIns="0" rIns="0" tIns="0" bIns="0">
            <a:noAutofit/>
          </a:bodyPr>
          <a:lstStyle/>
          <a:p>
            <a:pPr algn="l">
              <a:lnSpc>
                <a:spcPts val="201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One approach to handling fuzzy logic data might be to design a computer using ternary (base-3) logic so that data could be stored as “true,” “false,” and “unknown.” If each ternary logic element is called a flit, how many flits are required to represent at least 256 different values?</a:t>
            </a:r>
          </a:p>
        </p:txBody>
      </p:sp>
      <p:sp>
        <p:nvSpPr>
          <p:cNvPr id="7" name="option-A"/>
          <p:cNvSpPr txBox="1"/>
          <p:nvPr/>
        </p:nvSpPr>
        <p:spPr>
          <a:xfrm>
            <a:off x="704088" y="3055620"/>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9</a:t>
            </a:r>
          </a:p>
        </p:txBody>
      </p:sp>
      <p:sp>
        <p:nvSpPr>
          <p:cNvPr id="8" name="option-F"/>
          <p:cNvSpPr txBox="1"/>
          <p:nvPr/>
        </p:nvSpPr>
        <p:spPr>
          <a:xfrm>
            <a:off x="4681727" y="3055620"/>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 5</a:t>
            </a:r>
          </a:p>
        </p:txBody>
      </p:sp>
      <p:sp>
        <p:nvSpPr>
          <p:cNvPr id="9" name="option-B"/>
          <p:cNvSpPr txBox="1"/>
          <p:nvPr/>
        </p:nvSpPr>
        <p:spPr>
          <a:xfrm>
            <a:off x="704088" y="3312910"/>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B. 4</a:t>
            </a:r>
          </a:p>
        </p:txBody>
      </p:sp>
      <p:sp>
        <p:nvSpPr>
          <p:cNvPr id="10" name="option-G"/>
          <p:cNvSpPr txBox="1"/>
          <p:nvPr/>
        </p:nvSpPr>
        <p:spPr>
          <a:xfrm>
            <a:off x="4681727" y="3312910"/>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G. 3</a:t>
            </a:r>
          </a:p>
        </p:txBody>
      </p:sp>
      <p:sp>
        <p:nvSpPr>
          <p:cNvPr id="11" name="option-C"/>
          <p:cNvSpPr txBox="1"/>
          <p:nvPr/>
        </p:nvSpPr>
        <p:spPr>
          <a:xfrm>
            <a:off x="704088" y="3570199"/>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 2</a:t>
            </a:r>
          </a:p>
        </p:txBody>
      </p:sp>
      <p:sp>
        <p:nvSpPr>
          <p:cNvPr id="12" name="option-H"/>
          <p:cNvSpPr txBox="1"/>
          <p:nvPr/>
        </p:nvSpPr>
        <p:spPr>
          <a:xfrm>
            <a:off x="4681727" y="3570199"/>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H. 6</a:t>
            </a:r>
          </a:p>
        </p:txBody>
      </p:sp>
      <p:sp>
        <p:nvSpPr>
          <p:cNvPr id="13" name="option-D"/>
          <p:cNvSpPr txBox="1"/>
          <p:nvPr/>
        </p:nvSpPr>
        <p:spPr>
          <a:xfrm>
            <a:off x="704088" y="3827844"/>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 11</a:t>
            </a:r>
          </a:p>
        </p:txBody>
      </p:sp>
      <p:sp>
        <p:nvSpPr>
          <p:cNvPr id="14" name="option-I"/>
          <p:cNvSpPr txBox="1"/>
          <p:nvPr/>
        </p:nvSpPr>
        <p:spPr>
          <a:xfrm>
            <a:off x="4681727" y="3827844"/>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8</a:t>
            </a:r>
          </a:p>
        </p:txBody>
      </p:sp>
      <p:sp>
        <p:nvSpPr>
          <p:cNvPr id="15" name="option-E"/>
          <p:cNvSpPr txBox="1"/>
          <p:nvPr/>
        </p:nvSpPr>
        <p:spPr>
          <a:xfrm>
            <a:off x="704088" y="4085121"/>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 10</a:t>
            </a:r>
          </a:p>
        </p:txBody>
      </p:sp>
      <p:sp>
        <p:nvSpPr>
          <p:cNvPr id="16" name="option-J"/>
          <p:cNvSpPr txBox="1"/>
          <p:nvPr/>
        </p:nvSpPr>
        <p:spPr>
          <a:xfrm>
            <a:off x="4656327" y="4085121"/>
            <a:ext cx="3829304" cy="438353"/>
          </a:xfrm>
          <a:prstGeom prst="rect">
            <a:avLst/>
          </a:prstGeom>
          <a:noFill/>
        </p:spPr>
        <p:txBody>
          <a:bodyPr wrap="square" lIns="2540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J. 7</a:t>
            </a:r>
          </a:p>
        </p:txBody>
      </p:sp>
      <p:sp>
        <p:nvSpPr>
          <p:cNvPr id="17"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18"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分野の広がりを示す追加例</a:t>
            </a:r>
          </a:p>
        </p:txBody>
      </p:sp>
      <p:sp>
        <p:nvSpPr>
          <p:cNvPr id="4" name="TextBox 3"/>
          <p:cNvSpPr txBox="1"/>
          <p:nvPr/>
        </p:nvSpPr>
        <p:spPr>
          <a:xfrm>
            <a:off x="548640" y="1298448"/>
            <a:ext cx="8046720" cy="21031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問題の日本語訳（全文）</a:t>
            </a:r>
          </a:p>
        </p:txBody>
      </p:sp>
      <p:sp>
        <p:nvSpPr>
          <p:cNvPr id="5" name="quote-background"/>
          <p:cNvSpPr/>
          <p:nvPr/>
        </p:nvSpPr>
        <p:spPr>
          <a:xfrm>
            <a:off x="548640" y="1572768"/>
            <a:ext cx="8046720" cy="219406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japanese-question"/>
          <p:cNvSpPr txBox="1"/>
          <p:nvPr/>
        </p:nvSpPr>
        <p:spPr>
          <a:xfrm>
            <a:off x="713232" y="1645920"/>
            <a:ext cx="7717536" cy="801624"/>
          </a:xfrm>
          <a:prstGeom prst="rect">
            <a:avLst/>
          </a:prstGeom>
          <a:noFill/>
        </p:spPr>
        <p:txBody>
          <a:bodyPr wrap="square" lIns="0" rIns="0" tIns="0" bIns="0">
            <a:noAutofit/>
          </a:bodyPr>
          <a:lstStyle/>
          <a:p>
            <a:pPr algn="l">
              <a:lnSpc>
                <a:spcPts val="19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ファジー論理のデータを扱う方法として、真・偽・不明を保存できる三値（3進）論理のコンピュータを設計することが考えられる。三値論理の各要素をflitと呼ぶとき、少なくとも256個の異なる値を表すには何flit必要か。</a:t>
            </a:r>
          </a:p>
        </p:txBody>
      </p:sp>
      <p:sp>
        <p:nvSpPr>
          <p:cNvPr id="7" name="option-A"/>
          <p:cNvSpPr txBox="1"/>
          <p:nvPr/>
        </p:nvSpPr>
        <p:spPr>
          <a:xfrm>
            <a:off x="704088" y="2520967"/>
            <a:ext cx="3803904" cy="429531"/>
          </a:xfrm>
          <a:prstGeom prst="rect">
            <a:avLst/>
          </a:prstGeom>
          <a:noFill/>
        </p:spPr>
        <p:txBody>
          <a:bodyPr wrap="square" lIns="0" rIns="0" tIns="0" bIns="0">
            <a:noAutofit/>
          </a:bodyPr>
          <a:lstStyle/>
          <a:p>
            <a:pPr algn="l">
              <a:lnSpc>
                <a:spcPts val="187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A. 9</a:t>
            </a:r>
          </a:p>
        </p:txBody>
      </p:sp>
      <p:sp>
        <p:nvSpPr>
          <p:cNvPr id="8" name="option-F"/>
          <p:cNvSpPr txBox="1"/>
          <p:nvPr/>
        </p:nvSpPr>
        <p:spPr>
          <a:xfrm>
            <a:off x="4681727" y="2520967"/>
            <a:ext cx="3803904" cy="429531"/>
          </a:xfrm>
          <a:prstGeom prst="rect">
            <a:avLst/>
          </a:prstGeom>
          <a:noFill/>
        </p:spPr>
        <p:txBody>
          <a:bodyPr wrap="square" lIns="0" rIns="0" tIns="0" bIns="0">
            <a:noAutofit/>
          </a:bodyPr>
          <a:lstStyle/>
          <a:p>
            <a:pPr algn="l">
              <a:lnSpc>
                <a:spcPts val="187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F. 5</a:t>
            </a:r>
          </a:p>
        </p:txBody>
      </p:sp>
      <p:sp>
        <p:nvSpPr>
          <p:cNvPr id="9" name="option-B"/>
          <p:cNvSpPr txBox="1"/>
          <p:nvPr/>
        </p:nvSpPr>
        <p:spPr>
          <a:xfrm>
            <a:off x="704088" y="2771450"/>
            <a:ext cx="3803904" cy="429531"/>
          </a:xfrm>
          <a:prstGeom prst="rect">
            <a:avLst/>
          </a:prstGeom>
          <a:noFill/>
        </p:spPr>
        <p:txBody>
          <a:bodyPr wrap="square" lIns="0" rIns="0" tIns="0" bIns="0">
            <a:noAutofit/>
          </a:bodyPr>
          <a:lstStyle/>
          <a:p>
            <a:pPr algn="l">
              <a:lnSpc>
                <a:spcPts val="187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B. 4</a:t>
            </a:r>
          </a:p>
        </p:txBody>
      </p:sp>
      <p:sp>
        <p:nvSpPr>
          <p:cNvPr id="10" name="option-G"/>
          <p:cNvSpPr txBox="1"/>
          <p:nvPr/>
        </p:nvSpPr>
        <p:spPr>
          <a:xfrm>
            <a:off x="4681727" y="2771450"/>
            <a:ext cx="3803904" cy="429531"/>
          </a:xfrm>
          <a:prstGeom prst="rect">
            <a:avLst/>
          </a:prstGeom>
          <a:noFill/>
        </p:spPr>
        <p:txBody>
          <a:bodyPr wrap="square" lIns="0" rIns="0" tIns="0" bIns="0">
            <a:noAutofit/>
          </a:bodyPr>
          <a:lstStyle/>
          <a:p>
            <a:pPr algn="l">
              <a:lnSpc>
                <a:spcPts val="187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G. 3</a:t>
            </a:r>
          </a:p>
        </p:txBody>
      </p:sp>
      <p:sp>
        <p:nvSpPr>
          <p:cNvPr id="11" name="option-C"/>
          <p:cNvSpPr txBox="1"/>
          <p:nvPr/>
        </p:nvSpPr>
        <p:spPr>
          <a:xfrm>
            <a:off x="704088" y="3021920"/>
            <a:ext cx="3803904" cy="429531"/>
          </a:xfrm>
          <a:prstGeom prst="rect">
            <a:avLst/>
          </a:prstGeom>
          <a:noFill/>
        </p:spPr>
        <p:txBody>
          <a:bodyPr wrap="square" lIns="0" rIns="0" tIns="0" bIns="0">
            <a:noAutofit/>
          </a:bodyPr>
          <a:lstStyle/>
          <a:p>
            <a:pPr algn="l">
              <a:lnSpc>
                <a:spcPts val="187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C. 2</a:t>
            </a:r>
          </a:p>
        </p:txBody>
      </p:sp>
      <p:sp>
        <p:nvSpPr>
          <p:cNvPr id="12" name="option-H"/>
          <p:cNvSpPr txBox="1"/>
          <p:nvPr/>
        </p:nvSpPr>
        <p:spPr>
          <a:xfrm>
            <a:off x="4681727" y="3021920"/>
            <a:ext cx="3803904" cy="429531"/>
          </a:xfrm>
          <a:prstGeom prst="rect">
            <a:avLst/>
          </a:prstGeom>
          <a:noFill/>
        </p:spPr>
        <p:txBody>
          <a:bodyPr wrap="square" lIns="0" rIns="0" tIns="0" bIns="0">
            <a:noAutofit/>
          </a:bodyPr>
          <a:lstStyle/>
          <a:p>
            <a:pPr algn="l">
              <a:lnSpc>
                <a:spcPts val="187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H. 6</a:t>
            </a:r>
          </a:p>
        </p:txBody>
      </p:sp>
      <p:sp>
        <p:nvSpPr>
          <p:cNvPr id="13" name="option-D"/>
          <p:cNvSpPr txBox="1"/>
          <p:nvPr/>
        </p:nvSpPr>
        <p:spPr>
          <a:xfrm>
            <a:off x="704088" y="3272389"/>
            <a:ext cx="3803904" cy="429531"/>
          </a:xfrm>
          <a:prstGeom prst="rect">
            <a:avLst/>
          </a:prstGeom>
          <a:noFill/>
        </p:spPr>
        <p:txBody>
          <a:bodyPr wrap="square" lIns="0" rIns="0" tIns="0" bIns="0">
            <a:noAutofit/>
          </a:bodyPr>
          <a:lstStyle/>
          <a:p>
            <a:pPr algn="l">
              <a:lnSpc>
                <a:spcPts val="187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D. 11</a:t>
            </a:r>
          </a:p>
        </p:txBody>
      </p:sp>
      <p:sp>
        <p:nvSpPr>
          <p:cNvPr id="14" name="option-I"/>
          <p:cNvSpPr txBox="1"/>
          <p:nvPr/>
        </p:nvSpPr>
        <p:spPr>
          <a:xfrm>
            <a:off x="4681727" y="3272389"/>
            <a:ext cx="3803904" cy="429531"/>
          </a:xfrm>
          <a:prstGeom prst="rect">
            <a:avLst/>
          </a:prstGeom>
          <a:noFill/>
        </p:spPr>
        <p:txBody>
          <a:bodyPr wrap="square" lIns="0" rIns="0" tIns="0" bIns="0">
            <a:noAutofit/>
          </a:bodyPr>
          <a:lstStyle/>
          <a:p>
            <a:pPr algn="l">
              <a:lnSpc>
                <a:spcPts val="187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I. 8</a:t>
            </a:r>
          </a:p>
        </p:txBody>
      </p:sp>
      <p:sp>
        <p:nvSpPr>
          <p:cNvPr id="15" name="option-E"/>
          <p:cNvSpPr txBox="1"/>
          <p:nvPr/>
        </p:nvSpPr>
        <p:spPr>
          <a:xfrm>
            <a:off x="704088" y="3522858"/>
            <a:ext cx="3803904" cy="429531"/>
          </a:xfrm>
          <a:prstGeom prst="rect">
            <a:avLst/>
          </a:prstGeom>
          <a:noFill/>
        </p:spPr>
        <p:txBody>
          <a:bodyPr wrap="square" lIns="0" rIns="0" tIns="0" bIns="0">
            <a:noAutofit/>
          </a:bodyPr>
          <a:lstStyle/>
          <a:p>
            <a:pPr algn="l">
              <a:lnSpc>
                <a:spcPts val="187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E. 10</a:t>
            </a:r>
          </a:p>
        </p:txBody>
      </p:sp>
      <p:sp>
        <p:nvSpPr>
          <p:cNvPr id="16" name="option-J"/>
          <p:cNvSpPr txBox="1"/>
          <p:nvPr/>
        </p:nvSpPr>
        <p:spPr>
          <a:xfrm>
            <a:off x="4656327" y="3522858"/>
            <a:ext cx="3829304" cy="429531"/>
          </a:xfrm>
          <a:prstGeom prst="rect">
            <a:avLst/>
          </a:prstGeom>
          <a:noFill/>
        </p:spPr>
        <p:txBody>
          <a:bodyPr wrap="square" lIns="25400" rIns="0" tIns="0" bIns="0">
            <a:noAutofit/>
          </a:bodyPr>
          <a:lstStyle/>
          <a:p>
            <a:pPr algn="l">
              <a:lnSpc>
                <a:spcPts val="187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J. 7</a:t>
            </a:r>
          </a:p>
        </p:txBody>
      </p:sp>
      <p:sp>
        <p:nvSpPr>
          <p:cNvPr id="17" name="answer"/>
          <p:cNvSpPr txBox="1"/>
          <p:nvPr/>
        </p:nvSpPr>
        <p:spPr>
          <a:xfrm>
            <a:off x="594360" y="3843029"/>
            <a:ext cx="7955279" cy="444500"/>
          </a:xfrm>
          <a:prstGeom prst="rect">
            <a:avLst/>
          </a:prstGeom>
          <a:noFill/>
        </p:spPr>
        <p:txBody>
          <a:bodyPr wrap="square" lIns="0" rIns="0" tIns="0" bIns="0">
            <a:noAutofit/>
          </a:bodyPr>
          <a:lstStyle/>
          <a:p>
            <a:pPr algn="l">
              <a:lnSpc>
                <a:spcPts val="246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正解：H．6</a:t>
            </a:r>
          </a:p>
        </p:txBody>
      </p:sp>
      <p:sp>
        <p:nvSpPr>
          <p:cNvPr id="18"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19"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例8：リンゴの供給と需要が同時に増える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分野の広がりを示す追加例</a:t>
            </a:r>
          </a:p>
        </p:txBody>
      </p:sp>
      <p:sp>
        <p:nvSpPr>
          <p:cNvPr id="4" name="TextBox 3"/>
          <p:cNvSpPr txBox="1"/>
          <p:nvPr/>
        </p:nvSpPr>
        <p:spPr>
          <a:xfrm>
            <a:off x="548640" y="1298448"/>
            <a:ext cx="8046720" cy="21031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問題の英語原文（全文）</a:t>
            </a:r>
          </a:p>
        </p:txBody>
      </p:sp>
      <p:sp>
        <p:nvSpPr>
          <p:cNvPr id="5" name="quote-background"/>
          <p:cNvSpPr/>
          <p:nvPr/>
        </p:nvSpPr>
        <p:spPr>
          <a:xfrm>
            <a:off x="548640" y="1572768"/>
            <a:ext cx="8046720" cy="271451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riginal-question"/>
          <p:cNvSpPr txBox="1"/>
          <p:nvPr/>
        </p:nvSpPr>
        <p:spPr>
          <a:xfrm>
            <a:off x="713232" y="1645920"/>
            <a:ext cx="7717536" cy="965200"/>
          </a:xfrm>
          <a:prstGeom prst="rect">
            <a:avLst/>
          </a:prstGeom>
          <a:noFill/>
        </p:spPr>
        <p:txBody>
          <a:bodyPr wrap="square" lIns="0" rIns="0" tIns="0" bIns="0">
            <a:noAutofit/>
          </a:bodyPr>
          <a:lstStyle/>
          <a:p>
            <a:pPr algn="l">
              <a:lnSpc>
                <a:spcPts val="179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The apple market is in equilibrium. Suppose we observe that apple growers are using more pesticides to increase apple production. At the same time, we hear that the price of pears, a substitute for apples, is rising. Which of the following is a reasonable prediction for the new price and quantity of apples?</a:t>
            </a:r>
          </a:p>
        </p:txBody>
      </p:sp>
      <p:sp>
        <p:nvSpPr>
          <p:cNvPr id="7" name="option-A"/>
          <p:cNvSpPr txBox="1"/>
          <p:nvPr/>
        </p:nvSpPr>
        <p:spPr>
          <a:xfrm>
            <a:off x="704088" y="2678714"/>
            <a:ext cx="3803904" cy="620982"/>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A. Price is ambiguous, but quantity rises.</a:t>
            </a:r>
          </a:p>
        </p:txBody>
      </p:sp>
      <p:sp>
        <p:nvSpPr>
          <p:cNvPr id="8" name="option-F"/>
          <p:cNvSpPr txBox="1"/>
          <p:nvPr/>
        </p:nvSpPr>
        <p:spPr>
          <a:xfrm>
            <a:off x="4681727" y="2678714"/>
            <a:ext cx="3803904" cy="620982"/>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F. Price rises, but quantity is ambiguous.</a:t>
            </a:r>
          </a:p>
        </p:txBody>
      </p:sp>
      <p:sp>
        <p:nvSpPr>
          <p:cNvPr id="9" name="option-B"/>
          <p:cNvSpPr txBox="1"/>
          <p:nvPr/>
        </p:nvSpPr>
        <p:spPr>
          <a:xfrm>
            <a:off x="704088" y="3126046"/>
            <a:ext cx="3803904" cy="403533"/>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B. Price and quantity remain the same.</a:t>
            </a:r>
          </a:p>
        </p:txBody>
      </p:sp>
      <p:sp>
        <p:nvSpPr>
          <p:cNvPr id="10" name="option-G"/>
          <p:cNvSpPr txBox="1"/>
          <p:nvPr/>
        </p:nvSpPr>
        <p:spPr>
          <a:xfrm>
            <a:off x="4681727" y="3126046"/>
            <a:ext cx="3803904" cy="403533"/>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G. Price rises, quantity falls.</a:t>
            </a:r>
          </a:p>
        </p:txBody>
      </p:sp>
      <p:sp>
        <p:nvSpPr>
          <p:cNvPr id="11" name="option-C"/>
          <p:cNvSpPr txBox="1"/>
          <p:nvPr/>
        </p:nvSpPr>
        <p:spPr>
          <a:xfrm>
            <a:off x="704088" y="3356322"/>
            <a:ext cx="3803904" cy="403533"/>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C. Quantity rises, but price falls.</a:t>
            </a:r>
          </a:p>
        </p:txBody>
      </p:sp>
      <p:sp>
        <p:nvSpPr>
          <p:cNvPr id="12" name="option-H"/>
          <p:cNvSpPr txBox="1"/>
          <p:nvPr/>
        </p:nvSpPr>
        <p:spPr>
          <a:xfrm>
            <a:off x="4681727" y="3356322"/>
            <a:ext cx="3803904" cy="620983"/>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H. Price is ambiguous, but quantity falls.</a:t>
            </a:r>
          </a:p>
        </p:txBody>
      </p:sp>
      <p:sp>
        <p:nvSpPr>
          <p:cNvPr id="13" name="option-D"/>
          <p:cNvSpPr txBox="1"/>
          <p:nvPr/>
        </p:nvSpPr>
        <p:spPr>
          <a:xfrm>
            <a:off x="704088" y="3803654"/>
            <a:ext cx="3803904" cy="403533"/>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D. Price and quantity both rise.</a:t>
            </a:r>
          </a:p>
        </p:txBody>
      </p:sp>
      <p:sp>
        <p:nvSpPr>
          <p:cNvPr id="14" name="option-I"/>
          <p:cNvSpPr txBox="1"/>
          <p:nvPr/>
        </p:nvSpPr>
        <p:spPr>
          <a:xfrm>
            <a:off x="4681727" y="3803654"/>
            <a:ext cx="3803904" cy="403533"/>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I. Price falls, but quantity is ambiguous.</a:t>
            </a:r>
          </a:p>
        </p:txBody>
      </p:sp>
      <p:sp>
        <p:nvSpPr>
          <p:cNvPr id="15" name="option-E"/>
          <p:cNvSpPr txBox="1"/>
          <p:nvPr/>
        </p:nvSpPr>
        <p:spPr>
          <a:xfrm>
            <a:off x="704088" y="4033931"/>
            <a:ext cx="3803904" cy="403533"/>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E. Price and quantity both fall.</a:t>
            </a:r>
          </a:p>
        </p:txBody>
      </p:sp>
      <p:sp>
        <p:nvSpPr>
          <p:cNvPr id="16" name="option-J"/>
          <p:cNvSpPr txBox="1"/>
          <p:nvPr/>
        </p:nvSpPr>
        <p:spPr>
          <a:xfrm>
            <a:off x="4656327" y="4033931"/>
            <a:ext cx="3829304" cy="403533"/>
          </a:xfrm>
          <a:prstGeom prst="rect">
            <a:avLst/>
          </a:prstGeom>
          <a:noFill/>
        </p:spPr>
        <p:txBody>
          <a:bodyPr wrap="square" lIns="2540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J. Price falls, quantity rises.</a:t>
            </a:r>
          </a:p>
        </p:txBody>
      </p:sp>
      <p:sp>
        <p:nvSpPr>
          <p:cNvPr id="17"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18"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分野の広がりを示す追加例</a:t>
            </a:r>
          </a:p>
        </p:txBody>
      </p:sp>
      <p:sp>
        <p:nvSpPr>
          <p:cNvPr id="4" name="TextBox 3"/>
          <p:cNvSpPr txBox="1"/>
          <p:nvPr/>
        </p:nvSpPr>
        <p:spPr>
          <a:xfrm>
            <a:off x="548640" y="1298448"/>
            <a:ext cx="8046720" cy="21031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問題の日本語訳（全文）</a:t>
            </a:r>
          </a:p>
        </p:txBody>
      </p:sp>
      <p:sp>
        <p:nvSpPr>
          <p:cNvPr id="5" name="quote-background"/>
          <p:cNvSpPr/>
          <p:nvPr/>
        </p:nvSpPr>
        <p:spPr>
          <a:xfrm>
            <a:off x="548640" y="1572768"/>
            <a:ext cx="8046720" cy="238001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japanese-question"/>
          <p:cNvSpPr txBox="1"/>
          <p:nvPr/>
        </p:nvSpPr>
        <p:spPr>
          <a:xfrm>
            <a:off x="713232" y="1645920"/>
            <a:ext cx="7717536" cy="1022096"/>
          </a:xfrm>
          <a:prstGeom prst="rect">
            <a:avLst/>
          </a:prstGeom>
          <a:noFill/>
        </p:spPr>
        <p:txBody>
          <a:bodyPr wrap="square" lIns="0" rIns="0" tIns="0" bIns="0">
            <a:noAutofit/>
          </a:bodyPr>
          <a:lstStyle/>
          <a:p>
            <a:pPr algn="l">
              <a:lnSpc>
                <a:spcPts val="1904"/>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リンゴ市場は均衡している。リンゴ生産者が生産量を増やすために、より多くの農薬を使っていると分かった。同時に、リンゴの代替財であるナシの価格が上昇していると聞いた。リンゴの新しい価格と取引量について、妥当な予測はどれか。</a:t>
            </a:r>
          </a:p>
        </p:txBody>
      </p:sp>
      <p:sp>
        <p:nvSpPr>
          <p:cNvPr id="7" name="option-A"/>
          <p:cNvSpPr txBox="1"/>
          <p:nvPr/>
        </p:nvSpPr>
        <p:spPr>
          <a:xfrm>
            <a:off x="704088" y="2758879"/>
            <a:ext cx="3803904" cy="440850"/>
          </a:xfrm>
          <a:prstGeom prst="rect">
            <a:avLst/>
          </a:prstGeom>
          <a:noFill/>
        </p:spPr>
        <p:txBody>
          <a:bodyPr wrap="square" lIns="0" rIns="0" tIns="0" bIns="0">
            <a:noAutofit/>
          </a:bodyPr>
          <a:lstStyle/>
          <a:p>
            <a:pPr algn="l">
              <a:lnSpc>
                <a:spcPts val="181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 価格は不確定だが、量は増える。</a:t>
            </a:r>
          </a:p>
        </p:txBody>
      </p:sp>
      <p:sp>
        <p:nvSpPr>
          <p:cNvPr id="8" name="option-F"/>
          <p:cNvSpPr txBox="1"/>
          <p:nvPr/>
        </p:nvSpPr>
        <p:spPr>
          <a:xfrm>
            <a:off x="4681727" y="2758879"/>
            <a:ext cx="3803904" cy="440850"/>
          </a:xfrm>
          <a:prstGeom prst="rect">
            <a:avLst/>
          </a:prstGeom>
          <a:noFill/>
        </p:spPr>
        <p:txBody>
          <a:bodyPr wrap="square" lIns="0" rIns="0" tIns="0" bIns="0">
            <a:noAutofit/>
          </a:bodyPr>
          <a:lstStyle/>
          <a:p>
            <a:pPr algn="l">
              <a:lnSpc>
                <a:spcPts val="181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F. 価格は上がるが、量は不確定。</a:t>
            </a:r>
          </a:p>
        </p:txBody>
      </p:sp>
      <p:sp>
        <p:nvSpPr>
          <p:cNvPr id="9" name="option-B"/>
          <p:cNvSpPr txBox="1"/>
          <p:nvPr/>
        </p:nvSpPr>
        <p:spPr>
          <a:xfrm>
            <a:off x="704088" y="3002312"/>
            <a:ext cx="3803904" cy="440850"/>
          </a:xfrm>
          <a:prstGeom prst="rect">
            <a:avLst/>
          </a:prstGeom>
          <a:noFill/>
        </p:spPr>
        <p:txBody>
          <a:bodyPr wrap="square" lIns="0" rIns="0" tIns="0" bIns="0">
            <a:noAutofit/>
          </a:bodyPr>
          <a:lstStyle/>
          <a:p>
            <a:pPr algn="l">
              <a:lnSpc>
                <a:spcPts val="181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B. 価格と量は変わらない。</a:t>
            </a:r>
          </a:p>
        </p:txBody>
      </p:sp>
      <p:sp>
        <p:nvSpPr>
          <p:cNvPr id="10" name="option-G"/>
          <p:cNvSpPr txBox="1"/>
          <p:nvPr/>
        </p:nvSpPr>
        <p:spPr>
          <a:xfrm>
            <a:off x="4681727" y="3002312"/>
            <a:ext cx="3803904" cy="440850"/>
          </a:xfrm>
          <a:prstGeom prst="rect">
            <a:avLst/>
          </a:prstGeom>
          <a:noFill/>
        </p:spPr>
        <p:txBody>
          <a:bodyPr wrap="square" lIns="0" rIns="0" tIns="0" bIns="0">
            <a:noAutofit/>
          </a:bodyPr>
          <a:lstStyle/>
          <a:p>
            <a:pPr algn="l">
              <a:lnSpc>
                <a:spcPts val="181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G. 価格は上がり、量は減る。</a:t>
            </a:r>
          </a:p>
        </p:txBody>
      </p:sp>
      <p:sp>
        <p:nvSpPr>
          <p:cNvPr id="11" name="option-C"/>
          <p:cNvSpPr txBox="1"/>
          <p:nvPr/>
        </p:nvSpPr>
        <p:spPr>
          <a:xfrm>
            <a:off x="704088" y="3246090"/>
            <a:ext cx="3803904" cy="440850"/>
          </a:xfrm>
          <a:prstGeom prst="rect">
            <a:avLst/>
          </a:prstGeom>
          <a:noFill/>
        </p:spPr>
        <p:txBody>
          <a:bodyPr wrap="square" lIns="0" rIns="0" tIns="0" bIns="0">
            <a:noAutofit/>
          </a:bodyPr>
          <a:lstStyle/>
          <a:p>
            <a:pPr algn="l">
              <a:lnSpc>
                <a:spcPts val="181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C. 量は増えるが、価格は下がる。</a:t>
            </a:r>
          </a:p>
        </p:txBody>
      </p:sp>
      <p:sp>
        <p:nvSpPr>
          <p:cNvPr id="12" name="option-H"/>
          <p:cNvSpPr txBox="1"/>
          <p:nvPr/>
        </p:nvSpPr>
        <p:spPr>
          <a:xfrm>
            <a:off x="4681727" y="3246090"/>
            <a:ext cx="3803904" cy="440850"/>
          </a:xfrm>
          <a:prstGeom prst="rect">
            <a:avLst/>
          </a:prstGeom>
          <a:noFill/>
        </p:spPr>
        <p:txBody>
          <a:bodyPr wrap="square" lIns="0" rIns="0" tIns="0" bIns="0">
            <a:noAutofit/>
          </a:bodyPr>
          <a:lstStyle/>
          <a:p>
            <a:pPr algn="l">
              <a:lnSpc>
                <a:spcPts val="181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H. 価格は不確定だが、量は減る。</a:t>
            </a:r>
          </a:p>
        </p:txBody>
      </p:sp>
      <p:sp>
        <p:nvSpPr>
          <p:cNvPr id="13" name="option-D"/>
          <p:cNvSpPr txBox="1"/>
          <p:nvPr/>
        </p:nvSpPr>
        <p:spPr>
          <a:xfrm>
            <a:off x="704088" y="3489878"/>
            <a:ext cx="3803904" cy="440850"/>
          </a:xfrm>
          <a:prstGeom prst="rect">
            <a:avLst/>
          </a:prstGeom>
          <a:noFill/>
        </p:spPr>
        <p:txBody>
          <a:bodyPr wrap="square" lIns="0" rIns="0" tIns="0" bIns="0">
            <a:noAutofit/>
          </a:bodyPr>
          <a:lstStyle/>
          <a:p>
            <a:pPr algn="l">
              <a:lnSpc>
                <a:spcPts val="181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D. 価格と量はともに上がる。</a:t>
            </a:r>
          </a:p>
        </p:txBody>
      </p:sp>
      <p:sp>
        <p:nvSpPr>
          <p:cNvPr id="14" name="option-I"/>
          <p:cNvSpPr txBox="1"/>
          <p:nvPr/>
        </p:nvSpPr>
        <p:spPr>
          <a:xfrm>
            <a:off x="4681727" y="3489878"/>
            <a:ext cx="3803904" cy="440850"/>
          </a:xfrm>
          <a:prstGeom prst="rect">
            <a:avLst/>
          </a:prstGeom>
          <a:noFill/>
        </p:spPr>
        <p:txBody>
          <a:bodyPr wrap="square" lIns="0" rIns="0" tIns="0" bIns="0">
            <a:noAutofit/>
          </a:bodyPr>
          <a:lstStyle/>
          <a:p>
            <a:pPr algn="l">
              <a:lnSpc>
                <a:spcPts val="181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 価格は下がるが、量は不確定。</a:t>
            </a:r>
          </a:p>
        </p:txBody>
      </p:sp>
      <p:sp>
        <p:nvSpPr>
          <p:cNvPr id="15" name="option-E"/>
          <p:cNvSpPr txBox="1"/>
          <p:nvPr/>
        </p:nvSpPr>
        <p:spPr>
          <a:xfrm>
            <a:off x="704088" y="3733668"/>
            <a:ext cx="3803904" cy="440850"/>
          </a:xfrm>
          <a:prstGeom prst="rect">
            <a:avLst/>
          </a:prstGeom>
          <a:noFill/>
        </p:spPr>
        <p:txBody>
          <a:bodyPr wrap="square" lIns="0" rIns="0" tIns="0" bIns="0">
            <a:noAutofit/>
          </a:bodyPr>
          <a:lstStyle/>
          <a:p>
            <a:pPr algn="l">
              <a:lnSpc>
                <a:spcPts val="181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E. 価格と量はともに下がる。</a:t>
            </a:r>
          </a:p>
        </p:txBody>
      </p:sp>
      <p:sp>
        <p:nvSpPr>
          <p:cNvPr id="16" name="option-J"/>
          <p:cNvSpPr txBox="1"/>
          <p:nvPr/>
        </p:nvSpPr>
        <p:spPr>
          <a:xfrm>
            <a:off x="4656327" y="3733668"/>
            <a:ext cx="3829304" cy="440850"/>
          </a:xfrm>
          <a:prstGeom prst="rect">
            <a:avLst/>
          </a:prstGeom>
          <a:noFill/>
        </p:spPr>
        <p:txBody>
          <a:bodyPr wrap="square" lIns="25400" rIns="0" tIns="0" bIns="0">
            <a:noAutofit/>
          </a:bodyPr>
          <a:lstStyle/>
          <a:p>
            <a:pPr algn="l">
              <a:lnSpc>
                <a:spcPts val="181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J. 価格は下がり、量は増える。</a:t>
            </a:r>
          </a:p>
        </p:txBody>
      </p:sp>
      <p:sp>
        <p:nvSpPr>
          <p:cNvPr id="17" name="answer"/>
          <p:cNvSpPr txBox="1"/>
          <p:nvPr/>
        </p:nvSpPr>
        <p:spPr>
          <a:xfrm>
            <a:off x="594360" y="4028979"/>
            <a:ext cx="7955279" cy="444500"/>
          </a:xfrm>
          <a:prstGeom prst="rect">
            <a:avLst/>
          </a:prstGeom>
          <a:noFill/>
        </p:spPr>
        <p:txBody>
          <a:bodyPr wrap="square" lIns="0" rIns="0" tIns="0" bIns="0">
            <a:noAutofit/>
          </a:bodyPr>
          <a:lstStyle/>
          <a:p>
            <a:pPr algn="l">
              <a:lnSpc>
                <a:spcPts val="246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正解：A．価格は不確定だが、量は増える。</a:t>
            </a:r>
          </a:p>
        </p:txBody>
      </p:sp>
      <p:sp>
        <p:nvSpPr>
          <p:cNvPr id="18"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19"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例9：自転車の定額減価償却</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分野の広がりを示す追加例</a:t>
            </a:r>
          </a:p>
        </p:txBody>
      </p:sp>
      <p:sp>
        <p:nvSpPr>
          <p:cNvPr id="4" name="TextBox 3"/>
          <p:cNvSpPr txBox="1"/>
          <p:nvPr/>
        </p:nvSpPr>
        <p:spPr>
          <a:xfrm>
            <a:off x="548640" y="1298448"/>
            <a:ext cx="8046720" cy="21031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問題の英語原文（全文）</a:t>
            </a:r>
          </a:p>
        </p:txBody>
      </p:sp>
      <p:sp>
        <p:nvSpPr>
          <p:cNvPr id="5" name="quote-background"/>
          <p:cNvSpPr/>
          <p:nvPr/>
        </p:nvSpPr>
        <p:spPr>
          <a:xfrm>
            <a:off x="548640" y="1572768"/>
            <a:ext cx="8046720" cy="227544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riginal-question"/>
          <p:cNvSpPr txBox="1"/>
          <p:nvPr/>
        </p:nvSpPr>
        <p:spPr>
          <a:xfrm>
            <a:off x="713232" y="1645920"/>
            <a:ext cx="7717536" cy="822960"/>
          </a:xfrm>
          <a:prstGeom prst="rect">
            <a:avLst/>
          </a:prstGeom>
          <a:noFill/>
        </p:spPr>
        <p:txBody>
          <a:bodyPr wrap="square" lIns="0" rIns="0" tIns="0" bIns="0">
            <a:noAutofit/>
          </a:bodyPr>
          <a:lstStyle/>
          <a:p>
            <a:pPr algn="l">
              <a:lnSpc>
                <a:spcPts val="201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Tom bought a new bicycle for $80. After 4 years of use, he sold it to a second-hand dealer for $15. What was the annual depreciation by the straight line method? What was the annual rate of depreciation?</a:t>
            </a:r>
          </a:p>
        </p:txBody>
      </p:sp>
      <p:sp>
        <p:nvSpPr>
          <p:cNvPr id="7" name="option-A"/>
          <p:cNvSpPr txBox="1"/>
          <p:nvPr/>
        </p:nvSpPr>
        <p:spPr>
          <a:xfrm>
            <a:off x="704088" y="2543924"/>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$13 per year and 16.25%</a:t>
            </a:r>
          </a:p>
        </p:txBody>
      </p:sp>
      <p:sp>
        <p:nvSpPr>
          <p:cNvPr id="8" name="option-F"/>
          <p:cNvSpPr txBox="1"/>
          <p:nvPr/>
        </p:nvSpPr>
        <p:spPr>
          <a:xfrm>
            <a:off x="4681727" y="2543924"/>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 $15.25 per year and 19%</a:t>
            </a:r>
          </a:p>
        </p:txBody>
      </p:sp>
      <p:sp>
        <p:nvSpPr>
          <p:cNvPr id="9" name="option-B"/>
          <p:cNvSpPr txBox="1"/>
          <p:nvPr/>
        </p:nvSpPr>
        <p:spPr>
          <a:xfrm>
            <a:off x="704088" y="2801214"/>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B. $16.25 per year and 20.3%</a:t>
            </a:r>
          </a:p>
        </p:txBody>
      </p:sp>
      <p:sp>
        <p:nvSpPr>
          <p:cNvPr id="10" name="option-G"/>
          <p:cNvSpPr txBox="1"/>
          <p:nvPr/>
        </p:nvSpPr>
        <p:spPr>
          <a:xfrm>
            <a:off x="4681727" y="2801214"/>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G. $18 per year and 22.5%</a:t>
            </a:r>
          </a:p>
        </p:txBody>
      </p:sp>
      <p:sp>
        <p:nvSpPr>
          <p:cNvPr id="11" name="option-C"/>
          <p:cNvSpPr txBox="1"/>
          <p:nvPr/>
        </p:nvSpPr>
        <p:spPr>
          <a:xfrm>
            <a:off x="704088" y="3058504"/>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 $17 per year and 21.25%</a:t>
            </a:r>
          </a:p>
        </p:txBody>
      </p:sp>
      <p:sp>
        <p:nvSpPr>
          <p:cNvPr id="12" name="option-H"/>
          <p:cNvSpPr txBox="1"/>
          <p:nvPr/>
        </p:nvSpPr>
        <p:spPr>
          <a:xfrm>
            <a:off x="4681727" y="3058504"/>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H. $16 per year and 20%</a:t>
            </a:r>
          </a:p>
        </p:txBody>
      </p:sp>
      <p:sp>
        <p:nvSpPr>
          <p:cNvPr id="13" name="option-D"/>
          <p:cNvSpPr txBox="1"/>
          <p:nvPr/>
        </p:nvSpPr>
        <p:spPr>
          <a:xfrm>
            <a:off x="704088" y="3315780"/>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 $19 per year and 23.75%</a:t>
            </a:r>
          </a:p>
        </p:txBody>
      </p:sp>
      <p:sp>
        <p:nvSpPr>
          <p:cNvPr id="14" name="option-I"/>
          <p:cNvSpPr txBox="1"/>
          <p:nvPr/>
        </p:nvSpPr>
        <p:spPr>
          <a:xfrm>
            <a:off x="4681727" y="3315780"/>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$12.50 per year and 15.6%</a:t>
            </a:r>
          </a:p>
        </p:txBody>
      </p:sp>
      <p:sp>
        <p:nvSpPr>
          <p:cNvPr id="15" name="option-E"/>
          <p:cNvSpPr txBox="1"/>
          <p:nvPr/>
        </p:nvSpPr>
        <p:spPr>
          <a:xfrm>
            <a:off x="704088" y="3573070"/>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 $14.75 per year and 18.4%</a:t>
            </a:r>
          </a:p>
        </p:txBody>
      </p:sp>
      <p:sp>
        <p:nvSpPr>
          <p:cNvPr id="16" name="option-J"/>
          <p:cNvSpPr txBox="1"/>
          <p:nvPr/>
        </p:nvSpPr>
        <p:spPr>
          <a:xfrm>
            <a:off x="4656327" y="3573070"/>
            <a:ext cx="3829304" cy="438353"/>
          </a:xfrm>
          <a:prstGeom prst="rect">
            <a:avLst/>
          </a:prstGeom>
          <a:noFill/>
        </p:spPr>
        <p:txBody>
          <a:bodyPr wrap="square" lIns="2540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J. $20 per year and 25%</a:t>
            </a:r>
          </a:p>
        </p:txBody>
      </p:sp>
      <p:sp>
        <p:nvSpPr>
          <p:cNvPr id="17"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18"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分野の広がりを示す追加例</a:t>
            </a:r>
          </a:p>
        </p:txBody>
      </p:sp>
      <p:sp>
        <p:nvSpPr>
          <p:cNvPr id="4" name="TextBox 3"/>
          <p:cNvSpPr txBox="1"/>
          <p:nvPr/>
        </p:nvSpPr>
        <p:spPr>
          <a:xfrm>
            <a:off x="548640" y="1298448"/>
            <a:ext cx="8046720" cy="21031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問題の日本語訳（全文）</a:t>
            </a:r>
          </a:p>
        </p:txBody>
      </p:sp>
      <p:sp>
        <p:nvSpPr>
          <p:cNvPr id="5" name="quote-background"/>
          <p:cNvSpPr/>
          <p:nvPr/>
        </p:nvSpPr>
        <p:spPr>
          <a:xfrm>
            <a:off x="548640" y="1572768"/>
            <a:ext cx="8046720" cy="236151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japanese-question"/>
          <p:cNvSpPr txBox="1"/>
          <p:nvPr/>
        </p:nvSpPr>
        <p:spPr>
          <a:xfrm>
            <a:off x="713232" y="1645920"/>
            <a:ext cx="7717536" cy="865632"/>
          </a:xfrm>
          <a:prstGeom prst="rect">
            <a:avLst/>
          </a:prstGeom>
          <a:noFill/>
        </p:spPr>
        <p:txBody>
          <a:bodyPr wrap="square" lIns="0" rIns="0" tIns="0" bIns="0">
            <a:noAutofit/>
          </a:bodyPr>
          <a:lstStyle/>
          <a:p>
            <a:pPr algn="l">
              <a:lnSpc>
                <a:spcPts val="2128"/>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トムは新しい自転車を80ドルで買った。4年間使った後、中古業者へ15ドルで売った。定額法による年間の減価償却額と、年間の減価償却率はいくらか。</a:t>
            </a:r>
          </a:p>
        </p:txBody>
      </p:sp>
      <p:sp>
        <p:nvSpPr>
          <p:cNvPr id="7" name="option-A"/>
          <p:cNvSpPr txBox="1"/>
          <p:nvPr/>
        </p:nvSpPr>
        <p:spPr>
          <a:xfrm>
            <a:off x="704088" y="2611531"/>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 年13ドル、16.25%</a:t>
            </a:r>
          </a:p>
        </p:txBody>
      </p:sp>
      <p:sp>
        <p:nvSpPr>
          <p:cNvPr id="8" name="option-F"/>
          <p:cNvSpPr txBox="1"/>
          <p:nvPr/>
        </p:nvSpPr>
        <p:spPr>
          <a:xfrm>
            <a:off x="4681727" y="2611531"/>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F. 年15.25ドル、19%</a:t>
            </a:r>
          </a:p>
        </p:txBody>
      </p:sp>
      <p:sp>
        <p:nvSpPr>
          <p:cNvPr id="9" name="option-B"/>
          <p:cNvSpPr txBox="1"/>
          <p:nvPr/>
        </p:nvSpPr>
        <p:spPr>
          <a:xfrm>
            <a:off x="704088" y="2882676"/>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B. 年16.25ドル、20.3%</a:t>
            </a:r>
          </a:p>
        </p:txBody>
      </p:sp>
      <p:sp>
        <p:nvSpPr>
          <p:cNvPr id="10" name="option-G"/>
          <p:cNvSpPr txBox="1"/>
          <p:nvPr/>
        </p:nvSpPr>
        <p:spPr>
          <a:xfrm>
            <a:off x="4681727" y="2882676"/>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G. 年18ドル、22.5%</a:t>
            </a:r>
          </a:p>
        </p:txBody>
      </p:sp>
      <p:sp>
        <p:nvSpPr>
          <p:cNvPr id="11" name="option-C"/>
          <p:cNvSpPr txBox="1"/>
          <p:nvPr/>
        </p:nvSpPr>
        <p:spPr>
          <a:xfrm>
            <a:off x="704088" y="3153466"/>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 年17ドル、21.25%</a:t>
            </a:r>
          </a:p>
        </p:txBody>
      </p:sp>
      <p:sp>
        <p:nvSpPr>
          <p:cNvPr id="12" name="option-H"/>
          <p:cNvSpPr txBox="1"/>
          <p:nvPr/>
        </p:nvSpPr>
        <p:spPr>
          <a:xfrm>
            <a:off x="4681727" y="3153466"/>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H. 年16ドル、20%</a:t>
            </a:r>
          </a:p>
        </p:txBody>
      </p:sp>
      <p:sp>
        <p:nvSpPr>
          <p:cNvPr id="13" name="option-D"/>
          <p:cNvSpPr txBox="1"/>
          <p:nvPr/>
        </p:nvSpPr>
        <p:spPr>
          <a:xfrm>
            <a:off x="704088" y="3424243"/>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D. 年19ドル、23.75%</a:t>
            </a:r>
          </a:p>
        </p:txBody>
      </p:sp>
      <p:sp>
        <p:nvSpPr>
          <p:cNvPr id="14" name="option-I"/>
          <p:cNvSpPr txBox="1"/>
          <p:nvPr/>
        </p:nvSpPr>
        <p:spPr>
          <a:xfrm>
            <a:off x="4681727" y="3424243"/>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I. 年12.50ドル、15.6%</a:t>
            </a:r>
          </a:p>
        </p:txBody>
      </p:sp>
      <p:sp>
        <p:nvSpPr>
          <p:cNvPr id="15" name="option-E"/>
          <p:cNvSpPr txBox="1"/>
          <p:nvPr/>
        </p:nvSpPr>
        <p:spPr>
          <a:xfrm>
            <a:off x="704088" y="3695020"/>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E. 年14.75ドル、18.4%</a:t>
            </a:r>
          </a:p>
        </p:txBody>
      </p:sp>
      <p:sp>
        <p:nvSpPr>
          <p:cNvPr id="16" name="option-J"/>
          <p:cNvSpPr txBox="1"/>
          <p:nvPr/>
        </p:nvSpPr>
        <p:spPr>
          <a:xfrm>
            <a:off x="4656327" y="3695020"/>
            <a:ext cx="3829304" cy="477461"/>
          </a:xfrm>
          <a:prstGeom prst="rect">
            <a:avLst/>
          </a:prstGeom>
          <a:noFill/>
        </p:spPr>
        <p:txBody>
          <a:bodyPr wrap="square" lIns="2540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J. 年20ドル、25%</a:t>
            </a:r>
          </a:p>
        </p:txBody>
      </p:sp>
      <p:sp>
        <p:nvSpPr>
          <p:cNvPr id="17" name="answer"/>
          <p:cNvSpPr txBox="1"/>
          <p:nvPr/>
        </p:nvSpPr>
        <p:spPr>
          <a:xfrm>
            <a:off x="594360" y="4010480"/>
            <a:ext cx="7955279" cy="444500"/>
          </a:xfrm>
          <a:prstGeom prst="rect">
            <a:avLst/>
          </a:prstGeom>
          <a:noFill/>
        </p:spPr>
        <p:txBody>
          <a:bodyPr wrap="square" lIns="0" rIns="0" tIns="0" bIns="0">
            <a:noAutofit/>
          </a:bodyPr>
          <a:lstStyle/>
          <a:p>
            <a:pPr algn="l">
              <a:lnSpc>
                <a:spcPts val="246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正解：B．年16.25ドル、20.3%</a:t>
            </a:r>
          </a:p>
        </p:txBody>
      </p:sp>
      <p:sp>
        <p:nvSpPr>
          <p:cNvPr id="18"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19"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例10：ヒトの二倍体染色体数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分野の広がりを示す追加例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設問原文</a:t>
            </a:r>
          </a:p>
        </p:txBody>
      </p:sp>
      <p:sp>
        <p:nvSpPr>
          <p:cNvPr id="5" name="original-question"/>
          <p:cNvSpPr txBox="1"/>
          <p:nvPr/>
        </p:nvSpPr>
        <p:spPr>
          <a:xfrm>
            <a:off x="594360" y="1591056"/>
            <a:ext cx="7955279" cy="294893"/>
          </a:xfrm>
          <a:prstGeom prst="rect">
            <a:avLst/>
          </a:prstGeom>
          <a:noFill/>
        </p:spPr>
        <p:txBody>
          <a:bodyPr wrap="square" lIns="0" rIns="0" tIns="0" bIns="0">
            <a:noAutofit/>
          </a:bodyPr>
          <a:lstStyle/>
          <a:p>
            <a:pPr algn="l">
              <a:lnSpc>
                <a:spcPts val="2033"/>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normal human chromosome diploid number is:</a:t>
            </a:r>
          </a:p>
        </p:txBody>
      </p:sp>
      <p:sp>
        <p:nvSpPr>
          <p:cNvPr id="6" name="japanese-question"/>
          <p:cNvSpPr txBox="1"/>
          <p:nvPr/>
        </p:nvSpPr>
        <p:spPr>
          <a:xfrm>
            <a:off x="594360" y="1959102"/>
            <a:ext cx="7955279" cy="327533"/>
          </a:xfrm>
          <a:prstGeom prst="rect">
            <a:avLst/>
          </a:prstGeom>
          <a:noFill/>
        </p:spPr>
        <p:txBody>
          <a:bodyPr wrap="square" lIns="0" rIns="0" tIns="0" bIns="0">
            <a:noAutofit/>
          </a:bodyPr>
          <a:lstStyle/>
          <a:p>
            <a:pPr algn="l">
              <a:lnSpc>
                <a:spcPts val="2147"/>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正常なヒトの二倍体の染色体数はいくつか。</a:t>
            </a:r>
          </a:p>
        </p:txBody>
      </p:sp>
      <p:sp>
        <p:nvSpPr>
          <p:cNvPr id="7" name="option-A"/>
          <p:cNvSpPr txBox="1"/>
          <p:nvPr/>
        </p:nvSpPr>
        <p:spPr>
          <a:xfrm>
            <a:off x="704088" y="2361574"/>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48</a:t>
            </a:r>
          </a:p>
        </p:txBody>
      </p:sp>
      <p:sp>
        <p:nvSpPr>
          <p:cNvPr id="8" name="option-F"/>
          <p:cNvSpPr txBox="1"/>
          <p:nvPr/>
        </p:nvSpPr>
        <p:spPr>
          <a:xfrm>
            <a:off x="4681727" y="2361574"/>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 40</a:t>
            </a:r>
          </a:p>
        </p:txBody>
      </p:sp>
      <p:sp>
        <p:nvSpPr>
          <p:cNvPr id="9" name="option-B"/>
          <p:cNvSpPr txBox="1"/>
          <p:nvPr/>
        </p:nvSpPr>
        <p:spPr>
          <a:xfrm>
            <a:off x="704088" y="2618864"/>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B. 42</a:t>
            </a:r>
          </a:p>
        </p:txBody>
      </p:sp>
      <p:sp>
        <p:nvSpPr>
          <p:cNvPr id="10" name="option-G"/>
          <p:cNvSpPr txBox="1"/>
          <p:nvPr/>
        </p:nvSpPr>
        <p:spPr>
          <a:xfrm>
            <a:off x="4681727" y="2618864"/>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G. 24</a:t>
            </a:r>
          </a:p>
        </p:txBody>
      </p:sp>
      <p:sp>
        <p:nvSpPr>
          <p:cNvPr id="11" name="option-C"/>
          <p:cNvSpPr txBox="1"/>
          <p:nvPr/>
        </p:nvSpPr>
        <p:spPr>
          <a:xfrm>
            <a:off x="704088" y="2876140"/>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 22</a:t>
            </a:r>
          </a:p>
        </p:txBody>
      </p:sp>
      <p:sp>
        <p:nvSpPr>
          <p:cNvPr id="12" name="option-H"/>
          <p:cNvSpPr txBox="1"/>
          <p:nvPr/>
        </p:nvSpPr>
        <p:spPr>
          <a:xfrm>
            <a:off x="4681727" y="2876140"/>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H. 46</a:t>
            </a:r>
          </a:p>
        </p:txBody>
      </p:sp>
      <p:sp>
        <p:nvSpPr>
          <p:cNvPr id="13" name="option-D"/>
          <p:cNvSpPr txBox="1"/>
          <p:nvPr/>
        </p:nvSpPr>
        <p:spPr>
          <a:xfrm>
            <a:off x="704088" y="3133430"/>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 50</a:t>
            </a:r>
          </a:p>
        </p:txBody>
      </p:sp>
      <p:sp>
        <p:nvSpPr>
          <p:cNvPr id="14" name="option-I"/>
          <p:cNvSpPr txBox="1"/>
          <p:nvPr/>
        </p:nvSpPr>
        <p:spPr>
          <a:xfrm>
            <a:off x="4681727" y="3133430"/>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44</a:t>
            </a:r>
          </a:p>
        </p:txBody>
      </p:sp>
      <p:sp>
        <p:nvSpPr>
          <p:cNvPr id="15" name="option-E"/>
          <p:cNvSpPr txBox="1"/>
          <p:nvPr/>
        </p:nvSpPr>
        <p:spPr>
          <a:xfrm>
            <a:off x="704088" y="3390706"/>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 47</a:t>
            </a:r>
          </a:p>
        </p:txBody>
      </p:sp>
      <p:sp>
        <p:nvSpPr>
          <p:cNvPr id="16" name="option-J"/>
          <p:cNvSpPr txBox="1"/>
          <p:nvPr/>
        </p:nvSpPr>
        <p:spPr>
          <a:xfrm>
            <a:off x="4656327" y="3390706"/>
            <a:ext cx="3829304" cy="438353"/>
          </a:xfrm>
          <a:prstGeom prst="rect">
            <a:avLst/>
          </a:prstGeom>
          <a:noFill/>
        </p:spPr>
        <p:txBody>
          <a:bodyPr wrap="square" lIns="2540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J. 23</a:t>
            </a:r>
          </a:p>
        </p:txBody>
      </p:sp>
      <p:sp>
        <p:nvSpPr>
          <p:cNvPr id="17" name="answer"/>
          <p:cNvSpPr txBox="1"/>
          <p:nvPr/>
        </p:nvSpPr>
        <p:spPr>
          <a:xfrm>
            <a:off x="594360" y="3653318"/>
            <a:ext cx="7955279" cy="444500"/>
          </a:xfrm>
          <a:prstGeom prst="rect">
            <a:avLst/>
          </a:prstGeom>
          <a:noFill/>
        </p:spPr>
        <p:txBody>
          <a:bodyPr wrap="square" lIns="0" rIns="0" tIns="0" bIns="0">
            <a:noAutofit/>
          </a:bodyPr>
          <a:lstStyle/>
          <a:p>
            <a:pPr algn="l">
              <a:lnSpc>
                <a:spcPts val="246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正解：H．46</a:t>
            </a:r>
          </a:p>
        </p:txBody>
      </p:sp>
      <p:sp>
        <p:nvSpPr>
          <p:cNvPr id="18"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19"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例11：マラパ洞窟のヒト科動物の食性</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分野の広がりを示す追加例</a:t>
            </a:r>
          </a:p>
        </p:txBody>
      </p:sp>
      <p:sp>
        <p:nvSpPr>
          <p:cNvPr id="5" name="quote-background"/>
          <p:cNvSpPr/>
          <p:nvPr/>
        </p:nvSpPr>
        <p:spPr>
          <a:xfrm>
            <a:off x="548640" y="1445768"/>
            <a:ext cx="8046720" cy="3139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riginal-question"/>
          <p:cNvSpPr txBox="1"/>
          <p:nvPr/>
        </p:nvSpPr>
        <p:spPr>
          <a:xfrm>
            <a:off x="713232" y="1518920"/>
            <a:ext cx="7717536" cy="737616"/>
          </a:xfrm>
          <a:prstGeom prst="rect">
            <a:avLst/>
          </a:prstGeom>
          <a:noFill/>
        </p:spPr>
        <p:txBody>
          <a:bodyPr wrap="square" lIns="0" rIns="0" tIns="0" bIns="0">
            <a:noAutofit/>
          </a:bodyPr>
          <a:lstStyle/>
          <a:p>
            <a:pPr algn="l">
              <a:lnSpc>
                <a:spcPts val="179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Analysis of the teeth of a hominid species discovered in Malapa Cave in South Africa, dating just after 2 million years ago, indicates a diet that consisted primarily of:</a:t>
            </a:r>
          </a:p>
        </p:txBody>
      </p:sp>
      <p:sp>
        <p:nvSpPr>
          <p:cNvPr id="7" name="option-A"/>
          <p:cNvSpPr txBox="1"/>
          <p:nvPr/>
        </p:nvSpPr>
        <p:spPr>
          <a:xfrm>
            <a:off x="704088" y="2324130"/>
            <a:ext cx="3803904" cy="403533"/>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A. meat, fish, and some plants.</a:t>
            </a:r>
          </a:p>
        </p:txBody>
      </p:sp>
      <p:sp>
        <p:nvSpPr>
          <p:cNvPr id="8" name="option-F"/>
          <p:cNvSpPr txBox="1"/>
          <p:nvPr/>
        </p:nvSpPr>
        <p:spPr>
          <a:xfrm>
            <a:off x="4681727" y="2324130"/>
            <a:ext cx="3803904" cy="620983"/>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F. C4 grasses that may have included wild wheat.</a:t>
            </a:r>
          </a:p>
        </p:txBody>
      </p:sp>
      <p:sp>
        <p:nvSpPr>
          <p:cNvPr id="9" name="option-B"/>
          <p:cNvSpPr txBox="1"/>
          <p:nvPr/>
        </p:nvSpPr>
        <p:spPr>
          <a:xfrm>
            <a:off x="704088" y="2771462"/>
            <a:ext cx="3803904" cy="620970"/>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B. primarily C3 plants that included barley and oats.</a:t>
            </a:r>
          </a:p>
        </p:txBody>
      </p:sp>
      <p:sp>
        <p:nvSpPr>
          <p:cNvPr id="10" name="option-G"/>
          <p:cNvSpPr txBox="1"/>
          <p:nvPr/>
        </p:nvSpPr>
        <p:spPr>
          <a:xfrm>
            <a:off x="4681727" y="2771462"/>
            <a:ext cx="3803904" cy="403533"/>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G. fruits, leaves, and C3 plants.</a:t>
            </a:r>
          </a:p>
        </p:txBody>
      </p:sp>
      <p:sp>
        <p:nvSpPr>
          <p:cNvPr id="11" name="option-C"/>
          <p:cNvSpPr txBox="1"/>
          <p:nvPr/>
        </p:nvSpPr>
        <p:spPr>
          <a:xfrm>
            <a:off x="704088" y="3219162"/>
            <a:ext cx="3803904" cy="620983"/>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C. large quantities of insects and small mammals.</a:t>
            </a:r>
          </a:p>
        </p:txBody>
      </p:sp>
      <p:sp>
        <p:nvSpPr>
          <p:cNvPr id="12" name="option-H"/>
          <p:cNvSpPr txBox="1"/>
          <p:nvPr/>
        </p:nvSpPr>
        <p:spPr>
          <a:xfrm>
            <a:off x="4681727" y="3219162"/>
            <a:ext cx="3803904" cy="620983"/>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H. meat derived from carnivorous mammals.</a:t>
            </a:r>
          </a:p>
        </p:txBody>
      </p:sp>
      <p:sp>
        <p:nvSpPr>
          <p:cNvPr id="13" name="option-D"/>
          <p:cNvSpPr txBox="1"/>
          <p:nvPr/>
        </p:nvSpPr>
        <p:spPr>
          <a:xfrm>
            <a:off x="704088" y="3666850"/>
            <a:ext cx="3803904" cy="620970"/>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D. a balanced diet of fruits, vegetables, meat, and fish.</a:t>
            </a:r>
          </a:p>
        </p:txBody>
      </p:sp>
      <p:sp>
        <p:nvSpPr>
          <p:cNvPr id="14" name="option-I"/>
          <p:cNvSpPr txBox="1"/>
          <p:nvPr/>
        </p:nvSpPr>
        <p:spPr>
          <a:xfrm>
            <a:off x="4681727" y="3666850"/>
            <a:ext cx="3803904" cy="403533"/>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I. nuts, seeds, and roots.</a:t>
            </a:r>
          </a:p>
        </p:txBody>
      </p:sp>
      <p:sp>
        <p:nvSpPr>
          <p:cNvPr id="15" name="option-E"/>
          <p:cNvSpPr txBox="1"/>
          <p:nvPr/>
        </p:nvSpPr>
        <p:spPr>
          <a:xfrm>
            <a:off x="704088" y="4114194"/>
            <a:ext cx="3803904" cy="620982"/>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E. primarily C4 plants that included corn and potatoes.</a:t>
            </a:r>
          </a:p>
        </p:txBody>
      </p:sp>
      <p:sp>
        <p:nvSpPr>
          <p:cNvPr id="16" name="option-J"/>
          <p:cNvSpPr txBox="1"/>
          <p:nvPr/>
        </p:nvSpPr>
        <p:spPr>
          <a:xfrm>
            <a:off x="4656327" y="4114194"/>
            <a:ext cx="3829304" cy="403533"/>
          </a:xfrm>
          <a:prstGeom prst="rect">
            <a:avLst/>
          </a:prstGeom>
          <a:noFill/>
        </p:spPr>
        <p:txBody>
          <a:bodyPr wrap="square" lIns="2540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J. primarily aquatic plants and algae.</a:t>
            </a:r>
          </a:p>
        </p:txBody>
      </p:sp>
      <p:sp>
        <p:nvSpPr>
          <p:cNvPr id="17"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18"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分野の広がりを示す追加例</a:t>
            </a:r>
          </a:p>
        </p:txBody>
      </p:sp>
      <p:sp>
        <p:nvSpPr>
          <p:cNvPr id="4" name="TextBox 3"/>
          <p:cNvSpPr txBox="1"/>
          <p:nvPr/>
        </p:nvSpPr>
        <p:spPr>
          <a:xfrm>
            <a:off x="548640" y="1298448"/>
            <a:ext cx="8046720" cy="21031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問題の日本語訳（全文）</a:t>
            </a:r>
          </a:p>
        </p:txBody>
      </p:sp>
      <p:sp>
        <p:nvSpPr>
          <p:cNvPr id="5" name="quote-background"/>
          <p:cNvSpPr/>
          <p:nvPr/>
        </p:nvSpPr>
        <p:spPr>
          <a:xfrm>
            <a:off x="548640" y="1572768"/>
            <a:ext cx="8046720" cy="245048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japanese-question"/>
          <p:cNvSpPr txBox="1"/>
          <p:nvPr/>
        </p:nvSpPr>
        <p:spPr>
          <a:xfrm>
            <a:off x="713232" y="1645920"/>
            <a:ext cx="7717536" cy="510032"/>
          </a:xfrm>
          <a:prstGeom prst="rect">
            <a:avLst/>
          </a:prstGeom>
          <a:noFill/>
        </p:spPr>
        <p:txBody>
          <a:bodyPr wrap="square" lIns="0" rIns="0" tIns="0" bIns="0">
            <a:noAutofit/>
          </a:bodyPr>
          <a:lstStyle/>
          <a:p>
            <a:pPr algn="l">
              <a:lnSpc>
                <a:spcPts val="179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南アフリカのマラパ洞窟で見つかった、200万年前より少し後のヒト科動物の一種の歯を分析すると、主に何を食べていたと考えられるか。</a:t>
            </a:r>
          </a:p>
        </p:txBody>
      </p:sp>
      <p:sp>
        <p:nvSpPr>
          <p:cNvPr id="7" name="option-A"/>
          <p:cNvSpPr txBox="1"/>
          <p:nvPr/>
        </p:nvSpPr>
        <p:spPr>
          <a:xfrm>
            <a:off x="704088" y="2241006"/>
            <a:ext cx="3803904" cy="422009"/>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A. 肉、魚、および一部の植物。</a:t>
            </a:r>
          </a:p>
        </p:txBody>
      </p:sp>
      <p:sp>
        <p:nvSpPr>
          <p:cNvPr id="8" name="option-F"/>
          <p:cNvSpPr txBox="1"/>
          <p:nvPr/>
        </p:nvSpPr>
        <p:spPr>
          <a:xfrm>
            <a:off x="4681727" y="2241006"/>
            <a:ext cx="3803904" cy="638443"/>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F. 野生のコムギを含んだ可能性があるC4イネ科植物。</a:t>
            </a:r>
          </a:p>
        </p:txBody>
      </p:sp>
      <p:sp>
        <p:nvSpPr>
          <p:cNvPr id="9" name="option-B"/>
          <p:cNvSpPr txBox="1"/>
          <p:nvPr/>
        </p:nvSpPr>
        <p:spPr>
          <a:xfrm>
            <a:off x="704088" y="2688693"/>
            <a:ext cx="3803904" cy="638431"/>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B. 主にオオムギやエンバクを含むC3植物。</a:t>
            </a:r>
          </a:p>
        </p:txBody>
      </p:sp>
      <p:sp>
        <p:nvSpPr>
          <p:cNvPr id="10" name="option-G"/>
          <p:cNvSpPr txBox="1"/>
          <p:nvPr/>
        </p:nvSpPr>
        <p:spPr>
          <a:xfrm>
            <a:off x="4681727" y="2688693"/>
            <a:ext cx="3803904" cy="422009"/>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G. 果物、葉、およびC3植物。</a:t>
            </a:r>
          </a:p>
        </p:txBody>
      </p:sp>
      <p:sp>
        <p:nvSpPr>
          <p:cNvPr id="11" name="option-C"/>
          <p:cNvSpPr txBox="1"/>
          <p:nvPr/>
        </p:nvSpPr>
        <p:spPr>
          <a:xfrm>
            <a:off x="704088" y="3136039"/>
            <a:ext cx="3803904" cy="422009"/>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C. 大量の昆虫と小型哺乳類。</a:t>
            </a:r>
          </a:p>
        </p:txBody>
      </p:sp>
      <p:sp>
        <p:nvSpPr>
          <p:cNvPr id="12" name="option-H"/>
          <p:cNvSpPr txBox="1"/>
          <p:nvPr/>
        </p:nvSpPr>
        <p:spPr>
          <a:xfrm>
            <a:off x="4681727" y="3136039"/>
            <a:ext cx="3803904" cy="422009"/>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H. 肉食哺乳類に由来する肉。</a:t>
            </a:r>
          </a:p>
        </p:txBody>
      </p:sp>
      <p:sp>
        <p:nvSpPr>
          <p:cNvPr id="13" name="option-D"/>
          <p:cNvSpPr txBox="1"/>
          <p:nvPr/>
        </p:nvSpPr>
        <p:spPr>
          <a:xfrm>
            <a:off x="704088" y="3366328"/>
            <a:ext cx="3803904" cy="422009"/>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D. 果物、野菜、肉、魚の均衡した食事。</a:t>
            </a:r>
          </a:p>
        </p:txBody>
      </p:sp>
      <p:sp>
        <p:nvSpPr>
          <p:cNvPr id="14" name="option-I"/>
          <p:cNvSpPr txBox="1"/>
          <p:nvPr/>
        </p:nvSpPr>
        <p:spPr>
          <a:xfrm>
            <a:off x="4681727" y="3366328"/>
            <a:ext cx="3803904" cy="422009"/>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I. 木の実、種子、および根。</a:t>
            </a:r>
          </a:p>
        </p:txBody>
      </p:sp>
      <p:sp>
        <p:nvSpPr>
          <p:cNvPr id="15" name="option-E"/>
          <p:cNvSpPr txBox="1"/>
          <p:nvPr/>
        </p:nvSpPr>
        <p:spPr>
          <a:xfrm>
            <a:off x="704088" y="3596236"/>
            <a:ext cx="3803904" cy="639446"/>
          </a:xfrm>
          <a:prstGeom prst="rect">
            <a:avLst/>
          </a:prstGeom>
          <a:noFill/>
        </p:spPr>
        <p:txBody>
          <a:bodyPr wrap="square" lIns="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E. 主にトウモロコシやジャガイモを含むC4植物。</a:t>
            </a:r>
          </a:p>
        </p:txBody>
      </p:sp>
      <p:sp>
        <p:nvSpPr>
          <p:cNvPr id="16" name="option-J"/>
          <p:cNvSpPr txBox="1"/>
          <p:nvPr/>
        </p:nvSpPr>
        <p:spPr>
          <a:xfrm>
            <a:off x="4656327" y="3596236"/>
            <a:ext cx="3829304" cy="422009"/>
          </a:xfrm>
          <a:prstGeom prst="rect">
            <a:avLst/>
          </a:prstGeom>
          <a:noFill/>
        </p:spPr>
        <p:txBody>
          <a:bodyPr wrap="square" lIns="25400" rIns="0" tIns="0" bIns="0">
            <a:noAutofit/>
          </a:bodyPr>
          <a:lstStyle/>
          <a:p>
            <a:pPr algn="l">
              <a:lnSpc>
                <a:spcPts val="171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J. 主に水生植物と藻類。</a:t>
            </a:r>
          </a:p>
        </p:txBody>
      </p:sp>
      <p:sp>
        <p:nvSpPr>
          <p:cNvPr id="17" name="answer"/>
          <p:cNvSpPr txBox="1"/>
          <p:nvPr/>
        </p:nvSpPr>
        <p:spPr>
          <a:xfrm>
            <a:off x="594360" y="4099451"/>
            <a:ext cx="7955279" cy="444500"/>
          </a:xfrm>
          <a:prstGeom prst="rect">
            <a:avLst/>
          </a:prstGeom>
          <a:noFill/>
        </p:spPr>
        <p:txBody>
          <a:bodyPr wrap="square" lIns="0" rIns="0" tIns="0" bIns="0">
            <a:noAutofit/>
          </a:bodyPr>
          <a:lstStyle/>
          <a:p>
            <a:pPr algn="l">
              <a:lnSpc>
                <a:spcPts val="246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正解：G．果物、葉、およびC3植物。</a:t>
            </a:r>
          </a:p>
        </p:txBody>
      </p:sp>
      <p:sp>
        <p:nvSpPr>
          <p:cNvPr id="18"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19"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例12：嘲笑によって論証を退ける誤謬</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分野の広がりを示す追加例</a:t>
            </a:r>
          </a:p>
        </p:txBody>
      </p:sp>
      <p:sp>
        <p:nvSpPr>
          <p:cNvPr id="4" name="TextBox 3"/>
          <p:cNvSpPr txBox="1"/>
          <p:nvPr/>
        </p:nvSpPr>
        <p:spPr>
          <a:xfrm>
            <a:off x="548640" y="1298448"/>
            <a:ext cx="8046720" cy="21031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問題の英語原文（全文）</a:t>
            </a:r>
          </a:p>
        </p:txBody>
      </p:sp>
      <p:sp>
        <p:nvSpPr>
          <p:cNvPr id="5" name="quote-background"/>
          <p:cNvSpPr/>
          <p:nvPr/>
        </p:nvSpPr>
        <p:spPr>
          <a:xfrm>
            <a:off x="548640" y="1572768"/>
            <a:ext cx="8046720" cy="227544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riginal-question"/>
          <p:cNvSpPr txBox="1"/>
          <p:nvPr/>
        </p:nvSpPr>
        <p:spPr>
          <a:xfrm>
            <a:off x="713232" y="1645920"/>
            <a:ext cx="7717536" cy="822960"/>
          </a:xfrm>
          <a:prstGeom prst="rect">
            <a:avLst/>
          </a:prstGeom>
          <a:noFill/>
        </p:spPr>
        <p:txBody>
          <a:bodyPr wrap="square" lIns="0" rIns="0" tIns="0" bIns="0">
            <a:noAutofit/>
          </a:bodyPr>
          <a:lstStyle/>
          <a:p>
            <a:pPr algn="l">
              <a:lnSpc>
                <a:spcPts val="201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When someone responds to your argument with a sarcastic statement such as, "Yeah, right. Like that's ever going to happen," that person may have committed which fallacy?</a:t>
            </a:r>
          </a:p>
        </p:txBody>
      </p:sp>
      <p:sp>
        <p:nvSpPr>
          <p:cNvPr id="7" name="option-A"/>
          <p:cNvSpPr txBox="1"/>
          <p:nvPr/>
        </p:nvSpPr>
        <p:spPr>
          <a:xfrm>
            <a:off x="704088" y="2543924"/>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tu quoque</a:t>
            </a:r>
          </a:p>
        </p:txBody>
      </p:sp>
      <p:sp>
        <p:nvSpPr>
          <p:cNvPr id="8" name="option-F"/>
          <p:cNvSpPr txBox="1"/>
          <p:nvPr/>
        </p:nvSpPr>
        <p:spPr>
          <a:xfrm>
            <a:off x="4681727" y="2543924"/>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 appeal to spite</a:t>
            </a:r>
          </a:p>
        </p:txBody>
      </p:sp>
      <p:sp>
        <p:nvSpPr>
          <p:cNvPr id="9" name="option-B"/>
          <p:cNvSpPr txBox="1"/>
          <p:nvPr/>
        </p:nvSpPr>
        <p:spPr>
          <a:xfrm>
            <a:off x="704088" y="2801214"/>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B. appeal to ignorance</a:t>
            </a:r>
          </a:p>
        </p:txBody>
      </p:sp>
      <p:sp>
        <p:nvSpPr>
          <p:cNvPr id="10" name="option-G"/>
          <p:cNvSpPr txBox="1"/>
          <p:nvPr/>
        </p:nvSpPr>
        <p:spPr>
          <a:xfrm>
            <a:off x="4681727" y="2801214"/>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G. horse laugh</a:t>
            </a:r>
          </a:p>
        </p:txBody>
      </p:sp>
      <p:sp>
        <p:nvSpPr>
          <p:cNvPr id="11" name="option-C"/>
          <p:cNvSpPr txBox="1"/>
          <p:nvPr/>
        </p:nvSpPr>
        <p:spPr>
          <a:xfrm>
            <a:off x="704088" y="3058504"/>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 argumentum ad populum</a:t>
            </a:r>
          </a:p>
        </p:txBody>
      </p:sp>
      <p:sp>
        <p:nvSpPr>
          <p:cNvPr id="12" name="option-H"/>
          <p:cNvSpPr txBox="1"/>
          <p:nvPr/>
        </p:nvSpPr>
        <p:spPr>
          <a:xfrm>
            <a:off x="4681727" y="3058504"/>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H. slippery slope</a:t>
            </a:r>
          </a:p>
        </p:txBody>
      </p:sp>
      <p:sp>
        <p:nvSpPr>
          <p:cNvPr id="13" name="option-D"/>
          <p:cNvSpPr txBox="1"/>
          <p:nvPr/>
        </p:nvSpPr>
        <p:spPr>
          <a:xfrm>
            <a:off x="704088" y="3315780"/>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 false cause</a:t>
            </a:r>
          </a:p>
        </p:txBody>
      </p:sp>
      <p:sp>
        <p:nvSpPr>
          <p:cNvPr id="14" name="option-I"/>
          <p:cNvSpPr txBox="1"/>
          <p:nvPr/>
        </p:nvSpPr>
        <p:spPr>
          <a:xfrm>
            <a:off x="4681727" y="3315780"/>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straw man fallacy</a:t>
            </a:r>
          </a:p>
        </p:txBody>
      </p:sp>
      <p:sp>
        <p:nvSpPr>
          <p:cNvPr id="15" name="option-E"/>
          <p:cNvSpPr txBox="1"/>
          <p:nvPr/>
        </p:nvSpPr>
        <p:spPr>
          <a:xfrm>
            <a:off x="704088" y="3573070"/>
            <a:ext cx="3803904" cy="438353"/>
          </a:xfrm>
          <a:prstGeom prst="rect">
            <a:avLst/>
          </a:prstGeom>
          <a:noFill/>
        </p:spPr>
        <p:txBody>
          <a:bodyPr wrap="square" lIns="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 appeal to indignation</a:t>
            </a:r>
          </a:p>
        </p:txBody>
      </p:sp>
      <p:sp>
        <p:nvSpPr>
          <p:cNvPr id="16" name="option-J"/>
          <p:cNvSpPr txBox="1"/>
          <p:nvPr/>
        </p:nvSpPr>
        <p:spPr>
          <a:xfrm>
            <a:off x="4656327" y="3573070"/>
            <a:ext cx="3829304" cy="438353"/>
          </a:xfrm>
          <a:prstGeom prst="rect">
            <a:avLst/>
          </a:prstGeom>
          <a:noFill/>
        </p:spPr>
        <p:txBody>
          <a:bodyPr wrap="square" lIns="25400" rIns="0" tIns="0" bIns="0">
            <a:noAutofit/>
          </a:bodyPr>
          <a:lstStyle/>
          <a:p>
            <a:pPr algn="l">
              <a:lnSpc>
                <a:spcPts val="192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J. argumentum ad hominem</a:t>
            </a:r>
          </a:p>
        </p:txBody>
      </p:sp>
      <p:sp>
        <p:nvSpPr>
          <p:cNvPr id="17"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18"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分野の広がりを示す追加例</a:t>
            </a:r>
          </a:p>
        </p:txBody>
      </p:sp>
      <p:sp>
        <p:nvSpPr>
          <p:cNvPr id="4" name="TextBox 3"/>
          <p:cNvSpPr txBox="1"/>
          <p:nvPr/>
        </p:nvSpPr>
        <p:spPr>
          <a:xfrm>
            <a:off x="548640" y="1298448"/>
            <a:ext cx="8046720" cy="210312"/>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問題の日本語訳（全文）</a:t>
            </a:r>
          </a:p>
        </p:txBody>
      </p:sp>
      <p:sp>
        <p:nvSpPr>
          <p:cNvPr id="5" name="quote-background"/>
          <p:cNvSpPr/>
          <p:nvPr/>
        </p:nvSpPr>
        <p:spPr>
          <a:xfrm>
            <a:off x="548640" y="1572768"/>
            <a:ext cx="8046720" cy="20907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japanese-question"/>
          <p:cNvSpPr txBox="1"/>
          <p:nvPr/>
        </p:nvSpPr>
        <p:spPr>
          <a:xfrm>
            <a:off x="713232" y="1645920"/>
            <a:ext cx="7717536" cy="595376"/>
          </a:xfrm>
          <a:prstGeom prst="rect">
            <a:avLst/>
          </a:prstGeom>
          <a:noFill/>
        </p:spPr>
        <p:txBody>
          <a:bodyPr wrap="square" lIns="0" rIns="0" tIns="0" bIns="0">
            <a:noAutofit/>
          </a:bodyPr>
          <a:lstStyle/>
          <a:p>
            <a:pPr algn="l">
              <a:lnSpc>
                <a:spcPts val="2128"/>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論証に対して「はいはい。そんなことが起こるわけないでしょう」のような皮肉で返す人は、どの誤謬を犯している可能性があるか。</a:t>
            </a:r>
          </a:p>
        </p:txBody>
      </p:sp>
      <p:sp>
        <p:nvSpPr>
          <p:cNvPr id="7" name="option-A"/>
          <p:cNvSpPr txBox="1"/>
          <p:nvPr/>
        </p:nvSpPr>
        <p:spPr>
          <a:xfrm>
            <a:off x="704088" y="2340932"/>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 汝もまたの誤謬。</a:t>
            </a:r>
          </a:p>
        </p:txBody>
      </p:sp>
      <p:sp>
        <p:nvSpPr>
          <p:cNvPr id="8" name="option-F"/>
          <p:cNvSpPr txBox="1"/>
          <p:nvPr/>
        </p:nvSpPr>
        <p:spPr>
          <a:xfrm>
            <a:off x="4681727" y="2340932"/>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F. 悪意に訴える論証。</a:t>
            </a:r>
          </a:p>
        </p:txBody>
      </p:sp>
      <p:sp>
        <p:nvSpPr>
          <p:cNvPr id="9" name="option-B"/>
          <p:cNvSpPr txBox="1"/>
          <p:nvPr/>
        </p:nvSpPr>
        <p:spPr>
          <a:xfrm>
            <a:off x="704088" y="2611709"/>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B. 無知に訴える論証。</a:t>
            </a:r>
          </a:p>
        </p:txBody>
      </p:sp>
      <p:sp>
        <p:nvSpPr>
          <p:cNvPr id="10" name="option-G"/>
          <p:cNvSpPr txBox="1"/>
          <p:nvPr/>
        </p:nvSpPr>
        <p:spPr>
          <a:xfrm>
            <a:off x="4681727" y="2611709"/>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G. 嘲笑による論証。</a:t>
            </a:r>
          </a:p>
        </p:txBody>
      </p:sp>
      <p:sp>
        <p:nvSpPr>
          <p:cNvPr id="11" name="option-C"/>
          <p:cNvSpPr txBox="1"/>
          <p:nvPr/>
        </p:nvSpPr>
        <p:spPr>
          <a:xfrm>
            <a:off x="704088" y="2882854"/>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 大衆に訴える論証。</a:t>
            </a:r>
          </a:p>
        </p:txBody>
      </p:sp>
      <p:sp>
        <p:nvSpPr>
          <p:cNvPr id="12" name="option-H"/>
          <p:cNvSpPr txBox="1"/>
          <p:nvPr/>
        </p:nvSpPr>
        <p:spPr>
          <a:xfrm>
            <a:off x="4681727" y="2882854"/>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H. 滑りやすい坂の誤謬。</a:t>
            </a:r>
          </a:p>
        </p:txBody>
      </p:sp>
      <p:sp>
        <p:nvSpPr>
          <p:cNvPr id="13" name="option-D"/>
          <p:cNvSpPr txBox="1"/>
          <p:nvPr/>
        </p:nvSpPr>
        <p:spPr>
          <a:xfrm>
            <a:off x="704088" y="3153632"/>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D. 誤った因果関係。</a:t>
            </a:r>
          </a:p>
        </p:txBody>
      </p:sp>
      <p:sp>
        <p:nvSpPr>
          <p:cNvPr id="14" name="option-I"/>
          <p:cNvSpPr txBox="1"/>
          <p:nvPr/>
        </p:nvSpPr>
        <p:spPr>
          <a:xfrm>
            <a:off x="4681727" y="3153632"/>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I. 藁人形の誤謬。</a:t>
            </a:r>
          </a:p>
        </p:txBody>
      </p:sp>
      <p:sp>
        <p:nvSpPr>
          <p:cNvPr id="15" name="option-E"/>
          <p:cNvSpPr txBox="1"/>
          <p:nvPr/>
        </p:nvSpPr>
        <p:spPr>
          <a:xfrm>
            <a:off x="704088" y="3424421"/>
            <a:ext cx="3803904" cy="477461"/>
          </a:xfrm>
          <a:prstGeom prst="rect">
            <a:avLst/>
          </a:prstGeom>
          <a:noFill/>
        </p:spPr>
        <p:txBody>
          <a:bodyPr wrap="square" lIns="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E. 憤りに訴える論証。</a:t>
            </a:r>
          </a:p>
        </p:txBody>
      </p:sp>
      <p:sp>
        <p:nvSpPr>
          <p:cNvPr id="16" name="option-J"/>
          <p:cNvSpPr txBox="1"/>
          <p:nvPr/>
        </p:nvSpPr>
        <p:spPr>
          <a:xfrm>
            <a:off x="4656327" y="3424421"/>
            <a:ext cx="3829304" cy="477461"/>
          </a:xfrm>
          <a:prstGeom prst="rect">
            <a:avLst/>
          </a:prstGeom>
          <a:noFill/>
        </p:spPr>
        <p:txBody>
          <a:bodyPr wrap="square" lIns="25400" rIns="0" tIns="0" bIns="0">
            <a:noAutofit/>
          </a:bodyPr>
          <a:lstStyle/>
          <a:p>
            <a:pPr algn="l">
              <a:lnSpc>
                <a:spcPts val="2033"/>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J. 人身攻撃。</a:t>
            </a:r>
          </a:p>
        </p:txBody>
      </p:sp>
      <p:sp>
        <p:nvSpPr>
          <p:cNvPr id="17" name="answer"/>
          <p:cNvSpPr txBox="1"/>
          <p:nvPr/>
        </p:nvSpPr>
        <p:spPr>
          <a:xfrm>
            <a:off x="594360" y="3739767"/>
            <a:ext cx="7955279" cy="444500"/>
          </a:xfrm>
          <a:prstGeom prst="rect">
            <a:avLst/>
          </a:prstGeom>
          <a:noFill/>
        </p:spPr>
        <p:txBody>
          <a:bodyPr wrap="square" lIns="0" rIns="0" tIns="0" bIns="0">
            <a:noAutofit/>
          </a:bodyPr>
          <a:lstStyle/>
          <a:p>
            <a:pPr algn="l">
              <a:lnSpc>
                <a:spcPts val="246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正解：G．嘲笑による論証。</a:t>
            </a:r>
          </a:p>
        </p:txBody>
      </p:sp>
      <p:sp>
        <p:nvSpPr>
          <p:cNvPr id="18"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19"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例13：心理検査のT得点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分野の広がりを示す追加例</a:t>
            </a:r>
          </a:p>
        </p:txBody>
      </p:sp>
      <p:sp>
        <p:nvSpPr>
          <p:cNvPr id="5" name="quote-background"/>
          <p:cNvSpPr/>
          <p:nvPr/>
        </p:nvSpPr>
        <p:spPr>
          <a:xfrm>
            <a:off x="548640" y="1255268"/>
            <a:ext cx="8046720" cy="339631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riginal-question"/>
          <p:cNvSpPr txBox="1"/>
          <p:nvPr/>
        </p:nvSpPr>
        <p:spPr>
          <a:xfrm>
            <a:off x="713232" y="1328420"/>
            <a:ext cx="7717536" cy="737616"/>
          </a:xfrm>
          <a:prstGeom prst="rect">
            <a:avLst/>
          </a:prstGeom>
          <a:noFill/>
        </p:spPr>
        <p:txBody>
          <a:bodyPr wrap="square" lIns="0" rIns="0" tIns="0" bIns="0">
            <a:noAutofit/>
          </a:bodyPr>
          <a:lstStyle/>
          <a:p>
            <a:pPr algn="l">
              <a:lnSpc>
                <a:spcPts val="179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The STANDARD SCORES express raw score distance from mean by SD and considered the most satisfactory type of NR score. Which statement out of the following ones is about T-scores?</a:t>
            </a:r>
          </a:p>
        </p:txBody>
      </p:sp>
      <p:sp>
        <p:nvSpPr>
          <p:cNvPr id="7" name="option-A"/>
          <p:cNvSpPr txBox="1"/>
          <p:nvPr/>
        </p:nvSpPr>
        <p:spPr>
          <a:xfrm>
            <a:off x="704088" y="2133630"/>
            <a:ext cx="3803904" cy="620983"/>
          </a:xfrm>
          <a:prstGeom prst="rect">
            <a:avLst/>
          </a:prstGeom>
          <a:noFill/>
        </p:spPr>
        <p:txBody>
          <a:bodyPr wrap="square" lIns="0" rIns="0" tIns="0" bIns="0">
            <a:noAutofit/>
          </a:bodyPr>
          <a:lstStyle/>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A. M=0, SD=1, often used in research studies</a:t>
            </a:r>
          </a:p>
        </p:txBody>
      </p:sp>
      <p:sp>
        <p:nvSpPr>
          <p:cNvPr id="8" name="option-F"/>
          <p:cNvSpPr txBox="1"/>
          <p:nvPr/>
        </p:nvSpPr>
        <p:spPr>
          <a:xfrm>
            <a:off x="4681727" y="2133630"/>
            <a:ext cx="3803904" cy="620983"/>
          </a:xfrm>
          <a:prstGeom prst="rect">
            <a:avLst/>
          </a:prstGeom>
          <a:noFill/>
        </p:spPr>
        <p:txBody>
          <a:bodyPr wrap="square" lIns="0" rIns="0" tIns="0" bIns="0">
            <a:noAutofit/>
          </a:bodyPr>
          <a:lstStyle/>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F. M=100, SD=10, commonly used in IQ tests</a:t>
            </a:r>
          </a:p>
        </p:txBody>
      </p:sp>
      <p:sp>
        <p:nvSpPr>
          <p:cNvPr id="9" name="option-B"/>
          <p:cNvSpPr txBox="1"/>
          <p:nvPr/>
        </p:nvSpPr>
        <p:spPr>
          <a:xfrm>
            <a:off x="704088" y="2549648"/>
            <a:ext cx="3803904" cy="403533"/>
          </a:xfrm>
          <a:prstGeom prst="rect">
            <a:avLst/>
          </a:prstGeom>
          <a:noFill/>
        </p:spPr>
        <p:txBody>
          <a:bodyPr wrap="square" lIns="0" rIns="0" tIns="0" bIns="0">
            <a:noAutofit/>
          </a:bodyPr>
          <a:lstStyle/>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B. M=100, SD=15 or 16</a:t>
            </a:r>
          </a:p>
        </p:txBody>
      </p:sp>
      <p:sp>
        <p:nvSpPr>
          <p:cNvPr id="10" name="option-G"/>
          <p:cNvSpPr txBox="1"/>
          <p:nvPr/>
        </p:nvSpPr>
        <p:spPr>
          <a:xfrm>
            <a:off x="4681727" y="2549648"/>
            <a:ext cx="3803904" cy="620970"/>
          </a:xfrm>
          <a:prstGeom prst="rect">
            <a:avLst/>
          </a:prstGeom>
          <a:noFill/>
        </p:spPr>
        <p:txBody>
          <a:bodyPr wrap="square" lIns="0" rIns="0" tIns="0" bIns="0">
            <a:noAutofit/>
          </a:bodyPr>
          <a:lstStyle/>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G. M=100, SD=24, typically used in personality assessments</a:t>
            </a:r>
          </a:p>
        </p:txBody>
      </p:sp>
      <p:sp>
        <p:nvSpPr>
          <p:cNvPr id="11" name="option-C"/>
          <p:cNvSpPr txBox="1"/>
          <p:nvPr/>
        </p:nvSpPr>
        <p:spPr>
          <a:xfrm>
            <a:off x="704088" y="2966009"/>
            <a:ext cx="3803904" cy="620983"/>
          </a:xfrm>
          <a:prstGeom prst="rect">
            <a:avLst/>
          </a:prstGeom>
          <a:noFill/>
        </p:spPr>
        <p:txBody>
          <a:bodyPr wrap="square" lIns="0" rIns="0" tIns="0" bIns="0">
            <a:noAutofit/>
          </a:bodyPr>
          <a:lstStyle/>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C. They express raw scores in terms of percentiles</a:t>
            </a:r>
          </a:p>
        </p:txBody>
      </p:sp>
      <p:sp>
        <p:nvSpPr>
          <p:cNvPr id="12" name="option-H"/>
          <p:cNvSpPr txBox="1"/>
          <p:nvPr/>
        </p:nvSpPr>
        <p:spPr>
          <a:xfrm>
            <a:off x="4681727" y="2966009"/>
            <a:ext cx="3803904" cy="620983"/>
          </a:xfrm>
          <a:prstGeom prst="rect">
            <a:avLst/>
          </a:prstGeom>
          <a:noFill/>
        </p:spPr>
        <p:txBody>
          <a:bodyPr wrap="square" lIns="0" rIns="0" tIns="0" bIns="0">
            <a:noAutofit/>
          </a:bodyPr>
          <a:lstStyle/>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H. M=50, SD=10- it is used on many psychological tests, MMPI</a:t>
            </a:r>
          </a:p>
        </p:txBody>
      </p:sp>
      <p:sp>
        <p:nvSpPr>
          <p:cNvPr id="13" name="option-D"/>
          <p:cNvSpPr txBox="1"/>
          <p:nvPr/>
        </p:nvSpPr>
        <p:spPr>
          <a:xfrm>
            <a:off x="704088" y="3382359"/>
            <a:ext cx="3803904" cy="620970"/>
          </a:xfrm>
          <a:prstGeom prst="rect">
            <a:avLst/>
          </a:prstGeom>
          <a:noFill/>
        </p:spPr>
        <p:txBody>
          <a:bodyPr wrap="square" lIns="0" rIns="0" tIns="0" bIns="0">
            <a:noAutofit/>
          </a:bodyPr>
          <a:lstStyle/>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D. M=500, SD=100, often used in college entrance exams</a:t>
            </a:r>
          </a:p>
        </p:txBody>
      </p:sp>
      <p:sp>
        <p:nvSpPr>
          <p:cNvPr id="14" name="option-I"/>
          <p:cNvSpPr txBox="1"/>
          <p:nvPr/>
        </p:nvSpPr>
        <p:spPr>
          <a:xfrm>
            <a:off x="4681727" y="3382359"/>
            <a:ext cx="3803904" cy="620970"/>
          </a:xfrm>
          <a:prstGeom prst="rect">
            <a:avLst/>
          </a:prstGeom>
          <a:noFill/>
        </p:spPr>
        <p:txBody>
          <a:bodyPr wrap="square" lIns="0" rIns="0" tIns="0" bIns="0">
            <a:noAutofit/>
          </a:bodyPr>
          <a:lstStyle/>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I. They express raw scores in terms of ranks</a:t>
            </a:r>
          </a:p>
        </p:txBody>
      </p:sp>
      <p:sp>
        <p:nvSpPr>
          <p:cNvPr id="15" name="option-E"/>
          <p:cNvSpPr txBox="1"/>
          <p:nvPr/>
        </p:nvSpPr>
        <p:spPr>
          <a:xfrm>
            <a:off x="704088" y="3798389"/>
            <a:ext cx="3803904" cy="1055856"/>
          </a:xfrm>
          <a:prstGeom prst="rect">
            <a:avLst/>
          </a:prstGeom>
          <a:noFill/>
        </p:spPr>
        <p:txBody>
          <a:bodyPr wrap="square" lIns="0" rIns="0" tIns="0" bIns="0">
            <a:noAutofit/>
          </a:bodyPr>
          <a:lstStyle/>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E. Shows how many standard deviations a score is above or below the mean: a score of +1.0 means it’s 1 SD above the mean</a:t>
            </a:r>
          </a:p>
        </p:txBody>
      </p:sp>
      <p:sp>
        <p:nvSpPr>
          <p:cNvPr id="16" name="option-J"/>
          <p:cNvSpPr txBox="1"/>
          <p:nvPr/>
        </p:nvSpPr>
        <p:spPr>
          <a:xfrm>
            <a:off x="4656327" y="3798389"/>
            <a:ext cx="3829304" cy="403533"/>
          </a:xfrm>
          <a:prstGeom prst="rect">
            <a:avLst/>
          </a:prstGeom>
          <a:noFill/>
        </p:spPr>
        <p:txBody>
          <a:bodyPr wrap="square" lIns="25400" rIns="0" tIns="0" bIns="0">
            <a:noAutofit/>
          </a:bodyPr>
          <a:lstStyle/>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J. standard nine: M=5, SD=approx 2</a:t>
            </a:r>
          </a:p>
        </p:txBody>
      </p:sp>
      <p:sp>
        <p:nvSpPr>
          <p:cNvPr id="17"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18"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例13：日本語訳と正解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分野の広がりを示す追加例</a:t>
            </a:r>
          </a:p>
        </p:txBody>
      </p:sp>
      <p:sp>
        <p:nvSpPr>
          <p:cNvPr id="5" name="quote-background"/>
          <p:cNvSpPr/>
          <p:nvPr/>
        </p:nvSpPr>
        <p:spPr>
          <a:xfrm>
            <a:off x="548640" y="1179068"/>
            <a:ext cx="8046720" cy="270854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japanese-question"/>
          <p:cNvSpPr txBox="1"/>
          <p:nvPr/>
        </p:nvSpPr>
        <p:spPr>
          <a:xfrm>
            <a:off x="713232" y="1252220"/>
            <a:ext cx="7717536" cy="737616"/>
          </a:xfrm>
          <a:prstGeom prst="rect">
            <a:avLst/>
          </a:prstGeom>
          <a:noFill/>
        </p:spPr>
        <p:txBody>
          <a:bodyPr wrap="square" lIns="0" rIns="0" tIns="0" bIns="0">
            <a:noAutofit/>
          </a:bodyPr>
          <a:lstStyle/>
          <a:p>
            <a:pPr algn="l">
              <a:lnSpc>
                <a:spcPts val="179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標準得点は、平均からの素点の距離を標準偏差で表し、集団基準に準拠した得点の中で最も満足できる種類とされる。次のうちT得点について述べているものはどれか。</a:t>
            </a:r>
          </a:p>
        </p:txBody>
      </p:sp>
      <p:sp>
        <p:nvSpPr>
          <p:cNvPr id="7" name="option-A"/>
          <p:cNvSpPr txBox="1"/>
          <p:nvPr/>
        </p:nvSpPr>
        <p:spPr>
          <a:xfrm>
            <a:off x="704088" y="1848385"/>
            <a:ext cx="3803904" cy="638444"/>
          </a:xfrm>
          <a:prstGeom prst="rect">
            <a:avLst/>
          </a:prstGeom>
          <a:noFill/>
        </p:spPr>
        <p:txBody>
          <a:bodyPr wrap="square" lIns="0" rIns="0" tIns="0" bIns="0">
            <a:noAutofit/>
          </a:bodyPr>
          <a:lstStyle/>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A. 平均0、標準偏差1で、研究でよく使う。</a:t>
            </a:r>
          </a:p>
        </p:txBody>
      </p:sp>
      <p:sp>
        <p:nvSpPr>
          <p:cNvPr id="8" name="option-F"/>
          <p:cNvSpPr txBox="1"/>
          <p:nvPr/>
        </p:nvSpPr>
        <p:spPr>
          <a:xfrm>
            <a:off x="4681727" y="1848385"/>
            <a:ext cx="3803904" cy="638444"/>
          </a:xfrm>
          <a:prstGeom prst="rect">
            <a:avLst/>
          </a:prstGeom>
          <a:noFill/>
        </p:spPr>
        <p:txBody>
          <a:bodyPr wrap="square" lIns="0" rIns="0" tIns="0" bIns="0">
            <a:noAutofit/>
          </a:bodyPr>
          <a:lstStyle/>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F. 平均100、標準偏差10で、知能検査によく使う。</a:t>
            </a:r>
          </a:p>
        </p:txBody>
      </p:sp>
      <p:sp>
        <p:nvSpPr>
          <p:cNvPr id="9" name="option-B"/>
          <p:cNvSpPr txBox="1"/>
          <p:nvPr/>
        </p:nvSpPr>
        <p:spPr>
          <a:xfrm>
            <a:off x="704088" y="2264403"/>
            <a:ext cx="3803904" cy="422009"/>
          </a:xfrm>
          <a:prstGeom prst="rect">
            <a:avLst/>
          </a:prstGeom>
          <a:noFill/>
        </p:spPr>
        <p:txBody>
          <a:bodyPr wrap="square" lIns="0" rIns="0" tIns="0" bIns="0">
            <a:noAutofit/>
          </a:bodyPr>
          <a:lstStyle/>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B. 平均100、標準偏差15または16。</a:t>
            </a:r>
          </a:p>
        </p:txBody>
      </p:sp>
      <p:sp>
        <p:nvSpPr>
          <p:cNvPr id="10" name="option-G"/>
          <p:cNvSpPr txBox="1"/>
          <p:nvPr/>
        </p:nvSpPr>
        <p:spPr>
          <a:xfrm>
            <a:off x="4681727" y="2264403"/>
            <a:ext cx="3803904" cy="638431"/>
          </a:xfrm>
          <a:prstGeom prst="rect">
            <a:avLst/>
          </a:prstGeom>
          <a:noFill/>
        </p:spPr>
        <p:txBody>
          <a:bodyPr wrap="square" lIns="0" rIns="0" tIns="0" bIns="0">
            <a:noAutofit/>
          </a:bodyPr>
          <a:lstStyle/>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G. 平均100、標準偏差24で、人格評価によく使う。</a:t>
            </a:r>
          </a:p>
        </p:txBody>
      </p:sp>
      <p:sp>
        <p:nvSpPr>
          <p:cNvPr id="11" name="option-C"/>
          <p:cNvSpPr txBox="1"/>
          <p:nvPr/>
        </p:nvSpPr>
        <p:spPr>
          <a:xfrm>
            <a:off x="704088" y="2680765"/>
            <a:ext cx="3803904" cy="422009"/>
          </a:xfrm>
          <a:prstGeom prst="rect">
            <a:avLst/>
          </a:prstGeom>
          <a:noFill/>
        </p:spPr>
        <p:txBody>
          <a:bodyPr wrap="square" lIns="0" rIns="0" tIns="0" bIns="0">
            <a:noAutofit/>
          </a:bodyPr>
          <a:lstStyle/>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C. 素点を百分位数で表す。</a:t>
            </a:r>
          </a:p>
        </p:txBody>
      </p:sp>
      <p:sp>
        <p:nvSpPr>
          <p:cNvPr id="12" name="option-H"/>
          <p:cNvSpPr txBox="1"/>
          <p:nvPr/>
        </p:nvSpPr>
        <p:spPr>
          <a:xfrm>
            <a:off x="4681727" y="2680765"/>
            <a:ext cx="3803904" cy="639459"/>
          </a:xfrm>
          <a:prstGeom prst="rect">
            <a:avLst/>
          </a:prstGeom>
          <a:noFill/>
        </p:spPr>
        <p:txBody>
          <a:bodyPr wrap="square" lIns="0" rIns="0" tIns="0" bIns="0">
            <a:noAutofit/>
          </a:bodyPr>
          <a:lstStyle/>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H. 平均50、標準偏差10で、多くの心理検査やMMPIで使う。</a:t>
            </a:r>
          </a:p>
        </p:txBody>
      </p:sp>
      <p:sp>
        <p:nvSpPr>
          <p:cNvPr id="13" name="option-D"/>
          <p:cNvSpPr txBox="1"/>
          <p:nvPr/>
        </p:nvSpPr>
        <p:spPr>
          <a:xfrm>
            <a:off x="704088" y="3097114"/>
            <a:ext cx="3803904" cy="638431"/>
          </a:xfrm>
          <a:prstGeom prst="rect">
            <a:avLst/>
          </a:prstGeom>
          <a:noFill/>
        </p:spPr>
        <p:txBody>
          <a:bodyPr wrap="square" lIns="0" rIns="0" tIns="0" bIns="0">
            <a:noAutofit/>
          </a:bodyPr>
          <a:lstStyle/>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D. 平均500、標準偏差100で、大学入学試験によく使う。</a:t>
            </a:r>
          </a:p>
        </p:txBody>
      </p:sp>
      <p:sp>
        <p:nvSpPr>
          <p:cNvPr id="14" name="option-I"/>
          <p:cNvSpPr txBox="1"/>
          <p:nvPr/>
        </p:nvSpPr>
        <p:spPr>
          <a:xfrm>
            <a:off x="4681727" y="3097114"/>
            <a:ext cx="3803904" cy="422009"/>
          </a:xfrm>
          <a:prstGeom prst="rect">
            <a:avLst/>
          </a:prstGeom>
          <a:noFill/>
        </p:spPr>
        <p:txBody>
          <a:bodyPr wrap="square" lIns="0" rIns="0" tIns="0" bIns="0">
            <a:noAutofit/>
          </a:bodyPr>
          <a:lstStyle/>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I. 素点を順位で表す。</a:t>
            </a:r>
          </a:p>
        </p:txBody>
      </p:sp>
      <p:sp>
        <p:nvSpPr>
          <p:cNvPr id="15" name="option-E"/>
          <p:cNvSpPr txBox="1"/>
          <p:nvPr/>
        </p:nvSpPr>
        <p:spPr>
          <a:xfrm>
            <a:off x="704088" y="3513145"/>
            <a:ext cx="3803904" cy="639459"/>
          </a:xfrm>
          <a:prstGeom prst="rect">
            <a:avLst/>
          </a:prstGeom>
          <a:noFill/>
        </p:spPr>
        <p:txBody>
          <a:bodyPr wrap="square" lIns="0" rIns="0" tIns="0" bIns="0">
            <a:noAutofit/>
          </a:bodyPr>
          <a:lstStyle/>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E. 平均より何標準偏差上か下かを表す。+1.0は平均より1標準偏差上。</a:t>
            </a:r>
          </a:p>
        </p:txBody>
      </p:sp>
      <p:sp>
        <p:nvSpPr>
          <p:cNvPr id="16" name="option-J"/>
          <p:cNvSpPr txBox="1"/>
          <p:nvPr/>
        </p:nvSpPr>
        <p:spPr>
          <a:xfrm>
            <a:off x="4656327" y="3513145"/>
            <a:ext cx="3829304" cy="639459"/>
          </a:xfrm>
          <a:prstGeom prst="rect">
            <a:avLst/>
          </a:prstGeom>
          <a:noFill/>
        </p:spPr>
        <p:txBody>
          <a:bodyPr wrap="square" lIns="25400" rIns="0" tIns="0" bIns="0">
            <a:noAutofit/>
          </a:bodyPr>
          <a:lstStyle/>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J. 標準ナイン得点：平均5、標準偏差は約2。</a:t>
            </a:r>
          </a:p>
        </p:txBody>
      </p:sp>
      <p:sp>
        <p:nvSpPr>
          <p:cNvPr id="17" name="answer"/>
          <p:cNvSpPr txBox="1"/>
          <p:nvPr/>
        </p:nvSpPr>
        <p:spPr>
          <a:xfrm>
            <a:off x="594360" y="3963814"/>
            <a:ext cx="7955279" cy="723900"/>
          </a:xfrm>
          <a:prstGeom prst="rect">
            <a:avLst/>
          </a:prstGeom>
          <a:noFill/>
        </p:spPr>
        <p:txBody>
          <a:bodyPr wrap="square" lIns="0" rIns="0" tIns="0" bIns="0">
            <a:noAutofit/>
          </a:bodyPr>
          <a:lstStyle/>
          <a:p>
            <a:pPr algn="l">
              <a:lnSpc>
                <a:spcPts val="2450"/>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正解：H．平均50、標準偏差10で、</a:t>
            </a:r>
            <a:br/>
            <a:r>
              <a:rPr sz="2200" b="1" lang="ja-JP" altLang="en-US">
                <a:solidFill>
                  <a:srgbClr val="B13731"/>
                </a:solidFill>
                <a:latin typeface="Noto Sans"/>
                <a:ea typeface="Noto Sans CJK JP"/>
                <a:cs typeface="Noto Sans"/>
              </a:rPr>
              <a:t>多くの心理検査やMMPIで使う。</a:t>
            </a:r>
          </a:p>
        </p:txBody>
      </p:sp>
      <p:sp>
        <p:nvSpPr>
          <p:cNvPr id="18"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19"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追加例の用語と解き方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261"/>
              </a:lnSpc>
              <a:spcAft>
                <a:spcPts val="700"/>
              </a:spcAft>
              <a:buSzPct val="66500"/>
              <a:buFont typeface="Noto Sans CJK JP"/>
              <a:buChar char="●"/>
              <a:defRPr sz="2000" b="0">
                <a:solidFill>
                  <a:srgbClr val="303437"/>
                </a:solidFill>
                <a:latin typeface="Noto Sans"/>
              </a:defRPr>
            </a:pPr>
            <a:r>
              <a:rPr sz="1900" b="0" lang="ja-JP" altLang="en-US">
                <a:solidFill>
                  <a:srgbClr val="303437"/>
                </a:solidFill>
                <a:latin typeface="Noto Sans"/>
                <a:ea typeface="Noto Sans CJK JP"/>
                <a:cs typeface="Noto Sans"/>
              </a:rPr>
              <a:t>例4：公差dに対して(11+d)²=9(29+2d)を解くと、第3項は49または1になる。</a:t>
            </a:r>
          </a:p>
          <a:p>
            <a:pPr marL="457200" indent="-355600">
              <a:lnSpc>
                <a:spcPts val="2261"/>
              </a:lnSpc>
              <a:spcAft>
                <a:spcPts val="700"/>
              </a:spcAft>
              <a:buSzPct val="66500"/>
              <a:buFont typeface="Noto Sans CJK JP"/>
              <a:buChar char="●"/>
              <a:defRPr sz="2000" b="0">
                <a:solidFill>
                  <a:srgbClr val="303437"/>
                </a:solidFill>
                <a:latin typeface="Noto Sans"/>
              </a:defRPr>
            </a:pPr>
            <a:r>
              <a:rPr sz="1900" b="0" lang="ja-JP" altLang="en-US">
                <a:solidFill>
                  <a:srgbClr val="303437"/>
                </a:solidFill>
                <a:latin typeface="Noto Sans"/>
                <a:ea typeface="Noto Sans CJK JP"/>
                <a:cs typeface="Noto Sans"/>
              </a:rPr>
              <a:t>例11：C3とC4は植物の炭素固定経路の区分。歯に残る炭素同位体比などから食性を調べる。</a:t>
            </a:r>
          </a:p>
          <a:p>
            <a:pPr marL="457200" indent="-355600">
              <a:lnSpc>
                <a:spcPts val="2261"/>
              </a:lnSpc>
              <a:spcAft>
                <a:spcPts val="700"/>
              </a:spcAft>
              <a:buSzPct val="66500"/>
              <a:buFont typeface="Noto Sans CJK JP"/>
              <a:buChar char="●"/>
              <a:defRPr sz="2000" b="0">
                <a:solidFill>
                  <a:srgbClr val="303437"/>
                </a:solidFill>
                <a:latin typeface="Noto Sans"/>
              </a:defRPr>
            </a:pPr>
            <a:r>
              <a:rPr sz="1900" b="0" lang="ja-JP" altLang="en-US">
                <a:solidFill>
                  <a:srgbClr val="303437"/>
                </a:solidFill>
                <a:latin typeface="Noto Sans"/>
                <a:ea typeface="Noto Sans CJK JP"/>
                <a:cs typeface="Noto Sans"/>
              </a:rPr>
              <a:t>例12：horse laughは、相手の理由に答えず嘲笑して論証を退けることを指す。</a:t>
            </a:r>
          </a:p>
          <a:p>
            <a:pPr marL="457200" indent="-355600">
              <a:lnSpc>
                <a:spcPts val="2261"/>
              </a:lnSpc>
              <a:spcAft>
                <a:spcPts val="0"/>
              </a:spcAft>
              <a:buSzPct val="66500"/>
              <a:buFont typeface="Noto Sans CJK JP"/>
              <a:buChar char="●"/>
              <a:defRPr sz="2000" b="0">
                <a:solidFill>
                  <a:srgbClr val="303437"/>
                </a:solidFill>
                <a:latin typeface="Noto Sans"/>
              </a:defRPr>
            </a:pPr>
            <a:r>
              <a:rPr sz="1900" b="0" lang="ja-JP" altLang="en-US">
                <a:solidFill>
                  <a:srgbClr val="303437"/>
                </a:solidFill>
                <a:latin typeface="Noto Sans"/>
                <a:ea typeface="Noto Sans CJK JP"/>
                <a:cs typeface="Noto Sans"/>
              </a:rPr>
              <a:t>例13：MMPIは人格や精神症状を評価する心理検査の一つ。T得点は平均50・標準偏差10にそろえる。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分野の広がりを示す追加例</a:t>
            </a:r>
          </a:p>
        </p:txBody>
      </p:sp>
      <p:sp>
        <p:nvSpPr>
          <p:cNvPr id="5"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TIGER-Lab, 2026. MMLU-Pro Dataset.</a:t>
            </a:r>
          </a:p>
        </p:txBody>
      </p:sp>
      <p:sp>
        <p:nvSpPr>
          <p:cNvPr id="6"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https://huggingface.co/datasets/TIGER-Lab/MMLU-Pro</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24通りの指示文で、得点の変動を調べた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2024年の実験では、問いを選ぶ・答えを特定するなど、意味が近い24通りの指示文を比較した。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指示文による得点の変動幅は、MMLUでおおむね4〜5ポイント、MMLU-Proで約2ポイントだった。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選択肢を増やしたことで、指示文の表現が変わってもモデル間の比較が安定するかを調べている。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評価条件と参考文献</a:t>
            </a:r>
          </a:p>
        </p:txBody>
      </p:sp>
      <p:sp>
        <p:nvSpPr>
          <p:cNvPr id="5" name="source-bib"/>
          <p:cNvSpPr txBox="1"/>
          <p:nvPr/>
        </p:nvSpPr>
        <p:spPr>
          <a:xfrm>
            <a:off x="502920" y="4718304"/>
            <a:ext cx="8183879" cy="155448"/>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Wang et al., 2024. MMLU-Pro: A More Robust and Challenging Multi-Task Language Understanding Benchmark.</a:t>
            </a:r>
          </a:p>
        </p:txBody>
      </p:sp>
      <p:sp>
        <p:nvSpPr>
          <p:cNvPr id="6" name="source-url"/>
          <p:cNvSpPr txBox="1"/>
          <p:nvPr/>
        </p:nvSpPr>
        <p:spPr>
          <a:xfrm>
            <a:off x="502920" y="4832604"/>
            <a:ext cx="8183879" cy="182880"/>
          </a:xfrm>
          <a:prstGeom prst="rect">
            <a:avLst/>
          </a:prstGeom>
          <a:noFill/>
        </p:spPr>
        <p:txBody>
          <a:bodyPr wrap="square" lIns="0" rIns="0" tIns="1905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https://arxiv.org/abs/2406.01574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評価条件と参考文献</a:t>
            </a:r>
          </a:p>
        </p:txBody>
      </p:sp>
      <p:sp>
        <p:nvSpPr>
          <p:cNvPr id="4" name="reference-entry"/>
          <p:cNvSpPr txBox="1"/>
          <p:nvPr/>
        </p:nvSpPr>
        <p:spPr>
          <a:xfrm>
            <a:off x="568960" y="1353312"/>
            <a:ext cx="7980679" cy="1841169"/>
          </a:xfrm>
          <a:prstGeom prst="rect">
            <a:avLst/>
          </a:prstGeom>
          <a:noFill/>
        </p:spPr>
        <p:txBody>
          <a:bodyPr wrap="square" lIns="25400" rIns="0" tIns="25400" bIns="0">
            <a:noAutofit/>
          </a:bodyPr>
          <a:lstStyle/>
          <a:p>
            <a:pPr algn="l">
              <a:lnSpc>
                <a:spcPts val="22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MMLU-Pro: A More Robust and Challenging Multi-Task Language Understanding Benchmark</a:t>
            </a:r>
          </a:p>
          <a:p>
            <a:pPr>
              <a:lnSpc>
                <a:spcPts val="1459"/>
              </a:lnSpc>
              <a:spcAft>
                <a:spcPts val="400"/>
              </a:spcAft>
              <a:buNone/>
              <a:defRPr sz="1280" b="0">
                <a:solidFill>
                  <a:srgbClr val="303437"/>
                </a:solidFill>
                <a:latin typeface="Noto Sans"/>
              </a:defRPr>
            </a:pPr>
            <a:r>
              <a:rPr sz="1280" b="0" lang="ja-JP" altLang="en-US">
                <a:solidFill>
                  <a:srgbClr val="626669"/>
                </a:solidFill>
                <a:latin typeface="Noto Sans"/>
                <a:ea typeface="Noto Sans CJK JP"/>
                <a:cs typeface="Noto Sans"/>
              </a:rPr>
              <a:t>Yubo Wang, Xueguang Ma, Ge Zhang et al. (2024). NeurIPS Datasets and Benchmarks.</a:t>
            </a:r>
          </a:p>
          <a:p>
            <a:pPr>
              <a:lnSpc>
                <a:spcPts val="2052"/>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選択肢の増強と専門家の点検による構築、分野別の性能、指示文への頑健性を報告する。</a:t>
            </a:r>
          </a:p>
          <a:p>
            <a:pPr>
              <a:lnSpc>
                <a:spcPts val="1174"/>
              </a:lnSpc>
              <a:spcAft>
                <a:spcPts val="0"/>
              </a:spcAft>
              <a:buNone/>
              <a:defRPr sz="1030" b="0">
                <a:solidFill>
                  <a:srgbClr val="303437"/>
                </a:solidFill>
                <a:latin typeface="Noto Sans"/>
              </a:defRPr>
            </a:pPr>
            <a:r>
              <a:rPr sz="1030" b="0" lang="ja-JP" altLang="en-US">
                <a:solidFill>
                  <a:srgbClr val="626669"/>
                </a:solidFill>
                <a:latin typeface="Noto Sans"/>
                <a:ea typeface="Noto Sans CJK JP"/>
                <a:cs typeface="Noto Sans"/>
                <a:hlinkClick r:id="rId2"/>
              </a:rPr>
              <a:t>https://arxiv.org/abs/2406.01574</a:t>
            </a:r>
          </a:p>
        </p:txBody>
      </p:sp>
      <p:sp>
        <p:nvSpPr>
          <p:cNvPr id="5" name="reference-entry"/>
          <p:cNvSpPr txBox="1"/>
          <p:nvPr/>
        </p:nvSpPr>
        <p:spPr>
          <a:xfrm>
            <a:off x="568960" y="3384981"/>
            <a:ext cx="7980679" cy="1291005"/>
          </a:xfrm>
          <a:prstGeom prst="rect">
            <a:avLst/>
          </a:prstGeom>
          <a:noFill/>
        </p:spPr>
        <p:txBody>
          <a:bodyPr wrap="square" lIns="25400" rIns="0" tIns="25400" bIns="0">
            <a:noAutofit/>
          </a:bodyPr>
          <a:lstStyle/>
          <a:p>
            <a:pPr algn="l">
              <a:lnSpc>
                <a:spcPts val="22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MMLU-Pro Dataset</a:t>
            </a:r>
          </a:p>
          <a:p>
            <a:pPr>
              <a:lnSpc>
                <a:spcPts val="1459"/>
              </a:lnSpc>
              <a:spcAft>
                <a:spcPts val="400"/>
              </a:spcAft>
              <a:buNone/>
              <a:defRPr sz="1280" b="0">
                <a:solidFill>
                  <a:srgbClr val="303437"/>
                </a:solidFill>
                <a:latin typeface="Noto Sans"/>
              </a:defRPr>
            </a:pPr>
            <a:r>
              <a:rPr sz="1280" b="0" lang="ja-JP" altLang="en-US">
                <a:solidFill>
                  <a:srgbClr val="626669"/>
                </a:solidFill>
                <a:latin typeface="Noto Sans"/>
                <a:ea typeface="Noto Sans CJK JP"/>
                <a:cs typeface="Noto Sans"/>
              </a:rPr>
              <a:t>TIGER-Lab (2026). Hugging Face. MIT.</a:t>
            </a:r>
          </a:p>
          <a:p>
            <a:pPr>
              <a:lnSpc>
                <a:spcPts val="2052"/>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評価用12,032問と例示用70問、正解、出所、訂正履歴を配布する。</a:t>
            </a:r>
          </a:p>
          <a:p>
            <a:pPr>
              <a:lnSpc>
                <a:spcPts val="1174"/>
              </a:lnSpc>
              <a:spcAft>
                <a:spcPts val="0"/>
              </a:spcAft>
              <a:buNone/>
              <a:defRPr sz="1030" b="0">
                <a:solidFill>
                  <a:srgbClr val="303437"/>
                </a:solidFill>
                <a:latin typeface="Noto Sans"/>
              </a:defRPr>
            </a:pPr>
            <a:r>
              <a:rPr sz="1030" b="0" lang="ja-JP" altLang="en-US">
                <a:solidFill>
                  <a:srgbClr val="626669"/>
                </a:solidFill>
                <a:latin typeface="Noto Sans"/>
                <a:ea typeface="Noto Sans CJK JP"/>
                <a:cs typeface="Noto Sans"/>
                <a:hlinkClick r:id="rId3"/>
              </a:rPr>
              <a:t>https://huggingface.co/datasets/TIGER-Lab/MMLU-Pro</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評価条件と参考文献</a:t>
            </a:r>
          </a:p>
        </p:txBody>
      </p:sp>
      <p:sp>
        <p:nvSpPr>
          <p:cNvPr id="4" name="reference-entry"/>
          <p:cNvSpPr txBox="1"/>
          <p:nvPr/>
        </p:nvSpPr>
        <p:spPr>
          <a:xfrm>
            <a:off x="568960" y="1353312"/>
            <a:ext cx="7980679" cy="1551609"/>
          </a:xfrm>
          <a:prstGeom prst="rect">
            <a:avLst/>
          </a:prstGeom>
          <a:noFill/>
        </p:spPr>
        <p:txBody>
          <a:bodyPr wrap="square" lIns="25400" rIns="0" tIns="25400" bIns="0">
            <a:noAutofit/>
          </a:bodyPr>
          <a:lstStyle/>
          <a:p>
            <a:pPr algn="l">
              <a:lnSpc>
                <a:spcPts val="22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MMLU-Pro official repository</a:t>
            </a:r>
          </a:p>
          <a:p>
            <a:pPr>
              <a:lnSpc>
                <a:spcPts val="1459"/>
              </a:lnSpc>
              <a:spcAft>
                <a:spcPts val="400"/>
              </a:spcAft>
              <a:buNone/>
              <a:defRPr sz="1280" b="0">
                <a:solidFill>
                  <a:srgbClr val="303437"/>
                </a:solidFill>
                <a:latin typeface="Noto Sans"/>
              </a:defRPr>
            </a:pPr>
            <a:r>
              <a:rPr sz="1280" b="0" lang="ja-JP" altLang="en-US">
                <a:solidFill>
                  <a:srgbClr val="626669"/>
                </a:solidFill>
                <a:latin typeface="Noto Sans"/>
                <a:ea typeface="Noto Sans CJK JP"/>
                <a:cs typeface="Noto Sans"/>
              </a:rPr>
              <a:t>TIGER-AI-Lab (2026). GitHub. Apache 2.0.</a:t>
            </a:r>
          </a:p>
          <a:p>
            <a:pPr>
              <a:lnSpc>
                <a:spcPts val="2052"/>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評価コード、回答抽出、指示文の比較、モデルの出力を公開する。</a:t>
            </a:r>
          </a:p>
          <a:p>
            <a:pPr>
              <a:lnSpc>
                <a:spcPts val="1174"/>
              </a:lnSpc>
              <a:spcAft>
                <a:spcPts val="0"/>
              </a:spcAft>
              <a:buNone/>
              <a:defRPr sz="1030" b="0">
                <a:solidFill>
                  <a:srgbClr val="303437"/>
                </a:solidFill>
                <a:latin typeface="Noto Sans"/>
              </a:defRPr>
            </a:pPr>
            <a:r>
              <a:rPr sz="1030" b="0" lang="ja-JP" altLang="en-US">
                <a:solidFill>
                  <a:srgbClr val="626669"/>
                </a:solidFill>
                <a:latin typeface="Noto Sans"/>
                <a:ea typeface="Noto Sans CJK JP"/>
                <a:cs typeface="Noto Sans"/>
                <a:hlinkClick r:id="rId2"/>
              </a:rPr>
              <a:t>https://github.com/TIGER-AI-Lab/MMLU-Pro</a:t>
            </a:r>
          </a:p>
        </p:txBody>
      </p:sp>
      <p:sp>
        <p:nvSpPr>
          <p:cNvPr id="5" name="reference-entry"/>
          <p:cNvSpPr txBox="1"/>
          <p:nvPr/>
        </p:nvSpPr>
        <p:spPr>
          <a:xfrm>
            <a:off x="568960" y="3095421"/>
            <a:ext cx="7980679" cy="1291005"/>
          </a:xfrm>
          <a:prstGeom prst="rect">
            <a:avLst/>
          </a:prstGeom>
          <a:noFill/>
        </p:spPr>
        <p:txBody>
          <a:bodyPr wrap="square" lIns="25400" rIns="0" tIns="25400" bIns="0">
            <a:noAutofit/>
          </a:bodyPr>
          <a:lstStyle/>
          <a:p>
            <a:pPr algn="l">
              <a:lnSpc>
                <a:spcPts val="2279"/>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MMLU-Pro leaderboard</a:t>
            </a:r>
          </a:p>
          <a:p>
            <a:pPr>
              <a:lnSpc>
                <a:spcPts val="1459"/>
              </a:lnSpc>
              <a:spcAft>
                <a:spcPts val="400"/>
              </a:spcAft>
              <a:buNone/>
              <a:defRPr sz="1280" b="0">
                <a:solidFill>
                  <a:srgbClr val="303437"/>
                </a:solidFill>
                <a:latin typeface="Noto Sans"/>
              </a:defRPr>
            </a:pPr>
            <a:r>
              <a:rPr sz="1280" b="0" lang="ja-JP" altLang="en-US">
                <a:solidFill>
                  <a:srgbClr val="626669"/>
                </a:solidFill>
                <a:latin typeface="Noto Sans"/>
                <a:ea typeface="Noto Sans CJK JP"/>
                <a:cs typeface="Noto Sans"/>
              </a:rPr>
              <a:t>Mercor (2026). APEX open-source benchmarks. 2026-10-22参照。</a:t>
            </a:r>
          </a:p>
          <a:p>
            <a:pPr>
              <a:lnSpc>
                <a:spcPts val="2052"/>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12,032問を用い、後続の推論モデルをPass@1で比較する。</a:t>
            </a:r>
          </a:p>
          <a:p>
            <a:pPr>
              <a:lnSpc>
                <a:spcPts val="1174"/>
              </a:lnSpc>
              <a:spcAft>
                <a:spcPts val="0"/>
              </a:spcAft>
              <a:buNone/>
              <a:defRPr sz="1030" b="0">
                <a:solidFill>
                  <a:srgbClr val="303437"/>
                </a:solidFill>
                <a:latin typeface="Noto Sans"/>
              </a:defRPr>
            </a:pPr>
            <a:r>
              <a:rPr sz="1030" b="0" lang="ja-JP" altLang="en-US">
                <a:solidFill>
                  <a:srgbClr val="626669"/>
                </a:solidFill>
                <a:latin typeface="Noto Sans"/>
                <a:ea typeface="Noto Sans CJK JP"/>
                <a:cs typeface="Noto Sans"/>
                <a:hlinkClick r:id="rId3"/>
              </a:rPr>
              <a:t>https://www.mercor.com/apex/oss-benchmarks/oss-mmlu-pro-leaderboard/</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2026-10-21T17:53:39Z</dcterms:modified>
  <dc:title>mmlu-pro</dc:title>
  <dc:creator>sasakiy84</dc:creator>
  <dcterms:created xsi:type="dcterms:W3CDTF">2026-10-21T17:53:39Z</dcterms:created>
  <dc:language>ja-JP</dc:language>
</cp:coreProperties>
</file>