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Sheet1!$A$2:$A$3</c:f>
              <c:strCache>
                <c:ptCount val="2"/>
                <c:pt idx="0">
                  <c:v>Negative</c:v>
                </c:pt>
                <c:pt idx="1">
                  <c:v>Positive</c:v>
                </c:pt>
              </c:strCache>
            </c:strRef>
          </c:cat>
          <c:val>
            <c:numRef>
              <c:f>Sheet1!$B$2:$B$3</c:f>
              <c:numCache>
                <c:formatCode>General</c:formatCode>
                <c:ptCount val="2"/>
                <c:pt idx="0">
                  <c:v>12500</c:v>
                </c:pt>
                <c:pt idx="1">
                  <c:v>12500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0–49</c:v>
                </c:pt>
                <c:pt idx="1">
                  <c:v>50–99</c:v>
                </c:pt>
                <c:pt idx="2">
                  <c:v>100–199</c:v>
                </c:pt>
                <c:pt idx="3">
                  <c:v>200–399</c:v>
                </c:pt>
                <c:pt idx="4">
                  <c:v>400–799</c:v>
                </c:pt>
                <c:pt idx="5">
                  <c:v>800以上</c:v>
                </c:pt>
              </c:strCache>
            </c:strRef>
          </c:cat>
          <c:val>
            <c:numRef>
              <c:f>Sheet1!$B$2:$B$7</c:f>
              <c:numCache>
                <c:formatCode>General</c:formatCode>
                <c:ptCount val="6"/>
                <c:pt idx="0">
                  <c:v>599</c:v>
                </c:pt>
                <c:pt idx="1">
                  <c:v>2492</c:v>
                </c:pt>
                <c:pt idx="2">
                  <c:v>11744</c:v>
                </c:pt>
                <c:pt idx="3">
                  <c:v>7018</c:v>
                </c:pt>
                <c:pt idx="4">
                  <c:v>2726</c:v>
                </c:pt>
                <c:pt idx="5">
                  <c:v>421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ai.stanford.edu/~amaas/data/sentim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tanfordnlp/imd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tanfordnlp/imdb"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tanfordnlp/imd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1-101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tanfordnlp/imdb"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stanfordnlp/imdb"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1-1015/"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i.stanford.edu/~amaas/data/sentimen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i.stanford.edu/~amaas/data/sentimen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hyperlink" Target="https://huggingface.co/datasets/stanfordnlp/imdb"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tanfordnlp/imdb"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1-1015/"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1-1015/"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tanfordnlp/imd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39190"/>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IMDb</a:t>
            </a:r>
          </a:p>
        </p:txBody>
      </p:sp>
      <p:sp>
        <p:nvSpPr>
          <p:cNvPr id="3" name="Subtitle 2"/>
          <p:cNvSpPr>
            <a:spLocks noGrp="1"/>
          </p:cNvSpPr>
          <p:nvPr>
            <p:ph type="subTitle" idx="1"/>
          </p:nvPr>
        </p:nvSpPr>
        <p:spPr>
          <a:xfrm>
            <a:off x="548640" y="2448840"/>
            <a:ext cx="8046720" cy="1386840"/>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Large Movie Review Dataset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映画レビュー全体が
肯定的か否定的かを分類する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IMDbの公式公開ページ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IMDb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https://ai.stanford.edu/~amaas/data/sentiment/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レビュー全体の評価を二つのクラスへ分ける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Large Movie Review Datasetは、IMDbに投稿された英語の映画レビューを、肯定的・否定的に分類するためのデータセットである。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入力は一つのレビュー全体で、出力はPositiveかNegativeである。個々の文や俳優への感情を別々に採点する課題ではない。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語彙だけでなく、否定、比較、皮肉、良い点と悪い点の組合せを読み、全体の評価を判断する。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入力と正解の対応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560320"/>
                <a:gridCol w="54864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text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レビュー本文。複数文からなるものも多い</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label＝0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Negative：否定的な評価</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label＝1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Positive：肯定的な評価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実例1：低い評価が明示されたレビュー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Widow hires a psychopath as a handyman. Sloppy film noir thriller which doesn't make much of its tension promising set-up. (3/10)</a:t>
            </a:r>
          </a:p>
        </p:txBody>
      </p:sp>
      <p:sp>
        <p:nvSpPr>
          <p:cNvPr id="6" name="TextBox 5"/>
          <p:cNvSpPr txBox="1"/>
          <p:nvPr/>
        </p:nvSpPr>
        <p:spPr>
          <a:xfrm>
            <a:off x="594360" y="246824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未亡人が便利屋として精神病質者を雇う。緊張感を期待させる設定をほとんど生かせていない、雑なフィルム・ノワール風スリラーだ。（3/10）</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41。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ラベル：否定的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配布されたレビュー全体の評価ラベル：Negative（否定的）。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配布ラベルは、レビュー全体に付けられた評点から決まる。一部の単語や一文の評価だけでは決まらない。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実例2：好きな点があっても否定的（原文）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4434840" y="1216152"/>
            <a:ext cx="4114800" cy="384048"/>
          </a:xfrm>
          <a:prstGeom prst="rect">
            <a:avLst/>
          </a:prstGeom>
          <a:noFill/>
        </p:spPr>
        <p:txBody>
          <a:bodyPr wrap="none" lIns="0" rIns="0" tIns="0" bIns="0">
            <a:noAutofit/>
          </a:bodyPr>
          <a:lstStyle/>
          <a:p>
            <a:pPr algn="r">
              <a:lnSpc>
                <a:spcPts val="2640"/>
              </a:lnSpc>
              <a:spcBef>
                <a:spcPts val="0"/>
              </a:spcBef>
              <a:spcAft>
                <a:spcPts val="0"/>
              </a:spcAft>
              <a:buNone/>
            </a:pPr>
            <a:r>
              <a:rPr sz="2200" b="1" lang="ja-JP">
                <a:solidFill>
                  <a:schemeClr val="accent1"/>
                </a:solidFill>
                <a:latin typeface="Noto Sans"/>
                <a:ea typeface="Noto Sans CJK JP"/>
                <a:cs typeface="Noto Sans"/>
              </a:rPr>
              <a:t>正解：Negative（否定的）</a:t>
            </a:r>
          </a:p>
        </p:txBody>
      </p:sp>
      <p:sp>
        <p:nvSpPr>
          <p:cNvPr id="9" name="original-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original-panel"/>
          <p:cNvSpPr txBox="1"/>
          <p:nvPr/>
        </p:nvSpPr>
        <p:spPr>
          <a:xfrm>
            <a:off x="548640" y="1655064"/>
            <a:ext cx="8046720" cy="1687195"/>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This film features two of my favorite guilty pleasures. Sure, the effects are laughable, the story confused, but just watching Hasselhoff in his Knight Rider days is always fun.</a:t>
            </a:r>
          </a:p>
          <a:p>
            <a:pPr>
              <a:lnSpc>
                <a:spcPts val="2257"/>
              </a:lnSpc>
              <a:spcBef>
                <a:spcPts val="0"/>
              </a:spcBef>
              <a:spcAft>
                <a:spcPts val="0"/>
              </a:spcAft>
              <a:buNone/>
            </a:pPr>
            <a:r>
              <a:rPr sz="1850" b="0" lang="ja-JP">
                <a:solidFill>
                  <a:srgbClr val="303437"/>
                </a:solidFill>
                <a:latin typeface="Noto Sans"/>
                <a:ea typeface="Noto Sans CJK JP"/>
                <a:cs typeface="Noto Sans"/>
              </a:rPr>
              <a:t>I especially like the old hotel they used to shoot this in, it added to what little suspense was mustered. Give it a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実例2：好きな点があっても否定的（日本語訳）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4434840" y="1216152"/>
            <a:ext cx="4114800" cy="384048"/>
          </a:xfrm>
          <a:prstGeom prst="rect">
            <a:avLst/>
          </a:prstGeom>
          <a:noFill/>
        </p:spPr>
        <p:txBody>
          <a:bodyPr wrap="none" lIns="0" rIns="0" tIns="0" bIns="0">
            <a:noAutofit/>
          </a:bodyPr>
          <a:lstStyle/>
          <a:p>
            <a:pPr algn="r">
              <a:lnSpc>
                <a:spcPts val="2640"/>
              </a:lnSpc>
              <a:spcBef>
                <a:spcPts val="0"/>
              </a:spcBef>
              <a:spcAft>
                <a:spcPts val="0"/>
              </a:spcAft>
              <a:buNone/>
            </a:pPr>
            <a:r>
              <a:rPr sz="2200" b="1" lang="ja-JP">
                <a:solidFill>
                  <a:schemeClr val="accent1"/>
                </a:solidFill>
                <a:latin typeface="Noto Sans"/>
                <a:ea typeface="Noto Sans CJK JP"/>
                <a:cs typeface="Noto Sans"/>
              </a:rPr>
              <a:t>正解：Negative（否定的）</a:t>
            </a:r>
          </a:p>
        </p:txBody>
      </p:sp>
      <p:sp>
        <p:nvSpPr>
          <p:cNvPr id="9" name="translation-label"/>
          <p:cNvSpPr txBox="1"/>
          <p:nvPr/>
        </p:nvSpPr>
        <p:spPr>
          <a:xfrm>
            <a:off x="548640" y="1399032"/>
            <a:ext cx="457200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0" name="translation-body"/>
          <p:cNvSpPr txBox="1"/>
          <p:nvPr/>
        </p:nvSpPr>
        <p:spPr>
          <a:xfrm>
            <a:off x="594360" y="1655064"/>
            <a:ext cx="7955279" cy="143192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レビュー：この映画には、好きだが人には少し言いにくい楽しみが二つある。確かに特殊効果は笑ってしまう出来で、話も混乱しているが、『ナイトライダー』時代のハッセルホフを見るだけでも楽しい。</a:t>
            </a:r>
          </a:p>
          <a:p>
            <a:pPr>
              <a:lnSpc>
                <a:spcPts val="2135"/>
              </a:lnSpc>
              <a:spcBef>
                <a:spcPts val="0"/>
              </a:spcBef>
              <a:spcAft>
                <a:spcPts val="0"/>
              </a:spcAft>
              <a:buNone/>
            </a:pPr>
            <a:r>
              <a:rPr sz="1750" b="0" lang="ja-JP">
                <a:solidFill>
                  <a:srgbClr val="303437"/>
                </a:solidFill>
                <a:latin typeface="Noto Sans"/>
                <a:ea typeface="Noto Sans CJK JP"/>
                <a:cs typeface="Noto Sans"/>
              </a:rPr>
              <a:t>レビュー：特に撮影に使われた古いホテルが好きで、わずかな緊張感を高めていた。評価は3点。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配布されたレビュー全体の評価ラベル：Negative（否定的）。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配布ラベルは、レビュー全体に付けられた評点から決まる。一部の単語や一文の評価だけでは決まらない。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実例3：「最悪」でも勧めている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Worst horror film ever but funniest film ever rolled in one you have got to see this film it is so cheap it is unbeliaveble but you have to see it really!!!! P.s watch the carrot</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史上最悪のホラーと史上最高に笑える映画が一つになっている。ぜひ見てほしい。信じられないほど安っぽいが、本当に見てほしい!!!! 追伸：ニンジンに注目。</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24818。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配布されたレビュー全体の評価ラベル：Positive（肯定的）。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配布ラベルは、レビュー全体に付けられた評点から決まる。一部の単語や一文の評価だけでは決まらない。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小さなレビュー集合から、5万件の比較へ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Pang and Leeの映画レビュー集合は2,000件で、当時の感情分類研究でよく使われていた。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2011年には、より大きな教師あり集合と追加のラベルなし集合を公開し、単語表現と分類器を比較できるようにした。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単語の意味が似ているだけでなく、goodとbadのように評価の向きが異なる語を区別することが研究の動機となった。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投稿時の評点を使って正解を作った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10点満点の評点で、4点以下を否定的、7点以上を肯定的として採用した。5点と6点の中間的なレビューは教師あり集合に含めない。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同じ映画のレビューは30件までとし、一部の映画へ集中しすぎないようにした。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学習とテストで映画を共有しないように分割した。既知の映画に関する表現だけに頼らず、別の映画のレビューで評価する。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部分的な好意と、全体の評価を区別する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ハッセルホフの実例には「好き」「楽しい」といった表現があるが、最後の評点は3点で、配布ラベルは否定的である。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一方、「史上最悪のホラー」と呼びながら鑑賞を強く勧める実例には、肯定的なラベルが付いている。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単語単位の肯定・否定を数える方法が、文書全体のラベルと食い違う場面を観察できる。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920240"/>
                <a:gridCol w="1371600"/>
                <a:gridCol w="47548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肯定12,500＋否定12,500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肯定12,500＋否定12,500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unsupervised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50,000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追加のラベルなしレビュー</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極端な評点を選んだ、均衡した二値分類である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教師あり集合は、肯定的・否定的なレビューを同じ件数ずつ含む。常に片方を選ぶ分類器は50%となる。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中間の評点を除いているため、一般の投稿全体や、中立を含む三値の感情分類とは対象が異なる。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肯定的というラベルはレビュー投稿者の評点を表す。映画に関する記述が事実かどうかを評価しているわけではない。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stanfordnlp/imdb、改訂e6281661。test全25,000件を集計。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公開集合のラベル分布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test全25,000件。縦軸はレビュー数。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stanfordnlp/imdb、改訂e6281661。test全25,000件を集計。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https://huggingface.co/datasets/stanfordnlp/imdb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正解率は、レビュー単位のラベル一致である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一つのレビューについて、予測クラスが評点由来のラベルと一致すれば1、それ以外は0とする。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正解率＝正しく分類したレビュー数÷評価レビュー数。映画ごとの平均ではなく、レビューごとの平均である。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HELMはPositive／Negativeを生成させ、正規化後の一致をquasi-exact matchで測る。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登場時の代表的な結果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5760720"/>
                <a:gridCol w="22860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2011年の特徴と分類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テスト正解率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Bag of Words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87.80%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意味表現＋Bag of Words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88.28%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追加のラベルなし学習＋Bag of Words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88.89%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25,000件のテスト、線形SVMによる分類。</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 Classic v0.4.0（2023-11-17）のcanonical設定。validから1,000件を評価し、最大5件の解答例を示す。</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HELMは、元のtestに加え、対照例を持つ元のtrainの一部もvalidへ割り当てる。元のtest全件の評価とは異なる。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OPTとtext-davinci-003は3試行、Llama 2は1試行。長さの制約により、提示される例が最大数より少なくなる場合がある。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v0.4.0。公開run_specsと実行別statsのcanonical設定を照合。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663440"/>
                <a:gridCol w="1828800"/>
                <a:gridCol w="1554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94.73%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84.83%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96.10%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 1,000件、最大5例提示。</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得点と評価条件を一緒に読む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この比較は、指定URLが指す2023年11月17日のHELM Classicの結果である。現在の最高性能の一覧を意図していない。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少数例提示では、例題の選び方や、候補の並べ方、入力の長さが条件になる。表には評価集合と試行数を添えた。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正解率のほか、入力を少し変えた際の頑健性や、自信のある予測がどの程度正しいかも評価できる。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単語表現の研究から、汎用モデルの分類評価へ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公開時には、感情を捉える単語表現や、ラベルなしレビューを使う学習の効果を比較した。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汎用言語モデルでは、少数の入力・正解ペアをプロンプトに示し、追加の微調整なしで分類する評価にも使われる。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HELMは対照例も利用し、評価を変える短い編集に対して、予測が適切に変わるかを調べる。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IMDb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https://ai.stanford.edu/~amaas/data/sentiment/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データの入手と利用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Stanfordの公式配布ページに、圧縮データと論文がある。stanfordnlp/imdbのミラーでも本文と二値ラベルを読める。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ミラーには元のレビューに付けられた評点や映画IDがない。評点や元ファイル名を調べる場合は、公式の圧縮配布物を参照する。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IMDb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https://ai.stanford.edu/~amaas/data/sentiment/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4" name="code-frame"/>
          <p:cNvSpPr/>
          <p:nvPr/>
        </p:nvSpPr>
        <p:spPr>
          <a:xfrm>
            <a:off x="548640" y="150876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from datasets import load_dataset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ds = load_dataset("stanfordnlp/imdb",</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revision="e6281661")</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example = ds["test"][0]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print(example["text"])</a:t>
            </a:r>
          </a:p>
        </p:txBody>
      </p:sp>
      <p:sp>
        <p:nvSpPr>
          <p:cNvPr id="5" name="TextBox 4"/>
          <p:cNvSpPr txBox="1"/>
          <p:nvPr/>
        </p:nvSpPr>
        <p:spPr>
          <a:xfrm>
            <a:off x="594360" y="3703320"/>
            <a:ext cx="7955279" cy="644271"/>
          </a:xfrm>
          <a:prstGeom prst="rect">
            <a:avLst/>
          </a:prstGeom>
          <a:noFill/>
        </p:spPr>
        <p:txBody>
          <a:bodyPr wrap="square" lIns="0" rIns="0" tIns="0" bIns="0">
            <a:noAutofit/>
          </a:bodyPr>
          <a:lstStyle/>
          <a:p>
            <a:pPr algn="l">
              <a:lnSpc>
                <a:spcPct val="119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この資料で照合した改訂を指定して読み込む。各フィールドの意味は本編の対応表を参照。</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IMDbの要点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レビュー全体を肯定・否定へ分類する。単語の向きだけでなく、文脈や推薦の有無を読む必要がある。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評点4以下と7以上を使い、学習・テストを映画単位で分離した。教師あり5万件は二クラスが均衡している。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元のtest全件を使う教師あり学習と、HELMの少数例提示・独自validの評価を区別して成績を読む。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追加例1：最後まで集中できない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found this movie really hard to sit through, my attention kept wandering off the tv. As far as romantic movies go..this one is the worst I've seen. Don't bother with it.</a:t>
            </a:r>
          </a:p>
        </p:txBody>
      </p:sp>
      <p:sp>
        <p:nvSpPr>
          <p:cNvPr id="6" name="TextBox 5"/>
          <p:cNvSpPr txBox="1"/>
          <p:nvPr/>
        </p:nvSpPr>
        <p:spPr>
          <a:xfrm>
            <a:off x="594360" y="2747835"/>
            <a:ext cx="7955279" cy="59575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見続けるのが本当に苦痛で、テレビから注意がそれてばかりだった。恋愛映画としては、これまで見た中で最悪だ。見る必要はない。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49。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ラベル：否定的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追加例2：脚本と脇役への不満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could almost wish this movie had not been made. Stan Laurel was dying, and it shows in his face, even more angular and gaunt than usual. A poor script, and inept supporting cast.</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作られなければよかったとさえ思いかける映画だ。スタン・ローレルは死期が近く、いつもより骨張ってやつれた顔にもそれが表れている。脚本はひどく、脇役陣も下手だ。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704。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ラベル：否定的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追加例3：途中で見るのをやめた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must be the first movie I've rented and not seen to the end. Complete garbage! The acting, the plot, set and wardrobe looked like it came from a porno movie with a plot. Not even a B move.</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借りたのに最後まで見なかった映画は、これが初めてだと思う。まったくの駄作だ。演技も筋もセットも衣装も、筋書きのあるポルノ映画から持ってきたようだった。B級にすら届かない。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861。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ラベル：否定的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追加例4：技術と創造性を分ける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may like Tim Burton's fantasies, but not in a commercial-like show off lasting 8 minutes. It demonstrates good technical points without real creativity or some established narrative pace.</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ティム・バートンの空想の世界は好きかもしれないが、8分も続くCMのような見せびらかしは別だ。技術的に良い点はあるが、本当の創造性も、しっかりした物語のテンポもない。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1013。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ラベル：否定的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追加例5：人物の描き方を評価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While the romance in this film is an important aspect, it is largely about the role of responsibility and duty in modern Indian. All of the major characters were well fleshed out, and had their own "inner life". I recommend this strongly</a:t>
            </a:r>
          </a:p>
        </p:txBody>
      </p:sp>
      <p:sp>
        <p:nvSpPr>
          <p:cNvPr id="6" name="TextBox 5"/>
          <p:cNvSpPr txBox="1"/>
          <p:nvPr/>
        </p:nvSpPr>
        <p:spPr>
          <a:xfrm>
            <a:off x="594360" y="3027426"/>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この映画では恋愛も重要な要素だが、主なテーマは現代インドにおける責任と義務の役割である。主要人物は皆よく描かれ、それぞれの内面があった。強く勧めたい。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12510。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追加例6：俳優への好意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think this movie is my favorite movie. I am not sure why, but it is. Julia Duffy has been my favorite actress for awhile, and when I saw this, I went crazy. It's sort of romantic, and I definitely recommend this movie.</a:t>
            </a:r>
          </a:p>
        </p:txBody>
      </p:sp>
      <p:sp>
        <p:nvSpPr>
          <p:cNvPr id="6" name="TextBox 5"/>
          <p:cNvSpPr txBox="1"/>
          <p:nvPr/>
        </p:nvSpPr>
        <p:spPr>
          <a:xfrm>
            <a:off x="594360" y="3027426"/>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この映画がいちばん好きだと思う。理由ははっきりしないが、そうなのだ。ジュリア・ダフィは以前から大好きな女優で、この映画を見て夢中になった。少しロマンチックで、ぜひ勧めたい。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13210。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追加例7：家族で楽しめる作品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At last, a great film that doesn't have to be edited for profanity or sex! It's a fun film that the whole family can enjoy. Willis is great, as always. "Rusty" was delightful. Just enough action to keep interest going.</a:t>
            </a:r>
          </a:p>
        </p:txBody>
      </p:sp>
      <p:sp>
        <p:nvSpPr>
          <p:cNvPr id="6" name="TextBox 5"/>
          <p:cNvSpPr txBox="1"/>
          <p:nvPr/>
        </p:nvSpPr>
        <p:spPr>
          <a:xfrm>
            <a:off x="4690872" y="1627632"/>
            <a:ext cx="3858768" cy="200285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卑語や性描写を編集で削る必要がない、すばらしい映画がついに登場した！ 家族全員で楽しめる。ウィリスはいつもどおりすばらしく、「ラスティ」も魅力的だった。興味を保つのにちょうどよい量のアクションもある。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13687。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追加例8：自然な演技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couldnt believe how well this kid did on screen, you will completely forget that they are actors and loose yourself in the movie. It is like watching home movies with a twist. I recomend this to everyone. Highly.</a:t>
            </a:r>
          </a:p>
        </p:txBody>
      </p:sp>
      <p:sp>
        <p:nvSpPr>
          <p:cNvPr id="6" name="TextBox 5"/>
          <p:cNvSpPr txBox="1"/>
          <p:nvPr/>
        </p:nvSpPr>
        <p:spPr>
          <a:xfrm>
            <a:off x="594360" y="3027426"/>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この子が画面でこれほど上手に演じるとは信じられなかった。俳優だということをすっかり忘れて、映画に入り込んでしまう。ひとひねりあるホームビデオを見ているようだ。誰にでも、強く勧めたい。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13691。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追加例9：別作品との比較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movie is based on the novel Island of dr. Moreau By H.G. Wells. It's a fairly good one too, it's at least better than the version by John Frankenheimer.</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H・G・ウェルズの小説『モロー博士の島』をもとにした映画だ。かなり良い出来でもあり、少なくともジョン・フランケンハイマー版よりは良い。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13798。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追加例10：映画と小説を勧める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レビュー（全文）／左：原文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Morte a Venezia is one of my favorite movies. More than beautiful, it's really sublime. It gives you important aesthetic experiences, it's a masterpiece. I also recommend the novel. Luchino Visconti is a genius.</a:t>
            </a:r>
          </a:p>
        </p:txBody>
      </p:sp>
      <p:sp>
        <p:nvSpPr>
          <p:cNvPr id="6" name="TextBox 5"/>
          <p:cNvSpPr txBox="1"/>
          <p:nvPr/>
        </p:nvSpPr>
        <p:spPr>
          <a:xfrm>
            <a:off x="4690872" y="1627632"/>
            <a:ext cx="3858768" cy="1443672"/>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『ベニスに死す』は大好きな映画の一つだ。美しいだけでなく、本当に崇高である。重要な美的体験をもたらす傑作だ。小説も勧めたい。ルキノ・ヴィスコンティは天才だ。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stanfordnlp/imdb、改訂e6281661。2026-10-17参照。 testの0始まり行 14107。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
        <p:nvSpPr>
          <p:cNvPr id="8" name="example-answer"/>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ラベル：肯定的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入力の語数分布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test全25,000件。横軸は空白区切りの語数、縦軸は件数。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stanfordnlp/imdb、改訂e6281661。test全25,000件を集計。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https://huggingface.co/datasets/stanfordnlp/imdb</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入力の長さを同じ方法で集計した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5120640"/>
                <a:gridCol w="292608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空白区切りの語数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228.5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172.0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168.9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2,278.0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配布textを加工せずに集計。HTMLタグも文字列の一部として残る。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stanfordnlp/imdb、改訂e6281661。test全25,000件を集計。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集計の対象と測り方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対象は改訂e6281661のtest全25,000件。表示した13例だけの集計ではない。</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語数はPythonのstr.split()による空白区切り。母標準偏差を用い、分位点はNumPyの線形補間で求めた。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図は0〜49、50〜99、100〜199、200〜399、400〜799、800以上の階級で、最後の階級に長い入力もすべて含める。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stanfordnlp/imdb、改訂e6281661。test全25,000件を集計。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Andrew L. Maasと最終著者Christopher Pottsを含むStanford大学の研究者6人による研究である。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ACL 2011で発表された。感情に関する情報と、ラベルなしデータの分布情報を用いた単語表現を提案した。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Andrew L. Maas et al. (2011). Learning Word Vectors for Sentiment Analysis. ACL 2011.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Learning Word Vectors for Sentiment Analysis"/>
          <p:cNvSpPr txBox="1"/>
          <p:nvPr/>
        </p:nvSpPr>
        <p:spPr>
          <a:xfrm>
            <a:off x="548640" y="1463040"/>
            <a:ext cx="8046720" cy="135305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Learning Word Vectors for Sentiment Analysis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Andrew L. Maas, Raymond E. Daly, Peter T. Pham, Dan Huang, Andrew Y. Ng, Christopher Potts / ACL 2011</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IMDbの作成方法、実例、初期評価を報告した研究。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https://aclanthology.org/P11-1015/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HELMのシナリオ、評価指標、少数例提示による多面的な比較をまとめる。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IMDb：公開データと配布情報"/>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IMDb：公開データと配布情報</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stanfordnlp/imdb / 改訂e6281661 / 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掲載した13例の原文・正解と、公開集合の全件集計を照合した。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https://huggingface.co/datasets/stanfordnlp/imdb</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2026-10-17T16:08:52Z</dcterms:modified>
  <dc:title>imdb</dc:title>
  <dc:creator>sasakiy84</dc:creator>
  <dcterms:created xsi:type="dcterms:W3CDTF">2026-10-17T16:08:52Z</dcterms:created>
  <dc:language>ja-JP</dc:language>
</cp:coreProperties>
</file>