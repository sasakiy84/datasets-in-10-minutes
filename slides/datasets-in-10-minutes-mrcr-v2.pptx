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arxiv.org/abs/2409.12640v2" TargetMode="External"/><Relationship Id="rId4" Type="http://schemas.openxmlformats.org/officeDocument/2006/relationships/image" Target="../media/image2.png"/><Relationship Id="rId5" Type="http://schemas.openxmlformats.org/officeDocument/2006/relationships/hyperlink" Target="https://github.com/google-deepmind/eval_hub/tree/master/eval_hub/mrcr_v2" TargetMode="External"/><Relationship Id="rId6" Type="http://schemas.openxmlformats.org/officeDocument/2006/relationships/image" Target="../media/image3.png"/><Relationship Id="rId7" Type="http://schemas.openxmlformats.org/officeDocument/2006/relationships/hyperlink" Target="https://github.com/google-deepmind/eval_hub/tree/master/eval_hub/mrcr_v2#readme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google-deepmind/eval_hub/tree/master/eval_hub/mrcr_v2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google-deepmind/eval_hub/tree/master/eval_hub/mrcr_v2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google-deepmind/eval_hub/blob/master/eval_hub/mrcr_v2/download.sh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orage.googleapis.com/mrcr_v2/mrcr_v2p1_2needle_in_%284096%2C8192%29_dynamic_fewshot_text_style_fast.csv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orage.googleapis.com/mrcr_v2/mrcr_v2p1_2needle_in_%284096%2C8192%29_dynamic_fewshot_text_style_fast.csv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orage.googleapis.com/mrcr_v2/mrcr_v2p1_4needle_in_%284096%2C8192%29_dynamic_fewshot_text_style_fast.csv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orage.googleapis.com/mrcr_v2/mrcr_v2p1_4needle_in_%284096%2C8192%29_dynamic_fewshot_text_style_fast.csv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orage.googleapis.com/mrcr_v2/mrcr_v2p1_8needle_in_%284096%2C8192%29_dynamic_fewshot_text_style_fast.csv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orage.googleapis.com/mrcr_v2/mrcr_v2p1_8needle_in_%284096%2C8192%29_dynamic_fewshot_text_style_fast.csv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orage.googleapis.com/mrcr_v2/mrcr_v2p1_8needle_in_%284096%2C8192%29_dynamic_fewshot_text_style_fast.csv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google-deepmind/eval_hub/blob/master/eval_hub/mrcr_v2/run_evaluation.py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google-deepmind/eval_hub/blob/master/eval_hub/mrcr_v2/run_evaluation.py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eepmind.google/models/model-cards/gemini-3-1-pro/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deepmind.google/models/evals-methodology/gemini-3-1-pro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google-deepmind/eval_hub/blob/master/eval_hub/mrcr_v2/mrcr_utils.py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google-deepmind/eval_hub/blob/master/eval_hub/mrcr_v2/generate_mrcr_texts.py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google-deepmind/eval_hub/blob/master/eval_hub/mrcr_v2/download.sh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google-deepmind/eval_hub/tree/master/eval_hub/mrcr_v2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google-deepmind/eval_hub/blob/master/eval_hub/mrcr_v2/download.sh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google-deepmind/eval_hub/tree/master/eval_hub/mrcr_v2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orage.googleapis.com/mrcr_v2/mrcr_v2p1_2needle_in_%284096%2C8192%29_dynamic_fewshot_text_style_fast.csv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orage.googleapis.com/mrcr_v2/mrcr_v2p1_2needle_in_%284096%2C8192%29_dynamic_fewshot_text_style_fast.csv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orage.googleapis.com/mrcr_v2/mrcr_v2p1_2needle_in_%284096%2C8192%29_dynamic_fewshot_text_style_fast.csv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orage.googleapis.com/mrcr_v2/mrcr_v2p1_4needle_in_%284096%2C8192%29_dynamic_fewshot_text_style_fast.csv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orage.googleapis.com/mrcr_v2/mrcr_v2p1_4needle_in_%284096%2C8192%29_dynamic_fewshot_text_style_fast.csv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orage.googleapis.com/mrcr_v2/mrcr_v2p1_4needle_in_%284096%2C8192%29_dynamic_fewshot_text_style_fast.csv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orage.googleapis.com/mrcr_v2/mrcr_v2p1_8needle_in_%284096%2C8192%29_dynamic_fewshot_text_style_fast.csv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orage.googleapis.com/mrcr_v2/mrcr_v2p1_8needle_in_%284096%2C8192%29_dynamic_fewshot_text_style_fast.csv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orage.googleapis.com/mrcr_v2/mrcr_v2p1_8needle_in_%284096%2C8192%29_dynamic_fewshot_text_style_fast.csv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orage.googleapis.com/mrcr_v2/mrcr_v2p1_8needle_in_%284096%2C8192%29_dynamic_fewshot_text_style_fast.csv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google-deepmind/eval_hub/blob/master/eval_hub/mrcr_v2/download.sh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google-deepmind/eval_hub/tree/master/eval_hub/mrcr_v2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google-deepmind/eval_hub/blob/master/eval_hub/mrcr_v2/mrcr_utils.py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google-deepmind/eval_hub/blob/master/eval_hub/mrcr_v2/run_evaluation.py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deepmind.google/models/evals-methodology/gemini-3-1-pro/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google-deepmind/eval_hub/tree/master/eval_hub/mrcr_v2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9.12640v2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09.12640v2" TargetMode="External"/><Relationship Id="rId3" Type="http://schemas.openxmlformats.org/officeDocument/2006/relationships/hyperlink" Target="https://github.com/google-deepmind/eval_hub/tree/master/eval_hub/mrcr_v2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eepmind.google/models/model-cards/gemini-3-1-pro/" TargetMode="External"/><Relationship Id="rId3" Type="http://schemas.openxmlformats.org/officeDocument/2006/relationships/hyperlink" Target="https://deepmind.google/models/evals-methodology/gemini-3-1-pro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572768"/>
            <a:ext cx="8046720" cy="859536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200" b="0">
                <a:solidFill>
                  <a:srgbClr val="303437"/>
                </a:solidFill>
                <a:latin typeface="Noto Sans"/>
              </a:defRPr>
            </a:pPr>
            <a:r>
              <a:rPr sz="5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MRCR v2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264408"/>
            <a:ext cx="8046720" cy="859536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長い会話の中で、似た依頼の順序をたどる
指定された過去の応答を再掲する評価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6766560" y="4489704"/>
            <a:ext cx="1828800" cy="365760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658368" y="274320"/>
            <a:ext cx="7772400" cy="36576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(2026-10-17)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15768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Multi-round Coreference Resolution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MRCR v2の公式リポジトリ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MRCR v2: 公式リポジトリ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1000">
                <a:solidFill>
                  <a:srgbClr val="626669"/>
                </a:solidFill>
                <a:latin typeface="Noto Sans"/>
                <a:hlinkClick r:id="rId7"/>
              </a:rPr>
              <a:t>https://github.com/google-deepmind/eval_hub/tree/master/eval_hub/mrcr_v2#readme</a:t>
            </a:r>
          </a:p>
        </p:txBody>
      </p:sp>
      <p:pic>
        <p:nvPicPr>
          <p:cNvPr id="6" name="公式サイトの画面" descr="mrcr-v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4570" y="1481328"/>
            <a:ext cx="4594858" cy="30632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1226434"/>
            <a:ext cx="7772400" cy="2846324"/>
          </a:xfrm>
        </p:spPr>
        <p:txBody>
          <a:bodyPr lIns="0" rIns="0" tIns="0" bIns="0" wrap="square">
            <a:noAutofit/>
          </a:bodyPr>
          <a:lstStyle/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1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長い会話から、指定した応答を探す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2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類似度による採点とモデル比較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3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会話の作成とデータの構成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4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公開と利用方法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100" b="0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長い会話から指定した応答を探す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長い会話から、指定した応答を探す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同じ依頼の「何番目か」を、長い会話で追う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60"/>
              </a:lnSpc>
              <a:spcAft>
                <a:spcPts val="8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MRCRは、長い会話の中で繰り返される依頼を見分け、指定された出現順の応答を再掲する評価。Google DeepMindが公開したv2を扱う。</a:t>
            </a:r>
          </a:p>
          <a:p>
            <a:pPr marL="457200" indent="-355600">
              <a:lnSpc>
                <a:spcPts val="2460"/>
              </a:lnSpc>
              <a:spcAft>
                <a:spcPts val="8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依頼は「形式・題材・文体」の組で決まる。同じ組の依頼が2・4・8回現れ、毎回異なる文章が応答として付いている。</a:t>
            </a:r>
          </a:p>
          <a:p>
            <a:pPr marL="457200" indent="-355600">
              <a:lnSpc>
                <a:spcPts val="2460"/>
              </a:lnSpc>
              <a:spcAft>
                <a:spcPts val="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最後に「4番目の、改まった文体の宇宙探査エッセイ」のように指定する。モデルは12文字の指定文字列を先頭へ付け、該当する応答を返す。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長い会話から、指定した応答を探す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(2026). MRCR v2: 公式データ・生成手順・評価実装。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https://github.com/google-deepmind/eval_hub/tree/master/eval_hub/mrcr_v2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名前だけの検索から、条件と順序の追跡へ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長文から一つの目印を探すだけの評価に対して、MRCRは似た依頼を複数置く。同じ題材でも、文章の形式や文体が異なる。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形式・題材・文体がすべて同じ依頼について、何回目の応答かまで数える。手掛かりが同じでも、再掲すべき文章は回ごとに変わる。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会話を長くしながら、同じ処理を続けられるかを調べる。MRCRはMulti-round Coreference Resolutionの略。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長い会話から、指定した応答を探す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(2026). MRCR v2: 公式データ・生成手順・評価実装。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https://github.com/google-deepmind/eval_hub/tree/master/eval_hub/mrcr_v2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公開CSVから、本編3問と追加10問を選ぶ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本編では、2・4・8-needleの各1問を示す。needleは、指定の条件に合う依頼への応答を指し、2-needleならその応答が2件ある。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掲載例は、公式v2p1の4K〜8Kトークン区間から選んだ。会話表は、条件に一致する応答の冒頭を、出現順に抜き出している。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最終指示は全文、参照応答は冒頭の連続抜粋。Appendixは、異なる形式・題材・文体を指定する別の10問。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長い会話から、指定した応答を探す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(2026). MRCR v2: download.shが指定するv2p1のCSV。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https://github.com/google-deepmind/eval_hub/blob/master/eval_hub/mrcr_v2/download.sh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実例1：園芸の短編小説が2回現れる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長い会話から、指定した応答を探す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508760"/>
        </p:xfrm>
        <a:graphic>
          <a:graphicData uri="http://schemas.openxmlformats.org/drawingml/2006/table">
            <a:tbl>
              <a:tblPr firstRow="0" bandRow="0"/>
              <a:tblGrid>
                <a:gridCol w="1280160"/>
                <a:gridCol w="6766560"/>
              </a:tblGrid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出現順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応答の冒頭（抜粋）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Look, I get it. You’re a numbers guy. ROI, 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1" lang="ja-JP" altLang="en-US">
                          <a:solidFill>
                            <a:srgbClr val="B13731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1" lang="ja-JP" altLang="en-US">
                          <a:solidFill>
                            <a:srgbClr val="B13731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Alright, listen up! We’re facing a formidable 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209544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一致する依頼への応答を出現順に抜粋。太字が指定対象。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DeepMind. MRCR v2 / v2p1 / 2-needle / 4K–8K区間 / CSV行0（0始まり）。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https://storage.googleapis.com/mrcr_v2/mrcr_v2p1_2needle_in_%284096%2C8192%29_dynamic_fewshot_text_style_fast.csv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実例1：2番目の園芸の短編小説を返す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長い会話から、指定した応答を探す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8737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最終指示（配布原文・全文）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41392"/>
            <a:ext cx="7955279" cy="9235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Prepend 7XXicgRFSQWl to the second short story about gardening tips in a informal style. Do not include any other text in your response.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03602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「園芸のコツ」を題材にした、くだけた文体の短編小説の2番目を再掲する。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379385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参照応答の冒頭（連続抜粋）</a:t>
            </a:r>
          </a:p>
        </p:txBody>
      </p:sp>
      <p:sp>
        <p:nvSpPr>
          <p:cNvPr id="8" name="引用背景"/>
          <p:cNvSpPr/>
          <p:nvPr/>
        </p:nvSpPr>
        <p:spPr>
          <a:xfrm>
            <a:off x="548640" y="3708080"/>
            <a:ext cx="8046720" cy="81047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引用本文"/>
          <p:cNvSpPr txBox="1"/>
          <p:nvPr/>
        </p:nvSpPr>
        <p:spPr>
          <a:xfrm>
            <a:off x="713232" y="3804001"/>
            <a:ext cx="7717536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7XXicgRFSQWlAlright, listen up! We’re facing a formidable enemy. Not dragons, not goblins… weeds. And slugs.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DeepMind. MRCR v2 / v2p1 / 2-needle / 4K–8K区間 / CSV行0（0始まり）。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https://storage.googleapis.com/mrcr_v2/mrcr_v2p1_2needle_in_%284096%2C8192%29_dynamic_fewshot_text_style_fast.csv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実例2：神話のエッセイが4回現れる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長い会話から、指定した応答を探す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04285"/>
        </p:xfrm>
        <a:graphic>
          <a:graphicData uri="http://schemas.openxmlformats.org/drawingml/2006/table">
            <a:tbl>
              <a:tblPr firstRow="0" bandRow="0"/>
              <a:tblGrid>
                <a:gridCol w="1280160"/>
                <a:gridCol w="6766560"/>
              </a:tblGrid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出現順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応答の冒頭（抜粋）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1" lang="ja-JP" altLang="en-US">
                          <a:solidFill>
                            <a:srgbClr val="B13731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1" lang="ja-JP" altLang="en-US">
                          <a:solidFill>
                            <a:srgbClr val="B13731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## Oh. My. Gods! Ancient Myths are *Amazing*! 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## So, You Want to Invest in…Ancient Myths? A 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## So You Want to Live Like a Myth? A Word of 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## Why Did Zeus Need So Many Dates? A Humorous 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05072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一致する依頼への応答を出現順に抜粋。太字が指定対象。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DeepMind. MRCR v2 / v2p1 / 4-needle / 4K–8K区間 / CSV行0（0始まり）。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https://storage.googleapis.com/mrcr_v2/mrcr_v2p1_4needle_in_%284096%2C8192%29_dynamic_fewshot_text_style_fast.csv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実例2：最初の神話エッセイを返す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長い会話から、指定した応答を探す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66698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最終指示（配布原文・全文）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89354"/>
            <a:ext cx="7955279" cy="9235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Prepend JclDh94LsQ5l to the first essay about ancient myths in a humorous style. Do not include any other text in your response.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51563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「古代の神話」を題材にした、ユーモラスな文体のエッセイの1番目を再掲する。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27345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参照応答の冒頭（連続抜粋）</a:t>
            </a:r>
          </a:p>
        </p:txBody>
      </p:sp>
      <p:sp>
        <p:nvSpPr>
          <p:cNvPr id="8" name="引用背景"/>
          <p:cNvSpPr/>
          <p:nvPr/>
        </p:nvSpPr>
        <p:spPr>
          <a:xfrm>
            <a:off x="548640" y="3856041"/>
            <a:ext cx="8046720" cy="51455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引用本文"/>
          <p:cNvSpPr txBox="1"/>
          <p:nvPr/>
        </p:nvSpPr>
        <p:spPr>
          <a:xfrm>
            <a:off x="713232" y="3951962"/>
            <a:ext cx="7717536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JclDh94LsQ5l## Oh. My. Gods! Ancient Myths are *Amazing*!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DeepMind. MRCR v2 / v2p1 / 4-needle / 4K–8K区間 / CSV行0（0始まり）。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https://storage.googleapis.com/mrcr_v2/mrcr_v2p1_4needle_in_%284096%2C8192%29_dynamic_fewshot_text_style_fast.csv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実例3：宇宙探査（1〜4番目）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長い会話から、指定した応答を探す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04285"/>
        </p:xfrm>
        <a:graphic>
          <a:graphicData uri="http://schemas.openxmlformats.org/drawingml/2006/table">
            <a:tbl>
              <a:tblPr firstRow="0" bandRow="0"/>
              <a:tblGrid>
                <a:gridCol w="1280160"/>
                <a:gridCol w="6766560"/>
              </a:tblGrid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出現順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応答の冒頭（抜粋）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## The Ascendant Horizon: Charting Future 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## Is Humanity’s Future Written in the Stars? 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## The Imperative and Imminent Challenges of 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1" lang="ja-JP" altLang="en-US">
                          <a:solidFill>
                            <a:srgbClr val="B13731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1" lang="ja-JP" altLang="en-US">
                          <a:solidFill>
                            <a:srgbClr val="B13731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## To the Threshold of the Infinite: A Call to 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05072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一致する依頼への応答を出現順に抜粋。太字が指定対象。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DeepMind. MRCR v2 / v2p1 / 8-needle / 4K–8K区間 / CSV行0（0始まり）。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https://storage.googleapis.com/mrcr_v2/mrcr_v2p1_8needle_in_%284096%2C8192%29_dynamic_fewshot_text_style_fast.csv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実例3：宇宙探査（5〜8番目）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長い会話から、指定した応答を探す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04285"/>
        </p:xfrm>
        <a:graphic>
          <a:graphicData uri="http://schemas.openxmlformats.org/drawingml/2006/table">
            <a:tbl>
              <a:tblPr firstRow="0" bandRow="0"/>
              <a:tblGrid>
                <a:gridCol w="1280160"/>
                <a:gridCol w="6766560"/>
              </a:tblGrid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出現順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応答の冒頭（抜粋）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## The Dawning of a Universe Within Reach: A 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## The Prudent Expansion: Justifying Investment 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## Reaching for the Stars: Why We Explore Space 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## MEMORANDUM: Project Nightingale – Current 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05072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一致する依頼への応答を出現順に抜粋。太字が指定対象。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DeepMind. MRCR v2 / v2p1 / 8-needle / 4K–8K区間 / CSV行0（0始まり）。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https://storage.googleapis.com/mrcr_v2/mrcr_v2p1_8needle_in_%284096%2C8192%29_dynamic_fewshot_text_style_fast.csv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実例3：4番目の宇宙探査エッセイを返す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長い会話から、指定した応答を探す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66698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最終指示（配布原文・全文）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89354"/>
            <a:ext cx="7955279" cy="9235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Prepend HROIt7tHWU5j to the fourth essay about space exploration in a formal style. Do not include any other text in your response.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51563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「宇宙探査」を題材にした、改まった文体のエッセイの4番目を再掲する。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27345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参照応答の冒頭（連続抜粋）</a:t>
            </a:r>
          </a:p>
        </p:txBody>
      </p:sp>
      <p:sp>
        <p:nvSpPr>
          <p:cNvPr id="8" name="引用背景"/>
          <p:cNvSpPr/>
          <p:nvPr/>
        </p:nvSpPr>
        <p:spPr>
          <a:xfrm>
            <a:off x="548640" y="3856041"/>
            <a:ext cx="8046720" cy="51455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引用本文"/>
          <p:cNvSpPr txBox="1"/>
          <p:nvPr/>
        </p:nvSpPr>
        <p:spPr>
          <a:xfrm>
            <a:off x="713232" y="3951962"/>
            <a:ext cx="7717536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HROIt7tHWU5j## To the Threshold of the Infinite: A Call to Exploration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DeepMind. MRCR v2 / v2p1 / 8-needle / 4K–8K区間 / CSV行0（0始まり）。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https://storage.googleapis.com/mrcr_v2/mrcr_v2p1_8needle_in_%284096%2C8192%29_dynamic_fewshot_text_style_fast.csv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100" b="0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類似度による採点とモデル比較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類似度による採点とモデル比較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指定文字列の後ろを、参照応答と比べる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類似度による採点とモデル比較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715768"/>
        </p:xfrm>
        <a:graphic>
          <a:graphicData uri="http://schemas.openxmlformats.org/drawingml/2006/table">
            <a:tbl>
              <a:tblPr firstRow="0" bandRow="0"/>
              <a:tblGrid>
                <a:gridCol w="2286000"/>
                <a:gridCol w="5760720"/>
              </a:tblGrid>
              <a:tr h="48463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段階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公開実装の処理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6035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指定文字列を探す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応答内で最後に現れる12文字の指定文字列を探す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035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本文を切り出す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その直後の文章を取り出し、前後の空白を除く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120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類似度を計算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参照本文とSequenceMatcherで比較する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120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平均を取る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各問の0〜1の類似度を平均して報告する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(2026). MRCR v2: run_evaluation.py / mrcr_v2_metric。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https://github.com/google-deepmind/eval_hub/blob/master/eval_hub/mrcr_v2/run_evaluation.py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短い文字列で、採点の動きを見る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類似度による採点とモデル比較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94560"/>
        </p:xfrm>
        <a:graphic>
          <a:graphicData uri="http://schemas.openxmlformats.org/drawingml/2006/table">
            <a:tbl>
              <a:tblPr firstRow="0" bandRow="0"/>
              <a:tblGrid>
                <a:gridCol w="3657600"/>
                <a:gridCol w="2194560"/>
                <a:gridCol w="2194560"/>
              </a:tblGrid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応答本文（説明用）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参照本文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得点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cat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cat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1.00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cut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cat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0.67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指定文字列がない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cat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95344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指定文字列が見つからなければ0。catとcutは3文字中2文字が一致する。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(2026). MRCR v2: run_evaluation.py / mrcr_v2_metric。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https://github.com/google-deepmind/eval_hub/blob/master/eval_hub/mrcr_v2/run_evaluation.py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MRCR v2：128Kまでの平均類似度（%）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類似度による採点とモデル比較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743200"/>
        </p:xfrm>
        <a:graphic>
          <a:graphicData uri="http://schemas.openxmlformats.org/drawingml/2006/table">
            <a:tbl>
              <a:tblPr firstRow="0" bandRow="0"/>
              <a:tblGrid>
                <a:gridCol w="3931920"/>
                <a:gridCol w="1920240"/>
                <a:gridCol w="219456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思考設定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得点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Gemini 3.1 Pro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High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84.9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Sonnet 4.6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Max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84.9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Opus 4.6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Max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84.0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GPT-5.2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High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83.8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Gemini 3 Pro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High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77.0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(2026). Gemini 3.1 Pro: Model Card. 2026年2月の比較。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https://deepmind.google/models/model-cards/gemini-3-1-pro/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128Kまでの累積評価と、1Mでの点評価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Googleの2026年2月のモデルカードは、8-needleで128Kまでの累積得点と、1M付近の長さでの点評価を報告する。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Gemini 3.1 Proは、128Kまでで84.9%、1Mで26.3%。Gemini 3 Proは、それぞれ77.0%と26.3%だった。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評価手順書は、再現用データの公開先としてGoogle DeepMindのeval_hubにあるmrcr_v2を指定している。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類似度による採点とモデル比較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(2026). Gemini 3.1 Pro: Evaluation Methodology. MRCR v2は8-needle。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https://deepmind.google/models/evals-methodology/gemini-3-1-pro/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100" b="0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会話の作成とデータの構成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会話の作成とデータの構成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文章を生成し、順序を変えて会話へ埋め込む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会話の作成とデータの構成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743200"/>
        </p:xfrm>
        <a:graphic>
          <a:graphicData uri="http://schemas.openxmlformats.org/drawingml/2006/table">
            <a:tbl>
              <a:tblPr firstRow="0" bandRow="0"/>
              <a:tblGrid>
                <a:gridCol w="2468880"/>
                <a:gridCol w="557784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工程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公開コードでの作り方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素材の文章を生成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形式・題材・文体ごとに異なる文章を用意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応答を組にする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同じ依頼に対する2・4・8個の応答を選ぶ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他の依頼を混ぜる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別の題材や形式のやり取りを挿入する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順序と長さを調整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会話内の配置を変え、長さの区間へ合わせる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最終指示を付ける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指定の出現順と、参照応答を対応させる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(2026). MRCR v2: 形式・題材・文体と会話の組み立て。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https://github.com/google-deepmind/eval_hub/blob/master/eval_hub/mrcr_v2/mrcr_utils.py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三つの条件の組で、依頼を識別する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会話の作成とデータの構成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94560"/>
        </p:xfrm>
        <a:graphic>
          <a:graphicData uri="http://schemas.openxmlformats.org/drawingml/2006/table">
            <a:tbl>
              <a:tblPr firstRow="0" bandRow="0"/>
              <a:tblGrid>
                <a:gridCol w="1645920"/>
                <a:gridCol w="6400800"/>
              </a:tblGrid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条件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公開生成コードの設定例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形式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メール、短編小説、ブログ、ツイート、詩など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題材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宇宙探査、園芸、架空の製品発表、神話など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文体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改まった、くだけた、ユーモラス、技術的、古風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95344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例えば「詩 × ペンギン × ユーモラスな文体」が一つの依頼になる。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(2026). MRCR v2: 公開の文章生成コードの設定。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https://github.com/google-deepmind/eval_hub/blob/master/eval_hub/mrcr_v2/generate_mrcr_texts.py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会話を長くする区間と、needle数を選べる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会話の作成とデータの構成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798064"/>
        </p:xfrm>
        <a:graphic>
          <a:graphicData uri="http://schemas.openxmlformats.org/drawingml/2006/table">
            <a:tbl>
              <a:tblPr firstRow="0" bandRow="0"/>
              <a:tblGrid>
                <a:gridCol w="2468880"/>
                <a:gridCol w="5577840"/>
              </a:tblGrid>
              <a:tr h="48463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設定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公式ダウンローダーでの構成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needle数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 / 4 / 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035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長さの最短区間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4,096より長く、8,192トークン以下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035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128Kまで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131,072トークンまでの累積データも配布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035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長い区間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1M、2M、4M、8Mに向かう区間を配布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(2026). MRCR v2: download.shが指定するv2p1のCSV。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https://github.com/google-deepmind/eval_hub/blob/master/eval_hub/mrcr_v2/download.sh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200" b="0">
                <a:solidFill>
                  <a:srgbClr val="303437"/>
                </a:solidFill>
                <a:latin typeface="Noto Sans"/>
              </a:defRPr>
            </a:pPr>
            <a:r>
              <a:rPr sz="3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4. 公開と利用方法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公開と利用方法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2024年のMRCRから、公開v2の再現評価へ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2024年のMichelangelo論文は、形式と題材を手掛かりに、会話中の順序をたどるMRCRを説明した。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Google DeepMindの公開v2は、文体も条件に加えた会話と、2・4・8-needleのデータを提供する。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2026年のGemini 3.1 Proは、8-needleのMRCR v2を公式評価に採用。公開データを再現用に案内する。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公開と利用方法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(2026). MRCR v2: 公式データ・生成手順・評価実装。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https://github.com/google-deepmind/eval_hub/tree/master/eval_hub/mrcr_v2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CSVから最終指示と参照応答を読む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公開と利用方法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8046720" cy="23495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csv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/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csv.field_size_limit(100_000_000)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with open("mrcr_v2.csv", newline="") as f: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rows = list(csv.DictReader(f))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row = rows[0]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print(row["view_ops"])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print(row["answer"][:120])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059428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公式CSVをmrcr_v2.csvとして保存し、先頭行を読む。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(2026). MRCR v2: download.shが指定するv2p1のCSV。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https://github.com/google-deepmind/eval_hub/blob/master/eval_hub/mrcr_v2/download.sh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長文の中で、似た依頼と順序を保って追えるか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40"/>
              </a:lnSpc>
              <a:spcAft>
                <a:spcPts val="80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MRCR v2は、長い会話から条件と出現順に合う過去の応答を再掲する評価。形式・題材・文体を組み合わせた依頼が繰り返される。</a:t>
            </a:r>
          </a:p>
          <a:p>
            <a:pPr marL="457200" indent="-355600">
              <a:lnSpc>
                <a:spcPts val="2340"/>
              </a:lnSpc>
              <a:spcAft>
                <a:spcPts val="80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応答には12文字の指定文字列を付け、参照本文との文字列類似度で採点する。公開実装と、長さ・needle数を変えたCSVを入手できる。</a:t>
            </a:r>
          </a:p>
          <a:p>
            <a:pPr marL="457200" indent="-355600">
              <a:lnSpc>
                <a:spcPts val="2340"/>
              </a:lnSpc>
              <a:spcAft>
                <a:spcPts val="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Gemini 3.1 Proの公式比較では、8-needleの128Kまでで84.9%、1Mで26.3%。会話が長くなったときの追跡能力を調べる資料になる。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公開と利用方法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(2026). MRCR v2: 公式データ・生成手順・評価実装。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https://github.com/google-deepmind/eval_hub/tree/master/eval_hub/mrcr_v2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59895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4400" b="0">
                <a:solidFill>
                  <a:srgbClr val="303437"/>
                </a:solidFill>
                <a:latin typeface="Noto Sans"/>
              </a:defRPr>
            </a:pPr>
            <a:r>
              <a:rPr sz="4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1668081"/>
            <a:ext cx="7772400" cy="2077720"/>
          </a:xfrm>
        </p:spPr>
        <p:txBody>
          <a:bodyPr lIns="0" rIns="0" tIns="0" bIns="0" wrap="square">
            <a:noAutofit/>
          </a:bodyPr>
          <a:lstStyle/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形式・題材の異なる追加例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実データと採点の詳細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制作機関と参考文献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100" b="0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形式・題材の異なる追加例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形式・題材の異なる追加例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追加例1：ペンギンの技術的なツイート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形式・題材の異なる追加例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8737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最終指示（配布原文・全文）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41392"/>
            <a:ext cx="7955279" cy="9235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Prepend Q7jYVGPcnz10 to the second tweet about penguins in a technical style. Do not include any other text in your response.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03602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「ペンギン」を題材にした、技術的な文体のツイートの2番目を再掲する。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379385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参照応答の冒頭（連続抜粋）</a:t>
            </a:r>
          </a:p>
        </p:txBody>
      </p:sp>
      <p:sp>
        <p:nvSpPr>
          <p:cNvPr id="8" name="引用背景"/>
          <p:cNvSpPr/>
          <p:nvPr/>
        </p:nvSpPr>
        <p:spPr>
          <a:xfrm>
            <a:off x="548640" y="3708080"/>
            <a:ext cx="8046720" cy="81047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引用本文"/>
          <p:cNvSpPr txBox="1"/>
          <p:nvPr/>
        </p:nvSpPr>
        <p:spPr>
          <a:xfrm>
            <a:off x="713232" y="3804001"/>
            <a:ext cx="7717536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Q7jYVGPcnz10Penguin locomotion: not "waddling inefficiency" as you suggest. Highly optimized for glacial/ice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DeepMind. MRCR v2 / v2p1 / 2-needle / 4K–8K区間 / CSV行2（0始まり）。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https://storage.googleapis.com/mrcr_v2/mrcr_v2p1_2needle_in_%284096%2C8192%29_dynamic_fewshot_text_style_fast.csv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追加例2：宇宙探査を題材にした古風な詩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形式・題材の異なる追加例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36700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最終指示（配布原文・全文）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59355"/>
            <a:ext cx="7955279" cy="9235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Prepend h4z2lNFlIUaU to the first poem about space exploration in a archaic style. Do not include any other text in your response.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821564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「宇宙探査」を題材にした、古風な文体の詩の1番目を再掲する。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357344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参照応答の冒頭（連続抜粋）</a:t>
            </a:r>
          </a:p>
        </p:txBody>
      </p:sp>
      <p:sp>
        <p:nvSpPr>
          <p:cNvPr id="8" name="引用背景"/>
          <p:cNvSpPr/>
          <p:nvPr/>
        </p:nvSpPr>
        <p:spPr>
          <a:xfrm>
            <a:off x="548640" y="3686039"/>
            <a:ext cx="8046720" cy="51455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引用本文"/>
          <p:cNvSpPr txBox="1"/>
          <p:nvPr/>
        </p:nvSpPr>
        <p:spPr>
          <a:xfrm>
            <a:off x="713232" y="3781961"/>
            <a:ext cx="7717536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h4z2lNFlIUaUHark, ye bold hearts, and lend thine ear!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DeepMind. MRCR v2 / v2p1 / 2-needle / 4K–8K区間 / CSV行4（0始まり）。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https://storage.googleapis.com/mrcr_v2/mrcr_v2p1_2needle_in_%284096%2C8192%29_dynamic_fewshot_text_style_fast.csv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追加例3：フラミンゴのなぞなぞ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形式・題材の異なる追加例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8737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最終指示（配布原文・全文）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41392"/>
            <a:ext cx="7955279" cy="9235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Prepend sG29eA0kcEo0 to the first riddle about flamingoes in a informal style. Do not include any other text in your response.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03602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「フラミンゴ」を題材にした、くだけた文体のなぞなぞの1番目を再掲する。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379385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参照応答の冒頭（連続抜粋）</a:t>
            </a:r>
          </a:p>
        </p:txBody>
      </p:sp>
      <p:sp>
        <p:nvSpPr>
          <p:cNvPr id="8" name="引用背景"/>
          <p:cNvSpPr/>
          <p:nvPr/>
        </p:nvSpPr>
        <p:spPr>
          <a:xfrm>
            <a:off x="548640" y="3708080"/>
            <a:ext cx="8046720" cy="81047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引用本文"/>
          <p:cNvSpPr txBox="1"/>
          <p:nvPr/>
        </p:nvSpPr>
        <p:spPr>
          <a:xfrm>
            <a:off x="713232" y="3804001"/>
            <a:ext cx="7717536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sG29eA0kcEo0Okay, here's a riddle about flamingos, informal style, emphasizing challenges: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DeepMind. MRCR v2 / v2p1 / 2-needle / 4K–8K区間 / CSV行6（0始まり）。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https://storage.googleapis.com/mrcr_v2/mrcr_v2p1_2needle_in_%284096%2C8192%29_dynamic_fewshot_text_style_fast.csv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追加例4：架空の製品発表の詩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形式・題材の異なる追加例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8737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最終指示（配布原文・全文）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41392"/>
            <a:ext cx="7955279" cy="9235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Prepend ekKyY8Sdf6gC to the second poem about a fictional product launch in a informal style. Do not include any other text in your response.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03602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「架空の製品発表」を題材にした、くだけた文体の詩の2番目を再掲する。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379385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参照応答の冒頭（連続抜粋）</a:t>
            </a:r>
          </a:p>
        </p:txBody>
      </p:sp>
      <p:sp>
        <p:nvSpPr>
          <p:cNvPr id="8" name="引用背景"/>
          <p:cNvSpPr/>
          <p:nvPr/>
        </p:nvSpPr>
        <p:spPr>
          <a:xfrm>
            <a:off x="548640" y="3708080"/>
            <a:ext cx="8046720" cy="81047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引用本文"/>
          <p:cNvSpPr txBox="1"/>
          <p:nvPr/>
        </p:nvSpPr>
        <p:spPr>
          <a:xfrm>
            <a:off x="713232" y="3804001"/>
            <a:ext cx="7717536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ekKyY8Sdf6gCOkay, look, I know what you're thinking. Another gadget? Seriously?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DeepMind. MRCR v2 / v2p1 / 4-needle / 4K–8K区間 / CSV行4（0始まり）。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https://storage.googleapis.com/mrcr_v2/mrcr_v2p1_4needle_in_%284096%2C8192%29_dynamic_fewshot_text_style_fast.csv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追加例5：古風な園芸の短編小説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形式・題材の異なる追加例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8737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最終指示（配布原文・全文）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41392"/>
            <a:ext cx="7955279" cy="9235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Prepend X5SOAJjpF9d2 to the second short story about gardening tips in a archaic style. Do not include any other text in your response.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03602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「園芸のコツ」を題材にした、古風な文体の短編小説の2番目を再掲する。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379385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参照応答の冒頭（連続抜粋）</a:t>
            </a:r>
          </a:p>
        </p:txBody>
      </p:sp>
      <p:sp>
        <p:nvSpPr>
          <p:cNvPr id="8" name="引用背景"/>
          <p:cNvSpPr/>
          <p:nvPr/>
        </p:nvSpPr>
        <p:spPr>
          <a:xfrm>
            <a:off x="548640" y="3708080"/>
            <a:ext cx="8046720" cy="81047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引用本文"/>
          <p:cNvSpPr txBox="1"/>
          <p:nvPr/>
        </p:nvSpPr>
        <p:spPr>
          <a:xfrm>
            <a:off x="713232" y="3804001"/>
            <a:ext cx="7717536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X5SOAJjpF9d2Old Man Tiber, they called me, though my bones creaked less from age than from years spent bent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DeepMind. MRCR v2 / v2p1 / 4-needle / 4K–8K区間 / CSV行8（0始まり）。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https://storage.googleapis.com/mrcr_v2/mrcr_v2p1_4needle_in_%284096%2C8192%29_dynamic_fewshot_text_style_fast.csv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追加例6：ユーモラスな園芸の詩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形式・題材の異なる追加例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66698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最終指示（配布原文・全文）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89354"/>
            <a:ext cx="7955279" cy="9235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Prepend fha9KZF3rN1k to the first poem about gardening tips in a humorous style. Do not include any other text in your response.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51563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「園芸のコツ」を題材にした、ユーモラスな文体の詩の1番目を再掲する。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27345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参照応答の冒頭（連続抜粋）</a:t>
            </a:r>
          </a:p>
        </p:txBody>
      </p:sp>
      <p:sp>
        <p:nvSpPr>
          <p:cNvPr id="8" name="引用背景"/>
          <p:cNvSpPr/>
          <p:nvPr/>
        </p:nvSpPr>
        <p:spPr>
          <a:xfrm>
            <a:off x="548640" y="3856041"/>
            <a:ext cx="8046720" cy="51455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引用本文"/>
          <p:cNvSpPr txBox="1"/>
          <p:nvPr/>
        </p:nvSpPr>
        <p:spPr>
          <a:xfrm>
            <a:off x="713232" y="3951962"/>
            <a:ext cx="7717536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fha9KZF3rN1kRight, you want ROI? Forget tech stocks, listen close,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DeepMind. MRCR v2 / v2p1 / 4-needle / 4K–8K区間 / CSV行12（0始まり）。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https://storage.googleapis.com/mrcr_v2/mrcr_v2p1_4needle_in_%284096%2C8192%29_dynamic_fewshot_text_style_fast.csv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追加例7：ペンギンを題材にした詩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形式・題材の異なる追加例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66698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最終指示（配布原文・全文）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89354"/>
            <a:ext cx="7955279" cy="9235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Prepend DpyaXA527tK7 to the fifth poem about penguins in a humorous style. Do not include any other text in your response.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51563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「ペンギン」を題材にした、ユーモラスな文体の詩の5番目を再掲する。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27345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参照応答の冒頭（連続抜粋）</a:t>
            </a:r>
          </a:p>
        </p:txBody>
      </p:sp>
      <p:sp>
        <p:nvSpPr>
          <p:cNvPr id="8" name="引用背景"/>
          <p:cNvSpPr/>
          <p:nvPr/>
        </p:nvSpPr>
        <p:spPr>
          <a:xfrm>
            <a:off x="548640" y="3856041"/>
            <a:ext cx="8046720" cy="51455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引用本文"/>
          <p:cNvSpPr txBox="1"/>
          <p:nvPr/>
        </p:nvSpPr>
        <p:spPr>
          <a:xfrm>
            <a:off x="713232" y="3951962"/>
            <a:ext cx="7717536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DpyaXA527tK7Right then, listen up, you feathered fiends!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DeepMind. MRCR v2 / v2p1 / 8-needle / 4K–8K区間 / CSV行8（0始まり）。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https://storage.googleapis.com/mrcr_v2/mrcr_v2p1_8needle_in_%284096%2C8192%29_dynamic_fewshot_text_style_fast.csv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追加例8：技術的な文体の神話の短編小説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形式・題材の異なる追加例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8737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最終指示（配布原文・全文）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41392"/>
            <a:ext cx="7955279" cy="9235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Prepend OUo3LHB6CN19 to the fourth short story about ancient myths in a technical style. Do not include any other text in your response.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03602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「古代の神話」を題材にした、技術的な文体の短編小説の4番目を再掲する。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379385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参照応答の冒頭（連続抜粋）</a:t>
            </a:r>
          </a:p>
        </p:txBody>
      </p:sp>
      <p:sp>
        <p:nvSpPr>
          <p:cNvPr id="8" name="引用背景"/>
          <p:cNvSpPr/>
          <p:nvPr/>
        </p:nvSpPr>
        <p:spPr>
          <a:xfrm>
            <a:off x="548640" y="3708080"/>
            <a:ext cx="8046720" cy="81047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引用本文"/>
          <p:cNvSpPr txBox="1"/>
          <p:nvPr/>
        </p:nvSpPr>
        <p:spPr>
          <a:xfrm>
            <a:off x="713232" y="3804001"/>
            <a:ext cx="7717536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OUo3LHB6CN19## Project: Mythological Resonance – Preliminary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DeepMind. MRCR v2 / v2p1 / 8-needle / 4K–8K区間 / CSV行16（0始まり）。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https://storage.googleapis.com/mrcr_v2/mrcr_v2p1_8needle_in_%284096%2C8192%29_dynamic_fewshot_text_style_fast.csv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追加例9：改まった文体の製品発表ブログ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形式・題材の異なる追加例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8737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最終指示（配布原文・全文）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41392"/>
            <a:ext cx="7955279" cy="9235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Prepend 1XzzaxnaJc94 to the second blog post about a fictional product launch in a formal style. Do not include any other text in your response.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03602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「架空の製品発表」を題材にした、改まった文体のブログ記事の2番目を再掲する。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379385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参照応答の冒頭（連続抜粋）</a:t>
            </a:r>
          </a:p>
        </p:txBody>
      </p:sp>
      <p:sp>
        <p:nvSpPr>
          <p:cNvPr id="8" name="引用背景"/>
          <p:cNvSpPr/>
          <p:nvPr/>
        </p:nvSpPr>
        <p:spPr>
          <a:xfrm>
            <a:off x="548640" y="3708080"/>
            <a:ext cx="8046720" cy="81047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引用本文"/>
          <p:cNvSpPr txBox="1"/>
          <p:nvPr/>
        </p:nvSpPr>
        <p:spPr>
          <a:xfrm>
            <a:off x="713232" y="3804001"/>
            <a:ext cx="7717536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1XzzaxnaJc94## Is the Future of Personal Climate Control… Wearable? Introducing the ‘Aura’ by Chronosync.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DeepMind. MRCR v2 / v2p1 / 8-needle / 4K–8K区間 / CSV行24（0始まり）。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https://storage.googleapis.com/mrcr_v2/mrcr_v2p1_8needle_in_%284096%2C8192%29_dynamic_fewshot_text_style_fast.csv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追加例10：古風な文体の製品発表ツイート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形式・題材の異なる追加例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8737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最終指示（配布原文・全文）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41392"/>
            <a:ext cx="7955279" cy="9235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Prepend R8joP68qUWGv to the first tweet about a fictional product launch in a archaic style. Do not include any other text in your response.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03602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「架空の製品発表」を題材にした、古風な文体のツイートの1番目を再掲する。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379385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参照応答の冒頭（連続抜粋）</a:t>
            </a:r>
          </a:p>
        </p:txBody>
      </p:sp>
      <p:sp>
        <p:nvSpPr>
          <p:cNvPr id="8" name="引用背景"/>
          <p:cNvSpPr/>
          <p:nvPr/>
        </p:nvSpPr>
        <p:spPr>
          <a:xfrm>
            <a:off x="548640" y="3708080"/>
            <a:ext cx="8046720" cy="81047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引用本文"/>
          <p:cNvSpPr txBox="1"/>
          <p:nvPr/>
        </p:nvSpPr>
        <p:spPr>
          <a:xfrm>
            <a:off x="713232" y="3804001"/>
            <a:ext cx="7717536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R8joP68qUWGvHark! Doth thy visage yearn for luminescence beyond compare?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DeepMind. MRCR v2 / v2p1 / 8-needle / 4K–8K区間 / CSV行32（0始まり）。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https://storage.googleapis.com/mrcr_v2/mrcr_v2p1_8needle_in_%284096%2C8192%29_dynamic_fewshot_text_style_fast.csv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100" b="0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実データと採点の詳細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実データと採点の詳細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取得した4K〜8K区間の公開CSV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実データと採点の詳細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94560"/>
        </p:xfrm>
        <a:graphic>
          <a:graphicData uri="http://schemas.openxmlformats.org/drawingml/2006/table">
            <a:tbl>
              <a:tblPr firstRow="0" bandRow="0"/>
              <a:tblGrid>
                <a:gridCol w="2103120"/>
                <a:gridCol w="1463040"/>
                <a:gridCol w="1645920"/>
                <a:gridCol w="2834640"/>
              </a:tblGrid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needle数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会話数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平均長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6,357.6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6,488.0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6,643.3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95344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平均長はCSVのcontext_len（トークン）。会話は最終指示を除いて重複排除。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(2026). MRCR v2: download.shが指定するv2p1のCSV。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https://github.com/google-deepmind/eval_hub/blob/master/eval_hub/mrcr_v2/download.sh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CSVの1行は、最終指示と参照応答の一組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同じ長い会話から、異なる依頼や出現順を指定した複数の問題を作れる。CSVの各行は、会話・最終指示・正しい参照応答を一組として持つ。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この資料の実例は、形式・題材・文体の指定が異なる13問。参照応答が、会話内の指定された順序の文章と一致することを確認した。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queriesは先頭の解答例と本番の会話、view_opsは最後の指示、answerは指定文字列と再掲する文章を持つ。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実データと採点の詳細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(2026). MRCR v2: 公式データ・生成手順・評価実装。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https://github.com/google-deepmind/eval_hub/tree/master/eval_hub/mrcr_v2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CSVに含まれる主な情報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実データと採点の詳細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880360"/>
        </p:xfrm>
        <a:graphic>
          <a:graphicData uri="http://schemas.openxmlformats.org/drawingml/2006/table">
            <a:tbl>
              <a:tblPr firstRow="0" bandRow="0"/>
              <a:tblGrid>
                <a:gridCol w="3291840"/>
                <a:gridCol w="4754880"/>
              </a:tblGrid>
              <a:tr h="4114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内容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114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queries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会話と最終指示を含む入力文字列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114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answer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指定文字列＋正しい応答全文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114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view_ops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出現順・形式・題材・文体の指定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114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context_len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配布された入力長のトークン数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114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num_relevant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一致する依頼への応答の数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114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relevant_context_positions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一致する応答が置かれた会話内の位置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(2026). MRCR v2: 形式・題材・文体と会話の組み立て。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https://github.com/google-deepmind/eval_hub/blob/master/eval_hub/mrcr_v2/mrcr_utils.py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指定文字列を探し、最後の出現より後ろを採点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課題の指示は、12文字の指定文字列を応答の先頭に置く形式。公開採点関数は、その文字列の最後の出現をrfindで探している。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採点関数は、見つけた位置より後ろを切り出し、前後の空白を除いて参照本文と比較する。指定文字列が応答中にない場合は0点。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冒頭に余分な文章があっても、指定文字列が後で現れれば本文を切り出す実装になっている。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実データと採点の詳細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(2026). MRCR v2: run_evaluation.py / mrcr_v2_metric。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https://github.com/google-deepmind/eval_hub/blob/master/eval_hub/mrcr_v2/run_evaluation.py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公開v2と、OpenAI版MRCRの配布先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40"/>
              </a:lnSpc>
              <a:spcAft>
                <a:spcPts val="80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この資料で使ったのは、Google DeepMindのeval_hubが公開するMRCR v2。公式ダウンローダーが指定するv2p1のCSVを取得した。</a:t>
            </a:r>
          </a:p>
          <a:p>
            <a:pPr marL="457200" indent="-355600">
              <a:lnSpc>
                <a:spcPts val="2340"/>
              </a:lnSpc>
              <a:spcAft>
                <a:spcPts val="80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OpenAIも2025年に、別のMRCRデータをHugging Faceで公開している。こちらは、2025年12月に対象応答の数と正解の誤りを修正した。</a:t>
            </a:r>
          </a:p>
          <a:p>
            <a:pPr marL="457200" indent="-355600">
              <a:lnSpc>
                <a:spcPts val="2340"/>
              </a:lnSpc>
              <a:spcAft>
                <a:spcPts val="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Gemini 3.1 Proの手順書が再現用として案内するのは、Google DeepMind版のmrcr_v2。実例とモデル比較の出典をこの公開先に合わせた。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実データと採点の詳細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(2026). Gemini 3.1 Pro: Evaluation Methodology. MRCR v2は8-needle。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https://deepmind.google/models/evals-methodology/gemini-3-1-pro/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評価条件と、データの入手先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公式READMEは、コード実行ツールの有無を評価条件に記すよう求める。会話をコードで検索する場合と、モデルが会話を読む場合で、課題の処理が変わる。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公開モジュールのライセンスはApache 2.0。生成・採点のコードを参照でき、CSVはGoogle Cloud Storageから取得する。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本資料は最短の4K〜8K区間のCSV3本を取得した。より長い区間はdownload.shで選んで取得できる。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実データと採点の詳細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(2026). MRCR v2: 公式データ・生成手順・評価実装。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https://github.com/google-deepmind/eval_hub/tree/master/eval_hub/mrcr_v2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100" b="0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制作機関と参考文献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制作機関と参考文献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Google DeepMindの長文評価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00"/>
              </a:lnSpc>
              <a:spcAft>
                <a:spcPts val="8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MRCRを説明したMichelangelo論文の第一著者はKiran Vodrahalli、最終著者はKate Olszewska。Google DeepMindとGoogle Researchの研究として2024年に公開された。</a:t>
            </a:r>
          </a:p>
          <a:p>
            <a:pPr marL="457200" indent="-355600">
              <a:lnSpc>
                <a:spcPts val="2400"/>
              </a:lnSpc>
              <a:spcAft>
                <a:spcPts val="8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論文は、長い入力の中で不要な情報を除き、必要な構造を取り出す評価を扱う。MRCRは、そのうち自然言語の会話を使う課題。</a:t>
            </a:r>
          </a:p>
          <a:p>
            <a:pPr marL="457200" indent="-355600">
              <a:lnSpc>
                <a:spcPts val="2400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公開v2はGoogle DeepMindのeval_hubに収録され、モデルカードの数値を再現するためのデータと評価コードを提供する。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制作機関と参考文献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Vodrahalli et al. (2024). Michelangelo: Long Context Evaluations Beyond Haystacks via Latent Structure Queries. arXiv v2。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https://arxiv.org/abs/2409.12640v2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制作機関と参考文献</a:t>
            </a:r>
          </a:p>
        </p:txBody>
      </p:sp>
      <p:sp>
        <p:nvSpPr>
          <p:cNvPr id="4" name="文献 1: Michelangelo: Long Context Evaluations Beyond Haystacks via Latent Structure Queries"/>
          <p:cNvSpPr txBox="1"/>
          <p:nvPr/>
        </p:nvSpPr>
        <p:spPr>
          <a:xfrm>
            <a:off x="548640" y="1371600"/>
            <a:ext cx="8046720" cy="1783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Michelangelo: Long Context Evaluations Beyond Haystacks via Latent Structure Queries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Kiran Vodrahalli et al. / Google DeepMind・Google Research / 2024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長い入力の構造を問う枠組みと、MRCRの課題・採点・初期評価を説明する。</a:t>
            </a:r>
          </a:p>
          <a:p>
            <a:pPr>
              <a:lnSpc>
                <a:spcPct val="112000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https://arxiv.org/abs/2409.12640v2</a:t>
            </a:r>
          </a:p>
        </p:txBody>
      </p:sp>
      <p:sp>
        <p:nvSpPr>
          <p:cNvPr id="5" name="文献 2: MRCR v2: Official Data and Code"/>
          <p:cNvSpPr txBox="1"/>
          <p:nvPr/>
        </p:nvSpPr>
        <p:spPr>
          <a:xfrm>
            <a:off x="548640" y="3200400"/>
            <a:ext cx="8046720" cy="1783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MRCR v2: Official Data and Code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/ eval_hub / 2026 / Apache 2.0（実装）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v2p1のCSV、形式・題材・文体を使う会話生成、採点と集計の実装を公開する。</a:t>
            </a:r>
          </a:p>
          <a:p>
            <a:pPr>
              <a:lnSpc>
                <a:spcPct val="112000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https://github.com/google-deepmind/eval_hub/tree/master/eval_hub/mrcr_v2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制作機関と参考文献</a:t>
            </a:r>
          </a:p>
        </p:txBody>
      </p:sp>
      <p:sp>
        <p:nvSpPr>
          <p:cNvPr id="4" name="文献 1: Gemini 3.1 Pro: Model Card"/>
          <p:cNvSpPr txBox="1"/>
          <p:nvPr/>
        </p:nvSpPr>
        <p:spPr>
          <a:xfrm>
            <a:off x="548640" y="1371600"/>
            <a:ext cx="8046720" cy="1783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Gemini 3.1 Pro: Model Card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/ 2026年2月の評価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8-needleのMRCR v2について、モデル比較と長さを変えた得点を掲載する。</a:t>
            </a:r>
          </a:p>
          <a:p>
            <a:pPr>
              <a:lnSpc>
                <a:spcPct val="112000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https://deepmind.google/models/model-cards/gemini-3-1-pro/</a:t>
            </a:r>
          </a:p>
        </p:txBody>
      </p:sp>
      <p:sp>
        <p:nvSpPr>
          <p:cNvPr id="5" name="文献 2: Gemini 3.1 Pro: Evaluation Methodology"/>
          <p:cNvSpPr txBox="1"/>
          <p:nvPr/>
        </p:nvSpPr>
        <p:spPr>
          <a:xfrm>
            <a:off x="548640" y="3200400"/>
            <a:ext cx="8046720" cy="1783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Gemini 3.1 Pro: Evaluation Methodology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/ 2026年2月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128Kの累積評価と1Mの点評価を定義し、再現用の公開データを案内する。</a:t>
            </a:r>
          </a:p>
          <a:p>
            <a:pPr>
              <a:lnSpc>
                <a:spcPct val="112000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https://deepmind.google/models/evals-methodology/gemini-3-1-pro/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佐々木　悠太</cp:lastModifiedBy>
  <cp:revision>500</cp:revision>
  <dcterms:modified xsi:type="dcterms:W3CDTF">2026-10-13T12:49:59Z</dcterms:modified>
  <dc:title>MRCR v2 — datasets in 10 minutes</dc:title>
  <dc:creator>sasakiy84</dc:creator>
  <dc:subject>長い会話での条件と順序の追跡：13実例、2・4・8-needle、類似度による採点とモデル評価</dc:subject>
</cp:coreProperties>
</file>