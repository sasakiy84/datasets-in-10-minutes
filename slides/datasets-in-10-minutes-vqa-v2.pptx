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4以下</c:v>
                </c:pt>
                <c:pt idx="1">
                  <c:v>5–7</c:v>
                </c:pt>
                <c:pt idx="2">
                  <c:v>8–10</c:v>
                </c:pt>
                <c:pt idx="3">
                  <c:v>11–13</c:v>
                </c:pt>
                <c:pt idx="4">
                  <c:v>14以上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35103</c:v>
                </c:pt>
                <c:pt idx="1">
                  <c:v>134416</c:v>
                </c:pt>
                <c:pt idx="2">
                  <c:v>37994</c:v>
                </c:pt>
                <c:pt idx="3">
                  <c:v>5662</c:v>
                </c:pt>
                <c:pt idx="4">
                  <c:v>1179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visualqa.org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612.00837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.gne?id=8614354814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rustydarbonne/2319776213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612.00837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riz94107/4866736626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litek/4549977479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visualqa.org/evaluation.html" TargetMode="External"/><Relationship Id="rId3" Type="http://schemas.openxmlformats.org/officeDocument/2006/relationships/hyperlink" Target="https://github.com/GT-Vision-Lab/VQA/blob/a013f00/PythonEvaluationTools/vqaEvaluation/vqaEval.py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T-Vision-Lab/VQA/blob/a013f00/PythonEvaluationTools/vqaEvaluation/vqaEval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GT-Vision-Lab/VQA/blob/a013f00/PythonEvaluationTools/vqaEvaluation/vqaEval.p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612.00837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01.12597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01.12597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612.00837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612.00837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612.00837" TargetMode="External"/><Relationship Id="rId3" Type="http://schemas.openxmlformats.org/officeDocument/2006/relationships/hyperlink" Target="https://arxiv.org/abs/2301.12597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alesforce/LAVIS/blob/main/lavis/tasks/vqa.py" TargetMode="External"/><Relationship Id="rId3" Type="http://schemas.openxmlformats.org/officeDocument/2006/relationships/hyperlink" Target="https://visualqa.org/download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visualqa.org/download.html" TargetMode="External"/><Relationship Id="rId3" Type="http://schemas.openxmlformats.org/officeDocument/2006/relationships/hyperlink" Target="https://cocodataset.org/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612.00837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.gne?id=1562760533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klingele/4872033447/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trongton/8653774735/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vpillar/2873582007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101095425@N08/9627540643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.gne?id=4918042336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darkb4dawn/6981041686/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ell-r-brown/9324458628/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j0nny_t/7556152056/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hyperlink" Target="https://visualqa.org/download.html" TargetMode="External"/><Relationship Id="rId4" Type="http://schemas.openxmlformats.org/officeDocument/2006/relationships/hyperlink" Target="https://www.flickr.com/photos/platano/2456758025/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visualqa.org/download.html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612.00837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612.00837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01.12597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visualqa.org/download.html" TargetMode="External"/><Relationship Id="rId3" Type="http://schemas.openxmlformats.org/officeDocument/2006/relationships/hyperlink" Target="https://github.com/salesforce/LAVIS/blob/main/lavis/tasks/vqa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439190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VQA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448840"/>
            <a:ext cx="8046720" cy="1386840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Visual Question Answering, version 2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同じ質問でも、画像が変われば
答えが変わる視覚質問応答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VQA v2の公式サイト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569" y="1481328"/>
            <a:ext cx="6486861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VQA: Visual Question Answering.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画像を見て答える課題と実例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人の回答に基づく採点と成績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画像ペアの収集とデータの規模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画像と言語の学習・評価への利用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写真と英語の質問から、短い答えを生成する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VQA v2は、日常の写真について英語で質問し、短い自然言語の答えを返す視覚質問応答のデータセットである。2017年に公開された。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モデルへの入力は画像と質問。学習・検証用の各問には、10人が独立に記した回答が付いている。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同じ質問に対して答えが異なる画像を集め、質問文だけから答えを推測する偏りを減らすことを目指した。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Goyal et al. (2017). Making the V in VQA Matter: Elevating the Role of Image Understanding in Visual Question Answering. CVPR.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実例1：壁の落書き：あり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pic>
        <p:nvPicPr>
          <p:cNvPr id="4" name="Picture 3" descr="0000000287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5084"/>
            <a:ext cx="4251960" cy="2836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8282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 there a graffiti on the wall?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666238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壁に落書きはあるか。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090545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yes（はい）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502533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10人中9人の回答が一致。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COCO val2014収録写真. COCO画像ID 28714。CC BY-ND 2.0。 question_id = 28714002。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https://www.flickr.com/photo.gne?id=8614354814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実例1：壁の落書き：なし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pic>
        <p:nvPicPr>
          <p:cNvPr id="4" name="Picture 3" descr="000000426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1861"/>
            <a:ext cx="4251960" cy="2823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8282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 there a graffiti on the wall?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666238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壁に落書きはあるか。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090545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no（いいえ）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502533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10人中10人の回答が一致。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Rusty Darbonne. Blue Bike. COCO画像ID 426166。CC BY 2.0。 question_id = 426166003。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https://www.flickr.com/photos/rustydarbonne/2319776213/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同じ質問に、異なる答えを持つ画像を組み合わせる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「壁に落書きはあるか」という同じ質問でも、落書きのある画像にはyes、ない画像にはnoと答える。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この2問は、公式のcomplementary pairsに対応が記録されたペアである。画像を見分けなければ、両方を正しく答えられない。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VQA v2は、このようなペアを追加して、質問と答えの組合せへの偏りを小さくした。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Goyal et al. (2017). Making the V in VQA Matter: Elevating the Role of Image Understanding in Visual Question Answering. CVPR.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実例2：人数を数える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pic>
        <p:nvPicPr>
          <p:cNvPr id="4" name="Picture 3" descr="000000131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5084"/>
            <a:ext cx="4251960" cy="2836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5411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How many are playing ball?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379091"/>
            <a:ext cx="3584448" cy="6200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ボール遊びをしているのは何人か。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090545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1（1人）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502533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10人中9人の回答が一致。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riz94107. IMG_9593. COCO画像ID 131089。CC BY-NC-SA 2.0。 question_id = 131089002。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https://www.flickr.com/photos/riz94107/4866736626/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実例3：視線の向きを答える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pic>
        <p:nvPicPr>
          <p:cNvPr id="4" name="Picture 3" descr="000000262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99616"/>
            <a:ext cx="3634740" cy="290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5411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Where is he looking?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379091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彼はどこを見ているか。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2803398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down（下）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215386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10人中7人の回答が一致。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Ketil Johansen. Sk8 with boardshop &amp; DC shoe. COCO画像ID 262148。CC BY-NC-SA 2.0。 question_id = 262148000。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https://www.flickr.com/photos/litek/4549977479/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視線の問いには、方向と対象を答えた人がいる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画像を見て答える課題と実例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48840"/>
        </p:xfrm>
        <a:graphic>
          <a:graphicData uri="http://schemas.openxmlformats.org/drawingml/2006/table">
            <a:tbl>
              <a:tblPr firstRow="0" bandRow="0"/>
              <a:tblGrid>
                <a:gridCol w="5577840"/>
                <a:gridCol w="246888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実際に書かれた回答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down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at table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skateboard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table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5876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question_id = 262148000の10回答。方向を答えるか、見ている対象を答えるかにも幅がある。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人の回答に基づく採点と成績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人の回答に基づく採点と成績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採点では、10人の回答との一致度を使う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モデルが1つの答えを出し、人が書いた10個の回答と照合する。大文字・小文字、句読点、数詞や冠詞などは規則に沿って正規化する。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10人から1人を外し、残る9人と一致した件数mからmin(m / 3, 1)を計算する。外す人を替えた10通りの平均が、その問の得点となる。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各問の得点を平均し、百分率でVQA accuracyとして報告する。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人の回答に基づく採点と成績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Evaluation.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https://visualqa.org/evaluation.html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GT-Vision-Lab. VQA: vqaEval.py. 改訂a013f00。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https://github.com/GT-Vision-Lab/VQA/blob/a013f00/PythonEvaluationTools/vqaEvaluation/vqaEval.py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同じ答えが3人なら0.9、4人以上なら1.0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人の回答に基づく採点と成績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14016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正規化後に一致する回答数（10人中）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1問の得点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4〜10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GT-Vision-Lab. VQA: vqaEval.py. 改訂a013f00。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https://github.com/GT-Vision-Lab/VQA/blob/a013f00/PythonEvaluationTools/vqaEvaluation/vqaEval.py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3人が一致する場合は、平均すると0.9になる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一致した3人のうち1人を外す場合は、残る一致が2件なので2 / 3点となる。この場合が3通りある。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一致していない7人のうち1人を外す場合は、一致が3件なので1点となる。この場合が7通りある。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したがって、(3 × 2 / 3 + 7 × 1) / 10 = 0.9。10人中の一致件数を直接3で割る計算とは異なる。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人の回答に基づく採点と成績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GT-Vision-Lab. VQA: vqaEval.py. 改訂a013f00。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https://github.com/GT-Vision-Lab/VQA/blob/a013f00/PythonEvaluationTools/vqaEvaluation/vqaEval.py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2017年：質問だけの偏りを減らすと成績も変わる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人の回答に基づく採点と成績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48840"/>
        </p:xfrm>
        <a:graphic>
          <a:graphicData uri="http://schemas.openxmlformats.org/drawingml/2006/table">
            <a:tbl>
              <a:tblPr firstRow="0" bandRow="0"/>
              <a:tblGrid>
                <a:gridCol w="5989320"/>
                <a:gridCol w="205740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MCBモデルの学習集合 → 評価集合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VQA accuracy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v1で学習／v1で評価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60.36%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v1で学習／v2で評価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54.22%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v2で学習（v1と同規模）／v2で評価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56.08%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v2の全データで学習／v2で評価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59.14%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5876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Goyalら（2017）のval結果。MCBは画像と言語の特徴を組み合わせる方式。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Goyal et al. (2017). Making the V in VQA Matter: Elevating the Role of Image Understanding in Visual Question Answering. CVPR.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2021〜2023年：学習したモデルのtest成績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人の回答に基づく採点と成績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81149"/>
        </p:xfrm>
        <a:graphic>
          <a:graphicData uri="http://schemas.openxmlformats.org/drawingml/2006/table">
            <a:tbl>
              <a:tblPr firstRow="0" bandRow="0"/>
              <a:tblGrid>
                <a:gridCol w="4937760"/>
                <a:gridCol w="1554480"/>
                <a:gridCol w="1554480"/>
              </a:tblGrid>
              <a:tr h="6546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test-dev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test-standard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ALBEF（2021）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75.84%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76.04%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BLIP（2022）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78.25%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78.32%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BLIP-2 ViT-g OPT-6.7B（2023）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82.19%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82.30%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91077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BLIP-2論文Table 5。VQAの学習データで微調整した結果。非公開の正解を使い、サーバ側で採点。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Li, Savarese &amp; Hoi (2023). BLIP-2: Bootstrapping Language-Image Pre-training with Frozen Image Encoders and Large Language Models. ICML.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https://arxiv.org/abs/2301.12597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ゼロショットと微調整後の成績は分けて読む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BLIP-2は、画像エンコーダと大規模言語モデルを固定し、両者をつなぐ小さなモデルを事前学習する方式である。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ViT-gとFlanT5-XXLを使った構成は、VQAで微調整しないゼロショット条件で、test-devの65.0%を報告した。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82.19%の結果は、OPT-6.7Bを使い、VQA v2のtrain・valとVisual Genomeで微調整した別の構成である。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人の回答に基づく採点と成績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Li, Li, Savarese &amp; Hoi (2023). BLIP-2: Bootstrapping Language-Image Pre-training with Frozen Image Encoders and Large Language Models. ICML.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https://arxiv.org/abs/2301.12597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画像ペアの収集とデータの規模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画像ペアの収集とデータの規模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同じ質問に別の答えが出る画像を探す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既存の画像・質問・答えに対し、画像特徴が近い24枚を候補として作業者へ見せた。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作業者は、元の質問がそのまま意味を持ち、元の答えとは異なる答えになる画像を選ぶ。質問は書き換えない。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選んだ画像と質問の組を、新たな10人が回答する。似た場面でも答えを変えるには、何が写っているかを見る必要がある。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画像ペアの収集とデータの規模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Goyal et al. (2017). Making the V in VQA Matter: Elevating the Role of Image Understanding in Visual Question Answering. CVPR.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ペアの条件と、回答の収集を分けて確認した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画像の選定と回答の収集にはAmazon Mechanical Turkを使い、作業者へ例を示して、質問が有効で答えが変わるかを確認した。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候補に適切な画像がない質問や、質問の解釈が曖昧な場合もある。全ての質問に、必ず1つの補完画像が付くわけではない。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元の画像と追加した画像の双方を含むデータにし、質問ごとに10個の人の回答を収録した。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画像ペアの収集とデータの規模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Goyal et al. (2017). Making the V in VQA Matter: Elevating the Role of Image Understanding in Visual Question Answering. CVPR.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204,721枚の画像に、約111万問が対応する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画像ペアの収集とデータの規模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01952"/>
        </p:xfrm>
        <a:graphic>
          <a:graphicData uri="http://schemas.openxmlformats.org/drawingml/2006/table">
            <a:tbl>
              <a:tblPr firstRow="0" bandRow="0"/>
              <a:tblGrid>
                <a:gridCol w="1188720"/>
                <a:gridCol w="1828800"/>
                <a:gridCol w="2011680"/>
                <a:gridCol w="30175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公開された人の回答数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82,783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443,757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4,437,570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40,504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214,354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2,143,540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81,434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447,793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1188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VQA v2.0の公式配布値。train・valでは各質問に10回答。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Download.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v1からv2では、質問数と画像への依存が増した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画像ペアの収集とデータの規模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4884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2377440"/>
                <a:gridCol w="237744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VQA v1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VQA v2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trainの質問数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248,349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443,757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valの質問数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121,512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214,354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答えが変わる補完画像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追加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自由回答・選択式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自由回答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Download.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valでは、数値回答が約13%を占める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画像ペアの収集とデータの規模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65376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2103120"/>
                <a:gridCol w="2103120"/>
              </a:tblGrid>
              <a:tr h="46634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公式の回答タイプ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構成比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634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yes/no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80,541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634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number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28,134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634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105,679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7530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valの214,354問をanswer_typeで集計。otherには物体・色・場所などを含む。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valの214,354問・回答注釈を全件集計。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画像と言語の学習・評価への利用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画像と言語の学習・評価への利用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画像と言語を結び付けるモデルの基準になった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登場時は、質問の言い回しから答えを推測する偏りを抑え、画像の違いを使う能力を測ることを目指した。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その後は、画像と言語を事前学習したモデルを、視覚質問応答へ適応させるための学習・評価データとして使われてきた。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BLIP-2は画像・言語の接続を事前学習し、VQA v2とVisual Genomeを使った微調整でも評価した。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画像と言語の学習・評価への利用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Goyal et al. (2017). Making the V in VQA Matter: Elevating the Role of Image Understanding in Visual Question Answering. CVPR.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Li, Li, Savarese &amp; Hoi (2023). BLIP-2: Bootstrapping Language-Image Pre-training with Frozen Image Encoders and Large Language Models. ICML.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https://arxiv.org/abs/2301.12597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現在の公開実装でも、評価手順を確認できる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LAVISのVQAタスクは、モデルの回答を集め、VQAの公式評価ツールで検証用のaccuracyを計算する。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testでは質問IDと回答を保存して提出する。公式のtest-devとtest-standardでは、公開されていない人の回答を用いて採点する。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公式サイトでは質問・注釈・補完ペアを配布し、画像はCOCO 2014の配布先へ案内している。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画像と言語の学習・評価への利用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Salesforce. LAVIS: VQA task. 改訂05cb670、2026-10-17参照。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https://github.com/salesforce/LAVIS/blob/main/lavis/tasks/vqa.py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VQA Team. VQA v2.0 Download.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質問と画像は、image_idで結び付ける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画像と言語の学習・評価への利用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14312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json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questions = json.load(open("questions.json"))["questions"]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q = questions[0]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name = f'COCO_val2014_{q["image_id"]:012d}.jpg'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image_path = Path("val2014") /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53053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questions.jsonは展開したval用質問JSONの保存名。注釈とはquestion_idで対応させる。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Download.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質問・回答の注釈と、写真の利用条件を確認する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VQAの質問・回答注釈はCC BY 4.0で公開されている。配布JSONのlicenseにも利用条件へのリンクが含まれる。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写真はCOCO由来で、画像ごとの元のライセンスに従う。VQA注釈のライセンスを、そのまま全画像に適用しない。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問題を再現するときは、VQAのquestion_id、COCOのimage_id、質問と回答の注釈を対応させて記録する。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画像と言語の学習・評価への利用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Download.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COCO Consortium. COCO: Common Objects in Context. 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https://cocodataset.org/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答えが変わる画像から、視覚の役割を確かめる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VQA v2は、写真と英語の質問から短い答えを生成する、約111万問の視覚質問応答データである。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同じ質問に異なる答えを持つ画像を追加し、質問の言い回しだけで解く偏りを減らした。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1つの参照語だけではなく、10人の回答との一致度で採点する。成績は評価集合と学習条件を対応させて読む。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画像と言語の学習・評価への利用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Goyal et al. (2017). Making the V in VQA Matter: Elevating the Role of Image Understanding in Visual Question Answering. CVPR.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69595"/>
            <a:ext cx="8046720" cy="61569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800" b="0">
                <a:solidFill>
                  <a:srgbClr val="303437"/>
                </a:solidFill>
                <a:latin typeface="Noto Sans"/>
              </a:defRPr>
            </a:pPr>
            <a:r>
              <a:rPr sz="3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見る対象の異なる追加10例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質問と人の回答の集計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見る対象の異なる追加10例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追加例1：髪の色を答える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3932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98" y="1499616"/>
            <a:ext cx="2180844" cy="290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5411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color is the kids hair?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379091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この子の髪は何色か。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2803398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blonde（金髪）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215386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10人中10人の回答が一致。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COCO val2014収録写真. COCO画像ID 393243。CC BY-NC-SA 2.0。 question_id = 393243003。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https://www.flickr.com/photo.gne?id=1562760533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追加例2：スポーツの種類を答える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3932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598" y="1499616"/>
            <a:ext cx="1940042" cy="290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8282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sport is the man doing?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666238"/>
            <a:ext cx="3584448" cy="6200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男性は何のスポーツをしているか。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377692"/>
            <a:ext cx="3584448" cy="6410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snowboarding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（スノーボード）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4091939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10人中10人の回答が一致。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BlueLight1990. DCIM_1. COCO画像ID 393284。CC BY-ND 2.0。 question_id = 393284003。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https://www.flickr.com/photos/klingele/4872033447/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追加例3：動作を答える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132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41" y="1499616"/>
            <a:ext cx="2171757" cy="290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5411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man doing?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379091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男性は何をしているか。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2803398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skiing（スキー）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215386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10人中9人の回答が一致。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Trong Ton. End of ski season. COCO画像ID 132024。CC BY 2.0。 question_id = 132024002。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https://www.flickr.com/photos/trongton/8653774735/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追加例4：動物の種類を答える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5246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8406"/>
            <a:ext cx="4251960" cy="28302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8282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animal is in the picture?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666238"/>
            <a:ext cx="3584448" cy="6200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画像には何の動物が写っているか。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377692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giraffe（キリン）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789680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10人中9人の回答が一致。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Valerio Pillar. DSC_4172.JPG. COCO画像ID 524621。CC BY-NC-SA 2.0。 question_id = 524621008。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https://www.flickr.com/photos/vpillar/2873582007/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追加例5：部屋の種類を答える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2622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98" y="1499616"/>
            <a:ext cx="2180844" cy="290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5411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room is this?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379091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これは何の部屋か。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2803398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bathroom（浴室）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215386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10人中10人の回答が一致。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geeksquadthe. Master Bedroom Bathroom Walk-In Shower - Village Lofts. COCO画像ID 262284。CC BY-NC-ND 2.0。 question_id = 262284003。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https://www.flickr.com/photos/101095425@N08/9627540643/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追加例6：物がないことを答える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262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1499616"/>
            <a:ext cx="3877056" cy="290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8282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 there a mirror in the room?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666238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部屋に鏡はあるか。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090545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no（いいえ）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502533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10人中10人の回答が一致。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COCO val2014収録写真. COCO画像ID 262162。CC BY-NC-ND 2.0。 question_id = 262162016。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https://www.flickr.com/photo.gne?id=4918042336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追加例7：何の上に座るかを答える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5244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5050"/>
            <a:ext cx="4251960" cy="28169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8282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is the woman sitting 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666238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女性は何に座っているか。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090545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bench（ベンチ）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502533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10人中10人の回答が一致。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DarkB4Dawn. Istanbul. COCO画像ID 524436。CC BY-NC-ND 2.0。 question_id = 524436003。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https://www.flickr.com/photos/darkb4dawn/6981041686/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追加例8：建物の種類を答える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3932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1499616"/>
            <a:ext cx="3877056" cy="290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8282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kind of building is this?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666238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これは何の建物か。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090545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church（教会）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502533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10人中9人の回答が一致。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51713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ell brown. St John's RC Cathedral - Alfred Road, Portsmouth - statue - St John. COCO画像ID 393288。CC BY 2.0。 question_id = 393288000。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https://www.flickr.com/photos/ell-r-brown/9324458628/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追加例9：場所を答える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2626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598" y="1499616"/>
            <a:ext cx="1940042" cy="2907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54114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Where is the setting?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379091"/>
            <a:ext cx="3584448" cy="3328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ここはどんな場所か。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2803398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kitchen（台所）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215386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10人中10人の回答が一致。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J0nny_t. Kitchen. COCO画像ID 262682。CC BY-NC-ND 2.0。 question_id = 262682015。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https://www.flickr.com/photos/j0nny_t/7556152056/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追加例10：服の模様を答える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見る対象の異なる追加10例</a:t>
            </a:r>
          </a:p>
        </p:txBody>
      </p:sp>
      <p:pic>
        <p:nvPicPr>
          <p:cNvPr id="4" name="Picture 3" descr="000000200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1762"/>
            <a:ext cx="4251960" cy="2843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0912" y="1444752"/>
            <a:ext cx="3584448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質問の原文（全文）</a:t>
            </a:r>
          </a:p>
        </p:txBody>
      </p:sp>
      <p:sp>
        <p:nvSpPr>
          <p:cNvPr id="6" name="quote-frame"/>
          <p:cNvSpPr/>
          <p:nvPr/>
        </p:nvSpPr>
        <p:spPr>
          <a:xfrm>
            <a:off x="5010912" y="1719072"/>
            <a:ext cx="3584448" cy="82829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Is the man wearing plaid pants?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2666238"/>
            <a:ext cx="3584448" cy="62001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男性はチェック柄のズボンをはいているか。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3377692"/>
            <a:ext cx="3584448" cy="3388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yes（はい）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0912" y="3789680"/>
            <a:ext cx="3584448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10人中10人の回答が一致。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v2.0、COCO val2014の質問・回答注釈。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  <a:p>
            <a:pPr>
              <a:lnSpc>
                <a:spcPts val="940"/>
              </a:lnSpc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Bananaguay. Snow. COCO画像ID 200058。CC BY-SA 2.0。 question_id = 200058000。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https://www.flickr.com/photos/platano/2456758025/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質問と人の回答の集計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質問と人の回答の集計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valの質問は、中央値で6単語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質問と人の回答の集計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指標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質問の単語数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母標準偏差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25〜75%点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5〜7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95%点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valの214,354問・回答注釈を全件集計。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質問の約63%は5〜7単語で書かれている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質問と人の回答の集計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横軸は空白区切りの単語数、縦軸は質問数。valの214,354問を全件集計。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valの214,354問・回答注釈を全件集計。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回答が10人で完全に一致する質問は約33%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質問と人の回答の集計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48840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最多の同一回答の件数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1〜3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27,778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4〜6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47,185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7〜9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69,163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97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70,228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5876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正規化前の回答文字列を各問で集計。最多件数を求めて分類。採点の得点とは別の量。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valの214,354問・回答注釈を全件集計。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よくある質問の型も、見る対象が異なる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質問と人の回答の集計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公式のquestion_type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valでの質問数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how many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20,462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is the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17,265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what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15,897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what color is the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14,061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what is the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11,353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VQA Team. VQA v2.0 valの214,354問・回答注釈を全件集計。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Goyalらが、質問への偏りを画像ペアで見直した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Yash Goyal、Tejas Khot、Douglas Summers-Stay、Dhruv Batra、Devi Parikhが、CVPR 2017でVQA v2の設計を発表した。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既存のVQAでは、質問だけでも答えを推測できる偏りがあった。答えが変わる似た画像を追加し、画像理解の役割を高めた。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新たな問題を増やすだけでなく、質問と画像と答えの対応を作り直した点に特徴がある。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Goyal et al. (2017). Making the V in VQA Matter: Elevating the Role of Image Understanding in Visual Question Answering. CVPR.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Making the V in VQA Matter: Elevating the Role of Image Understanding in Visual Question Answering"/>
          <p:cNvSpPr txBox="1"/>
          <p:nvPr/>
        </p:nvSpPr>
        <p:spPr>
          <a:xfrm>
            <a:off x="548640" y="1463040"/>
            <a:ext cx="8046720" cy="14037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Making the V in VQA Matter: Elevating the Role of Image Understanding in Visual Question Answering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Goyal, Khot, Summers-Stay, Batra &amp; Parikh (2017). CVPR.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補完画像の収集、v1とv2の違い、モデルによる比較を説明する論文。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https://arxiv.org/abs/1612.00837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BLIP-2: Bootstrapping Language-Image Pre-training with Frozen Image Encoders and Large Language Models"/>
          <p:cNvSpPr txBox="1"/>
          <p:nvPr/>
        </p:nvSpPr>
        <p:spPr>
          <a:xfrm>
            <a:off x="548640" y="1463040"/>
            <a:ext cx="8046720" cy="16715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BLIP-2: Bootstrapping Language-Image Pre-training with Frozen Image Encoders and Large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Li, Li, Savarese &amp; Hoi (2023). ICML.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画像モデルと言語モデルを接続し、VQA v2でゼロショットと微調整後を評価する。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https://arxiv.org/abs/2301.12597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VQA v2.0 Download / Evaluation"/>
          <p:cNvSpPr txBox="1"/>
          <p:nvPr/>
        </p:nvSpPr>
        <p:spPr>
          <a:xfrm>
            <a:off x="548640" y="1463040"/>
            <a:ext cx="8046720" cy="1157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VQA v2.0 Download / Evaluation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VQA Team (n.d.). 2026-10-17参照。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質問・注釈・画像の入手先と、回答の正規化・採点方法を確認できる。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https://visualqa.org/download.html</a:t>
            </a:r>
          </a:p>
        </p:txBody>
      </p:sp>
      <p:sp>
        <p:nvSpPr>
          <p:cNvPr id="5" name="文献 2: LAVIS: VQA task"/>
          <p:cNvSpPr txBox="1"/>
          <p:nvPr/>
        </p:nvSpPr>
        <p:spPr>
          <a:xfrm>
            <a:off x="548640" y="3131693"/>
            <a:ext cx="8046720" cy="1157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LAVIS: VQA task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Salesforce (n.d.). 改訂05cb670。2026-10-17参照。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モデルの回答の保存と、VQA評価ツールを用いる実装を確認できる。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https://github.com/salesforce/LAVIS/blob/main/lavis/tasks/vqa.py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2026-10-17T14:57:14Z</dcterms:modified>
  <dc:title>vqa-v2</dc:title>
  <dc:creator>sasakiy84</dc:creator>
  <dcterms:created xsi:type="dcterms:W3CDTF">2026-10-17T14:57:14Z</dcterms:created>
  <dc:language>ja-JP</dc:language>
</cp:coreProperties>
</file>