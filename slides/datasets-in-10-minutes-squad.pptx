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5200"/>
              <a:buNone/>
              <a:defRPr sz="5200" b="1">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defRPr sz="2200"/>
            </a:pPr>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en-US" sz="1800" b="1">
                <a:solidFill>
                  <a:schemeClr val="lt1"/>
                </a:solidFill>
              </a:rPr>
              <a:pPr algn="ctr"/>
              <a:t>‹#›</a:t>
            </a:fld>
            <a:endParaRPr lang="en-US" sz="1800" b="1" dirty="0"/>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所属　［所属］</a:t>
            </a:r>
          </a:p>
        </p:txBody>
      </p:sp>
      <p:sp>
        <p:nvSpPr>
          <p:cNvPr id="111" name="Author name"/>
          <p:cNvSpPr txBox="1">
            <a:spLocks noGrp="1"/>
          </p:cNvSpPr>
          <p:nvPr>
            <p:ph type="body" idx="11"/>
          </p:nvPr>
        </p:nvSpPr>
        <p:spPr>
          <a:xfrm>
            <a:off x="5486400" y="449884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en-US" altLang="ja" b="1" dirty="0">
                <a:solidFill>
                  <a:schemeClr val="lt1"/>
                </a:solidFill>
              </a:rPr>
              <a:t>T</a:t>
            </a:r>
            <a:r>
              <a:rPr lang="ja" b="1" dirty="0">
                <a:solidFill>
                  <a:schemeClr val="lt1"/>
                </a:solidFill>
              </a:rPr>
              <a:t>able of </a:t>
            </a:r>
            <a:r>
              <a:rPr lang="en-US" altLang="ja" b="1" dirty="0">
                <a:solidFill>
                  <a:schemeClr val="lt1"/>
                </a:solidFill>
              </a:rPr>
              <a:t>C</a:t>
            </a:r>
            <a:r>
              <a:rPr lang="ja" b="1" dirty="0">
                <a:solidFill>
                  <a:schemeClr val="lt1"/>
                </a:solidFill>
              </a:rPr>
              <a:t>ontents</a:t>
            </a:r>
            <a:endParaRPr b="1" dirty="0">
              <a:solidFill>
                <a:schemeClr val="lt1"/>
              </a:solidFill>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1.</a:t>
            </a:r>
            <a:r>
              <a:rPr lang="en-US" altLang="ja" sz="2800" b="1" dirty="0">
                <a:solidFill>
                  <a:schemeClr val="accent2"/>
                </a:solidFill>
              </a:rPr>
              <a:t> </a:t>
            </a:r>
            <a:r>
              <a:rPr lang="en" altLang="ja" sz="2800" b="1" dirty="0">
                <a:solidFill>
                  <a:schemeClr val="dk1"/>
                </a:solidFill>
              </a:rPr>
              <a:t>Background &amp; Purpose</a:t>
            </a:r>
            <a:endParaRPr lang="en" altLang="ja-JP" sz="2800" b="1" dirty="0">
              <a:solidFill>
                <a:schemeClr val="dk1"/>
              </a:solidFill>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2.</a:t>
            </a:r>
            <a:r>
              <a:rPr lang="en-US" altLang="ja" sz="2800" b="1" dirty="0">
                <a:solidFill>
                  <a:schemeClr val="accent2"/>
                </a:solidFill>
              </a:rPr>
              <a:t> </a:t>
            </a:r>
            <a:r>
              <a:rPr lang="en" altLang="ja" sz="2800" b="1" dirty="0">
                <a:solidFill>
                  <a:schemeClr val="dk1"/>
                </a:solidFill>
              </a:rPr>
              <a:t>Methodology</a:t>
            </a:r>
            <a:endParaRPr lang="en" altLang="ja-JP" sz="2800" b="1" dirty="0">
              <a:solidFill>
                <a:schemeClr val="dk1"/>
              </a:solidFill>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3.</a:t>
            </a:r>
            <a:r>
              <a:rPr lang="en-US" altLang="ja" sz="2800" b="1" dirty="0">
                <a:solidFill>
                  <a:schemeClr val="accent2"/>
                </a:solidFill>
              </a:rPr>
              <a:t> </a:t>
            </a:r>
            <a:r>
              <a:rPr lang="en" altLang="ja" sz="2800" b="1" dirty="0">
                <a:solidFill>
                  <a:schemeClr val="dk1"/>
                </a:solidFill>
              </a:rPr>
              <a:t>Classification Framework</a:t>
            </a:r>
            <a:endParaRPr lang="en" altLang="ja-JP" sz="2800" b="1" dirty="0">
              <a:solidFill>
                <a:schemeClr val="dk1"/>
              </a:solidFill>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4.</a:t>
            </a:r>
            <a:r>
              <a:rPr lang="en-US" altLang="ja" sz="2800" b="1" dirty="0">
                <a:solidFill>
                  <a:schemeClr val="accent2"/>
                </a:solidFill>
              </a:rPr>
              <a:t> </a:t>
            </a:r>
            <a:r>
              <a:rPr lang="en" altLang="ja" sz="2800" b="1" dirty="0">
                <a:solidFill>
                  <a:schemeClr val="dk1"/>
                </a:solidFill>
              </a:rPr>
              <a:t>Results &amp; Analysis</a:t>
            </a:r>
            <a:endParaRPr lang="en" altLang="ja-JP" sz="2800" b="1" dirty="0">
              <a:solidFill>
                <a:schemeClr val="dk1"/>
              </a:solidFill>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a:solidFill>
                <a:schemeClr val="dk1"/>
              </a:solidFill>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5.</a:t>
            </a:r>
            <a:r>
              <a:rPr lang="en-US" altLang="ja" sz="2800" b="1" dirty="0">
                <a:solidFill>
                  <a:schemeClr val="accent2"/>
                </a:solidFill>
              </a:rPr>
              <a:t> </a:t>
            </a:r>
            <a:r>
              <a:rPr lang="en" altLang="ja" sz="2800" b="1" dirty="0">
                <a:solidFill>
                  <a:schemeClr val="dk1"/>
                </a:solidFill>
              </a:rPr>
              <a:t>Conclusions and future work</a:t>
            </a:r>
            <a:endParaRPr lang="en" altLang="ja-JP" sz="2800" b="1" dirty="0">
              <a:solidFill>
                <a:schemeClr val="dk1"/>
              </a:solidFil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SzPts val="3000"/>
              <a:buNone/>
              <a:defRPr sz="3000" b="1">
                <a:solidFill>
                  <a:schemeClr val="dk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203200" lvl="0" indent="-152400">
              <a:spcBef>
                <a:spcPts val="0"/>
              </a:spcBef>
              <a:spcAft>
                <a:spcPts val="0"/>
              </a:spcAft>
              <a:buClr>
                <a:schemeClr val="dk2"/>
              </a:buClr>
              <a:buSzPts val="2000"/>
              <a:buChar char="•"/>
              <a:defRPr sz="2000">
                <a:solidFill>
                  <a:schemeClr val="dk2"/>
                </a:solidFill>
              </a:defRPr>
            </a:lvl1pPr>
            <a:lvl2pPr marL="482600" lvl="1" indent="-127000">
              <a:spcBef>
                <a:spcPts val="0"/>
              </a:spcBef>
              <a:spcAft>
                <a:spcPts val="0"/>
              </a:spcAft>
              <a:buClr>
                <a:schemeClr val="dk2"/>
              </a:buClr>
              <a:buSzPts val="2000"/>
              <a:buChar char="○"/>
              <a:defRPr sz="2000">
                <a:solidFill>
                  <a:schemeClr val="dk2"/>
                </a:solidFill>
              </a:defRPr>
            </a:lvl2pPr>
            <a:lvl3pPr marL="762000" lvl="2" indent="-127000">
              <a:spcBef>
                <a:spcPts val="0"/>
              </a:spcBef>
              <a:spcAft>
                <a:spcPts val="0"/>
              </a:spcAft>
              <a:buClr>
                <a:schemeClr val="dk2"/>
              </a:buClr>
              <a:buSzPts val="2000"/>
              <a:buChar char="■"/>
              <a:defRPr sz="2000">
                <a:solidFill>
                  <a:schemeClr val="dk2"/>
                </a:solidFill>
              </a:defRPr>
            </a:lvl3pPr>
            <a:lvl4pPr marL="1041400" lvl="3" indent="-127000">
              <a:spcBef>
                <a:spcPts val="0"/>
              </a:spcBef>
              <a:spcAft>
                <a:spcPts val="0"/>
              </a:spcAft>
              <a:buClr>
                <a:schemeClr val="dk2"/>
              </a:buClr>
              <a:buSzPts val="2200"/>
              <a:buChar char="•"/>
              <a:defRPr sz="2200">
                <a:solidFill>
                  <a:schemeClr val="dk2"/>
                </a:solidFill>
              </a:defRPr>
            </a:lvl4pPr>
            <a:lvl5pPr marL="1320800" lvl="4" indent="-127000">
              <a:spcBef>
                <a:spcPts val="0"/>
              </a:spcBef>
              <a:spcAft>
                <a:spcPts val="0"/>
              </a:spcAft>
              <a:buClr>
                <a:schemeClr val="dk2"/>
              </a:buClr>
              <a:buSzPts val="2000"/>
              <a:buChar char="○"/>
              <a:defRPr sz="2000">
                <a:solidFill>
                  <a:schemeClr val="dk2"/>
                </a:solidFill>
              </a:defRPr>
            </a:lvl5pPr>
            <a:lvl6pPr marL="1600200" lvl="5" indent="-127000">
              <a:spcBef>
                <a:spcPts val="0"/>
              </a:spcBef>
              <a:spcAft>
                <a:spcPts val="0"/>
              </a:spcAft>
              <a:buClr>
                <a:schemeClr val="dk2"/>
              </a:buClr>
              <a:buSzPts val="2000"/>
              <a:buChar char="■"/>
              <a:defRPr sz="2000">
                <a:solidFill>
                  <a:schemeClr val="dk2"/>
                </a:solidFill>
              </a:defRPr>
            </a:lvl6pPr>
            <a:lvl7pPr marL="1879600" lvl="6" indent="-127000">
              <a:spcBef>
                <a:spcPts val="0"/>
              </a:spcBef>
              <a:spcAft>
                <a:spcPts val="0"/>
              </a:spcAft>
              <a:buClr>
                <a:schemeClr val="dk2"/>
              </a:buClr>
              <a:buSzPts val="2000"/>
              <a:buChar char="•"/>
              <a:defRPr sz="2000">
                <a:solidFill>
                  <a:schemeClr val="dk2"/>
                </a:solidFill>
              </a:defRPr>
            </a:lvl7pPr>
            <a:lvl8pPr marL="2159000" lvl="7" indent="-127000">
              <a:spcBef>
                <a:spcPts val="0"/>
              </a:spcBef>
              <a:spcAft>
                <a:spcPts val="0"/>
              </a:spcAft>
              <a:buClr>
                <a:schemeClr val="dk2"/>
              </a:buClr>
              <a:buSzPts val="2000"/>
              <a:buChar char="○"/>
              <a:defRPr sz="2000">
                <a:solidFill>
                  <a:schemeClr val="dk2"/>
                </a:solidFill>
              </a:defRPr>
            </a:lvl8pPr>
            <a:lvl9pPr marL="2438400" lvl="8" indent="-127000">
              <a:spcBef>
                <a:spcPts val="0"/>
              </a:spcBef>
              <a:spcAft>
                <a:spcPts val="0"/>
              </a:spcAft>
              <a:buClr>
                <a:schemeClr val="dk2"/>
              </a:buClr>
              <a:buSzPts val="2000"/>
              <a:buChar char="■"/>
              <a:defRPr sz="2000">
                <a:solidFill>
                  <a:schemeClr val="dk2"/>
                </a:solidFill>
              </a:defRPr>
            </a:lvl9pPr>
          </a:lstStyle>
          <a:p>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SzPts val="1400"/>
              <a:buNone/>
              <a:defRPr sz="1400" b="1">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203200" lvl="0" indent="-152400" rtl="0">
              <a:spcBef>
                <a:spcPts val="0"/>
              </a:spcBef>
              <a:spcAft>
                <a:spcPts val="0"/>
              </a:spcAft>
              <a:buClr>
                <a:schemeClr val="dk2"/>
              </a:buClr>
              <a:buSzPts val="2000"/>
              <a:buChar char="•"/>
              <a:defRPr sz="2000">
                <a:solidFill>
                  <a:schemeClr val="dk2"/>
                </a:solidFill>
              </a:defRPr>
            </a:lvl1pPr>
            <a:lvl2pPr marL="482600" lvl="1" indent="-127000" rtl="0">
              <a:spcBef>
                <a:spcPts val="0"/>
              </a:spcBef>
              <a:spcAft>
                <a:spcPts val="0"/>
              </a:spcAft>
              <a:buClr>
                <a:schemeClr val="dk2"/>
              </a:buClr>
              <a:buSzPts val="2000"/>
              <a:buChar char="○"/>
              <a:defRPr sz="2000">
                <a:solidFill>
                  <a:schemeClr val="dk2"/>
                </a:solidFill>
              </a:defRPr>
            </a:lvl2pPr>
            <a:lvl3pPr marL="762000" lvl="2" indent="-127000" rtl="0">
              <a:spcBef>
                <a:spcPts val="0"/>
              </a:spcBef>
              <a:spcAft>
                <a:spcPts val="0"/>
              </a:spcAft>
              <a:buClr>
                <a:schemeClr val="dk2"/>
              </a:buClr>
              <a:buSzPts val="2000"/>
              <a:buChar char="■"/>
              <a:defRPr sz="2000">
                <a:solidFill>
                  <a:schemeClr val="dk2"/>
                </a:solidFill>
              </a:defRPr>
            </a:lvl3pPr>
            <a:lvl4pPr marL="1041400" lvl="3" indent="-127000" rtl="0">
              <a:spcBef>
                <a:spcPts val="0"/>
              </a:spcBef>
              <a:spcAft>
                <a:spcPts val="0"/>
              </a:spcAft>
              <a:buClr>
                <a:schemeClr val="dk2"/>
              </a:buClr>
              <a:buSzPts val="2200"/>
              <a:buChar char="•"/>
              <a:defRPr sz="2200">
                <a:solidFill>
                  <a:schemeClr val="dk2"/>
                </a:solidFill>
              </a:defRPr>
            </a:lvl4pPr>
            <a:lvl5pPr marL="1320800" lvl="4" indent="-127000" rtl="0">
              <a:spcBef>
                <a:spcPts val="0"/>
              </a:spcBef>
              <a:spcAft>
                <a:spcPts val="0"/>
              </a:spcAft>
              <a:buClr>
                <a:schemeClr val="dk2"/>
              </a:buClr>
              <a:buSzPts val="2000"/>
              <a:buChar char="○"/>
              <a:defRPr sz="2000">
                <a:solidFill>
                  <a:schemeClr val="dk2"/>
                </a:solidFill>
              </a:defRPr>
            </a:lvl5pPr>
            <a:lvl6pPr marL="1600200" lvl="5" indent="-127000" rtl="0">
              <a:spcBef>
                <a:spcPts val="0"/>
              </a:spcBef>
              <a:spcAft>
                <a:spcPts val="0"/>
              </a:spcAft>
              <a:buClr>
                <a:schemeClr val="dk2"/>
              </a:buClr>
              <a:buSzPts val="2000"/>
              <a:buChar char="■"/>
              <a:defRPr sz="2000">
                <a:solidFill>
                  <a:schemeClr val="dk2"/>
                </a:solidFill>
              </a:defRPr>
            </a:lvl6pPr>
            <a:lvl7pPr marL="1879600" lvl="6" indent="-127000" rtl="0">
              <a:spcBef>
                <a:spcPts val="0"/>
              </a:spcBef>
              <a:spcAft>
                <a:spcPts val="0"/>
              </a:spcAft>
              <a:buClr>
                <a:schemeClr val="dk2"/>
              </a:buClr>
              <a:buSzPts val="2000"/>
              <a:buChar char="•"/>
              <a:defRPr sz="2000">
                <a:solidFill>
                  <a:schemeClr val="dk2"/>
                </a:solidFill>
              </a:defRPr>
            </a:lvl7pPr>
            <a:lvl8pPr marL="2159000" lvl="7" indent="-127000" rtl="0">
              <a:spcBef>
                <a:spcPts val="0"/>
              </a:spcBef>
              <a:spcAft>
                <a:spcPts val="0"/>
              </a:spcAft>
              <a:buClr>
                <a:schemeClr val="dk2"/>
              </a:buClr>
              <a:buSzPts val="2000"/>
              <a:buChar char="○"/>
              <a:defRPr sz="2000">
                <a:solidFill>
                  <a:schemeClr val="dk2"/>
                </a:solidFill>
              </a:defRPr>
            </a:lvl8pPr>
            <a:lvl9pPr marL="2438400" lvl="8" indent="-127000" rtl="0">
              <a:spcBef>
                <a:spcPts val="0"/>
              </a:spcBef>
              <a:spcAft>
                <a:spcPts val="0"/>
              </a:spcAft>
              <a:buClr>
                <a:schemeClr val="dk2"/>
              </a:buClr>
              <a:buSzPts val="2000"/>
              <a:buChar char="■"/>
              <a:defRPr sz="2000">
                <a:solidFill>
                  <a:schemeClr val="dk2"/>
                </a:solidFill>
              </a:defRPr>
            </a:lvl9pPr>
          </a:lstStyle>
          <a:p>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en-US" dirty="0"/>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en-US" sz="1800" b="0">
                <a:solidFill>
                  <a:schemeClr val="dk2"/>
                </a:solidFill>
              </a:rPr>
              <a:t>Insert chart</a:t>
            </a:r>
            <a:endParaRPr lang="en-US"/>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a:lstStyle>
            <a:lvl1pPr>
              <a:buNone/>
              <a:defRPr/>
            </a:lvl1pPr>
          </a:lstStyle>
          <a:p>
            <a:endParaRPr lang="en-US" dirty="0"/>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a:lstStyle>
            <a:lvl1pPr>
              <a:buNone/>
              <a:defRPr/>
            </a:lvl1pPr>
          </a:lstStyle>
          <a:p>
            <a:endParaRPr lang="en-US"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SzPts val="2800"/>
              <a:buNone/>
              <a:defRPr b="1">
                <a:solidFill>
                  <a:schemeClr val="lt1"/>
                </a:solidFill>
              </a:defRPr>
            </a:lvl1pPr>
            <a:lvl2pPr lvl="1">
              <a:spcBef>
                <a:spcPts val="0"/>
              </a:spcBef>
              <a:spcAft>
                <a:spcPts val="0"/>
              </a:spcAft>
              <a:buClr>
                <a:schemeClr val="lt1"/>
              </a:buClr>
              <a:buSzPts val="3200"/>
              <a:buNone/>
              <a:defRPr sz="3200" b="1">
                <a:solidFill>
                  <a:schemeClr val="lt1"/>
                </a:solidFill>
              </a:defRPr>
            </a:lvl2pPr>
            <a:lvl3pPr lvl="2">
              <a:spcBef>
                <a:spcPts val="0"/>
              </a:spcBef>
              <a:spcAft>
                <a:spcPts val="0"/>
              </a:spcAft>
              <a:buClr>
                <a:schemeClr val="lt1"/>
              </a:buClr>
              <a:buSzPts val="3200"/>
              <a:buNone/>
              <a:defRPr sz="3200" b="1">
                <a:solidFill>
                  <a:schemeClr val="lt1"/>
                </a:solidFill>
              </a:defRPr>
            </a:lvl3pPr>
            <a:lvl4pPr lvl="3">
              <a:spcBef>
                <a:spcPts val="0"/>
              </a:spcBef>
              <a:spcAft>
                <a:spcPts val="0"/>
              </a:spcAft>
              <a:buClr>
                <a:schemeClr val="lt1"/>
              </a:buClr>
              <a:buSzPts val="3200"/>
              <a:buNone/>
              <a:defRPr sz="3200" b="1">
                <a:solidFill>
                  <a:schemeClr val="lt1"/>
                </a:solidFill>
              </a:defRPr>
            </a:lvl4pPr>
            <a:lvl5pPr lvl="4">
              <a:spcBef>
                <a:spcPts val="0"/>
              </a:spcBef>
              <a:spcAft>
                <a:spcPts val="0"/>
              </a:spcAft>
              <a:buClr>
                <a:schemeClr val="lt1"/>
              </a:buClr>
              <a:buSzPts val="3200"/>
              <a:buNone/>
              <a:defRPr sz="3200" b="1">
                <a:solidFill>
                  <a:schemeClr val="lt1"/>
                </a:solidFill>
              </a:defRPr>
            </a:lvl5pPr>
            <a:lvl6pPr lvl="5">
              <a:spcBef>
                <a:spcPts val="0"/>
              </a:spcBef>
              <a:spcAft>
                <a:spcPts val="0"/>
              </a:spcAft>
              <a:buClr>
                <a:schemeClr val="lt1"/>
              </a:buClr>
              <a:buSzPts val="3200"/>
              <a:buNone/>
              <a:defRPr sz="3200" b="1">
                <a:solidFill>
                  <a:schemeClr val="lt1"/>
                </a:solidFill>
              </a:defRPr>
            </a:lvl6pPr>
            <a:lvl7pPr lvl="6">
              <a:spcBef>
                <a:spcPts val="0"/>
              </a:spcBef>
              <a:spcAft>
                <a:spcPts val="0"/>
              </a:spcAft>
              <a:buClr>
                <a:schemeClr val="lt1"/>
              </a:buClr>
              <a:buSzPts val="3200"/>
              <a:buNone/>
              <a:defRPr sz="3200" b="1">
                <a:solidFill>
                  <a:schemeClr val="lt1"/>
                </a:solidFill>
              </a:defRPr>
            </a:lvl7pPr>
            <a:lvl8pPr lvl="7">
              <a:spcBef>
                <a:spcPts val="0"/>
              </a:spcBef>
              <a:spcAft>
                <a:spcPts val="0"/>
              </a:spcAft>
              <a:buClr>
                <a:schemeClr val="lt1"/>
              </a:buClr>
              <a:buSzPts val="3200"/>
              <a:buNone/>
              <a:defRPr sz="3200" b="1">
                <a:solidFill>
                  <a:schemeClr val="lt1"/>
                </a:solidFill>
              </a:defRPr>
            </a:lvl8pPr>
            <a:lvl9pPr lvl="8">
              <a:spcBef>
                <a:spcPts val="0"/>
              </a:spcBef>
              <a:spcAft>
                <a:spcPts val="0"/>
              </a:spcAft>
              <a:buClr>
                <a:schemeClr val="lt1"/>
              </a:buClr>
              <a:buSzPts val="3200"/>
              <a:buNone/>
              <a:defRPr sz="3200" b="1">
                <a:solidFill>
                  <a:schemeClr val="lt1"/>
                </a:solidFill>
              </a:defRPr>
            </a:lvl9pPr>
          </a:lstStyle>
          <a:p>
            <a:endParaRPr dirty="0"/>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en-US" sz="1800" b="1">
                <a:solidFill>
                  <a:schemeClr val="dk2"/>
                </a:solidFill>
              </a:rPr>
              <a:t>‹#›</a:t>
            </a:fld>
            <a:endParaRPr lang="en-US" sz="1800" b="1"/>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ts val="1800"/>
              <a:buChar char="•"/>
              <a:defRPr sz="1800">
                <a:solidFill>
                  <a:schemeClr val="dk2"/>
                </a:solidFill>
              </a:defRPr>
            </a:lvl1pPr>
            <a:lvl2pPr marL="482600" lvl="1" indent="-127000">
              <a:lnSpc>
                <a:spcPct val="115000"/>
              </a:lnSpc>
              <a:spcBef>
                <a:spcPts val="0"/>
              </a:spcBef>
              <a:spcAft>
                <a:spcPts val="0"/>
              </a:spcAft>
              <a:buClr>
                <a:schemeClr val="dk2"/>
              </a:buClr>
              <a:buSzPts val="1400"/>
              <a:buChar char="○"/>
              <a:defRPr>
                <a:solidFill>
                  <a:schemeClr val="dk2"/>
                </a:solidFill>
              </a:defRPr>
            </a:lvl2pPr>
            <a:lvl3pPr marL="762000" lvl="2" indent="-127000">
              <a:lnSpc>
                <a:spcPct val="115000"/>
              </a:lnSpc>
              <a:spcBef>
                <a:spcPts val="0"/>
              </a:spcBef>
              <a:spcAft>
                <a:spcPts val="0"/>
              </a:spcAft>
              <a:buClr>
                <a:schemeClr val="dk2"/>
              </a:buClr>
              <a:buSzPts val="1400"/>
              <a:buChar char="■"/>
              <a:defRPr>
                <a:solidFill>
                  <a:schemeClr val="dk2"/>
                </a:solidFill>
              </a:defRPr>
            </a:lvl3pPr>
            <a:lvl4pPr marL="1041400" lvl="3" indent="-127000">
              <a:lnSpc>
                <a:spcPct val="115000"/>
              </a:lnSpc>
              <a:spcBef>
                <a:spcPts val="0"/>
              </a:spcBef>
              <a:spcAft>
                <a:spcPts val="0"/>
              </a:spcAft>
              <a:buClr>
                <a:schemeClr val="dk2"/>
              </a:buClr>
              <a:buSzPts val="1400"/>
              <a:buChar char="•"/>
              <a:defRPr>
                <a:solidFill>
                  <a:schemeClr val="dk2"/>
                </a:solidFill>
              </a:defRPr>
            </a:lvl4pPr>
            <a:lvl5pPr marL="1320800" lvl="4" indent="-127000">
              <a:lnSpc>
                <a:spcPct val="115000"/>
              </a:lnSpc>
              <a:spcBef>
                <a:spcPts val="0"/>
              </a:spcBef>
              <a:spcAft>
                <a:spcPts val="0"/>
              </a:spcAft>
              <a:buClr>
                <a:schemeClr val="dk2"/>
              </a:buClr>
              <a:buSzPts val="1400"/>
              <a:buChar char="○"/>
              <a:defRPr>
                <a:solidFill>
                  <a:schemeClr val="dk2"/>
                </a:solidFill>
              </a:defRPr>
            </a:lvl5pPr>
            <a:lvl6pPr marL="1600200" lvl="5" indent="-127000">
              <a:lnSpc>
                <a:spcPct val="115000"/>
              </a:lnSpc>
              <a:spcBef>
                <a:spcPts val="0"/>
              </a:spcBef>
              <a:spcAft>
                <a:spcPts val="0"/>
              </a:spcAft>
              <a:buClr>
                <a:schemeClr val="dk2"/>
              </a:buClr>
              <a:buSzPts val="1400"/>
              <a:buChar char="■"/>
              <a:defRPr>
                <a:solidFill>
                  <a:schemeClr val="dk2"/>
                </a:solidFill>
              </a:defRPr>
            </a:lvl6pPr>
            <a:lvl7pPr marL="1879600" lvl="6" indent="-127000">
              <a:lnSpc>
                <a:spcPct val="115000"/>
              </a:lnSpc>
              <a:spcBef>
                <a:spcPts val="0"/>
              </a:spcBef>
              <a:spcAft>
                <a:spcPts val="0"/>
              </a:spcAft>
              <a:buClr>
                <a:schemeClr val="dk2"/>
              </a:buClr>
              <a:buSzPts val="1400"/>
              <a:buChar char="•"/>
              <a:defRPr>
                <a:solidFill>
                  <a:schemeClr val="dk2"/>
                </a:solidFill>
              </a:defRPr>
            </a:lvl7pPr>
            <a:lvl8pPr marL="2159000" lvl="7" indent="-127000">
              <a:lnSpc>
                <a:spcPct val="115000"/>
              </a:lnSpc>
              <a:spcBef>
                <a:spcPts val="0"/>
              </a:spcBef>
              <a:spcAft>
                <a:spcPts val="0"/>
              </a:spcAft>
              <a:buClr>
                <a:schemeClr val="dk2"/>
              </a:buClr>
              <a:buSzPts val="1400"/>
              <a:buChar char="○"/>
              <a:defRPr>
                <a:solidFill>
                  <a:schemeClr val="dk2"/>
                </a:solidFill>
              </a:defRPr>
            </a:lvl8pPr>
            <a:lvl9pPr marL="2438400" lvl="8" indent="-1270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defRPr sz="3400">
                <a:latin typeface="Noto Sans CJK JP"/>
              </a:defRPr>
              <a:buNone/>
            </a:pPr>
            <a:r>
              <a:rPr sz="3400" b="1" lang="ja-JP">
                <a:solidFill>
                  <a:srgbClr val="303437"/>
                </a:solidFill>
                <a:latin typeface="Noto Sans CJK JP"/>
                <a:ea typeface="Noto Sans CJK JP"/>
                <a:cs typeface="Noto Sans CJK JP"/>
              </a:rPr>
              <a:t>読解型質問応答用データセット</a:t>
            </a:r>
            <a:endParaRPr sz="3400" lang="ja-JP"/>
          </a:p>
          <a:p>
            <a:pPr algn="ctr" marL="0" indent="0">
              <a:lnSpc>
                <a:spcPct val="110000"/>
              </a:lnSpc>
              <a:spcBef>
                <a:spcPts val="0"/>
              </a:spcBef>
              <a:spcAft>
                <a:spcPts val="1200"/>
              </a:spcAft>
              <a:defRPr sz="5800">
                <a:latin typeface="Noto Sans CJK JP"/>
              </a:defRPr>
              <a:buNone/>
            </a:pPr>
            <a:r>
              <a:rPr sz="5800" b="1" lang="ja-JP">
                <a:solidFill>
                  <a:srgbClr val="303437"/>
                </a:solidFill>
                <a:latin typeface="Noto Sans CJK JP"/>
                <a:ea typeface="Noto Sans CJK JP"/>
                <a:cs typeface="Noto Sans CJK JP"/>
              </a:rPr>
              <a:t>SQuAD</a:t>
            </a:r>
            <a:endParaRPr sz="5800" lang="ja-JP"/>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defRPr sz="2200">
                <a:latin typeface="Noto Sans CJK JP"/>
              </a:defRPr>
              <a:buNone/>
            </a:pPr>
            <a:r>
              <a:rPr sz="2200" b="0" lang="ja-JP">
                <a:solidFill>
                  <a:srgbClr val="303437"/>
                </a:solidFill>
                <a:latin typeface="Noto Sans CJK JP"/>
                <a:ea typeface="Noto Sans CJK JP"/>
                <a:cs typeface="Noto Sans CJK JP"/>
              </a:rPr>
              <a:t>Stanford Question Answering Dataset</a:t>
            </a:r>
            <a:endParaRPr sz="2200" lang="ja-JP"/>
          </a:p>
        </p:txBody>
      </p:sp>
      <p:sp>
        <p:nvSpPr>
          <p:cNvPr id="5" name="Text Placeholder 4"/>
          <p:cNvSpPr>
            <a:spLocks noGrp="1"/>
          </p:cNvSpPr>
          <p:nvPr>
            <p:ph type="body" idx="11"/>
          </p:nvPr>
        </p:nvSpPr>
        <p:spPr>
          <a:xfrm>
            <a:off x="5486400" y="4498848"/>
            <a:ext cx="3108960" cy="22860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sasakiy84</a:t>
            </a:r>
            <a:endParaRPr sz="1400" lang="ja-JP"/>
            <a:endParaRPr sz="1400"/>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defRPr sz="1400">
                <a:latin typeface="Noto Sans CJK JP"/>
              </a:defRPr>
              <a:lnSpc>
                <a:spcPct val="110000"/>
              </a:lnSpc>
              <a:spcBef>
                <a:spcPts val="0"/>
              </a:spcBef>
              <a:spcAft>
                <a:spcPts val="0"/>
              </a:spcAft>
              <a:buNone/>
            </a:pPr>
            <a:r>
              <a:rPr sz="1400" lang="ja-JP">
                <a:solidFill>
                  <a:srgbClr val="626669"/>
                </a:solidFill>
                <a:latin typeface="Noto Sans CJK JP"/>
                <a:ea typeface="Noto Sans CJK JP"/>
              </a:rPr>
              <a:t>datasets in 10 minutes (2026-10-15)</a:t>
            </a:r>
            <a:endParaRPr sz="1400" lang="ja-JP"/>
            <a:endParaRPr sz="1400"/>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本編の構成</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SQuADの構成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spcAft>
                <a:spcPts val="1200"/>
              </a:spcAft>
              <a:defRPr sz="2400">
                <a:latin typeface="Noto Sans CJK JP"/>
              </a:defRPr>
              <a:buAutoNum type="arabicPeriod" startAt="1"/>
            </a:pPr>
            <a:r>
              <a:rPr sz="2400" lang="ja-JP">
                <a:solidFill>
                  <a:srgbClr val="303437"/>
                </a:solidFill>
                <a:latin typeface="Noto Sans CJK JP"/>
                <a:ea typeface="Noto Sans CJK JP"/>
              </a:rPr>
              <a:t>目的とタスク</a:t>
            </a:r>
            <a:endParaRPr sz="2400"/>
          </a:p>
          <a:p>
            <a:pPr algn="l" marL="533400" indent="-482600">
              <a:lnSpc>
                <a:spcPct val="110000"/>
              </a:lnSpc>
              <a:spcBef>
                <a:spcPts val="0"/>
              </a:spcBef>
              <a:spcAft>
                <a:spcPts val="1200"/>
              </a:spcAft>
              <a:defRPr sz="2400">
                <a:latin typeface="Noto Sans CJK JP"/>
              </a:defRPr>
              <a:buAutoNum type="arabicPeriod" startAt="2"/>
            </a:pPr>
            <a:r>
              <a:rPr sz="2400" lang="ja-JP">
                <a:solidFill>
                  <a:srgbClr val="303437"/>
                </a:solidFill>
                <a:latin typeface="Noto Sans CJK JP"/>
                <a:ea typeface="Noto Sans CJK JP"/>
              </a:rPr>
              <a:t>作成方法と規模</a:t>
            </a:r>
            <a:endParaRPr sz="2400"/>
          </a:p>
          <a:p>
            <a:pPr algn="l" marL="533400" indent="-482600">
              <a:lnSpc>
                <a:spcPct val="110000"/>
              </a:lnSpc>
              <a:spcBef>
                <a:spcPts val="0"/>
              </a:spcBef>
              <a:spcAft>
                <a:spcPts val="1200"/>
              </a:spcAft>
              <a:defRPr sz="2400">
                <a:latin typeface="Noto Sans CJK JP"/>
              </a:defRPr>
              <a:buAutoNum type="arabicPeriod" startAt="3"/>
            </a:pPr>
            <a:r>
              <a:rPr sz="2400" lang="ja-JP">
                <a:solidFill>
                  <a:srgbClr val="303437"/>
                </a:solidFill>
                <a:latin typeface="Noto Sans CJK JP"/>
                <a:ea typeface="Noto Sans CJK JP"/>
              </a:rPr>
              <a:t>評価と性能</a:t>
            </a:r>
            <a:endParaRPr sz="2400"/>
          </a:p>
          <a:p>
            <a:pPr algn="l" marL="533400" indent="-482600">
              <a:lnSpc>
                <a:spcPct val="110000"/>
              </a:lnSpc>
              <a:spcBef>
                <a:spcPts val="0"/>
              </a:spcBef>
              <a:spcAft>
                <a:spcPts val="1200"/>
              </a:spcAft>
              <a:defRPr sz="2400">
                <a:latin typeface="Noto Sans CJK JP"/>
              </a:defRPr>
              <a:buAutoNum type="arabicPeriod" startAt="4"/>
            </a:pPr>
            <a:r>
              <a:rPr sz="2400" lang="ja-JP">
                <a:solidFill>
                  <a:srgbClr val="303437"/>
                </a:solidFill>
                <a:latin typeface="Noto Sans CJK JP"/>
                <a:ea typeface="Noto Sans CJK JP"/>
              </a:rPr>
              <a:t>利用の変遷と現在</a:t>
            </a:r>
            <a:endParaRPr sz="2400"/>
          </a:p>
          <a:p>
            <a:pPr algn="l" marL="533400" indent="-482600">
              <a:lnSpc>
                <a:spcPct val="110000"/>
              </a:lnSpc>
              <a:spcBef>
                <a:spcPts val="0"/>
              </a:spcBef>
              <a:spcAft>
                <a:spcPts val="1200"/>
              </a:spcAft>
              <a:defRPr sz="2400">
                <a:latin typeface="Noto Sans CJK JP"/>
              </a:defRPr>
              <a:buAutoNum type="arabicPeriod" startAt="5"/>
            </a:pPr>
            <a:r>
              <a:rPr sz="2400" lang="ja-JP">
                <a:solidFill>
                  <a:srgbClr val="303437"/>
                </a:solidFill>
                <a:latin typeface="Noto Sans CJK JP"/>
                <a:ea typeface="Noto Sans CJK JP"/>
              </a:rPr>
              <a:t>入手方法とまとめ</a:t>
            </a:r>
            <a:endParaRPr sz="24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1 目的とタスク</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の公式サイト</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開発当時の課題と SQuAD の目的</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人が書いた質問で、文章の読解を大規模に評価する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当時は、人手作成の読解データが小規模だった。</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大規模な自動作成データでは、質問・正解の形式が限定的。</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Wikipediaの段落に、人が質問と回答範囲を付ける。</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正解は単語1個や固有名詞に限らず、連続した語句を許す</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論文では10万問以上・500以上の記事を報告。</a:t>
            </a:r>
            <a:endParaRPr sz="22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§1–3　https://aclanthology.org/D16-1264/</a:t>
            </a:r>
            <a:endParaRPr sz="85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のタスク</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入力にはWikipedia記事の1段落と、その段落への質問を使う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質問に対応する原文の表現を回答する</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本文中の連続した範囲を正解として指定する。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答えは固有名詞・年・数量・語句など。</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元データの文章・質問・正解は英語。</a:t>
            </a:r>
            <a:endParaRPr sz="23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タスク・入力単位　https://aclanthology.org/D16-1264/</a:t>
            </a:r>
            <a:endParaRPr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実例1 スポーツ記事の質問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American Football Conference (AFC) champion </a:t>
            </a:r>
            <a:r>
              <a:rPr sz="1800" b="1" lang="ja-JP">
                <a:solidFill>
                  <a:srgbClr val="B13731"/>
                </a:solidFill>
                <a:latin typeface="Liberation Sans"/>
                <a:ea typeface="Liberation Sans"/>
                <a:cs typeface="Liberation Sans"/>
              </a:rPr>
              <a:t>Denver Broncos</a:t>
            </a:r>
            <a:r>
              <a:rPr sz="1800" b="0" lang="ja-JP">
                <a:solidFill>
                  <a:srgbClr val="303437"/>
                </a:solidFill>
                <a:latin typeface="Liberation Sans"/>
                <a:ea typeface="Liberation Sans"/>
                <a:cs typeface="Liberation Sans"/>
              </a:rPr>
              <a:t> defeated the National Football Conference (NFC) champion Carolina Panthers 24–10 to earn their third Super Bowl title. The game was played on February 7, 2016, at Levi's Stadium in the San Francisco Bay Area at Santa Clara, California.</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Which NFL team represented the AFC at Super Bowl 50?</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第50回スーパーボウルで AFC を代表したチームは？</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Denver Broncos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Super_Bowl_50　https://rajpurkar.github.io/SQuAD-explorer/dataset/dev-v1.1.json（CC BY-SA 4.0／抜粋・強調・質問訳を追加）　ID 56be4db0acb8001400a502ec</a:t>
            </a:r>
            <a:endParaRPr sz="85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実例2 人物記事の質問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Tesla gained experience in telephony and electrical engineering before emigrating to the United States in </a:t>
            </a:r>
            <a:r>
              <a:rPr sz="1800" b="1" lang="ja-JP">
                <a:solidFill>
                  <a:srgbClr val="B13731"/>
                </a:solidFill>
                <a:latin typeface="Liberation Sans"/>
                <a:ea typeface="Liberation Sans"/>
                <a:cs typeface="Liberation Sans"/>
              </a:rPr>
              <a:t>1884</a:t>
            </a:r>
            <a:r>
              <a:rPr sz="1800" b="0" lang="ja-JP">
                <a:solidFill>
                  <a:srgbClr val="303437"/>
                </a:solidFill>
                <a:latin typeface="Liberation Sans"/>
                <a:ea typeface="Liberation Sans"/>
                <a:cs typeface="Liberation Sans"/>
              </a:rPr>
              <a:t> to work for Thomas Edison in New York City. He soon struck out on his own with financial backers, setting up laboratories and companies to develop a range of electrical devices.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In what year did Nikola Tesla emigrate to the United States?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ニコラ・テスラがアメリカへ移住したのは何年か？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1884</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Nikola_Tesla　https://rajpurkar.github.io/SQuAD-explorer/dataset/dev-v1.1.json（CC BY-SA 4.0／抜粋・強調・質問訳を追加）　ID 56df9ee138dc421700152108</a:t>
            </a:r>
            <a:endParaRPr sz="85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実例3 技術記事の質問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a:t>
            </a:r>
            <a:r>
              <a:rPr sz="1800" b="1" lang="ja-JP">
                <a:solidFill>
                  <a:srgbClr val="B13731"/>
                </a:solidFill>
                <a:latin typeface="Liberation Sans"/>
                <a:ea typeface="Liberation Sans"/>
                <a:cs typeface="Liberation Sans"/>
              </a:rPr>
              <a:t>external combustion</a:t>
            </a:r>
            <a:r>
              <a:rPr sz="1800" b="0" lang="ja-JP">
                <a:solidFill>
                  <a:srgbClr val="303437"/>
                </a:solidFill>
                <a:latin typeface="Liberation Sans"/>
                <a:ea typeface="Liberation Sans"/>
                <a:cs typeface="Liberation Sans"/>
              </a:rPr>
              <a:t> engines, where the working fluid is separate from the combustion products. Non-combustion heat sources such as solar power, nuclear power or geothermal energy may be used.</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steam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蒸気機関はどのような種類の機関か？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external combustion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Steam_engine　https://rajpurkar.github.io/SQuAD-explorer/dataset/dev-v1.1.json（CC BY-SA 4.0／抜粋・強調・質問訳を追加）　ID 57112686b654c5140001fbd7</a:t>
            </a:r>
            <a:endParaRPr sz="85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実例4 文章から回答できない質問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They were descended from Norse ("Norman" comes from "Norseman") raiders and pirates from Denmark, Iceland and Norway who, under their leader Rollo, agreed to swear fealty to King Charles III of West Francia.</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Who did King Charles III swear fealty to?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シャルル3世は誰に忠誠を誓ったか？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40613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Rollo の側が王に忠誠を誓う。王が誰に誓ったかは記載されていない。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Normans　https://rajpurkar.github.io/SQuAD-explorer/dataset/dev-v2.0.json（CC BY-SA 4.0／抜粋・強調・質問訳を追加）　ID 5ad39d53604f3c001a3fe8d3</a:t>
            </a:r>
            <a:endParaRPr sz="85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2 作成方法と規模</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Wikipediaの記事と段落の選定方法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2016年論文で報告された収集設計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英語Wikipediaの記事を、PageRankを用いて順位付け。</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上位10,000記事から536記事を無作為に選ぶ。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各記事から段落を取り出し、500文字未満の段落を除く。</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学習・開発・テストを記事単位で分ける。</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入力 context は記事全文ではなく、選ばれた段落。</a:t>
            </a:r>
            <a:endParaRPr sz="22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この選定条件は初版論文の設計。現在の公開JSONの長さとは区別する。</a:t>
            </a:r>
            <a:endParaRPr sz="18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Amazon Mechanical Turk の作業者が質問と回答を作成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提示した段落について、最大5問を作るよう指示。</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段落だけから回答できる質問にする。</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本文のコピーではなく、自分の言葉で質問を書く。</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答えとなる最小限の連続した範囲を、段落内で選択する。</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開発・テストでは、別の作業者による追加回答も収集。</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表現の違う正解を認め、複数正解のうち最良の一致で評価する。</a:t>
            </a:r>
            <a:endParaRPr sz="20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バージョン2.0を作った理由と作成方法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初版では、どの質問にも段落内に答えがあった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作業者が各段落に対し、回答不能な質問を最大5問作成した。</a:t>
            </a:r>
            <a:endParaRPr sz="2100" lang="ja-JP"/>
          </a:p>
          <a:p>
            <a:pPr lvl="1" algn="l" marL="482600" indent="-1270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段落の話題に関連し、回答可能な質問に見えるようにする。</a:t>
            </a:r>
            <a:endParaRPr sz="2000" lang="ja-JP"/>
          </a:p>
          <a:p>
            <a:pPr lvl="1" algn="l" marL="482600" indent="-127000">
              <a:lnSpc>
                <a:spcPct val="113000"/>
              </a:lnSpc>
              <a:spcBef>
                <a:spcPts val="0"/>
              </a:spcBef>
              <a:spcAft>
                <a:spcPts val="700"/>
              </a:spcAft>
              <a:defRPr sz="2000">
                <a:latin typeface="Noto Sans CJK JP"/>
              </a:defRPr>
              <a:buChar char="○"/>
            </a:pPr>
            <a:r>
              <a:rPr sz="2000" b="0" lang="ja-JP">
                <a:solidFill>
                  <a:srgbClr val="303437"/>
                </a:solidFill>
                <a:latin typeface="Noto Sans CJK JP"/>
                <a:ea typeface="Noto Sans CJK JP"/>
                <a:cs typeface="Noto Sans CJK JP"/>
              </a:rPr>
              <a:t>段落内に、答えに見える候補がある質問にする。</a:t>
            </a:r>
            <a:endParaRPr sz="2000" lang="ja-JP"/>
          </a:p>
          <a:p>
            <a:pPr algn="l" marL="203200" indent="-152400">
              <a:lnSpc>
                <a:spcPct val="113000"/>
              </a:lnSpc>
              <a:spcBef>
                <a:spcPts val="0"/>
              </a:spcBef>
              <a:spcAft>
                <a:spcPts val="700"/>
              </a:spcAft>
              <a:defRPr sz="2100">
                <a:latin typeface="Noto Sans CJK JP"/>
              </a:defRPr>
              <a:buChar char="•"/>
            </a:pPr>
            <a:r>
              <a:rPr sz="2100" b="0" lang="ja-JP">
                <a:solidFill>
                  <a:srgbClr val="303437"/>
                </a:solidFill>
                <a:latin typeface="Noto Sans CJK JP"/>
                <a:ea typeface="Noto Sans CJK JP"/>
                <a:cs typeface="Noto Sans CJK JP"/>
              </a:rPr>
              <a:t>記事・段落ごとの作業を分配し、人手で50,000問以上を追加。</a:t>
            </a:r>
            <a:endParaRPr sz="21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回答範囲の抽出と、回答保留の判断を評価する。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Jia &amp; Liang (2018), §1・§3　https://aclanthology.org/P18-2124/</a:t>
            </a:r>
            <a:endParaRPr sz="8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のバージョン1.1と2.0</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バージョン1.1では、文章中に答えがある質問を扱う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質問に対応する本文中の範囲を回答する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バージョン2.0では、回答不能な質問を追加する </a:t>
            </a:r>
            <a:r>
              <a:rPr sz="2300" b="0" lang="ja-JP">
                <a:solidFill>
                  <a:srgbClr val="303437"/>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既存の質問に似た、答えられない質問を人が作成。</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答えられるかを判定し、答えがなければ回答を控える。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異なるバージョンの得点は、そのまま比較できない。</a:t>
            </a:r>
            <a:endParaRPr sz="23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公開データの規模</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版・分割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質問数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回答不能</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Wikipedia記事数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87,599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1.1・開発用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10,570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48</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130,319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43,498</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2.0・開発用</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11,873</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5,945</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35</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133483"/>
            <a:ext cx="8046720" cy="62901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記事数は、質問の元となったWikipedia記事の数。</a:t>
            </a:r>
            <a:endParaRPr sz="2100" lang="ja-JP"/>
            <a:endParaRPr sz="1700"/>
          </a:p>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バージョン2.0は同じ記事に回答不能な質問を追加。</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 train / dev JSON の全件集計　https://github.com/rajpurkar/SQuAD-explorer/tree/master/dataset</a:t>
            </a:r>
            <a:endParaRPr sz="85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長さ [1]</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平均</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中央値</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95%点</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最大</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59.3</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56.0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98.0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270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質問の単語数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17.0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14.0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63.0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239</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回答の単語数</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3.1</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43</a:t>
                      </a:r>
                      <a:endParaRPr sz="18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001365"/>
            <a:ext cx="8046720" cy="761134"/>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公開データ98,169問の先頭正解を1問1件で集計。</a:t>
            </a:r>
            <a:endParaRPr sz="1900" lang="ja-JP"/>
            <a:endParaRPr sz="1700"/>
          </a:p>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最大の回答は43単語・239文字。</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バージョン1.1のtrainとdevを集計。文字数は前後空白を除去し、単語数は空白で分割。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入力段落（context）の長さ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context の長さ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平均</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中央値</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95%点</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最大</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文字数</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739.6</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679.0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1312.0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4063</a:t>
                      </a:r>
                      <a:endParaRPr sz="1900" lang="ja-JP"/>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単語数</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117.2</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108.0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210.0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653</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343275"/>
            <a:ext cx="8046720" cy="118300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バージョン1.1 train＋dev、20,963段落を各1回集計。</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同じ段落への複数質問による重複カウントはしない。</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最長は4,063文字／653単語。</a:t>
            </a:r>
            <a:endParaRPr sz="21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文字数は前後空白を除去／単語数は空白分割。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質問に大量の空白が含まれる実例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前後に大量の空白が含まれる質問を1件確認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元文字列 25,651文字 → 前後空白を除去 59文字。</a:t>
            </a:r>
            <a:endParaRPr sz="21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What radiates two lobes perpendicular to the antennas axis?</a:t>
            </a:r>
            <a:endParaRPr sz="1800" lang="ja-JP"/>
          </a:p>
          <a:p>
            <a:pPr lvl="1" algn="l" marL="482600" indent="-127000">
              <a:lnSpc>
                <a:spcPct val="113000"/>
              </a:lnSpc>
              <a:spcBef>
                <a:spcPts val="0"/>
              </a:spcBef>
              <a:spcAft>
                <a:spcPts val="400"/>
              </a:spcAft>
              <a:defRPr sz="1900">
                <a:latin typeface="Noto Sans CJK JP"/>
              </a:defRPr>
              <a:buChar char="○"/>
            </a:pPr>
            <a:r>
              <a:rPr sz="1900" b="0" lang="ja-JP">
                <a:solidFill>
                  <a:srgbClr val="303437"/>
                </a:solidFill>
                <a:latin typeface="Noto Sans CJK JP"/>
                <a:ea typeface="Noto Sans CJK JP"/>
                <a:cs typeface="Noto Sans CJK JP"/>
              </a:rPr>
              <a:t>アンテナの軸に垂直な2つのローブを放射するものは何か。</a:t>
            </a:r>
            <a:endParaRPr sz="19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主要統計は前後空白だけを除去し、本文の文字は保持。</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長さの比較では、空白を含めるかで結果が大きく変わる。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572fdefb947a6a140053cd8d</a:t>
            </a:r>
            <a:endParaRPr sz="85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3 評価と性能</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評価手法は EM と F1 の2種類</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EMは、1問では完全一致なら1、不一致なら0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正解がDenver Broncosなら、一致は1、Denverは0。</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F1は、共通する単語の適合率・再現率の調和平均。</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上の例では、完全一致なら1、Denverだけなら2/3。</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報告値は、全問の得点の平均 × 100（%）。</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2問中1問が完全一致なら、集合のEMは50%。</a:t>
            </a:r>
            <a:endParaRPr sz="2000" lang="ja-JP"/>
          </a:p>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小文字化・句読点・冠詞除去・空白正規化。複数正解の最良値。</a:t>
            </a:r>
            <a:endParaRPr sz="19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評価実装　https://github.com/huggingface/evaluate/blob/main/metrics/squad/compute_score.py</a:t>
            </a:r>
            <a:endParaRPr sz="85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2016年の原著のモデルはF1が51.0%だった</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defRPr sz="1400">
                <a:latin typeface="Noto Sans CJK JP"/>
              </a:defRPr>
              <a:buNone/>
            </a:pPr>
            <a:r>
              <a:rPr sz="1400" lang="ja-JP">
                <a:solidFill>
                  <a:srgbClr val="FFFEF8"/>
                </a:solidFill>
                <a:latin typeface="Noto Sans CJK JP"/>
                <a:ea typeface="Noto Sans CJK JP"/>
              </a:rPr>
              <a:t>SQuADの登場時の性能</a:t>
            </a:r>
            <a:endParaRPr sz="1400"/>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原著のモデル・人の回答</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EM（%）</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F1（%）</a:t>
                      </a:r>
                      <a:endParaRPr sz="2200"/>
                    </a:p>
                  </a:txBody>
                  <a:tcPr>
                    <a:solidFill>
                      <a:srgbClr val="FFFEF8"/>
                    </a:solidFill>
                    <a:lnL w="0">
                      <a:noFill/>
                    </a:lnL>
                    <a:lnR w="0">
                      <a:noFill/>
                    </a:lnR>
                    <a:lnT w="10160">
                      <a:solidFill>
                        <a:srgbClr val="626669"/>
                      </a:solidFill>
                    </a:lnT>
                    <a:lnB w="10160">
                      <a:solidFill>
                        <a:srgbClr val="626669"/>
                      </a:solid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単語一致を使うSliding Window</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12.5</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19.7</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ロジスティック回帰</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40.4</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51.0</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人の回答</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77.0</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86.8</a:t>
                      </a:r>
                      <a:endParaRPr sz="2200"/>
                    </a:p>
                  </a:txBody>
                  <a:tcPr>
                    <a:solidFill>
                      <a:srgbClr val="FFFEF8"/>
                    </a:solidFill>
                    <a:lnL w="0">
                      <a:noFill/>
                    </a:lnL>
                    <a:lnR w="0">
                      <a:noFill/>
                    </a:lnR>
                    <a:lnT w="0">
                      <a:noFill/>
                    </a:lnT>
                    <a:lnB w="10160">
                      <a:solidFill>
                        <a:srgbClr val="626669"/>
                      </a:solidFill>
                    </a:lnB>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defRPr sz="1800">
                <a:latin typeface="Noto Sans CJK JP"/>
              </a:defRPr>
              <a:buNone/>
            </a:pPr>
            <a:r>
              <a:rPr sz="1800" lang="ja-JP">
                <a:solidFill>
                  <a:srgbClr val="303437"/>
                </a:solidFill>
                <a:latin typeface="Noto Sans CJK JP"/>
                <a:ea typeface="Noto Sans CJK JP"/>
              </a:rPr>
              <a:t>SQuADバージョン1.0のテスト用で評価した </a:t>
            </a:r>
            <a:r>
              <a:rPr sz="1800" lang="ja-JP">
                <a:solidFill>
                  <a:srgbClr val="303437"/>
                </a:solidFill>
                <a:latin typeface="Noto Sans CJK JP"/>
                <a:ea typeface="Noto Sans CJK JP"/>
              </a:rPr>
              <a:t>[1]</a:t>
            </a:r>
            <a:r>
              <a:rPr sz="1800" lang="ja-JP">
                <a:solidFill>
                  <a:srgbClr val="303437"/>
                </a:solidFill>
                <a:latin typeface="Noto Sans CJK JP"/>
                <a:ea typeface="Noto Sans CJK JP"/>
              </a:rPr>
              <a:t>。人の得点は、追加の正解回答を予測として採点した。</a:t>
            </a:r>
            <a:endParaRPr sz="18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Table 5・§6.2. https://aclanthology.org/D16-1264/</a:t>
            </a:r>
            <a:endParaRPr sz="85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バージョン1.1のベンチマーク結果</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BiDAF</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2016-11-28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68.0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77.3</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2018-10-05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85.1</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2019-05-21</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95.1</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2.0では抽出型モデルも比較されている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79.0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89.4</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DeBERTa-V3-Large</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89.0</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91.5</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 2.0の学習用で微調整し、開発用で評価した公表値。</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Llamaの生成評価や、運営者の非公開テストとは条件が異なる。</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Microsoftの公開結果で、SQuAD 2.0開発用のEM・F1を掲載。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https://github.com/microsoft/DeBERTa</a:t>
            </a:r>
            <a:endParaRPr sz="8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Llama 3.1でもSQuAD 2を評価している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事前学習モデル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8B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77.0</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70B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3.1 405B</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89.3</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2024-07-23公開、事前学習モデルを1-shotで生成評価。</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先行QAの正解を含むため、運営者のテストとは条件が異なる </a:t>
            </a:r>
            <a:r>
              <a:rPr sz="1700" lang="ja-JP">
                <a:solidFill>
                  <a:srgbClr val="303437"/>
                </a:solidFill>
                <a:latin typeface="Noto Sans CJK JP"/>
                <a:ea typeface="Noto Sans CJK JP"/>
              </a:rPr>
              <a:t>[2]</a:t>
            </a:r>
            <a:r>
              <a:rPr sz="1700" lang="ja-JP">
                <a:solidFill>
                  <a:srgbClr val="303437"/>
                </a:solidFill>
                <a:latin typeface="Noto Sans CJK JP"/>
                <a:ea typeface="Noto Sans CJK JP"/>
              </a:rPr>
              <a:t>。</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https://github.com/meta-llama/llama-models/blob/main/models/llama3_1/MODEL_CARD.md</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https://github.com/meta-llama/llama-models/blob/main/models/llama3_1/eval_details.md</a:t>
            </a:r>
            <a:endParaRPr sz="85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4 利用の変遷と現在</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SQuAD以前にも読解用データセットがあった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MCTestは2013年に公開された。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短い物語を読んで4択質問に答える。SQuADはWikipediaの段落から回答範囲を選ぶ </a:t>
            </a:r>
            <a:r>
              <a:rPr sz="2000" b="0" lang="ja-JP">
                <a:solidFill>
                  <a:srgbClr val="303437"/>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CNN / Daily Mailは2015年に公開された。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ニュースの要約の固有表現を伏せて質問を自動生成する。SQuADでは人が質問を書き、回答は任意の連続範囲を認める </a:t>
            </a:r>
            <a:r>
              <a:rPr sz="2000" b="0" lang="ja-JP">
                <a:solidFill>
                  <a:srgbClr val="303437"/>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Richardson et al. (2013) https://aclanthology.org/D13-1020/</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Hermann et al. (2015) https://github.com/deepmind/rc-data</a:t>
            </a:r>
            <a:endParaRPr sz="85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後続データセットでは入力と質問が広がった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HotpotQAは2018年に公開された。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複数のWikipedia記事にまたがる推論と、根拠文の特定を扱う。SQuADの1段落の読解より、文書間の情報を組み合わせる </a:t>
            </a:r>
            <a:r>
              <a:rPr sz="2000" b="0" lang="ja-JP">
                <a:solidFill>
                  <a:srgbClr val="303437"/>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Natural Questionsは2019年に公開された。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Googleの検索質問とWikipediaページを使う。SQuADと異なり、長い回答と短い回答を指定する </a:t>
            </a:r>
            <a:r>
              <a:rPr sz="2000" b="0" lang="ja-JP">
                <a:solidFill>
                  <a:srgbClr val="303437"/>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Yang et al. (2018) https://github.com/hotpotqa/hotpot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Kwiatkowski et al. (2019) https://github.com/google-research-datasets/natural-questions</a:t>
            </a:r>
            <a:endParaRPr sz="85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発表当時と2026年時点の位置付け</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137535"/>
          </a:xfrm>
          <a:prstGeom prst="rect">
            <a:avLst/>
          </a:prstGeom>
          <a:noFill/>
        </p:spPr>
        <p:txBody>
          <a:bodyPr wrap="square" anchor="t" lIns="0" rIns="0" tIns="0" bIns="0">
            <a:noAutofit/>
          </a:bodyPr>
          <a:lstStyle/>
          <a:p>
            <a:pPr algn="l" marL="203200" indent="-152400">
              <a:lnSpc>
                <a:spcPct val="110000"/>
              </a:lnSpc>
              <a:spcBef>
                <a:spcPts val="0"/>
              </a:spcBef>
              <a:defRPr sz="2100">
                <a:latin typeface="Noto Sans CJK JP"/>
              </a:defRPr>
              <a:spcAft>
                <a:spcPts val="600"/>
              </a:spcAft>
              <a:buChar char="•"/>
            </a:pPr>
            <a:r>
              <a:rPr sz="2100" lang="ja-JP">
                <a:solidFill>
                  <a:srgbClr val="303437"/>
                </a:solidFill>
                <a:latin typeface="Noto Sans CJK JP"/>
                <a:ea typeface="Noto Sans CJK JP"/>
              </a:rPr>
              <a:t>SQuADは、生成型言語モデルの読解評価にも使われている。</a:t>
            </a:r>
            <a:endParaRPr sz="2200" lang="ja-JP"/>
            <a:endParaRPr sz="2100"/>
          </a:p>
          <a:p>
            <a:pPr algn="l" marL="203200" indent="-1524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2026年も、SQuAD 2.0の評価実装が公開されている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100"/>
          </a:p>
          <a:p>
            <a:pPr algn="l" marL="203200" indent="-1524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一方、長文を扱うLongBench v2が2024年に登場した </a:t>
            </a:r>
            <a:r>
              <a:rPr sz="2100" lang="ja-JP">
                <a:solidFill>
                  <a:srgbClr val="303437"/>
                </a:solidFill>
                <a:latin typeface="Noto Sans CJK JP"/>
                <a:ea typeface="Noto Sans CJK JP"/>
              </a:rPr>
              <a:t>[2]</a:t>
            </a:r>
            <a:r>
              <a:rPr sz="2100" lang="ja-JP">
                <a:solidFill>
                  <a:srgbClr val="303437"/>
                </a:solidFill>
                <a:latin typeface="Noto Sans CJK JP"/>
                <a:ea typeface="Noto Sans CJK JP"/>
              </a:rPr>
              <a:t>。</a:t>
            </a:r>
            <a:endParaRPr sz="2100"/>
          </a:p>
          <a:p>
            <a:pPr algn="l" lvl="1" marL="482600" indent="-1270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8千〜200万語の文脈から選択肢を選ぶ。短い段落から回答範囲を抽出するSQuADとは、文脈長と回答形式が異なる。</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Hugging Face Evaluate, SQuAD 2.0. https://github.com/huggingface/evaluate/blob/main/metrics/squad_v2/squad_v2.py</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LongBench v2. https://github.com/THUDM/LongBench</a:t>
            </a:r>
            <a:endParaRPr sz="85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5 入手方法とまとめ</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の入手方法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利用と入手</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公式サイトからJSONをダウンロードできる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学習用 train と開発用 dev をバージョンごとに配布。</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Hugging Face Datasetsからも取得できる </a:t>
            </a:r>
            <a:r>
              <a:rPr sz="2300" b="0" lang="ja-JP">
                <a:solidFill>
                  <a:srgbClr val="303437"/>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バージョン1.1では、rajpurkar/squadを使う。</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バージョン2.0では、rajpurkar/squad_v2を使う。</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データの利用条件はCC BY-SA 4.0。</a:t>
            </a:r>
            <a:endParaRPr sz="2100" lang="ja-JP"/>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https://rajpurkar.github.io/SQuAD-explorer/</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https://huggingface.co/datasets/rajpurkar/squad / https://huggingface.co/datasets/rajpurkar/squad_v2</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https://creativecommons.org/licenses/by-sa/4.0/</a:t>
            </a:r>
            <a:endParaRPr sz="85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まとめ</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まとめ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SQuADは、英語の読解型質問応答データセット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Wikipediaの段落から、質問の答えとなる範囲を選ぶ。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人手作成の質問を大規模に評価するため、2016年に発表。</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バージョン1.1では、回答可能な質問の答えを抽出。</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バージョン2.0では、回答不能な質問と回答保留を追加 </a:t>
            </a:r>
            <a:r>
              <a:rPr sz="2200" b="0" lang="ja-JP">
                <a:solidFill>
                  <a:srgbClr val="303437"/>
                </a:solidFill>
                <a:latin typeface="Noto Sans CJK JP"/>
                <a:ea typeface="Noto Sans CJK JP"/>
                <a:cs typeface="Noto Sans CJK JP"/>
              </a:rPr>
              <a:t>[2]</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EM・F1で評価。LLMにも利用され、評価条件の確認が必要。</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初版は https://aclanthology.org/D16-1264/  バージョン2 https://aclanthology.org/P18-2124/</a:t>
            </a:r>
            <a:endParaRPr sz="85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Appendixの目次</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Appendix: 補足資料の構成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spcAft>
                <a:spcPts val="1200"/>
              </a:spcAft>
              <a:defRPr sz="2400">
                <a:latin typeface="Noto Sans CJK JP"/>
              </a:defRPr>
              <a:buAutoNum type="arabicPeriod" startAt="1"/>
            </a:pPr>
            <a:r>
              <a:rPr sz="2400" lang="ja-JP">
                <a:solidFill>
                  <a:srgbClr val="303437"/>
                </a:solidFill>
                <a:latin typeface="Noto Sans CJK JP"/>
                <a:ea typeface="Noto Sans CJK JP"/>
              </a:rPr>
              <a:t>著者と発表先</a:t>
            </a:r>
            <a:endParaRPr sz="2400"/>
          </a:p>
          <a:p>
            <a:pPr algn="l" marL="533400" indent="-482600">
              <a:lnSpc>
                <a:spcPct val="110000"/>
              </a:lnSpc>
              <a:spcBef>
                <a:spcPts val="0"/>
              </a:spcBef>
              <a:spcAft>
                <a:spcPts val="1200"/>
              </a:spcAft>
              <a:defRPr sz="2400">
                <a:latin typeface="Noto Sans CJK JP"/>
              </a:defRPr>
              <a:buAutoNum type="arabicPeriod" startAt="2"/>
            </a:pPr>
            <a:r>
              <a:rPr sz="2400" lang="ja-JP">
                <a:solidFill>
                  <a:srgbClr val="303437"/>
                </a:solidFill>
                <a:latin typeface="Noto Sans CJK JP"/>
                <a:ea typeface="Noto Sans CJK JP"/>
              </a:rPr>
              <a:t>追加の実例</a:t>
            </a:r>
            <a:endParaRPr sz="2400"/>
          </a:p>
          <a:p>
            <a:pPr algn="l" marL="533400" indent="-482600">
              <a:lnSpc>
                <a:spcPct val="110000"/>
              </a:lnSpc>
              <a:spcBef>
                <a:spcPts val="0"/>
              </a:spcBef>
              <a:spcAft>
                <a:spcPts val="1200"/>
              </a:spcAft>
              <a:defRPr sz="2400">
                <a:latin typeface="Noto Sans CJK JP"/>
              </a:defRPr>
              <a:buAutoNum type="arabicPeriod" startAt="3"/>
            </a:pPr>
            <a:r>
              <a:rPr sz="2400" lang="ja-JP">
                <a:solidFill>
                  <a:srgbClr val="303437"/>
                </a:solidFill>
                <a:latin typeface="Noto Sans CJK JP"/>
                <a:ea typeface="Noto Sans CJK JP"/>
              </a:rPr>
              <a:t>詳細統計と極値</a:t>
            </a:r>
            <a:endParaRPr sz="2400"/>
          </a:p>
          <a:p>
            <a:pPr algn="l" marL="533400" indent="-482600">
              <a:lnSpc>
                <a:spcPct val="110000"/>
              </a:lnSpc>
              <a:spcBef>
                <a:spcPts val="0"/>
              </a:spcBef>
              <a:spcAft>
                <a:spcPts val="1200"/>
              </a:spcAft>
              <a:defRPr sz="2400">
                <a:latin typeface="Noto Sans CJK JP"/>
              </a:defRPr>
              <a:buAutoNum type="arabicPeriod" startAt="4"/>
            </a:pPr>
            <a:r>
              <a:rPr sz="2400" lang="ja-JP">
                <a:solidFill>
                  <a:srgbClr val="303437"/>
                </a:solidFill>
                <a:latin typeface="Noto Sans CJK JP"/>
                <a:ea typeface="Noto Sans CJK JP"/>
              </a:rPr>
              <a:t>追加の評価結果</a:t>
            </a:r>
            <a:endParaRPr sz="2400"/>
          </a:p>
          <a:p>
            <a:pPr algn="l" marL="533400" indent="-482600">
              <a:lnSpc>
                <a:spcPct val="110000"/>
              </a:lnSpc>
              <a:spcBef>
                <a:spcPts val="0"/>
              </a:spcBef>
              <a:spcAft>
                <a:spcPts val="1200"/>
              </a:spcAft>
              <a:defRPr sz="2400">
                <a:latin typeface="Noto Sans CJK JP"/>
              </a:defRPr>
              <a:buAutoNum type="arabicPeriod" startAt="5"/>
            </a:pPr>
            <a:r>
              <a:rPr sz="2400" lang="ja-JP">
                <a:solidFill>
                  <a:srgbClr val="303437"/>
                </a:solidFill>
                <a:latin typeface="Noto Sans CJK JP"/>
                <a:ea typeface="Noto Sans CJK JP"/>
              </a:rPr>
              <a:t>Wikipedia記事一覧</a:t>
            </a:r>
            <a:endParaRPr sz="2400"/>
          </a:p>
          <a:p>
            <a:pPr algn="l" marL="533400" indent="-482600">
              <a:lnSpc>
                <a:spcPct val="110000"/>
              </a:lnSpc>
              <a:spcBef>
                <a:spcPts val="0"/>
              </a:spcBef>
              <a:spcAft>
                <a:spcPts val="1200"/>
              </a:spcAft>
              <a:defRPr sz="2400">
                <a:latin typeface="Noto Sans CJK JP"/>
              </a:defRPr>
              <a:buAutoNum type="arabicPeriod" startAt="6"/>
            </a:pPr>
            <a:r>
              <a:rPr sz="2400" lang="ja-JP">
                <a:solidFill>
                  <a:srgbClr val="303437"/>
                </a:solidFill>
                <a:latin typeface="Noto Sans CJK JP"/>
                <a:ea typeface="Noto Sans CJK JP"/>
              </a:rPr>
              <a:t>入手コードと参考文献</a:t>
            </a:r>
            <a:endParaRPr sz="2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発表先と著者</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defRPr sz="2100">
                <a:latin typeface="Noto Sans CJK JP"/>
              </a:defRPr>
              <a:lnSpc>
                <a:spcPct val="110000"/>
              </a:lnSpc>
              <a:spcBef>
                <a:spcPts val="0"/>
              </a:spcBef>
              <a:spcAft>
                <a:spcPts val="500"/>
              </a:spcAft>
              <a:buChar char="•"/>
            </a:pPr>
            <a:r>
              <a:rPr sz="2100" lang="ja-JP">
                <a:solidFill>
                  <a:srgbClr val="303437"/>
                </a:solidFill>
                <a:latin typeface="Noto Sans CJK JP"/>
                <a:ea typeface="Noto Sans CJK JP"/>
              </a:rPr>
              <a:t>初版はPranav RajpurkarらがEMNLP 2016で発表した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200" lang="ja-JP"/>
            <a:endParaRPr sz="2100"/>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バージョン2は、2018年のACLで発表された </a:t>
            </a:r>
            <a:r>
              <a:rPr sz="2100" lang="ja-JP">
                <a:solidFill>
                  <a:srgbClr val="303437"/>
                </a:solidFill>
                <a:latin typeface="Noto Sans CJK JP"/>
                <a:ea typeface="Noto Sans CJK JP"/>
              </a:rPr>
              <a:t>[2]</a:t>
            </a:r>
            <a:r>
              <a:rPr sz="2100" lang="ja-JP">
                <a:solidFill>
                  <a:srgbClr val="303437"/>
                </a:solidFill>
                <a:latin typeface="Noto Sans CJK JP"/>
                <a:ea typeface="Noto Sans CJK JP"/>
              </a:rPr>
              <a:t>。</a:t>
            </a:r>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両論文の第一著者はPranav Rajpurkar、最終著者はPercy Liangである。</a:t>
            </a:r>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2026年に初版がACL Test of Time Awardを受賞した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EMNLP 2016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ACL 2018 Short Papers　https://aclanthology.org/P18-2124/</a:t>
            </a:r>
            <a:endParaRPr sz="85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主な著者の研究分野と実績</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0000"/>
              </a:lnSpc>
              <a:spcBef>
                <a:spcPts val="0"/>
              </a:spcBef>
              <a:defRPr sz="2000">
                <a:latin typeface="Noto Sans CJK JP"/>
              </a:defRPr>
              <a:spcAft>
                <a:spcPts val="500"/>
              </a:spcAft>
              <a:buChar char="•"/>
            </a:pPr>
            <a:r>
              <a:rPr sz="2000" lang="ja-JP">
                <a:solidFill>
                  <a:srgbClr val="303437"/>
                </a:solidFill>
                <a:latin typeface="Noto Sans CJK JP"/>
                <a:ea typeface="Noto Sans CJK JP"/>
              </a:rPr>
              <a:t>第一著者のPranav Rajpurkarは、読解型QAと医療AIを研究している </a:t>
            </a:r>
            <a:r>
              <a:rPr sz="2000" lang="ja-JP">
                <a:solidFill>
                  <a:srgbClr val="303437"/>
                </a:solidFill>
                <a:latin typeface="Noto Sans CJK JP"/>
                <a:ea typeface="Noto Sans CJK JP"/>
              </a:rPr>
              <a:t>[1,2]</a:t>
            </a:r>
            <a:r>
              <a:rPr sz="2000" lang="ja-JP">
                <a:solidFill>
                  <a:srgbClr val="303437"/>
                </a:solidFill>
                <a:latin typeface="Noto Sans CJK JP"/>
                <a:ea typeface="Noto Sans CJK JP"/>
              </a:rPr>
              <a:t>。</a:t>
            </a:r>
            <a:endParaRPr sz="2200" lang="ja-JP"/>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SQuADと、胸部X線のデータセットCheXpertに貢献した（2019年） </a:t>
            </a:r>
            <a:r>
              <a:rPr sz="2000" lang="ja-JP">
                <a:solidFill>
                  <a:srgbClr val="303437"/>
                </a:solidFill>
                <a:latin typeface="Noto Sans CJK JP"/>
                <a:ea typeface="Noto Sans CJK JP"/>
              </a:rPr>
              <a:t>[5]</a:t>
            </a:r>
            <a:r>
              <a:rPr sz="2000" lang="ja-JP">
                <a:solidFill>
                  <a:srgbClr val="303437"/>
                </a:solidFill>
                <a:latin typeface="Noto Sans CJK JP"/>
                <a:ea typeface="Noto Sans CJK JP"/>
              </a:rPr>
              <a:t>。</a:t>
            </a:r>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最終著者のPercy Liangは、自然言語処理・機械学習を研究している。</a:t>
            </a:r>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SQuADと、言語モデルを幅広く評価するHELMに取り組んだ </a:t>
            </a:r>
            <a:r>
              <a:rPr sz="2000" lang="ja-JP">
                <a:solidFill>
                  <a:srgbClr val="303437"/>
                </a:solidFill>
                <a:latin typeface="Noto Sans CJK JP"/>
                <a:ea typeface="Noto Sans CJK JP"/>
              </a:rPr>
              <a:t>[3]</a:t>
            </a:r>
            <a:r>
              <a:rPr sz="2000" lang="ja-JP">
                <a:solidFill>
                  <a:srgbClr val="303437"/>
                </a:solidFill>
                <a:latin typeface="Noto Sans CJK JP"/>
                <a:ea typeface="Noto Sans CJK JP"/>
              </a:rPr>
              <a:t>。</a:t>
            </a:r>
            <a:endParaRPr sz="2000"/>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  </a:t>
            </a: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https://github.com/stanford-crfm/helm</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[5]</a:t>
            </a:r>
            <a:r>
              <a:rPr sz="850" lang="ja-JP">
                <a:solidFill>
                  <a:srgbClr val="626669"/>
                </a:solidFill>
                <a:latin typeface="Noto Sans CJK JP"/>
                <a:ea typeface="Noto Sans CJK JP"/>
              </a:rPr>
              <a:t> https://github.com/stanfordmlgroup/chexpert-labeler</a:t>
            </a:r>
            <a:endParaRPr sz="85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 Apollo program</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first manned flight of Apollo was in </a:t>
            </a:r>
            <a:r>
              <a:rPr sz="1800" b="1" lang="ja-JP">
                <a:solidFill>
                  <a:srgbClr val="B13731"/>
                </a:solidFill>
                <a:latin typeface="Liberation Sans"/>
                <a:ea typeface="Liberation Sans"/>
                <a:cs typeface="Liberation Sans"/>
              </a:rPr>
              <a:t>1968</a:t>
            </a:r>
            <a:r>
              <a:rPr sz="1800" b="0" lang="ja-JP">
                <a:solidFill>
                  <a:srgbClr val="303437"/>
                </a:solidFill>
                <a:latin typeface="Liberation Sans"/>
                <a:ea typeface="Liberation Sans"/>
                <a:cs typeface="Liberation Sans"/>
              </a:rPr>
              <a:t>.</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year did the first manned Apollo flight occur?</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アポロ計画の最初の有人飛行が行われたのは何年か？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1968</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Apollo_program　https://rajpurkar.github.io/SQuAD-explorer/dataset/dev-v1.1.json（CC BY-SA 4.0／抜粋・強調・質問訳を追加）　ID 5725b41838643c19005acb81</a:t>
            </a:r>
            <a:endParaRPr sz="85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補足実例2 Amazon rainforest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This region includes territory belonging to </a:t>
            </a:r>
            <a:r>
              <a:rPr sz="1800" b="1" lang="ja-JP">
                <a:solidFill>
                  <a:srgbClr val="B13731"/>
                </a:solidFill>
                <a:latin typeface="Liberation Sans"/>
                <a:ea typeface="Liberation Sans"/>
                <a:cs typeface="Liberation Sans"/>
              </a:rPr>
              <a:t>nine nations</a:t>
            </a:r>
            <a:r>
              <a:rPr sz="1800" b="0" lang="ja-JP">
                <a:solidFill>
                  <a:srgbClr val="303437"/>
                </a:solidFill>
                <a:latin typeface="Liberation Sans"/>
                <a:ea typeface="Liberation Sans"/>
                <a:cs typeface="Liberation Sans"/>
              </a:rPr>
              <a:t>. The majority of the forest is contained within Brazil, with 60% of the rainforest, followed by Peru with 13%, Colombia with 10%, and with minor amounts in Venezuela, Ecuador, Bolivia, Guyana, Suriname and French Guiana.</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many nations are within the Amazon Basin?</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アマゾン盆地には何か国が含まれるか？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nine nations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Amazon_rainforest　https://rajpurkar.github.io/SQuAD-explorer/dataset/dev-v1.1.json（CC BY-SA 4.0／抜粋・強調・質問訳を追加）　ID 5729e2316aef0514001550c6</a:t>
            </a:r>
            <a:endParaRPr sz="85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補足実例3 Prime number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 prime number (or a prime) is a natural number greater than 1 that has no positive divisors other than 1 and </a:t>
            </a:r>
            <a:r>
              <a:rPr sz="1800" b="1" lang="ja-JP">
                <a:solidFill>
                  <a:srgbClr val="B13731"/>
                </a:solidFill>
                <a:latin typeface="Liberation Sans"/>
                <a:ea typeface="Liberation Sans"/>
                <a:cs typeface="Liberation Sans"/>
              </a:rPr>
              <a:t>itself</a:t>
            </a:r>
            <a:r>
              <a:rPr sz="1800" b="0" lang="ja-JP">
                <a:solidFill>
                  <a:srgbClr val="303437"/>
                </a:solidFill>
                <a:latin typeface="Liberation Sans"/>
                <a:ea typeface="Liberation Sans"/>
                <a:cs typeface="Liberation Sans"/>
              </a:rPr>
              <a:t>. A natural number greater than 1 that is not a prime number is called a composite number.</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only divisor besides 1 that a prime number can have?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素数が1以外に持つことのできる約数は何か？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itself</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Prime_number　https://rajpurkar.github.io/SQuAD-explorer/dataset/dev-v1.1.json（CC BY-SA 4.0／抜粋・強調・質問訳を追加）　ID 57296d571d04691400779413</a:t>
            </a:r>
            <a:endParaRPr sz="85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補足実例4 Black Death</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Spreading throughout the Mediterranean and Europe, the Black Death is estimated to have killed </a:t>
            </a:r>
            <a:r>
              <a:rPr sz="1800" b="1" lang="ja-JP">
                <a:solidFill>
                  <a:srgbClr val="B13731"/>
                </a:solidFill>
                <a:latin typeface="Liberation Sans"/>
                <a:ea typeface="Liberation Sans"/>
                <a:cs typeface="Liberation Sans"/>
              </a:rPr>
              <a:t>30–60% of Europe's total population</a:t>
            </a:r>
            <a:r>
              <a:rPr sz="1800" b="0" lang="ja-JP">
                <a:solidFill>
                  <a:srgbClr val="303437"/>
                </a:solidFill>
                <a:latin typeface="Liberation Sans"/>
                <a:ea typeface="Liberation Sans"/>
                <a:cs typeface="Liberation Sans"/>
              </a:rPr>
              <a:t>. In total, the plague reduced the world population from an estimated 450 million down to 350–375 million in the 14th century.</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much of the European population did the black death kill?</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黒死病でヨーロッパ人口のどのくらいが死亡したか？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30–60% of Europe's total population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Black_Death　https://rajpurkar.github.io/SQuAD-explorer/dataset/dev-v1.1.json（CC BY-SA 4.0／抜粋・強調・質問訳を追加）　ID 57264684708984140094c125</a:t>
            </a:r>
            <a:endParaRPr sz="85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補足実例5 Warsaw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Liberation Sans"/>
                <a:ea typeface="Liberation Sans"/>
                <a:cs typeface="Liberation Sans"/>
              </a:rPr>
              <a:t>Nobel Prize</a:t>
            </a:r>
            <a:r>
              <a:rPr sz="1800" b="0" lang="ja-JP">
                <a:solidFill>
                  <a:srgbClr val="303437"/>
                </a:solidFill>
                <a:latin typeface="Liberation Sans"/>
                <a:ea typeface="Liberation Sans"/>
                <a:cs typeface="Liberation Sans"/>
              </a:rPr>
              <a:t>. Famous musicians include Władysław Szpilman and Frédéric Chopin.</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was Maria Curie the first female recipient of?</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マリ・キュリーが女性として初めて受賞した賞は何か？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Nobel Prize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Warsaw　https://rajpurkar.github.io/SQuAD-explorer/dataset/dev-v1.1.json（CC BY-SA 4.0／抜粋・強調・質問訳を追加）　ID 5733a5f54776f41900660f45</a:t>
            </a:r>
            <a:endParaRPr sz="85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補足実例6 Genghis Khan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After founding </a:t>
            </a:r>
            <a:r>
              <a:rPr sz="1800" b="1" lang="ja-JP">
                <a:solidFill>
                  <a:srgbClr val="B13731"/>
                </a:solidFill>
                <a:latin typeface="Liberation Sans"/>
                <a:ea typeface="Liberation Sans"/>
                <a:cs typeface="Liberation Sans"/>
              </a:rPr>
              <a:t>the Mongol Empire</a:t>
            </a:r>
            <a:r>
              <a:rPr sz="1800" b="0" lang="ja-JP">
                <a:solidFill>
                  <a:srgbClr val="303437"/>
                </a:solidFill>
                <a:latin typeface="Liberation Sans"/>
                <a:ea typeface="Liberation Sans"/>
                <a:cs typeface="Liberation Sans"/>
              </a:rPr>
              <a:t> and being proclaimed "Genghis Khan", he started the Mongol invasions that resulted in the conquest of most of Eurasia. These included raids or invasions of the Qara Khitai, Caucasus, Khwarezmid Empire, Western Xia and Jin dynasties.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do we call the empire that Genghis Khan founded?</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チンギス・ハンが建てた帝国を何と呼ぶか？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the Mongol Empire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Genghis_Khan　https://rajpurkar.github.io/SQuAD-explorer/dataset/dev-v1.1.json（CC BY-SA 4.0／抜粋・強調・質問訳を追加）　ID 57269e8a5951b619008f77f5</a:t>
            </a:r>
            <a:endParaRPr sz="85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補足実例7 Chloroplast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Chloroplasts' main role is </a:t>
            </a:r>
            <a:r>
              <a:rPr sz="1800" b="1" lang="ja-JP">
                <a:solidFill>
                  <a:srgbClr val="B13731"/>
                </a:solidFill>
                <a:latin typeface="Liberation Sans"/>
                <a:ea typeface="Liberation Sans"/>
                <a:cs typeface="Liberation Sans"/>
              </a:rPr>
              <a:t>to conduct photosynthesis</a:t>
            </a:r>
            <a:r>
              <a:rPr sz="1800" b="0" lang="ja-JP">
                <a:solidFill>
                  <a:srgbClr val="303437"/>
                </a:solidFill>
                <a:latin typeface="Liberation Sans"/>
                <a:ea typeface="Liberation Sans"/>
                <a:cs typeface="Liberation Sans"/>
              </a:rPr>
              <a:t>, where the photosynthetic pigment chlorophyll captures the energy from sunlight and converts it and stores it in the energy-storage molecules ATP and NADPH while freeing oxygen from water.</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primary purpose of chloroplasts?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葉緑体の主な役割は何か？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to conduct photosynthesis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Chloroplast　https://rajpurkar.github.io/SQuAD-explorer/dataset/dev-v1.1.json（CC BY-SA 4.0／抜粋・強調・質問訳を追加）　ID 572953013f37b3190047824d</a:t>
            </a:r>
            <a:endParaRPr sz="85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補足実例8 University of Chicago</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University of Chicago (UChicago, Chicago, or U of C) is </a:t>
            </a:r>
            <a:r>
              <a:rPr sz="1800" b="1" lang="ja-JP">
                <a:solidFill>
                  <a:srgbClr val="B13731"/>
                </a:solidFill>
                <a:latin typeface="Liberation Sans"/>
                <a:ea typeface="Liberation Sans"/>
                <a:cs typeface="Liberation Sans"/>
              </a:rPr>
              <a:t>a private research university</a:t>
            </a:r>
            <a:r>
              <a:rPr sz="1800" b="0" lang="ja-JP">
                <a:solidFill>
                  <a:srgbClr val="303437"/>
                </a:solidFill>
                <a:latin typeface="Liberation Sans"/>
                <a:ea typeface="Liberation Sans"/>
                <a:cs typeface="Liberation Sans"/>
              </a:rPr>
              <a:t> in Chicago. The university, established in 1890, consists of The College, various graduate programs, interdisciplinary committees organized into four academic research divisions and seven professional schools.</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kind of university is the University of Chicago?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シカゴ大学はどのような種類の大学か？</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a private research university</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University_of_Chicago　https://rajpurkar.github.io/SQuAD-explorer/dataset/dev-v1.1.json（CC BY-SA 4.0／抜粋・強調・質問訳を追加）　ID 57283c464b864d19001647c8</a:t>
            </a:r>
            <a:endParaRPr sz="85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補足実例9 Steam engine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754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external combustion engines, where the working fluid is separate from the combustion products.</a:t>
            </a:r>
            <a:endParaRPr sz="1800" lang="ja-JP"/>
          </a:p>
        </p:txBody>
      </p:sp>
      <p:sp>
        <p:nvSpPr>
          <p:cNvPr id="7" name="example-question"/>
          <p:cNvSpPr txBox="1"/>
          <p:nvPr/>
        </p:nvSpPr>
        <p:spPr>
          <a:xfrm>
            <a:off x="548640" y="2673237"/>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solar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太陽熱機関はどのような種類の機関か？</a:t>
            </a:r>
            <a:endParaRPr sz="1700" lang="ja-JP"/>
          </a:p>
        </p:txBody>
      </p:sp>
      <p:sp>
        <p:nvSpPr>
          <p:cNvPr id="8" name="example-answer"/>
          <p:cNvSpPr txBox="1"/>
          <p:nvPr/>
        </p:nvSpPr>
        <p:spPr>
          <a:xfrm>
            <a:off x="548640" y="3320937"/>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892437"/>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原文は蒸気機関を説明する。太陽熱機関の種類は書かれていない。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Steam_engine　https://rajpurkar.github.io/SQuAD-explorer/dataset/dev-v2.0.json（CC BY-SA 4.0／抜粋・強調・質問訳を追加）　ID 5ad3bd8f604f3c001a3fef31</a:t>
            </a:r>
            <a:endParaRPr sz="85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補足実例10 Oxygen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Diatomic oxygen gas constitutes 20.8% of the Earth's atmosphere.</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constitutes 28.0% of the Earth's atmosphere?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地球の大気の28.0%を占めるものは何か？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5965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原文の割合は20.8%。28.0%に対応する記述はない。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Oxygen　https://rajpurkar.github.io/SQuAD-explorer/dataset/dev-v2.0.json（CC BY-SA 4.0／抜粋・強調・質問訳を追加）　ID 5ad21646d7d075001a4283c7</a:t>
            </a:r>
            <a:endParaRPr sz="85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87,599件／回答あり 87,599件／回答不能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10,570件／回答あり 10,570件／回答不能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130,319件／回答あり 86,821件／回答不能 43,498件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58.3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11,873件／回答あり 5,928件／回答不能 5,945件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20.8</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3.5</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31</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バージョン1.1</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19.7</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61.0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バージョン2.0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310.0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1311.0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210.0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774.3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342.9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700.0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1338.0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122.8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54.8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111.0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309.8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677.0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1310.3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209.0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802.6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359.6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711.5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1425.9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57.4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223.8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270／質問単語数 40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18th century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Age_of_Enlightenment　https://github.com/rajpurkar/SQuAD-explorer/tree/master/dataset　ID 5710dcb5b654c5140001fa10</a:t>
            </a:r>
            <a:endParaRPr sz="85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5710dcb5b654c5140001fa10</a:t>
            </a:r>
            <a:endParaRPr sz="85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3706／段落単語数 653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is the largest hottest continuously large area worldwide?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Great Desert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Sahara　https://github.com/rajpurkar/SQuAD-explorer/tree/master/dataset　ID 5728c4163acd2414000dfddf</a:t>
            </a:r>
            <a:endParaRPr sz="85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5728c4163acd2414000dfddf</a:t>
            </a:r>
            <a:endParaRPr sz="85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239／回答単語数 43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concluded about the construction?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that the sudden shift of a huge quantity of water into the region could have relaxed the tension between the two sides of the fault, allowing them to move apart, and could have increased the direct pressure on it, causing a violent rupture</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2008_Sichuan_earthquake　https://github.com/rajpurkar/SQuAD-explorer/tree/master/dataset　ID 56cec3e8aab44d1400b88a02</a:t>
            </a:r>
            <a:endParaRPr sz="85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56cec3e8aab44d1400b88a02</a:t>
            </a:r>
            <a:endParaRPr sz="85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197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kind of contract is given when the contractor is given a performance specification and must undertake the project from design to construction, while adhering to the performance specifications?</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"design build" contract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Construction　https://github.com/rajpurkar/SQuAD-explorer/tree/master/dataset　ID 57274e0d708984140094dbe8</a:t>
            </a:r>
            <a:endParaRPr sz="85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57274e0d708984140094dbe8</a:t>
            </a:r>
            <a:endParaRPr sz="85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33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the name of the event at the The Embarcadero that was held prior to Super Bowl 50 to help show off some of the things that San Francisco has to offer?</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Super Bowl City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Super_Bowl_50　https://github.com/rajpurkar/SQuAD-explorer/tree/master/dataset　ID 56bf53e73aeaaa14008c95ce</a:t>
            </a:r>
            <a:endParaRPr sz="85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56bf53e73aeaaa14008c95ce</a:t>
            </a:r>
            <a:endParaRPr sz="85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4063／段落単語数 629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The freedom to provide services under TFEU article 56 applies to who?</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to people who give services "for remuneration"</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5726c3da708984140094d0d9</a:t>
            </a:r>
            <a:endParaRPr sz="85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5726c3da708984140094d0d9</a:t>
            </a:r>
            <a:endParaRPr sz="85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160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normal British defense?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mustered local militia companies, generally ill trained and available only for short periods, to deal with native threats, but did not have any standing forces.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French_and_Indian_War　https://github.com/rajpurkar/SQuAD-explorer/tree/master/dataset　ID 5733dab4d058e614000b640b</a:t>
            </a:r>
            <a:endParaRPr sz="85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5733dab4d058e614000b640b</a:t>
            </a:r>
            <a:endParaRPr sz="85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回答単語数 29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does the internal cavity contain?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a mouth that can usually be closed by muscles; a pharynx ("throat"); a wider area in the center that acts as a stomach; and a system of internal canals.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Ctenophora　https://github.com/rajpurkar/SQuAD-explorer/tree/master/dataset　ID 57264b1ddd62a815002e80a3</a:t>
            </a:r>
            <a:endParaRPr sz="85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57264b1ddd62a815002e80a3</a:t>
            </a:r>
            <a:endParaRPr sz="85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31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In which case did the Court of Justice state that refusal to admit a lawyer to the Belgian bar because he did not have Belgian heritage wasn't able to be justified?</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Reyners v Belgium</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5726c002708984140094d075</a:t>
            </a:r>
            <a:endParaRPr sz="85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5726c002708984140094d075</a:t>
            </a:r>
            <a:endParaRPr sz="85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バージョン2.0のベンチマーク結果</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4 追加の評価結果</a:t>
            </a:r>
            <a:endParaRPr sz="1400" lang="ja-JP"/>
            <a:endParaRPr sz="1400"/>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2018-11-08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80.0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83.1</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2019-07-20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2019-11-15</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87.9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90.7</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1/2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1973_oil_crisis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Amazon_rainforest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American_Broadcasting_Company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Apollo_program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Black_Death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Chloroplast *</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Civil_disobedience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Computational_complexity_theory</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Construction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Ctenophora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Doctor_Who *</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Economic_inequality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European_Union_law</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Force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French_and_Indian_War</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Fresno,_California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Genghis_Khan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Geology</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Harvard_University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Huguenot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Immune_system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Intergovernmental_Panel_on_Climate_Change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Islamism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2/2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Jacksonville,_Florida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Kenya *</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Martin_Luther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Newcastle_upon_Tyne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Nikola_Tesla *</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Normans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Oxygen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Packet_switching</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Prime_number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Private_school</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Rhine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Scottish_Parliament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Sky_(United_Kingdom)</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Southern_California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Steam_engine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Super_Bowl_50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Teacher *</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United_Methodist_Church *</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University_of_Chicago</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Victoria_(Australia)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Victoria_and_Albert_Museum *</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Yuan_dynasty</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2008_Sichuan_earthquake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2008_Summer_Olympics_torch_relay</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51st_state</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A_cappella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Adolescence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Adult_contemporary_music</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Affirmative_action_in_the_United_States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Age_of_Enlightenment</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Aircraft_carrier</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Airport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Alaska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Alexander_Graham_Bell</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Alfred_North_Whitehead</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Alloy</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Alps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Alsace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American_Idol</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Animal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Ann_Arbor,_Michigan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Annelid</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Antarctica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Antenna_(radio)</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Anthropology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Anti-aircraft_warfare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Antibiotics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Appalachian_Mountains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Architecture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Arena_Football_League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Armenians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Arnold_Schwarzenegger</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Arsenal_F.C.</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ASCII</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Ashkenazi_Jews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Asphalt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Aspirated_consonant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Association_football</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Asthma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Athanasius_of_Alexandria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Atlantic_City,_New_Jersey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Avicenna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Bacteria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Baptists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BBC_Television</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BeiDou_Navigation_Satellite_System</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Bermuda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Beyoncé</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Bill_%26_Melinda_Gates_Foundation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Biodiversity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Bird_migration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Black_people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Boston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Botany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Brain</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Bras%C3%ADlia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Brigham_Young_University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British_Empire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British_Isles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Buckingham_Palace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Buddhism</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Canadian_Armed_Forces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Canadian_football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Canon_law</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Capacitor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Capital_punishment_in_the_United_States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Cardinal_(Catholicism)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Carnival</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Catalan_language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CBC_Television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Central_African_Republic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Central_Intelligence_Agency</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Charleston,_South_Carolina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Chicago_Cubs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Chihuahua_(state)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Child_labour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Chinese_characters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Christian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Circadian_rhythm</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Classical_music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Clothing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Comcast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Comics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Communications_in_Somalia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Compact_disc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Comprehensive_school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Computer_security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Copper</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Copyright_infringement</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Cork_(city)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Cotton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Crimean_War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Crucifixion_of_Jesus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Cubism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Culture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Cyprus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Czech_language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Data_compression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Database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Daylight_saving_time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Dell</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Department_store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Detroit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Dialect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Diarrhea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Digestion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Digimon</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Dissolution_of_the_Soviet_Union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Dog</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Dominican_Order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Dutch_language</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Dutch_Republic</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Dwight_D._Eisenhower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East_India_Company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East_Prussia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Economy_of_Greece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Edmund_Burke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Education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Egypt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Electric_motor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Elevator</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Elizabeth_II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Emotion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Empiricism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Endangered_Species_Act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Energy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England_national_football_team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Eritrea</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Estonian_language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Eton_College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European_Central_Bank</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Everton_F.C.</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Exhibition_game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FA_Cup</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FC_Barcelona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Federal_Aviation_Administration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Federal_Bureau_of_Investigation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Film_speed</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Financial_crisis_of_2007%E2%80%9308</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Florida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Flowering_plant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Franco-Prussian_War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Freemasonry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Friedrich_Hayek</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Frédéric_Chopin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Galicia_(Spain)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Gamal_Abdel_Nasser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General_Electric</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Genocide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Genome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Geography_of_the_United_States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Geological_history_of_Earth</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George_VI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Georgian_architecture</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Germans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Glacier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Glass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Gothic_architecture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Gramophone_record</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Grape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Great_Plains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Great_power</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Greece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Greeks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Gregorian_calendar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Group_(mathematics)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Guam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Guinea-Bissau</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Gymnastics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Han_dynasty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Hanover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Hard_rock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Heian_period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Hellenistic_period</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Heresy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High-definition_television</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Himachal_Pradesh</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Hindu_philosophy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History_of_India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History_of_science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Hokkien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House_music</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Houston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Human_Development_Index</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Hunter-gatherer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Hunting</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Hyderabad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Hydrogen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IBM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Idealism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Identity_(social_science)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Imamah_(Shia_doctrine)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Immaculate_Conception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Immunology</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Imperial_College_London</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Incandescent_light_bulb</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Indigenous_peoples_of_the_Americas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Infection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Infrared</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Insect</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Institute_of_technology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Intellectual_property</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Internet_service_provider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IPod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10/19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Iranian_languages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Israel</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Jehovah%27s_Witnesses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Jews</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John,_King_of_England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John_Kerry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John_von_Neumann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Josip_Broz_Tito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Kanye_West</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Karl_Popper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Kathmandu</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Kievan_Rus%27</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Korean_War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Labour_Party_(UK)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Lancashire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LaserDisc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Late_Middle_Ages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Law_of_the_United_States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Letter_case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Liberal_Party_of_Australia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Light-emitting_diode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List_of_numbered_streets_in_Manhattan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Literature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London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Macintosh</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Madonna_(entertainer)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Madrasa</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Mali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Mammal</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Mandolin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Marshall_Islands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Marvel_Comics</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Mary_(mother_of_Jesus)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Materialism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Matter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Melbourne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Memory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Mesozoic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Mexico_City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Miami</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Middle_Ages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Military_history_of_the_United_States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Ministry_of_Defence_(United_Kingdom)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Modern_history</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Molotov%E2%80%93Ribbentrop_Pact</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Montana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Montevideo</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Mosaic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MP3</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Muammar_Gaddafi</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Multiracial_American</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Muslim_world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Myanmar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Myocardial_infarction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Namibia</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Nanjing</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Napoleon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National_Archives_and_Records_Administration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Near_East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Neoclassical_architecture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Neolithic</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Neptune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New_Delhi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New_Haven,_Connecticut</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New_York_City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Nigeria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Nintendo_Entertainment_System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Nonprofit_organization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Norfolk_Island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North_Carolina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Northwestern_University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Nutrition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Oklahoma_City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Old_English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On_the_Origin_of_Species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Order_of_the_British_Empire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Orthodox_Judaism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Ottoman_Empire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Pacific_War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Pain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Palermo</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Paper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Paris</a:t>
            </a:r>
            <a:endParaRPr sz="1250" lang="ja-JP"/>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Party_leaders_of_the_United_States_House_of_Representatives。</a:t>
            </a:r>
            <a:br/>
            <a:endParaRPr sz="1250" lang="ja-JP"/>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Pesticide</a:t>
            </a:r>
            <a:endParaRPr sz="1250" lang="ja-JP"/>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Pharmaceutical_industry</a:t>
            </a:r>
            <a:endParaRPr sz="1250" lang="ja-JP"/>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Philadelphia</a:t>
            </a:r>
            <a:endParaRPr sz="1250" lang="ja-JP"/>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Philosophy_of_space_and_time</a:t>
            </a:r>
            <a:endParaRPr sz="1250" lang="ja-JP"/>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Phonology</a:t>
            </a:r>
            <a:endParaRPr sz="1250" lang="ja-JP"/>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Pitch_(music)</a:t>
            </a:r>
            <a:endParaRPr sz="1250" lang="ja-JP"/>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Planck_constant</a:t>
            </a:r>
            <a:endParaRPr sz="1250" lang="ja-JP"/>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PlayStation_3</a:t>
            </a:r>
            <a:endParaRPr sz="1250" lang="ja-JP"/>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Plymouth</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Police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Political_corruption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Political_party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Political_philosophy</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Pope_John_XXIII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Pope_Paul_VI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Portugal</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Post-punk</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Poultry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Predation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Premier_League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Presbyterianism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Prime_minister</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Printed_circuit_board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Professional_wrestling</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Protestantism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Pub</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Punjab,_Pakistan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Qing_dynasty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Queen_(band)</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Queen_Victoria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Quran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Race_(human_categorization)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Race_and_ethnicity_in_the_United_States_Census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Railway_electrification_system</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Rajasthan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Raleigh,_North_Carolina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Religion_in_ancient_Rome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Renewable_energy_commercialization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Republic_of_the_Congo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Richard_Feynman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Richmond,_Virginia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Roman_Republic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Royal_assent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Royal_Dutch_Shell</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Royal_Institute_of_British_Architects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Rule_of_law</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Russian_language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Russian_Soviet_Federative_Socialist_Republic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Sahara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Saint_Barth%C3%A9lemy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Saint_Helena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Samoa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Samurai</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San_Diego</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Sanskrit</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Santa_Monica,_California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Seattle</a:t>
            </a:r>
            <a:endParaRPr sz="1250" lang="ja-JP"/>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Separation_of_church_and_state_in_the_United_States。</a:t>
            </a:r>
            <a:br/>
            <a:endParaRPr sz="1250" lang="ja-JP"/>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Separation_of_powers_under_the_United_States_Constitution。</a:t>
            </a:r>
            <a:br/>
            <a:endParaRPr sz="1250" lang="ja-JP"/>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Serbo-Croatian</a:t>
            </a:r>
            <a:endParaRPr sz="1250" lang="ja-JP"/>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Seven_Years%27_War</a:t>
            </a:r>
            <a:endParaRPr sz="1250" lang="ja-JP"/>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Sexual_orientation</a:t>
            </a:r>
            <a:endParaRPr sz="1250" lang="ja-JP"/>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Sichuan</a:t>
            </a:r>
            <a:endParaRPr sz="1250" lang="ja-JP"/>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Sino-Tibetan_relations_during_the_Ming_dynasty</a:t>
            </a:r>
            <a:endParaRPr sz="1250" lang="ja-JP"/>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Slavs</a:t>
            </a:r>
            <a:endParaRPr sz="1250" lang="ja-JP"/>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Software_testing</a:t>
            </a:r>
            <a:endParaRPr sz="1250" lang="ja-JP"/>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Solar_energy</a:t>
            </a:r>
            <a:endParaRPr sz="1250" lang="ja-JP"/>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Somalis</a:t>
            </a:r>
            <a:endParaRPr sz="1250" lang="ja-JP"/>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Somerset</a:t>
            </a:r>
            <a:endParaRPr sz="1250" lang="ja-JP"/>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Sony_Music_Entertainment</a:t>
            </a:r>
            <a:endParaRPr sz="1250" lang="ja-JP"/>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Southampton</a:t>
            </a:r>
            <a:endParaRPr sz="1250" lang="ja-JP"/>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Southeast_Asia</a:t>
            </a:r>
            <a:endParaRPr sz="1250" lang="ja-JP"/>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Southern_Europe</a:t>
            </a:r>
            <a:endParaRPr sz="1250" lang="ja-JP"/>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Space_Race</a:t>
            </a:r>
            <a:endParaRPr sz="1250" lang="ja-JP"/>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Spanish_language_in_the_United_States</a:t>
            </a:r>
            <a:endParaRPr sz="1250" lang="ja-JP"/>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Spectre_(2015_film)</a:t>
            </a:r>
            <a:endParaRPr sz="1250" lang="ja-JP"/>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St._John%27s,_Newfoundland_and_Labrador</a:t>
            </a:r>
            <a:endParaRPr sz="1250" lang="ja-JP"/>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States_of_Germany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Steven_Spielberg</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Strasbourg</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Sumer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Super_Nintendo_Entertainment_System</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Supreme_court</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Swaziland</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Switzerland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Symbiosis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Szlachta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Tajikistan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Tennessee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Textual_criticism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The_Blitz</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The_Bronx</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The_Legend_of_Zelda _Twilight_Princess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The_Sun_(United_Kingdom)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The_Times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Thuringia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Tibet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Time</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To_Kill_a_Mockingbird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Transistor</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Translation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Treaty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Tristan_da_Cunha</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Tuberculosis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Tucson,_Arizona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Turner_Classic_Movies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Tuvalu</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Umayyad_Caliphate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Unicode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United_Nations_Population_Fund</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United_States_Air_Force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United_States_Army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United_States_dollar</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United_States_presidential_election,_2004</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Universal_Studios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University_of_Kansas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University_of_Notre_Dame</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Uranium</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USB</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Utrecht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Vacuum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Valencia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Videoconferencing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Virgil</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War_on_Terror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Warsaw_Pact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Washington_University_in_St._Louis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Wayback_Machine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Web_browser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Westminster_Abbey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Windows_8</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Wood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Xbox_360</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Yale_University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YouTube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Zhejiang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Zinc</a:t>
            </a:r>
            <a:endParaRPr sz="1250" lang="ja-JP"/>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データを取得する Python コード</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diagram-rect"/>
          <p:cNvSpPr/>
          <p:nvPr/>
        </p:nvSpPr>
        <p:spPr>
          <a:xfrm>
            <a:off x="502920" y="1465897"/>
            <a:ext cx="8138160" cy="30861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685800" y="1568767"/>
            <a:ext cx="7772400" cy="2880360"/>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Liberation Mono"/>
              </a:defRPr>
              <a:buNone/>
            </a:pPr>
            <a:r>
              <a:rPr sz="1400" b="0" lang="ja-JP">
                <a:solidFill>
                  <a:srgbClr val="303437"/>
                </a:solidFill>
                <a:latin typeface="Liberation Mono"/>
                <a:ea typeface="Liberation Mono"/>
                <a:cs typeface="Liberation Mono"/>
              </a:rPr>
              <a:t>import json</a:t>
            </a:r>
            <a:br/>
            <a:r>
              <a:rPr sz="1400" b="0" lang="ja-JP">
                <a:solidFill>
                  <a:srgbClr val="303437"/>
                </a:solidFill>
                <a:latin typeface="Liberation Mono"/>
                <a:ea typeface="Liberation Mono"/>
                <a:cs typeface="Liberation Mono"/>
              </a:rPr>
              <a:t>from urllib.request import urlopen</a:t>
            </a:r>
            <a:br/>
            <a:r>
              <a:rPr sz="1400" b="0" lang="ja-JP">
                <a:solidFill>
                  <a:srgbClr val="303437"/>
                </a:solidFill>
                <a:latin typeface="Liberation Mono"/>
                <a:ea typeface="Liberation Mono"/>
                <a:cs typeface="Liberation Mono"/>
              </a:rPr>
              <a:t/>
            </a:r>
            <a:br/>
            <a:r>
              <a:rPr sz="1400" b="0" lang="ja-JP">
                <a:solidFill>
                  <a:srgbClr val="303437"/>
                </a:solidFill>
                <a:latin typeface="Liberation Mono"/>
                <a:ea typeface="Liberation Mono"/>
                <a:cs typeface="Liberation Mono"/>
              </a:rPr>
              <a:t>base = "https://rajpurkar.github.io/SQuAD-explorer/dataset/"</a:t>
            </a:r>
            <a:br/>
            <a:r>
              <a:rPr sz="1400" b="0" lang="ja-JP">
                <a:solidFill>
                  <a:srgbClr val="303437"/>
                </a:solidFill>
                <a:latin typeface="Liberation Mono"/>
                <a:ea typeface="Liberation Mono"/>
                <a:cs typeface="Liberation Mono"/>
              </a:rPr>
              <a:t>for version in ("1.1", "2.0"):</a:t>
            </a:r>
            <a:br/>
            <a:r>
              <a:rPr sz="1400" b="0" lang="ja-JP">
                <a:solidFill>
                  <a:srgbClr val="303437"/>
                </a:solidFill>
                <a:latin typeface="Liberation Mono"/>
                <a:ea typeface="Liberation Mono"/>
                <a:cs typeface="Liberation Mono"/>
              </a:rPr>
              <a:t>    for split in ("train", "dev"):</a:t>
            </a:r>
            <a:br/>
            <a:r>
              <a:rPr sz="1400" b="0" lang="ja-JP">
                <a:solidFill>
                  <a:srgbClr val="303437"/>
                </a:solidFill>
                <a:latin typeface="Liberation Mono"/>
                <a:ea typeface="Liberation Mono"/>
                <a:cs typeface="Liberation Mono"/>
              </a:rPr>
              <a:t>        name = f"{split}-v{version}.json"</a:t>
            </a:r>
            <a:br/>
            <a:r>
              <a:rPr sz="1400" b="0" lang="ja-JP">
                <a:solidFill>
                  <a:srgbClr val="303437"/>
                </a:solidFill>
                <a:latin typeface="Liberation Mono"/>
                <a:ea typeface="Liberation Mono"/>
                <a:cs typeface="Liberation Mono"/>
              </a:rPr>
              <a:t>        with urlopen(base + name) as response:</a:t>
            </a:r>
            <a:br/>
            <a:r>
              <a:rPr sz="1400" b="0" lang="ja-JP">
                <a:solidFill>
                  <a:srgbClr val="303437"/>
                </a:solidFill>
                <a:latin typeface="Liberation Mono"/>
                <a:ea typeface="Liberation Mono"/>
                <a:cs typeface="Liberation Mono"/>
              </a:rPr>
              <a:t>            data = json.load(response)</a:t>
            </a:r>
            <a:br/>
            <a:r>
              <a:rPr sz="1400" b="0" lang="ja-JP">
                <a:solidFill>
                  <a:srgbClr val="303437"/>
                </a:solidFill>
                <a:latin typeface="Liberation Mono"/>
                <a:ea typeface="Liberation Mono"/>
                <a:cs typeface="Liberation Mono"/>
              </a:rPr>
              <a:t>        with open(name, "w", encoding="utf-8") as output:</a:t>
            </a:r>
            <a:br/>
            <a:r>
              <a:rPr sz="1400" b="0" lang="ja-JP">
                <a:solidFill>
                  <a:srgbClr val="303437"/>
                </a:solidFill>
                <a:latin typeface="Liberation Mono"/>
                <a:ea typeface="Liberation Mono"/>
                <a:cs typeface="Liberation Mono"/>
              </a:rPr>
              <a:t>            json.dump(data, output, ensure_ascii=False)</a:t>
            </a:r>
            <a:endParaRPr sz="14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配布元　https://rajpurkar.github.io/SQuAD-explorer/dataset/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バージョン・分割ごとに公式JSONを取得。Python標準ライブラリのみ使用。</a:t>
            </a:r>
            <a:endParaRPr sz="85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参考文献・公式資料</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content-text"/>
          <p:cNvSpPr txBox="1"/>
          <p:nvPr/>
        </p:nvSpPr>
        <p:spPr>
          <a:xfrm>
            <a:off x="594360" y="1440180"/>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Rajpurkar et al. (2016), SQuAD</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https://aclanthology.org/D16-1264/</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Rajpurkar, Jia &amp; Liang (2018), Know What You Don’t Know</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https://aclanthology.org/P18-2124/</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SQuAD 公式サイト・配布データ・リーダーボード</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https://rajpurkar.github.io/SQuAD-explorer/</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データのライセンス CC BY-SA 4.0</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https://creativecommons.org/licenses/by-sa/4.0/</a:t>
            </a:r>
            <a:endParaRPr sz="1800" lang="ja-JP"/>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参考資料 近年の評価と著者の関連研究</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Llama 3.1 モデルカード・評価条件</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https://github.com/meta-llama/llama-models/blob/main/models/llama3_1/MODEL_CARD.md</a:t>
            </a:r>
            <a:endParaRPr sz="15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https://github.com/meta-llama/llama-models/blob/main/models/llama3_1/eval_details.md</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LongBench v2 長い文脈の理解・推論評価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https://github.com/THUDM/LongBench</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Jia &amp; Liang (2017) 敵対的な読解評価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https://github.com/robinjia/adversarial-squad</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Liang et al. HELM による言語モデル評価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https://github.com/stanford-crfm/helm</a:t>
            </a:r>
            <a:endParaRPr sz="1500" lang="ja-JP"/>
          </a:p>
        </p:txBody>
      </p:sp>
      <p:sp>
        <p:nvSpPr>
          <p:cNvPr id="5" name="content-text"/>
          <p:cNvSpPr txBox="1"/>
          <p:nvPr/>
        </p:nvSpPr>
        <p:spPr>
          <a:xfrm>
            <a:off x="502920" y="4747450"/>
            <a:ext cx="8183880" cy="396049"/>
          </a:xfrm>
          <a:prstGeom prst="rect">
            <a:avLst/>
          </a:prstGeom>
          <a:noFill/>
        </p:spPr>
        <p:txBody>
          <a:bodyPr wrap="square" anchor="t" lIns="0" rIns="0" tIns="0" bIns="0">
            <a:noAutofit/>
          </a:bodyPr>
          <a:lstStyle/>
          <a:p>
            <a:pP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