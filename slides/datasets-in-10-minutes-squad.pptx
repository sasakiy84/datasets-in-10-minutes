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58" r:id="rId9"/>
    <p:sldId id="263" r:id="rId2"/>
    <p:sldId id="264" r:id="rId15"/>
    <p:sldId id="265" r:id="rId16"/>
    <p:sldId id="266" r:id="rId17"/>
    <p:sldId id="267" r:id="rId18"/>
    <p:sldId id="350" r:id="rId101"/>
    <p:sldId id="261" r:id="rId4"/>
    <p:sldId id="262" r:id="rId3"/>
    <p:sldId id="268" r:id="rId19"/>
    <p:sldId id="269" r:id="rId20"/>
    <p:sldId id="270" r:id="rId21"/>
    <p:sldId id="271" r:id="rId22"/>
    <p:sldId id="272" r:id="rId23"/>
    <p:sldId id="273" r:id="rId24"/>
    <p:sldId id="351" r:id="rId102"/>
    <p:sldId id="274" r:id="rId25"/>
    <p:sldId id="352" r:id="rId103"/>
    <p:sldId id="276" r:id="rId27"/>
    <p:sldId id="278" r:id="rId29"/>
    <p:sldId id="277" r:id="rId28"/>
    <p:sldId id="353" r:id="rId104"/>
    <p:sldId id="259" r:id="rId6"/>
    <p:sldId id="260" r:id="rId5"/>
    <p:sldId id="279" r:id="rId30"/>
    <p:sldId id="354" r:id="rId105"/>
    <p:sldId id="280" r:id="rId31"/>
    <p:sldId id="281" r:id="rId32"/>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23" r:id="rId74"/>
    <p:sldId id="347" r:id="rId98"/>
  </p:sldIdLst>
  <p:sldSz cx="9144000" cy="5143500" type="screen16x9"/>
  <p:notesSz cx="6858000" cy="9144000"/>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5.xml"/><Relationship Id="rId29" Type="http://schemas.openxmlformats.org/officeDocument/2006/relationships/slide" Target="slides/slide24.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74.xml"/><Relationship Id="rId53" Type="http://schemas.openxmlformats.org/officeDocument/2006/relationships/slide" Target="slides/slide75.xml"/><Relationship Id="rId54" Type="http://schemas.openxmlformats.org/officeDocument/2006/relationships/slide" Target="slides/slide76.xml"/><Relationship Id="rId55" Type="http://schemas.openxmlformats.org/officeDocument/2006/relationships/slide" Target="slides/slide77.xml"/><Relationship Id="rId56" Type="http://schemas.openxmlformats.org/officeDocument/2006/relationships/slide" Target="slides/slide78.xml"/><Relationship Id="rId57" Type="http://schemas.openxmlformats.org/officeDocument/2006/relationships/slide" Target="slides/slide79.xml"/><Relationship Id="rId58" Type="http://schemas.openxmlformats.org/officeDocument/2006/relationships/slide" Target="slides/slide80.xml"/><Relationship Id="rId59" Type="http://schemas.openxmlformats.org/officeDocument/2006/relationships/slide" Target="slides/slide81.xml"/><Relationship Id="rId60" Type="http://schemas.openxmlformats.org/officeDocument/2006/relationships/slide" Target="slides/slide82.xml"/><Relationship Id="rId61" Type="http://schemas.openxmlformats.org/officeDocument/2006/relationships/slide" Target="slides/slide83.xml"/><Relationship Id="rId62" Type="http://schemas.openxmlformats.org/officeDocument/2006/relationships/slide" Target="slides/slide84.xml"/><Relationship Id="rId63" Type="http://schemas.openxmlformats.org/officeDocument/2006/relationships/slide" Target="slides/slide85.xml"/><Relationship Id="rId64" Type="http://schemas.openxmlformats.org/officeDocument/2006/relationships/slide" Target="slides/slide86.xml"/><Relationship Id="rId65" Type="http://schemas.openxmlformats.org/officeDocument/2006/relationships/slide" Target="slides/slide87.xml"/><Relationship Id="rId66" Type="http://schemas.openxmlformats.org/officeDocument/2006/relationships/slide" Target="slides/slide88.xml"/><Relationship Id="rId67" Type="http://schemas.openxmlformats.org/officeDocument/2006/relationships/slide" Target="slides/slide89.xml"/><Relationship Id="rId68" Type="http://schemas.openxmlformats.org/officeDocument/2006/relationships/slide" Target="slides/slide90.xml"/><Relationship Id="rId69" Type="http://schemas.openxmlformats.org/officeDocument/2006/relationships/slide" Target="slides/slide91.xml"/><Relationship Id="rId70" Type="http://schemas.openxmlformats.org/officeDocument/2006/relationships/slide" Target="slides/slide92.xml"/><Relationship Id="rId71" Type="http://schemas.openxmlformats.org/officeDocument/2006/relationships/slide" Target="slides/slide93.xml"/><Relationship Id="rId72" Type="http://schemas.openxmlformats.org/officeDocument/2006/relationships/slide" Target="slides/slide94.xml"/><Relationship Id="rId73" Type="http://schemas.openxmlformats.org/officeDocument/2006/relationships/slide" Target="slides/slide95.xml"/><Relationship Id="rId74" Type="http://schemas.openxmlformats.org/officeDocument/2006/relationships/slide" Target="slides/slide97.xml"/><Relationship Id="rId75" Type="http://schemas.openxmlformats.org/officeDocument/2006/relationships/slide" Target="slides/slide96.xml"/><Relationship Id="rId76" Type="http://schemas.openxmlformats.org/officeDocument/2006/relationships/slide" Target="slides/slide52.xml"/><Relationship Id="rId77" Type="http://schemas.openxmlformats.org/officeDocument/2006/relationships/slide" Target="slides/slide53.xml"/><Relationship Id="rId78" Type="http://schemas.openxmlformats.org/officeDocument/2006/relationships/slide" Target="slides/slide54.xml"/><Relationship Id="rId79" Type="http://schemas.openxmlformats.org/officeDocument/2006/relationships/slide" Target="slides/slide55.xml"/><Relationship Id="rId80" Type="http://schemas.openxmlformats.org/officeDocument/2006/relationships/slide" Target="slides/slide56.xml"/><Relationship Id="rId81" Type="http://schemas.openxmlformats.org/officeDocument/2006/relationships/slide" Target="slides/slide57.xml"/><Relationship Id="rId82" Type="http://schemas.openxmlformats.org/officeDocument/2006/relationships/slide" Target="slides/slide58.xml"/><Relationship Id="rId83" Type="http://schemas.openxmlformats.org/officeDocument/2006/relationships/slide" Target="slides/slide59.xml"/><Relationship Id="rId84" Type="http://schemas.openxmlformats.org/officeDocument/2006/relationships/slide" Target="slides/slide60.xml"/><Relationship Id="rId85" Type="http://schemas.openxmlformats.org/officeDocument/2006/relationships/slide" Target="slides/slide61.xml"/><Relationship Id="rId86" Type="http://schemas.openxmlformats.org/officeDocument/2006/relationships/slide" Target="slides/slide62.xml"/><Relationship Id="rId87" Type="http://schemas.openxmlformats.org/officeDocument/2006/relationships/slide" Target="slides/slide63.xml"/><Relationship Id="rId88" Type="http://schemas.openxmlformats.org/officeDocument/2006/relationships/slide" Target="slides/slide64.xml"/><Relationship Id="rId89" Type="http://schemas.openxmlformats.org/officeDocument/2006/relationships/slide" Target="slides/slide65.xml"/><Relationship Id="rId90" Type="http://schemas.openxmlformats.org/officeDocument/2006/relationships/slide" Target="slides/slide66.xml"/><Relationship Id="rId91" Type="http://schemas.openxmlformats.org/officeDocument/2006/relationships/slide" Target="slides/slide67.xml"/><Relationship Id="rId92" Type="http://schemas.openxmlformats.org/officeDocument/2006/relationships/slide" Target="slides/slide68.xml"/><Relationship Id="rId93" Type="http://schemas.openxmlformats.org/officeDocument/2006/relationships/slide" Target="slides/slide69.xml"/><Relationship Id="rId94" Type="http://schemas.openxmlformats.org/officeDocument/2006/relationships/slide" Target="slides/slide70.xml"/><Relationship Id="rId95" Type="http://schemas.openxmlformats.org/officeDocument/2006/relationships/slide" Target="slides/slide71.xml"/><Relationship Id="rId96" Type="http://schemas.openxmlformats.org/officeDocument/2006/relationships/slide" Target="slides/slide72.xml"/><Relationship Id="rId97" Type="http://schemas.openxmlformats.org/officeDocument/2006/relationships/slide" Target="slides/slide73.xml"/><Relationship Id="rId98" Type="http://schemas.openxmlformats.org/officeDocument/2006/relationships/slide" Target="slides/slide98.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1.xml"/><Relationship Id="rId102" Type="http://schemas.openxmlformats.org/officeDocument/2006/relationships/slide" Target="slides/slide20.xml"/><Relationship Id="rId103" Type="http://schemas.openxmlformats.org/officeDocument/2006/relationships/slide" Target="slides/slide22.xml"/><Relationship Id="rId104" Type="http://schemas.openxmlformats.org/officeDocument/2006/relationships/slide" Target="slides/slide26.xml"/><Relationship Id="rId105" Type="http://schemas.openxmlformats.org/officeDocument/2006/relationships/slide" Target="slides/slide30.xml"/><Relationship Id="rId106"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SzPts val="5200"/>
              <a:buNone/>
              <a:defRPr sz="5200" b="1">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defRPr sz="2200"/>
            </a:pPr>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en-US" sz="1800" b="1">
                <a:solidFill>
                  <a:schemeClr val="lt1"/>
                </a:solidFill>
              </a:rPr>
              <a:pPr algn="ctr"/>
              <a:t>‹#›</a:t>
            </a:fld>
            <a:endParaRPr lang="en-US" sz="1800" b="1" dirty="0"/>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r">
              <a:lnSpc>
                <a:spcPct val="100000"/>
              </a:lnSpc>
              <a:spcBef>
                <a:spcPts val="0"/>
              </a:spcBef>
              <a:spcAft>
                <a:spcPts val="0"/>
              </a:spcAft>
              <a:defRPr sz="1400" b="0">
                <a:solidFill>
                  <a:srgbClr val="626669"/>
                </a:solidFill>
                <a:latin typeface="Noto Sans CJK JP"/>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r">
              <a:lnSpc>
                <a:spcPct val="100000"/>
              </a:lnSpc>
              <a:spcBef>
                <a:spcPts val="0"/>
              </a:spcBef>
              <a:spcAft>
                <a:spcPts val="0"/>
              </a:spcAft>
              <a:defRPr sz="2000" b="0">
                <a:solidFill>
                  <a:srgbClr val="626669"/>
                </a:solidFill>
                <a:latin typeface="Noto Sans CJK JP"/>
              </a:defRPr>
            </a:pPr>
            <a:r>
              <a:rPr sz="2000">
                <a:solidFill>
                  <a:srgbClr val="303437"/>
                </a:solidFill>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l">
              <a:lnSpc>
                <a:spcPct val="100000"/>
              </a:lnSpc>
              <a:spcBef>
                <a:spcPts val="0"/>
              </a:spcBef>
              <a:spcAft>
                <a:spcPts val="0"/>
              </a:spcAft>
              <a:defRPr sz="1400" b="0">
                <a:solidFill>
                  <a:srgbClr val="626669"/>
                </a:solidFill>
                <a:latin typeface="Noto Sans CJK JP"/>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en-US" altLang="ja" b="1" dirty="0">
                <a:solidFill>
                  <a:schemeClr val="lt1"/>
                </a:solidFill>
              </a:rPr>
              <a:t>T</a:t>
            </a:r>
            <a:r>
              <a:rPr lang="ja" b="1" dirty="0">
                <a:solidFill>
                  <a:schemeClr val="lt1"/>
                </a:solidFill>
              </a:rPr>
              <a:t>able of </a:t>
            </a:r>
            <a:r>
              <a:rPr lang="en-US" altLang="ja" b="1" dirty="0">
                <a:solidFill>
                  <a:schemeClr val="lt1"/>
                </a:solidFill>
              </a:rPr>
              <a:t>C</a:t>
            </a:r>
            <a:r>
              <a:rPr lang="ja" b="1" dirty="0">
                <a:solidFill>
                  <a:schemeClr val="lt1"/>
                </a:solidFill>
              </a:rPr>
              <a:t>ontents</a:t>
            </a:r>
            <a:endParaRPr b="1" dirty="0">
              <a:solidFill>
                <a:schemeClr val="lt1"/>
              </a:solidFill>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1.</a:t>
            </a:r>
            <a:r>
              <a:rPr lang="en-US" altLang="ja" sz="2800" b="1" dirty="0">
                <a:solidFill>
                  <a:schemeClr val="accent2"/>
                </a:solidFill>
              </a:rPr>
              <a:t> </a:t>
            </a:r>
            <a:r>
              <a:rPr lang="en" altLang="ja" sz="2800" b="1" dirty="0">
                <a:solidFill>
                  <a:schemeClr val="dk1"/>
                </a:solidFill>
              </a:rPr>
              <a:t>Background &amp; Purpose</a:t>
            </a:r>
            <a:endParaRPr lang="en" altLang="ja-JP" sz="2800" b="1" dirty="0">
              <a:solidFill>
                <a:schemeClr val="dk1"/>
              </a:solidFill>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2.</a:t>
            </a:r>
            <a:r>
              <a:rPr lang="en-US" altLang="ja" sz="2800" b="1" dirty="0">
                <a:solidFill>
                  <a:schemeClr val="accent2"/>
                </a:solidFill>
              </a:rPr>
              <a:t> </a:t>
            </a:r>
            <a:r>
              <a:rPr lang="en" altLang="ja" sz="2800" b="1" dirty="0">
                <a:solidFill>
                  <a:schemeClr val="dk1"/>
                </a:solidFill>
              </a:rPr>
              <a:t>Methodology</a:t>
            </a:r>
            <a:endParaRPr lang="en" altLang="ja-JP" sz="2800" b="1" dirty="0">
              <a:solidFill>
                <a:schemeClr val="dk1"/>
              </a:solidFill>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3.</a:t>
            </a:r>
            <a:r>
              <a:rPr lang="en-US" altLang="ja" sz="2800" b="1" dirty="0">
                <a:solidFill>
                  <a:schemeClr val="accent2"/>
                </a:solidFill>
              </a:rPr>
              <a:t> </a:t>
            </a:r>
            <a:r>
              <a:rPr lang="en" altLang="ja" sz="2800" b="1" dirty="0">
                <a:solidFill>
                  <a:schemeClr val="dk1"/>
                </a:solidFill>
              </a:rPr>
              <a:t>Classification Framework</a:t>
            </a:r>
            <a:endParaRPr lang="en" altLang="ja-JP" sz="2800" b="1" dirty="0">
              <a:solidFill>
                <a:schemeClr val="dk1"/>
              </a:solidFill>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4.</a:t>
            </a:r>
            <a:r>
              <a:rPr lang="en-US" altLang="ja" sz="2800" b="1" dirty="0">
                <a:solidFill>
                  <a:schemeClr val="accent2"/>
                </a:solidFill>
              </a:rPr>
              <a:t> </a:t>
            </a:r>
            <a:r>
              <a:rPr lang="en" altLang="ja" sz="2800" b="1" dirty="0">
                <a:solidFill>
                  <a:schemeClr val="dk1"/>
                </a:solidFill>
              </a:rPr>
              <a:t>Results &amp; Analysis</a:t>
            </a:r>
            <a:endParaRPr lang="en" altLang="ja-JP" sz="2800" b="1" dirty="0">
              <a:solidFill>
                <a:schemeClr val="dk1"/>
              </a:solidFill>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a:solidFill>
                <a:schemeClr val="dk1"/>
              </a:solidFill>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5.</a:t>
            </a:r>
            <a:r>
              <a:rPr lang="en-US" altLang="ja" sz="2800" b="1" dirty="0">
                <a:solidFill>
                  <a:schemeClr val="accent2"/>
                </a:solidFill>
              </a:rPr>
              <a:t> </a:t>
            </a:r>
            <a:r>
              <a:rPr lang="en" altLang="ja" sz="2800" b="1" dirty="0">
                <a:solidFill>
                  <a:schemeClr val="dk1"/>
                </a:solidFill>
              </a:rPr>
              <a:t>Conclusions and future work</a:t>
            </a:r>
            <a:endParaRPr lang="en" altLang="ja-JP" sz="2800" b="1" dirty="0">
              <a:solidFill>
                <a:schemeClr val="dk1"/>
              </a:solidFil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SzPts val="3000"/>
              <a:buNone/>
              <a:defRPr sz="3000" b="1">
                <a:solidFill>
                  <a:schemeClr val="dk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203200" lvl="0" indent="-152400">
              <a:spcBef>
                <a:spcPts val="0"/>
              </a:spcBef>
              <a:spcAft>
                <a:spcPts val="0"/>
              </a:spcAft>
              <a:buClr>
                <a:schemeClr val="dk2"/>
              </a:buClr>
              <a:buSzPts val="2000"/>
              <a:buChar char="•"/>
              <a:defRPr sz="2000">
                <a:solidFill>
                  <a:schemeClr val="dk2"/>
                </a:solidFill>
              </a:defRPr>
            </a:lvl1pPr>
            <a:lvl2pPr marL="482600" lvl="1" indent="-127000">
              <a:spcBef>
                <a:spcPts val="0"/>
              </a:spcBef>
              <a:spcAft>
                <a:spcPts val="0"/>
              </a:spcAft>
              <a:buClr>
                <a:schemeClr val="dk2"/>
              </a:buClr>
              <a:buSzPts val="2000"/>
              <a:buChar char="○"/>
              <a:defRPr sz="2000">
                <a:solidFill>
                  <a:schemeClr val="dk2"/>
                </a:solidFill>
              </a:defRPr>
            </a:lvl2pPr>
            <a:lvl3pPr marL="762000" lvl="2" indent="-127000">
              <a:spcBef>
                <a:spcPts val="0"/>
              </a:spcBef>
              <a:spcAft>
                <a:spcPts val="0"/>
              </a:spcAft>
              <a:buClr>
                <a:schemeClr val="dk2"/>
              </a:buClr>
              <a:buSzPts val="2000"/>
              <a:buChar char="■"/>
              <a:defRPr sz="2000">
                <a:solidFill>
                  <a:schemeClr val="dk2"/>
                </a:solidFill>
              </a:defRPr>
            </a:lvl3pPr>
            <a:lvl4pPr marL="1041400" lvl="3" indent="-127000">
              <a:spcBef>
                <a:spcPts val="0"/>
              </a:spcBef>
              <a:spcAft>
                <a:spcPts val="0"/>
              </a:spcAft>
              <a:buClr>
                <a:schemeClr val="dk2"/>
              </a:buClr>
              <a:buSzPts val="2200"/>
              <a:buChar char="•"/>
              <a:defRPr sz="2200">
                <a:solidFill>
                  <a:schemeClr val="dk2"/>
                </a:solidFill>
              </a:defRPr>
            </a:lvl4pPr>
            <a:lvl5pPr marL="1320800" lvl="4" indent="-127000">
              <a:spcBef>
                <a:spcPts val="0"/>
              </a:spcBef>
              <a:spcAft>
                <a:spcPts val="0"/>
              </a:spcAft>
              <a:buClr>
                <a:schemeClr val="dk2"/>
              </a:buClr>
              <a:buSzPts val="2000"/>
              <a:buChar char="○"/>
              <a:defRPr sz="2000">
                <a:solidFill>
                  <a:schemeClr val="dk2"/>
                </a:solidFill>
              </a:defRPr>
            </a:lvl5pPr>
            <a:lvl6pPr marL="1600200" lvl="5" indent="-127000">
              <a:spcBef>
                <a:spcPts val="0"/>
              </a:spcBef>
              <a:spcAft>
                <a:spcPts val="0"/>
              </a:spcAft>
              <a:buClr>
                <a:schemeClr val="dk2"/>
              </a:buClr>
              <a:buSzPts val="2000"/>
              <a:buChar char="■"/>
              <a:defRPr sz="2000">
                <a:solidFill>
                  <a:schemeClr val="dk2"/>
                </a:solidFill>
              </a:defRPr>
            </a:lvl6pPr>
            <a:lvl7pPr marL="1879600" lvl="6" indent="-127000">
              <a:spcBef>
                <a:spcPts val="0"/>
              </a:spcBef>
              <a:spcAft>
                <a:spcPts val="0"/>
              </a:spcAft>
              <a:buClr>
                <a:schemeClr val="dk2"/>
              </a:buClr>
              <a:buSzPts val="2000"/>
              <a:buChar char="•"/>
              <a:defRPr sz="2000">
                <a:solidFill>
                  <a:schemeClr val="dk2"/>
                </a:solidFill>
              </a:defRPr>
            </a:lvl7pPr>
            <a:lvl8pPr marL="2159000" lvl="7" indent="-127000">
              <a:spcBef>
                <a:spcPts val="0"/>
              </a:spcBef>
              <a:spcAft>
                <a:spcPts val="0"/>
              </a:spcAft>
              <a:buClr>
                <a:schemeClr val="dk2"/>
              </a:buClr>
              <a:buSzPts val="2000"/>
              <a:buChar char="○"/>
              <a:defRPr sz="2000">
                <a:solidFill>
                  <a:schemeClr val="dk2"/>
                </a:solidFill>
              </a:defRPr>
            </a:lvl8pPr>
            <a:lvl9pPr marL="2438400" lvl="8" indent="-127000">
              <a:spcBef>
                <a:spcPts val="0"/>
              </a:spcBef>
              <a:spcAft>
                <a:spcPts val="0"/>
              </a:spcAft>
              <a:buClr>
                <a:schemeClr val="dk2"/>
              </a:buClr>
              <a:buSzPts val="2000"/>
              <a:buChar char="■"/>
              <a:defRPr sz="2000">
                <a:solidFill>
                  <a:schemeClr val="dk2"/>
                </a:solidFill>
              </a:defRPr>
            </a:lvl9pPr>
          </a:lstStyle>
          <a:p>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SzPts val="1400"/>
              <a:buNone/>
              <a:defRPr sz="1400" b="1">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pPr>
              <a:lnSpc>
                <a:spcPct val="100000"/>
              </a:lnSpc>
              <a:spcBef>
                <a:spcPts val="0"/>
              </a:spcBef>
              <a:spcAft>
                <a:spcPts val="0"/>
              </a:spcAft>
            </a:pPr>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203200" lvl="0" indent="-152400" rtl="0">
              <a:spcBef>
                <a:spcPts val="0"/>
              </a:spcBef>
              <a:spcAft>
                <a:spcPts val="0"/>
              </a:spcAft>
              <a:buClr>
                <a:schemeClr val="dk2"/>
              </a:buClr>
              <a:buSzPts val="2000"/>
              <a:buChar char="•"/>
              <a:defRPr sz="2000">
                <a:solidFill>
                  <a:schemeClr val="dk2"/>
                </a:solidFill>
              </a:defRPr>
            </a:lvl1pPr>
            <a:lvl2pPr marL="482600" lvl="1" indent="-127000" rtl="0">
              <a:spcBef>
                <a:spcPts val="0"/>
              </a:spcBef>
              <a:spcAft>
                <a:spcPts val="0"/>
              </a:spcAft>
              <a:buClr>
                <a:schemeClr val="dk2"/>
              </a:buClr>
              <a:buSzPts val="2000"/>
              <a:buChar char="○"/>
              <a:defRPr sz="2000">
                <a:solidFill>
                  <a:schemeClr val="dk2"/>
                </a:solidFill>
              </a:defRPr>
            </a:lvl2pPr>
            <a:lvl3pPr marL="762000" lvl="2" indent="-127000" rtl="0">
              <a:spcBef>
                <a:spcPts val="0"/>
              </a:spcBef>
              <a:spcAft>
                <a:spcPts val="0"/>
              </a:spcAft>
              <a:buClr>
                <a:schemeClr val="dk2"/>
              </a:buClr>
              <a:buSzPts val="2000"/>
              <a:buChar char="■"/>
              <a:defRPr sz="2000">
                <a:solidFill>
                  <a:schemeClr val="dk2"/>
                </a:solidFill>
              </a:defRPr>
            </a:lvl3pPr>
            <a:lvl4pPr marL="1041400" lvl="3" indent="-127000" rtl="0">
              <a:spcBef>
                <a:spcPts val="0"/>
              </a:spcBef>
              <a:spcAft>
                <a:spcPts val="0"/>
              </a:spcAft>
              <a:buClr>
                <a:schemeClr val="dk2"/>
              </a:buClr>
              <a:buSzPts val="2200"/>
              <a:buChar char="•"/>
              <a:defRPr sz="2200">
                <a:solidFill>
                  <a:schemeClr val="dk2"/>
                </a:solidFill>
              </a:defRPr>
            </a:lvl4pPr>
            <a:lvl5pPr marL="1320800" lvl="4" indent="-127000" rtl="0">
              <a:spcBef>
                <a:spcPts val="0"/>
              </a:spcBef>
              <a:spcAft>
                <a:spcPts val="0"/>
              </a:spcAft>
              <a:buClr>
                <a:schemeClr val="dk2"/>
              </a:buClr>
              <a:buSzPts val="2000"/>
              <a:buChar char="○"/>
              <a:defRPr sz="2000">
                <a:solidFill>
                  <a:schemeClr val="dk2"/>
                </a:solidFill>
              </a:defRPr>
            </a:lvl5pPr>
            <a:lvl6pPr marL="1600200" lvl="5" indent="-127000" rtl="0">
              <a:spcBef>
                <a:spcPts val="0"/>
              </a:spcBef>
              <a:spcAft>
                <a:spcPts val="0"/>
              </a:spcAft>
              <a:buClr>
                <a:schemeClr val="dk2"/>
              </a:buClr>
              <a:buSzPts val="2000"/>
              <a:buChar char="■"/>
              <a:defRPr sz="2000">
                <a:solidFill>
                  <a:schemeClr val="dk2"/>
                </a:solidFill>
              </a:defRPr>
            </a:lvl6pPr>
            <a:lvl7pPr marL="1879600" lvl="6" indent="-127000" rtl="0">
              <a:spcBef>
                <a:spcPts val="0"/>
              </a:spcBef>
              <a:spcAft>
                <a:spcPts val="0"/>
              </a:spcAft>
              <a:buClr>
                <a:schemeClr val="dk2"/>
              </a:buClr>
              <a:buSzPts val="2000"/>
              <a:buChar char="•"/>
              <a:defRPr sz="2000">
                <a:solidFill>
                  <a:schemeClr val="dk2"/>
                </a:solidFill>
              </a:defRPr>
            </a:lvl7pPr>
            <a:lvl8pPr marL="2159000" lvl="7" indent="-127000" rtl="0">
              <a:spcBef>
                <a:spcPts val="0"/>
              </a:spcBef>
              <a:spcAft>
                <a:spcPts val="0"/>
              </a:spcAft>
              <a:buClr>
                <a:schemeClr val="dk2"/>
              </a:buClr>
              <a:buSzPts val="2000"/>
              <a:buChar char="○"/>
              <a:defRPr sz="2000">
                <a:solidFill>
                  <a:schemeClr val="dk2"/>
                </a:solidFill>
              </a:defRPr>
            </a:lvl8pPr>
            <a:lvl9pPr marL="2438400" lvl="8" indent="-127000" rtl="0">
              <a:spcBef>
                <a:spcPts val="0"/>
              </a:spcBef>
              <a:spcAft>
                <a:spcPts val="0"/>
              </a:spcAft>
              <a:buClr>
                <a:schemeClr val="dk2"/>
              </a:buClr>
              <a:buSzPts val="2000"/>
              <a:buChar char="■"/>
              <a:defRPr sz="2000">
                <a:solidFill>
                  <a:schemeClr val="dk2"/>
                </a:solidFill>
              </a:defRPr>
            </a:lvl9pPr>
          </a:lstStyle>
          <a:p>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en-US" dirty="0"/>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en-US" sz="1800" b="0">
                <a:solidFill>
                  <a:schemeClr val="dk2"/>
                </a:solidFill>
              </a:rPr>
              <a:t>Insert chart</a:t>
            </a:r>
            <a:endParaRPr lang="en-US"/>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a:lstStyle>
            <a:lvl1pPr>
              <a:buNone/>
              <a:defRPr/>
            </a:lvl1pPr>
          </a:lstStyle>
          <a:p>
            <a:endParaRPr lang="en-US" dirty="0"/>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a:lstStyle>
            <a:lvl1pPr>
              <a:buNone/>
              <a:defRPr/>
            </a:lvl1pPr>
          </a:lstStyle>
          <a:p>
            <a:endParaRPr lang="en-US"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SzPts val="2800"/>
              <a:buNone/>
              <a:defRPr b="1">
                <a:solidFill>
                  <a:schemeClr val="lt1"/>
                </a:solidFill>
              </a:defRPr>
            </a:lvl1pPr>
            <a:lvl2pPr lvl="1">
              <a:spcBef>
                <a:spcPts val="0"/>
              </a:spcBef>
              <a:spcAft>
                <a:spcPts val="0"/>
              </a:spcAft>
              <a:buClr>
                <a:schemeClr val="lt1"/>
              </a:buClr>
              <a:buSzPts val="3200"/>
              <a:buNone/>
              <a:defRPr sz="3200" b="1">
                <a:solidFill>
                  <a:schemeClr val="lt1"/>
                </a:solidFill>
              </a:defRPr>
            </a:lvl2pPr>
            <a:lvl3pPr lvl="2">
              <a:spcBef>
                <a:spcPts val="0"/>
              </a:spcBef>
              <a:spcAft>
                <a:spcPts val="0"/>
              </a:spcAft>
              <a:buClr>
                <a:schemeClr val="lt1"/>
              </a:buClr>
              <a:buSzPts val="3200"/>
              <a:buNone/>
              <a:defRPr sz="3200" b="1">
                <a:solidFill>
                  <a:schemeClr val="lt1"/>
                </a:solidFill>
              </a:defRPr>
            </a:lvl3pPr>
            <a:lvl4pPr lvl="3">
              <a:spcBef>
                <a:spcPts val="0"/>
              </a:spcBef>
              <a:spcAft>
                <a:spcPts val="0"/>
              </a:spcAft>
              <a:buClr>
                <a:schemeClr val="lt1"/>
              </a:buClr>
              <a:buSzPts val="3200"/>
              <a:buNone/>
              <a:defRPr sz="3200" b="1">
                <a:solidFill>
                  <a:schemeClr val="lt1"/>
                </a:solidFill>
              </a:defRPr>
            </a:lvl4pPr>
            <a:lvl5pPr lvl="4">
              <a:spcBef>
                <a:spcPts val="0"/>
              </a:spcBef>
              <a:spcAft>
                <a:spcPts val="0"/>
              </a:spcAft>
              <a:buClr>
                <a:schemeClr val="lt1"/>
              </a:buClr>
              <a:buSzPts val="3200"/>
              <a:buNone/>
              <a:defRPr sz="3200" b="1">
                <a:solidFill>
                  <a:schemeClr val="lt1"/>
                </a:solidFill>
              </a:defRPr>
            </a:lvl5pPr>
            <a:lvl6pPr lvl="5">
              <a:spcBef>
                <a:spcPts val="0"/>
              </a:spcBef>
              <a:spcAft>
                <a:spcPts val="0"/>
              </a:spcAft>
              <a:buClr>
                <a:schemeClr val="lt1"/>
              </a:buClr>
              <a:buSzPts val="3200"/>
              <a:buNone/>
              <a:defRPr sz="3200" b="1">
                <a:solidFill>
                  <a:schemeClr val="lt1"/>
                </a:solidFill>
              </a:defRPr>
            </a:lvl6pPr>
            <a:lvl7pPr lvl="6">
              <a:spcBef>
                <a:spcPts val="0"/>
              </a:spcBef>
              <a:spcAft>
                <a:spcPts val="0"/>
              </a:spcAft>
              <a:buClr>
                <a:schemeClr val="lt1"/>
              </a:buClr>
              <a:buSzPts val="3200"/>
              <a:buNone/>
              <a:defRPr sz="3200" b="1">
                <a:solidFill>
                  <a:schemeClr val="lt1"/>
                </a:solidFill>
              </a:defRPr>
            </a:lvl7pPr>
            <a:lvl8pPr lvl="7">
              <a:spcBef>
                <a:spcPts val="0"/>
              </a:spcBef>
              <a:spcAft>
                <a:spcPts val="0"/>
              </a:spcAft>
              <a:buClr>
                <a:schemeClr val="lt1"/>
              </a:buClr>
              <a:buSzPts val="3200"/>
              <a:buNone/>
              <a:defRPr sz="3200" b="1">
                <a:solidFill>
                  <a:schemeClr val="lt1"/>
                </a:solidFill>
              </a:defRPr>
            </a:lvl8pPr>
            <a:lvl9pPr lvl="8">
              <a:spcBef>
                <a:spcPts val="0"/>
              </a:spcBef>
              <a:spcAft>
                <a:spcPts val="0"/>
              </a:spcAft>
              <a:buClr>
                <a:schemeClr val="lt1"/>
              </a:buClr>
              <a:buSzPts val="3200"/>
              <a:buNone/>
              <a:defRPr sz="3200" b="1">
                <a:solidFill>
                  <a:schemeClr val="lt1"/>
                </a:solidFill>
              </a:defRPr>
            </a:lvl9pPr>
          </a:lstStyle>
          <a:p>
            <a:endParaRPr dirty="0"/>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en-US" sz="1800" b="1">
                <a:solidFill>
                  <a:schemeClr val="dk2"/>
                </a:solidFill>
              </a:rPr>
              <a:t>‹#›</a:t>
            </a:fld>
            <a:endParaRPr lang="en-US" sz="1800" b="1"/>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ts val="1800"/>
              <a:buChar char="•"/>
              <a:defRPr sz="1800">
                <a:solidFill>
                  <a:schemeClr val="dk2"/>
                </a:solidFill>
              </a:defRPr>
            </a:lvl1pPr>
            <a:lvl2pPr marL="482600" lvl="1" indent="-127000">
              <a:lnSpc>
                <a:spcPct val="115000"/>
              </a:lnSpc>
              <a:spcBef>
                <a:spcPts val="0"/>
              </a:spcBef>
              <a:spcAft>
                <a:spcPts val="0"/>
              </a:spcAft>
              <a:buClr>
                <a:schemeClr val="dk2"/>
              </a:buClr>
              <a:buSzPts val="1400"/>
              <a:buChar char="○"/>
              <a:defRPr>
                <a:solidFill>
                  <a:schemeClr val="dk2"/>
                </a:solidFill>
              </a:defRPr>
            </a:lvl2pPr>
            <a:lvl3pPr marL="762000" lvl="2" indent="-127000">
              <a:lnSpc>
                <a:spcPct val="115000"/>
              </a:lnSpc>
              <a:spcBef>
                <a:spcPts val="0"/>
              </a:spcBef>
              <a:spcAft>
                <a:spcPts val="0"/>
              </a:spcAft>
              <a:buClr>
                <a:schemeClr val="dk2"/>
              </a:buClr>
              <a:buSzPts val="1400"/>
              <a:buChar char="■"/>
              <a:defRPr>
                <a:solidFill>
                  <a:schemeClr val="dk2"/>
                </a:solidFill>
              </a:defRPr>
            </a:lvl3pPr>
            <a:lvl4pPr marL="1041400" lvl="3" indent="-127000">
              <a:lnSpc>
                <a:spcPct val="115000"/>
              </a:lnSpc>
              <a:spcBef>
                <a:spcPts val="0"/>
              </a:spcBef>
              <a:spcAft>
                <a:spcPts val="0"/>
              </a:spcAft>
              <a:buClr>
                <a:schemeClr val="dk2"/>
              </a:buClr>
              <a:buSzPts val="1400"/>
              <a:buChar char="•"/>
              <a:defRPr>
                <a:solidFill>
                  <a:schemeClr val="dk2"/>
                </a:solidFill>
              </a:defRPr>
            </a:lvl4pPr>
            <a:lvl5pPr marL="1320800" lvl="4" indent="-127000">
              <a:lnSpc>
                <a:spcPct val="115000"/>
              </a:lnSpc>
              <a:spcBef>
                <a:spcPts val="0"/>
              </a:spcBef>
              <a:spcAft>
                <a:spcPts val="0"/>
              </a:spcAft>
              <a:buClr>
                <a:schemeClr val="dk2"/>
              </a:buClr>
              <a:buSzPts val="1400"/>
              <a:buChar char="○"/>
              <a:defRPr>
                <a:solidFill>
                  <a:schemeClr val="dk2"/>
                </a:solidFill>
              </a:defRPr>
            </a:lvl5pPr>
            <a:lvl6pPr marL="1600200" lvl="5" indent="-127000">
              <a:lnSpc>
                <a:spcPct val="115000"/>
              </a:lnSpc>
              <a:spcBef>
                <a:spcPts val="0"/>
              </a:spcBef>
              <a:spcAft>
                <a:spcPts val="0"/>
              </a:spcAft>
              <a:buClr>
                <a:schemeClr val="dk2"/>
              </a:buClr>
              <a:buSzPts val="1400"/>
              <a:buChar char="■"/>
              <a:defRPr>
                <a:solidFill>
                  <a:schemeClr val="dk2"/>
                </a:solidFill>
              </a:defRPr>
            </a:lvl6pPr>
            <a:lvl7pPr marL="1879600" lvl="6" indent="-127000">
              <a:lnSpc>
                <a:spcPct val="115000"/>
              </a:lnSpc>
              <a:spcBef>
                <a:spcPts val="0"/>
              </a:spcBef>
              <a:spcAft>
                <a:spcPts val="0"/>
              </a:spcAft>
              <a:buClr>
                <a:schemeClr val="dk2"/>
              </a:buClr>
              <a:buSzPts val="1400"/>
              <a:buChar char="•"/>
              <a:defRPr>
                <a:solidFill>
                  <a:schemeClr val="dk2"/>
                </a:solidFill>
              </a:defRPr>
            </a:lvl7pPr>
            <a:lvl8pPr marL="2159000" lvl="7" indent="-127000">
              <a:lnSpc>
                <a:spcPct val="115000"/>
              </a:lnSpc>
              <a:spcBef>
                <a:spcPts val="0"/>
              </a:spcBef>
              <a:spcAft>
                <a:spcPts val="0"/>
              </a:spcAft>
              <a:buClr>
                <a:schemeClr val="dk2"/>
              </a:buClr>
              <a:buSzPts val="1400"/>
              <a:buChar char="○"/>
              <a:defRPr>
                <a:solidFill>
                  <a:schemeClr val="dk2"/>
                </a:solidFill>
              </a:defRPr>
            </a:lvl8pPr>
            <a:lvl9pPr marL="2438400" lvl="8" indent="-1270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88745"/>
            <a:ext cx="8229600" cy="2005965"/>
          </a:xfrm>
        </p:spPr>
        <p:txBody>
          <a:bodyPr wrap="square" anchor="ctr" lIns="0" rIns="0" tIns="0" bIns="0">
            <a:noAutofit/>
          </a:bodyPr>
          <a:lstStyle/>
          <a:p>
            <a:pPr algn="ctr" marL="0" indent="0">
              <a:lnSpc>
                <a:spcPct val="110000"/>
              </a:lnSpc>
              <a:spcBef>
                <a:spcPts val="0"/>
              </a:spcBef>
              <a:spcAft>
                <a:spcPts val="1200"/>
              </a:spcAft>
              <a:defRPr sz="3400">
                <a:latin typeface="Noto Sans CJK JP"/>
              </a:defRPr>
              <a:buNone/>
            </a:pPr>
            <a:r>
              <a:rPr sz="3400" b="1" lang="ja-JP">
                <a:solidFill>
                  <a:srgbClr val="303437"/>
                </a:solidFill>
                <a:latin typeface="Noto Sans CJK JP"/>
                <a:ea typeface="Noto Sans CJK JP"/>
                <a:cs typeface="Noto Sans CJK JP"/>
              </a:rPr>
              <a:t>読解型質問応答用データセット</a:t>
            </a:r>
            <a:endParaRPr sz="3400" lang="ja-JP"/>
          </a:p>
          <a:p>
            <a:pPr algn="ctr" marL="0" indent="0">
              <a:lnSpc>
                <a:spcPct val="110000"/>
              </a:lnSpc>
              <a:spcBef>
                <a:spcPts val="0"/>
              </a:spcBef>
              <a:spcAft>
                <a:spcPts val="1200"/>
              </a:spcAft>
              <a:defRPr sz="5800">
                <a:latin typeface="Noto Sans CJK JP"/>
              </a:defRPr>
              <a:buNone/>
            </a:pPr>
            <a:r>
              <a:rPr sz="5800" b="1" lang="ja-JP">
                <a:solidFill>
                  <a:srgbClr val="303437"/>
                </a:solidFill>
                <a:latin typeface="Noto Sans CJK JP"/>
                <a:ea typeface="Noto Sans CJK JP"/>
                <a:cs typeface="Noto Sans CJK JP"/>
              </a:rPr>
              <a:t>SQuAD</a:t>
            </a:r>
            <a:endParaRPr sz="5800" lang="ja-JP"/>
          </a:p>
        </p:txBody>
      </p:sp>
      <p:sp>
        <p:nvSpPr>
          <p:cNvPr id="3" name="Subtitle 2"/>
          <p:cNvSpPr>
            <a:spLocks noGrp="1"/>
          </p:cNvSpPr>
          <p:nvPr>
            <p:ph type="subTitle" idx="1"/>
          </p:nvPr>
        </p:nvSpPr>
        <p:spPr>
          <a:xfrm>
            <a:off x="548640" y="3657600"/>
            <a:ext cx="8046720" cy="365760"/>
          </a:xfrm>
        </p:spPr>
        <p:txBody>
          <a:bodyPr wrap="square" anchor="ctr" lIns="0" rIns="0" tIns="0" bIns="0">
            <a:noAutofit/>
          </a:bodyPr>
          <a:lstStyle/>
          <a:p>
            <a:pPr algn="ctr" marL="0" indent="0">
              <a:lnSpc>
                <a:spcPct val="115000"/>
              </a:lnSpc>
              <a:spcBef>
                <a:spcPts val="0"/>
              </a:spcBef>
              <a:spcAft>
                <a:spcPts val="800"/>
              </a:spcAft>
              <a:defRPr sz="2200">
                <a:latin typeface="Noto Sans CJK JP"/>
              </a:defRPr>
              <a:buNone/>
            </a:pPr>
            <a:r>
              <a:rPr sz="2200" b="0" lang="ja-JP">
                <a:solidFill>
                  <a:srgbClr val="303437"/>
                </a:solidFill>
                <a:latin typeface="Noto Sans CJK JP"/>
                <a:ea typeface="Noto Sans CJK JP"/>
                <a:cs typeface="Noto Sans CJK JP"/>
              </a:rPr>
              <a:t>Stanford Question Answering Dataset</a:t>
            </a:r>
            <a:endParaRPr sz="2200" lang="ja-JP"/>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buNone/>
              <a:lnSpc>
                <a:spcPct val="110000"/>
              </a:lnSpc>
              <a:defRPr sz="2000" lang="ja-JP">
                <a:latin typeface="Noto Sans CJK JP"/>
                <a:ea typeface="Noto Sans CJK JP"/>
              </a:defRPr>
              <a:spcBef>
                <a:spcPts val="0"/>
              </a:spcBef>
              <a:spcAft>
                <a:spcPts val="600"/>
              </a:spcAft>
              <a:buNone/>
            </a:pPr>
            <a:r>
              <a:rPr sz="2000" lang="ja-JP">
                <a:solidFill>
                  <a:srgbClr val="303437"/>
                </a:solidFill>
                <a:latin typeface="Noto Sans CJK JP"/>
                <a:ea typeface="Noto Sans CJK JP"/>
              </a:rPr>
              <a:t>sasakiy84</a:t>
            </a:r>
            <a:endParaRPr sz="1400" lang="ja-JP"/>
            <a:endParaRPr sz="1400"/>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defRPr sz="1400">
                <a:latin typeface="Noto Sans CJK JP"/>
              </a:defRPr>
              <a:lnSpc>
                <a:spcPct val="110000"/>
              </a:lnSpc>
              <a:spcBef>
                <a:spcPts val="0"/>
              </a:spcBef>
              <a:spcAft>
                <a:spcPts val="0"/>
              </a:spcAft>
              <a:buNone/>
            </a:pPr>
            <a:r>
              <a:rPr sz="1400" lang="ja-JP">
                <a:solidFill>
                  <a:srgbClr val="626669"/>
                </a:solidFill>
                <a:latin typeface="Noto Sans CJK JP"/>
                <a:ea typeface="Noto Sans CJK JP"/>
              </a:rPr>
              <a:t>datasets in 10 minutes (2026-10-15)</a:t>
            </a:r>
            <a:endParaRPr sz="1400" lang="ja-JP"/>
            <a:endParaRPr sz="1400"/>
            <a:endParaRPr sz="14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本編の構成</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defRPr sz="1400">
                <a:latin typeface="Noto Sans CJK JP"/>
              </a:defRPr>
              <a:buNone/>
            </a:pPr>
            <a:r>
              <a:rPr sz="1400" lang="ja-JP">
                <a:solidFill>
                  <a:srgbClr val="FFFEF8"/>
                </a:solidFill>
                <a:latin typeface="Noto Sans CJK JP"/>
                <a:ea typeface="Noto Sans CJK JP"/>
              </a:rPr>
              <a:t>SQuADの構成</a:t>
            </a:r>
            <a:endParaRPr sz="1400"/>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482600">
              <a:lnSpc>
                <a:spcPct val="110000"/>
              </a:lnSpc>
              <a:spcBef>
                <a:spcPts val="0"/>
              </a:spcBef>
              <a:defRPr sz="2800" lang="ja-JP">
                <a:latin typeface="Noto Sans CJK JP"/>
                <a:ea typeface="Noto Sans CJK JP"/>
                <a:cs typeface="Noto Sans CJK JP"/>
              </a:defRPr>
              <a:spcAft>
                <a:spcPts val="1100"/>
              </a:spcAft>
              <a:buAutoNum type="arabicPeriod" startAt="1"/>
            </a:pPr>
            <a:r>
              <a:rPr sz="2800" lang="ja-JP">
                <a:solidFill>
                  <a:srgbClr val="303437"/>
                </a:solidFill>
                <a:latin typeface="Noto Sans CJK JP"/>
                <a:ea typeface="Noto Sans CJK JP"/>
                <a:cs typeface="Noto Sans CJK JP"/>
              </a:rPr>
              <a:t>目的とタスク</a:t>
            </a:r>
            <a:endParaRPr sz="2800" lang="ja-JP"/>
          </a:p>
          <a:p>
            <a:pPr algn="l" marL="533400" indent="-482600">
              <a:lnSpc>
                <a:spcPct val="110000"/>
              </a:lnSpc>
              <a:spcBef>
                <a:spcPts val="0"/>
              </a:spcBef>
              <a:defRPr sz="2800" lang="ja-JP">
                <a:latin typeface="Noto Sans CJK JP"/>
                <a:ea typeface="Noto Sans CJK JP"/>
                <a:cs typeface="Noto Sans CJK JP"/>
              </a:defRPr>
              <a:spcAft>
                <a:spcPts val="1100"/>
              </a:spcAft>
              <a:buAutoNum type="arabicPeriod" startAt="2"/>
            </a:pPr>
            <a:r>
              <a:rPr sz="2800" lang="ja-JP">
                <a:solidFill>
                  <a:srgbClr val="303437"/>
                </a:solidFill>
                <a:latin typeface="Noto Sans CJK JP"/>
                <a:ea typeface="Noto Sans CJK JP"/>
                <a:cs typeface="Noto Sans CJK JP"/>
              </a:rPr>
              <a:t>作成方法と規模</a:t>
            </a:r>
            <a:endParaRPr sz="2800" lang="ja-JP"/>
          </a:p>
          <a:p>
            <a:pPr algn="l" marL="533400" indent="-482600">
              <a:lnSpc>
                <a:spcPct val="110000"/>
              </a:lnSpc>
              <a:spcBef>
                <a:spcPts val="0"/>
              </a:spcBef>
              <a:defRPr sz="2800" lang="ja-JP">
                <a:latin typeface="Noto Sans CJK JP"/>
                <a:ea typeface="Noto Sans CJK JP"/>
                <a:cs typeface="Noto Sans CJK JP"/>
              </a:defRPr>
              <a:spcAft>
                <a:spcPts val="1100"/>
              </a:spcAft>
              <a:buAutoNum type="arabicPeriod" startAt="3"/>
            </a:pPr>
            <a:r>
              <a:rPr sz="2800" lang="ja-JP">
                <a:solidFill>
                  <a:srgbClr val="303437"/>
                </a:solidFill>
                <a:latin typeface="Noto Sans CJK JP"/>
                <a:ea typeface="Noto Sans CJK JP"/>
                <a:cs typeface="Noto Sans CJK JP"/>
              </a:rPr>
              <a:t>評価と性能</a:t>
            </a:r>
            <a:endParaRPr sz="2800" lang="ja-JP"/>
          </a:p>
          <a:p>
            <a:pPr algn="l" marL="533400" indent="-482600">
              <a:lnSpc>
                <a:spcPct val="110000"/>
              </a:lnSpc>
              <a:spcBef>
                <a:spcPts val="0"/>
              </a:spcBef>
              <a:defRPr sz="2800" lang="ja-JP">
                <a:latin typeface="Noto Sans CJK JP"/>
                <a:ea typeface="Noto Sans CJK JP"/>
                <a:cs typeface="Noto Sans CJK JP"/>
              </a:defRPr>
              <a:spcAft>
                <a:spcPts val="1100"/>
              </a:spcAft>
              <a:buAutoNum type="arabicPeriod" startAt="4"/>
            </a:pPr>
            <a:r>
              <a:rPr sz="2800" lang="ja-JP">
                <a:solidFill>
                  <a:srgbClr val="303437"/>
                </a:solidFill>
                <a:latin typeface="Noto Sans CJK JP"/>
                <a:ea typeface="Noto Sans CJK JP"/>
                <a:cs typeface="Noto Sans CJK JP"/>
              </a:rPr>
              <a:t>利用の変遷と現在</a:t>
            </a:r>
            <a:endParaRPr sz="2800" lang="ja-JP"/>
          </a:p>
          <a:p>
            <a:pPr algn="l" marL="533400" indent="-482600">
              <a:lnSpc>
                <a:spcPct val="110000"/>
              </a:lnSpc>
              <a:spcBef>
                <a:spcPts val="0"/>
              </a:spcBef>
              <a:defRPr sz="2800" lang="ja-JP">
                <a:latin typeface="Noto Sans CJK JP"/>
                <a:ea typeface="Noto Sans CJK JP"/>
                <a:cs typeface="Noto Sans CJK JP"/>
              </a:defRPr>
              <a:spcAft>
                <a:spcPts val="1100"/>
              </a:spcAft>
              <a:buAutoNum type="arabicPeriod" startAt="5"/>
            </a:pPr>
            <a:r>
              <a:rPr sz="2800" lang="ja-JP">
                <a:solidFill>
                  <a:srgbClr val="303437"/>
                </a:solidFill>
                <a:latin typeface="Noto Sans CJK JP"/>
                <a:ea typeface="Noto Sans CJK JP"/>
                <a:cs typeface="Noto Sans CJK JP"/>
              </a:rPr>
              <a:t>入手方法とまとめ</a:t>
            </a:r>
            <a:endParaRPr sz="2800" lang="ja-JP"/>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1 目的とタスク</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の公式サイト</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開発当時の課題と SQuAD の目的</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人が書いた質問で、文章の読解を大規模に評価する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当時は、人手作成の読解データが小規模だった。</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大規模な自動作成データでは、質問・正解の形式が限定的。</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Wikipediaの段落に、人が質問と回答範囲を付ける。</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正解は単語1個や固有名詞に限らず、連続した語句を許す</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論文では10万問以上・500以上の記事を報告。</a:t>
            </a:r>
            <a:endParaRPr sz="22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§1–3　https://aclanthology.org/D16-1264/</a:t>
            </a:r>
            <a:endParaRPr sz="85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のタスク</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入力にはWikipedia記事の1段落と、その段落への質問を使う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質問に対応する原文の表現を回答する</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本文中の連続した範囲を正解として指定する。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答えは固有名詞・年・数量・語句など。</a:t>
            </a:r>
            <a:endParaRPr sz="23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元データの文章・質問・正解は英語。</a:t>
            </a:r>
            <a:endParaRPr sz="23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タスク・入力単位　https://aclanthology.org/D16-1264/</a:t>
            </a:r>
            <a:endParaRPr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実例1 スポーツ記事の質問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American Football Conference (AFC) champion </a:t>
            </a:r>
            <a:r>
              <a:rPr sz="1800" b="1" lang="ja-JP">
                <a:solidFill>
                  <a:srgbClr val="B13731"/>
                </a:solidFill>
                <a:latin typeface="Liberation Sans"/>
                <a:ea typeface="Liberation Sans"/>
                <a:cs typeface="Liberation Sans"/>
              </a:rPr>
              <a:t>Denver Broncos</a:t>
            </a:r>
            <a:r>
              <a:rPr sz="1800" b="0" lang="ja-JP">
                <a:solidFill>
                  <a:srgbClr val="303437"/>
                </a:solidFill>
                <a:latin typeface="Liberation Sans"/>
                <a:ea typeface="Liberation Sans"/>
                <a:cs typeface="Liberation Sans"/>
              </a:rPr>
              <a:t> defeated the National Football Conference (NFC) champion Carolina Panthers 24–10 to earn their third Super Bowl title. The game was played on February 7, 2016, at Levi's Stadium in the San Francisco Bay Area at Santa Clara, California.</a:t>
            </a:r>
            <a:endParaRPr sz="1800" lang="ja-JP"/>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Which NFL team represented the AFC at Super Bowl 50?</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第50回スーパーボウルで AFC を代表したチームは？</a:t>
            </a:r>
            <a:endParaRPr sz="1700" lang="ja-JP"/>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Denver Broncos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Super_Bowl_50　https://rajpurkar.github.io/SQuAD-explorer/dataset/dev-v1.1.json（CC BY-SA 4.0／抜粋・強調・質問訳を追加）　ID 56be4db0acb8001400a502ec</a:t>
            </a:r>
            <a:endParaRPr sz="85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実例2 人物記事の質問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Tesla gained experience in telephony and electrical engineering before emigrating to the United States in </a:t>
            </a:r>
            <a:r>
              <a:rPr sz="1800" b="1" lang="ja-JP">
                <a:solidFill>
                  <a:srgbClr val="B13731"/>
                </a:solidFill>
                <a:latin typeface="Liberation Sans"/>
                <a:ea typeface="Liberation Sans"/>
                <a:cs typeface="Liberation Sans"/>
              </a:rPr>
              <a:t>1884</a:t>
            </a:r>
            <a:r>
              <a:rPr sz="1800" b="0" lang="ja-JP">
                <a:solidFill>
                  <a:srgbClr val="303437"/>
                </a:solidFill>
                <a:latin typeface="Liberation Sans"/>
                <a:ea typeface="Liberation Sans"/>
                <a:cs typeface="Liberation Sans"/>
              </a:rPr>
              <a:t> to work for Thomas Edison in New York City. He soon struck out on his own with financial backers, setting up laboratories and companies to develop a range of electrical devices.</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In what year did Nikola Tesla emigrate to the United States?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ニコラ・テスラがアメリカへ移住したのは何年か？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1884</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Nikola_Tesla　https://rajpurkar.github.io/SQuAD-explorer/dataset/dev-v1.1.json（CC BY-SA 4.0／抜粋・強調・質問訳を追加）　ID 56df9ee138dc421700152108</a:t>
            </a:r>
            <a:endParaRPr sz="85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実例3 技術記事の質問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Steam engines are </a:t>
            </a:r>
            <a:r>
              <a:rPr sz="1800" b="1" lang="ja-JP">
                <a:solidFill>
                  <a:srgbClr val="B13731"/>
                </a:solidFill>
                <a:latin typeface="Liberation Sans"/>
                <a:ea typeface="Liberation Sans"/>
                <a:cs typeface="Liberation Sans"/>
              </a:rPr>
              <a:t>external combustion</a:t>
            </a:r>
            <a:r>
              <a:rPr sz="1800" b="0" lang="ja-JP">
                <a:solidFill>
                  <a:srgbClr val="303437"/>
                </a:solidFill>
                <a:latin typeface="Liberation Sans"/>
                <a:ea typeface="Liberation Sans"/>
                <a:cs typeface="Liberation Sans"/>
              </a:rPr>
              <a:t> engines, where the working fluid is separate from the combustion products. Non-combustion heat sources such as solar power, nuclear power or geothermal energy may be used.</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types of engines are steam engines?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蒸気機関はどのような種類の機関か？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external combustion</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Steam_engine　https://rajpurkar.github.io/SQuAD-explorer/dataset/dev-v1.1.json（CC BY-SA 4.0／抜粋・強調・質問訳を追加）　ID 57112686b654c5140001fbd7</a:t>
            </a:r>
            <a:endParaRPr sz="85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実例4 文章から回答できない質問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They were descended from Norse ("Norman" comes from "Norseman") raiders and pirates from Denmark, Iceland and Norway who, under their leader Rollo, agreed to swear fealty to King Charles III of West Francia.</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Who did King Charles III swear fealty to?</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シャルル3世は誰に忠誠を誓ったか？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40613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Rollo の側が王に忠誠を誓う。王が誰に誓ったかは記載されていない。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Normans　https://rajpurkar.github.io/SQuAD-explorer/dataset/dev-v2.0.json（CC BY-SA 4.0／抜粋・強調・質問訳を追加）　ID 5ad39d53604f3c001a3fe8d3</a:t>
            </a:r>
            <a:endParaRPr sz="85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2 作成方法と規模</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Wikipediaの記事と段落の選定方法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2016年論文で報告された収集設計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英語Wikipediaの記事を、PageRankを用いて順位付け。</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上位10,000記事から536記事を無作為に選ぶ。</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各記事から段落を取り出し、500文字未満の段落を除く。</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学習・開発・テストを記事単位で分ける。</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入力 context は記事全文ではなく、選ばれた段落。</a:t>
            </a:r>
            <a:endParaRPr sz="22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この選定条件は初版論文の設計。現在の公開JSONの長さとは区別する。</a:t>
            </a:r>
            <a:endParaRPr sz="18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§3 Dataset collection　https://aclanthology.org/D16-1264/</a:t>
            </a:r>
            <a:endParaRPr sz="85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質問と回答の作成方法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Amazon Mechanical Turk の作業者が質問と回答を作成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提示した段落について、最大5問を作るよう指示。</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段落だけから回答できる質問にする。</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本文のコピーではなく、自分の言葉で質問を書く。</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答えとなる最小限の連続した範囲を、段落内で選択する。</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開発・テストでは、別の作業者による追加回答も収集。</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表現の違う正解を認め、複数正解のうち最良の一致で評価する。</a:t>
            </a:r>
            <a:endParaRPr sz="20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§3 Dataset collection　https://aclanthology.org/D16-1264/</a:t>
            </a:r>
            <a:endParaRPr sz="85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バージョン2.0を作った理由と作成方法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初版では、どの質問にも段落内に答えがあった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600"/>
              </a:spcAft>
              <a:defRPr sz="2100">
                <a:latin typeface="Noto Sans CJK JP"/>
              </a:defRPr>
              <a:buChar char="•"/>
            </a:pPr>
            <a:r>
              <a:rPr sz="2100" b="0" lang="ja-JP">
                <a:solidFill>
                  <a:srgbClr val="303437"/>
                </a:solidFill>
                <a:latin typeface="Noto Sans CJK JP"/>
                <a:ea typeface="Noto Sans CJK JP"/>
                <a:cs typeface="Noto Sans CJK JP"/>
              </a:rPr>
              <a:t>作業者が各段落に対し、回答不能な質問を最大5問作成した。</a:t>
            </a:r>
            <a:endParaRPr sz="2100" lang="ja-JP"/>
          </a:p>
          <a:p>
            <a:pPr lvl="1" algn="l" marL="482600" indent="-1270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段落の話題に関連し、回答可能な質問に見えるようにする。</a:t>
            </a:r>
            <a:endParaRPr sz="2000" lang="ja-JP"/>
          </a:p>
          <a:p>
            <a:pPr lvl="1" algn="l" marL="482600" indent="-127000">
              <a:lnSpc>
                <a:spcPct val="113000"/>
              </a:lnSpc>
              <a:spcBef>
                <a:spcPts val="0"/>
              </a:spcBef>
              <a:spcAft>
                <a:spcPts val="700"/>
              </a:spcAft>
              <a:defRPr sz="2000">
                <a:latin typeface="Noto Sans CJK JP"/>
              </a:defRPr>
              <a:buChar char="○"/>
            </a:pPr>
            <a:r>
              <a:rPr sz="2000" b="0" lang="ja-JP">
                <a:solidFill>
                  <a:srgbClr val="303437"/>
                </a:solidFill>
                <a:latin typeface="Noto Sans CJK JP"/>
                <a:ea typeface="Noto Sans CJK JP"/>
                <a:cs typeface="Noto Sans CJK JP"/>
              </a:rPr>
              <a:t>段落内に、答えに見える候補がある質問にする。</a:t>
            </a:r>
            <a:endParaRPr sz="2000" lang="ja-JP"/>
          </a:p>
          <a:p>
            <a:pPr algn="l" marL="203200" indent="-152400">
              <a:lnSpc>
                <a:spcPct val="113000"/>
              </a:lnSpc>
              <a:spcBef>
                <a:spcPts val="0"/>
              </a:spcBef>
              <a:spcAft>
                <a:spcPts val="700"/>
              </a:spcAft>
              <a:defRPr sz="2100">
                <a:latin typeface="Noto Sans CJK JP"/>
              </a:defRPr>
              <a:buChar char="•"/>
            </a:pPr>
            <a:r>
              <a:rPr sz="2100" b="0" lang="ja-JP">
                <a:solidFill>
                  <a:srgbClr val="303437"/>
                </a:solidFill>
                <a:latin typeface="Noto Sans CJK JP"/>
                <a:ea typeface="Noto Sans CJK JP"/>
                <a:cs typeface="Noto Sans CJK JP"/>
              </a:rPr>
              <a:t>記事・段落ごとの作業を分配し、人手で50,000問以上を追加。</a:t>
            </a:r>
            <a:endParaRPr sz="2100" lang="ja-JP"/>
          </a:p>
          <a:p>
            <a:pPr algn="l" marL="203200" indent="-152400">
              <a:lnSpc>
                <a:spcPct val="113000"/>
              </a:lnSpc>
              <a:spcBef>
                <a:spcPts val="0"/>
              </a:spcBef>
              <a:spcAft>
                <a:spcPts val="600"/>
              </a:spcAft>
              <a:defRPr sz="2100">
                <a:latin typeface="Noto Sans CJK JP"/>
              </a:defRPr>
              <a:buChar char="•"/>
            </a:pPr>
            <a:r>
              <a:rPr sz="2100" b="0" lang="ja-JP">
                <a:solidFill>
                  <a:srgbClr val="303437"/>
                </a:solidFill>
                <a:latin typeface="Noto Sans CJK JP"/>
                <a:ea typeface="Noto Sans CJK JP"/>
                <a:cs typeface="Noto Sans CJK JP"/>
              </a:rPr>
              <a:t>回答範囲の抽出と、回答保留の判断を評価する。</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Jia &amp; Liang (2018), §1・§3　https://aclanthology.org/P18-2124/</a:t>
            </a:r>
            <a:endParaRPr sz="85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のバージョン1.1と2.0</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バージョンと規模</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バージョン1.1では、文章中に答えがある質問を扱う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質問に対応する本文中の範囲を回答する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バージョン2.0では、回答不能な質問を追加する </a:t>
            </a:r>
            <a:r>
              <a:rPr sz="2300" b="0" lang="ja-JP">
                <a:solidFill>
                  <a:srgbClr val="303437"/>
                </a:solidFill>
                <a:latin typeface="Noto Sans CJK JP"/>
                <a:ea typeface="Noto Sans CJK JP"/>
                <a:cs typeface="Noto Sans CJK JP"/>
              </a:rPr>
              <a:t>[2]</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既存の質問に似た、答えられない質問を人が作成。</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答えられるかを判定し、答えがなければ回答を控える。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異なるバージョンの得点は、そのまま比較できない。</a:t>
            </a:r>
            <a:endParaRPr sz="23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https://aclanthology.org/D16-1264/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https://aclanthology.org/P18-2124/</a:t>
            </a:r>
            <a:endParaRPr sz="85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公開データの規模</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バージョンと規模</a:t>
            </a:r>
            <a:endParaRPr sz="1400" lang="ja-JP"/>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版・分割 [1]</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質問数</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回答不能</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Wikipedia記事数</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1.1・学習用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87,599</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442</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1.1・開発用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10,570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48</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2.0・学習用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130,319</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43,498</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442</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2.0・開発用</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11,873</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5,945</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35</a:t>
                      </a:r>
                      <a:endParaRPr sz="19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4133483"/>
            <a:ext cx="8046720" cy="629016"/>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記事数は、質問の元となったWikipedia記事の数。</a:t>
            </a:r>
            <a:endParaRPr sz="2100" lang="ja-JP"/>
            <a:endParaRPr sz="1700"/>
          </a:p>
          <a:p>
            <a:pPr algn="l" marL="203200" indent="-152400">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バージョン2.0は同じ記事に回答不能な質問を追加。</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 train / dev JSON の全件集計　https://github.com/rajpurkar/SQuAD-explorer/tree/master/dataset</a:t>
            </a:r>
            <a:endParaRPr sz="85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質問と回答の長さ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長さ [1]</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平均</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中央値</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95%点</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最大</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質問の文字数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59.3</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56.0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98.0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270</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質問の単語数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10.1</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17.0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40</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回答の文字数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20.1</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14.0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63.0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239</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回答の単語数</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3.1</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2.0</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10.0</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43</a:t>
                      </a:r>
                      <a:endParaRPr sz="18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4001365"/>
            <a:ext cx="8046720" cy="761134"/>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公開データ98,169問の先頭正解を1問1件で集計。</a:t>
            </a:r>
            <a:endParaRPr sz="1900" lang="ja-JP"/>
            <a:endParaRPr sz="1700"/>
          </a:p>
          <a:p>
            <a:pPr algn="l" marL="203200" indent="-152400">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最大の回答は43単語・239文字。</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バージョン1.1のtrainとdevを集計。文字数は前後空白を除去し、単語数は空白で分割。</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入力段落（context）の長さ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context の長さ [1]</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平均</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中央値</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95%点</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最大</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文字数</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739.6</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679.0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1312.0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4063</a:t>
                      </a:r>
                      <a:endParaRPr sz="1900" lang="ja-JP"/>
                    </a:p>
                  </a:txBody>
                  <a:tcPr marL="38100" marR="38100" marT="38100" marB="38100">
                    <a:lnL w="0">
                      <a:noFill/>
                    </a:lnL>
                    <a:lnR w="0">
                      <a:noFill/>
                    </a:lnR>
                    <a:lnT w="0">
                      <a:noFill/>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単語数</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117.2</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108.0</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210.0</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653</a:t>
                      </a:r>
                      <a:endParaRPr sz="19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343275"/>
            <a:ext cx="8046720" cy="118300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バージョン1.1 train＋dev、20,963段落を各1回集計。</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同じ段落への複数質問による重複カウントはしない。</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最長は4,063文字／653単語。</a:t>
            </a:r>
            <a:endParaRPr sz="21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文字数は前後空白を除去／単語数は空白分割。</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質問に大量の空白が含まれる実例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前後に大量の空白が含まれる質問を1件確認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元文字列 25,651文字 → 前後空白を除去 59文字。</a:t>
            </a:r>
            <a:endParaRPr sz="21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What radiates two lobes perpendicular to the antennas axis?</a:t>
            </a:r>
            <a:endParaRPr sz="1800" lang="ja-JP"/>
          </a:p>
          <a:p>
            <a:pPr lvl="1" algn="l" marL="482600" indent="-127000">
              <a:lnSpc>
                <a:spcPct val="113000"/>
              </a:lnSpc>
              <a:spcBef>
                <a:spcPts val="0"/>
              </a:spcBef>
              <a:spcAft>
                <a:spcPts val="400"/>
              </a:spcAft>
              <a:defRPr sz="1900">
                <a:latin typeface="Noto Sans CJK JP"/>
              </a:defRPr>
              <a:buChar char="○"/>
            </a:pPr>
            <a:r>
              <a:rPr sz="1900" b="0" lang="ja-JP">
                <a:solidFill>
                  <a:srgbClr val="303437"/>
                </a:solidFill>
                <a:latin typeface="Noto Sans CJK JP"/>
                <a:ea typeface="Noto Sans CJK JP"/>
                <a:cs typeface="Noto Sans CJK JP"/>
              </a:rPr>
              <a:t>アンテナの軸に垂直な2つのローブを放射するものは何か。</a:t>
            </a:r>
            <a:endParaRPr sz="19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主要統計は前後空白だけを除去し、本文の文字は保持。</a:t>
            </a:r>
            <a:endParaRPr sz="22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長さの比較では、空白を含めるかで結果が大きく変わる。</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572fdefb947a6a140053cd8d</a:t>
            </a:r>
            <a:endParaRPr sz="85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3 評価と性能</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評価手法は EM と F1 の2種類</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EMは、1問では完全一致なら1、不一致なら0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正解がDenver Broncosなら、一致は1、Denverは0。</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F1は、共通する単語の適合率・再現率の調和平均。</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上の例では、完全一致なら1、Denverだけなら2/3。</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報告値は、全問の得点の平均 × 100（%）。</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2問中1問が完全一致なら、集合のEMは50%。</a:t>
            </a:r>
            <a:endParaRPr sz="2000" lang="ja-JP"/>
          </a:p>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小文字化・句読点・冠詞除去・空白正規化。複数正解の最良値。</a:t>
            </a:r>
            <a:endParaRPr sz="19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評価実装　https://github.com/huggingface/evaluate/blob/main/metrics/squad/compute_score.py</a:t>
            </a:r>
            <a:endParaRPr sz="85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2016年の原著のモデルはF1が51.0%だった</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defRPr sz="1400">
                <a:latin typeface="Noto Sans CJK JP"/>
              </a:defRPr>
              <a:buNone/>
            </a:pPr>
            <a:r>
              <a:rPr sz="1400" lang="ja-JP">
                <a:solidFill>
                  <a:srgbClr val="FFFEF8"/>
                </a:solidFill>
                <a:latin typeface="Noto Sans CJK JP"/>
                <a:ea typeface="Noto Sans CJK JP"/>
              </a:rPr>
              <a:t>SQuADの登場時の性能</a:t>
            </a:r>
            <a:endParaRPr sz="1400"/>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原著のモデル・人の回答</a:t>
                      </a:r>
                      <a:endParaRPr sz="2200"/>
                    </a:p>
                  </a:txBody>
                  <a:tcPr>
                    <a:solidFill>
                      <a:srgbClr val="FFFEF8"/>
                    </a:solidFill>
                    <a:lnL w="0">
                      <a:noFill/>
                    </a:lnL>
                    <a:lnR w="0">
                      <a:noFill/>
                    </a:lnR>
                    <a:lnT w="10160">
                      <a:solidFill>
                        <a:srgbClr val="626669"/>
                      </a:solid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EM（%）</a:t>
                      </a:r>
                      <a:endParaRPr sz="2200"/>
                    </a:p>
                  </a:txBody>
                  <a:tcPr>
                    <a:solidFill>
                      <a:srgbClr val="FFFEF8"/>
                    </a:solidFill>
                    <a:lnL w="0">
                      <a:noFill/>
                    </a:lnL>
                    <a:lnR w="0">
                      <a:noFill/>
                    </a:lnR>
                    <a:lnT w="10160">
                      <a:solidFill>
                        <a:srgbClr val="626669"/>
                      </a:solid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F1（%）</a:t>
                      </a:r>
                      <a:endParaRPr sz="2200"/>
                    </a:p>
                  </a:txBody>
                  <a:tcPr>
                    <a:solidFill>
                      <a:srgbClr val="FFFEF8"/>
                    </a:solidFill>
                    <a:lnL w="0">
                      <a:noFill/>
                    </a:lnL>
                    <a:lnR w="0">
                      <a:noFill/>
                    </a:lnR>
                    <a:lnT w="10160">
                      <a:solidFill>
                        <a:srgbClr val="626669"/>
                      </a:solidFill>
                    </a:lnT>
                    <a:lnB w="10160">
                      <a:solidFill>
                        <a:srgbClr val="626669"/>
                      </a:solid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単語一致を使うSliding Window</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12.5</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19.7</a:t>
                      </a:r>
                      <a:endParaRPr sz="2200"/>
                    </a:p>
                  </a:txBody>
                  <a:tcPr>
                    <a:solidFill>
                      <a:srgbClr val="FFFEF8"/>
                    </a:solidFill>
                    <a:lnL w="0">
                      <a:noFill/>
                    </a:lnL>
                    <a:lnR w="0">
                      <a:noFill/>
                    </a:lnR>
                    <a:lnT w="0">
                      <a:noFill/>
                    </a:lnT>
                    <a:lnB w="0">
                      <a:no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ロジスティック回帰</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40.4</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51.0</a:t>
                      </a:r>
                      <a:endParaRPr sz="2200"/>
                    </a:p>
                  </a:txBody>
                  <a:tcPr>
                    <a:solidFill>
                      <a:srgbClr val="FFFEF8"/>
                    </a:solidFill>
                    <a:lnL w="0">
                      <a:noFill/>
                    </a:lnL>
                    <a:lnR w="0">
                      <a:noFill/>
                    </a:lnR>
                    <a:lnT w="0">
                      <a:noFill/>
                    </a:lnT>
                    <a:lnB w="0">
                      <a:no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人の回答</a:t>
                      </a:r>
                      <a:endParaRPr sz="2200"/>
                    </a:p>
                  </a:txBody>
                  <a:tcPr>
                    <a:solidFill>
                      <a:srgbClr val="FFFEF8"/>
                    </a:solidFill>
                    <a:lnL w="0">
                      <a:noFill/>
                    </a:lnL>
                    <a:lnR w="0">
                      <a:noFill/>
                    </a:lnR>
                    <a:lnT w="0">
                      <a:no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77.0</a:t>
                      </a:r>
                      <a:endParaRPr sz="2200"/>
                    </a:p>
                  </a:txBody>
                  <a:tcPr>
                    <a:solidFill>
                      <a:srgbClr val="FFFEF8"/>
                    </a:solidFill>
                    <a:lnL w="0">
                      <a:noFill/>
                    </a:lnL>
                    <a:lnR w="0">
                      <a:noFill/>
                    </a:lnR>
                    <a:lnT w="0">
                      <a:no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86.8</a:t>
                      </a:r>
                      <a:endParaRPr sz="2200"/>
                    </a:p>
                  </a:txBody>
                  <a:tcPr>
                    <a:solidFill>
                      <a:srgbClr val="FFFEF8"/>
                    </a:solidFill>
                    <a:lnL w="0">
                      <a:noFill/>
                    </a:lnL>
                    <a:lnR w="0">
                      <a:noFill/>
                    </a:lnR>
                    <a:lnT w="0">
                      <a:noFill/>
                    </a:lnT>
                    <a:lnB w="10160">
                      <a:solidFill>
                        <a:srgbClr val="626669"/>
                      </a:solidFill>
                    </a:lnB>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defRPr sz="1800">
                <a:latin typeface="Noto Sans CJK JP"/>
              </a:defRPr>
              <a:buNone/>
            </a:pPr>
            <a:r>
              <a:rPr sz="1800" lang="ja-JP">
                <a:solidFill>
                  <a:srgbClr val="303437"/>
                </a:solidFill>
                <a:latin typeface="Noto Sans CJK JP"/>
                <a:ea typeface="Noto Sans CJK JP"/>
              </a:rPr>
              <a:t>SQuADバージョン1.0のテスト用で評価した </a:t>
            </a:r>
            <a:r>
              <a:rPr sz="1800" lang="ja-JP">
                <a:solidFill>
                  <a:srgbClr val="303437"/>
                </a:solidFill>
                <a:latin typeface="Noto Sans CJK JP"/>
                <a:ea typeface="Noto Sans CJK JP"/>
              </a:rPr>
              <a:t>[1]</a:t>
            </a:r>
            <a:r>
              <a:rPr sz="1800" lang="ja-JP">
                <a:solidFill>
                  <a:srgbClr val="303437"/>
                </a:solidFill>
                <a:latin typeface="Noto Sans CJK JP"/>
                <a:ea typeface="Noto Sans CJK JP"/>
              </a:rPr>
              <a:t>。人の得点は、追加の正解回答を予測として採点した。</a:t>
            </a:r>
            <a:endParaRPr sz="18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Table 5・§6.2. https://aclanthology.org/D16-1264/</a:t>
            </a:r>
            <a:endParaRPr sz="85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バージョン1.1のベンチマーク結果</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提出日</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BiDAF</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2016-11-28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68.0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77.3</a:t>
                      </a:r>
                      <a:endParaRPr sz="2000" lang="ja-JP"/>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2018-10-05</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85.1</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91.8</a:t>
                      </a:r>
                      <a:endParaRPr sz="2000" lang="ja-JP"/>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XLNet</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2019-05-21</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89.9</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95.1</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70962"/>
            <a:ext cx="8046720" cy="991537"/>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SQuAD運営者の非公開テストで採点。</a:t>
            </a:r>
            <a:endParaRPr sz="21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開発用とは別のデータ。各行は単一モデルの提出結果。</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掲載された提出結果（EM・F1は%）。</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2.0では抽出型モデルも比較されている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BERT-Large</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79.0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81.8</a:t>
                      </a:r>
                      <a:endParaRPr sz="2000" lang="ja-JP"/>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RoBERTa-Large</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86.5</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89.4</a:t>
                      </a:r>
                      <a:endParaRPr sz="2000" lang="ja-JP"/>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DeBERTa-V3-Large</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89.0</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91.5</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19476"/>
            <a:ext cx="8046720" cy="1043023"/>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 2.0の学習用で微調整し、開発用で評価した公表値。</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Llamaの生成評価や、運営者の非公開テストとは条件が異なる。</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Microsoftの公開結果で、SQuAD 2.0開発用のEM・F1を掲載。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https://github.com/microsoft/DeBERTa</a:t>
            </a:r>
            <a:endParaRPr sz="8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Llama 3.1でもSQuAD 2を評価している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43050"/>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事前学習モデル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8B</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77.0</a:t>
                      </a:r>
                      <a:endParaRPr sz="2000" lang="ja-JP"/>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70B</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81.8</a:t>
                      </a:r>
                      <a:endParaRPr sz="2000" lang="ja-JP"/>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3.1 405B</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89.3</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19476"/>
            <a:ext cx="8046720" cy="1043023"/>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2024-07-23公開、事前学習モデルを1-shotで生成評価。</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先行QAの正解を含むため、運営者のテストとは条件が異なる </a:t>
            </a:r>
            <a:r>
              <a:rPr sz="1700" lang="ja-JP">
                <a:solidFill>
                  <a:srgbClr val="303437"/>
                </a:solidFill>
                <a:latin typeface="Noto Sans CJK JP"/>
                <a:ea typeface="Noto Sans CJK JP"/>
              </a:rPr>
              <a:t>[2]</a:t>
            </a:r>
            <a:r>
              <a:rPr sz="1700" lang="ja-JP">
                <a:solidFill>
                  <a:srgbClr val="303437"/>
                </a:solidFill>
                <a:latin typeface="Noto Sans CJK JP"/>
                <a:ea typeface="Noto Sans CJK JP"/>
              </a:rPr>
              <a:t>。</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https://github.com/meta-llama/llama-models/blob/main/models/llama3_1/MODEL_CARD.md</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https://github.com/meta-llama/llama-models/blob/main/models/llama3_1/eval_details.md</a:t>
            </a:r>
            <a:endParaRPr sz="85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4 利用の変遷と現在</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SQuAD以前にも読解用データセットがあった</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周辺データセット</a:t>
            </a:r>
            <a:endParaRPr sz="1400" lang="ja-JP"/>
          </a:p>
        </p:txBody>
      </p:sp>
      <p:sp>
        <p:nvSpPr>
          <p:cNvPr id="4" name="content-text"/>
          <p:cNvSpPr txBox="1"/>
          <p:nvPr/>
        </p:nvSpPr>
        <p:spPr>
          <a:xfrm>
            <a:off x="594360" y="1491615"/>
            <a:ext cx="8046720" cy="298323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MCTestは2013年に公開された。</a:t>
            </a:r>
            <a:endParaRPr sz="2200" lang="ja-JP"/>
          </a:p>
          <a:p>
            <a:pPr lvl="1" algn="l" marL="482600" indent="-127000">
              <a:lnSpc>
                <a:spcPct val="113000"/>
              </a:lnSpc>
              <a:spcBef>
                <a:spcPts val="0"/>
              </a:spcBef>
              <a:spcAft>
                <a:spcPts val="1200"/>
              </a:spcAft>
              <a:defRPr sz="2000">
                <a:latin typeface="Noto Sans CJK JP"/>
              </a:defRPr>
              <a:buChar char="○"/>
            </a:pPr>
            <a:r>
              <a:rPr sz="2000" b="0" lang="ja-JP">
                <a:solidFill>
                  <a:srgbClr val="303437"/>
                </a:solidFill>
                <a:latin typeface="Noto Sans CJK JP"/>
                <a:ea typeface="Noto Sans CJK JP"/>
                <a:cs typeface="Noto Sans CJK JP"/>
              </a:rPr>
              <a:t>短い物語を読んで4択質問に答える。SQuADはWikipediaの段落から回答範囲を選ぶ </a:t>
            </a:r>
            <a:r>
              <a:rPr sz="2000" b="0" lang="ja-JP">
                <a:solidFill>
                  <a:srgbClr val="303437"/>
                </a:solidFill>
                <a:latin typeface="Noto Sans CJK JP"/>
                <a:ea typeface="Noto Sans CJK JP"/>
                <a:cs typeface="Noto Sans CJK JP"/>
              </a:rPr>
              <a:t>[1]</a:t>
            </a:r>
            <a:r>
              <a:rPr sz="2000" b="0" lang="ja-JP">
                <a:solidFill>
                  <a:srgbClr val="303437"/>
                </a:solidFill>
                <a:latin typeface="Noto Sans CJK JP"/>
                <a:ea typeface="Noto Sans CJK JP"/>
                <a:cs typeface="Noto Sans CJK JP"/>
              </a:rPr>
              <a:t>。</a:t>
            </a:r>
            <a:endParaRPr sz="2000" lang="ja-JP"/>
          </a:p>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CNN / Daily Mailは2015年に公開された。</a:t>
            </a:r>
            <a:endParaRPr sz="2200" lang="ja-JP"/>
          </a:p>
          <a:p>
            <a:pPr lvl="1" algn="l" marL="482600" indent="-127000">
              <a:lnSpc>
                <a:spcPct val="113000"/>
              </a:lnSpc>
              <a:spcBef>
                <a:spcPts val="0"/>
              </a:spcBef>
              <a:spcAft>
                <a:spcPts val="600"/>
              </a:spcAft>
              <a:defRPr sz="2000">
                <a:latin typeface="Noto Sans CJK JP"/>
              </a:defRPr>
              <a:buChar char="○"/>
            </a:pPr>
            <a:r>
              <a:rPr sz="2000" b="0" lang="ja-JP">
                <a:solidFill>
                  <a:srgbClr val="303437"/>
                </a:solidFill>
                <a:latin typeface="Noto Sans CJK JP"/>
                <a:ea typeface="Noto Sans CJK JP"/>
                <a:cs typeface="Noto Sans CJK JP"/>
              </a:rPr>
              <a:t>ニュースの要約の固有表現を伏せて質問を自動生成する。SQuADでは人が質問を書き、回答は任意の連続範囲を認める </a:t>
            </a:r>
            <a:r>
              <a:rPr sz="2000" b="0" lang="ja-JP">
                <a:solidFill>
                  <a:srgbClr val="303437"/>
                </a:solidFill>
                <a:latin typeface="Noto Sans CJK JP"/>
                <a:ea typeface="Noto Sans CJK JP"/>
                <a:cs typeface="Noto Sans CJK JP"/>
              </a:rPr>
              <a:t>[2]</a:t>
            </a:r>
            <a:r>
              <a:rPr sz="2000" b="0" lang="ja-JP">
                <a:solidFill>
                  <a:srgbClr val="303437"/>
                </a:solidFill>
                <a:latin typeface="Noto Sans CJK JP"/>
                <a:ea typeface="Noto Sans CJK JP"/>
                <a:cs typeface="Noto Sans CJK JP"/>
              </a:rPr>
              <a:t>。</a:t>
            </a:r>
            <a:endParaRPr sz="20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Richardson et al. (2013) https://aclanthology.org/D13-1020/</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Hermann et al. (2015) https://github.com/deepmind/rc-data</a:t>
            </a:r>
            <a:endParaRPr sz="85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後続データセットでは入力と質問が広がった</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周辺データセット</a:t>
            </a:r>
            <a:endParaRPr sz="1400" lang="ja-JP"/>
          </a:p>
        </p:txBody>
      </p:sp>
      <p:sp>
        <p:nvSpPr>
          <p:cNvPr id="4" name="content-text"/>
          <p:cNvSpPr txBox="1"/>
          <p:nvPr/>
        </p:nvSpPr>
        <p:spPr>
          <a:xfrm>
            <a:off x="594360" y="1491615"/>
            <a:ext cx="8046720" cy="298323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HotpotQAは2018年に公開された。</a:t>
            </a:r>
            <a:endParaRPr sz="2200" lang="ja-JP"/>
          </a:p>
          <a:p>
            <a:pPr lvl="1" algn="l" marL="482600" indent="-127000">
              <a:lnSpc>
                <a:spcPct val="113000"/>
              </a:lnSpc>
              <a:spcBef>
                <a:spcPts val="0"/>
              </a:spcBef>
              <a:spcAft>
                <a:spcPts val="1200"/>
              </a:spcAft>
              <a:defRPr sz="2000">
                <a:latin typeface="Noto Sans CJK JP"/>
              </a:defRPr>
              <a:buChar char="○"/>
            </a:pPr>
            <a:r>
              <a:rPr sz="2000" b="0" lang="ja-JP">
                <a:solidFill>
                  <a:srgbClr val="303437"/>
                </a:solidFill>
                <a:latin typeface="Noto Sans CJK JP"/>
                <a:ea typeface="Noto Sans CJK JP"/>
                <a:cs typeface="Noto Sans CJK JP"/>
              </a:rPr>
              <a:t>複数のWikipedia記事にまたがる推論と、根拠文の特定を扱う。SQuADの1段落の読解より、文書間の情報を組み合わせる </a:t>
            </a:r>
            <a:r>
              <a:rPr sz="2000" b="0" lang="ja-JP">
                <a:solidFill>
                  <a:srgbClr val="303437"/>
                </a:solidFill>
                <a:latin typeface="Noto Sans CJK JP"/>
                <a:ea typeface="Noto Sans CJK JP"/>
                <a:cs typeface="Noto Sans CJK JP"/>
              </a:rPr>
              <a:t>[1]</a:t>
            </a:r>
            <a:r>
              <a:rPr sz="2000" b="0" lang="ja-JP">
                <a:solidFill>
                  <a:srgbClr val="303437"/>
                </a:solidFill>
                <a:latin typeface="Noto Sans CJK JP"/>
                <a:ea typeface="Noto Sans CJK JP"/>
                <a:cs typeface="Noto Sans CJK JP"/>
              </a:rPr>
              <a:t>。</a:t>
            </a:r>
            <a:endParaRPr sz="2000" lang="ja-JP"/>
          </a:p>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Natural Questionsは2019年に公開された。</a:t>
            </a:r>
            <a:endParaRPr sz="2200" lang="ja-JP"/>
          </a:p>
          <a:p>
            <a:pPr lvl="1" algn="l" marL="482600" indent="-127000">
              <a:lnSpc>
                <a:spcPct val="113000"/>
              </a:lnSpc>
              <a:spcBef>
                <a:spcPts val="0"/>
              </a:spcBef>
              <a:spcAft>
                <a:spcPts val="600"/>
              </a:spcAft>
              <a:defRPr sz="2000">
                <a:latin typeface="Noto Sans CJK JP"/>
              </a:defRPr>
              <a:buChar char="○"/>
            </a:pPr>
            <a:r>
              <a:rPr sz="2000" b="0" lang="ja-JP">
                <a:solidFill>
                  <a:srgbClr val="303437"/>
                </a:solidFill>
                <a:latin typeface="Noto Sans CJK JP"/>
                <a:ea typeface="Noto Sans CJK JP"/>
                <a:cs typeface="Noto Sans CJK JP"/>
              </a:rPr>
              <a:t>Googleの検索質問とWikipediaページを使う。SQuADと異なり、長い回答と短い回答を指定する </a:t>
            </a:r>
            <a:r>
              <a:rPr sz="2000" b="0" lang="ja-JP">
                <a:solidFill>
                  <a:srgbClr val="303437"/>
                </a:solidFill>
                <a:latin typeface="Noto Sans CJK JP"/>
                <a:ea typeface="Noto Sans CJK JP"/>
                <a:cs typeface="Noto Sans CJK JP"/>
              </a:rPr>
              <a:t>[2]</a:t>
            </a:r>
            <a:r>
              <a:rPr sz="2000" b="0" lang="ja-JP">
                <a:solidFill>
                  <a:srgbClr val="303437"/>
                </a:solidFill>
                <a:latin typeface="Noto Sans CJK JP"/>
                <a:ea typeface="Noto Sans CJK JP"/>
                <a:cs typeface="Noto Sans CJK JP"/>
              </a:rPr>
              <a:t>。</a:t>
            </a:r>
            <a:endParaRPr sz="20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Yang et al. (2018) https://github.com/hotpotqa/hotpot</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Kwiatkowski et al. (2019) https://github.com/google-research-datasets/natural-questions</a:t>
            </a:r>
            <a:endParaRPr sz="85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発表当時と2026年時点の位置付け</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sp>
        <p:nvSpPr>
          <p:cNvPr id="4" name="content-text"/>
          <p:cNvSpPr txBox="1"/>
          <p:nvPr/>
        </p:nvSpPr>
        <p:spPr>
          <a:xfrm>
            <a:off x="594360" y="1465897"/>
            <a:ext cx="8046720" cy="3137535"/>
          </a:xfrm>
          <a:prstGeom prst="rect">
            <a:avLst/>
          </a:prstGeom>
          <a:noFill/>
        </p:spPr>
        <p:txBody>
          <a:bodyPr wrap="square" anchor="t" lIns="0" rIns="0" tIns="0" bIns="0">
            <a:noAutofit/>
          </a:bodyPr>
          <a:lstStyle/>
          <a:p>
            <a:pPr algn="l" marL="203200" indent="-152400">
              <a:lnSpc>
                <a:spcPct val="110000"/>
              </a:lnSpc>
              <a:spcBef>
                <a:spcPts val="0"/>
              </a:spcBef>
              <a:defRPr sz="2100">
                <a:latin typeface="Noto Sans CJK JP"/>
              </a:defRPr>
              <a:spcAft>
                <a:spcPts val="600"/>
              </a:spcAft>
              <a:buChar char="•"/>
            </a:pPr>
            <a:r>
              <a:rPr sz="2100" lang="ja-JP">
                <a:solidFill>
                  <a:srgbClr val="303437"/>
                </a:solidFill>
                <a:latin typeface="Noto Sans CJK JP"/>
                <a:ea typeface="Noto Sans CJK JP"/>
              </a:rPr>
              <a:t>SQuADは、生成型言語モデルの読解評価にも使われている。</a:t>
            </a:r>
            <a:endParaRPr sz="2200" lang="ja-JP"/>
            <a:endParaRPr sz="2100"/>
          </a:p>
          <a:p>
            <a:pPr algn="l" marL="203200" indent="-152400">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2026年も、SQuAD 2.0の評価実装が公開されている </a:t>
            </a:r>
            <a:r>
              <a:rPr sz="2100" lang="ja-JP">
                <a:solidFill>
                  <a:srgbClr val="303437"/>
                </a:solidFill>
                <a:latin typeface="Noto Sans CJK JP"/>
                <a:ea typeface="Noto Sans CJK JP"/>
              </a:rPr>
              <a:t>[1]</a:t>
            </a:r>
            <a:r>
              <a:rPr sz="2100" lang="ja-JP">
                <a:solidFill>
                  <a:srgbClr val="303437"/>
                </a:solidFill>
                <a:latin typeface="Noto Sans CJK JP"/>
                <a:ea typeface="Noto Sans CJK JP"/>
              </a:rPr>
              <a:t>。</a:t>
            </a:r>
            <a:endParaRPr sz="2100"/>
          </a:p>
          <a:p>
            <a:pPr algn="l" marL="203200" indent="-152400">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一方、長文を扱うLongBench v2が2024年に登場した </a:t>
            </a:r>
            <a:r>
              <a:rPr sz="2100" lang="ja-JP">
                <a:solidFill>
                  <a:srgbClr val="303437"/>
                </a:solidFill>
                <a:latin typeface="Noto Sans CJK JP"/>
                <a:ea typeface="Noto Sans CJK JP"/>
              </a:rPr>
              <a:t>[2]</a:t>
            </a:r>
            <a:r>
              <a:rPr sz="2100" lang="ja-JP">
                <a:solidFill>
                  <a:srgbClr val="303437"/>
                </a:solidFill>
                <a:latin typeface="Noto Sans CJK JP"/>
                <a:ea typeface="Noto Sans CJK JP"/>
              </a:rPr>
              <a:t>。</a:t>
            </a:r>
            <a:endParaRPr sz="2100"/>
          </a:p>
          <a:p>
            <a:pPr algn="l" lvl="1" marL="482600" indent="-127000">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8千〜200万語の文脈から選択肢を選ぶ。短い段落から回答範囲を抽出するSQuADとは、文脈長と回答形式が異なる。</a:t>
            </a:r>
            <a:endParaRPr sz="2100"/>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Hugging Face Evaluate, SQuAD 2.0. https://github.com/huggingface/evaluate/blob/main/metrics/squad_v2/squad_v2.py</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LongBench v2. https://github.com/THUDM/LongBench</a:t>
            </a:r>
            <a:endParaRPr sz="85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5 入手方法とまとめ</a:t>
            </a:r>
            <a:endParaRPr sz="4000"/>
            <a:endParaRPr sz="4000"/>
            <a:endParaRPr sz="4000"/>
          </a:p>
        </p:txBody>
      </p:sp>
      <p:sp>
        <p:nvSpPr>
          <p:cNvPr id="3" name="Title 2"/>
          <p:cNvSpPr>
            <a:spLocks noGrp="1"/>
          </p:cNvSpPr>
          <p:nvPr>
            <p:ph type="title" idx="2"/>
          </p:nvPr>
        </p:nvSpPr>
        <p:spPr/>
        <p:txBody>
          <a:bodyPr/>
          <a:lstStyle/>
          <a:p>
            <a:p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の入手方法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利用と入手</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公式サイトからJSONをダウンロードできる </a:t>
            </a:r>
            <a:r>
              <a:rPr sz="2300" b="0" lang="ja-JP">
                <a:solidFill>
                  <a:srgbClr val="303437"/>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学習用 train と開発用 dev をバージョンごとに配布。</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Hugging Face Datasetsからも取得できる </a:t>
            </a:r>
            <a:r>
              <a:rPr sz="2300" b="0" lang="ja-JP">
                <a:solidFill>
                  <a:srgbClr val="303437"/>
                </a:solidFill>
                <a:latin typeface="Noto Sans CJK JP"/>
                <a:ea typeface="Noto Sans CJK JP"/>
                <a:cs typeface="Noto Sans CJK JP"/>
              </a:rPr>
              <a:t>[2]</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バージョン1.1では、rajpurkar/squadを使う。</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バージョン2.0では、rajpurkar/squad_v2を使う。</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データの利用条件はCC BY-SA 4.0。</a:t>
            </a:r>
            <a:endParaRPr sz="2100" lang="ja-JP"/>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https://rajpurkar.github.io/SQuAD-explorer/</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https://huggingface.co/datasets/rajpurkar/squad / https://huggingface.co/datasets/rajpurkar/squad_v2</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[3]</a:t>
            </a:r>
            <a:r>
              <a:rPr sz="850" lang="ja-JP">
                <a:solidFill>
                  <a:srgbClr val="626669"/>
                </a:solidFill>
                <a:latin typeface="Noto Sans CJK JP"/>
                <a:ea typeface="Noto Sans CJK JP"/>
              </a:rPr>
              <a:t> https://creativecommons.org/licenses/by-sa/4.0/</a:t>
            </a:r>
            <a:endParaRPr sz="85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まとめ</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まとめ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SQuADは、英語の読解型質問応答データセット </a:t>
            </a:r>
            <a:r>
              <a:rPr sz="2200" b="0" lang="ja-JP">
                <a:solidFill>
                  <a:srgbClr val="303437"/>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Wikipediaの段落から、質問の答えとなる範囲を選ぶ。</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人手作成の質問を大規模に評価するため、2016年に発表。</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バージョン1.1では、回答可能な質問の答えを抽出。</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バージョン2.0では、回答不能な質問と回答保留を追加 </a:t>
            </a:r>
            <a:r>
              <a:rPr sz="2200" b="0" lang="ja-JP">
                <a:solidFill>
                  <a:srgbClr val="303437"/>
                </a:solidFill>
                <a:latin typeface="Noto Sans CJK JP"/>
                <a:ea typeface="Noto Sans CJK JP"/>
                <a:cs typeface="Noto Sans CJK JP"/>
              </a:rPr>
              <a:t>[2]</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EM・F1で評価。LLMにも利用され、評価条件の確認が必要。</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初版は https://aclanthology.org/D16-1264/  バージョン2 https://aclanthology.org/P18-2124/</a:t>
            </a:r>
            <a:endParaRPr sz="85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Appendixの目次</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defRPr sz="1400">
                <a:latin typeface="Noto Sans CJK JP"/>
              </a:defRPr>
              <a:buNone/>
            </a:pPr>
            <a:r>
              <a:rPr sz="1400" lang="ja-JP">
                <a:solidFill>
                  <a:srgbClr val="FFFEF8"/>
                </a:solidFill>
                <a:latin typeface="Noto Sans CJK JP"/>
                <a:ea typeface="Noto Sans CJK JP"/>
              </a:rPr>
              <a:t>Appendix: 補足資料の構成</a:t>
            </a:r>
            <a:endParaRPr sz="1400"/>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482600">
              <a:lnSpc>
                <a:spcPct val="110000"/>
              </a:lnSpc>
              <a:spcBef>
                <a:spcPts val="0"/>
              </a:spcBef>
              <a:defRPr sz="2500" lang="ja-JP">
                <a:latin typeface="Noto Sans CJK JP"/>
                <a:ea typeface="Noto Sans CJK JP"/>
                <a:cs typeface="Noto Sans CJK JP"/>
              </a:defRPr>
              <a:spcAft>
                <a:spcPts val="800"/>
              </a:spcAft>
              <a:buAutoNum type="arabicPeriod" startAt="1"/>
            </a:pPr>
            <a:r>
              <a:rPr sz="2500" lang="ja-JP">
                <a:solidFill>
                  <a:srgbClr val="303437"/>
                </a:solidFill>
                <a:latin typeface="Noto Sans CJK JP"/>
                <a:ea typeface="Noto Sans CJK JP"/>
                <a:cs typeface="Noto Sans CJK JP"/>
              </a:rPr>
              <a:t>著者と発表先</a:t>
            </a:r>
            <a:endParaRPr sz="2500" lang="ja-JP"/>
          </a:p>
          <a:p>
            <a:pPr algn="l" marL="533400" indent="-482600">
              <a:lnSpc>
                <a:spcPct val="110000"/>
              </a:lnSpc>
              <a:spcBef>
                <a:spcPts val="0"/>
              </a:spcBef>
              <a:defRPr sz="2500" lang="ja-JP">
                <a:latin typeface="Noto Sans CJK JP"/>
                <a:ea typeface="Noto Sans CJK JP"/>
                <a:cs typeface="Noto Sans CJK JP"/>
              </a:defRPr>
              <a:spcAft>
                <a:spcPts val="800"/>
              </a:spcAft>
              <a:buAutoNum type="arabicPeriod" startAt="2"/>
            </a:pPr>
            <a:r>
              <a:rPr sz="2500" lang="ja-JP">
                <a:solidFill>
                  <a:srgbClr val="303437"/>
                </a:solidFill>
                <a:latin typeface="Noto Sans CJK JP"/>
                <a:ea typeface="Noto Sans CJK JP"/>
                <a:cs typeface="Noto Sans CJK JP"/>
              </a:rPr>
              <a:t>追加の実例</a:t>
            </a:r>
            <a:endParaRPr sz="2500" lang="ja-JP"/>
          </a:p>
          <a:p>
            <a:pPr algn="l" marL="533400" indent="-482600">
              <a:lnSpc>
                <a:spcPct val="110000"/>
              </a:lnSpc>
              <a:spcBef>
                <a:spcPts val="0"/>
              </a:spcBef>
              <a:defRPr sz="2500" lang="ja-JP">
                <a:latin typeface="Noto Sans CJK JP"/>
                <a:ea typeface="Noto Sans CJK JP"/>
                <a:cs typeface="Noto Sans CJK JP"/>
              </a:defRPr>
              <a:spcAft>
                <a:spcPts val="800"/>
              </a:spcAft>
              <a:buAutoNum type="arabicPeriod" startAt="3"/>
            </a:pPr>
            <a:r>
              <a:rPr sz="2500" lang="ja-JP">
                <a:solidFill>
                  <a:srgbClr val="303437"/>
                </a:solidFill>
                <a:latin typeface="Noto Sans CJK JP"/>
                <a:ea typeface="Noto Sans CJK JP"/>
                <a:cs typeface="Noto Sans CJK JP"/>
              </a:rPr>
              <a:t>詳細統計と極値</a:t>
            </a:r>
            <a:endParaRPr sz="2500" lang="ja-JP"/>
          </a:p>
          <a:p>
            <a:pPr algn="l" marL="533400" indent="-482600">
              <a:lnSpc>
                <a:spcPct val="110000"/>
              </a:lnSpc>
              <a:spcBef>
                <a:spcPts val="0"/>
              </a:spcBef>
              <a:defRPr sz="2500" lang="ja-JP">
                <a:latin typeface="Noto Sans CJK JP"/>
                <a:ea typeface="Noto Sans CJK JP"/>
                <a:cs typeface="Noto Sans CJK JP"/>
              </a:defRPr>
              <a:spcAft>
                <a:spcPts val="800"/>
              </a:spcAft>
              <a:buAutoNum type="arabicPeriod" startAt="4"/>
            </a:pPr>
            <a:r>
              <a:rPr sz="2500" lang="ja-JP">
                <a:solidFill>
                  <a:srgbClr val="303437"/>
                </a:solidFill>
                <a:latin typeface="Noto Sans CJK JP"/>
                <a:ea typeface="Noto Sans CJK JP"/>
                <a:cs typeface="Noto Sans CJK JP"/>
              </a:rPr>
              <a:t>追加の評価結果</a:t>
            </a:r>
            <a:endParaRPr sz="2500" lang="ja-JP"/>
          </a:p>
          <a:p>
            <a:pPr algn="l" marL="533400" indent="-482600">
              <a:lnSpc>
                <a:spcPct val="110000"/>
              </a:lnSpc>
              <a:spcBef>
                <a:spcPts val="0"/>
              </a:spcBef>
              <a:defRPr sz="2500" lang="ja-JP">
                <a:latin typeface="Noto Sans CJK JP"/>
                <a:ea typeface="Noto Sans CJK JP"/>
                <a:cs typeface="Noto Sans CJK JP"/>
              </a:defRPr>
              <a:spcAft>
                <a:spcPts val="800"/>
              </a:spcAft>
              <a:buAutoNum type="arabicPeriod" startAt="5"/>
            </a:pPr>
            <a:r>
              <a:rPr sz="2500" lang="ja-JP">
                <a:solidFill>
                  <a:srgbClr val="303437"/>
                </a:solidFill>
                <a:latin typeface="Noto Sans CJK JP"/>
                <a:ea typeface="Noto Sans CJK JP"/>
                <a:cs typeface="Noto Sans CJK JP"/>
              </a:rPr>
              <a:t>Wikipedia記事一覧</a:t>
            </a:r>
            <a:endParaRPr sz="2500" lang="ja-JP"/>
          </a:p>
          <a:p>
            <a:pPr algn="l" marL="533400" indent="-482600">
              <a:lnSpc>
                <a:spcPct val="110000"/>
              </a:lnSpc>
              <a:spcBef>
                <a:spcPts val="0"/>
              </a:spcBef>
              <a:defRPr sz="2500" lang="ja-JP">
                <a:latin typeface="Noto Sans CJK JP"/>
                <a:ea typeface="Noto Sans CJK JP"/>
                <a:cs typeface="Noto Sans CJK JP"/>
              </a:defRPr>
              <a:spcAft>
                <a:spcPts val="800"/>
              </a:spcAft>
              <a:buAutoNum type="arabicPeriod" startAt="6"/>
            </a:pPr>
            <a:r>
              <a:rPr sz="2500" lang="ja-JP">
                <a:solidFill>
                  <a:srgbClr val="303437"/>
                </a:solidFill>
                <a:latin typeface="Noto Sans CJK JP"/>
                <a:ea typeface="Noto Sans CJK JP"/>
                <a:cs typeface="Noto Sans CJK JP"/>
              </a:rPr>
              <a:t>入手コードと参考文献</a:t>
            </a:r>
            <a:endParaRPr sz="2500" lang="ja-JP"/>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発表先と著者</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1 著者と発表先</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defRPr sz="2100">
                <a:latin typeface="Noto Sans CJK JP"/>
              </a:defRPr>
              <a:lnSpc>
                <a:spcPct val="110000"/>
              </a:lnSpc>
              <a:spcBef>
                <a:spcPts val="0"/>
              </a:spcBef>
              <a:spcAft>
                <a:spcPts val="500"/>
              </a:spcAft>
              <a:buChar char="•"/>
            </a:pPr>
            <a:r>
              <a:rPr sz="2100" lang="ja-JP">
                <a:solidFill>
                  <a:srgbClr val="303437"/>
                </a:solidFill>
                <a:latin typeface="Noto Sans CJK JP"/>
                <a:ea typeface="Noto Sans CJK JP"/>
              </a:rPr>
              <a:t>初版はPranav RajpurkarらがEMNLP 2016で発表した </a:t>
            </a:r>
            <a:r>
              <a:rPr sz="2100" lang="ja-JP">
                <a:solidFill>
                  <a:srgbClr val="303437"/>
                </a:solidFill>
                <a:latin typeface="Noto Sans CJK JP"/>
                <a:ea typeface="Noto Sans CJK JP"/>
              </a:rPr>
              <a:t>[1]</a:t>
            </a:r>
            <a:r>
              <a:rPr sz="2100" lang="ja-JP">
                <a:solidFill>
                  <a:srgbClr val="303437"/>
                </a:solidFill>
                <a:latin typeface="Noto Sans CJK JP"/>
                <a:ea typeface="Noto Sans CJK JP"/>
              </a:rPr>
              <a:t>。</a:t>
            </a:r>
            <a:endParaRPr sz="2200" lang="ja-JP"/>
            <a:endParaRPr sz="2100"/>
            <a:endParaRPr sz="2100"/>
          </a:p>
          <a:p>
            <a:pPr algn="l" marL="203200" indent="-152400">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バージョン2は、2018年のACLで発表された </a:t>
            </a:r>
            <a:r>
              <a:rPr sz="2100" lang="ja-JP">
                <a:solidFill>
                  <a:srgbClr val="303437"/>
                </a:solidFill>
                <a:latin typeface="Noto Sans CJK JP"/>
                <a:ea typeface="Noto Sans CJK JP"/>
              </a:rPr>
              <a:t>[2]</a:t>
            </a:r>
            <a:r>
              <a:rPr sz="2100" lang="ja-JP">
                <a:solidFill>
                  <a:srgbClr val="303437"/>
                </a:solidFill>
                <a:latin typeface="Noto Sans CJK JP"/>
                <a:ea typeface="Noto Sans CJK JP"/>
              </a:rPr>
              <a:t>。</a:t>
            </a:r>
            <a:endParaRPr sz="2100"/>
          </a:p>
          <a:p>
            <a:pPr algn="l" marL="203200" indent="-152400">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両論文の第一著者はPranav Rajpurkar、最終著者はPercy Liangである。</a:t>
            </a:r>
            <a:endParaRPr sz="2100"/>
          </a:p>
          <a:p>
            <a:pPr algn="l" marL="203200" indent="-152400">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2026年に初版がACL Test of Time Awardを受賞した </a:t>
            </a:r>
            <a:r>
              <a:rPr sz="2100" lang="ja-JP">
                <a:solidFill>
                  <a:srgbClr val="303437"/>
                </a:solidFill>
                <a:latin typeface="Noto Sans CJK JP"/>
                <a:ea typeface="Noto Sans CJK JP"/>
              </a:rPr>
              <a:t>[1]</a:t>
            </a:r>
            <a:r>
              <a:rPr sz="2100" lang="ja-JP">
                <a:solidFill>
                  <a:srgbClr val="303437"/>
                </a:solidFill>
                <a:latin typeface="Noto Sans CJK JP"/>
                <a:ea typeface="Noto Sans CJK JP"/>
              </a:rPr>
              <a:t>。</a:t>
            </a:r>
            <a:endParaRPr sz="2100"/>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EMNLP 2016　https://aclanthology.org/D16-1264/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ACL 2018 Short Papers　https://aclanthology.org/P18-2124/</a:t>
            </a:r>
            <a:endParaRPr sz="85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主な著者の研究分野と実績</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1 著者と発表先</a:t>
            </a:r>
            <a:endParaRPr sz="1400" lang="ja-JP"/>
            <a:endParaRPr sz="1400"/>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0000"/>
              </a:lnSpc>
              <a:spcBef>
                <a:spcPts val="0"/>
              </a:spcBef>
              <a:defRPr sz="2000">
                <a:latin typeface="Noto Sans CJK JP"/>
              </a:defRPr>
              <a:spcAft>
                <a:spcPts val="500"/>
              </a:spcAft>
              <a:buChar char="•"/>
            </a:pPr>
            <a:r>
              <a:rPr sz="2000" lang="ja-JP">
                <a:solidFill>
                  <a:srgbClr val="303437"/>
                </a:solidFill>
                <a:latin typeface="Noto Sans CJK JP"/>
                <a:ea typeface="Noto Sans CJK JP"/>
              </a:rPr>
              <a:t>第一著者のPranav Rajpurkarは、読解型QAと医療AIを研究している </a:t>
            </a:r>
            <a:r>
              <a:rPr sz="2000" lang="ja-JP">
                <a:solidFill>
                  <a:srgbClr val="303437"/>
                </a:solidFill>
                <a:latin typeface="Noto Sans CJK JP"/>
                <a:ea typeface="Noto Sans CJK JP"/>
              </a:rPr>
              <a:t>[1,2]</a:t>
            </a:r>
            <a:r>
              <a:rPr sz="2000" lang="ja-JP">
                <a:solidFill>
                  <a:srgbClr val="303437"/>
                </a:solidFill>
                <a:latin typeface="Noto Sans CJK JP"/>
                <a:ea typeface="Noto Sans CJK JP"/>
              </a:rPr>
              <a:t>。</a:t>
            </a:r>
            <a:endParaRPr sz="2200" lang="ja-JP"/>
            <a:endParaRPr sz="2000"/>
          </a:p>
          <a:p>
            <a:pPr algn="l" marL="203200" indent="-1524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SQuADと、胸部X線のデータセットCheXpertに貢献した（2019年） </a:t>
            </a:r>
            <a:r>
              <a:rPr sz="2000" lang="ja-JP">
                <a:solidFill>
                  <a:srgbClr val="303437"/>
                </a:solidFill>
                <a:latin typeface="Noto Sans CJK JP"/>
                <a:ea typeface="Noto Sans CJK JP"/>
              </a:rPr>
              <a:t>[5]</a:t>
            </a:r>
            <a:r>
              <a:rPr sz="2000" lang="ja-JP">
                <a:solidFill>
                  <a:srgbClr val="303437"/>
                </a:solidFill>
                <a:latin typeface="Noto Sans CJK JP"/>
                <a:ea typeface="Noto Sans CJK JP"/>
              </a:rPr>
              <a:t>。</a:t>
            </a:r>
            <a:endParaRPr sz="2000"/>
          </a:p>
          <a:p>
            <a:pPr algn="l" marL="203200" indent="-1524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最終著者のPercy Liangは、自然言語処理・機械学習を研究している。</a:t>
            </a:r>
            <a:endParaRPr sz="2000"/>
          </a:p>
          <a:p>
            <a:pPr algn="l" marL="203200" indent="-1524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SQuADと、言語モデルを幅広く評価するHELMに取り組んだ </a:t>
            </a:r>
            <a:r>
              <a:rPr sz="2000" lang="ja-JP">
                <a:solidFill>
                  <a:srgbClr val="303437"/>
                </a:solidFill>
                <a:latin typeface="Noto Sans CJK JP"/>
                <a:ea typeface="Noto Sans CJK JP"/>
              </a:rPr>
              <a:t>[3]</a:t>
            </a:r>
            <a:r>
              <a:rPr sz="2000" lang="ja-JP">
                <a:solidFill>
                  <a:srgbClr val="303437"/>
                </a:solidFill>
                <a:latin typeface="Noto Sans CJK JP"/>
                <a:ea typeface="Noto Sans CJK JP"/>
              </a:rPr>
              <a:t>。</a:t>
            </a:r>
            <a:endParaRPr sz="2000"/>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https://aclanthology.org/D16-1264/  </a:t>
            </a:r>
            <a:r>
              <a:rPr sz="850" lang="ja-JP">
                <a:solidFill>
                  <a:srgbClr val="626669"/>
                </a:solidFill>
                <a:latin typeface="Noto Sans CJK JP"/>
                <a:ea typeface="Noto Sans CJK JP"/>
              </a:rPr>
              <a:t>[2]</a:t>
            </a:r>
            <a:r>
              <a:rPr sz="850" lang="ja-JP">
                <a:solidFill>
                  <a:srgbClr val="626669"/>
                </a:solidFill>
                <a:latin typeface="Noto Sans CJK JP"/>
                <a:ea typeface="Noto Sans CJK JP"/>
              </a:rPr>
              <a:t> https://aclanthology.org/P18-2124/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[3]</a:t>
            </a:r>
            <a:r>
              <a:rPr sz="850" lang="ja-JP">
                <a:solidFill>
                  <a:srgbClr val="626669"/>
                </a:solidFill>
                <a:latin typeface="Noto Sans CJK JP"/>
                <a:ea typeface="Noto Sans CJK JP"/>
              </a:rPr>
              <a:t> https://github.com/stanford-crfm/helm</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[5]</a:t>
            </a:r>
            <a:r>
              <a:rPr sz="850" lang="ja-JP">
                <a:solidFill>
                  <a:srgbClr val="626669"/>
                </a:solidFill>
                <a:latin typeface="Noto Sans CJK JP"/>
                <a:ea typeface="Noto Sans CJK JP"/>
              </a:rPr>
              <a:t> https://github.com/stanfordmlgroup/chexpert-labeler</a:t>
            </a:r>
            <a:endParaRPr sz="85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補足実例1 Apollo program</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first manned flight of Apollo was in </a:t>
            </a:r>
            <a:r>
              <a:rPr sz="1800" b="1" lang="ja-JP">
                <a:solidFill>
                  <a:srgbClr val="B13731"/>
                </a:solidFill>
                <a:latin typeface="Liberation Sans"/>
                <a:ea typeface="Liberation Sans"/>
                <a:cs typeface="Liberation Sans"/>
              </a:rPr>
              <a:t>1968</a:t>
            </a:r>
            <a:r>
              <a:rPr sz="1800" b="0" lang="ja-JP">
                <a:solidFill>
                  <a:srgbClr val="303437"/>
                </a:solidFill>
                <a:latin typeface="Liberation Sans"/>
                <a:ea typeface="Liberation Sans"/>
                <a:cs typeface="Liberation Sans"/>
              </a:rPr>
              <a:t>.</a:t>
            </a:r>
            <a:endParaRPr sz="1800" lang="ja-JP"/>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year did the first manned Apollo flight occur?</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アポロ計画の最初の有人飛行が行われたのは何年か？</a:t>
            </a:r>
            <a:endParaRPr sz="1700" lang="ja-JP"/>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1968</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Apollo_program　https://rajpurkar.github.io/SQuAD-explorer/dataset/dev-v1.1.json（CC BY-SA 4.0／抜粋・強調・質問訳を追加）　ID 5725b41838643c19005acb81</a:t>
            </a:r>
            <a:endParaRPr sz="85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補足実例2 Amazon rainforest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This region includes territory belonging to </a:t>
            </a:r>
            <a:r>
              <a:rPr sz="1800" b="1" lang="ja-JP">
                <a:solidFill>
                  <a:srgbClr val="B13731"/>
                </a:solidFill>
                <a:latin typeface="Liberation Sans"/>
                <a:ea typeface="Liberation Sans"/>
                <a:cs typeface="Liberation Sans"/>
              </a:rPr>
              <a:t>nine nations</a:t>
            </a:r>
            <a:r>
              <a:rPr sz="1800" b="0" lang="ja-JP">
                <a:solidFill>
                  <a:srgbClr val="303437"/>
                </a:solidFill>
                <a:latin typeface="Liberation Sans"/>
                <a:ea typeface="Liberation Sans"/>
                <a:cs typeface="Liberation Sans"/>
              </a:rPr>
              <a:t>. The majority of the forest is contained within Brazil, with 60% of the rainforest, followed by Peru with 13%, Colombia with 10%, and with minor amounts in Venezuela, Ecuador, Bolivia, Guyana, Suriname and French Guiana.</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How many nations are within the Amazon Basin?</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アマゾン盆地には何か国が含まれるか？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nine nations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Amazon_rainforest　https://rajpurkar.github.io/SQuAD-explorer/dataset/dev-v1.1.json（CC BY-SA 4.0／抜粋・強調・質問訳を追加）　ID 5729e2316aef0514001550c6</a:t>
            </a:r>
            <a:endParaRPr sz="85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補足実例3 Prime number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A prime number (or a prime) is a natural number greater than 1 that has no positive divisors other than 1 and </a:t>
            </a:r>
            <a:r>
              <a:rPr sz="1800" b="1" lang="ja-JP">
                <a:solidFill>
                  <a:srgbClr val="B13731"/>
                </a:solidFill>
                <a:latin typeface="Liberation Sans"/>
                <a:ea typeface="Liberation Sans"/>
                <a:cs typeface="Liberation Sans"/>
              </a:rPr>
              <a:t>itself</a:t>
            </a:r>
            <a:r>
              <a:rPr sz="1800" b="0" lang="ja-JP">
                <a:solidFill>
                  <a:srgbClr val="303437"/>
                </a:solidFill>
                <a:latin typeface="Liberation Sans"/>
                <a:ea typeface="Liberation Sans"/>
                <a:cs typeface="Liberation Sans"/>
              </a:rPr>
              <a:t>. A natural number greater than 1 that is not a prime number is called a composite number.</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is the only divisor besides 1 that a prime number can have?</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素数が1以外に持つことのできる約数は何か？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itself</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Prime_number　https://rajpurkar.github.io/SQuAD-explorer/dataset/dev-v1.1.json（CC BY-SA 4.0／抜粋・強調・質問訳を追加）　ID 57296d571d04691400779413</a:t>
            </a:r>
            <a:endParaRPr sz="85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補足実例4 Black Death</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Spreading throughout the Mediterranean and Europe, the Black Death is estimated to have killed </a:t>
            </a:r>
            <a:r>
              <a:rPr sz="1800" b="1" lang="ja-JP">
                <a:solidFill>
                  <a:srgbClr val="B13731"/>
                </a:solidFill>
                <a:latin typeface="Liberation Sans"/>
                <a:ea typeface="Liberation Sans"/>
                <a:cs typeface="Liberation Sans"/>
              </a:rPr>
              <a:t>30–60% of Europe's total population</a:t>
            </a:r>
            <a:r>
              <a:rPr sz="1800" b="0" lang="ja-JP">
                <a:solidFill>
                  <a:srgbClr val="303437"/>
                </a:solidFill>
                <a:latin typeface="Liberation Sans"/>
                <a:ea typeface="Liberation Sans"/>
                <a:cs typeface="Liberation Sans"/>
              </a:rPr>
              <a:t>. In total, the plague reduced the world population from an estimated 450 million down to 350–375 million in the 14th century.</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How much of the European population did the black death kill?</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黒死病でヨーロッパ人口のどのくらいが死亡したか？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30–60% of Europe's total population</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Black_Death　https://rajpurkar.github.io/SQuAD-explorer/dataset/dev-v1.1.json（CC BY-SA 4.0／抜粋・強調・質問訳を追加）　ID 57264684708984140094c125</a:t>
            </a:r>
            <a:endParaRPr sz="85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補足実例5 Warsaw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Liberation Sans"/>
                <a:ea typeface="Liberation Sans"/>
                <a:cs typeface="Liberation Sans"/>
              </a:rPr>
              <a:t>Nobel Prize</a:t>
            </a:r>
            <a:r>
              <a:rPr sz="1800" b="0" lang="ja-JP">
                <a:solidFill>
                  <a:srgbClr val="303437"/>
                </a:solidFill>
                <a:latin typeface="Liberation Sans"/>
                <a:ea typeface="Liberation Sans"/>
                <a:cs typeface="Liberation Sans"/>
              </a:rPr>
              <a:t>. Famous musicians include Władysław Szpilman and Frédéric Chopin.</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was Maria Curie the first female recipient of?</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マリ・キュリーが女性として初めて受賞した賞は何か？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Nobel Prize</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Warsaw　https://rajpurkar.github.io/SQuAD-explorer/dataset/dev-v1.1.json（CC BY-SA 4.0／抜粋・強調・質問訳を追加）　ID 5733a5f54776f41900660f45</a:t>
            </a:r>
            <a:endParaRPr sz="85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補足実例6 Genghis Khan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After founding </a:t>
            </a:r>
            <a:r>
              <a:rPr sz="1800" b="1" lang="ja-JP">
                <a:solidFill>
                  <a:srgbClr val="B13731"/>
                </a:solidFill>
                <a:latin typeface="Liberation Sans"/>
                <a:ea typeface="Liberation Sans"/>
                <a:cs typeface="Liberation Sans"/>
              </a:rPr>
              <a:t>the Mongol Empire</a:t>
            </a:r>
            <a:r>
              <a:rPr sz="1800" b="0" lang="ja-JP">
                <a:solidFill>
                  <a:srgbClr val="303437"/>
                </a:solidFill>
                <a:latin typeface="Liberation Sans"/>
                <a:ea typeface="Liberation Sans"/>
                <a:cs typeface="Liberation Sans"/>
              </a:rPr>
              <a:t> and being proclaimed "Genghis Khan", he started the Mongol invasions that resulted in the conquest of most of Eurasia. These included raids or invasions of the Qara Khitai, Caucasus, Khwarezmid Empire, Western Xia and Jin dynasties.</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do we call the empire that Genghis Khan founded?</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チンギス・ハンが建てた帝国を何と呼ぶか？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the Mongol Empire</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Genghis_Khan　https://rajpurkar.github.io/SQuAD-explorer/dataset/dev-v1.1.json（CC BY-SA 4.0／抜粋・強調・質問訳を追加）　ID 57269e8a5951b619008f77f5</a:t>
            </a:r>
            <a:endParaRPr sz="85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補足実例7 Chloroplast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Chloroplasts' main role is </a:t>
            </a:r>
            <a:r>
              <a:rPr sz="1800" b="1" lang="ja-JP">
                <a:solidFill>
                  <a:srgbClr val="B13731"/>
                </a:solidFill>
                <a:latin typeface="Liberation Sans"/>
                <a:ea typeface="Liberation Sans"/>
                <a:cs typeface="Liberation Sans"/>
              </a:rPr>
              <a:t>to conduct photosynthesis</a:t>
            </a:r>
            <a:r>
              <a:rPr sz="1800" b="0" lang="ja-JP">
                <a:solidFill>
                  <a:srgbClr val="303437"/>
                </a:solidFill>
                <a:latin typeface="Liberation Sans"/>
                <a:ea typeface="Liberation Sans"/>
                <a:cs typeface="Liberation Sans"/>
              </a:rPr>
              <a:t>, where the photosynthetic pigment chlorophyll captures the energy from sunlight and converts it and stores it in the energy-storage molecules ATP and NADPH while freeing oxygen from water.</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is the primary purpose of chloroplasts?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葉緑体の主な役割は何か？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to conduct photosynthesis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Chloroplast　https://rajpurkar.github.io/SQuAD-explorer/dataset/dev-v1.1.json（CC BY-SA 4.0／抜粋・強調・質問訳を追加）　ID 572953013f37b3190047824d</a:t>
            </a:r>
            <a:endParaRPr sz="85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補足実例8 University of Chicago</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University of Chicago (UChicago, Chicago, or U of C) is </a:t>
            </a:r>
            <a:r>
              <a:rPr sz="1800" b="1" lang="ja-JP">
                <a:solidFill>
                  <a:srgbClr val="B13731"/>
                </a:solidFill>
                <a:latin typeface="Liberation Sans"/>
                <a:ea typeface="Liberation Sans"/>
                <a:cs typeface="Liberation Sans"/>
              </a:rPr>
              <a:t>a private research university</a:t>
            </a:r>
            <a:r>
              <a:rPr sz="1800" b="0" lang="ja-JP">
                <a:solidFill>
                  <a:srgbClr val="303437"/>
                </a:solidFill>
                <a:latin typeface="Liberation Sans"/>
                <a:ea typeface="Liberation Sans"/>
                <a:cs typeface="Liberation Sans"/>
              </a:rPr>
              <a:t> in Chicago. The university, established in 1890, consists of The College, various graduate programs, interdisciplinary committees organized into four academic research divisions and seven professional schools.</a:t>
            </a:r>
            <a:endParaRPr sz="1800" lang="ja-JP"/>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kind of university is the University of Chicago?</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シカゴ大学はどのような種類の大学か？</a:t>
            </a:r>
            <a:endParaRPr sz="1700" lang="ja-JP"/>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a private research university</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University_of_Chicago　https://rajpurkar.github.io/SQuAD-explorer/dataset/dev-v1.1.json（CC BY-SA 4.0／抜粋・強調・質問訳を追加）　ID 57283c464b864d19001647c8</a:t>
            </a:r>
            <a:endParaRPr sz="85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補足実例9 Steam engine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75424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Steam engines are external combustion engines, where the working fluid is separate from the combustion products.</a:t>
            </a:r>
            <a:endParaRPr sz="1800" lang="ja-JP"/>
          </a:p>
        </p:txBody>
      </p:sp>
      <p:sp>
        <p:nvSpPr>
          <p:cNvPr id="7" name="example-question"/>
          <p:cNvSpPr txBox="1"/>
          <p:nvPr/>
        </p:nvSpPr>
        <p:spPr>
          <a:xfrm>
            <a:off x="548640" y="2673237"/>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types of engines are solar engines?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太陽熱機関はどのような種類の機関か？</a:t>
            </a:r>
            <a:endParaRPr sz="1700" lang="ja-JP"/>
          </a:p>
        </p:txBody>
      </p:sp>
      <p:sp>
        <p:nvSpPr>
          <p:cNvPr id="8" name="example-answer"/>
          <p:cNvSpPr txBox="1"/>
          <p:nvPr/>
        </p:nvSpPr>
        <p:spPr>
          <a:xfrm>
            <a:off x="548640" y="3320937"/>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3892437"/>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原文は蒸気機関を説明する。太陽熱機関の種類は書かれていない。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Steam_engine　https://rajpurkar.github.io/SQuAD-explorer/dataset/dev-v2.0.json（CC BY-SA 4.0／抜粋・強調・質問訳を追加）　ID 5ad3bd8f604f3c001a3fef31</a:t>
            </a:r>
            <a:endParaRPr sz="85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補足実例10 Oxygen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Diatomic oxygen gas constitutes 20.8% of the Earth's atmosphere.</a:t>
            </a:r>
            <a:endParaRPr sz="1800" lang="ja-JP"/>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constitutes 28.0% of the Earth's atmosphere?</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地球の大気の28.0%を占めるものは何か？</a:t>
            </a:r>
            <a:endParaRPr sz="1700" lang="ja-JP"/>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35965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原文の割合は20.8%。28.0%に対応する記述はない。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記事名 Oxygen　https://rajpurkar.github.io/SQuAD-explorer/dataset/dev-v2.0.json（CC BY-SA 4.0／抜粋・強調・質問訳を追加）　ID 5ad21646d7d075001a4283c7</a:t>
            </a:r>
            <a:endParaRPr sz="85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バージョン1.1・学習用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87,599件／回答あり 87,599件／回答不能 0件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59.2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71.0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270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239</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43</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バージョン1.1・開発用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10,570件／回答あり 10,570件／回答不能 0件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197</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33</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29</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バージョン2.0・学習用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130,319件／回答あり 86,821件／回答不能 43,498件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58.3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270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9.9</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239</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43</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バージョン2.0・開発用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11,873件／回答あり 5,928件／回答不能 5,945件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59.4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20.8</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71.0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197</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3.5</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31</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20.9</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3.3</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29</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回答長の集計単位 バージョン1.1</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対象・指標 [1]</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件数</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平均</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中央値</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95%点</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最大</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98,169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1問1件・単語</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98,169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122,325</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19.7</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61.0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全正解注釈・単語</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122,325</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833243"/>
            <a:ext cx="8046720" cy="929256"/>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学習用＋開発用を集計。回答不能の質問は除外。</a:t>
            </a:r>
            <a:endParaRPr sz="20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全正解注釈では、同じ質問の複数正解・重複注釈も数える。</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回答長の集計単位 バージョン2.0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対象・指標 [1]</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件数</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平均</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中央値</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95%点</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最大</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92,749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20.2</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1問1件・単語</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92,749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3.2</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107,123</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全正解注釈・単語</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107,123</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833243"/>
            <a:ext cx="8046720" cy="929256"/>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学習用＋開発用を集計。回答不能の質問は除外。</a:t>
            </a:r>
            <a:endParaRPr sz="20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全正解注釈では、同じ質問の複数正解・重複注釈も数える。</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バージョン1.1・train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18896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735.8</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310.0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678.0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1311.0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3706</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18896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49.7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107.0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210.0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653</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バージョン1.1・dev</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2067</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774.3</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342.9</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700.0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1338.0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4063</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2067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122.8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54.8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111.0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213.0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629</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バージョン2.0・train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19035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735.5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309.8</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677.0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1310.3</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3706</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19035</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49.7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107.0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209.0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653</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バージョン2.0・dev</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1204</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802.6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359.6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711.5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1425.9</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4063</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1204</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57.4</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113.0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223.8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629</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1 Age of Enlightenment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質問文字数 270／質問単語数 40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the 18th century</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Age_of_Enlightenment　https://github.com/rajpurkar/SQuAD-explorer/tree/master/dataset　ID 5710dcb5b654c5140001fa10</a:t>
            </a:r>
            <a:endParaRPr sz="85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1 Age of Enlightenment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5710dcb5b654c5140001fa10</a:t>
            </a:r>
            <a:endParaRPr sz="85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2 Sahara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段落文字数 3706／段落単語数 653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is the largest hottest continuously large area worldwide?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the Great Desert</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Sahara　https://github.com/rajpurkar/SQuAD-explorer/tree/master/dataset　ID 5728c4163acd2414000dfddf</a:t>
            </a:r>
            <a:endParaRPr sz="85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2 Sahara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5728c4163acd2414000dfddf</a:t>
            </a:r>
            <a:endParaRPr sz="85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3 2008 Sichuan earthquake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回答文字数 239／回答単語数 43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concluded about the construction?</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that the sudden shift of a huge quantity of water into the region could have relaxed the tension between the two sides of the fault, allowing them to move apart, and could have increased the direct pressure on it, causing a violent rupture</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2008_Sichuan_earthquake　https://github.com/rajpurkar/SQuAD-explorer/tree/master/dataset　ID 56cec3e8aab44d1400b88a02</a:t>
            </a:r>
            <a:endParaRPr sz="85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3 2008 Sichuan earthquake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56cec3e8aab44d1400b88a02</a:t>
            </a:r>
            <a:endParaRPr sz="85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4 Construction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質問文字数 197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kind of contract is given when the contractor is given a performance specification and must undertake the project from design to construction, while adhering to the performance specifications?</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"design build" contract</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Construction　https://github.com/rajpurkar/SQuAD-explorer/tree/master/dataset　ID 57274e0d708984140094dbe8</a:t>
            </a:r>
            <a:endParaRPr sz="85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4 Construction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57274e0d708984140094dbe8</a:t>
            </a:r>
            <a:endParaRPr sz="85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5 Super Bowl 50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質問単語数 33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the name of the event at the The Embarcadero that was held prior to Super Bowl 50 to help show off some of the things that San Francisco has to offer?</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Super Bowl City</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Super_Bowl_50　https://github.com/rajpurkar/SQuAD-explorer/tree/master/dataset　ID 56bf53e73aeaaa14008c95ce</a:t>
            </a:r>
            <a:endParaRPr sz="85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5 Super Bowl 50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56bf53e73aeaaa14008c95ce</a:t>
            </a:r>
            <a:endParaRPr sz="85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6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段落文字数 4063／段落単語数 629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The freedom to provide services under TFEU article 56 applies to who?</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to people who give services "for remuneration"</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European_Union_law　https://github.com/rajpurkar/SQuAD-explorer/tree/master/dataset　ID 5726c3da708984140094d0d9</a:t>
            </a:r>
            <a:endParaRPr sz="85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6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5726c3da708984140094d0d9</a:t>
            </a:r>
            <a:endParaRPr sz="85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7 French and Indian War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回答文字数 160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normal British defense?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mustered local militia companies, generally ill trained and available only for short periods, to deal with native threats, but did not have any standing forces.</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French_and_Indian_War　https://github.com/rajpurkar/SQuAD-explorer/tree/master/dataset　ID 5733dab4d058e614000b640b</a:t>
            </a:r>
            <a:endParaRPr sz="85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7 French and Indian War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5733dab4d058e614000b640b</a:t>
            </a:r>
            <a:endParaRPr sz="85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8 Ctenophora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回答単語数 29 </a:t>
            </a:r>
            <a:r>
              <a:rPr sz="1900" b="0" lang="ja-JP">
                <a:solidFill>
                  <a:srgbClr val="303437"/>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does the internal cavity contain?</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a mouth that can usually be closed by muscles; a pharynx ("throat"); a wider area in the center that acts as a stomach; and a system of internal canals.</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Ctenophora　https://github.com/rajpurkar/SQuAD-explorer/tree/master/dataset　ID 57264b1ddd62a815002e80a3</a:t>
            </a:r>
            <a:endParaRPr sz="85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8 Ctenophora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57264b1ddd62a815002e80a3</a:t>
            </a:r>
            <a:endParaRPr sz="85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9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質問単語数 31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In which case did the Court of Justice state that refusal to admit a lawyer to the Belgian bar because he did not have Belgian heritage wasn't able to be justified?</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Reyners v Belgium</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European_Union_law　https://github.com/rajpurkar/SQuAD-explorer/tree/master/dataset　ID 5726c002708984140094d075</a:t>
            </a:r>
            <a:endParaRPr sz="85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9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5726c002708984140094d075</a:t>
            </a:r>
            <a:endParaRPr sz="85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バージョン2.0のベンチマーク結果</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4 追加の評価結果</a:t>
            </a:r>
            <a:endParaRPr sz="1400" lang="ja-JP"/>
            <a:endParaRPr sz="1400"/>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提出日</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2018-11-08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80.0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83.1</a:t>
                      </a:r>
                      <a:endParaRPr sz="2000" lang="ja-JP"/>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RoBERTa</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2019-07-20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86.8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89.8</a:t>
                      </a:r>
                      <a:endParaRPr sz="2000" lang="ja-JP"/>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XLNet</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2019-11-15</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87.9</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90.7</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70962"/>
            <a:ext cx="8046720" cy="991537"/>
          </a:xfrm>
          <a:prstGeom prst="rect">
            <a:avLst/>
          </a:prstGeom>
          <a:noFill/>
        </p:spPr>
        <p:txBody>
          <a:bodyPr wrap="square" anchor="t" lIns="0" rIns="0" tIns="0" bIns="0">
            <a:noAutofit/>
          </a:bodyPr>
          <a:lstStyle/>
          <a:p>
            <a:pPr algn="l" marL="203200" indent="-152400">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SQuAD運営者の非公開テストで採点。</a:t>
            </a:r>
            <a:endParaRPr sz="2100" lang="ja-JP"/>
            <a:endParaRPr sz="1700"/>
          </a:p>
          <a:p>
            <a:pPr algn="l" marL="203200" indent="-152400">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開発用とは別のデータ。各行は単一モデルの提出結果。</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掲載された提出結果（EM・F1は%）。</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開発用 Wikipedia 記事一覧 1/2</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バージョン1.1では、48記事／2.0 このうち35記事。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1973_oil_crisis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Amazon_rainforest</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American_Broadcasting_Company *</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Apollo_program *</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Black_Death</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Chloroplast *</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Civil_disobedience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Computational_complexity_theory</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Construction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Ctenophora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Doctor_Who *</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Economic_inequality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European_Union_law</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Force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French_and_Indian_War</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Fresno,_California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Genghis_Khan *</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Geology</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Harvard_University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Huguenot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Immune_system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Imperialism</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Intergovernmental_Panel_on_Climate_Change</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Islamism</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 はバージョン1.1のみに含まれる開発用記事。</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開発用 Wikipedia 記事一覧 2/2</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バージョン1.1では、48記事／2.0 このうち35記事。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Jacksonville,_Florida</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Kenya *</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Martin_Luther *</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Newcastle_upon_Tyne *</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Nikola_Tesla *</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Normans</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Oxygen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Packet_switching</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Pharmacy</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Prime_number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Private_school</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Rhine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Scottish_Parliament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Sky_(United_Kingdom)</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Southern_California</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Steam_engine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Super_Bowl_50 *</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Teacher *</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United_Methodist_Church *</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University_of_Chicago</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Victoria_(Australia)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Victoria_and_Albert_Museum *</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Warsaw</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Yuan_dynasty</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 はバージョン1.1のみに含まれる開発用記事。</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2008_Sichuan_earthquake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2008_Summer_Olympics_torch_relay</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51st_state</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A_cappella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Adolescence</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Adult_contemporary_music</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Affirmative_action_in_the_United_States</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Age_of_Enlightenment</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Aircraft_carrier</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Airport</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Alaska</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Alexander_Graham_Bell</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Alfred_North_Whitehead</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Alloy</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Alps</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Alsace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American_Idol</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Animal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Ann_Arbor,_Michigan</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Annelid</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Antarctica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Antenna_(radio)</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Anthropology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Anti-aircraft_warfare</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2/19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Antibiotics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Apollo</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Appalachian_Mountains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Architecture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Arena_Football_League</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Armenia</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Armenians</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Arnold_Schwarzenegger</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Arsenal_F.C.</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ASCII</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Ashkenazi_Jews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Asphalt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Aspirated_consonant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Association_football</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Asthma</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Athanasius_of_Alexandria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Atlantic_City,_New_Jersey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Avicenna</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Bacteria</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Baptists</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BBC_Television</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BeiDou_Navigation_Satellite_System</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Bermuda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3/19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Bern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Beyoncé</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Bill_%26_Melinda_Gates_Foundation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Biodiversity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Bird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Bird_migration</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Black_people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Boston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Botany</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Brain</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Bras%C3%ADlia</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Brigham_Young_University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British_Empire</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British_Isles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Buckingham_Palace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Buddhism</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Canadian_Armed_Forces</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Canadian_football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Canon_law</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Capacitor</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Capital_punishment_in_the_United_States</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Cardinal_(Catholicism)</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Carnival</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Catalan_language</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4/19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CBC_Television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Central_African_Republic</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Central_Intelligence_Agency</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Charleston,_South_Carolina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Chicago_Cubs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Chihuahua_(state)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Child_labour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Chinese_characters</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Christian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Circadian_rhythm</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Classical_music</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Clothing</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Comcast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Comics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Communication</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Communications_in_Somalia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Compact_disc</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Comprehensive_school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Computer</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Computer_security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Copper</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Copyright_infringement</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Cork_(city)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Cotton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5/19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Crimean_War</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Crucifixion_of_Jesus</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Cubism</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Culture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Cyprus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Czech_language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Data_compression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Database</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Daylight_saving_time</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Dell</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Department_store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Detroit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Dialect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Diarrhea</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Digestion</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Digimon</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Dissolution_of_the_Soviet_Union</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Dog</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Dominican_Order</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Dutch_language</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Dutch_Republic</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Dwight_D._Eisenhower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East_India_Company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East_Prussia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6/19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Economy_of_Greece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Edmund_Burke</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Education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Egypt</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Electric_motor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Elevator</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Elizabeth_II</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Emotion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Empiricism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Endangered_Species_Act</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Energy</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England_national_football_team</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Eritrea</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Estonia</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Estonian_language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Eton_College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European_Central_Bank</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Everton_F.C.</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Exhibition_game</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FA_Cup</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FC_Barcelona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Federal_Aviation_Administration</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Federal_Bureau_of_Investigation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Federalism</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7/19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Film_speed</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Financial_crisis_of_2007%E2%80%9308</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Florida</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Flowering_plant</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Franco-Prussian_War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Freemasonry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Friedrich_Hayek</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Frédéric_Chopin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Galicia_(Spain)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Gamal_Abdel_Nasser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General_Electric</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Genocide</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Genome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Geography_of_the_United_States</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Geological_history_of_Earth</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George_VI</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Georgian_architecture</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Germans</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Glacier</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Glass</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God</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Gothic_architecture</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Gramophone_record</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8/19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Grape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Great_Plains</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Great_power</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Greece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Greeks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Green</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Gregorian_calendar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Group_(mathematics)</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Guam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Guinea-Bissau</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Gymnastics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Han_dynasty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Hanover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Hard_rock</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Heian_period</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Hellenistic_period</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Heresy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High-definition_television</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Himachal_Pradesh</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Hindu_philosophy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History_of_India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History_of_science</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Hokkien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House_music</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9/19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Houston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Human_Development_Index</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Humanism</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Hunter-gatherer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Hunting</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Hyderabad</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Hydrogen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IBM</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Idealism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Identity_(social_science)</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Imamah_(Shia_doctrine)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Immaculate_Conception</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Immunology</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Imperial_College_London</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Incandescent_light_bulb</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Indigenous_peoples_of_the_Americas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Infection</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Infrared</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Insect</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Institute_of_technology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Intellectual_property</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Internet_service_provider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IPod</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Iran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10/19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Iranian_languages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Israel</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Jehovah%27s_Witnesses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Jews</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John,_King_of_England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John_Kerry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John_von_Neumann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Josip_Broz_Tito</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Kanye_West</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Karl_Popper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Kathmandu</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Kievan_Rus%27</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Korean_War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Labour_Party_(UK)</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Lancashire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LaserDisc</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Late_Middle_Ages</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Law_of_the_United_States</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Letter_case</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Liberal_Party_of_Australia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Liberia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Light-emitting_diode</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Lighting</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List_of_numbered_streets_in_Manhattan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11/19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Literature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London</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Macintosh</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Madonna_(entertainer)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Madrasa</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Mali</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Mammal</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Mandolin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Marshall_Islands</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Marvel_Comics</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Mary_(mother_of_Jesus)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Materialism</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Matter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Melbourne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Memory</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Mesozoic</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Mexico_City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Miami</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Middle_Ages</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Military_history_of_the_United_States</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Ministry_of_Defence_(United_Kingdom)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Modern_history</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Molotov%E2%80%93Ribbentrop_Pact</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Montana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12/19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Montevideo</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Mosaic</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MP3</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Muammar_Gaddafi</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Multiracial_American</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Muslim_world</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Myanmar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Myocardial_infarction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Namibia</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Nanjing</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Napoleon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National_Archives_and_Records_Administration</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Near_East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Neoclassical_architecture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Neolithic</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Neptune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New_Delhi</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New_Haven,_Connecticut</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New_York_City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Nigeria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Nintendo_Entertainment_System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Nonprofit_organization</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Norfolk_Island</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North_Carolina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13/19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Northwestern_University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Nutrition</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Oklahoma</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Oklahoma_City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Old_English</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On_the_Origin_of_Species</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Order_of_the_British_Empire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Orthodox_Judaism</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Ottoman_Empire</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Pacific_War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Pain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Palermo</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Paper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Paris</a:t>
            </a:r>
            <a:endParaRPr sz="1250" lang="ja-JP"/>
          </a:p>
        </p:txBody>
      </p:sp>
      <p:sp>
        <p:nvSpPr>
          <p:cNvPr id="19" name="content-text"/>
          <p:cNvSpPr txBox="1"/>
          <p:nvPr/>
        </p:nvSpPr>
        <p:spPr>
          <a:xfrm>
            <a:off x="484632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Party_leaders_of_the_United_States_House_of_Representatives。</a:t>
            </a:r>
            <a:br/>
            <a:endParaRPr sz="1250" lang="ja-JP"/>
          </a:p>
        </p:txBody>
      </p:sp>
      <p:sp>
        <p:nvSpPr>
          <p:cNvPr id="20" name="content-text"/>
          <p:cNvSpPr txBox="1"/>
          <p:nvPr/>
        </p:nvSpPr>
        <p:spPr>
          <a:xfrm>
            <a:off x="4846320" y="26622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Pesticide</a:t>
            </a:r>
            <a:endParaRPr sz="1250" lang="ja-JP"/>
          </a:p>
        </p:txBody>
      </p:sp>
      <p:sp>
        <p:nvSpPr>
          <p:cNvPr id="21" name="content-text"/>
          <p:cNvSpPr txBox="1"/>
          <p:nvPr/>
        </p:nvSpPr>
        <p:spPr>
          <a:xfrm>
            <a:off x="4846320" y="28984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Pharmaceutical_industry</a:t>
            </a:r>
            <a:endParaRPr sz="1250" lang="ja-JP"/>
          </a:p>
        </p:txBody>
      </p:sp>
      <p:sp>
        <p:nvSpPr>
          <p:cNvPr id="22" name="content-text"/>
          <p:cNvSpPr txBox="1"/>
          <p:nvPr/>
        </p:nvSpPr>
        <p:spPr>
          <a:xfrm>
            <a:off x="4846320" y="31346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Philadelphia</a:t>
            </a:r>
            <a:endParaRPr sz="1250" lang="ja-JP"/>
          </a:p>
        </p:txBody>
      </p:sp>
      <p:sp>
        <p:nvSpPr>
          <p:cNvPr id="23" name="content-text"/>
          <p:cNvSpPr txBox="1"/>
          <p:nvPr/>
        </p:nvSpPr>
        <p:spPr>
          <a:xfrm>
            <a:off x="4846320" y="337089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Philosophy_of_space_and_time</a:t>
            </a:r>
            <a:endParaRPr sz="1250" lang="ja-JP"/>
          </a:p>
        </p:txBody>
      </p:sp>
      <p:sp>
        <p:nvSpPr>
          <p:cNvPr id="24" name="content-text"/>
          <p:cNvSpPr txBox="1"/>
          <p:nvPr/>
        </p:nvSpPr>
        <p:spPr>
          <a:xfrm>
            <a:off x="4846320" y="360711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Phonology</a:t>
            </a:r>
            <a:endParaRPr sz="1250" lang="ja-JP"/>
          </a:p>
        </p:txBody>
      </p:sp>
      <p:sp>
        <p:nvSpPr>
          <p:cNvPr id="25" name="content-text"/>
          <p:cNvSpPr txBox="1"/>
          <p:nvPr/>
        </p:nvSpPr>
        <p:spPr>
          <a:xfrm>
            <a:off x="4846320" y="38433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Pitch_(music)</a:t>
            </a:r>
            <a:endParaRPr sz="1250" lang="ja-JP"/>
          </a:p>
        </p:txBody>
      </p:sp>
      <p:sp>
        <p:nvSpPr>
          <p:cNvPr id="26" name="content-text"/>
          <p:cNvSpPr txBox="1"/>
          <p:nvPr/>
        </p:nvSpPr>
        <p:spPr>
          <a:xfrm>
            <a:off x="4846320" y="40795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Planck_constant</a:t>
            </a:r>
            <a:endParaRPr sz="1250" lang="ja-JP"/>
          </a:p>
        </p:txBody>
      </p:sp>
      <p:sp>
        <p:nvSpPr>
          <p:cNvPr id="27" name="content-text"/>
          <p:cNvSpPr txBox="1"/>
          <p:nvPr/>
        </p:nvSpPr>
        <p:spPr>
          <a:xfrm>
            <a:off x="4846320" y="43157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PlayStation_3</a:t>
            </a:r>
            <a:endParaRPr sz="1250" lang="ja-JP"/>
          </a:p>
        </p:txBody>
      </p:sp>
      <p:sp>
        <p:nvSpPr>
          <p:cNvPr id="2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14/19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Plymouth</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Police</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Political_corruption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Political_party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Political_philosophy</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Pope_John_XXIII</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Pope_Paul_VI</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Portugal</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Post-punk</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Poultry</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Predation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Premier_League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Presbyterianism</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Prime_minister</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Printed_circuit_board</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Professional_wrestling</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Protestantism</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Pub</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Punjab,_Pakistan</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Qing_dynasty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Queen_(band)</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Queen_Victoria</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Quran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Race_(human_categorization)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15/19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Race_and_ethnicity_in_the_United_States_Census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Railway_electrification_system</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Rajasthan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Raleigh,_North_Carolina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Religion_in_ancient_Rome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Renewable_energy_commercialization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Republic_of_the_Congo</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Richard_Feynman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Richmond,_Virginia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Roman_Republic</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Royal_assent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Royal_Dutch_Shell</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Royal_Institute_of_British_Architects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Rule_of_law</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Russian_language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Russian_Soviet_Federative_Socialist_Republic</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Sahara</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Saint_Barth%C3%A9lemy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Saint_Helena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Samoa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Samurai</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San_Diego</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Sanskrit</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16/19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Santa_Monica,_California</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Seattle</a:t>
            </a:r>
            <a:endParaRPr sz="1250" lang="ja-JP"/>
          </a:p>
        </p:txBody>
      </p:sp>
      <p:sp>
        <p:nvSpPr>
          <p:cNvPr id="7" name="content-text"/>
          <p:cNvSpPr txBox="1"/>
          <p:nvPr/>
        </p:nvSpPr>
        <p:spPr>
          <a:xfrm>
            <a:off x="59436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Separation_of_church_and_state_in_the_United_States。</a:t>
            </a:r>
            <a:br/>
            <a:endParaRPr sz="1250" lang="ja-JP"/>
          </a:p>
        </p:txBody>
      </p:sp>
      <p:sp>
        <p:nvSpPr>
          <p:cNvPr id="8" name="content-text"/>
          <p:cNvSpPr txBox="1"/>
          <p:nvPr/>
        </p:nvSpPr>
        <p:spPr>
          <a:xfrm>
            <a:off x="594360" y="266223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Separation_of_powers_under_the_United_States_Constitution。</a:t>
            </a:r>
            <a:br/>
            <a:endParaRPr sz="1250" lang="ja-JP"/>
          </a:p>
        </p:txBody>
      </p:sp>
      <p:sp>
        <p:nvSpPr>
          <p:cNvPr id="9" name="content-text"/>
          <p:cNvSpPr txBox="1"/>
          <p:nvPr/>
        </p:nvSpPr>
        <p:spPr>
          <a:xfrm>
            <a:off x="594360" y="30775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Serbo-Croatian</a:t>
            </a:r>
            <a:endParaRPr sz="1250" lang="ja-JP"/>
          </a:p>
        </p:txBody>
      </p:sp>
      <p:sp>
        <p:nvSpPr>
          <p:cNvPr id="10" name="content-text"/>
          <p:cNvSpPr txBox="1"/>
          <p:nvPr/>
        </p:nvSpPr>
        <p:spPr>
          <a:xfrm>
            <a:off x="594360" y="33137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Seven_Years%27_War</a:t>
            </a:r>
            <a:endParaRPr sz="1250" lang="ja-JP"/>
          </a:p>
        </p:txBody>
      </p:sp>
      <p:sp>
        <p:nvSpPr>
          <p:cNvPr id="11" name="content-text"/>
          <p:cNvSpPr txBox="1"/>
          <p:nvPr/>
        </p:nvSpPr>
        <p:spPr>
          <a:xfrm>
            <a:off x="594360" y="35499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Sexual_orientation</a:t>
            </a:r>
            <a:endParaRPr sz="1250" lang="ja-JP"/>
          </a:p>
        </p:txBody>
      </p:sp>
      <p:sp>
        <p:nvSpPr>
          <p:cNvPr id="12" name="content-text"/>
          <p:cNvSpPr txBox="1"/>
          <p:nvPr/>
        </p:nvSpPr>
        <p:spPr>
          <a:xfrm>
            <a:off x="594360" y="37861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Sichuan</a:t>
            </a:r>
            <a:endParaRPr sz="1250" lang="ja-JP"/>
          </a:p>
        </p:txBody>
      </p:sp>
      <p:sp>
        <p:nvSpPr>
          <p:cNvPr id="13" name="content-text"/>
          <p:cNvSpPr txBox="1"/>
          <p:nvPr/>
        </p:nvSpPr>
        <p:spPr>
          <a:xfrm>
            <a:off x="594360" y="40224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Sino-Tibetan_relations_during_the_Ming_dynasty</a:t>
            </a:r>
            <a:endParaRPr sz="1250" lang="ja-JP"/>
          </a:p>
        </p:txBody>
      </p:sp>
      <p:sp>
        <p:nvSpPr>
          <p:cNvPr id="14" name="content-text"/>
          <p:cNvSpPr txBox="1"/>
          <p:nvPr/>
        </p:nvSpPr>
        <p:spPr>
          <a:xfrm>
            <a:off x="594360" y="42586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Slavs</a:t>
            </a:r>
            <a:endParaRPr sz="1250" lang="ja-JP"/>
          </a:p>
        </p:txBody>
      </p:sp>
      <p:sp>
        <p:nvSpPr>
          <p:cNvPr id="15"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Software_testing</a:t>
            </a:r>
            <a:endParaRPr sz="1250" lang="ja-JP"/>
          </a:p>
        </p:txBody>
      </p:sp>
      <p:sp>
        <p:nvSpPr>
          <p:cNvPr id="16"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Solar_energy</a:t>
            </a:r>
            <a:endParaRPr sz="1250" lang="ja-JP"/>
          </a:p>
        </p:txBody>
      </p:sp>
      <p:sp>
        <p:nvSpPr>
          <p:cNvPr id="17"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Somalis</a:t>
            </a:r>
            <a:endParaRPr sz="1250" lang="ja-JP"/>
          </a:p>
        </p:txBody>
      </p:sp>
      <p:sp>
        <p:nvSpPr>
          <p:cNvPr id="18"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Somerset</a:t>
            </a:r>
            <a:endParaRPr sz="1250" lang="ja-JP"/>
          </a:p>
        </p:txBody>
      </p:sp>
      <p:sp>
        <p:nvSpPr>
          <p:cNvPr id="19"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Sony_Music_Entertainment</a:t>
            </a:r>
            <a:endParaRPr sz="1250" lang="ja-JP"/>
          </a:p>
        </p:txBody>
      </p:sp>
      <p:sp>
        <p:nvSpPr>
          <p:cNvPr id="20"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Southampton</a:t>
            </a:r>
            <a:endParaRPr sz="1250" lang="ja-JP"/>
          </a:p>
        </p:txBody>
      </p:sp>
      <p:sp>
        <p:nvSpPr>
          <p:cNvPr id="21"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Southeast_Asia</a:t>
            </a:r>
            <a:endParaRPr sz="1250" lang="ja-JP"/>
          </a:p>
        </p:txBody>
      </p:sp>
      <p:sp>
        <p:nvSpPr>
          <p:cNvPr id="22"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Southern_Europe</a:t>
            </a:r>
            <a:endParaRPr sz="1250" lang="ja-JP"/>
          </a:p>
        </p:txBody>
      </p:sp>
      <p:sp>
        <p:nvSpPr>
          <p:cNvPr id="23"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Space_Race</a:t>
            </a:r>
            <a:endParaRPr sz="1250" lang="ja-JP"/>
          </a:p>
        </p:txBody>
      </p:sp>
      <p:sp>
        <p:nvSpPr>
          <p:cNvPr id="24"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Spanish_language_in_the_United_States</a:t>
            </a:r>
            <a:endParaRPr sz="1250" lang="ja-JP"/>
          </a:p>
        </p:txBody>
      </p:sp>
      <p:sp>
        <p:nvSpPr>
          <p:cNvPr id="25"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Spectre_(2015_film)</a:t>
            </a:r>
            <a:endParaRPr sz="1250" lang="ja-JP"/>
          </a:p>
        </p:txBody>
      </p:sp>
      <p:sp>
        <p:nvSpPr>
          <p:cNvPr id="26"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St._John%27s,_Newfoundland_and_Labrador</a:t>
            </a:r>
            <a:endParaRPr sz="1250" lang="ja-JP"/>
          </a:p>
        </p:txBody>
      </p:sp>
      <p:sp>
        <p:nvSpPr>
          <p:cNvPr id="27"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17/19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States_of_Germany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Steven_Spielberg</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Strasbourg</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Sumer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Super_Nintendo_Entertainment_System</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Supreme_court</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Swaziland</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Switzerland</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Symbiosis</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Szlachta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Tajikistan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Tennessee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Textual_criticism</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The_Blitz</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The_Bronx</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The_Legend_of_Zelda _Twilight_Princess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The_Sun_(United_Kingdom)</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The_Times</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Thuringia</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Tibet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Time</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To_Kill_a_Mockingbird</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Transistor</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Translation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18/19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Treaty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Tristan_da_Cunha</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Tuberculosis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Tucson,_Arizona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Turner_Classic_Movies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Tuvalu</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Umayyad_Caliphate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Unicode</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United_Nations_Population_Fund</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United_States_Air_Force</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United_States_Army</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United_States_dollar</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United_States_presidential_election,_2004</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Universal_Studios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University_of_Kansas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University_of_Notre_Dame</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Uranium</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USB</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Utrecht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Vacuum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Valencia</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Videoconferencing</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Virgil</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19/19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War_on_Terror</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Warsaw_Pact</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Washington_University_in_St._Louis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Wayback_Machine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Web_browser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Westminster_Abbey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Windows_8</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Wood</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Xbox_360</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Yale_University</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YouTube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Zhejiang</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Zinc</a:t>
            </a:r>
            <a:endParaRPr sz="1250" lang="ja-JP"/>
          </a:p>
        </p:txBody>
      </p:sp>
      <p:sp>
        <p:nvSpPr>
          <p:cNvPr id="1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データを取得する Python コード</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6 入手コードと参考文献</a:t>
            </a:r>
            <a:endParaRPr sz="1400" lang="ja-JP"/>
            <a:endParaRPr sz="1400"/>
          </a:p>
        </p:txBody>
      </p:sp>
      <p:sp>
        <p:nvSpPr>
          <p:cNvPr id="4" name="diagram-rect"/>
          <p:cNvSpPr/>
          <p:nvPr/>
        </p:nvSpPr>
        <p:spPr>
          <a:xfrm>
            <a:off x="502920" y="1465897"/>
            <a:ext cx="8138160" cy="2477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buNone/>
              <a:defRPr sz="1400" lang="ja-JP">
                <a:latin typeface="Liberation Mono"/>
                <a:ea typeface="Noto Sans CJK JP"/>
              </a:defRPr>
              <a:lnSpc>
                <a:spcPts val="1609"/>
              </a:lnSpc>
              <a:spcBef>
                <a:spcPts val="0"/>
              </a:spcBef>
              <a:spcAft>
                <a:spcPts val="0"/>
              </a:spcAft>
              <a:buNone/>
            </a:pPr>
            <a:r>
              <a:rPr sz="1400" lang="ja-JP">
                <a:solidFill>
                  <a:srgbClr val="303437"/>
                </a:solidFill>
                <a:latin typeface="Liberation Mono"/>
                <a:ea typeface="Noto Sans CJK JP"/>
              </a:rPr>
              <a:t>import json</a:t>
            </a:r>
            <a:endParaRPr sz="1400" lang="ja-JP"/>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from urllib.request import urlopen</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base = "https://rajpurkar.github.io/SQuAD-explorer/dataset/"</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for version in ("1.1", "2.0"):</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    for split in ("train", "dev"):</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        name = f"{split}-v{version}.json"</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        with urlopen(base + name) as response:</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            data = json.load(response)</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        with open(name, "w", encoding="utf-8") as output:</a:t>
            </a:r>
          </a:p>
          <a:p>
            <a:pPr algn="l" marL="0" indent="0">
              <a:buNone/>
              <a:lnSpc>
                <a:spcPts val="1609"/>
              </a:lnSpc>
              <a:spcBef>
                <a:spcPts val="0"/>
              </a:spcBef>
              <a:spcAft>
                <a:spcPts val="0"/>
              </a:spcAft>
              <a:defRPr sz="1400" lang="ja-JP">
                <a:latin typeface="Liberation Mono"/>
                <a:ea typeface="Noto Sans CJK JP"/>
              </a:defRPr>
            </a:pPr>
            <a:r>
              <a:rPr sz="1400" lang="ja-JP">
                <a:solidFill>
                  <a:srgbClr val="303437"/>
                </a:solidFill>
                <a:latin typeface="Liberation Mono"/>
                <a:ea typeface="Noto Sans CJK JP"/>
              </a:rPr>
              <a:t>            json.dump(data, output, ensure_ascii=False)</a:t>
            </a: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配布元　https://rajpurkar.github.io/SQuAD-explorer/dataset/</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バージョン・分割ごとに公式JSONを取得。Python標準ライブラリのみ使用。</a:t>
            </a:r>
            <a:endParaRPr sz="85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noAutofit/>
          </a:bodyPr>
          <a:lstStyle/>
          <a:p>
            <a:pPr algn="l" marL="0" indent="0">
              <a:buNone/>
              <a:lnSpc>
                <a:spcPct val="110000"/>
              </a:lnSpc>
              <a:defRPr sz="2800" lang="ja-JP">
                <a:latin typeface="Noto Sans CJK JP"/>
                <a:ea typeface="Noto Sans CJK JP"/>
              </a:defRPr>
              <a:spcBef>
                <a:spcPts val="0"/>
              </a:spcBef>
              <a:spcAft>
                <a:spcPts val="600"/>
              </a:spcAft>
              <a:buNone/>
            </a:pPr>
            <a:r>
              <a:rPr sz="2800" lang="ja-JP" b="1">
                <a:solidFill>
                  <a:srgbClr val="303437"/>
                </a:solidFill>
                <a:latin typeface="Noto Sans CJK JP"/>
                <a:ea typeface="Noto Sans CJK JP"/>
              </a:rPr>
              <a:t>参考文献と参照した内容</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buNone/>
              <a:lnSpc>
                <a:spcPct val="110000"/>
              </a:lnSpc>
              <a:defRPr sz="1400" lang="ja-JP">
                <a:latin typeface="Noto Sans CJK JP"/>
                <a:ea typeface="Noto Sans CJK JP"/>
              </a:defRPr>
              <a:spcBef>
                <a:spcPts val="0"/>
              </a:spcBef>
              <a:spcAft>
                <a:spcPts val="0"/>
              </a:spcAft>
              <a:buNone/>
            </a:pPr>
            <a:r>
              <a:rPr sz="1400" lang="ja-JP" b="1">
                <a:solidFill>
                  <a:srgbClr val="FFFEF8"/>
                </a:solidFill>
                <a:latin typeface="Noto Sans CJK JP"/>
                <a:ea typeface="Noto Sans CJK JP"/>
              </a:rPr>
              <a:t>Appendix: 6 入手コードと参考文献</a:t>
            </a:r>
            <a:endParaRPr sz="1400" lang="ja-JP"/>
            <a:endParaRPr sz="1400"/>
          </a:p>
        </p:txBody>
      </p:sp>
      <p:sp>
        <p:nvSpPr>
          <p:cNvPr id="4" name="TextBox 3"/>
          <p:cNvSpPr txBox="1"/>
          <p:nvPr/>
        </p:nvSpPr>
        <p:spPr>
          <a:xfrm>
            <a:off x="594360" y="1280160"/>
            <a:ext cx="7955279" cy="320040"/>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900" lang="ja-JP">
                <a:latin typeface="Noto Sans CJK JP"/>
                <a:ea typeface="Noto Sans CJK JP"/>
              </a:defRPr>
            </a:pPr>
            <a:r>
              <a:rPr sz="1900" lang="ja-JP">
                <a:solidFill>
                  <a:srgbClr val="303437"/>
                </a:solidFill>
                <a:latin typeface="Noto Sans CJK JP"/>
                <a:ea typeface="Noto Sans CJK JP"/>
              </a:rPr>
              <a:t>Rajpurkar et al. (2016). SQuAD. EMNLP.</a:t>
            </a:r>
          </a:p>
        </p:txBody>
      </p:sp>
      <p:sp>
        <p:nvSpPr>
          <p:cNvPr id="5" name="TextBox 4"/>
          <p:cNvSpPr txBox="1"/>
          <p:nvPr/>
        </p:nvSpPr>
        <p:spPr>
          <a:xfrm>
            <a:off x="594360" y="1600200"/>
            <a:ext cx="7955279" cy="292608"/>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700" lang="ja-JP">
                <a:latin typeface="Noto Sans CJK JP"/>
                <a:ea typeface="Noto Sans CJK JP"/>
              </a:defRPr>
            </a:pPr>
            <a:r>
              <a:rPr sz="1700" lang="ja-JP">
                <a:solidFill>
                  <a:srgbClr val="626669"/>
                </a:solidFill>
                <a:latin typeface="Noto Sans CJK JP"/>
                <a:ea typeface="Noto Sans CJK JP"/>
              </a:rPr>
              <a:t>開発目的、記事と段落の選定、質問作成、初期の評価を示す原著。</a:t>
            </a:r>
          </a:p>
        </p:txBody>
      </p:sp>
      <p:sp>
        <p:nvSpPr>
          <p:cNvPr id="6" name="TextBox 5"/>
          <p:cNvSpPr txBox="1"/>
          <p:nvPr/>
        </p:nvSpPr>
        <p:spPr>
          <a:xfrm>
            <a:off x="594360" y="2011680"/>
            <a:ext cx="7955279" cy="256032"/>
          </a:xfrm>
          <a:prstGeom prst="rect">
            <a:avLst/>
          </a:prstGeom>
          <a:noFill/>
        </p:spPr>
        <p:txBody>
          <a:bodyPr wrap="square" lIns="0" rIns="0" tIns="0" bIns="0" anchor="t">
            <a:spAutoFit/>
          </a:bodyPr>
          <a:lstStyle/>
          <a:p>
            <a:pPr algn="l" marL="0" indent="0">
              <a:buNone/>
              <a:lnSpc>
                <a:spcPct val="110000"/>
              </a:lnSpc>
              <a:spcBef>
                <a:spcPts val="0"/>
              </a:spcBef>
              <a:spcAft>
                <a:spcPts val="0"/>
              </a:spcAft>
              <a:defRPr sz="850" lang="ja-JP">
                <a:latin typeface="Liberation Sans"/>
                <a:ea typeface="Noto Sans CJK JP"/>
              </a:defRPr>
            </a:pPr>
            <a:r>
              <a:rPr sz="850" lang="ja-JP">
                <a:solidFill>
                  <a:srgbClr val="626669"/>
                </a:solidFill>
                <a:latin typeface="Liberation Sans"/>
                <a:ea typeface="Noto Sans CJK JP"/>
              </a:rPr>
              <a:t>https://aclanthology.org/D16-1264/</a:t>
            </a:r>
          </a:p>
        </p:txBody>
      </p:sp>
      <p:sp>
        <p:nvSpPr>
          <p:cNvPr id="7" name="TextBox 6"/>
          <p:cNvSpPr txBox="1"/>
          <p:nvPr/>
        </p:nvSpPr>
        <p:spPr>
          <a:xfrm>
            <a:off x="594360" y="2194560"/>
            <a:ext cx="7955279" cy="320040"/>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900" lang="ja-JP">
                <a:latin typeface="Noto Sans CJK JP"/>
                <a:ea typeface="Noto Sans CJK JP"/>
              </a:defRPr>
            </a:pPr>
            <a:r>
              <a:rPr sz="1900" lang="ja-JP">
                <a:solidFill>
                  <a:srgbClr val="303437"/>
                </a:solidFill>
                <a:latin typeface="Noto Sans CJK JP"/>
                <a:ea typeface="Noto Sans CJK JP"/>
              </a:rPr>
              <a:t>Rajpurkar, Jia &amp; Liang (2018). Know What You Don’t Know.</a:t>
            </a:r>
          </a:p>
        </p:txBody>
      </p:sp>
      <p:sp>
        <p:nvSpPr>
          <p:cNvPr id="8" name="TextBox 7"/>
          <p:cNvSpPr txBox="1"/>
          <p:nvPr/>
        </p:nvSpPr>
        <p:spPr>
          <a:xfrm>
            <a:off x="594360" y="2514600"/>
            <a:ext cx="7955279" cy="292608"/>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700" lang="ja-JP">
                <a:latin typeface="Noto Sans CJK JP"/>
                <a:ea typeface="Noto Sans CJK JP"/>
              </a:defRPr>
            </a:pPr>
            <a:r>
              <a:rPr sz="1700" lang="ja-JP">
                <a:solidFill>
                  <a:srgbClr val="626669"/>
                </a:solidFill>
                <a:latin typeface="Noto Sans CJK JP"/>
                <a:ea typeface="Noto Sans CJK JP"/>
              </a:rPr>
              <a:t>回答不能な質問を加えたSQuAD 2.0の目的と作成方法。</a:t>
            </a:r>
          </a:p>
        </p:txBody>
      </p:sp>
      <p:sp>
        <p:nvSpPr>
          <p:cNvPr id="9" name="TextBox 8"/>
          <p:cNvSpPr txBox="1"/>
          <p:nvPr/>
        </p:nvSpPr>
        <p:spPr>
          <a:xfrm>
            <a:off x="594360" y="2926080"/>
            <a:ext cx="7955279" cy="256032"/>
          </a:xfrm>
          <a:prstGeom prst="rect">
            <a:avLst/>
          </a:prstGeom>
          <a:noFill/>
        </p:spPr>
        <p:txBody>
          <a:bodyPr wrap="square" lIns="0" rIns="0" tIns="0" bIns="0" anchor="t">
            <a:spAutoFit/>
          </a:bodyPr>
          <a:lstStyle/>
          <a:p>
            <a:pPr algn="l" marL="0" indent="0">
              <a:buNone/>
              <a:lnSpc>
                <a:spcPct val="110000"/>
              </a:lnSpc>
              <a:spcBef>
                <a:spcPts val="0"/>
              </a:spcBef>
              <a:spcAft>
                <a:spcPts val="0"/>
              </a:spcAft>
              <a:defRPr sz="850" lang="ja-JP">
                <a:latin typeface="Liberation Sans"/>
                <a:ea typeface="Noto Sans CJK JP"/>
              </a:defRPr>
            </a:pPr>
            <a:r>
              <a:rPr sz="850" lang="ja-JP">
                <a:solidFill>
                  <a:srgbClr val="626669"/>
                </a:solidFill>
                <a:latin typeface="Liberation Sans"/>
                <a:ea typeface="Noto Sans CJK JP"/>
              </a:rPr>
              <a:t>https://aclanthology.org/P18-2124/</a:t>
            </a:r>
          </a:p>
        </p:txBody>
      </p:sp>
      <p:sp>
        <p:nvSpPr>
          <p:cNvPr id="10" name="TextBox 9"/>
          <p:cNvSpPr txBox="1"/>
          <p:nvPr/>
        </p:nvSpPr>
        <p:spPr>
          <a:xfrm>
            <a:off x="594360" y="3108960"/>
            <a:ext cx="7955279" cy="320040"/>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900" lang="ja-JP">
                <a:latin typeface="Noto Sans CJK JP"/>
                <a:ea typeface="Noto Sans CJK JP"/>
              </a:defRPr>
            </a:pPr>
            <a:r>
              <a:rPr sz="1900" lang="ja-JP">
                <a:solidFill>
                  <a:srgbClr val="303437"/>
                </a:solidFill>
                <a:latin typeface="Noto Sans CJK JP"/>
                <a:ea typeface="Noto Sans CJK JP"/>
              </a:rPr>
              <a:t>SQuAD公式サイト・配布データ・リーダーボード</a:t>
            </a:r>
          </a:p>
        </p:txBody>
      </p:sp>
      <p:sp>
        <p:nvSpPr>
          <p:cNvPr id="11" name="TextBox 10"/>
          <p:cNvSpPr txBox="1"/>
          <p:nvPr/>
        </p:nvSpPr>
        <p:spPr>
          <a:xfrm>
            <a:off x="594360" y="3429000"/>
            <a:ext cx="7955279" cy="292608"/>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700" lang="ja-JP">
                <a:latin typeface="Noto Sans CJK JP"/>
                <a:ea typeface="Noto Sans CJK JP"/>
              </a:defRPr>
            </a:pPr>
            <a:r>
              <a:rPr sz="1700" lang="ja-JP">
                <a:solidFill>
                  <a:srgbClr val="626669"/>
                </a:solidFill>
                <a:latin typeface="Noto Sans CJK JP"/>
                <a:ea typeface="Noto Sans CJK JP"/>
              </a:rPr>
              <a:t>実例と統計の元データ、および大会評価の掲載結果。</a:t>
            </a:r>
          </a:p>
        </p:txBody>
      </p:sp>
      <p:sp>
        <p:nvSpPr>
          <p:cNvPr id="12" name="TextBox 11"/>
          <p:cNvSpPr txBox="1"/>
          <p:nvPr/>
        </p:nvSpPr>
        <p:spPr>
          <a:xfrm>
            <a:off x="594360" y="3840480"/>
            <a:ext cx="7955279" cy="256032"/>
          </a:xfrm>
          <a:prstGeom prst="rect">
            <a:avLst/>
          </a:prstGeom>
          <a:noFill/>
        </p:spPr>
        <p:txBody>
          <a:bodyPr wrap="square" lIns="0" rIns="0" tIns="0" bIns="0" anchor="t">
            <a:spAutoFit/>
          </a:bodyPr>
          <a:lstStyle/>
          <a:p>
            <a:pPr algn="l" marL="0" indent="0">
              <a:buNone/>
              <a:lnSpc>
                <a:spcPct val="110000"/>
              </a:lnSpc>
              <a:spcBef>
                <a:spcPts val="0"/>
              </a:spcBef>
              <a:spcAft>
                <a:spcPts val="0"/>
              </a:spcAft>
              <a:defRPr sz="850" lang="ja-JP">
                <a:latin typeface="Liberation Sans"/>
                <a:ea typeface="Noto Sans CJK JP"/>
              </a:defRPr>
            </a:pPr>
            <a:r>
              <a:rPr sz="850" lang="ja-JP">
                <a:solidFill>
                  <a:srgbClr val="626669"/>
                </a:solidFill>
                <a:latin typeface="Liberation Sans"/>
                <a:ea typeface="Noto Sans CJK JP"/>
              </a:rPr>
              <a:t>https://rajpurkar.github.io/SQuAD-explorer/</a:t>
            </a:r>
          </a:p>
        </p:txBody>
      </p:sp>
      <p:sp>
        <p:nvSpPr>
          <p:cNvPr id="13" name="TextBox 12"/>
          <p:cNvSpPr txBox="1"/>
          <p:nvPr/>
        </p:nvSpPr>
        <p:spPr>
          <a:xfrm>
            <a:off x="594360" y="4023360"/>
            <a:ext cx="7955279" cy="320040"/>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900" lang="ja-JP">
                <a:latin typeface="Noto Sans CJK JP"/>
                <a:ea typeface="Noto Sans CJK JP"/>
              </a:defRPr>
            </a:pPr>
            <a:r>
              <a:rPr sz="1900" lang="ja-JP">
                <a:solidFill>
                  <a:srgbClr val="303437"/>
                </a:solidFill>
                <a:latin typeface="Noto Sans CJK JP"/>
                <a:ea typeface="Noto Sans CJK JP"/>
              </a:rPr>
              <a:t>データのライセンス CC BY-SA 4.0</a:t>
            </a:r>
          </a:p>
        </p:txBody>
      </p:sp>
      <p:sp>
        <p:nvSpPr>
          <p:cNvPr id="14" name="TextBox 13"/>
          <p:cNvSpPr txBox="1"/>
          <p:nvPr/>
        </p:nvSpPr>
        <p:spPr>
          <a:xfrm>
            <a:off x="594360" y="4343400"/>
            <a:ext cx="7955279" cy="292608"/>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700" lang="ja-JP">
                <a:latin typeface="Noto Sans CJK JP"/>
                <a:ea typeface="Noto Sans CJK JP"/>
              </a:defRPr>
            </a:pPr>
            <a:r>
              <a:rPr sz="1700" lang="ja-JP">
                <a:solidFill>
                  <a:srgbClr val="626669"/>
                </a:solidFill>
                <a:latin typeface="Noto Sans CJK JP"/>
                <a:ea typeface="Noto Sans CJK JP"/>
              </a:rPr>
              <a:t>原文や質問を引用・改変して利用する際の条件。</a:t>
            </a:r>
          </a:p>
        </p:txBody>
      </p:sp>
      <p:sp>
        <p:nvSpPr>
          <p:cNvPr id="15" name="TextBox 14"/>
          <p:cNvSpPr txBox="1"/>
          <p:nvPr/>
        </p:nvSpPr>
        <p:spPr>
          <a:xfrm>
            <a:off x="594360" y="4754880"/>
            <a:ext cx="7955279" cy="256032"/>
          </a:xfrm>
          <a:prstGeom prst="rect">
            <a:avLst/>
          </a:prstGeom>
          <a:noFill/>
        </p:spPr>
        <p:txBody>
          <a:bodyPr wrap="square" lIns="0" rIns="0" tIns="0" bIns="0" anchor="t">
            <a:spAutoFit/>
          </a:bodyPr>
          <a:lstStyle/>
          <a:p>
            <a:pPr algn="l" marL="0" indent="0">
              <a:buNone/>
              <a:lnSpc>
                <a:spcPct val="110000"/>
              </a:lnSpc>
              <a:spcBef>
                <a:spcPts val="0"/>
              </a:spcBef>
              <a:spcAft>
                <a:spcPts val="0"/>
              </a:spcAft>
              <a:defRPr sz="850" lang="ja-JP">
                <a:latin typeface="Liberation Sans"/>
                <a:ea typeface="Noto Sans CJK JP"/>
              </a:defRPr>
            </a:pPr>
            <a:r>
              <a:rPr sz="850" lang="ja-JP">
                <a:solidFill>
                  <a:srgbClr val="626669"/>
                </a:solidFill>
                <a:latin typeface="Liberation Sans"/>
                <a:ea typeface="Noto Sans CJK JP"/>
              </a:rPr>
              <a:t>https://creativecommons.org/licenses/by-sa/4.0/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noAutofit/>
          </a:bodyPr>
          <a:lstStyle/>
          <a:p>
            <a:pPr algn="l" marL="0" indent="0">
              <a:buNone/>
              <a:lnSpc>
                <a:spcPct val="110000"/>
              </a:lnSpc>
              <a:defRPr sz="2800" lang="ja-JP">
                <a:latin typeface="Noto Sans CJK JP"/>
                <a:ea typeface="Noto Sans CJK JP"/>
              </a:defRPr>
              <a:spcBef>
                <a:spcPts val="0"/>
              </a:spcBef>
              <a:spcAft>
                <a:spcPts val="600"/>
              </a:spcAft>
              <a:buNone/>
            </a:pPr>
            <a:r>
              <a:rPr sz="2800" lang="ja-JP" b="1">
                <a:solidFill>
                  <a:srgbClr val="303437"/>
                </a:solidFill>
                <a:latin typeface="Noto Sans CJK JP"/>
                <a:ea typeface="Noto Sans CJK JP"/>
              </a:rPr>
              <a:t>参考文献と参照した内容</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buNone/>
              <a:lnSpc>
                <a:spcPct val="110000"/>
              </a:lnSpc>
              <a:defRPr sz="1400" lang="ja-JP">
                <a:latin typeface="Noto Sans CJK JP"/>
                <a:ea typeface="Noto Sans CJK JP"/>
              </a:defRPr>
              <a:spcBef>
                <a:spcPts val="0"/>
              </a:spcBef>
              <a:spcAft>
                <a:spcPts val="0"/>
              </a:spcAft>
              <a:buNone/>
            </a:pPr>
            <a:r>
              <a:rPr sz="1400" lang="ja-JP" b="1">
                <a:solidFill>
                  <a:srgbClr val="FFFEF8"/>
                </a:solidFill>
                <a:latin typeface="Noto Sans CJK JP"/>
                <a:ea typeface="Noto Sans CJK JP"/>
              </a:rPr>
              <a:t>Appendix: 6 入手コードと参考文献</a:t>
            </a:r>
            <a:endParaRPr sz="1400" lang="ja-JP"/>
            <a:endParaRPr sz="1400"/>
          </a:p>
        </p:txBody>
      </p:sp>
      <p:sp>
        <p:nvSpPr>
          <p:cNvPr id="4" name="TextBox 3"/>
          <p:cNvSpPr txBox="1"/>
          <p:nvPr/>
        </p:nvSpPr>
        <p:spPr>
          <a:xfrm>
            <a:off x="594360" y="1280160"/>
            <a:ext cx="7955279" cy="320040"/>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900" lang="ja-JP">
                <a:latin typeface="Noto Sans CJK JP"/>
                <a:ea typeface="Noto Sans CJK JP"/>
              </a:defRPr>
            </a:pPr>
            <a:r>
              <a:rPr sz="1900" lang="ja-JP">
                <a:solidFill>
                  <a:srgbClr val="303437"/>
                </a:solidFill>
                <a:latin typeface="Noto Sans CJK JP"/>
                <a:ea typeface="Noto Sans CJK JP"/>
              </a:rPr>
              <a:t>Llama 3.1モデルカードと評価条件</a:t>
            </a:r>
          </a:p>
        </p:txBody>
      </p:sp>
      <p:sp>
        <p:nvSpPr>
          <p:cNvPr id="5" name="TextBox 4"/>
          <p:cNvSpPr txBox="1"/>
          <p:nvPr/>
        </p:nvSpPr>
        <p:spPr>
          <a:xfrm>
            <a:off x="594360" y="1600200"/>
            <a:ext cx="7955279" cy="292608"/>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700" lang="ja-JP">
                <a:latin typeface="Noto Sans CJK JP"/>
                <a:ea typeface="Noto Sans CJK JP"/>
              </a:defRPr>
            </a:pPr>
            <a:r>
              <a:rPr sz="1700" lang="ja-JP">
                <a:solidFill>
                  <a:srgbClr val="626669"/>
                </a:solidFill>
                <a:latin typeface="Noto Sans CJK JP"/>
                <a:ea typeface="Noto Sans CJK JP"/>
              </a:rPr>
              <a:t>近年の生成型モデルによるSQuAD 2.0の評価結果と実行条件。</a:t>
            </a:r>
          </a:p>
        </p:txBody>
      </p:sp>
      <p:sp>
        <p:nvSpPr>
          <p:cNvPr id="6" name="TextBox 5"/>
          <p:cNvSpPr txBox="1"/>
          <p:nvPr/>
        </p:nvSpPr>
        <p:spPr>
          <a:xfrm>
            <a:off x="594360" y="2011680"/>
            <a:ext cx="7955279" cy="256032"/>
          </a:xfrm>
          <a:prstGeom prst="rect">
            <a:avLst/>
          </a:prstGeom>
          <a:noFill/>
        </p:spPr>
        <p:txBody>
          <a:bodyPr wrap="square" lIns="0" rIns="0" tIns="0" bIns="0" anchor="t">
            <a:spAutoFit/>
          </a:bodyPr>
          <a:lstStyle/>
          <a:p>
            <a:pPr algn="l" marL="0" indent="0">
              <a:buNone/>
              <a:lnSpc>
                <a:spcPct val="110000"/>
              </a:lnSpc>
              <a:spcBef>
                <a:spcPts val="0"/>
              </a:spcBef>
              <a:spcAft>
                <a:spcPts val="0"/>
              </a:spcAft>
              <a:defRPr sz="850" lang="ja-JP">
                <a:latin typeface="Liberation Sans"/>
                <a:ea typeface="Noto Sans CJK JP"/>
              </a:defRPr>
            </a:pPr>
            <a:r>
              <a:rPr sz="850" lang="ja-JP">
                <a:solidFill>
                  <a:srgbClr val="626669"/>
                </a:solidFill>
                <a:latin typeface="Liberation Sans"/>
                <a:ea typeface="Noto Sans CJK JP"/>
              </a:rPr>
              <a:t>https://github.com/meta-llama/llama-models/blob/main/models/llama3_1/MODEL_CARD.md
https://github.com/meta-llama/llama-models/blob/main/models/llama3_1/eval_details.md</a:t>
            </a:r>
          </a:p>
        </p:txBody>
      </p:sp>
      <p:sp>
        <p:nvSpPr>
          <p:cNvPr id="7" name="TextBox 6"/>
          <p:cNvSpPr txBox="1"/>
          <p:nvPr/>
        </p:nvSpPr>
        <p:spPr>
          <a:xfrm>
            <a:off x="594360" y="2331720"/>
            <a:ext cx="7955279" cy="320040"/>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900" lang="ja-JP">
                <a:latin typeface="Noto Sans CJK JP"/>
                <a:ea typeface="Noto Sans CJK JP"/>
              </a:defRPr>
            </a:pPr>
            <a:r>
              <a:rPr sz="1900" lang="ja-JP">
                <a:solidFill>
                  <a:srgbClr val="303437"/>
                </a:solidFill>
                <a:latin typeface="Noto Sans CJK JP"/>
                <a:ea typeface="Noto Sans CJK JP"/>
              </a:rPr>
              <a:t>LongBench v2</a:t>
            </a:r>
          </a:p>
        </p:txBody>
      </p:sp>
      <p:sp>
        <p:nvSpPr>
          <p:cNvPr id="8" name="TextBox 7"/>
          <p:cNvSpPr txBox="1"/>
          <p:nvPr/>
        </p:nvSpPr>
        <p:spPr>
          <a:xfrm>
            <a:off x="594360" y="2651760"/>
            <a:ext cx="7955279" cy="292608"/>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700" lang="ja-JP">
                <a:latin typeface="Noto Sans CJK JP"/>
                <a:ea typeface="Noto Sans CJK JP"/>
              </a:defRPr>
            </a:pPr>
            <a:r>
              <a:rPr sz="1700" lang="ja-JP">
                <a:solidFill>
                  <a:srgbClr val="626669"/>
                </a:solidFill>
                <a:latin typeface="Noto Sans CJK JP"/>
                <a:ea typeface="Noto Sans CJK JP"/>
              </a:rPr>
              <a:t>長い文脈の理解・推論を扱う後続ベンチマークとの比較。</a:t>
            </a:r>
          </a:p>
        </p:txBody>
      </p:sp>
      <p:sp>
        <p:nvSpPr>
          <p:cNvPr id="9" name="TextBox 8"/>
          <p:cNvSpPr txBox="1"/>
          <p:nvPr/>
        </p:nvSpPr>
        <p:spPr>
          <a:xfrm>
            <a:off x="594360" y="3063240"/>
            <a:ext cx="7955279" cy="256032"/>
          </a:xfrm>
          <a:prstGeom prst="rect">
            <a:avLst/>
          </a:prstGeom>
          <a:noFill/>
        </p:spPr>
        <p:txBody>
          <a:bodyPr wrap="square" lIns="0" rIns="0" tIns="0" bIns="0" anchor="t">
            <a:spAutoFit/>
          </a:bodyPr>
          <a:lstStyle/>
          <a:p>
            <a:pPr algn="l" marL="0" indent="0">
              <a:buNone/>
              <a:lnSpc>
                <a:spcPct val="110000"/>
              </a:lnSpc>
              <a:spcBef>
                <a:spcPts val="0"/>
              </a:spcBef>
              <a:spcAft>
                <a:spcPts val="0"/>
              </a:spcAft>
              <a:defRPr sz="850" lang="ja-JP">
                <a:latin typeface="Liberation Sans"/>
                <a:ea typeface="Noto Sans CJK JP"/>
              </a:defRPr>
            </a:pPr>
            <a:r>
              <a:rPr sz="850" lang="ja-JP">
                <a:solidFill>
                  <a:srgbClr val="626669"/>
                </a:solidFill>
                <a:latin typeface="Liberation Sans"/>
                <a:ea typeface="Noto Sans CJK JP"/>
              </a:rPr>
              <a:t>https://github.com/THUDM/LongBench</a:t>
            </a:r>
          </a:p>
        </p:txBody>
      </p:sp>
      <p:sp>
        <p:nvSpPr>
          <p:cNvPr id="10" name="TextBox 9"/>
          <p:cNvSpPr txBox="1"/>
          <p:nvPr/>
        </p:nvSpPr>
        <p:spPr>
          <a:xfrm>
            <a:off x="594360" y="3246120"/>
            <a:ext cx="7955279" cy="320040"/>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900" lang="ja-JP">
                <a:latin typeface="Noto Sans CJK JP"/>
                <a:ea typeface="Noto Sans CJK JP"/>
              </a:defRPr>
            </a:pPr>
            <a:r>
              <a:rPr sz="1900" lang="ja-JP">
                <a:solidFill>
                  <a:srgbClr val="303437"/>
                </a:solidFill>
                <a:latin typeface="Noto Sans CJK JP"/>
                <a:ea typeface="Noto Sans CJK JP"/>
              </a:rPr>
              <a:t>Jia &amp; Liang (2017). 敵対的な読解評価.</a:t>
            </a:r>
          </a:p>
        </p:txBody>
      </p:sp>
      <p:sp>
        <p:nvSpPr>
          <p:cNvPr id="11" name="TextBox 10"/>
          <p:cNvSpPr txBox="1"/>
          <p:nvPr/>
        </p:nvSpPr>
        <p:spPr>
          <a:xfrm>
            <a:off x="594360" y="3566160"/>
            <a:ext cx="7955279" cy="292608"/>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700" lang="ja-JP">
                <a:latin typeface="Noto Sans CJK JP"/>
                <a:ea typeface="Noto Sans CJK JP"/>
              </a:defRPr>
            </a:pPr>
            <a:r>
              <a:rPr sz="1700" lang="ja-JP">
                <a:solidFill>
                  <a:srgbClr val="626669"/>
                </a:solidFill>
                <a:latin typeface="Noto Sans CJK JP"/>
                <a:ea typeface="Noto Sans CJK JP"/>
              </a:rPr>
              <a:t>最終著者の研究例として紹介した、読解モデルの頑健性の検証。</a:t>
            </a:r>
          </a:p>
        </p:txBody>
      </p:sp>
      <p:sp>
        <p:nvSpPr>
          <p:cNvPr id="12" name="TextBox 11"/>
          <p:cNvSpPr txBox="1"/>
          <p:nvPr/>
        </p:nvSpPr>
        <p:spPr>
          <a:xfrm>
            <a:off x="594360" y="3977640"/>
            <a:ext cx="7955279" cy="256032"/>
          </a:xfrm>
          <a:prstGeom prst="rect">
            <a:avLst/>
          </a:prstGeom>
          <a:noFill/>
        </p:spPr>
        <p:txBody>
          <a:bodyPr wrap="square" lIns="0" rIns="0" tIns="0" bIns="0" anchor="t">
            <a:spAutoFit/>
          </a:bodyPr>
          <a:lstStyle/>
          <a:p>
            <a:pPr algn="l" marL="0" indent="0">
              <a:buNone/>
              <a:lnSpc>
                <a:spcPct val="110000"/>
              </a:lnSpc>
              <a:spcBef>
                <a:spcPts val="0"/>
              </a:spcBef>
              <a:spcAft>
                <a:spcPts val="0"/>
              </a:spcAft>
              <a:defRPr sz="850" lang="ja-JP">
                <a:latin typeface="Liberation Sans"/>
                <a:ea typeface="Noto Sans CJK JP"/>
              </a:defRPr>
            </a:pPr>
            <a:r>
              <a:rPr sz="850" lang="ja-JP">
                <a:solidFill>
                  <a:srgbClr val="626669"/>
                </a:solidFill>
                <a:latin typeface="Liberation Sans"/>
                <a:ea typeface="Noto Sans CJK JP"/>
              </a:rPr>
              <a:t>https://github.com/robinjia/adversarial-squad</a:t>
            </a:r>
          </a:p>
        </p:txBody>
      </p:sp>
      <p:sp>
        <p:nvSpPr>
          <p:cNvPr id="13" name="TextBox 12"/>
          <p:cNvSpPr txBox="1"/>
          <p:nvPr/>
        </p:nvSpPr>
        <p:spPr>
          <a:xfrm>
            <a:off x="594360" y="4160520"/>
            <a:ext cx="7955279" cy="320040"/>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900" lang="ja-JP">
                <a:latin typeface="Noto Sans CJK JP"/>
                <a:ea typeface="Noto Sans CJK JP"/>
              </a:defRPr>
            </a:pPr>
            <a:r>
              <a:rPr sz="1900" lang="ja-JP">
                <a:solidFill>
                  <a:srgbClr val="303437"/>
                </a:solidFill>
                <a:latin typeface="Noto Sans CJK JP"/>
                <a:ea typeface="Noto Sans CJK JP"/>
              </a:rPr>
              <a:t>Liang et al. HELMによる言語モデル評価.</a:t>
            </a:r>
          </a:p>
        </p:txBody>
      </p:sp>
      <p:sp>
        <p:nvSpPr>
          <p:cNvPr id="14" name="TextBox 13"/>
          <p:cNvSpPr txBox="1"/>
          <p:nvPr/>
        </p:nvSpPr>
        <p:spPr>
          <a:xfrm>
            <a:off x="594360" y="4480560"/>
            <a:ext cx="7955279" cy="292608"/>
          </a:xfrm>
          <a:prstGeom prst="rect">
            <a:avLst/>
          </a:prstGeom>
          <a:noFill/>
        </p:spPr>
        <p:txBody>
          <a:bodyPr wrap="square" lIns="0" rIns="0" tIns="0" bIns="0" anchor="t">
            <a:spAutoFit/>
          </a:bodyPr>
          <a:lstStyle/>
          <a:p>
            <a:pPr algn="l" marL="0" indent="0">
              <a:buNone/>
              <a:lnSpc>
                <a:spcPct val="110000"/>
              </a:lnSpc>
              <a:spcBef>
                <a:spcPts val="0"/>
              </a:spcBef>
              <a:spcAft>
                <a:spcPts val="600"/>
              </a:spcAft>
              <a:defRPr sz="1700" lang="ja-JP">
                <a:latin typeface="Noto Sans CJK JP"/>
                <a:ea typeface="Noto Sans CJK JP"/>
              </a:defRPr>
            </a:pPr>
            <a:r>
              <a:rPr sz="1700" lang="ja-JP">
                <a:solidFill>
                  <a:srgbClr val="626669"/>
                </a:solidFill>
                <a:latin typeface="Noto Sans CJK JP"/>
                <a:ea typeface="Noto Sans CJK JP"/>
              </a:rPr>
              <a:t>最終著者の研究例として紹介した、多面的な言語モデル評価。</a:t>
            </a:r>
          </a:p>
        </p:txBody>
      </p:sp>
      <p:sp>
        <p:nvSpPr>
          <p:cNvPr id="15" name="TextBox 14"/>
          <p:cNvSpPr txBox="1"/>
          <p:nvPr/>
        </p:nvSpPr>
        <p:spPr>
          <a:xfrm>
            <a:off x="594360" y="4892040"/>
            <a:ext cx="7955279" cy="256032"/>
          </a:xfrm>
          <a:prstGeom prst="rect">
            <a:avLst/>
          </a:prstGeom>
          <a:noFill/>
        </p:spPr>
        <p:txBody>
          <a:bodyPr wrap="square" lIns="0" rIns="0" tIns="0" bIns="0" anchor="t">
            <a:spAutoFit/>
          </a:bodyPr>
          <a:lstStyle/>
          <a:p>
            <a:pPr algn="l" marL="0" indent="0">
              <a:buNone/>
              <a:lnSpc>
                <a:spcPct val="110000"/>
              </a:lnSpc>
              <a:spcBef>
                <a:spcPts val="0"/>
              </a:spcBef>
              <a:spcAft>
                <a:spcPts val="0"/>
              </a:spcAft>
              <a:defRPr sz="850" lang="ja-JP">
                <a:latin typeface="Liberation Sans"/>
                <a:ea typeface="Noto Sans CJK JP"/>
              </a:defRPr>
            </a:pPr>
            <a:r>
              <a:rPr sz="850" lang="ja-JP">
                <a:solidFill>
                  <a:srgbClr val="626669"/>
                </a:solidFill>
                <a:latin typeface="Liberation Sans"/>
                <a:ea typeface="Noto Sans CJK JP"/>
              </a:rPr>
              <a:t>https://github.com/stanford-crfm/helm</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