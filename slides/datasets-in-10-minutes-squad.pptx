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7"/>
    <p:sldId id="348" r:id="rId99"/>
    <p:sldId id="349" r:id="rId100"/>
    <p:sldId id="257" r:id="rId8"/>
    <p:sldId id="263" r:id="rId2"/>
    <p:sldId id="359" r:id="rId26"/>
    <p:sldId id="264" r:id="rId15"/>
    <p:sldId id="265" r:id="rId16"/>
    <p:sldId id="266" r:id="rId17"/>
    <p:sldId id="267" r:id="rId18"/>
    <p:sldId id="269" r:id="rId20"/>
    <p:sldId id="350" r:id="rId101"/>
    <p:sldId id="259" r:id="rId6"/>
    <p:sldId id="360" r:id="rId10"/>
    <p:sldId id="258" r:id="rId9"/>
    <p:sldId id="261" r:id="rId4"/>
    <p:sldId id="262" r:id="rId3"/>
    <p:sldId id="361" r:id="rId107"/>
    <p:sldId id="268" r:id="rId19"/>
    <p:sldId id="270" r:id="rId21"/>
    <p:sldId id="273" r:id="rId24"/>
    <p:sldId id="331" r:id="rId82"/>
    <p:sldId id="332" r:id="rId83"/>
    <p:sldId id="272" r:id="rId23"/>
    <p:sldId id="329" r:id="rId80"/>
    <p:sldId id="330" r:id="rId81"/>
    <p:sldId id="271" r:id="rId22"/>
    <p:sldId id="351" r:id="rId102"/>
    <p:sldId id="274" r:id="rId25"/>
    <p:sldId id="362" r:id="rId108"/>
    <p:sldId id="363" r:id="rId109"/>
    <p:sldId id="352" r:id="rId103"/>
    <p:sldId id="276" r:id="rId27"/>
    <p:sldId id="278" r:id="rId29"/>
    <p:sldId id="277" r:id="rId28"/>
    <p:sldId id="364" r:id="rId110"/>
    <p:sldId id="365" r:id="rId111"/>
    <p:sldId id="353" r:id="rId104"/>
    <p:sldId id="260" r:id="rId5"/>
    <p:sldId id="366" r:id="rId112"/>
    <p:sldId id="279" r:id="rId30"/>
    <p:sldId id="367" r:id="rId113"/>
    <p:sldId id="354" r:id="rId105"/>
    <p:sldId id="280" r:id="rId31"/>
    <p:sldId id="281" r:id="rId32"/>
    <p:sldId id="368" r:id="rId114"/>
    <p:sldId id="355" r:id="rId106"/>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25" r:id="rId76"/>
    <p:sldId id="326" r:id="rId77"/>
    <p:sldId id="327" r:id="rId78"/>
    <p:sldId id="328" r:id="rId79"/>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4" r:id="rId75"/>
    <p:sldId id="356" r:id="rId98"/>
    <p:sldId id="357" r:id="rId74"/>
    <p:sldId id="358"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39.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4.xml"/><Relationship Id="rId9" Type="http://schemas.openxmlformats.org/officeDocument/2006/relationships/slide" Target="slides/slide15.xml"/><Relationship Id="rId10" Type="http://schemas.openxmlformats.org/officeDocument/2006/relationships/slide" Target="slides/slide14.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9.xml"/><Relationship Id="rId20" Type="http://schemas.openxmlformats.org/officeDocument/2006/relationships/slide" Target="slides/slide11.xml"/><Relationship Id="rId21" Type="http://schemas.openxmlformats.org/officeDocument/2006/relationships/slide" Target="slides/slide20.xml"/><Relationship Id="rId22" Type="http://schemas.openxmlformats.org/officeDocument/2006/relationships/slide" Target="slides/slide27.xml"/><Relationship Id="rId23" Type="http://schemas.openxmlformats.org/officeDocument/2006/relationships/slide" Target="slides/slide24.xml"/><Relationship Id="rId24" Type="http://schemas.openxmlformats.org/officeDocument/2006/relationships/slide" Target="slides/slide21.xml"/><Relationship Id="rId25" Type="http://schemas.openxmlformats.org/officeDocument/2006/relationships/slide" Target="slides/slide29.xml"/><Relationship Id="rId26" Type="http://schemas.openxmlformats.org/officeDocument/2006/relationships/slide" Target="slides/slide6.xml"/><Relationship Id="rId27" Type="http://schemas.openxmlformats.org/officeDocument/2006/relationships/slide" Target="slides/slide35.xml"/><Relationship Id="rId28" Type="http://schemas.openxmlformats.org/officeDocument/2006/relationships/slide" Target="slides/slide37.xml"/><Relationship Id="rId29" Type="http://schemas.openxmlformats.org/officeDocument/2006/relationships/slide" Target="slides/slide36.xml"/><Relationship Id="rId30" Type="http://schemas.openxmlformats.org/officeDocument/2006/relationships/slide" Target="slides/slide41.xml"/><Relationship Id="rId31" Type="http://schemas.openxmlformats.org/officeDocument/2006/relationships/slide" Target="slides/slide44.xml"/><Relationship Id="rId32" Type="http://schemas.openxmlformats.org/officeDocument/2006/relationships/slide" Target="slides/slide45.xml"/><Relationship Id="rId33" Type="http://schemas.openxmlformats.org/officeDocument/2006/relationships/slide" Target="slides/slide109.xml"/><Relationship Id="rId34" Type="http://schemas.openxmlformats.org/officeDocument/2006/relationships/slide" Target="slides/slide48.xml"/><Relationship Id="rId35" Type="http://schemas.openxmlformats.org/officeDocument/2006/relationships/slide" Target="slides/slide49.xml"/><Relationship Id="rId36" Type="http://schemas.openxmlformats.org/officeDocument/2006/relationships/slide" Target="slides/slide50.xml"/><Relationship Id="rId37" Type="http://schemas.openxmlformats.org/officeDocument/2006/relationships/slide" Target="slides/slide51.xml"/><Relationship Id="rId38" Type="http://schemas.openxmlformats.org/officeDocument/2006/relationships/slide" Target="slides/slide52.xml"/><Relationship Id="rId39" Type="http://schemas.openxmlformats.org/officeDocument/2006/relationships/slide" Target="slides/slide53.xml"/><Relationship Id="rId40" Type="http://schemas.openxmlformats.org/officeDocument/2006/relationships/slide" Target="slides/slide54.xml"/><Relationship Id="rId41" Type="http://schemas.openxmlformats.org/officeDocument/2006/relationships/slide" Target="slides/slide55.xml"/><Relationship Id="rId42" Type="http://schemas.openxmlformats.org/officeDocument/2006/relationships/slide" Target="slides/slide56.xml"/><Relationship Id="rId43" Type="http://schemas.openxmlformats.org/officeDocument/2006/relationships/slide" Target="slides/slide57.xml"/><Relationship Id="rId44" Type="http://schemas.openxmlformats.org/officeDocument/2006/relationships/slide" Target="slides/slide58.xml"/><Relationship Id="rId45" Type="http://schemas.openxmlformats.org/officeDocument/2006/relationships/slide" Target="slides/slide59.xml"/><Relationship Id="rId46" Type="http://schemas.openxmlformats.org/officeDocument/2006/relationships/slide" Target="slides/slide60.xml"/><Relationship Id="rId47" Type="http://schemas.openxmlformats.org/officeDocument/2006/relationships/slide" Target="slides/slide61.xml"/><Relationship Id="rId48" Type="http://schemas.openxmlformats.org/officeDocument/2006/relationships/slide" Target="slides/slide62.xml"/><Relationship Id="rId49" Type="http://schemas.openxmlformats.org/officeDocument/2006/relationships/slide" Target="slides/slide63.xml"/><Relationship Id="rId50" Type="http://schemas.openxmlformats.org/officeDocument/2006/relationships/slide" Target="slides/slide64.xml"/><Relationship Id="rId51" Type="http://schemas.openxmlformats.org/officeDocument/2006/relationships/slide" Target="slides/slide65.xml"/><Relationship Id="rId52" Type="http://schemas.openxmlformats.org/officeDocument/2006/relationships/slide" Target="slides/slide84.xml"/><Relationship Id="rId53" Type="http://schemas.openxmlformats.org/officeDocument/2006/relationships/slide" Target="slides/slide85.xml"/><Relationship Id="rId54" Type="http://schemas.openxmlformats.org/officeDocument/2006/relationships/slide" Target="slides/slide86.xml"/><Relationship Id="rId55" Type="http://schemas.openxmlformats.org/officeDocument/2006/relationships/slide" Target="slides/slide87.xml"/><Relationship Id="rId56" Type="http://schemas.openxmlformats.org/officeDocument/2006/relationships/slide" Target="slides/slide88.xml"/><Relationship Id="rId57" Type="http://schemas.openxmlformats.org/officeDocument/2006/relationships/slide" Target="slides/slide89.xml"/><Relationship Id="rId58" Type="http://schemas.openxmlformats.org/officeDocument/2006/relationships/slide" Target="slides/slide90.xml"/><Relationship Id="rId59" Type="http://schemas.openxmlformats.org/officeDocument/2006/relationships/slide" Target="slides/slide91.xml"/><Relationship Id="rId60" Type="http://schemas.openxmlformats.org/officeDocument/2006/relationships/slide" Target="slides/slide92.xml"/><Relationship Id="rId61" Type="http://schemas.openxmlformats.org/officeDocument/2006/relationships/slide" Target="slides/slide93.xml"/><Relationship Id="rId62" Type="http://schemas.openxmlformats.org/officeDocument/2006/relationships/slide" Target="slides/slide94.xml"/><Relationship Id="rId63" Type="http://schemas.openxmlformats.org/officeDocument/2006/relationships/slide" Target="slides/slide95.xml"/><Relationship Id="rId64" Type="http://schemas.openxmlformats.org/officeDocument/2006/relationships/slide" Target="slides/slide96.xml"/><Relationship Id="rId65" Type="http://schemas.openxmlformats.org/officeDocument/2006/relationships/slide" Target="slides/slide97.xml"/><Relationship Id="rId66" Type="http://schemas.openxmlformats.org/officeDocument/2006/relationships/slide" Target="slides/slide98.xml"/><Relationship Id="rId67" Type="http://schemas.openxmlformats.org/officeDocument/2006/relationships/slide" Target="slides/slide99.xml"/><Relationship Id="rId68" Type="http://schemas.openxmlformats.org/officeDocument/2006/relationships/slide" Target="slides/slide100.xml"/><Relationship Id="rId69" Type="http://schemas.openxmlformats.org/officeDocument/2006/relationships/slide" Target="slides/slide101.xml"/><Relationship Id="rId70" Type="http://schemas.openxmlformats.org/officeDocument/2006/relationships/slide" Target="slides/slide102.xml"/><Relationship Id="rId71" Type="http://schemas.openxmlformats.org/officeDocument/2006/relationships/slide" Target="slides/slide103.xml"/><Relationship Id="rId72" Type="http://schemas.openxmlformats.org/officeDocument/2006/relationships/slide" Target="slides/slide104.xml"/><Relationship Id="rId73" Type="http://schemas.openxmlformats.org/officeDocument/2006/relationships/slide" Target="slides/slide105.xml"/><Relationship Id="rId74" Type="http://schemas.openxmlformats.org/officeDocument/2006/relationships/slide" Target="slides/slide108.xml"/><Relationship Id="rId75" Type="http://schemas.openxmlformats.org/officeDocument/2006/relationships/slide" Target="slides/slide106.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25.xml"/><Relationship Id="rId81" Type="http://schemas.openxmlformats.org/officeDocument/2006/relationships/slide" Target="slides/slide26.xml"/><Relationship Id="rId82" Type="http://schemas.openxmlformats.org/officeDocument/2006/relationships/slide" Target="slides/slide22.xml"/><Relationship Id="rId83" Type="http://schemas.openxmlformats.org/officeDocument/2006/relationships/slide" Target="slides/slide23.xml"/><Relationship Id="rId84" Type="http://schemas.openxmlformats.org/officeDocument/2006/relationships/slide" Target="slides/slide70.xml"/><Relationship Id="rId85" Type="http://schemas.openxmlformats.org/officeDocument/2006/relationships/slide" Target="slides/slide71.xml"/><Relationship Id="rId86" Type="http://schemas.openxmlformats.org/officeDocument/2006/relationships/slide" Target="slides/slide72.xml"/><Relationship Id="rId87" Type="http://schemas.openxmlformats.org/officeDocument/2006/relationships/slide" Target="slides/slide73.xml"/><Relationship Id="rId88" Type="http://schemas.openxmlformats.org/officeDocument/2006/relationships/slide" Target="slides/slide74.xml"/><Relationship Id="rId89" Type="http://schemas.openxmlformats.org/officeDocument/2006/relationships/slide" Target="slides/slide75.xml"/><Relationship Id="rId90" Type="http://schemas.openxmlformats.org/officeDocument/2006/relationships/slide" Target="slides/slide76.xml"/><Relationship Id="rId91" Type="http://schemas.openxmlformats.org/officeDocument/2006/relationships/slide" Target="slides/slide77.xml"/><Relationship Id="rId92" Type="http://schemas.openxmlformats.org/officeDocument/2006/relationships/slide" Target="slides/slide78.xml"/><Relationship Id="rId93" Type="http://schemas.openxmlformats.org/officeDocument/2006/relationships/slide" Target="slides/slide79.xml"/><Relationship Id="rId94" Type="http://schemas.openxmlformats.org/officeDocument/2006/relationships/slide" Target="slides/slide80.xml"/><Relationship Id="rId95" Type="http://schemas.openxmlformats.org/officeDocument/2006/relationships/slide" Target="slides/slide81.xml"/><Relationship Id="rId96" Type="http://schemas.openxmlformats.org/officeDocument/2006/relationships/slide" Target="slides/slide82.xml"/><Relationship Id="rId97" Type="http://schemas.openxmlformats.org/officeDocument/2006/relationships/slide" Target="slides/slide83.xml"/><Relationship Id="rId98" Type="http://schemas.openxmlformats.org/officeDocument/2006/relationships/slide" Target="slides/slide107.xml"/><Relationship Id="rId99" Type="http://schemas.openxmlformats.org/officeDocument/2006/relationships/slide" Target="slides/slide2.xml"/><Relationship Id="rId100" Type="http://schemas.openxmlformats.org/officeDocument/2006/relationships/slide" Target="slides/slide3.xml"/><Relationship Id="rId101" Type="http://schemas.openxmlformats.org/officeDocument/2006/relationships/slide" Target="slides/slide12.xml"/><Relationship Id="rId102" Type="http://schemas.openxmlformats.org/officeDocument/2006/relationships/slide" Target="slides/slide28.xml"/><Relationship Id="rId103" Type="http://schemas.openxmlformats.org/officeDocument/2006/relationships/slide" Target="slides/slide34.xml"/><Relationship Id="rId104" Type="http://schemas.openxmlformats.org/officeDocument/2006/relationships/slide" Target="slides/slide38.xml"/><Relationship Id="rId105" Type="http://schemas.openxmlformats.org/officeDocument/2006/relationships/slide" Target="slides/slide43.xml"/><Relationship Id="rId106" Type="http://schemas.openxmlformats.org/officeDocument/2006/relationships/slide" Target="slides/slide47.xml"/><Relationship Id="rId107" Type="http://schemas.openxmlformats.org/officeDocument/2006/relationships/slide" Target="slides/slide18.xml"/><Relationship Id="rId108" Type="http://schemas.openxmlformats.org/officeDocument/2006/relationships/slide" Target="slides/slide30.xml"/><Relationship Id="rId109" Type="http://schemas.openxmlformats.org/officeDocument/2006/relationships/slide" Target="slides/slide31.xml"/><Relationship Id="rId110" Type="http://schemas.openxmlformats.org/officeDocument/2006/relationships/slide" Target="slides/slide32.xml"/><Relationship Id="rId111" Type="http://schemas.openxmlformats.org/officeDocument/2006/relationships/slide" Target="slides/slide33.xml"/><Relationship Id="rId112" Type="http://schemas.openxmlformats.org/officeDocument/2006/relationships/slide" Target="slides/slide40.xml"/><Relationship Id="rId113" Type="http://schemas.openxmlformats.org/officeDocument/2006/relationships/slide" Target="slides/slide42.xml"/><Relationship Id="rId114"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607898" y="-10450"/>
            <a:ext cx="548701" cy="479700"/>
          </a:xfrm>
          <a:prstGeom prst="rect">
            <a:avLst/>
          </a:prstGeom>
          <a:noFill/>
          <a:ln>
            <a:noFill/>
          </a:ln>
        </p:spPr>
        <p:txBody>
          <a:bodyPr anchor="ctr"/>
          <a:lstStyle/>
          <a:p>
            <a:pPr algn="ct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5486400" y="477316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pPr>
            <a:r>
              <a:rPr lang="ja-JP" altLang="ja" b="1" dirty="0">
                <a:solidFill>
                  <a:schemeClr val="lt1"/>
                </a:solidFill>
                <a:latin typeface="Noto Sans"/>
                <a:ea typeface="Noto Sans CJK JP"/>
                <a:cs typeface="Noto Sans"/>
              </a:rPr>
              <a:t>T</a:t>
            </a:r>
            <a:r>
              <a:rPr lang="ja-JP" b="1" dirty="0">
                <a:solidFill>
                  <a:schemeClr val="lt1"/>
                </a:solidFill>
                <a:latin typeface="Noto Sans"/>
                <a:ea typeface="Noto Sans CJK JP"/>
                <a:cs typeface="Noto Sans"/>
              </a:rPr>
              <a:t>able of </a:t>
            </a:r>
            <a:r>
              <a:rPr lang="ja-JP" altLang="ja" b="1" dirty="0">
                <a:solidFill>
                  <a:schemeClr val="lt1"/>
                </a:solidFill>
                <a:latin typeface="Noto Sans"/>
                <a:ea typeface="Noto Sans CJK JP"/>
                <a:cs typeface="Noto Sans"/>
              </a:rPr>
              <a:t>C</a:t>
            </a:r>
            <a:r>
              <a:rPr lang="ja-JP" b="1" dirty="0">
                <a:solidFill>
                  <a:schemeClr val="lt1"/>
                </a:solidFill>
                <a:latin typeface="Noto Sans"/>
                <a:ea typeface="Noto Sans CJK JP"/>
                <a:cs typeface="Noto Sans"/>
              </a:rPr>
              <a:t>ontents</a:t>
            </a:r>
            <a:endParaRPr b="1" dirty="0" lang="ja-JP">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a:lstStyle/>
          <a:p>
            <a:pPr algn="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squar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solidFill>
                  <a:schemeClr val="lt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pPr>
              <a:lnSpc>
                <a:spcPct val="100000"/>
              </a:lnSpc>
              <a:spcBef>
                <a:spcPts val="0"/>
              </a:spcBef>
              <a:spcAft>
                <a:spcPts val="0"/>
              </a:spcAft>
            </a:pPr>
            <a:endParaRPr lang="ja-JP">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a:lstStyle/>
          <a:p>
            <a:pPr algn="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solidFill>
                  <a:schemeClr val="lt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pPr>
              <a:lnSpc>
                <a:spcPct val="100000"/>
              </a:lnSpc>
              <a:spcBef>
                <a:spcPts val="0"/>
              </a:spcBef>
              <a:spcAft>
                <a:spcPts val="0"/>
              </a:spcAft>
            </a:pPr>
            <a:endParaRPr lang="ja-JP">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lIns="0" rIns="0" wrap="none"/>
          <a:lstStyle/>
          <a:p>
            <a:pPr algn="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468600" y="2263650"/>
            <a:ext cx="8206800" cy="6162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solidFill>
                  <a:schemeClr val="lt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pPr>
              <a:lnSpc>
                <a:spcPct val="100000"/>
              </a:lnSpc>
              <a:spcBef>
                <a:spcPts val="0"/>
              </a:spcBef>
              <a:spcAft>
                <a:spcPts val="0"/>
              </a:spcAft>
            </a:pPr>
            <a:endParaRPr dirty="0" lang="ja-JP">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a:lstStyle/>
          <a:p>
            <a:pPr algn="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solidFill>
                  <a:schemeClr val="lt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pPr>
              <a:lnSpc>
                <a:spcPct val="100000"/>
              </a:lnSpc>
              <a:spcBef>
                <a:spcPts val="0"/>
              </a:spcBef>
              <a:spcAft>
                <a:spcPts val="0"/>
              </a:spcAft>
            </a:pPr>
            <a:endParaRPr dirty="0" lang="ja-JP">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a:lstStyle/>
          <a:p>
            <a:pPr algn="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solidFill>
                  <a:schemeClr val="lt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pPr>
              <a:lnSpc>
                <a:spcPct val="100000"/>
              </a:lnSpc>
              <a:spcBef>
                <a:spcPts val="0"/>
              </a:spcBef>
              <a:spcAft>
                <a:spcPts val="0"/>
              </a:spcAft>
            </a:pPr>
            <a:endParaRPr dirty="0" lang="ja-JP">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a:lstStyle/>
          <a:p>
            <a:pPr algn="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501908" y="28683"/>
            <a:ext cx="548700" cy="393600"/>
          </a:xfrm>
          <a:prstGeom prst="rect">
            <a:avLst/>
          </a:prstGeom>
          <a:noFill/>
          <a:ln>
            <a:noFill/>
          </a:ln>
        </p:spPr>
        <p:txBody>
          <a:bodyPr anchor="ctr"/>
          <a:lstStyle/>
          <a:p>
            <a:pPr algn="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72458" y="28683"/>
            <a:ext cx="548700" cy="393600"/>
          </a:xfrm>
          <a:prstGeom prst="rect">
            <a:avLst/>
          </a:prstGeom>
          <a:noFill/>
          <a:ln>
            <a:noFill/>
          </a:ln>
        </p:spPr>
        <p:txBody>
          <a:bodyPr anchor="ctr"/>
          <a:lstStyle/>
          <a:p>
            <a:pPr algn="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rajpurkar.github.io/SQuAD-explor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 Id="rId3" Type="http://schemas.openxmlformats.org/officeDocument/2006/relationships/hyperlink" Target="https://aclanthology.org/P18-212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2.0.js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 Id="rId3" Type="http://schemas.openxmlformats.org/officeDocument/2006/relationships/hyperlink" Target="https://aclanthology.org/P18-212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3-1020/" TargetMode="External"/><Relationship Id="rId3" Type="http://schemas.openxmlformats.org/officeDocument/2006/relationships/hyperlink" Target="https://aclanthology.org/D16-126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eepmind/rc-data" TargetMode="External"/><Relationship Id="rId3" Type="http://schemas.openxmlformats.org/officeDocument/2006/relationships/hyperlink" Target="https://aclanthology.org/D16-126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 Id="rId3" Type="http://schemas.openxmlformats.org/officeDocument/2006/relationships/hyperlink" Target="https://github.com/rajpurkar/SQuAD-explorer/tree/master/datas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8-212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uggingface/evaluate/blob/main/metrics/squad/compute_score.p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uggingface/evaluate/blob/main/metrics/squad/compute_score.p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uggingface/evaluate/blob/main/metrics/squad/compute_score.py" TargetMode="External"/><Relationship Id="rId3" Type="http://schemas.openxmlformats.org/officeDocument/2006/relationships/hyperlink" Target="https://github.com/huggingface/evaluate/blob/main/metrics/squad_v2/squad_v2.p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423/" TargetMode="External"/><Relationship Id="rId3" Type="http://schemas.openxmlformats.org/officeDocument/2006/relationships/hyperlink" Target="https://github.com/meta-llama/llama-models/blob/main/models/llama3_1/eval_details.m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eta-llama/llama-models/blob/main/models/llama3_1/eval_details.m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6-126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ajpurkar.github.io/SQuAD-explorer/"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icrosoft/DeBERT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eta-llama/llama-models/blob/main/models/llama3_1/MODEL_CARD.md" TargetMode="External"/><Relationship Id="rId3" Type="http://schemas.openxmlformats.org/officeDocument/2006/relationships/hyperlink" Target="https://github.com/meta-llama/llama-models/blob/main/models/llama3_1/eval_details.m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otpotqa/hotpo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datasets/natural-question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eta-llama/llama-models/blob/main/models/llama3_1/MODEL_CARD.md" TargetMode="External"/><Relationship Id="rId3" Type="http://schemas.openxmlformats.org/officeDocument/2006/relationships/hyperlink" Target="https://github.com/huggingface/evaluate/blob/main/metrics/squad_v2/squad_v2.py"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DM/LongBench"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ajpurkar.github.io/SQuAD-explorer/" TargetMode="External"/><Relationship Id="rId3" Type="http://schemas.openxmlformats.org/officeDocument/2006/relationships/hyperlink" Target="https://creativecommons.org/licenses/by-sa/4.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 Id="rId3" Type="http://schemas.openxmlformats.org/officeDocument/2006/relationships/hyperlink" Target="https://aclanthology.org/P18-2124/"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 Id="rId3" Type="http://schemas.openxmlformats.org/officeDocument/2006/relationships/hyperlink" Target="https://aclanthology.org/P18-2124/"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6-1264/" TargetMode="External"/><Relationship Id="rId3" Type="http://schemas.openxmlformats.org/officeDocument/2006/relationships/hyperlink" Target="https://aclanthology.org/P18-2124/" TargetMode="External"/><Relationship Id="rId4" Type="http://schemas.openxmlformats.org/officeDocument/2006/relationships/hyperlink" Target="https://github.com/stanford-crfm/helm" TargetMode="External"/><Relationship Id="rId5" Type="http://schemas.openxmlformats.org/officeDocument/2006/relationships/hyperlink" Target="https://github.com/stanfordmlgroup/chexpert-labeler"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1.1.json"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2.0.json"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dev-v2.0.json"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rajpurkar/SQuAD-explorer/tree/master/dataset"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ajpurkar.github.io/SQuAD-explorer/"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rajpurkar/SQuAD-explorer/tree/master/dataset"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rajpurkar.github.io/SQuAD-explorer/dataset/" TargetMode="External"/><Relationship Id="rId3" Type="http://schemas.openxmlformats.org/officeDocument/2006/relationships/hyperlink" Target="https://rajpurkar.github.io/SQuAD-explorer/dataset/&quot;"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6-1264/" TargetMode="External"/><Relationship Id="rId3" Type="http://schemas.openxmlformats.org/officeDocument/2006/relationships/hyperlink" Target="https://aclanthology.org/P18-2124/"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uggingface/course/blob/main/chapters/en/chapter7/7.mdx" TargetMode="External"/><Relationship Id="rId3" Type="http://schemas.openxmlformats.org/officeDocument/2006/relationships/hyperlink" Target="https://aclanthology.org/N19-1423/"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7-1215/" TargetMode="External"/><Relationship Id="rId3" Type="http://schemas.openxmlformats.org/officeDocument/2006/relationships/hyperlink" Target="https://github.com/rajpurkar/SQuAD-explore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363116"/>
            <a:ext cx="8229600" cy="2926080"/>
          </a:xfrm>
        </p:spPr>
        <p:txBody>
          <a:bodyPr wrap="square" anchor="ctr" lIns="0" rIns="0" tIns="0" bIns="0">
            <a:noAutofit/>
          </a:bodyPr>
          <a:lstStyle/>
          <a:p>
            <a:pPr algn="ctr" marL="0" indent="0">
              <a:lnSpc>
                <a:spcPct val="100000"/>
              </a:lnSpc>
              <a:spcBef>
                <a:spcPts val="0"/>
              </a:spcBef>
              <a:spcAft>
                <a:spcPts val="1000"/>
              </a:spcAft>
              <a:buNone/>
              <a:defRPr sz="3400" lang="ja-JP">
                <a:latin typeface="Noto Sans"/>
                <a:ea typeface="Noto Sans CJK JP"/>
                <a:cs typeface="Noto Sans"/>
              </a:defRPr>
            </a:pPr>
            <a:r>
              <a:rPr sz="2800" b="0" lang="ja-JP">
                <a:solidFill>
                  <a:srgbClr val="303437"/>
                </a:solidFill>
                <a:latin typeface="Noto Sans"/>
                <a:ea typeface="Noto Sans CJK JP"/>
              </a:rPr>
              <a:t>読解型質問応答用データセット</a:t>
            </a:r>
            <a:endParaRPr sz="3400" lang="ja-JP">
              <a:latin typeface="Noto Sans"/>
              <a:ea typeface="Noto Sans CJK JP"/>
              <a:cs typeface="Noto Sans"/>
            </a:endParaRPr>
          </a:p>
          <a:p>
            <a:pPr algn="ctr">
              <a:lnSpc>
                <a:spcPct val="100000"/>
              </a:lnSpc>
              <a:spcBef>
                <a:spcPts val="0"/>
              </a:spcBef>
              <a:spcAft>
                <a:spcPts val="1000"/>
              </a:spcAft>
            </a:pPr>
            <a:r>
              <a:rPr sz="5600" b="1" lang="ja-JP">
                <a:solidFill>
                  <a:srgbClr val="303437"/>
                </a:solidFill>
                <a:latin typeface="Noto Sans"/>
                <a:ea typeface="Noto Sans CJK JP"/>
              </a:rPr>
              <a:t>SQuAD</a:t>
            </a:r>
          </a:p>
          <a:p>
            <a:pPr algn="ctr">
              <a:lnSpc>
                <a:spcPct val="100000"/>
              </a:lnSpc>
              <a:spcBef>
                <a:spcPts val="0"/>
              </a:spcBef>
              <a:spcAft>
                <a:spcPts val="0"/>
              </a:spcAft>
            </a:pPr>
            <a:r>
              <a:rPr sz="2400" b="0" lang="ja-JP">
                <a:solidFill>
                  <a:srgbClr val="303437"/>
                </a:solidFill>
                <a:latin typeface="Noto Sans"/>
                <a:ea typeface="Noto Sans CJK JP"/>
              </a:rPr>
              <a:t>Stanford Question Answering Dataset</a:t>
            </a:r>
          </a:p>
        </p:txBody>
      </p:sp>
      <p:sp>
        <p:nvSpPr>
          <p:cNvPr id="5" name="Text Placeholder 4"/>
          <p:cNvSpPr>
            <a:spLocks noGrp="1"/>
          </p:cNvSpPr>
          <p:nvPr>
            <p:ph type="body" idx="11"/>
          </p:nvPr>
        </p:nvSpPr>
        <p:spPr>
          <a:xfrm>
            <a:off x="5486400" y="4416552"/>
            <a:ext cx="3108960" cy="402336"/>
          </a:xfrm>
        </p:spPr>
        <p:txBody>
          <a:bodyPr wrap="square" anchor="t" lIns="0" rIns="0" tIns="0" bIns="0">
            <a:noAutofit/>
          </a:bodyPr>
          <a:lstStyle/>
          <a:p>
            <a:pPr algn="r" marL="0" indent="0">
              <a:lnSpc>
                <a:spcPct val="110000"/>
              </a:lnSpc>
              <a:spcBef>
                <a:spcPts val="0"/>
              </a:spcBef>
              <a:spcAft>
                <a:spcPts val="600"/>
              </a:spcAft>
              <a:buNone/>
              <a:defRPr sz="2000" lang="ja-JP">
                <a:latin typeface="Noto Sans"/>
                <a:ea typeface="Noto Sans CJK JP"/>
                <a:cs typeface="Noto Sans"/>
              </a:defRPr>
            </a:pPr>
            <a:r>
              <a:rPr sz="2000" lang="ja-JP">
                <a:solidFill>
                  <a:srgbClr val="303437"/>
                </a:solidFill>
                <a:latin typeface="Noto Sans"/>
                <a:ea typeface="Noto Sans CJK JP"/>
                <a:cs typeface="Noto Sans"/>
              </a:rPr>
              <a:t>sasakiy84</a:t>
            </a:r>
            <a:endParaRPr sz="1400" lang="ja-JP">
              <a:latin typeface="Noto Sans"/>
              <a:ea typeface="Noto Sans CJK JP"/>
              <a:cs typeface="Noto Sans"/>
            </a:endParaRPr>
          </a:p>
        </p:txBody>
      </p:sp>
      <p:sp>
        <p:nvSpPr>
          <p:cNvPr id="6" name="Text Placeholder 5"/>
          <p:cNvSpPr>
            <a:spLocks noGrp="1"/>
          </p:cNvSpPr>
          <p:nvPr>
            <p:ph type="body" idx="12"/>
          </p:nvPr>
        </p:nvSpPr>
        <p:spPr>
          <a:xfrm>
            <a:off x="457200" y="274320"/>
            <a:ext cx="8046720" cy="274320"/>
          </a:xfrm>
        </p:spPr>
        <p:txBody>
          <a:bodyPr wrap="square" anchor="ctr"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datasets in 10 minutes (2026-10-15)</a:t>
            </a:r>
            <a:endParaRPr sz="1400" lang="ja-JP">
              <a:latin typeface="Noto Sans"/>
              <a:ea typeface="Noto Sans CJK JP"/>
              <a:cs typeface="Noto Sans"/>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none" lIns="0" rIns="0" tIns="0" bIns="0" anchor="t"/>
          <a:lstStyle/>
          <a:p>
            <a:pPr algn="l" marL="0" indent="0">
              <a:lnSpc>
                <a:spcPct val="110000"/>
              </a:lnSpc>
              <a:spcBef>
                <a:spcPts val="0"/>
              </a:spcBef>
              <a:spcAft>
                <a:spcPts val="0"/>
              </a:spcAft>
              <a:buNone/>
              <a:defRPr sz="2800" lang="ja-JP">
                <a:latin typeface="Noto Sans"/>
                <a:ea typeface="Noto Sans CJK JP"/>
                <a:cs typeface="Noto Sans"/>
              </a:defRPr>
            </a:pPr>
            <a:r>
              <a:rPr sz="2800" lang="ja-JP" b="1">
                <a:solidFill>
                  <a:srgbClr val="303437"/>
                </a:solidFill>
                <a:latin typeface="Noto Sans"/>
                <a:ea typeface="Noto Sans CJK JP"/>
                <a:cs typeface="Noto Sans"/>
              </a:rPr>
              <a:t/>
            </a:r>
            <a:endParaRPr sz="2800" lang="ja-JP">
              <a:latin typeface="Noto Sans"/>
              <a:ea typeface="Noto Sans CJK JP"/>
              <a:cs typeface="Noto Sans"/>
            </a:endParaRPr>
          </a:p>
        </p:txBody>
      </p:sp>
      <p:sp>
        <p:nvSpPr>
          <p:cNvPr id="3" name="Title 2"/>
          <p:cNvSpPr>
            <a:spLocks noGrp="1"/>
          </p:cNvSpPr>
          <p:nvPr>
            <p:ph type="title" idx="2"/>
          </p:nvPr>
        </p:nvSpPr>
        <p:spPr>
          <a:xfrm>
            <a:off x="75895" y="0"/>
            <a:ext cx="8115300" cy="480060"/>
          </a:xfrm>
        </p:spPr>
        <p:txBody>
          <a:bodyPr wrap="square" lIns="0" rIns="0" tIns="0" bIns="0" anchor="ct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目次</a:t>
            </a:r>
            <a:endParaRPr sz="1400" lang="ja-JP">
              <a:latin typeface="Noto Sans"/>
              <a:ea typeface="Noto Sans CJK JP"/>
              <a:cs typeface="Noto Sans"/>
            </a:endParaRPr>
          </a:p>
        </p:txBody>
      </p:sp>
      <p:sp>
        <p:nvSpPr>
          <p:cNvPr id="4" name="body"/>
          <p:cNvSpPr/>
          <p:nvPr>
            <p:ph type="body" idx="1"/>
          </p:nvPr>
        </p:nvSpPr>
        <p:spPr>
          <a:xfrm>
            <a:off x="594360" y="1479613"/>
            <a:ext cx="7955279" cy="3749039"/>
          </a:xfrm>
          <a:prstGeom prst="rect">
            <a:avLst/>
          </a:prstGeom>
          <a:noFill/>
        </p:spPr>
        <p:txBody>
          <a:bodyPr wrap="square" lIns="0" rIns="0" tIns="0" bIns="0">
            <a:spAutoFit/>
          </a:bodyPr>
          <a:lstStyle/>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SQuADの読解課題と版ごとの違い</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質問・回答の作成方法と収録規模</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読解の評価指標とモデル性能</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SQuADの利用動向と後続データ</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質問応答データの入手方法と利用条件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9852"/>
            <a:ext cx="8046720" cy="731520"/>
          </a:xfrm>
        </p:spPr>
        <p:txBody>
          <a:bodyPr wrap="square" lIns="0" rIns="0" tIns="0" bIns="0" anchor="ctr"/>
          <a:lstStyle/>
          <a:p>
            <a:pPr algn="ctr" marL="0" indent="0">
              <a:lnSpc>
                <a:spcPct val="100000"/>
              </a:lnSpc>
              <a:spcBef>
                <a:spcPts val="0"/>
              </a:spcBef>
              <a:spcAft>
                <a:spcPts val="0"/>
              </a:spcAft>
              <a:buNone/>
              <a:defRPr sz="4000" lang="ja-JP">
                <a:latin typeface="Noto Sans"/>
                <a:ea typeface="Noto Sans CJK JP"/>
                <a:cs typeface="Noto Sans"/>
              </a:defRPr>
            </a:pPr>
            <a:r>
              <a:rPr sz="3200" b="1" lang="ja-JP">
                <a:solidFill>
                  <a:srgbClr val="303437"/>
                </a:solidFill>
                <a:latin typeface="Noto Sans"/>
                <a:ea typeface="Noto Sans CJK JP"/>
                <a:cs typeface="Noto Sans"/>
              </a:rPr>
              <a:t>1. SQuADの読解課題と版ごとの違い</a:t>
            </a:r>
            <a:endParaRPr sz="4000" lang="ja-JP">
              <a:latin typeface="Noto Sans"/>
              <a:ea typeface="Noto Sans CJK JP"/>
              <a:cs typeface="Noto Sans"/>
            </a:endParaRP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1. SQuADの読解課題と版ごとの違い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SQuAD の公式サイト</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pic>
        <p:nvPicPr>
          <p:cNvPr id="4" name="Picture 3" descr="official-homepage.png"/>
          <p:cNvPicPr>
            <a:picLocks noChangeAspect="1"/>
          </p:cNvPicPr>
          <p:nvPr/>
        </p:nvPicPr>
        <p:blipFill>
          <a:blip r:embed="rId2"/>
          <a:stretch>
            <a:fillRect/>
          </a:stretch>
        </p:blipFill>
        <p:spPr>
          <a:xfrm>
            <a:off x="2094754" y="1414462"/>
            <a:ext cx="4954491" cy="3163252"/>
          </a:xfrm>
          <a:prstGeom prst="rect">
            <a:avLst/>
          </a:prstGeom>
        </p:spPr>
      </p:pic>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3"/>
              </a:rPr>
              <a:t>https://rajpurkar.github.io/SQuAD-explorer/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段落と質問を入力し答えの範囲を選ぶ</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sp>
        <p:nvSpPr>
          <p:cNvPr id="4" name="body"/>
          <p:cNvSpPr/>
          <p:nvPr>
            <p:ph type="body" idx="1"/>
          </p:nvPr>
        </p:nvSpPr>
        <p:spPr>
          <a:xfrm>
            <a:off x="594360" y="1339985"/>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読解型質問応答は、文章を根拠に質問へ答える課題である。SQuADでは、英語Wikipediaの記事から選んだ1段落と、その段落に対する質問を入力する。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答えは、段落内にある連続した語句を選ぶ。固有名詞・年・数量に限らず、複数語からなる表現も正解となる。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バージョン2.0には段落から答えられない質問もあり、答えの抽出に加えて回答を控える判断を行う。</a:t>
            </a:r>
          </a:p>
        </p:txBody>
      </p:sp>
      <p:sp>
        <p:nvSpPr>
          <p:cNvPr id="5" name="TextBox 4"/>
          <p:cNvSpPr txBox="1"/>
          <p:nvPr/>
        </p:nvSpPr>
        <p:spPr>
          <a:xfrm>
            <a:off x="502920" y="43434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
        <p:nvSpPr>
          <p:cNvPr id="7" name="TextBox 6"/>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Rajpurkar et al. (2018). ACL, pp. 784–789. Know What You Don’t Know: Unanswerable Questions for SQuAD.</a:t>
            </a:r>
          </a:p>
        </p:txBody>
      </p:sp>
      <p:sp>
        <p:nvSpPr>
          <p:cNvPr id="8" name="TextBox 7"/>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https://aclanthology.org/P18-2124/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記事の中の段落に複数の質問と正解が付く</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1. SQuADの読解課題と版ごとの違い</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60455"/>
              <a:buFont typeface="Noto Sans CJK JP"/>
              <a:buChar char="●"/>
              <a:defRPr sz="2200" b="0" lang="ja-JP">
                <a:solidFill>
                  <a:srgbClr val="303437"/>
                </a:solidFill>
                <a:latin typeface="Noto Sans"/>
                <a:ea typeface="Noto Sans CJK JP"/>
                <a:cs typeface="Noto Sans"/>
              </a:defRPr>
            </a:pPr>
            <a:r>
              <a:rPr sz="2200" b="0" lang="ja-JP">
                <a:solidFill>
                  <a:srgbClr val="303437"/>
                </a:solidFill>
                <a:latin typeface="Noto Sans"/>
                <a:ea typeface="Noto Sans CJK JP"/>
                <a:cs typeface="Noto Sans"/>
              </a:rPr>
              <a:t>配布データの全体は記事の集合である。各記事には複数の段落があり、それぞれの段落に質問と正解回答が付く。</a:t>
            </a:r>
          </a:p>
          <a:p>
            <a:pPr lvl="0" marL="457200" indent="-355600">
              <a:lnSpc>
                <a:spcPct val="110000"/>
              </a:lnSpc>
              <a:spcBef>
                <a:spcPts val="0"/>
              </a:spcBef>
              <a:spcAft>
                <a:spcPts val="800"/>
              </a:spcAft>
              <a:buSzPct val="60455"/>
              <a:buFont typeface="Noto Sans CJK JP"/>
              <a:buChar char="●"/>
              <a:defRPr sz="2200" b="0" lang="ja-JP">
                <a:solidFill>
                  <a:srgbClr val="303437"/>
                </a:solidFill>
                <a:latin typeface="Noto Sans"/>
                <a:ea typeface="Noto Sans CJK JP"/>
                <a:cs typeface="Noto Sans"/>
              </a:defRPr>
            </a:pPr>
            <a:r>
              <a:rPr sz="2200" b="0" lang="ja-JP">
                <a:solidFill>
                  <a:srgbClr val="303437"/>
                </a:solidFill>
                <a:latin typeface="Noto Sans"/>
                <a:ea typeface="Noto Sans CJK JP"/>
                <a:cs typeface="Noto Sans"/>
              </a:rPr>
              <a:t>contextは入力となる1段落、questionはその段落への質問、answersは正解の文字列と段落内の開始位置を表す。</a:t>
            </a:r>
          </a:p>
          <a:p>
            <a:pPr lvl="0" marL="457200" indent="-355600">
              <a:lnSpc>
                <a:spcPct val="110000"/>
              </a:lnSpc>
              <a:spcBef>
                <a:spcPts val="0"/>
              </a:spcBef>
              <a:spcAft>
                <a:spcPts val="800"/>
              </a:spcAft>
              <a:buSzPct val="60455"/>
              <a:buFont typeface="Noto Sans CJK JP"/>
              <a:buChar char="●"/>
              <a:defRPr sz="2200" b="0" lang="ja-JP">
                <a:solidFill>
                  <a:srgbClr val="303437"/>
                </a:solidFill>
                <a:latin typeface="Noto Sans"/>
                <a:ea typeface="Noto Sans CJK JP"/>
                <a:cs typeface="Noto Sans"/>
              </a:defRPr>
            </a:pPr>
            <a:r>
              <a:rPr sz="2200" b="0" lang="ja-JP">
                <a:solidFill>
                  <a:srgbClr val="303437"/>
                </a:solidFill>
                <a:latin typeface="Noto Sans"/>
                <a:ea typeface="Noto Sans CJK JP"/>
                <a:cs typeface="Noto Sans"/>
              </a:rPr>
              <a:t>同じ段落へ複数の質問を作れるため、記事数・段落数・質問数・正解注釈数は異なる。モデルには記事全体ではなく、その質問に対応する段落を渡す。</a:t>
            </a:r>
          </a:p>
        </p:txBody>
      </p:sp>
      <p:sp>
        <p:nvSpPr>
          <p:cNvPr id="6"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実例1 スポーツ記事の質問</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6728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The American Football Conference (AFC) champion </a:t>
            </a:r>
            <a:r>
              <a:rPr sz="1800" b="1" lang="ja-JP">
                <a:solidFill>
                  <a:srgbClr val="B13731"/>
                </a:solidFill>
                <a:latin typeface="Noto Sans"/>
                <a:ea typeface="Noto Sans CJK JP"/>
                <a:cs typeface="Noto Sans"/>
              </a:rPr>
              <a:t>Denver Broncos</a:t>
            </a:r>
            <a:r>
              <a:rPr sz="1800" b="0" lang="ja-JP">
                <a:solidFill>
                  <a:srgbClr val="303437"/>
                </a:solidFill>
                <a:latin typeface="Noto Sans"/>
                <a:ea typeface="Noto Sans CJK JP"/>
                <a:cs typeface="Noto Sans"/>
              </a:rPr>
              <a:t> defeated the National Football Conference (NFC) champion Carolina Panthers 24–10 to earn their third Super Bowl title. The game was played on February 7, 2016, at Levi's Stadium in the San Francisco Bay Area at Santa Clara, California.</a:t>
            </a:r>
            <a:endParaRPr sz="1800" lang="ja-JP">
              <a:latin typeface="Noto Sans"/>
              <a:ea typeface="Noto Sans CJK JP"/>
              <a:cs typeface="Noto Sans"/>
            </a:endParaRPr>
          </a:p>
        </p:txBody>
      </p:sp>
      <p:sp>
        <p:nvSpPr>
          <p:cNvPr id="7" name="example-question"/>
          <p:cNvSpPr txBox="1"/>
          <p:nvPr/>
        </p:nvSpPr>
        <p:spPr>
          <a:xfrm>
            <a:off x="548640" y="3541638"/>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Which NFL team represented the AFC at Super Bowl 50?</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第50回スーパーボウルで AFC を代表したチームは？</a:t>
            </a:r>
            <a:endParaRPr sz="1700" lang="ja-JP">
              <a:latin typeface="Noto Sans"/>
              <a:ea typeface="Noto Sans CJK JP"/>
              <a:cs typeface="Noto Sans"/>
            </a:endParaRPr>
          </a:p>
        </p:txBody>
      </p:sp>
      <p:sp>
        <p:nvSpPr>
          <p:cNvPr id="8" name="example-answer"/>
          <p:cNvSpPr txBox="1"/>
          <p:nvPr/>
        </p:nvSpPr>
        <p:spPr>
          <a:xfrm>
            <a:off x="548640" y="4189338"/>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Denver Broncos</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Super_Bowl_50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56be4db0acb8001400a502ec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実例2 人物記事の質問</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6728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Tesla gained experience in telephony and electrical engineering before emigrating to the United States in </a:t>
            </a:r>
            <a:r>
              <a:rPr sz="1800" b="1" lang="ja-JP">
                <a:solidFill>
                  <a:srgbClr val="B13731"/>
                </a:solidFill>
                <a:latin typeface="Noto Sans"/>
                <a:ea typeface="Noto Sans CJK JP"/>
                <a:cs typeface="Noto Sans"/>
              </a:rPr>
              <a:t>1884</a:t>
            </a:r>
            <a:r>
              <a:rPr sz="1800" b="0" lang="ja-JP">
                <a:solidFill>
                  <a:srgbClr val="303437"/>
                </a:solidFill>
                <a:latin typeface="Noto Sans"/>
                <a:ea typeface="Noto Sans CJK JP"/>
                <a:cs typeface="Noto Sans"/>
              </a:rPr>
              <a:t> to work for Thomas Edison in New York City. He soon struck out on his own with financial backers, setting up laboratories and companies to develop a range of electrical devices.</a:t>
            </a:r>
            <a:endParaRPr sz="1800" lang="ja-JP">
              <a:latin typeface="Noto Sans"/>
              <a:ea typeface="Noto Sans CJK JP"/>
              <a:cs typeface="Noto Sans"/>
            </a:endParaRPr>
          </a:p>
        </p:txBody>
      </p:sp>
      <p:sp>
        <p:nvSpPr>
          <p:cNvPr id="7" name="example-question"/>
          <p:cNvSpPr txBox="1"/>
          <p:nvPr/>
        </p:nvSpPr>
        <p:spPr>
          <a:xfrm>
            <a:off x="548640" y="3541638"/>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In what year did Nikola Tesla emigrate to the United States?</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ニコラ・テスラがアメリカへ移住したのは何年か？</a:t>
            </a:r>
            <a:endParaRPr sz="1700" lang="ja-JP">
              <a:latin typeface="Noto Sans"/>
              <a:ea typeface="Noto Sans CJK JP"/>
              <a:cs typeface="Noto Sans"/>
            </a:endParaRPr>
          </a:p>
        </p:txBody>
      </p:sp>
      <p:sp>
        <p:nvSpPr>
          <p:cNvPr id="8" name="example-answer"/>
          <p:cNvSpPr txBox="1"/>
          <p:nvPr/>
        </p:nvSpPr>
        <p:spPr>
          <a:xfrm>
            <a:off x="548640" y="4189338"/>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1884</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Nikola_Tesla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56df9ee138dc421700152108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実例3 技術記事の質問</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705053"/>
            <a:ext cx="8046720" cy="137690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88566"/>
            <a:ext cx="7680960" cy="118872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Steam engines are </a:t>
            </a:r>
            <a:r>
              <a:rPr sz="1800" b="1" lang="ja-JP">
                <a:solidFill>
                  <a:srgbClr val="B13731"/>
                </a:solidFill>
                <a:latin typeface="Noto Sans"/>
                <a:ea typeface="Noto Sans CJK JP"/>
                <a:cs typeface="Noto Sans"/>
              </a:rPr>
              <a:t>external combustion</a:t>
            </a:r>
            <a:r>
              <a:rPr sz="1800" b="0" lang="ja-JP">
                <a:solidFill>
                  <a:srgbClr val="303437"/>
                </a:solidFill>
                <a:latin typeface="Noto Sans"/>
                <a:ea typeface="Noto Sans CJK JP"/>
                <a:cs typeface="Noto Sans"/>
              </a:rPr>
              <a:t> engines, where the working fluid is separate from the combustion products. Non-combustion heat sources such as solar power, nuclear power or geothermal energy may be used.</a:t>
            </a:r>
            <a:endParaRPr sz="1800" lang="ja-JP">
              <a:latin typeface="Noto Sans"/>
              <a:ea typeface="Noto Sans CJK JP"/>
              <a:cs typeface="Noto Sans"/>
            </a:endParaRPr>
          </a:p>
        </p:txBody>
      </p:sp>
      <p:sp>
        <p:nvSpPr>
          <p:cNvPr id="7" name="example-question"/>
          <p:cNvSpPr txBox="1"/>
          <p:nvPr/>
        </p:nvSpPr>
        <p:spPr>
          <a:xfrm>
            <a:off x="548640" y="3259761"/>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types of engines are steam engines?</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蒸気機関はどのような種類の機関か？</a:t>
            </a:r>
            <a:endParaRPr sz="1700" lang="ja-JP">
              <a:latin typeface="Noto Sans"/>
              <a:ea typeface="Noto Sans CJK JP"/>
              <a:cs typeface="Noto Sans"/>
            </a:endParaRPr>
          </a:p>
        </p:txBody>
      </p:sp>
      <p:sp>
        <p:nvSpPr>
          <p:cNvPr id="8" name="example-answer"/>
          <p:cNvSpPr txBox="1"/>
          <p:nvPr/>
        </p:nvSpPr>
        <p:spPr>
          <a:xfrm>
            <a:off x="548640" y="3918129"/>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external combustion</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Steam_engine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57112686b654c5140001fbd7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実例4 文章から回答できない質問</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37690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They were descended from Norse ("Norman" comes from "Norseman") raiders and pirates from Denmark, Iceland and Norway who, under their leader Rollo, agreed to swear fealty to King Charles III of West Francia.</a:t>
            </a:r>
            <a:endParaRPr sz="1800" lang="ja-JP">
              <a:latin typeface="Noto Sans"/>
              <a:ea typeface="Noto Sans CJK JP"/>
              <a:cs typeface="Noto Sans"/>
            </a:endParaRPr>
          </a:p>
        </p:txBody>
      </p:sp>
      <p:sp>
        <p:nvSpPr>
          <p:cNvPr id="7" name="example-question"/>
          <p:cNvSpPr txBox="1"/>
          <p:nvPr/>
        </p:nvSpPr>
        <p:spPr>
          <a:xfrm>
            <a:off x="548640" y="3245715"/>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Who did King Charles III swear fealty to?</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シャルル3世は誰に忠誠を誓ったか？</a:t>
            </a:r>
            <a:endParaRPr sz="1700" lang="ja-JP">
              <a:latin typeface="Noto Sans"/>
              <a:ea typeface="Noto Sans CJK JP"/>
              <a:cs typeface="Noto Sans"/>
            </a:endParaRPr>
          </a:p>
        </p:txBody>
      </p:sp>
      <p:sp>
        <p:nvSpPr>
          <p:cNvPr id="8" name="example-answer"/>
          <p:cNvSpPr txBox="1"/>
          <p:nvPr/>
        </p:nvSpPr>
        <p:spPr>
          <a:xfrm>
            <a:off x="548640" y="3893415"/>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回答不能（文章に根拠がない）</a:t>
            </a:r>
            <a:endParaRPr sz="2200" lang="ja-JP">
              <a:latin typeface="Noto Sans"/>
              <a:ea typeface="Noto Sans CJK JP"/>
              <a:cs typeface="Noto Sans"/>
            </a:endParaRPr>
          </a:p>
        </p:txBody>
      </p:sp>
      <p:sp>
        <p:nvSpPr>
          <p:cNvPr id="9" name="content-text"/>
          <p:cNvSpPr txBox="1"/>
          <p:nvPr/>
        </p:nvSpPr>
        <p:spPr>
          <a:xfrm>
            <a:off x="548640" y="4337915"/>
            <a:ext cx="8046720" cy="23145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Rollo の側が王に忠誠を誓う。王が誰に誓ったかは記載されていない。</a:t>
            </a:r>
            <a:endParaRPr sz="1400" lang="ja-JP">
              <a:latin typeface="Noto Sans"/>
              <a:ea typeface="Noto Sans CJK JP"/>
              <a:cs typeface="Noto Sans"/>
            </a:endParaRPr>
          </a:p>
        </p:txBody>
      </p:sp>
      <p:sp>
        <p:nvSpPr>
          <p:cNvPr id="10"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Normans　</a:t>
            </a:r>
            <a:r>
              <a:rPr sz="800" b="0" lang="ja-JP">
                <a:solidFill>
                  <a:srgbClr val="626669"/>
                </a:solidFill>
                <a:latin typeface="Noto Sans"/>
                <a:ea typeface="Noto Sans CJK JP"/>
                <a:cs typeface="Noto Sans"/>
                <a:hlinkClick r:id="rId2"/>
              </a:rPr>
              <a:t>https://rajpurkar.github.io/SQuAD-explorer/dataset/dev-v2.0.json</a:t>
            </a:r>
            <a:r>
              <a:rPr sz="800" b="0" lang="ja-JP">
                <a:solidFill>
                  <a:srgbClr val="626669"/>
                </a:solidFill>
                <a:latin typeface="Noto Sans"/>
                <a:ea typeface="Noto Sans CJK JP"/>
                <a:cs typeface="Noto Sans"/>
              </a:rPr>
              <a:t>  （CC BY-SA 4.0／抜粋・強調・質問訳を追加）　ID 5ad39d53604f3c001a3fe8d3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SQuAD のバージョン1.1と2.0</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1. SQuADの読解課題と版ごとの違い</a:t>
            </a:r>
            <a:endParaRPr sz="1400" lang="ja-JP">
              <a:latin typeface="Noto Sans"/>
              <a:ea typeface="Noto Sans CJK JP"/>
              <a:cs typeface="Noto Sans"/>
            </a:endParaRPr>
          </a:p>
        </p:txBody>
      </p:sp>
      <p:sp>
        <p:nvSpPr>
          <p:cNvPr id="4" name="content-text"/>
          <p:cNvSpPr/>
          <p:nvPr>
            <p:ph type="body" idx="1"/>
          </p:nvPr>
        </p:nvSpPr>
        <p:spPr>
          <a:xfrm>
            <a:off x="594360" y="1543050"/>
            <a:ext cx="8046720" cy="2674620"/>
          </a:xfrm>
          <a:prstGeom prst="rect">
            <a:avLst/>
          </a:prstGeom>
          <a:noFill/>
        </p:spPr>
        <p:txBody>
          <a:bodyPr wrap="square" anchor="t" lIns="91425" rIns="91425" tIns="91425" bIns="91425">
            <a:noAutofit/>
          </a:bodyPr>
          <a:lstStyle/>
          <a:p>
            <a:pPr algn="l" lvl="0" marL="457200" indent="-355600">
              <a:buSzPct val="57826"/>
              <a:buFont typeface="Noto Sans CJK JP"/>
              <a:buChar char="●"/>
              <a:defRPr sz="2300" lang="ja-JP">
                <a:latin typeface="Noto Sans"/>
                <a:ea typeface="Noto Sans CJK JP"/>
                <a:cs typeface="Noto Sans"/>
              </a:defRPr>
            </a:pPr>
            <a:r>
              <a:rPr sz="2300" b="0" lang="ja-JP">
                <a:solidFill>
                  <a:srgbClr val="303437"/>
                </a:solidFill>
                <a:latin typeface="Noto Sans"/>
                <a:ea typeface="Noto Sans CJK JP"/>
                <a:cs typeface="Noto Sans"/>
              </a:rPr>
              <a:t>バージョン1.1は、文章に答えがある質問を扱う </a:t>
            </a:r>
            <a:r>
              <a:rPr sz="2300" b="0" lang="ja-JP">
                <a:solidFill>
                  <a:srgbClr val="303437"/>
                </a:solidFill>
                <a:latin typeface="Noto Sans"/>
                <a:ea typeface="Noto Sans CJK JP"/>
                <a:cs typeface="Noto Sans"/>
              </a:rPr>
              <a:t>[1]</a:t>
            </a:r>
            <a:r>
              <a:rPr sz="2300" b="0" lang="ja-JP">
                <a:solidFill>
                  <a:srgbClr val="303437"/>
                </a:solidFill>
                <a:latin typeface="Noto Sans"/>
                <a:ea typeface="Noto Sans CJK JP"/>
                <a:cs typeface="Noto Sans"/>
              </a:rPr>
              <a:t>。</a:t>
            </a:r>
            <a:endParaRPr sz="2300" lang="ja-JP">
              <a:latin typeface="Noto Sans"/>
              <a:ea typeface="Noto Sans CJK JP"/>
              <a:cs typeface="Noto Sans"/>
            </a:endParaRPr>
          </a:p>
          <a:p>
            <a:pPr lvl="1" algn="l" marL="9144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質問に対応する本文中の範囲を回答する</a:t>
            </a:r>
            <a:endParaRPr sz="2100" lang="ja-JP">
              <a:latin typeface="Noto Sans"/>
              <a:ea typeface="Noto Sans CJK JP"/>
              <a:cs typeface="Noto Sans"/>
            </a:endParaRPr>
          </a:p>
          <a:p>
            <a:pPr algn="l" lvl="0" marL="457200" indent="-355600">
              <a:buSzPct val="57826"/>
              <a:buFont typeface="Noto Sans CJK JP"/>
              <a:buChar char="●"/>
              <a:defRPr sz="2300" lang="ja-JP">
                <a:latin typeface="Noto Sans"/>
                <a:ea typeface="Noto Sans CJK JP"/>
                <a:cs typeface="Noto Sans"/>
              </a:defRPr>
            </a:pPr>
            <a:r>
              <a:rPr sz="2300" b="0" lang="ja-JP">
                <a:solidFill>
                  <a:srgbClr val="303437"/>
                </a:solidFill>
                <a:latin typeface="Noto Sans"/>
                <a:ea typeface="Noto Sans CJK JP"/>
                <a:cs typeface="Noto Sans"/>
              </a:rPr>
              <a:t>バージョン2.0では、回答不能な質問を追加する </a:t>
            </a:r>
            <a:r>
              <a:rPr sz="2300" b="0" lang="ja-JP">
                <a:solidFill>
                  <a:srgbClr val="303437"/>
                </a:solidFill>
                <a:latin typeface="Noto Sans"/>
                <a:ea typeface="Noto Sans CJK JP"/>
                <a:cs typeface="Noto Sans"/>
              </a:rPr>
              <a:t>[2]</a:t>
            </a:r>
            <a:r>
              <a:rPr sz="2300" b="0" lang="ja-JP">
                <a:solidFill>
                  <a:srgbClr val="303437"/>
                </a:solidFill>
                <a:latin typeface="Noto Sans"/>
                <a:ea typeface="Noto Sans CJK JP"/>
                <a:cs typeface="Noto Sans"/>
              </a:rPr>
              <a:t>。</a:t>
            </a:r>
            <a:endParaRPr sz="2300" lang="ja-JP">
              <a:latin typeface="Noto Sans"/>
              <a:ea typeface="Noto Sans CJK JP"/>
              <a:cs typeface="Noto Sans"/>
            </a:endParaRPr>
          </a:p>
          <a:p>
            <a:pPr lvl="1" algn="l" marL="9144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既存の質問に似た、答えられない質問を人が作成。</a:t>
            </a:r>
            <a:endParaRPr sz="2100" lang="ja-JP">
              <a:latin typeface="Noto Sans"/>
              <a:ea typeface="Noto Sans CJK JP"/>
              <a:cs typeface="Noto Sans"/>
            </a:endParaRPr>
          </a:p>
          <a:p>
            <a:pPr lvl="1" algn="l" marL="9144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答えられるかを判定し、答えがなければ回答を控える。</a:t>
            </a:r>
            <a:endParaRPr sz="2100" lang="ja-JP">
              <a:latin typeface="Noto Sans"/>
              <a:ea typeface="Noto Sans CJK JP"/>
              <a:cs typeface="Noto Sans"/>
            </a:endParaRPr>
          </a:p>
          <a:p>
            <a:pPr algn="l" lvl="0" marL="457200" indent="-355600">
              <a:buSzPct val="57826"/>
              <a:buFont typeface="Noto Sans CJK JP"/>
              <a:buChar char="●"/>
              <a:defRPr sz="2300" lang="ja-JP">
                <a:latin typeface="Noto Sans"/>
                <a:ea typeface="Noto Sans CJK JP"/>
                <a:cs typeface="Noto Sans"/>
              </a:defRPr>
            </a:pPr>
            <a:r>
              <a:rPr sz="2300" b="0" lang="ja-JP">
                <a:solidFill>
                  <a:srgbClr val="303437"/>
                </a:solidFill>
                <a:latin typeface="Noto Sans"/>
                <a:ea typeface="Noto Sans CJK JP"/>
                <a:cs typeface="Noto Sans"/>
              </a:rPr>
              <a:t>異なるバージョンの得点は、そのまま比較できない。</a:t>
            </a:r>
            <a:endParaRPr sz="2300" lang="ja-JP">
              <a:latin typeface="Noto Sans"/>
              <a:ea typeface="Noto Sans CJK JP"/>
              <a:cs typeface="Noto Sans"/>
            </a:endParaRPr>
          </a:p>
        </p:txBody>
      </p:sp>
      <p:sp>
        <p:nvSpPr>
          <p:cNvPr id="5" name="TextBox 4"/>
          <p:cNvSpPr txBox="1"/>
          <p:nvPr/>
        </p:nvSpPr>
        <p:spPr>
          <a:xfrm>
            <a:off x="502920" y="43434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
        <p:nvSpPr>
          <p:cNvPr id="7" name="TextBox 6"/>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Rajpurkar et al. (2018). ACL, pp. 784–789. Know What You Don’t Know: Unanswerable Questions for SQuAD.</a:t>
            </a:r>
          </a:p>
        </p:txBody>
      </p:sp>
      <p:sp>
        <p:nvSpPr>
          <p:cNvPr id="8" name="TextBox 7"/>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https://aclanthology.org/P18-2124/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9852"/>
            <a:ext cx="8046720" cy="731520"/>
          </a:xfrm>
        </p:spPr>
        <p:txBody>
          <a:bodyPr wrap="square" lIns="0" rIns="0" tIns="0" bIns="0" anchor="ctr"/>
          <a:lstStyle/>
          <a:p>
            <a:pPr algn="ctr" marL="0" indent="0">
              <a:lnSpc>
                <a:spcPct val="100000"/>
              </a:lnSpc>
              <a:spcBef>
                <a:spcPts val="0"/>
              </a:spcBef>
              <a:spcAft>
                <a:spcPts val="0"/>
              </a:spcAft>
              <a:buNone/>
              <a:defRPr sz="4000" lang="ja-JP">
                <a:latin typeface="Noto Sans"/>
                <a:ea typeface="Noto Sans CJK JP"/>
                <a:cs typeface="Noto Sans"/>
              </a:defRPr>
            </a:pPr>
            <a:r>
              <a:rPr sz="3200" b="1" lang="ja-JP">
                <a:solidFill>
                  <a:srgbClr val="303437"/>
                </a:solidFill>
                <a:latin typeface="Noto Sans"/>
                <a:ea typeface="Noto Sans CJK JP"/>
                <a:cs typeface="Noto Sans"/>
              </a:rPr>
              <a:t>2. 質問・回答の作成方法と収録規模</a:t>
            </a:r>
            <a:endParaRPr sz="4000" lang="ja-JP">
              <a:latin typeface="Noto Sans"/>
              <a:ea typeface="Noto Sans CJK JP"/>
              <a:cs typeface="Noto Sans"/>
            </a:endParaRP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2. 質問・回答の作成方法と収録規模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MCTestは物語を読んで4択の質問に答える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MCTest（2013）は、短い物語を読み、4つの選択肢から質問の答えを選ぶ読解データセットである。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これに対しSQuADは、百科事典Wikipediaの段落を読み、答えの表現を本文中から選ぶ。</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選択肢を選ぶ形式から、段落内の任意の連続した回答範囲を特定する形式へ変わる。</a:t>
            </a:r>
          </a:p>
        </p:txBody>
      </p:sp>
      <p:sp>
        <p:nvSpPr>
          <p:cNvPr id="5" name="TextBox 4"/>
          <p:cNvSpPr txBox="1"/>
          <p:nvPr/>
        </p:nvSpPr>
        <p:spPr>
          <a:xfrm>
            <a:off x="502920" y="43434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Richardson et al. (2013). EMNLP. MCTest: A Challenge Dataset for the Open-Domain Machine Comprehension of Text.</a:t>
            </a:r>
          </a:p>
        </p:txBody>
      </p:sp>
      <p:sp>
        <p:nvSpPr>
          <p:cNvPr id="6" name="TextBox 5"/>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https://aclanthology.org/D13-1020/</a:t>
            </a:r>
          </a:p>
        </p:txBody>
      </p:sp>
      <p:sp>
        <p:nvSpPr>
          <p:cNvPr id="7" name="TextBox 6"/>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Rajpurkar et al. (2016). EMNLP, pp. 2383–2392. SQuAD: 100,000+ Questions for Machine Comprehension of Text.</a:t>
            </a:r>
          </a:p>
        </p:txBody>
      </p:sp>
      <p:sp>
        <p:nvSpPr>
          <p:cNvPr id="8" name="TextBox 7"/>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https://aclanthology.org/D16-1264/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750" b="1" lang="ja-JP">
                <a:solidFill>
                  <a:srgbClr val="303437"/>
                </a:solidFill>
                <a:latin typeface="Noto Sans"/>
                <a:ea typeface="Noto Sans CJK JP"/>
                <a:cs typeface="Noto Sans"/>
              </a:rPr>
              <a:t>ニュースから穴埋め問題を作るCNN／Daily Mail</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2. 質問・回答の作成方法と収録規模</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CNN／Daily Mail（2015）は、ニュースの要約文で固有表現を伏せ、元記事を根拠に埋める問題を自動作成した。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これに対しSQuADでは、人が段落を読んで質問を書き、固有表現に限らない回答範囲を選ぶ。</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人手による質問の多様性と、ニューラルモデルを学習・評価できる規模の両立を目指した。</a:t>
            </a:r>
          </a:p>
        </p:txBody>
      </p:sp>
      <p:sp>
        <p:nvSpPr>
          <p:cNvPr id="6" name="TextBox 5"/>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7" name="TextBox 6"/>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https://aclanthology.org/D16-1264/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人手による多様な読解問題を大規模に収集する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先行する読解データは、人手作成では小規模、自動作成では質問や正解の形式が限定されていた。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SQuADは、Wikipediaの段落に人が質問と回答範囲を付け、自然な読解問題を大量に用意することを目的とした。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2016年の原著は、500以上の記事から10万問以上を作成したと報告した。</a:t>
            </a:r>
          </a:p>
        </p:txBody>
      </p:sp>
      <p:sp>
        <p:nvSpPr>
          <p:cNvPr id="5" name="TextBox 4"/>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記事を選び段落単位で質問の素材にする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500"/>
              </a:spcAft>
              <a:buSzPct val="63333"/>
              <a:buFont typeface="Noto Sans CJK JP"/>
              <a:buChar char="●"/>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英語Wikipediaの記事を、リンク関係に基づく重要度PageRankで順位付けし、上位10,000記事から536記事を無作為に選んだ。</a:t>
            </a:r>
          </a:p>
          <a:p>
            <a:pPr lvl="0" marL="457200" indent="-355600">
              <a:lnSpc>
                <a:spcPct val="110000"/>
              </a:lnSpc>
              <a:spcBef>
                <a:spcPts val="0"/>
              </a:spcBef>
              <a:spcAft>
                <a:spcPts val="500"/>
              </a:spcAft>
              <a:buSzPct val="63333"/>
              <a:buFont typeface="Noto Sans CJK JP"/>
              <a:buChar char="●"/>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原著は、各記事から段落を取り出し、500文字未満を除いたと説明する。学習・開発・テストは記事単位で分けた。</a:t>
            </a:r>
          </a:p>
          <a:p>
            <a:pPr lvl="0" marL="457200" indent="-355600">
              <a:lnSpc>
                <a:spcPct val="110000"/>
              </a:lnSpc>
              <a:spcBef>
                <a:spcPts val="0"/>
              </a:spcBef>
              <a:spcAft>
                <a:spcPts val="500"/>
              </a:spcAft>
              <a:buSzPct val="63333"/>
              <a:buFont typeface="Noto Sans CJK JP"/>
              <a:buChar char="●"/>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公開バージョン1.1の学習用・開発用を実測すると、20,963段落のうち2,874段落は500文字未満である。原著の収集説明と公開版の実測は範囲が異なる。</a:t>
            </a:r>
          </a:p>
        </p:txBody>
      </p:sp>
      <p:sp>
        <p:nvSpPr>
          <p:cNvPr id="5" name="TextBox 4"/>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
        <p:nvSpPr>
          <p:cNvPr id="7" name="TextBox 6"/>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a:t>
            </a:r>
            <a:r>
              <a:rPr sz="800" lang="ja-JP">
                <a:solidFill>
                  <a:srgbClr val="626669"/>
                </a:solidFill>
                <a:latin typeface="Noto Sans"/>
                <a:ea typeface="Noto Sans CJK JP"/>
                <a:cs typeface="Noto Sans"/>
                <a:hlinkClick r:id="rId3"/>
              </a:rPr>
              <a:t>https://github.com/rajpurkar/SQuAD-explorer/tree/master/dataset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段落を読んで質問と最小限の回答範囲を作る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body"/>
          <p:cNvSpPr/>
          <p:nvPr>
            <p:ph type="body" idx="1"/>
          </p:nvPr>
        </p:nvSpPr>
        <p:spPr>
          <a:xfrm>
            <a:off x="594360" y="1288144"/>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オンラインで作業を依頼するAmazon Mechanical Turkを使い、作業者へ段落を提示した。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作業者は、その段落だけから答えられる質問を最大5問作った。段落の文をコピーせず、自分の言葉で質問を書くよう指示された。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答えとなる最小限の連続した範囲を段落内で選んだ。この範囲が、回答位置を予測するモデルの学習用の正解となる。</a:t>
            </a:r>
          </a:p>
        </p:txBody>
      </p:sp>
      <p:sp>
        <p:nvSpPr>
          <p:cNvPr id="5" name="TextBox 4"/>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追加の正解回答で表現の違いを許容する</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2. 質問・回答の作成方法と収録規模</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開発用・テスト用では、作成済みの質問へ別の作業者が追加の回答範囲を指定した。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同じ質問にも、長さや表現が異なる妥当な回答がありうるため、1問に複数の正解を持たせる。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評価では各正解との一致を計算し、その中で最も高い得点を質問の得点とする。正解注釈数は質問数と一致しない。</a:t>
            </a:r>
          </a:p>
        </p:txBody>
      </p:sp>
      <p:sp>
        <p:nvSpPr>
          <p:cNvPr id="6" name="TextBox 5"/>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7" name="TextBox 6"/>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バージョン2.0を作った理由と作成方法</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0455"/>
              <a:buFont typeface="Noto Sans CJK JP"/>
              <a:buChar char="●"/>
              <a:defRPr sz="2200" lang="ja-JP">
                <a:latin typeface="Noto Sans"/>
                <a:ea typeface="Noto Sans CJK JP"/>
                <a:cs typeface="Noto Sans"/>
              </a:defRPr>
            </a:pPr>
            <a:r>
              <a:rPr sz="2200" b="0" lang="ja-JP">
                <a:solidFill>
                  <a:srgbClr val="303437"/>
                </a:solidFill>
                <a:latin typeface="Noto Sans"/>
                <a:ea typeface="Noto Sans CJK JP"/>
                <a:cs typeface="Noto Sans"/>
              </a:rPr>
              <a:t>初版では、どの質問にも段落内に答えがあった </a:t>
            </a:r>
            <a:r>
              <a:rPr sz="2200" b="0" lang="ja-JP">
                <a:solidFill>
                  <a:srgbClr val="303437"/>
                </a:solidFill>
                <a:latin typeface="Noto Sans"/>
                <a:ea typeface="Noto Sans CJK JP"/>
                <a:cs typeface="Noto Sans"/>
              </a:rPr>
              <a:t>[1]</a:t>
            </a:r>
            <a:r>
              <a:rPr sz="2200" b="0" lang="ja-JP">
                <a:solidFill>
                  <a:srgbClr val="303437"/>
                </a:solidFill>
                <a:latin typeface="Noto Sans"/>
                <a:ea typeface="Noto Sans CJK JP"/>
                <a:cs typeface="Noto Sans"/>
              </a:rPr>
              <a:t>。</a:t>
            </a:r>
            <a:endParaRPr sz="2200" lang="ja-JP">
              <a:latin typeface="Noto Sans"/>
              <a:ea typeface="Noto Sans CJK JP"/>
              <a:cs typeface="Noto Sans"/>
            </a:endParaRPr>
          </a:p>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作業者が各段落に対し、回答不能な質問を最大5問作成した。</a:t>
            </a:r>
            <a:endParaRPr sz="2100" lang="ja-JP">
              <a:latin typeface="Noto Sans"/>
              <a:ea typeface="Noto Sans CJK JP"/>
              <a:cs typeface="Noto Sans"/>
            </a:endParaRPr>
          </a:p>
          <a:p>
            <a:pPr lvl="1" algn="l" marL="9144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段落の話題に関連し、回答可能な質問に見えるようにする。</a:t>
            </a:r>
            <a:endParaRPr sz="2000" lang="ja-JP">
              <a:latin typeface="Noto Sans"/>
              <a:ea typeface="Noto Sans CJK JP"/>
              <a:cs typeface="Noto Sans"/>
            </a:endParaRPr>
          </a:p>
          <a:p>
            <a:pPr lvl="1" algn="l" marL="9144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段落内に、答えに見える候補がある質問にする。</a:t>
            </a:r>
            <a:endParaRPr sz="2000" lang="ja-JP">
              <a:latin typeface="Noto Sans"/>
              <a:ea typeface="Noto Sans CJK JP"/>
              <a:cs typeface="Noto Sans"/>
            </a:endParaRPr>
          </a:p>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記事・段落ごとの作業を分配し、人手で50,000問以上を追加。</a:t>
            </a:r>
            <a:endParaRPr sz="2100" lang="ja-JP">
              <a:latin typeface="Noto Sans"/>
              <a:ea typeface="Noto Sans CJK JP"/>
              <a:cs typeface="Noto Sans"/>
            </a:endParaRPr>
          </a:p>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回答範囲の抽出と、回答保留の判断を評価する。</a:t>
            </a:r>
            <a:endParaRPr sz="2100" lang="ja-JP">
              <a:latin typeface="Noto Sans"/>
              <a:ea typeface="Noto Sans CJK JP"/>
              <a:cs typeface="Noto Sans"/>
            </a:endParaRPr>
          </a:p>
        </p:txBody>
      </p:sp>
      <p:sp>
        <p:nvSpPr>
          <p:cNvPr id="5" name="TextBox 4"/>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(2018). ACL, pp. 784–789. Know What You Don’t Know: Unanswerable Questions for SQuAD. §1, §3</a:t>
            </a:r>
          </a:p>
        </p:txBody>
      </p:sp>
      <p:sp>
        <p:nvSpPr>
          <p:cNvPr id="6" name="TextBox 5"/>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https://aclanthology.org/P18-2124/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SQuAD各版の質問数・回答不能数・記事数</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68767"/>
          <a:ext cx="8046719" cy="1903095"/>
        </p:xfrm>
        <a:graphic>
          <a:graphicData uri="http://schemas.openxmlformats.org/drawingml/2006/table">
            <a:tbl>
              <a:tblPr firstRow="1" bandRow="1">
                <a:tableStyleId>{5C22544A-7EE6-4342-B048-85BDC9FD1C3A}</a:tableStyleId>
              </a:tblPr>
              <a:tblGrid>
                <a:gridCol w="2574950"/>
                <a:gridCol w="1609344"/>
                <a:gridCol w="1609344"/>
                <a:gridCol w="2253081"/>
              </a:tblGrid>
              <a:tr h="380619">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版・分割 [1]</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質問数</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回答不能</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Wikipedia記事数</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80619">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1.1・学習用</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87,599</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0</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442</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80619">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1.1・開発用</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10,570</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0</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48</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80619">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2.0・学習用</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130,319</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43,498</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442</a:t>
                      </a:r>
                      <a:endParaRPr sz="19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80619">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2.0・開発用</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11,873</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5,945</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35</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845560"/>
            <a:ext cx="8046720" cy="658368"/>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記事数は、質問の元となったWikipedia記事の数。</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バージョン2.0は同じ記事に回答不能な質問を追加。</a:t>
            </a:r>
            <a:endParaRPr sz="2000" lang="ja-JP">
              <a:latin typeface="Noto Sans"/>
              <a:ea typeface="Noto Sans CJK JP"/>
              <a:cs typeface="Noto Sans"/>
            </a:endParaRPr>
          </a:p>
        </p:txBody>
      </p:sp>
      <p:sp>
        <p:nvSpPr>
          <p:cNvPr id="6"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公式 train / dev JSON の全件集計　</a:t>
            </a: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質問に大量の空白が含まれる実例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content-text"/>
          <p:cNvSpPr/>
          <p:nvPr>
            <p:ph type="body" idx="1"/>
          </p:nvPr>
        </p:nvSpPr>
        <p:spPr>
          <a:xfrm>
            <a:off x="594360" y="1543050"/>
            <a:ext cx="8046720" cy="2674620"/>
          </a:xfrm>
          <a:prstGeom prst="rect">
            <a:avLst/>
          </a:prstGeom>
          <a:noFill/>
        </p:spPr>
        <p:txBody>
          <a:bodyPr wrap="square" anchor="t" lIns="91425" rIns="91425" tIns="91425" bIns="91425">
            <a:noAutofit/>
          </a:bodyPr>
          <a:lstStyle/>
          <a:p>
            <a:pPr algn="l" lvl="0" marL="457200" indent="-355600">
              <a:buSzPct val="57826"/>
              <a:buFont typeface="Noto Sans CJK JP"/>
              <a:buChar char="●"/>
              <a:defRPr sz="2300" lang="ja-JP">
                <a:latin typeface="Noto Sans"/>
                <a:ea typeface="Noto Sans CJK JP"/>
                <a:cs typeface="Noto Sans"/>
              </a:defRPr>
            </a:pPr>
            <a:r>
              <a:rPr sz="2300" b="0" lang="ja-JP">
                <a:solidFill>
                  <a:srgbClr val="303437"/>
                </a:solidFill>
                <a:latin typeface="Noto Sans"/>
                <a:ea typeface="Noto Sans CJK JP"/>
                <a:cs typeface="Noto Sans"/>
              </a:rPr>
              <a:t>前後に大量の空白が含まれる質問を1件確認 </a:t>
            </a:r>
            <a:r>
              <a:rPr sz="2300" b="0" lang="ja-JP">
                <a:solidFill>
                  <a:srgbClr val="303437"/>
                </a:solidFill>
                <a:latin typeface="Noto Sans"/>
                <a:ea typeface="Noto Sans CJK JP"/>
                <a:cs typeface="Noto Sans"/>
              </a:rPr>
              <a:t>[1]</a:t>
            </a:r>
            <a:r>
              <a:rPr sz="2300" b="0" lang="ja-JP">
                <a:solidFill>
                  <a:srgbClr val="303437"/>
                </a:solidFill>
                <a:latin typeface="Noto Sans"/>
                <a:ea typeface="Noto Sans CJK JP"/>
                <a:cs typeface="Noto Sans"/>
              </a:rPr>
              <a:t>。</a:t>
            </a:r>
            <a:endParaRPr sz="2300" lang="ja-JP">
              <a:latin typeface="Noto Sans"/>
              <a:ea typeface="Noto Sans CJK JP"/>
              <a:cs typeface="Noto Sans"/>
            </a:endParaRPr>
          </a:p>
          <a:p>
            <a:pPr lvl="1" algn="l" marL="914400" indent="-355600">
              <a:buSzPct val="60455"/>
              <a:buFont typeface="Noto Sans CJK JP"/>
              <a:buChar char="○"/>
              <a:defRPr sz="2200" lang="ja-JP">
                <a:latin typeface="Noto Sans"/>
                <a:ea typeface="Noto Sans CJK JP"/>
                <a:cs typeface="Noto Sans"/>
              </a:defRPr>
            </a:pPr>
            <a:r>
              <a:rPr sz="2200" b="0" lang="ja-JP">
                <a:solidFill>
                  <a:srgbClr val="303437"/>
                </a:solidFill>
                <a:latin typeface="Noto Sans"/>
                <a:ea typeface="Noto Sans CJK JP"/>
                <a:cs typeface="Noto Sans"/>
              </a:rPr>
              <a:t>元文字列 25,651文字 → 前後空白を除去 59文字。</a:t>
            </a:r>
            <a:endParaRPr sz="2200" lang="ja-JP">
              <a:latin typeface="Noto Sans"/>
              <a:ea typeface="Noto Sans CJK JP"/>
              <a:cs typeface="Noto Sans"/>
            </a:endParaRPr>
          </a:p>
          <a:p>
            <a:pPr algn="l" lvl="0" marL="457200" indent="-355600">
              <a:buSzPct val="70000"/>
              <a:buFont typeface="Noto Sans CJK JP"/>
              <a:buChar char="●"/>
              <a:defRPr sz="1900" lang="ja-JP">
                <a:latin typeface="Noto Sans"/>
                <a:ea typeface="Noto Sans CJK JP"/>
                <a:cs typeface="Noto Sans"/>
              </a:defRPr>
            </a:pPr>
            <a:r>
              <a:rPr sz="1900" b="0" lang="ja-JP">
                <a:solidFill>
                  <a:srgbClr val="303437"/>
                </a:solidFill>
                <a:latin typeface="Noto Sans"/>
                <a:ea typeface="Noto Sans CJK JP"/>
                <a:cs typeface="Noto Sans"/>
              </a:rPr>
              <a:t>What radiates two lobes perpendicular to the antennas axis?</a:t>
            </a:r>
            <a:endParaRPr sz="1900" lang="ja-JP">
              <a:latin typeface="Noto Sans"/>
              <a:ea typeface="Noto Sans CJK JP"/>
              <a:cs typeface="Noto Sans"/>
            </a:endParaRPr>
          </a:p>
          <a:p>
            <a:pPr lvl="1" algn="l" marL="9144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アンテナの軸に垂直な2つのローブを放射するものは何か。</a:t>
            </a:r>
            <a:endParaRPr sz="2000" lang="ja-JP">
              <a:latin typeface="Noto Sans"/>
              <a:ea typeface="Noto Sans CJK JP"/>
              <a:cs typeface="Noto Sans"/>
            </a:endParaRPr>
          </a:p>
          <a:p>
            <a:pPr algn="l" lvl="0" marL="457200" indent="-355600">
              <a:buSzPct val="57826"/>
              <a:buFont typeface="Noto Sans CJK JP"/>
              <a:buChar char="●"/>
              <a:defRPr sz="2300" lang="ja-JP">
                <a:latin typeface="Noto Sans"/>
                <a:ea typeface="Noto Sans CJK JP"/>
                <a:cs typeface="Noto Sans"/>
              </a:defRPr>
            </a:pPr>
            <a:r>
              <a:rPr sz="2300" b="0" lang="ja-JP">
                <a:solidFill>
                  <a:srgbClr val="303437"/>
                </a:solidFill>
                <a:latin typeface="Noto Sans"/>
                <a:ea typeface="Noto Sans CJK JP"/>
                <a:cs typeface="Noto Sans"/>
              </a:rPr>
              <a:t>主要統計は前後空白だけを除去し、本文の文字は保持。</a:t>
            </a:r>
            <a:endParaRPr sz="2300" lang="ja-JP">
              <a:latin typeface="Noto Sans"/>
              <a:ea typeface="Noto Sans CJK JP"/>
              <a:cs typeface="Noto Sans"/>
            </a:endParaRPr>
          </a:p>
          <a:p>
            <a:pPr algn="l" lvl="0" marL="457200" indent="-355600">
              <a:buSzPct val="60455"/>
              <a:buFont typeface="Noto Sans CJK JP"/>
              <a:buChar char="●"/>
              <a:defRPr sz="2200" lang="ja-JP">
                <a:latin typeface="Noto Sans"/>
                <a:ea typeface="Noto Sans CJK JP"/>
                <a:cs typeface="Noto Sans"/>
              </a:defRPr>
            </a:pPr>
            <a:r>
              <a:rPr sz="2200" b="0" lang="ja-JP">
                <a:solidFill>
                  <a:srgbClr val="303437"/>
                </a:solidFill>
                <a:latin typeface="Noto Sans"/>
                <a:ea typeface="Noto Sans CJK JP"/>
                <a:cs typeface="Noto Sans"/>
              </a:rPr>
              <a:t>長さの比較では、空白を含めるかで結果が大きく変わる。</a:t>
            </a:r>
            <a:endParaRPr sz="22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572fdefb947a6a140053cd8d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長い入力段落の例 Sahara</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段落文字数 3706／段落単語数 653 </a:t>
            </a:r>
            <a:r>
              <a:rPr sz="2100" b="0" lang="ja-JP">
                <a:solidFill>
                  <a:srgbClr val="303437"/>
                </a:solidFill>
                <a:latin typeface="Noto Sans"/>
                <a:ea typeface="Noto Sans CJK JP"/>
                <a:cs typeface="Noto Sans"/>
              </a:rPr>
              <a:t>[1]</a:t>
            </a:r>
            <a:r>
              <a:rPr sz="2100" b="0" lang="ja-JP">
                <a:solidFill>
                  <a:srgbClr val="303437"/>
                </a:solidFill>
                <a:latin typeface="Noto Sans"/>
                <a:ea typeface="Noto Sans CJK JP"/>
                <a:cs typeface="Noto Sans"/>
              </a:rPr>
              <a:t>。</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What is the largest hottest continuously large area worldwide?</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the Great Desert</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1.1/train、2.0/train。</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Sahara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5728c4163acd2414000dfddf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長い段落の原文抜粋 Sahara</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5207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A value of 4,300 h or 98% of the time would be recorded in Upper Egypt (Aswan, Luxor) and in the Nubian Desert (Wadi Halfa). The annual average direct solar irradiation is around 2,800 kWh/(m2 year) in the Great Desert. The Sahara has a huge potential for solar energy production. The constantly high position of the sun, the extremely low relative humidity, the lack of vegetation and rainfall make the Great Desert the hottest continuously large area worldwide and certainly the hottest place on Earth during summertime in some spots.</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5728c4163acd2414000dfddf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入力段落（context）の長さ</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620202"/>
          <a:ext cx="8046716" cy="1388745"/>
        </p:xfrm>
        <a:graphic>
          <a:graphicData uri="http://schemas.openxmlformats.org/drawingml/2006/table">
            <a:tbl>
              <a:tblPr firstRow="1" bandRow="1">
                <a:tableStyleId>{5C22544A-7EE6-4342-B048-85BDC9FD1C3A}</a:tableStyleId>
              </a:tblPr>
              <a:tblGrid>
                <a:gridCol w="2735884"/>
                <a:gridCol w="1327708"/>
                <a:gridCol w="1327708"/>
                <a:gridCol w="1327708"/>
                <a:gridCol w="1327708"/>
              </a:tblGrid>
              <a:tr h="462915">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context の長さ [1]</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平均</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中央値</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95%点</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最大</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462915">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文字数</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739.6</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679.0</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1312.0</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4063</a:t>
                      </a:r>
                      <a:endParaRPr sz="19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462915">
                <a:tc>
                  <a:txBody>
                    <a:bodyPr wrap="square" anchor="ctr" lIns="0" rIns="0" tIns="0" bIns="0">
                      <a:noAutofit/>
                    </a:bodyPr>
                    <a:lstStyle/>
                    <a:p>
                      <a:pPr algn="l"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単語数</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117.2</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108.0</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210.0</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900" lang="ja-JP">
                          <a:latin typeface="Noto Sans"/>
                          <a:ea typeface="Noto Sans CJK JP"/>
                          <a:cs typeface="Noto Sans"/>
                        </a:defRPr>
                      </a:pPr>
                      <a:r>
                        <a:rPr sz="1900" b="0" lang="ja-JP">
                          <a:solidFill>
                            <a:srgbClr val="303437"/>
                          </a:solidFill>
                          <a:latin typeface="Noto Sans"/>
                          <a:ea typeface="Noto Sans CJK JP"/>
                          <a:cs typeface="Noto Sans"/>
                        </a:rPr>
                        <a:t>653</a:t>
                      </a:r>
                      <a:endParaRPr sz="19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343275"/>
            <a:ext cx="8046720" cy="1183005"/>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バージョン1.1 train＋dev、20,963段落を各1回集計。</a:t>
            </a:r>
            <a:endParaRPr sz="2100" lang="ja-JP">
              <a:latin typeface="Noto Sans"/>
              <a:ea typeface="Noto Sans CJK JP"/>
              <a:cs typeface="Noto Sans"/>
            </a:endParaRPr>
          </a:p>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同じ段落への複数質問による重複カウントはしない。</a:t>
            </a:r>
            <a:endParaRPr sz="2100" lang="ja-JP">
              <a:latin typeface="Noto Sans"/>
              <a:ea typeface="Noto Sans CJK JP"/>
              <a:cs typeface="Noto Sans"/>
            </a:endParaRPr>
          </a:p>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最大4,063文字／653単語。別々の段落。</a:t>
            </a:r>
            <a:endParaRPr sz="21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文字数は前後空白を除去／単語数は空白分割。</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長い質問の例 Age of Enlightenment</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質問文字数 270／質問単語数 40 [1]</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Which century is considered by some as a "drab" period, however saw significant advancements in the practice of medicine, mathematics, and physics, the development of biological taxonomy, a new understanding of magnetism, and the maturation of chemistry as a discipline?</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the 18th century</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1.1/train、2.0/train。</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Age_of_Enlightenment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5710dcb5b654c5140001fa10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長い質問の根拠となる原文抜粋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5207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Philosophes introduced the public to many scientific theories, most notably through the Encyclopédie and the popularization of Newtonianism by Voltaire and Émilie du Châtelet. Some historians have marked the 18th century as a drab period in the history of science; however, the century saw significant advancements in the practice of medicine, mathematics, and physics; the development of biological taxonomy; a new understanding of magnetism and electricity; and the maturation of chemistry as a discipline, which established the foundations of modern chemistry.</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5710dcb5b654c5140001fa10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質問と回答の長さ</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2. 質問・回答の作成方法と収録規模</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43050"/>
          <a:ext cx="8046716" cy="1954530"/>
        </p:xfrm>
        <a:graphic>
          <a:graphicData uri="http://schemas.openxmlformats.org/drawingml/2006/table">
            <a:tbl>
              <a:tblPr firstRow="1" bandRow="1">
                <a:tableStyleId>{5C22544A-7EE6-4342-B048-85BDC9FD1C3A}</a:tableStyleId>
              </a:tblPr>
              <a:tblGrid>
                <a:gridCol w="2735884"/>
                <a:gridCol w="1327708"/>
                <a:gridCol w="1327708"/>
                <a:gridCol w="1327708"/>
                <a:gridCol w="1327708"/>
              </a:tblGrid>
              <a:tr h="390906">
                <a:tc>
                  <a:txBody>
                    <a:bodyPr wrap="square" anchor="ctr"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長さ [1]</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平均</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中央値</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95%点</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最大</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質問の文字数</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59.3</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56.0</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98.0</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270</a:t>
                      </a:r>
                      <a:endParaRPr sz="18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質問の単語数</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10.1</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10.0</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17.0</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40</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回答の文字数</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20.1</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14.0</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63.0</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239</a:t>
                      </a:r>
                      <a:endParaRPr sz="18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回答の単語数</a:t>
                      </a:r>
                      <a:endParaRPr sz="18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3.1</a:t>
                      </a:r>
                      <a:endParaRPr sz="18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2.0</a:t>
                      </a:r>
                      <a:endParaRPr sz="18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10.0</a:t>
                      </a:r>
                      <a:endParaRPr sz="18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43</a:t>
                      </a:r>
                      <a:endParaRPr sz="18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08400"/>
            <a:ext cx="8046720" cy="761134"/>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公開データ98,169問の先頭正解を1問1件で集計。</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最大の回答は43単語・239文字。</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バージョン1.1のtrainとdevを集計。文字数は前後空白を除去し、単語数は空白で分割。</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9852"/>
            <a:ext cx="8046720" cy="731520"/>
          </a:xfrm>
        </p:spPr>
        <p:txBody>
          <a:bodyPr wrap="square" lIns="0" rIns="0" tIns="0" bIns="0" anchor="ctr"/>
          <a:lstStyle/>
          <a:p>
            <a:pPr algn="ctr" marL="0" indent="0">
              <a:lnSpc>
                <a:spcPct val="100000"/>
              </a:lnSpc>
              <a:spcBef>
                <a:spcPts val="0"/>
              </a:spcBef>
              <a:spcAft>
                <a:spcPts val="0"/>
              </a:spcAft>
              <a:buNone/>
              <a:defRPr sz="4000" lang="ja-JP">
                <a:latin typeface="Noto Sans"/>
                <a:ea typeface="Noto Sans CJK JP"/>
                <a:cs typeface="Noto Sans"/>
              </a:defRPr>
            </a:pPr>
            <a:r>
              <a:rPr sz="3200" b="1" lang="ja-JP">
                <a:solidFill>
                  <a:srgbClr val="303437"/>
                </a:solidFill>
                <a:latin typeface="Noto Sans"/>
                <a:ea typeface="Noto Sans CJK JP"/>
                <a:cs typeface="Noto Sans"/>
              </a:rPr>
              <a:t>3. 読解の評価指標とモデル性能</a:t>
            </a:r>
            <a:endParaRPr sz="4000" lang="ja-JP">
              <a:latin typeface="Noto Sans"/>
              <a:ea typeface="Noto Sans CJK JP"/>
              <a:cs typeface="Noto Sans"/>
            </a:endParaRP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3. 読解の評価指標とモデル性能</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完全一致と単語の重なりを別々に評価する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3. 読解の評価指標とモデル性能</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SQuADの評価には、回答文字列が一致するかを測るExact Match（EM）と、単語の重なりを測るF1がある。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EMは、予測が正解に完全一致すれば1、それ以外は0である。F1は、一致した単語の割合を予測側と正解側で計算して組み合わせる。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どちらも、各質問で得た0〜1の得点を全質問について平均し、百分率で報告する。</a:t>
            </a:r>
          </a:p>
        </p:txBody>
      </p:sp>
      <p:sp>
        <p:nvSpPr>
          <p:cNvPr id="5"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https://github.com/huggingface/evaluate/blob/main/metrics/squad/compute_score.py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Denverだけを答えると部分一致になる</a:t>
            </a: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3. 読解の評価指標とモデル性能</a:t>
            </a:r>
          </a:p>
        </p:txBody>
      </p:sp>
      <p:sp>
        <p:nvSpPr>
          <p:cNvPr id="4"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https://github.com/huggingface/evaluate/blob/main/metrics/squad/compute_score.py</a:t>
            </a:r>
          </a:p>
        </p:txBody>
      </p:sp>
      <p:graphicFrame>
        <p:nvGraphicFramePr>
          <p:cNvPr id="5" name="Table 4"/>
          <p:cNvGraphicFramePr>
            <a:graphicFrameLocks noGrp="1"/>
          </p:cNvGraphicFramePr>
          <p:nvPr/>
        </p:nvGraphicFramePr>
        <p:xfrm>
          <a:off x="548640" y="1417320"/>
          <a:ext cx="8046720" cy="2048256"/>
        </p:xfrm>
        <a:graphic>
          <a:graphicData uri="http://schemas.openxmlformats.org/drawingml/2006/table">
            <a:tbl>
              <a:tblPr firstRow="0" bandRow="0" lastRow="0" firstCol="0" lastCol="0" bandCol="0"/>
              <a:tblGrid>
                <a:gridCol w="5120640"/>
                <a:gridCol w="1463040"/>
                <a:gridCol w="1463040"/>
              </a:tblGrid>
              <a:tr h="512064">
                <a:tc>
                  <a:txBody>
                    <a:bodyPr/>
                    <a:lstStyle/>
                    <a:p>
                      <a:pPr algn="l">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予測（正解はDenver Broncos）</a:t>
                      </a:r>
                    </a:p>
                  </a:txBody>
                  <a:tcPr marL="76200" marR="76200" marT="38100" marB="38100" anchor="ctr">
                    <a:lnL w="0">
                      <a:noFill/>
                    </a:lnL>
                    <a:lnR w="0">
                      <a:noFill/>
                    </a:lnR>
                    <a:lnT w="10160">
                      <a:solidFill>
                        <a:srgbClr val="626669"/>
                      </a:solidFill>
                      <a:prstDash val="solid"/>
                    </a:lnT>
                    <a:lnB w="10160">
                      <a:solidFill>
                        <a:srgbClr val="626669"/>
                      </a:solidFill>
                      <a:prstDash val="solid"/>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EM</a:t>
                      </a:r>
                    </a:p>
                  </a:txBody>
                  <a:tcPr marL="76200" marR="76200" marT="38100" marB="38100" anchor="ctr">
                    <a:lnL w="0">
                      <a:noFill/>
                    </a:lnL>
                    <a:lnR w="0">
                      <a:noFill/>
                    </a:lnR>
                    <a:lnT w="10160">
                      <a:solidFill>
                        <a:srgbClr val="626669"/>
                      </a:solidFill>
                      <a:prstDash val="solid"/>
                    </a:lnT>
                    <a:lnB w="10160">
                      <a:solidFill>
                        <a:srgbClr val="626669"/>
                      </a:solidFill>
                      <a:prstDash val="solid"/>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F1</a:t>
                      </a:r>
                    </a:p>
                  </a:txBody>
                  <a:tcPr marL="76200" marR="76200" marT="38100" marB="38100" anchor="ctr">
                    <a:lnL w="0">
                      <a:noFill/>
                    </a:lnL>
                    <a:lnR w="0">
                      <a:noFill/>
                    </a:lnR>
                    <a:lnT w="10160">
                      <a:solidFill>
                        <a:srgbClr val="626669"/>
                      </a:solidFill>
                      <a:prstDash val="solid"/>
                    </a:lnT>
                    <a:lnB w="10160">
                      <a:solidFill>
                        <a:srgbClr val="626669"/>
                      </a:solidFill>
                      <a:prstDash val="solid"/>
                    </a:lnB>
                    <a:solidFill>
                      <a:srgbClr val="FFFEF8"/>
                    </a:solidFill>
                  </a:tcPr>
                </a:tc>
              </a:tr>
              <a:tr h="512064">
                <a:tc>
                  <a:txBody>
                    <a:bodyPr/>
                    <a:lstStyle/>
                    <a:p>
                      <a:pPr algn="l">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Denver Broncos</a:t>
                      </a:r>
                    </a:p>
                  </a:txBody>
                  <a:tcPr marL="76200" marR="76200" marT="38100" marB="38100" anchor="ctr">
                    <a:lnL w="0">
                      <a:noFill/>
                    </a:lnL>
                    <a:lnR w="0">
                      <a:noFill/>
                    </a:lnR>
                    <a:lnT w="10160">
                      <a:solidFill>
                        <a:srgbClr val="626669"/>
                      </a:solidFill>
                      <a:prstDash val="solid"/>
                    </a:lnT>
                    <a:lnB w="0">
                      <a:noFill/>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1</a:t>
                      </a:r>
                    </a:p>
                  </a:txBody>
                  <a:tcPr marL="76200" marR="76200" marT="38100" marB="38100" anchor="ctr">
                    <a:lnL w="0">
                      <a:noFill/>
                    </a:lnL>
                    <a:lnR w="0">
                      <a:noFill/>
                    </a:lnR>
                    <a:lnT w="10160">
                      <a:solidFill>
                        <a:srgbClr val="626669"/>
                      </a:solidFill>
                      <a:prstDash val="solid"/>
                    </a:lnT>
                    <a:lnB w="0">
                      <a:noFill/>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1</a:t>
                      </a:r>
                    </a:p>
                  </a:txBody>
                  <a:tcPr marL="76200" marR="76200" marT="38100" marB="38100" anchor="ctr">
                    <a:lnL w="0">
                      <a:noFill/>
                    </a:lnL>
                    <a:lnR w="0">
                      <a:noFill/>
                    </a:lnR>
                    <a:lnT w="10160">
                      <a:solidFill>
                        <a:srgbClr val="626669"/>
                      </a:solidFill>
                      <a:prstDash val="solid"/>
                    </a:lnT>
                    <a:lnB w="0">
                      <a:noFill/>
                    </a:lnB>
                    <a:solidFill>
                      <a:srgbClr val="FFFEF8"/>
                    </a:solidFill>
                  </a:tcPr>
                </a:tc>
              </a:tr>
              <a:tr h="512064">
                <a:tc>
                  <a:txBody>
                    <a:bodyPr/>
                    <a:lstStyle/>
                    <a:p>
                      <a:pPr algn="l">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Denver</a:t>
                      </a:r>
                    </a:p>
                  </a:txBody>
                  <a:tcPr marL="76200" marR="76200" marT="38100" marB="38100" anchor="ctr">
                    <a:lnL w="0">
                      <a:noFill/>
                    </a:lnL>
                    <a:lnR w="0">
                      <a:noFill/>
                    </a:lnR>
                    <a:lnT w="0">
                      <a:noFill/>
                    </a:lnT>
                    <a:lnB w="0">
                      <a:noFill/>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0</a:t>
                      </a:r>
                    </a:p>
                  </a:txBody>
                  <a:tcPr marL="76200" marR="76200" marT="38100" marB="38100" anchor="ctr">
                    <a:lnL w="0">
                      <a:noFill/>
                    </a:lnL>
                    <a:lnR w="0">
                      <a:noFill/>
                    </a:lnR>
                    <a:lnT w="0">
                      <a:noFill/>
                    </a:lnT>
                    <a:lnB w="0">
                      <a:noFill/>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2/3</a:t>
                      </a:r>
                    </a:p>
                  </a:txBody>
                  <a:tcPr marL="76200" marR="76200" marT="38100" marB="38100" anchor="ctr">
                    <a:lnL w="0">
                      <a:noFill/>
                    </a:lnL>
                    <a:lnR w="0">
                      <a:noFill/>
                    </a:lnR>
                    <a:lnT w="0">
                      <a:noFill/>
                    </a:lnT>
                    <a:lnB w="0">
                      <a:noFill/>
                    </a:lnB>
                    <a:solidFill>
                      <a:srgbClr val="FFFEF8"/>
                    </a:solidFill>
                  </a:tcPr>
                </a:tc>
              </a:tr>
              <a:tr h="512064">
                <a:tc>
                  <a:txBody>
                    <a:bodyPr/>
                    <a:lstStyle/>
                    <a:p>
                      <a:pPr algn="l">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Carolina Panthers</a:t>
                      </a:r>
                    </a:p>
                  </a:txBody>
                  <a:tcPr marL="76200" marR="76200" marT="38100" marB="38100" anchor="ctr">
                    <a:lnL w="0">
                      <a:noFill/>
                    </a:lnL>
                    <a:lnR w="0">
                      <a:noFill/>
                    </a:lnR>
                    <a:lnT w="0">
                      <a:noFill/>
                    </a:lnT>
                    <a:lnB w="10160">
                      <a:solidFill>
                        <a:srgbClr val="626669"/>
                      </a:solidFill>
                      <a:prstDash val="solid"/>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0</a:t>
                      </a:r>
                    </a:p>
                  </a:txBody>
                  <a:tcPr marL="76200" marR="76200" marT="38100" marB="38100" anchor="ctr">
                    <a:lnL w="0">
                      <a:noFill/>
                    </a:lnL>
                    <a:lnR w="0">
                      <a:noFill/>
                    </a:lnR>
                    <a:lnT w="0">
                      <a:noFill/>
                    </a:lnT>
                    <a:lnB w="10160">
                      <a:solidFill>
                        <a:srgbClr val="626669"/>
                      </a:solidFill>
                      <a:prstDash val="solid"/>
                    </a:lnB>
                    <a:solidFill>
                      <a:srgbClr val="FFFEF8"/>
                    </a:solidFill>
                  </a:tcPr>
                </a:tc>
                <a:tc>
                  <a:txBody>
                    <a:bodyPr/>
                    <a:lstStyle/>
                    <a:p>
                      <a:pPr algn="r">
                        <a:lnSpc>
                          <a:spcPct val="110000"/>
                        </a:lnSpc>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0</a:t>
                      </a:r>
                    </a:p>
                  </a:txBody>
                  <a:tcPr marL="76200" marR="76200" marT="38100" marB="38100" anchor="ctr">
                    <a:lnL w="0">
                      <a:noFill/>
                    </a:lnL>
                    <a:lnR w="0">
                      <a:noFill/>
                    </a:lnR>
                    <a:lnT w="0">
                      <a:noFill/>
                    </a:lnT>
                    <a:lnB w="10160">
                      <a:solidFill>
                        <a:srgbClr val="626669"/>
                      </a:solidFill>
                      <a:prstDash val="solid"/>
                    </a:lnB>
                    <a:solidFill>
                      <a:srgbClr val="FFFEF8"/>
                    </a:solidFill>
                  </a:tcPr>
                </a:tc>
              </a:tr>
            </a:tbl>
          </a:graphicData>
        </a:graphic>
      </p:graphicFrame>
      <p:sp>
        <p:nvSpPr>
          <p:cNvPr id="6" name="TextBox 5"/>
          <p:cNvSpPr txBox="1"/>
          <p:nvPr/>
        </p:nvSpPr>
        <p:spPr>
          <a:xfrm>
            <a:off x="594360" y="3639312"/>
            <a:ext cx="7955279" cy="685800"/>
          </a:xfrm>
          <a:prstGeom prst="rect">
            <a:avLst/>
          </a:prstGeom>
          <a:noFill/>
        </p:spPr>
        <p:txBody>
          <a:bodyPr wrap="square" lIns="0" rIns="0" tIns="0" bIns="0">
            <a:spAutoFit/>
          </a:bodyPr>
          <a:lstStyle/>
          <a:p>
            <a:pPr>
              <a:lnSpc>
                <a:spcPct val="110000"/>
              </a:lnSpc>
              <a:spcBef>
                <a:spcPts val="0"/>
              </a:spcBef>
              <a:spcAft>
                <a:spcPts val="0"/>
              </a:spcAft>
              <a:buNone/>
              <a:defRPr sz="1800" b="0" lang="ja-JP">
                <a:solidFill>
                  <a:srgbClr val="303437"/>
                </a:solidFill>
                <a:latin typeface="Noto Sans"/>
                <a:ea typeface="Noto Sans CJK JP"/>
                <a:cs typeface="Noto Sans"/>
              </a:defRPr>
            </a:pPr>
            <a:r>
              <a:rPr sz="1800" b="0" lang="ja-JP">
                <a:solidFill>
                  <a:srgbClr val="303437"/>
                </a:solidFill>
                <a:latin typeface="Noto Sans"/>
                <a:ea typeface="Noto Sans CJK JP"/>
                <a:cs typeface="Noto Sans"/>
              </a:rPr>
              <a:t>Denverだけなら、予測1語中1語が一致し、正解2語中1語を含む。適合率1と再現率1/2の調和平均は2/3となる。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表記の違いを正規化して複数正解と照合する</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3. 読解の評価指標とモデル性能</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60455"/>
              <a:buFont typeface="Noto Sans CJK JP"/>
              <a:buChar char="●"/>
              <a:defRPr sz="2200" b="0" lang="ja-JP">
                <a:solidFill>
                  <a:srgbClr val="303437"/>
                </a:solidFill>
                <a:latin typeface="Noto Sans"/>
                <a:ea typeface="Noto Sans CJK JP"/>
                <a:cs typeface="Noto Sans"/>
              </a:defRPr>
            </a:pPr>
            <a:r>
              <a:rPr sz="2200" b="0" lang="ja-JP">
                <a:solidFill>
                  <a:srgbClr val="303437"/>
                </a:solidFill>
                <a:latin typeface="Noto Sans"/>
                <a:ea typeface="Noto Sans CJK JP"/>
                <a:cs typeface="Noto Sans"/>
              </a:rPr>
              <a:t>採点では、小文字化、句読点の除去、英語の冠詞a・an・theの除去、空白の正規化を行う。</a:t>
            </a:r>
          </a:p>
          <a:p>
            <a:pPr lvl="0" marL="457200" indent="-355600">
              <a:lnSpc>
                <a:spcPct val="110000"/>
              </a:lnSpc>
              <a:spcBef>
                <a:spcPts val="0"/>
              </a:spcBef>
              <a:spcAft>
                <a:spcPts val="800"/>
              </a:spcAft>
              <a:buSzPct val="60455"/>
              <a:buFont typeface="Noto Sans CJK JP"/>
              <a:buChar char="●"/>
              <a:defRPr sz="2200" b="0" lang="ja-JP">
                <a:solidFill>
                  <a:srgbClr val="303437"/>
                </a:solidFill>
                <a:latin typeface="Noto Sans"/>
                <a:ea typeface="Noto Sans CJK JP"/>
                <a:cs typeface="Noto Sans"/>
              </a:defRPr>
            </a:pPr>
            <a:r>
              <a:rPr sz="2200" b="0" lang="ja-JP">
                <a:solidFill>
                  <a:srgbClr val="303437"/>
                </a:solidFill>
                <a:latin typeface="Noto Sans"/>
                <a:ea typeface="Noto Sans CJK JP"/>
                <a:cs typeface="Noto Sans"/>
              </a:rPr>
              <a:t>F1の適合率Pは一致語数÷予測の語数、再現率Rは一致語数÷正解の語数である。両者の調和平均2PR÷（P＋R）を使う。</a:t>
            </a:r>
          </a:p>
          <a:p>
            <a:pPr lvl="0" marL="457200" indent="-355600">
              <a:lnSpc>
                <a:spcPct val="110000"/>
              </a:lnSpc>
              <a:spcBef>
                <a:spcPts val="0"/>
              </a:spcBef>
              <a:spcAft>
                <a:spcPts val="800"/>
              </a:spcAft>
              <a:buSzPct val="60455"/>
              <a:buFont typeface="Noto Sans CJK JP"/>
              <a:buChar char="●"/>
              <a:defRPr sz="2200" b="0" lang="ja-JP">
                <a:solidFill>
                  <a:srgbClr val="303437"/>
                </a:solidFill>
                <a:latin typeface="Noto Sans"/>
                <a:ea typeface="Noto Sans CJK JP"/>
                <a:cs typeface="Noto Sans"/>
              </a:defRPr>
            </a:pPr>
            <a:r>
              <a:rPr sz="2200" b="0" lang="ja-JP">
                <a:solidFill>
                  <a:srgbClr val="303437"/>
                </a:solidFill>
                <a:latin typeface="Noto Sans"/>
                <a:ea typeface="Noto Sans CJK JP"/>
                <a:cs typeface="Noto Sans"/>
              </a:rPr>
              <a:t>複数正解がある質問は最良の得点を採用する。バージョン2.0では、回答不能な質問に回答を控えた場合を正解として採点する。</a:t>
            </a:r>
          </a:p>
        </p:txBody>
      </p:sp>
      <p:sp>
        <p:nvSpPr>
          <p:cNvPr id="6" name="sources"/>
          <p:cNvSpPr txBox="1"/>
          <p:nvPr/>
        </p:nvSpPr>
        <p:spPr>
          <a:xfrm>
            <a:off x="502920" y="4787900"/>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https://github.com/huggingface/evaluate/blob/main/metrics/squad/compute_score.py</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[2] </a:t>
            </a:r>
            <a:r>
              <a:rPr sz="800" b="0" lang="ja-JP">
                <a:solidFill>
                  <a:srgbClr val="626669"/>
                </a:solidFill>
                <a:latin typeface="Noto Sans"/>
                <a:ea typeface="Noto Sans CJK JP"/>
                <a:cs typeface="Noto Sans"/>
                <a:hlinkClick r:id="rId3"/>
              </a:rPr>
              <a:t>https://github.com/huggingface/evaluate/blob/main/metrics/squad_v2/squad_v2.py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回答範囲を選ぶ方式と文章を生成する方式がある</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3. 読解の評価指標とモデル性能</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500"/>
              </a:spcAft>
              <a:buSzPct val="63333"/>
              <a:buFont typeface="Noto Sans CJK JP"/>
              <a:buChar char="●"/>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抽出型は、段落中の開始・終了位置を予測する。読解モデルBiDAFや言語モデルBERTを使い、原文中の回答範囲を選ぶ。</a:t>
            </a:r>
          </a:p>
          <a:p>
            <a:pPr lvl="0" marL="457200" indent="-355600">
              <a:lnSpc>
                <a:spcPct val="110000"/>
              </a:lnSpc>
              <a:spcBef>
                <a:spcPts val="0"/>
              </a:spcBef>
              <a:spcAft>
                <a:spcPts val="500"/>
              </a:spcAft>
              <a:buSzPct val="63333"/>
              <a:buFont typeface="Noto Sans CJK JP"/>
              <a:buChar char="●"/>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生成型は、段落と質問を受け取り、答えの文字列を生成する。大規模言語モデルLlamaも、この方式で評価される。</a:t>
            </a:r>
          </a:p>
          <a:p>
            <a:pPr lvl="0" marL="457200" indent="-355600">
              <a:lnSpc>
                <a:spcPct val="110000"/>
              </a:lnSpc>
              <a:spcBef>
                <a:spcPts val="0"/>
              </a:spcBef>
              <a:spcAft>
                <a:spcPts val="500"/>
              </a:spcAft>
              <a:buSzPct val="63333"/>
              <a:buFont typeface="Noto Sans CJK JP"/>
              <a:buChar char="●"/>
              <a:defRPr sz="2100" b="0" lang="ja-JP">
                <a:solidFill>
                  <a:srgbClr val="303437"/>
                </a:solidFill>
                <a:latin typeface="Noto Sans"/>
                <a:ea typeface="Noto Sans CJK JP"/>
                <a:cs typeface="Noto Sans"/>
              </a:defRPr>
            </a:pPr>
            <a:r>
              <a:rPr sz="2100" b="0" lang="ja-JP">
                <a:solidFill>
                  <a:srgbClr val="303437"/>
                </a:solidFill>
                <a:latin typeface="Noto Sans"/>
                <a:ea typeface="Noto Sans CJK JP"/>
                <a:cs typeface="Noto Sans"/>
              </a:rPr>
              <a:t>抽出型は原文中の位置を、生成型は出力する語句を予測する。どちらも、得られた回答文字列をEM・F1で採点する。</a:t>
            </a:r>
          </a:p>
        </p:txBody>
      </p:sp>
      <p:sp>
        <p:nvSpPr>
          <p:cNvPr id="6" name="TextBox 5"/>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Devlin et al. (2019). NAACL-HLT, pp. 4171–4186. BERT: Pre-training of Deep Bidirectional Transformers for Language Understanding.</a:t>
            </a:r>
          </a:p>
        </p:txBody>
      </p:sp>
      <p:sp>
        <p:nvSpPr>
          <p:cNvPr id="7" name="TextBox 6"/>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https://aclanthology.org/N19-1423/</a:t>
            </a:r>
          </a:p>
        </p:txBody>
      </p:sp>
      <p:sp>
        <p:nvSpPr>
          <p:cNvPr id="8" name="TextBox 7"/>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a:t>
            </a:r>
            <a:r>
              <a:rPr sz="800" lang="ja-JP">
                <a:solidFill>
                  <a:srgbClr val="626669"/>
                </a:solidFill>
                <a:latin typeface="Noto Sans"/>
                <a:ea typeface="Noto Sans CJK JP"/>
                <a:cs typeface="Noto Sans"/>
                <a:hlinkClick r:id="rId3"/>
              </a:rPr>
              <a:t>https://github.com/meta-llama/llama-models/blob/main/models/llama3_1/eval_details.md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SQuADによる微調整と例示付きの生成評価</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3. 読解の評価指標とモデル性能</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微調整では、SQuADの学習用の質問と正解を使い、モデルのパラメータを更新する。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1-shotでは、答え付きの例を1件入力に提示してから別の質問へ答えさせる。この提示だけではモデルのパラメータを更新しない。</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同じEM・F1でも、学習・提示の条件や評価データが異なる結果は直接比較できない。</a:t>
            </a:r>
          </a:p>
        </p:txBody>
      </p:sp>
      <p:sp>
        <p:nvSpPr>
          <p:cNvPr id="6"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https://github.com/meta-llama/llama-models/blob/main/models/llama3_1/eval_details.md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nchor="t"/>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2016年の原著のモデルはF1が51.0%だった</a:t>
            </a:r>
            <a:endParaRPr sz="2800" lang="ja-JP">
              <a:latin typeface="Noto Sans"/>
              <a:ea typeface="Noto Sans CJK JP"/>
              <a:cs typeface="Noto Sans"/>
            </a:endParaRPr>
          </a:p>
        </p:txBody>
      </p:sp>
      <p:sp>
        <p:nvSpPr>
          <p:cNvPr id="3" name="Title 2"/>
          <p:cNvSpPr>
            <a:spLocks noGrp="1"/>
          </p:cNvSpPr>
          <p:nvPr>
            <p:ph type="title" idx="2"/>
          </p:nvPr>
        </p:nvSpPr>
        <p:spPr>
          <a:xfrm>
            <a:off x="75895" y="0"/>
            <a:ext cx="8115300" cy="480060"/>
          </a:xfrm>
        </p:spPr>
        <p:txBody>
          <a:bodyPr wrap="square" lIns="0" rIns="0" tIns="0" bIns="0" anchor="ct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3. 読解の評価指標とモデル性能</a:t>
            </a:r>
            <a:endParaRPr sz="1400" lang="ja-JP">
              <a:latin typeface="Noto Sans"/>
              <a:ea typeface="Noto Sans CJK JP"/>
              <a:cs typeface="Noto Sans"/>
            </a:endParaRPr>
          </a:p>
        </p:txBody>
      </p:sp>
      <p:graphicFrame>
        <p:nvGraphicFramePr>
          <p:cNvPr id="4" name="data-table"/>
          <p:cNvGraphicFramePr>
            <a:graphicFrameLocks noGrp="1"/>
          </p:cNvGraphicFramePr>
          <p:nvPr/>
        </p:nvGraphicFramePr>
        <p:xfrm>
          <a:off x="548640" y="1554480"/>
          <a:ext cx="8046720" cy="2103120"/>
        </p:xfrm>
        <a:graphic>
          <a:graphicData uri="http://schemas.openxmlformats.org/drawingml/2006/table">
            <a:tbl>
              <a:tblPr firstRow="1" bandRow="1">
                <a:tableStyleId>{5C22544A-7EE6-4342-B048-85BDC9FD1C3A}</a:tableStyleId>
              </a:tblPr>
              <a:tblGrid>
                <a:gridCol w="4572000"/>
                <a:gridCol w="1737360"/>
                <a:gridCol w="1737360"/>
              </a:tblGrid>
              <a:tr h="525780">
                <a:tc>
                  <a:txBody>
                    <a:bodyPr wrap="square" lIns="38100" rIns="38100" tIns="38100" bIns="38100" anchor="ctr"/>
                    <a:lstStyle/>
                    <a:p>
                      <a:pPr algn="l"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原著のモデル・人の回答</a:t>
                      </a:r>
                      <a:endParaRPr sz="2200" lang="ja-JP">
                        <a:latin typeface="Noto Sans"/>
                        <a:ea typeface="Noto Sans CJK JP"/>
                        <a:cs typeface="Noto Sans"/>
                      </a:endParaRPr>
                    </a:p>
                  </a:txBody>
                  <a:tcPr>
                    <a:lnL w="0">
                      <a:noFill/>
                    </a:lnL>
                    <a:lnR w="0">
                      <a:noFill/>
                    </a:lnR>
                    <a:lnT w="10160">
                      <a:solidFill>
                        <a:srgbClr val="626669"/>
                      </a:solidFill>
                      <a:prstDash val="solid"/>
                    </a:lnT>
                    <a:lnB w="10160">
                      <a:solidFill>
                        <a:srgbClr val="626669"/>
                      </a:solidFill>
                      <a:prstDash val="solid"/>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EM（%）</a:t>
                      </a:r>
                      <a:endParaRPr sz="2200" lang="ja-JP">
                        <a:latin typeface="Noto Sans"/>
                        <a:ea typeface="Noto Sans CJK JP"/>
                        <a:cs typeface="Noto Sans"/>
                      </a:endParaRPr>
                    </a:p>
                  </a:txBody>
                  <a:tcPr>
                    <a:lnL w="0">
                      <a:noFill/>
                    </a:lnL>
                    <a:lnR w="0">
                      <a:noFill/>
                    </a:lnR>
                    <a:lnT w="10160">
                      <a:solidFill>
                        <a:srgbClr val="626669"/>
                      </a:solidFill>
                      <a:prstDash val="solid"/>
                    </a:lnT>
                    <a:lnB w="10160">
                      <a:solidFill>
                        <a:srgbClr val="626669"/>
                      </a:solidFill>
                      <a:prstDash val="solid"/>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F1（%）</a:t>
                      </a:r>
                      <a:endParaRPr sz="2200" lang="ja-JP">
                        <a:latin typeface="Noto Sans"/>
                        <a:ea typeface="Noto Sans CJK JP"/>
                        <a:cs typeface="Noto Sans"/>
                      </a:endParaRPr>
                    </a:p>
                  </a:txBody>
                  <a:tcPr>
                    <a:lnL w="0">
                      <a:noFill/>
                    </a:lnL>
                    <a:lnR w="0">
                      <a:noFill/>
                    </a:lnR>
                    <a:lnT w="10160">
                      <a:solidFill>
                        <a:srgbClr val="626669"/>
                      </a:solidFill>
                      <a:prstDash val="solid"/>
                    </a:lnT>
                    <a:lnB w="10160">
                      <a:solidFill>
                        <a:srgbClr val="626669"/>
                      </a:solidFill>
                      <a:prstDash val="solid"/>
                    </a:lnB>
                    <a:solidFill>
                      <a:srgbClr val="FFFEF8"/>
                    </a:solidFill>
                  </a:tcPr>
                </a:tc>
              </a:tr>
              <a:tr h="525780">
                <a:tc>
                  <a:txBody>
                    <a:bodyPr wrap="square" lIns="38100" rIns="38100" tIns="38100" bIns="38100" anchor="ctr"/>
                    <a:lstStyle/>
                    <a:p>
                      <a:pPr algn="l"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単語一致を使うSliding Window</a:t>
                      </a:r>
                      <a:endParaRPr sz="2200" lang="ja-JP">
                        <a:latin typeface="Noto Sans"/>
                        <a:ea typeface="Noto Sans CJK JP"/>
                        <a:cs typeface="Noto Sans"/>
                      </a:endParaRPr>
                    </a:p>
                  </a:txBody>
                  <a:tcPr>
                    <a:lnL w="0">
                      <a:noFill/>
                    </a:lnL>
                    <a:lnR w="0">
                      <a:noFill/>
                    </a:lnR>
                    <a:lnT w="10160">
                      <a:solidFill>
                        <a:srgbClr val="626669"/>
                      </a:solidFill>
                      <a:prstDash val="solid"/>
                    </a:lnT>
                    <a:lnB w="0">
                      <a:noFill/>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12.5</a:t>
                      </a:r>
                      <a:endParaRPr sz="2200" lang="ja-JP">
                        <a:latin typeface="Noto Sans"/>
                        <a:ea typeface="Noto Sans CJK JP"/>
                        <a:cs typeface="Noto Sans"/>
                      </a:endParaRPr>
                    </a:p>
                  </a:txBody>
                  <a:tcPr>
                    <a:lnL w="0">
                      <a:noFill/>
                    </a:lnL>
                    <a:lnR w="0">
                      <a:noFill/>
                    </a:lnR>
                    <a:lnT w="10160">
                      <a:solidFill>
                        <a:srgbClr val="626669"/>
                      </a:solidFill>
                      <a:prstDash val="solid"/>
                    </a:lnT>
                    <a:lnB w="0">
                      <a:noFill/>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19.7</a:t>
                      </a:r>
                      <a:endParaRPr sz="2200" lang="ja-JP">
                        <a:latin typeface="Noto Sans"/>
                        <a:ea typeface="Noto Sans CJK JP"/>
                        <a:cs typeface="Noto Sans"/>
                      </a:endParaRPr>
                    </a:p>
                  </a:txBody>
                  <a:tcPr>
                    <a:lnL w="0">
                      <a:noFill/>
                    </a:lnL>
                    <a:lnR w="0">
                      <a:noFill/>
                    </a:lnR>
                    <a:lnT w="10160">
                      <a:solidFill>
                        <a:srgbClr val="626669"/>
                      </a:solidFill>
                      <a:prstDash val="solid"/>
                    </a:lnT>
                    <a:lnB w="0">
                      <a:noFill/>
                    </a:lnB>
                    <a:solidFill>
                      <a:srgbClr val="FFFEF8"/>
                    </a:solidFill>
                  </a:tcPr>
                </a:tc>
              </a:tr>
              <a:tr h="525780">
                <a:tc>
                  <a:txBody>
                    <a:bodyPr wrap="square" lIns="38100" rIns="38100" tIns="38100" bIns="38100" anchor="ctr"/>
                    <a:lstStyle/>
                    <a:p>
                      <a:pPr algn="l"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ロジスティック回帰</a:t>
                      </a:r>
                      <a:endParaRPr sz="2200" lang="ja-JP">
                        <a:latin typeface="Noto Sans"/>
                        <a:ea typeface="Noto Sans CJK JP"/>
                        <a:cs typeface="Noto Sans"/>
                      </a:endParaRPr>
                    </a:p>
                  </a:txBody>
                  <a:tcPr>
                    <a:lnL w="0">
                      <a:noFill/>
                    </a:lnL>
                    <a:lnR w="0">
                      <a:noFill/>
                    </a:lnR>
                    <a:lnT w="0">
                      <a:noFill/>
                    </a:lnT>
                    <a:lnB w="0">
                      <a:noFill/>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40.4</a:t>
                      </a:r>
                      <a:endParaRPr sz="2200" lang="ja-JP">
                        <a:latin typeface="Noto Sans"/>
                        <a:ea typeface="Noto Sans CJK JP"/>
                        <a:cs typeface="Noto Sans"/>
                      </a:endParaRPr>
                    </a:p>
                  </a:txBody>
                  <a:tcPr>
                    <a:lnL w="0">
                      <a:noFill/>
                    </a:lnL>
                    <a:lnR w="0">
                      <a:noFill/>
                    </a:lnR>
                    <a:lnT w="0">
                      <a:noFill/>
                    </a:lnT>
                    <a:lnB w="0">
                      <a:noFill/>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51.0</a:t>
                      </a:r>
                      <a:endParaRPr sz="2200" lang="ja-JP">
                        <a:latin typeface="Noto Sans"/>
                        <a:ea typeface="Noto Sans CJK JP"/>
                        <a:cs typeface="Noto Sans"/>
                      </a:endParaRPr>
                    </a:p>
                  </a:txBody>
                  <a:tcPr>
                    <a:lnL w="0">
                      <a:noFill/>
                    </a:lnL>
                    <a:lnR w="0">
                      <a:noFill/>
                    </a:lnR>
                    <a:lnT w="0">
                      <a:noFill/>
                    </a:lnT>
                    <a:lnB w="0">
                      <a:noFill/>
                    </a:lnB>
                    <a:solidFill>
                      <a:srgbClr val="FFFEF8"/>
                    </a:solidFill>
                  </a:tcPr>
                </a:tc>
              </a:tr>
              <a:tr h="525780">
                <a:tc>
                  <a:txBody>
                    <a:bodyPr wrap="square" lIns="38100" rIns="38100" tIns="38100" bIns="38100" anchor="ctr"/>
                    <a:lstStyle/>
                    <a:p>
                      <a:pPr algn="l"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人の回答</a:t>
                      </a:r>
                      <a:endParaRPr sz="2200" lang="ja-JP">
                        <a:latin typeface="Noto Sans"/>
                        <a:ea typeface="Noto Sans CJK JP"/>
                        <a:cs typeface="Noto Sans"/>
                      </a:endParaRPr>
                    </a:p>
                  </a:txBody>
                  <a:tcPr>
                    <a:lnL w="0">
                      <a:noFill/>
                    </a:lnL>
                    <a:lnR w="0">
                      <a:noFill/>
                    </a:lnR>
                    <a:lnT w="0">
                      <a:noFill/>
                    </a:lnT>
                    <a:lnB w="10160">
                      <a:solidFill>
                        <a:srgbClr val="626669"/>
                      </a:solidFill>
                      <a:prstDash val="solid"/>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77.0</a:t>
                      </a:r>
                      <a:endParaRPr sz="2200" lang="ja-JP">
                        <a:latin typeface="Noto Sans"/>
                        <a:ea typeface="Noto Sans CJK JP"/>
                        <a:cs typeface="Noto Sans"/>
                      </a:endParaRPr>
                    </a:p>
                  </a:txBody>
                  <a:tcPr>
                    <a:lnL w="0">
                      <a:noFill/>
                    </a:lnL>
                    <a:lnR w="0">
                      <a:noFill/>
                    </a:lnR>
                    <a:lnT w="0">
                      <a:noFill/>
                    </a:lnT>
                    <a:lnB w="10160">
                      <a:solidFill>
                        <a:srgbClr val="626669"/>
                      </a:solidFill>
                      <a:prstDash val="solid"/>
                    </a:lnB>
                    <a:solidFill>
                      <a:srgbClr val="FFFEF8"/>
                    </a:solidFill>
                  </a:tcPr>
                </a:tc>
                <a:tc>
                  <a:txBody>
                    <a:bodyPr wrap="square" lIns="38100" rIns="38100" tIns="38100" bIns="38100" anchor="ctr"/>
                    <a:lstStyle/>
                    <a:p>
                      <a:pPr algn="r" marL="0" indent="0">
                        <a:lnSpc>
                          <a:spcPct val="110000"/>
                        </a:lnSpc>
                        <a:spcBef>
                          <a:spcPts val="0"/>
                        </a:spcBef>
                        <a:spcAft>
                          <a:spcPts val="0"/>
                        </a:spcAft>
                        <a:buNone/>
                        <a:defRPr sz="2200" lang="ja-JP">
                          <a:latin typeface="Noto Sans"/>
                          <a:ea typeface="Noto Sans CJK JP"/>
                          <a:cs typeface="Noto Sans"/>
                        </a:defRPr>
                      </a:pPr>
                      <a:r>
                        <a:rPr sz="2200" lang="ja-JP">
                          <a:solidFill>
                            <a:srgbClr val="303437"/>
                          </a:solidFill>
                          <a:latin typeface="Noto Sans"/>
                          <a:ea typeface="Noto Sans CJK JP"/>
                          <a:cs typeface="Noto Sans"/>
                        </a:rPr>
                        <a:t>86.8</a:t>
                      </a:r>
                      <a:endParaRPr sz="2200" lang="ja-JP">
                        <a:latin typeface="Noto Sans"/>
                        <a:ea typeface="Noto Sans CJK JP"/>
                        <a:cs typeface="Noto Sans"/>
                      </a:endParaRPr>
                    </a:p>
                  </a:txBody>
                  <a:tcPr>
                    <a:lnL w="0">
                      <a:noFill/>
                    </a:lnL>
                    <a:lnR w="0">
                      <a:noFill/>
                    </a:lnR>
                    <a:lnT w="0">
                      <a:noFill/>
                    </a:lnT>
                    <a:lnB w="10160">
                      <a:solidFill>
                        <a:srgbClr val="626669"/>
                      </a:solidFill>
                      <a:prstDash val="solid"/>
                    </a:lnB>
                    <a:solidFill>
                      <a:srgbClr val="FFFEF8"/>
                    </a:solidFill>
                  </a:tcPr>
                </a:tc>
              </a:tr>
            </a:tbl>
          </a:graphicData>
        </a:graphic>
      </p:graphicFrame>
      <p:sp>
        <p:nvSpPr>
          <p:cNvPr id="5" name="TextBox 4"/>
          <p:cNvSpPr txBox="1"/>
          <p:nvPr/>
        </p:nvSpPr>
        <p:spPr>
          <a:xfrm>
            <a:off x="594360" y="3858768"/>
            <a:ext cx="7955279" cy="640080"/>
          </a:xfrm>
          <a:prstGeom prst="rect">
            <a:avLst/>
          </a:prstGeom>
          <a:noFill/>
        </p:spPr>
        <p:txBody>
          <a:bodyPr wrap="square" lIns="0" rIns="0" tIns="0" bIns="0" anchor="t">
            <a:spAutoFit/>
          </a:bodyPr>
          <a:lstStyle/>
          <a:p>
            <a:pPr algn="l" marL="0" indent="0">
              <a:lnSpc>
                <a:spcPct val="110000"/>
              </a:lnSpc>
              <a:spcBef>
                <a:spcPts val="0"/>
              </a:spcBef>
              <a:spcAft>
                <a:spcPts val="500"/>
              </a:spcAft>
              <a:buNone/>
              <a:defRPr sz="1800" lang="ja-JP">
                <a:latin typeface="Noto Sans"/>
                <a:ea typeface="Noto Sans CJK JP"/>
                <a:cs typeface="Noto Sans"/>
              </a:defRPr>
            </a:pPr>
            <a:r>
              <a:rPr sz="1800" lang="ja-JP">
                <a:solidFill>
                  <a:srgbClr val="303437"/>
                </a:solidFill>
                <a:latin typeface="Noto Sans"/>
                <a:ea typeface="Noto Sans CJK JP"/>
                <a:cs typeface="Noto Sans"/>
              </a:rPr>
              <a:t>SQuADバージョン1.0のテスト用で評価した </a:t>
            </a:r>
            <a:r>
              <a:rPr sz="1800" lang="ja-JP">
                <a:solidFill>
                  <a:srgbClr val="303437"/>
                </a:solidFill>
                <a:latin typeface="Noto Sans"/>
                <a:ea typeface="Noto Sans CJK JP"/>
                <a:cs typeface="Noto Sans"/>
              </a:rPr>
              <a:t>[1]</a:t>
            </a:r>
            <a:r>
              <a:rPr sz="1800" lang="ja-JP">
                <a:solidFill>
                  <a:srgbClr val="303437"/>
                </a:solidFill>
                <a:latin typeface="Noto Sans"/>
                <a:ea typeface="Noto Sans CJK JP"/>
                <a:cs typeface="Noto Sans"/>
              </a:rPr>
              <a:t>。人の得点は、追加の正解回答を予測として採点した。</a:t>
            </a:r>
            <a:endParaRPr sz="1800" lang="ja-JP">
              <a:latin typeface="Noto Sans"/>
              <a:ea typeface="Noto Sans CJK JP"/>
              <a:cs typeface="Noto Sans"/>
            </a:endParaRPr>
          </a:p>
        </p:txBody>
      </p:sp>
      <p:sp>
        <p:nvSpPr>
          <p:cNvPr id="6" name="TextBox 5"/>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 Table 5, §6.2.</a:t>
            </a:r>
          </a:p>
        </p:txBody>
      </p:sp>
      <p:sp>
        <p:nvSpPr>
          <p:cNvPr id="7" name="TextBox 6"/>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バージョン1.1のベンチマーク結果</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3. 読解の評価指標とモデル性能</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94485"/>
          <a:ext cx="8046717" cy="1800225"/>
        </p:xfrm>
        <a:graphic>
          <a:graphicData uri="http://schemas.openxmlformats.org/drawingml/2006/table">
            <a:tbl>
              <a:tblPr firstRow="1" bandRow="1">
                <a:tableStyleId>{5C22544A-7EE6-4342-B048-85BDC9FD1C3A}</a:tableStyleId>
              </a:tblPr>
              <a:tblGrid>
                <a:gridCol w="2333548"/>
                <a:gridCol w="2655417"/>
                <a:gridCol w="1528876"/>
                <a:gridCol w="1528876"/>
              </a:tblGrid>
              <a:tr h="450056">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モデル [1]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提出日</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EM</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F1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450056">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BiDAF</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2016-11-28</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68.0</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77.3</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450056">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BERT</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2018-10-05</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85.1</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91.8</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450057">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XLNet</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2019-05-21</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89.9</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95.1</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70962"/>
            <a:ext cx="8046720" cy="910766"/>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SQuAD運営者の非公開テストで採点。</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開発用とは別のデータ。各行は単一モデルの提出結果。</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掲載された提出結果（EM・F1は%）。</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https://rajpurkar.github.io/SQuAD-explorer/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過去の抽出型モデルの評価結果</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3. 読解の評価指標とモデル性能</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43050"/>
          <a:ext cx="8046718" cy="1825942"/>
        </p:xfrm>
        <a:graphic>
          <a:graphicData uri="http://schemas.openxmlformats.org/drawingml/2006/table">
            <a:tbl>
              <a:tblPr firstRow="1" bandRow="1">
                <a:tableStyleId>{5C22544A-7EE6-4342-B048-85BDC9FD1C3A}</a:tableStyleId>
              </a:tblPr>
              <a:tblGrid>
                <a:gridCol w="4345228"/>
                <a:gridCol w="1850745"/>
                <a:gridCol w="1850745"/>
              </a:tblGrid>
              <a:tr h="456485">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モデル [1]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EM（%）</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F1（%）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456485">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BERT-Large（2018）</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79.0</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81.8</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456485">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RoBERTa-Large（2019）</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86.5</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89.4</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456487">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DeBERTa-V3-Large（2021）</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89.0</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91.5</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19476"/>
            <a:ext cx="8046720" cy="962252"/>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SQuAD 2.0の学習用で微調整し、開発用で評価した公表値。答えの開始・終了位置を予測する抽出型モデルを比較する。</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Microsoftの公開結果で、SQuAD 2.0開発用のEM・F1を掲載。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https://github.com/microsoft/DeBERTa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Llama 3.1でもSQuAD 2を評価している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3. 読解の評価指標とモデル性能</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484708"/>
          <a:ext cx="8046720" cy="1825942"/>
        </p:xfrm>
        <a:graphic>
          <a:graphicData uri="http://schemas.openxmlformats.org/drawingml/2006/table">
            <a:tbl>
              <a:tblPr firstRow="1" bandRow="1">
                <a:tableStyleId>{5C22544A-7EE6-4342-B048-85BDC9FD1C3A}</a:tableStyleId>
              </a:tblPr>
              <a:tblGrid>
                <a:gridCol w="5230368"/>
                <a:gridCol w="2816352"/>
              </a:tblGrid>
              <a:tr h="456485">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事前学習モデル [1]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EM（%）</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456485">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Llama 3.1 8B</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77.0</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456485">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Llama 3.1 70B</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81.8</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456487">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Llama 3.1 405B</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89.3</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661134"/>
            <a:ext cx="8046720" cy="1043023"/>
          </a:xfrm>
          <a:prstGeom prst="rect">
            <a:avLst/>
          </a:prstGeom>
          <a:noFill/>
        </p:spPr>
        <p:txBody>
          <a:bodyPr wrap="square" anchor="t" lIns="91425" rIns="91425" tIns="91425" bIns="91425">
            <a:noAutofit/>
          </a:bodyPr>
          <a:lstStyle/>
          <a:p>
            <a:pPr algn="l" lvl="0" marL="457200" indent="-355600">
              <a:buSzPct val="78235"/>
              <a:buFont typeface="Noto Sans CJK JP"/>
              <a:buChar char="●"/>
              <a:defRPr sz="1700" lang="ja-JP">
                <a:latin typeface="Noto Sans"/>
                <a:ea typeface="Noto Sans CJK JP"/>
                <a:cs typeface="Noto Sans"/>
              </a:defRPr>
            </a:pPr>
            <a:r>
              <a:rPr sz="1700" lang="ja-JP">
                <a:solidFill>
                  <a:srgbClr val="303437"/>
                </a:solidFill>
                <a:latin typeface="Noto Sans"/>
                <a:ea typeface="Noto Sans CJK JP"/>
                <a:cs typeface="Noto Sans"/>
              </a:rPr>
              <a:t>2024-07-23公開、答え付きの例を1件示す1-shotで生成評価。</a:t>
            </a:r>
            <a:endParaRPr sz="1700" lang="ja-JP">
              <a:latin typeface="Noto Sans"/>
              <a:ea typeface="Noto Sans CJK JP"/>
              <a:cs typeface="Noto Sans"/>
            </a:endParaRPr>
          </a:p>
          <a:p>
            <a:pPr algn="l" lvl="0" marL="457200" indent="-355600">
              <a:buSzPct val="78235"/>
              <a:buFont typeface="Noto Sans CJK JP"/>
              <a:buChar char="●"/>
              <a:defRPr sz="1700" lang="ja-JP">
                <a:latin typeface="Noto Sans"/>
                <a:ea typeface="Noto Sans CJK JP"/>
                <a:cs typeface="Noto Sans"/>
              </a:defRPr>
            </a:pPr>
            <a:r>
              <a:rPr sz="1700" lang="ja-JP">
                <a:solidFill>
                  <a:srgbClr val="303437"/>
                </a:solidFill>
                <a:latin typeface="Noto Sans"/>
                <a:ea typeface="Noto Sans CJK JP"/>
                <a:cs typeface="Noto Sans"/>
              </a:rPr>
              <a:t>同じ段落に付いた先行する全質問と正解を入力に含めるため、SQuAD運営者の非公開テストとは条件が異なる [2]。</a:t>
            </a:r>
            <a:endParaRPr sz="17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https://github.com/meta-llama/llama-models/blob/main/models/llama3_1/MODEL_CARD.md</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[2] </a:t>
            </a:r>
            <a:r>
              <a:rPr sz="800" b="0" lang="ja-JP">
                <a:solidFill>
                  <a:srgbClr val="626669"/>
                </a:solidFill>
                <a:latin typeface="Noto Sans"/>
                <a:ea typeface="Noto Sans CJK JP"/>
                <a:cs typeface="Noto Sans"/>
                <a:hlinkClick r:id="rId3"/>
              </a:rPr>
              <a:t>https://github.com/meta-llama/llama-models/blob/main/models/llama3_1/eval_details.md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9852"/>
            <a:ext cx="8046720" cy="731520"/>
          </a:xfrm>
        </p:spPr>
        <p:txBody>
          <a:bodyPr wrap="square" lIns="0" rIns="0" tIns="0" bIns="0" anchor="ctr"/>
          <a:lstStyle/>
          <a:p>
            <a:pPr algn="ctr" marL="0" indent="0">
              <a:lnSpc>
                <a:spcPct val="100000"/>
              </a:lnSpc>
              <a:spcBef>
                <a:spcPts val="0"/>
              </a:spcBef>
              <a:spcAft>
                <a:spcPts val="0"/>
              </a:spcAft>
              <a:buNone/>
              <a:defRPr sz="4000" lang="ja-JP">
                <a:latin typeface="Noto Sans"/>
                <a:ea typeface="Noto Sans CJK JP"/>
                <a:cs typeface="Noto Sans"/>
              </a:defRPr>
            </a:pPr>
            <a:r>
              <a:rPr sz="3200" b="1" lang="ja-JP">
                <a:solidFill>
                  <a:srgbClr val="303437"/>
                </a:solidFill>
                <a:latin typeface="Noto Sans"/>
                <a:ea typeface="Noto Sans CJK JP"/>
                <a:cs typeface="Noto Sans"/>
              </a:rPr>
              <a:t>4. SQuADの利用動向と後続データ</a:t>
            </a:r>
            <a:endParaRPr sz="4000" lang="ja-JP">
              <a:latin typeface="Noto Sans"/>
              <a:ea typeface="Noto Sans CJK JP"/>
              <a:cs typeface="Noto Sans"/>
            </a:endParaRP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4. SQuADの利用動向と後続データ</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HotpotQAは複数記事の情報を組み合わせる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4. SQuADの利用動向と後続データ</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HotpotQA（2018）は、複数のWikipedia記事にまたがる推論と、回答の根拠となる文の特定を扱う。</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SQuADが基本的に1段落を根拠とするのに対し、HotpotQAでは文書をまたいで情報を組み合わせる。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回答文字列の正しさに加え、根拠文を選べるかも評価対象となる。</a:t>
            </a:r>
          </a:p>
        </p:txBody>
      </p:sp>
      <p:sp>
        <p:nvSpPr>
          <p:cNvPr id="5"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https://github.com/hotpotqa/hotpot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Natural Questionsは実際の検索質問を使う</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4. SQuADの利用動向と後続データ</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Natural Questions（2019）は、Google検索に入力された質問と、その回答を含むWikipediaページを使う。</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回答を含む段落などの長い回答と、必要に応じて語句や固有名詞などの短い回答を指定する。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SQuADのように段落を見て質問を作るのではなく、実際の情報要求とページ全体を対応付ける。</a:t>
            </a:r>
          </a:p>
        </p:txBody>
      </p:sp>
      <p:sp>
        <p:nvSpPr>
          <p:cNvPr id="6"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https://github.com/google-research-datasets/natural-questions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SQuADは生成型モデルの読解評価にも使われる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4. SQuADの利用動向と後続データ</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SQuADは、回答範囲を選ぶモデルから、答えを生成する大規模言語モデルの評価へも用途が広がった。</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2024年のLlama 3.1の評価にもSQuAD 2が含まれる。回答形式や提示例の条件は、抽出型モデルの微調整評価と異なる。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2026-10-15の確認時点でも、モデル評価ライブラリHugging Face EvaluateはSQuAD 2.0の採点実装を公開している。</a:t>
            </a:r>
          </a:p>
        </p:txBody>
      </p:sp>
      <p:sp>
        <p:nvSpPr>
          <p:cNvPr id="5" name="sources"/>
          <p:cNvSpPr txBox="1"/>
          <p:nvPr/>
        </p:nvSpPr>
        <p:spPr>
          <a:xfrm>
            <a:off x="502920" y="4787900"/>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https://github.com/meta-llama/llama-models/blob/main/models/llama3_1/MODEL_CARD.md</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[2] </a:t>
            </a:r>
            <a:r>
              <a:rPr sz="800" b="0" lang="ja-JP">
                <a:solidFill>
                  <a:srgbClr val="626669"/>
                </a:solidFill>
                <a:latin typeface="Noto Sans"/>
                <a:ea typeface="Noto Sans CJK JP"/>
                <a:cs typeface="Noto Sans"/>
                <a:hlinkClick r:id="rId3"/>
              </a:rPr>
              <a:t>https://github.com/huggingface/evaluate/blob/main/metrics/squad_v2/squad_v2.py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lIns="0" rIns="0" tIns="0" bIns="0"/>
          <a:lstStyle/>
          <a:p>
            <a:pPr algn="l">
              <a:lnSpc>
                <a:spcPct val="100000"/>
              </a:lnSpc>
              <a:spcBef>
                <a:spcPts val="0"/>
              </a:spcBef>
              <a:spcAft>
                <a:spcPts val="0"/>
              </a:spcAft>
              <a:defRPr sz="2800" b="1" lang="ja-JP">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LongBench v2はより長い文脈から回答を選ぶ</a:t>
            </a:r>
          </a:p>
        </p:txBody>
      </p:sp>
      <p:sp>
        <p:nvSpPr>
          <p:cNvPr id="4" name="Title 3"/>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4. SQuADの利用動向と後続データ</a:t>
            </a:r>
          </a:p>
        </p:txBody>
      </p:sp>
      <p:sp>
        <p:nvSpPr>
          <p:cNvPr id="5"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LongBench v2（2024）は、8千〜200万語の長い文脈を与え、選択肢から回答を選ぶ評価データである。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SQuADの短い段落からの回答範囲抽出と比べ、文脈長と回答形式が異なる。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SQuADの得点は段落単位の読解を測るが、それだけで長い文書全体を扱う能力を示すわけではない。</a:t>
            </a:r>
          </a:p>
        </p:txBody>
      </p:sp>
      <p:sp>
        <p:nvSpPr>
          <p:cNvPr id="6" name="sources"/>
          <p:cNvSpPr txBox="1"/>
          <p:nvPr/>
        </p:nvSpPr>
        <p:spPr>
          <a:xfrm>
            <a:off x="502920" y="4828032"/>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https://github.com/THUDM/LongBench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9852"/>
            <a:ext cx="8046720" cy="731520"/>
          </a:xfrm>
        </p:spPr>
        <p:txBody>
          <a:bodyPr wrap="square" lIns="0" rIns="0" tIns="0" bIns="0" anchor="ctr"/>
          <a:lstStyle/>
          <a:p>
            <a:pPr algn="ctr" marL="0" indent="0">
              <a:lnSpc>
                <a:spcPct val="100000"/>
              </a:lnSpc>
              <a:spcBef>
                <a:spcPts val="0"/>
              </a:spcBef>
              <a:spcAft>
                <a:spcPts val="0"/>
              </a:spcAft>
              <a:buNone/>
              <a:defRPr sz="4000" lang="ja-JP">
                <a:latin typeface="Noto Sans"/>
                <a:ea typeface="Noto Sans CJK JP"/>
                <a:cs typeface="Noto Sans"/>
              </a:defRPr>
            </a:pPr>
            <a:r>
              <a:rPr sz="3200" b="1" lang="ja-JP">
                <a:solidFill>
                  <a:srgbClr val="303437"/>
                </a:solidFill>
                <a:latin typeface="Noto Sans"/>
                <a:ea typeface="Noto Sans CJK JP"/>
                <a:cs typeface="Noto Sans"/>
              </a:rPr>
              <a:t>5. 質問応答データの入手方法と利用条件</a:t>
            </a:r>
            <a:endParaRPr sz="4000" lang="ja-JP">
              <a:latin typeface="Noto Sans"/>
              <a:ea typeface="Noto Sans CJK JP"/>
              <a:cs typeface="Noto Sans"/>
            </a:endParaRP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5. 質問応答データの入手方法と利用条件</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b="1">
                <a:solidFill>
                  <a:srgbClr val="303437"/>
                </a:solidFill>
                <a:latin typeface="Noto Sans"/>
                <a:ea typeface="Noto Sans CJK JP"/>
                <a:cs typeface="Noto Sans"/>
              </a:defRPr>
            </a:pPr>
            <a:r>
              <a:rPr sz="2800" b="1" lang="ja-JP">
                <a:solidFill>
                  <a:srgbClr val="303437"/>
                </a:solidFill>
                <a:latin typeface="Noto Sans"/>
                <a:ea typeface="Noto Sans CJK JP"/>
                <a:cs typeface="Noto Sans"/>
              </a:rPr>
              <a:t>バージョンごとのJSONと評価実装を入手する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5. 質問応答データの入手方法と利用条件</a:t>
            </a:r>
            <a:endParaRPr sz="1400" lang="ja-JP">
              <a:latin typeface="Noto Sans"/>
              <a:ea typeface="Noto Sans CJK JP"/>
              <a:cs typeface="Noto Sans"/>
            </a:endParaRPr>
          </a:p>
        </p:txBody>
      </p:sp>
      <p:sp>
        <p:nvSpPr>
          <p:cNvPr id="4" name="body"/>
          <p:cNvSpPr/>
          <p:nvPr>
            <p:ph type="body" idx="1"/>
          </p:nvPr>
        </p:nvSpPr>
        <p:spPr>
          <a:xfrm>
            <a:off x="594360" y="1371600"/>
            <a:ext cx="7955279" cy="3200400"/>
          </a:xfrm>
          <a:prstGeom prst="rect">
            <a:avLst/>
          </a:prstGeom>
          <a:noFill/>
        </p:spPr>
        <p:txBody>
          <a:bodyPr wrap="square" lIns="0" rIns="0" tIns="0" bIns="0">
            <a:spAutoFit/>
          </a:bodyPr>
          <a:lstStyle/>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公式サイトは、構造化データ形式JSONで学習用trainと開発用devを配布する。バージョン1.1と2.0のファイルを選んで取得する。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データ配布サービスHugging Face Datasetsでは、1.1はrajpurkar/squad、2.0はrajpurkar/squad_v2という名前で取得できる。</a:t>
            </a:r>
          </a:p>
          <a:p>
            <a:pPr lvl="0" marL="457200" indent="-355600">
              <a:lnSpc>
                <a:spcPct val="110000"/>
              </a:lnSpc>
              <a:spcBef>
                <a:spcPts val="0"/>
              </a:spcBef>
              <a:spcAft>
                <a:spcPts val="800"/>
              </a:spcAft>
              <a:buSzPct val="57826"/>
              <a:buFont typeface="Noto Sans CJK JP"/>
              <a:buChar char="●"/>
              <a:defRPr sz="2300" b="0" lang="ja-JP">
                <a:solidFill>
                  <a:srgbClr val="303437"/>
                </a:solidFill>
                <a:latin typeface="Noto Sans"/>
                <a:ea typeface="Noto Sans CJK JP"/>
                <a:cs typeface="Noto Sans"/>
              </a:defRPr>
            </a:pPr>
            <a:r>
              <a:rPr sz="2300" b="0" lang="ja-JP">
                <a:solidFill>
                  <a:srgbClr val="303437"/>
                </a:solidFill>
                <a:latin typeface="Noto Sans"/>
                <a:ea typeface="Noto Sans CJK JP"/>
                <a:cs typeface="Noto Sans"/>
              </a:rPr>
              <a:t>データの利用条件はCC BY-SA 4.0である。質問への予測は、対応するバージョンの公式採点実装で評価する。</a:t>
            </a:r>
          </a:p>
        </p:txBody>
      </p:sp>
      <p:sp>
        <p:nvSpPr>
          <p:cNvPr id="5" name="sources"/>
          <p:cNvSpPr txBox="1"/>
          <p:nvPr/>
        </p:nvSpPr>
        <p:spPr>
          <a:xfrm>
            <a:off x="502920" y="4787900"/>
            <a:ext cx="8183879" cy="640080"/>
          </a:xfrm>
          <a:prstGeom prst="rect">
            <a:avLst/>
          </a:prstGeom>
          <a:noFill/>
        </p:spPr>
        <p:txBody>
          <a:bodyPr wrap="square" lIns="0" rIns="0" tIns="0" bIns="0">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https://rajpurkar.github.io/SQuAD-explorer/</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[2] </a:t>
            </a:r>
            <a:r>
              <a:rPr sz="800" b="0" lang="ja-JP">
                <a:solidFill>
                  <a:srgbClr val="626669"/>
                </a:solidFill>
                <a:latin typeface="Noto Sans"/>
                <a:ea typeface="Noto Sans CJK JP"/>
                <a:cs typeface="Noto Sans"/>
                <a:hlinkClick r:id="rId3"/>
              </a:rPr>
              <a:t>https://creativecommons.org/licenses/by-sa/4.0/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SQuADの目的・版の違いと評価方法</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59"/>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b="1" lang="ja-JP">
                <a:solidFill>
                  <a:srgbClr val="FFFEF8"/>
                </a:solidFill>
                <a:latin typeface="Noto Sans"/>
                <a:ea typeface="Noto Sans CJK JP"/>
                <a:cs typeface="Noto Sans"/>
              </a:rPr>
              <a:t>5. 質問応答データの入手方法と利用条件</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lnSpc>
                <a:spcPct val="110000"/>
              </a:lnSpc>
              <a:spcBef>
                <a:spcPts val="0"/>
              </a:spcBef>
              <a:spcAft>
                <a:spcPts val="0"/>
              </a:spcAft>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SQuADは、英語の読解型質問応答データセット </a:t>
            </a:r>
            <a:r>
              <a:rPr sz="2100" b="0" lang="ja-JP">
                <a:solidFill>
                  <a:srgbClr val="303437"/>
                </a:solidFill>
                <a:latin typeface="Noto Sans"/>
                <a:ea typeface="Noto Sans CJK JP"/>
                <a:cs typeface="Noto Sans"/>
              </a:rPr>
              <a:t>[1]</a:t>
            </a:r>
            <a:r>
              <a:rPr sz="2100" b="0" lang="ja-JP">
                <a:solidFill>
                  <a:srgbClr val="303437"/>
                </a:solidFill>
                <a:latin typeface="Noto Sans"/>
                <a:ea typeface="Noto Sans CJK JP"/>
                <a:cs typeface="Noto Sans"/>
              </a:rPr>
              <a:t>。</a:t>
            </a:r>
            <a:endParaRPr sz="2200" lang="ja-JP">
              <a:latin typeface="Noto Sans"/>
              <a:ea typeface="Noto Sans CJK JP"/>
              <a:cs typeface="Noto Sans"/>
            </a:endParaRPr>
          </a:p>
          <a:p>
            <a:pPr lvl="1" algn="l" marL="914400" indent="-355600">
              <a:lnSpc>
                <a:spcPct val="110000"/>
              </a:lnSpc>
              <a:spcBef>
                <a:spcPts val="0"/>
              </a:spcBef>
              <a:spcAft>
                <a:spcPts val="0"/>
              </a:spcAft>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Wikipediaの段落から、質問の答えとなる範囲を選ぶ。</a:t>
            </a:r>
            <a:endParaRPr sz="2100" lang="ja-JP">
              <a:latin typeface="Noto Sans"/>
              <a:ea typeface="Noto Sans CJK JP"/>
              <a:cs typeface="Noto Sans"/>
            </a:endParaRPr>
          </a:p>
          <a:p>
            <a:pPr algn="l" lvl="0" marL="457200" indent="-355600">
              <a:lnSpc>
                <a:spcPct val="110000"/>
              </a:lnSpc>
              <a:spcBef>
                <a:spcPts val="0"/>
              </a:spcBef>
              <a:spcAft>
                <a:spcPts val="0"/>
              </a:spcAft>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人手作成の質問を大規模に評価するため、2016年に発表。</a:t>
            </a:r>
            <a:endParaRPr sz="2200" lang="ja-JP">
              <a:latin typeface="Noto Sans"/>
              <a:ea typeface="Noto Sans CJK JP"/>
              <a:cs typeface="Noto Sans"/>
            </a:endParaRPr>
          </a:p>
          <a:p>
            <a:pPr algn="l" lvl="0" marL="457200" indent="-355600">
              <a:lnSpc>
                <a:spcPct val="110000"/>
              </a:lnSpc>
              <a:spcBef>
                <a:spcPts val="0"/>
              </a:spcBef>
              <a:spcAft>
                <a:spcPts val="0"/>
              </a:spcAft>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バージョン1.1では、回答可能な質問の答えを抽出。</a:t>
            </a:r>
            <a:endParaRPr sz="2200" lang="ja-JP">
              <a:latin typeface="Noto Sans"/>
              <a:ea typeface="Noto Sans CJK JP"/>
              <a:cs typeface="Noto Sans"/>
            </a:endParaRPr>
          </a:p>
          <a:p>
            <a:pPr algn="l" lvl="0" marL="457200" indent="-355600">
              <a:lnSpc>
                <a:spcPct val="110000"/>
              </a:lnSpc>
              <a:spcBef>
                <a:spcPts val="0"/>
              </a:spcBef>
              <a:spcAft>
                <a:spcPts val="0"/>
              </a:spcAft>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バージョン2.0は回答不能な質問と回答保留も扱う </a:t>
            </a:r>
            <a:r>
              <a:rPr sz="2100" b="0" lang="ja-JP">
                <a:solidFill>
                  <a:srgbClr val="303437"/>
                </a:solidFill>
                <a:latin typeface="Noto Sans"/>
                <a:ea typeface="Noto Sans CJK JP"/>
                <a:cs typeface="Noto Sans"/>
              </a:rPr>
              <a:t>[2]</a:t>
            </a:r>
            <a:r>
              <a:rPr sz="2100" b="0" lang="ja-JP">
                <a:solidFill>
                  <a:srgbClr val="303437"/>
                </a:solidFill>
                <a:latin typeface="Noto Sans"/>
                <a:ea typeface="Noto Sans CJK JP"/>
                <a:cs typeface="Noto Sans"/>
              </a:rPr>
              <a:t>。</a:t>
            </a:r>
            <a:endParaRPr sz="2200" lang="ja-JP">
              <a:latin typeface="Noto Sans"/>
              <a:ea typeface="Noto Sans CJK JP"/>
              <a:cs typeface="Noto Sans"/>
            </a:endParaRPr>
          </a:p>
          <a:p>
            <a:pPr algn="l" lvl="0" marL="457200" indent="-355600">
              <a:lnSpc>
                <a:spcPct val="110000"/>
              </a:lnSpc>
              <a:spcBef>
                <a:spcPts val="0"/>
              </a:spcBef>
              <a:spcAft>
                <a:spcPts val="0"/>
              </a:spcAft>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EM・F1で評価し、大規模言語モデルの読解評価にも用いられる。</a:t>
            </a:r>
            <a:endParaRPr sz="2100" lang="ja-JP">
              <a:latin typeface="Noto Sans"/>
              <a:ea typeface="Noto Sans CJK JP"/>
              <a:cs typeface="Noto Sans"/>
            </a:endParaRPr>
          </a:p>
        </p:txBody>
      </p:sp>
      <p:sp>
        <p:nvSpPr>
          <p:cNvPr id="5" name="TextBox 4"/>
          <p:cNvSpPr txBox="1"/>
          <p:nvPr/>
        </p:nvSpPr>
        <p:spPr>
          <a:xfrm>
            <a:off x="502920" y="43434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Rajpurkar et al. (2016). EMNLP, pp. 2383–2392. SQuAD: 100,000+ Questions for Machine Comprehension of Text.</a:t>
            </a:r>
          </a:p>
        </p:txBody>
      </p:sp>
      <p:sp>
        <p:nvSpPr>
          <p:cNvPr id="6" name="TextBox 5"/>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
        <p:nvSpPr>
          <p:cNvPr id="7" name="TextBox 6"/>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Rajpurkar et al. (2018). ACL, pp. 784–789. Know What You Don’t Know: Unanswerable Questions for SQuAD.</a:t>
            </a:r>
          </a:p>
        </p:txBody>
      </p:sp>
      <p:sp>
        <p:nvSpPr>
          <p:cNvPr id="8" name="TextBox 7"/>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https://aclanthology.org/P18-2124/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1359"/>
            <a:ext cx="8046720" cy="731520"/>
          </a:xfrm>
        </p:spPr>
        <p:txBody>
          <a:bodyPr tIns="0" bIns="0" anchor="ctr" wrap="square" lIns="0" rIns="0"/>
          <a:lstStyle/>
          <a:p>
            <a:pPr algn="ctr">
              <a:lnSpc>
                <a:spcPct val="100000"/>
              </a:lnSpc>
              <a:spcBef>
                <a:spcPts val="0"/>
              </a:spcBef>
              <a:spcAft>
                <a:spcPts val="0"/>
              </a:spcAft>
              <a:defRPr sz="4800" b="1" lang="ja-JP">
                <a:solidFill>
                  <a:srgbClr val="303437"/>
                </a:solidFill>
                <a:latin typeface="Noto Sans"/>
                <a:ea typeface="Noto Sans CJK JP"/>
                <a:cs typeface="Noto Sans"/>
              </a:defRPr>
            </a:pPr>
            <a:r>
              <a:rPr sz="3200" b="1" lang="ja-JP">
                <a:solidFill>
                  <a:srgbClr val="303437"/>
                </a:solidFill>
                <a:latin typeface="Noto Sans"/>
                <a:ea typeface="Noto Sans CJK JP"/>
                <a:cs typeface="Noto Sans"/>
              </a:rPr>
              <a:t>Appendix</a:t>
            </a: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Appendix</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none" lIns="0" rIns="0" tIns="0" bIns="0" anchor="t"/>
          <a:lstStyle/>
          <a:p>
            <a:pPr algn="l" marL="0" indent="0">
              <a:lnSpc>
                <a:spcPct val="110000"/>
              </a:lnSpc>
              <a:spcBef>
                <a:spcPts val="0"/>
              </a:spcBef>
              <a:spcAft>
                <a:spcPts val="0"/>
              </a:spcAft>
              <a:buNone/>
              <a:defRPr sz="2800" lang="ja-JP">
                <a:latin typeface="Noto Sans"/>
                <a:ea typeface="Noto Sans CJK JP"/>
                <a:cs typeface="Noto Sans"/>
              </a:defRPr>
            </a:pPr>
            <a:r>
              <a:rPr sz="2800" lang="ja-JP" b="1">
                <a:solidFill>
                  <a:srgbClr val="303437"/>
                </a:solidFill>
                <a:latin typeface="Noto Sans"/>
                <a:ea typeface="Noto Sans CJK JP"/>
                <a:cs typeface="Noto Sans"/>
              </a:rPr>
              <a:t/>
            </a:r>
            <a:endParaRPr sz="2800" lang="ja-JP">
              <a:latin typeface="Noto Sans"/>
              <a:ea typeface="Noto Sans CJK JP"/>
              <a:cs typeface="Noto Sans"/>
            </a:endParaRPr>
          </a:p>
        </p:txBody>
      </p:sp>
      <p:sp>
        <p:nvSpPr>
          <p:cNvPr id="3" name="Title 2"/>
          <p:cNvSpPr>
            <a:spLocks noGrp="1"/>
          </p:cNvSpPr>
          <p:nvPr>
            <p:ph type="title" idx="2"/>
          </p:nvPr>
        </p:nvSpPr>
        <p:spPr>
          <a:xfrm>
            <a:off x="75895" y="0"/>
            <a:ext cx="8115300" cy="480060"/>
          </a:xfrm>
        </p:spPr>
        <p:txBody>
          <a:bodyPr wrap="square" lIns="0" rIns="0" tIns="0" bIns="0" anchor="ct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目次</a:t>
            </a:r>
            <a:endParaRPr sz="1400" lang="ja-JP">
              <a:latin typeface="Noto Sans"/>
              <a:ea typeface="Noto Sans CJK JP"/>
              <a:cs typeface="Noto Sans"/>
            </a:endParaRPr>
          </a:p>
        </p:txBody>
      </p:sp>
      <p:sp>
        <p:nvSpPr>
          <p:cNvPr id="4" name="body"/>
          <p:cNvSpPr/>
          <p:nvPr>
            <p:ph type="body" idx="1"/>
          </p:nvPr>
        </p:nvSpPr>
        <p:spPr>
          <a:xfrm>
            <a:off x="594360" y="1199299"/>
            <a:ext cx="7955279" cy="3749039"/>
          </a:xfrm>
          <a:prstGeom prst="rect">
            <a:avLst/>
          </a:prstGeom>
          <a:noFill/>
        </p:spPr>
        <p:txBody>
          <a:bodyPr wrap="square" lIns="0" rIns="0" tIns="0" bIns="0">
            <a:spAutoFit/>
          </a:bodyPr>
          <a:lstStyle/>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開発者の研究と発表先</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段落・質問・回答の追加例</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段落・質問・回答の統計と極値</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SQuAD 2.0のモデル評価結果</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収録されたWikipedia記事の全一覧</a:t>
            </a:r>
          </a:p>
          <a:p>
            <a:pPr lvl="0" marL="457200" indent="-355600">
              <a:lnSpc>
                <a:spcPct val="100000"/>
              </a:lnSpc>
              <a:spcBef>
                <a:spcPts val="0"/>
              </a:spcBef>
              <a:spcAft>
                <a:spcPts val="800"/>
              </a:spcAft>
              <a:buSzPct val="100000"/>
              <a:buFont typeface="Noto Sans CJK JP"/>
              <a:buAutoNum type="arabicPeriod"/>
              <a:defRPr sz="3000" b="1" lang="ja-JP">
                <a:solidFill>
                  <a:srgbClr val="303437"/>
                </a:solidFill>
                <a:latin typeface="Noto Sans"/>
                <a:ea typeface="Noto Sans CJK JP"/>
                <a:cs typeface="Noto Sans"/>
              </a:defRPr>
            </a:pPr>
            <a:r>
              <a:rPr sz="3000" b="1" lang="ja-JP">
                <a:solidFill>
                  <a:srgbClr val="303437"/>
                </a:solidFill>
                <a:latin typeface="Noto Sans"/>
                <a:ea typeface="Noto Sans CJK JP"/>
                <a:cs typeface="Noto Sans"/>
              </a:rPr>
              <a:t>公式JSONの取得コードと関連文献</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SQuAD各版の著者と発表先</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1. 開発者の研究と発表先</a:t>
            </a:r>
            <a:endParaRPr sz="1400" lang="ja-JP">
              <a:latin typeface="Noto Sans"/>
              <a:ea typeface="Noto Sans CJK JP"/>
              <a:cs typeface="Noto Sans"/>
            </a:endParaRPr>
          </a:p>
        </p:txBody>
      </p:sp>
      <p:sp>
        <p:nvSpPr>
          <p:cNvPr id="4" name="content-text"/>
          <p:cNvSpPr/>
          <p:nvPr>
            <p:ph type="body" idx="1"/>
          </p:nvPr>
        </p:nvSpPr>
        <p:spPr>
          <a:xfrm>
            <a:off x="594360" y="1329139"/>
            <a:ext cx="8046720" cy="3086100"/>
          </a:xfrm>
          <a:prstGeom prst="rect">
            <a:avLst/>
          </a:prstGeom>
          <a:noFill/>
        </p:spPr>
        <p:txBody>
          <a:bodyPr wrap="square" anchor="t" lIns="91425" rIns="91425" tIns="91425" bIns="91425">
            <a:noAutofit/>
          </a:bodyPr>
          <a:lstStyle/>
          <a:p>
            <a:pPr algn="l" lvl="0" marL="457200" indent="-355600">
              <a:buSzPct val="57826"/>
              <a:buFont typeface="Noto Sans CJK JP"/>
              <a:buChar char="●"/>
              <a:defRPr sz="2300" lang="ja-JP">
                <a:latin typeface="Noto Sans"/>
                <a:ea typeface="Noto Sans CJK JP"/>
                <a:cs typeface="Noto Sans"/>
              </a:defRPr>
            </a:pPr>
            <a:r>
              <a:rPr sz="2300" lang="ja-JP">
                <a:solidFill>
                  <a:srgbClr val="303437"/>
                </a:solidFill>
                <a:latin typeface="Noto Sans"/>
                <a:ea typeface="Noto Sans CJK JP"/>
                <a:cs typeface="Noto Sans"/>
              </a:rPr>
              <a:t>初版はPranav RajpurkarらがEMNLP 2016で発表した </a:t>
            </a:r>
            <a:r>
              <a:rPr sz="2300" lang="ja-JP">
                <a:solidFill>
                  <a:srgbClr val="303437"/>
                </a:solidFill>
                <a:latin typeface="Noto Sans"/>
                <a:ea typeface="Noto Sans CJK JP"/>
                <a:cs typeface="Noto Sans"/>
              </a:rPr>
              <a:t>[1]</a:t>
            </a:r>
            <a:r>
              <a:rPr sz="2300" lang="ja-JP">
                <a:solidFill>
                  <a:srgbClr val="303437"/>
                </a:solidFill>
                <a:latin typeface="Noto Sans"/>
                <a:ea typeface="Noto Sans CJK JP"/>
                <a:cs typeface="Noto Sans"/>
              </a:rPr>
              <a:t>。</a:t>
            </a:r>
            <a:endParaRPr sz="2300" lang="ja-JP">
              <a:latin typeface="Noto Sans"/>
              <a:ea typeface="Noto Sans CJK JP"/>
              <a:cs typeface="Noto Sans"/>
            </a:endParaRPr>
          </a:p>
          <a:p>
            <a:pPr algn="l" lvl="0" marL="457200" indent="-355600">
              <a:buSzPct val="57826"/>
              <a:buFont typeface="Noto Sans CJK JP"/>
              <a:buChar char="●"/>
              <a:defRPr sz="2300" lang="ja-JP">
                <a:latin typeface="Noto Sans"/>
                <a:ea typeface="Noto Sans CJK JP"/>
                <a:cs typeface="Noto Sans"/>
              </a:defRPr>
            </a:pPr>
            <a:r>
              <a:rPr sz="2300" lang="ja-JP">
                <a:solidFill>
                  <a:srgbClr val="303437"/>
                </a:solidFill>
                <a:latin typeface="Noto Sans"/>
                <a:ea typeface="Noto Sans CJK JP"/>
                <a:cs typeface="Noto Sans"/>
              </a:rPr>
              <a:t>バージョン2は、2018年のACLで発表された </a:t>
            </a:r>
            <a:r>
              <a:rPr sz="2300" lang="ja-JP">
                <a:solidFill>
                  <a:srgbClr val="303437"/>
                </a:solidFill>
                <a:latin typeface="Noto Sans"/>
                <a:ea typeface="Noto Sans CJK JP"/>
                <a:cs typeface="Noto Sans"/>
              </a:rPr>
              <a:t>[2]</a:t>
            </a:r>
            <a:r>
              <a:rPr sz="2300" lang="ja-JP">
                <a:solidFill>
                  <a:srgbClr val="303437"/>
                </a:solidFill>
                <a:latin typeface="Noto Sans"/>
                <a:ea typeface="Noto Sans CJK JP"/>
                <a:cs typeface="Noto Sans"/>
              </a:rPr>
              <a:t>。</a:t>
            </a:r>
            <a:endParaRPr sz="2300" lang="ja-JP">
              <a:latin typeface="Noto Sans"/>
              <a:ea typeface="Noto Sans CJK JP"/>
              <a:cs typeface="Noto Sans"/>
            </a:endParaRPr>
          </a:p>
          <a:p>
            <a:pPr algn="l" lvl="0" marL="457200" indent="-355600">
              <a:buSzPct val="57826"/>
              <a:buFont typeface="Noto Sans CJK JP"/>
              <a:buChar char="●"/>
              <a:defRPr sz="2300" lang="ja-JP">
                <a:latin typeface="Noto Sans"/>
                <a:ea typeface="Noto Sans CJK JP"/>
                <a:cs typeface="Noto Sans"/>
              </a:defRPr>
            </a:pPr>
            <a:r>
              <a:rPr sz="2300" lang="ja-JP">
                <a:solidFill>
                  <a:srgbClr val="303437"/>
                </a:solidFill>
                <a:latin typeface="Noto Sans"/>
                <a:ea typeface="Noto Sans CJK JP"/>
                <a:cs typeface="Noto Sans"/>
              </a:rPr>
              <a:t>両論文の第一著者はPranav Rajpurkar、最終著者はPercy Liangである。</a:t>
            </a:r>
            <a:endParaRPr sz="2300" lang="ja-JP">
              <a:latin typeface="Noto Sans"/>
              <a:ea typeface="Noto Sans CJK JP"/>
              <a:cs typeface="Noto Sans"/>
            </a:endParaRPr>
          </a:p>
          <a:p>
            <a:pPr algn="l" lvl="0" marL="457200" indent="-355600">
              <a:buSzPct val="57826"/>
              <a:buFont typeface="Noto Sans CJK JP"/>
              <a:buChar char="●"/>
              <a:defRPr sz="2300" lang="ja-JP">
                <a:latin typeface="Noto Sans"/>
                <a:ea typeface="Noto Sans CJK JP"/>
                <a:cs typeface="Noto Sans"/>
              </a:defRPr>
            </a:pPr>
            <a:r>
              <a:rPr sz="2300" lang="ja-JP">
                <a:solidFill>
                  <a:srgbClr val="303437"/>
                </a:solidFill>
                <a:latin typeface="Noto Sans"/>
                <a:ea typeface="Noto Sans CJK JP"/>
                <a:cs typeface="Noto Sans"/>
              </a:rPr>
              <a:t>2026年に初版がACL Test of Time Awardを受賞した </a:t>
            </a:r>
            <a:r>
              <a:rPr sz="2300" lang="ja-JP">
                <a:solidFill>
                  <a:srgbClr val="303437"/>
                </a:solidFill>
                <a:latin typeface="Noto Sans"/>
                <a:ea typeface="Noto Sans CJK JP"/>
                <a:cs typeface="Noto Sans"/>
              </a:rPr>
              <a:t>[1]</a:t>
            </a:r>
            <a:r>
              <a:rPr sz="2300" lang="ja-JP">
                <a:solidFill>
                  <a:srgbClr val="303437"/>
                </a:solidFill>
                <a:latin typeface="Noto Sans"/>
                <a:ea typeface="Noto Sans CJK JP"/>
                <a:cs typeface="Noto Sans"/>
              </a:rPr>
              <a:t>。</a:t>
            </a:r>
            <a:endParaRPr sz="2300" lang="ja-JP">
              <a:latin typeface="Noto Sans"/>
              <a:ea typeface="Noto Sans CJK JP"/>
              <a:cs typeface="Noto Sans"/>
            </a:endParaRPr>
          </a:p>
        </p:txBody>
      </p:sp>
      <p:sp>
        <p:nvSpPr>
          <p:cNvPr id="5" name="TextBox 4"/>
          <p:cNvSpPr txBox="1"/>
          <p:nvPr/>
        </p:nvSpPr>
        <p:spPr>
          <a:xfrm>
            <a:off x="502920" y="43434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
        <p:nvSpPr>
          <p:cNvPr id="7" name="TextBox 6"/>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Rajpurkar et al. (2018). ACL, pp. 784–789. Know What You Don’t Know: Unanswerable Questions for SQuAD.</a:t>
            </a:r>
          </a:p>
        </p:txBody>
      </p:sp>
      <p:sp>
        <p:nvSpPr>
          <p:cNvPr id="8" name="TextBox 7"/>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https://aclanthology.org/P18-2124/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筆頭・最終著者の研究分野と関連実績</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1. 開発者の研究と発表先</a:t>
            </a:r>
            <a:endParaRPr sz="1400" lang="ja-JP">
              <a:latin typeface="Noto Sans"/>
              <a:ea typeface="Noto Sans CJK JP"/>
              <a:cs typeface="Noto Sans"/>
            </a:endParaRPr>
          </a:p>
        </p:txBody>
      </p:sp>
      <p:sp>
        <p:nvSpPr>
          <p:cNvPr id="4" name="content-text"/>
          <p:cNvSpPr/>
          <p:nvPr>
            <p:ph type="body" idx="1"/>
          </p:nvPr>
        </p:nvSpPr>
        <p:spPr>
          <a:xfrm>
            <a:off x="594360" y="1254984"/>
            <a:ext cx="8046720" cy="2674620"/>
          </a:xfrm>
          <a:prstGeom prst="rect">
            <a:avLst/>
          </a:prstGeom>
          <a:noFill/>
        </p:spPr>
        <p:txBody>
          <a:bodyPr wrap="square" anchor="t" lIns="91425" rIns="91425" tIns="91425" bIns="91425">
            <a:noAutofit/>
          </a:bodyPr>
          <a:lstStyle/>
          <a:p>
            <a:pPr algn="l" lvl="0" marL="457200" indent="-355600">
              <a:lnSpc>
                <a:spcPct val="105000"/>
              </a:lnSpc>
              <a:spcBef>
                <a:spcPts val="0"/>
              </a:spcBef>
              <a:spcAft>
                <a:spcPts val="0"/>
              </a:spcAft>
              <a:buSzPct val="63333"/>
              <a:buFont typeface="Noto Sans CJK JP"/>
              <a:buChar char="●"/>
              <a:defRPr sz="2100" lang="ja-JP">
                <a:latin typeface="Noto Sans"/>
                <a:ea typeface="Noto Sans CJK JP"/>
                <a:cs typeface="Noto Sans"/>
              </a:defRPr>
            </a:pPr>
            <a:r>
              <a:rPr sz="2100" lang="ja-JP">
                <a:solidFill>
                  <a:srgbClr val="303437"/>
                </a:solidFill>
                <a:latin typeface="Noto Sans"/>
                <a:ea typeface="Noto Sans CJK JP"/>
                <a:cs typeface="Noto Sans"/>
              </a:rPr>
              <a:t>第一著者のPranav Rajpurkarは、読解型QAと医療AIを研究している </a:t>
            </a:r>
            <a:r>
              <a:rPr sz="2100" lang="ja-JP">
                <a:solidFill>
                  <a:srgbClr val="303437"/>
                </a:solidFill>
                <a:latin typeface="Noto Sans"/>
                <a:ea typeface="Noto Sans CJK JP"/>
                <a:cs typeface="Noto Sans"/>
              </a:rPr>
              <a:t>[1,2]</a:t>
            </a:r>
            <a:r>
              <a:rPr sz="2100" lang="ja-JP">
                <a:solidFill>
                  <a:srgbClr val="303437"/>
                </a:solidFill>
                <a:latin typeface="Noto Sans"/>
                <a:ea typeface="Noto Sans CJK JP"/>
                <a:cs typeface="Noto Sans"/>
              </a:rPr>
              <a:t>。</a:t>
            </a:r>
            <a:endParaRPr sz="2200" lang="ja-JP">
              <a:latin typeface="Noto Sans"/>
              <a:ea typeface="Noto Sans CJK JP"/>
              <a:cs typeface="Noto Sans"/>
            </a:endParaRPr>
          </a:p>
          <a:p>
            <a:pPr algn="l" lvl="0" marL="457200" indent="-355600">
              <a:lnSpc>
                <a:spcPct val="105000"/>
              </a:lnSpc>
              <a:spcBef>
                <a:spcPts val="0"/>
              </a:spcBef>
              <a:spcAft>
                <a:spcPts val="0"/>
              </a:spcAft>
              <a:buSzPct val="63333"/>
              <a:buFont typeface="Noto Sans CJK JP"/>
              <a:buChar char="●"/>
              <a:defRPr sz="2100" lang="ja-JP">
                <a:latin typeface="Noto Sans"/>
                <a:ea typeface="Noto Sans CJK JP"/>
                <a:cs typeface="Noto Sans"/>
              </a:defRPr>
            </a:pPr>
            <a:r>
              <a:rPr sz="2100" lang="ja-JP">
                <a:solidFill>
                  <a:srgbClr val="303437"/>
                </a:solidFill>
                <a:latin typeface="Noto Sans"/>
                <a:ea typeface="Noto Sans CJK JP"/>
                <a:cs typeface="Noto Sans"/>
              </a:rPr>
              <a:t>SQuADと、胸部X線のデータセットCheXpertに貢献した（2019年） </a:t>
            </a:r>
            <a:r>
              <a:rPr sz="2100" lang="ja-JP">
                <a:solidFill>
                  <a:srgbClr val="303437"/>
                </a:solidFill>
                <a:latin typeface="Noto Sans"/>
                <a:ea typeface="Noto Sans CJK JP"/>
                <a:cs typeface="Noto Sans"/>
              </a:rPr>
              <a:t>[5]</a:t>
            </a:r>
            <a:r>
              <a:rPr sz="2100" lang="ja-JP">
                <a:solidFill>
                  <a:srgbClr val="303437"/>
                </a:solidFill>
                <a:latin typeface="Noto Sans"/>
                <a:ea typeface="Noto Sans CJK JP"/>
                <a:cs typeface="Noto Sans"/>
              </a:rPr>
              <a:t>。</a:t>
            </a:r>
            <a:endParaRPr sz="2200" lang="ja-JP">
              <a:latin typeface="Noto Sans"/>
              <a:ea typeface="Noto Sans CJK JP"/>
              <a:cs typeface="Noto Sans"/>
            </a:endParaRPr>
          </a:p>
          <a:p>
            <a:pPr algn="l" lvl="0" marL="457200" indent="-355600">
              <a:lnSpc>
                <a:spcPct val="105000"/>
              </a:lnSpc>
              <a:spcBef>
                <a:spcPts val="0"/>
              </a:spcBef>
              <a:spcAft>
                <a:spcPts val="0"/>
              </a:spcAft>
              <a:buSzPct val="63333"/>
              <a:buFont typeface="Noto Sans CJK JP"/>
              <a:buChar char="●"/>
              <a:defRPr sz="2100" lang="ja-JP">
                <a:latin typeface="Noto Sans"/>
                <a:ea typeface="Noto Sans CJK JP"/>
                <a:cs typeface="Noto Sans"/>
              </a:defRPr>
            </a:pPr>
            <a:r>
              <a:rPr sz="2100" lang="ja-JP">
                <a:solidFill>
                  <a:srgbClr val="303437"/>
                </a:solidFill>
                <a:latin typeface="Noto Sans"/>
                <a:ea typeface="Noto Sans CJK JP"/>
                <a:cs typeface="Noto Sans"/>
              </a:rPr>
              <a:t>最終著者のPercy Liangは、自然言語処理・機械学習を研究している。</a:t>
            </a:r>
            <a:endParaRPr sz="2200" lang="ja-JP">
              <a:latin typeface="Noto Sans"/>
              <a:ea typeface="Noto Sans CJK JP"/>
              <a:cs typeface="Noto Sans"/>
            </a:endParaRPr>
          </a:p>
          <a:p>
            <a:pPr algn="l" lvl="0" marL="457200" indent="-355600">
              <a:lnSpc>
                <a:spcPct val="105000"/>
              </a:lnSpc>
              <a:spcBef>
                <a:spcPts val="0"/>
              </a:spcBef>
              <a:spcAft>
                <a:spcPts val="0"/>
              </a:spcAft>
              <a:buSzPct val="63333"/>
              <a:buFont typeface="Noto Sans CJK JP"/>
              <a:buChar char="●"/>
              <a:defRPr sz="2100" lang="ja-JP">
                <a:latin typeface="Noto Sans"/>
                <a:ea typeface="Noto Sans CJK JP"/>
                <a:cs typeface="Noto Sans"/>
              </a:defRPr>
            </a:pPr>
            <a:r>
              <a:rPr sz="2100" lang="ja-JP">
                <a:solidFill>
                  <a:srgbClr val="303437"/>
                </a:solidFill>
                <a:latin typeface="Noto Sans"/>
                <a:ea typeface="Noto Sans CJK JP"/>
                <a:cs typeface="Noto Sans"/>
              </a:rPr>
              <a:t>言語モデルを幅広く評価するHELMにも取り組んだ </a:t>
            </a:r>
            <a:r>
              <a:rPr sz="2100" lang="ja-JP">
                <a:solidFill>
                  <a:srgbClr val="303437"/>
                </a:solidFill>
                <a:latin typeface="Noto Sans"/>
                <a:ea typeface="Noto Sans CJK JP"/>
                <a:cs typeface="Noto Sans"/>
              </a:rPr>
              <a:t>[3]</a:t>
            </a:r>
            <a:r>
              <a:rPr sz="2100" lang="ja-JP">
                <a:solidFill>
                  <a:srgbClr val="303437"/>
                </a:solidFill>
                <a:latin typeface="Noto Sans"/>
                <a:ea typeface="Noto Sans CJK JP"/>
                <a:cs typeface="Noto Sans"/>
              </a:rPr>
              <a:t>。</a:t>
            </a:r>
            <a:endParaRPr sz="2200" lang="ja-JP">
              <a:latin typeface="Noto Sans"/>
              <a:ea typeface="Noto Sans CJK JP"/>
              <a:cs typeface="Noto Sans"/>
            </a:endParaRPr>
          </a:p>
        </p:txBody>
      </p:sp>
      <p:sp>
        <p:nvSpPr>
          <p:cNvPr id="5" name="TextBox 4"/>
          <p:cNvSpPr txBox="1"/>
          <p:nvPr/>
        </p:nvSpPr>
        <p:spPr>
          <a:xfrm>
            <a:off x="502920" y="3987799"/>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[1] Rajpurkar et al. (2016). EMNLP, pp. 2383–2392. SQuAD: 100,000+ Questions for Machine Comprehension of Text.</a:t>
            </a:r>
          </a:p>
        </p:txBody>
      </p:sp>
      <p:sp>
        <p:nvSpPr>
          <p:cNvPr id="6" name="TextBox 5"/>
          <p:cNvSpPr txBox="1"/>
          <p:nvPr/>
        </p:nvSpPr>
        <p:spPr>
          <a:xfrm>
            <a:off x="502920" y="41656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2"/>
              </a:rPr>
              <a:t>https://aclanthology.org/D16-1264/</a:t>
            </a:r>
          </a:p>
        </p:txBody>
      </p:sp>
      <p:sp>
        <p:nvSpPr>
          <p:cNvPr id="7" name="TextBox 6"/>
          <p:cNvSpPr txBox="1"/>
          <p:nvPr/>
        </p:nvSpPr>
        <p:spPr>
          <a:xfrm>
            <a:off x="502920" y="43434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[2] Rajpurkar et al. (2018). ACL, pp. 784–789. Know What You Don’t Know: Unanswerable Questions for SQuAD.</a:t>
            </a:r>
          </a:p>
        </p:txBody>
      </p:sp>
      <p:sp>
        <p:nvSpPr>
          <p:cNvPr id="8" name="TextBox 7"/>
          <p:cNvSpPr txBox="1"/>
          <p:nvPr/>
        </p:nvSpPr>
        <p:spPr>
          <a:xfrm>
            <a:off x="502920" y="45212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hlinkClick r:id="rId3"/>
              </a:rPr>
              <a:t>https://aclanthology.org/P18-2124/</a:t>
            </a:r>
          </a:p>
        </p:txBody>
      </p:sp>
      <p:sp>
        <p:nvSpPr>
          <p:cNvPr id="9" name="TextBox 8"/>
          <p:cNvSpPr txBox="1"/>
          <p:nvPr/>
        </p:nvSpPr>
        <p:spPr>
          <a:xfrm>
            <a:off x="502920" y="46990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[3] </a:t>
            </a:r>
            <a:r>
              <a:rPr sz="800" lang="ja-JP">
                <a:solidFill>
                  <a:srgbClr val="626669"/>
                </a:solidFill>
                <a:latin typeface="Noto Sans"/>
                <a:ea typeface="Noto Sans CJK JP"/>
                <a:cs typeface="Noto Sans"/>
                <a:hlinkClick r:id="rId4"/>
              </a:rPr>
              <a:t>https://github.com/stanford-crfm/helm</a:t>
            </a:r>
          </a:p>
        </p:txBody>
      </p:sp>
      <p:sp>
        <p:nvSpPr>
          <p:cNvPr id="10" name="TextBox 9"/>
          <p:cNvSpPr txBox="1"/>
          <p:nvPr/>
        </p:nvSpPr>
        <p:spPr>
          <a:xfrm>
            <a:off x="502920" y="4876800"/>
            <a:ext cx="8183879" cy="177800"/>
          </a:xfrm>
          <a:prstGeom prst="rect">
            <a:avLst/>
          </a:prstGeom>
          <a:noFill/>
        </p:spPr>
        <p:txBody>
          <a:bodyPr wrap="square" lIns="0" rIns="0" tIns="0" bIns="0">
            <a:spAutoFit/>
          </a:bodyPr>
          <a:lstStyle/>
          <a:p>
            <a:pPr algn="l">
              <a:lnSpc>
                <a:spcPts val="1400"/>
              </a:lnSpc>
              <a:spcBef>
                <a:spcPts val="0"/>
              </a:spcBef>
              <a:spcAft>
                <a:spcPts val="0"/>
              </a:spcAft>
            </a:pPr>
            <a:r>
              <a:rPr sz="800" b="0" lang="ja-JP">
                <a:solidFill>
                  <a:srgbClr val="626669"/>
                </a:solidFill>
                <a:latin typeface="Noto Sans"/>
                <a:ea typeface="Noto Sans CJK JP"/>
                <a:cs typeface="Noto Sans"/>
              </a:rPr>
              <a:t/>
            </a:r>
            <a:r>
              <a:rPr sz="800" lang="ja-JP">
                <a:solidFill>
                  <a:srgbClr val="626669"/>
                </a:solidFill>
                <a:latin typeface="Noto Sans"/>
                <a:ea typeface="Noto Sans CJK JP"/>
                <a:cs typeface="Noto Sans"/>
              </a:rPr>
              <a:t>[5] </a:t>
            </a:r>
            <a:r>
              <a:rPr sz="800" lang="ja-JP">
                <a:solidFill>
                  <a:srgbClr val="626669"/>
                </a:solidFill>
                <a:latin typeface="Noto Sans"/>
                <a:ea typeface="Noto Sans CJK JP"/>
                <a:cs typeface="Noto Sans"/>
                <a:hlinkClick r:id="rId5"/>
              </a:rPr>
              <a:t>https://github.com/stanfordmlgroup/chexpert-labeler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補足実例1 Apollo program</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48915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The first manned flight of Apollo was in </a:t>
            </a:r>
            <a:r>
              <a:rPr sz="1800" b="1" lang="ja-JP">
                <a:solidFill>
                  <a:srgbClr val="B13731"/>
                </a:solidFill>
                <a:latin typeface="Noto Sans"/>
                <a:ea typeface="Noto Sans CJK JP"/>
                <a:cs typeface="Noto Sans"/>
              </a:rPr>
              <a:t>1968</a:t>
            </a:r>
            <a:r>
              <a:rPr sz="1800" b="0" lang="ja-JP">
                <a:solidFill>
                  <a:srgbClr val="303437"/>
                </a:solidFill>
                <a:latin typeface="Noto Sans"/>
                <a:ea typeface="Noto Sans CJK JP"/>
                <a:cs typeface="Noto Sans"/>
              </a:rPr>
              <a:t>.</a:t>
            </a:r>
            <a:endParaRPr sz="1800" lang="ja-JP">
              <a:latin typeface="Noto Sans"/>
              <a:ea typeface="Noto Sans CJK JP"/>
              <a:cs typeface="Noto Sans"/>
            </a:endParaRPr>
          </a:p>
        </p:txBody>
      </p:sp>
      <p:sp>
        <p:nvSpPr>
          <p:cNvPr id="7" name="example-question"/>
          <p:cNvSpPr txBox="1"/>
          <p:nvPr/>
        </p:nvSpPr>
        <p:spPr>
          <a:xfrm>
            <a:off x="548640" y="2357960"/>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year did the first manned Apollo flight occur?</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アポロ計画の最初の有人飛行が行われたのは何年か？</a:t>
            </a:r>
            <a:endParaRPr sz="1700" lang="ja-JP">
              <a:latin typeface="Noto Sans"/>
              <a:ea typeface="Noto Sans CJK JP"/>
              <a:cs typeface="Noto Sans"/>
            </a:endParaRPr>
          </a:p>
        </p:txBody>
      </p:sp>
      <p:sp>
        <p:nvSpPr>
          <p:cNvPr id="8" name="example-answer"/>
          <p:cNvSpPr txBox="1"/>
          <p:nvPr/>
        </p:nvSpPr>
        <p:spPr>
          <a:xfrm>
            <a:off x="548640" y="3005660"/>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1968</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Apollo_program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5725b41838643c19005acb81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補足実例2 Amazon rainforest</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6728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This region includes territory belonging to </a:t>
            </a:r>
            <a:r>
              <a:rPr sz="1800" b="1" lang="ja-JP">
                <a:solidFill>
                  <a:srgbClr val="B13731"/>
                </a:solidFill>
                <a:latin typeface="Noto Sans"/>
                <a:ea typeface="Noto Sans CJK JP"/>
                <a:cs typeface="Noto Sans"/>
              </a:rPr>
              <a:t>nine nations</a:t>
            </a:r>
            <a:r>
              <a:rPr sz="1800" b="0" lang="ja-JP">
                <a:solidFill>
                  <a:srgbClr val="303437"/>
                </a:solidFill>
                <a:latin typeface="Noto Sans"/>
                <a:ea typeface="Noto Sans CJK JP"/>
                <a:cs typeface="Noto Sans"/>
              </a:rPr>
              <a:t>. The majority of the forest is contained within Brazil, with 60% of the rainforest, followed by Peru with 13%, Colombia with 10%, and with minor amounts in Venezuela, Ecuador, Bolivia, Guyana, Suriname and French Guiana.</a:t>
            </a:r>
            <a:endParaRPr sz="1800" lang="ja-JP">
              <a:latin typeface="Noto Sans"/>
              <a:ea typeface="Noto Sans CJK JP"/>
              <a:cs typeface="Noto Sans"/>
            </a:endParaRPr>
          </a:p>
        </p:txBody>
      </p:sp>
      <p:sp>
        <p:nvSpPr>
          <p:cNvPr id="7" name="example-question"/>
          <p:cNvSpPr txBox="1"/>
          <p:nvPr/>
        </p:nvSpPr>
        <p:spPr>
          <a:xfrm>
            <a:off x="548640" y="3541638"/>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How many nations are within the Amazon Basin?</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アマゾン盆地には何か国が含まれるか？</a:t>
            </a:r>
            <a:endParaRPr sz="1700" lang="ja-JP">
              <a:latin typeface="Noto Sans"/>
              <a:ea typeface="Noto Sans CJK JP"/>
              <a:cs typeface="Noto Sans"/>
            </a:endParaRPr>
          </a:p>
        </p:txBody>
      </p:sp>
      <p:sp>
        <p:nvSpPr>
          <p:cNvPr id="8" name="example-answer"/>
          <p:cNvSpPr txBox="1"/>
          <p:nvPr/>
        </p:nvSpPr>
        <p:spPr>
          <a:xfrm>
            <a:off x="548640" y="4189338"/>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nine nations</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Amazon_rainforest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5729e2316aef0514001550c6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補足実例3 Prime number</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37690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A prime number (or a prime) is a natural number greater than 1 that has no positive divisors other than 1 and </a:t>
            </a:r>
            <a:r>
              <a:rPr sz="1800" b="1" lang="ja-JP">
                <a:solidFill>
                  <a:srgbClr val="B13731"/>
                </a:solidFill>
                <a:latin typeface="Noto Sans"/>
                <a:ea typeface="Noto Sans CJK JP"/>
                <a:cs typeface="Noto Sans"/>
              </a:rPr>
              <a:t>itself</a:t>
            </a:r>
            <a:r>
              <a:rPr sz="1800" b="0" lang="ja-JP">
                <a:solidFill>
                  <a:srgbClr val="303437"/>
                </a:solidFill>
                <a:latin typeface="Noto Sans"/>
                <a:ea typeface="Noto Sans CJK JP"/>
                <a:cs typeface="Noto Sans"/>
              </a:rPr>
              <a:t>. A natural number greater than 1 that is not a prime number is called a composite number.</a:t>
            </a:r>
            <a:endParaRPr sz="1800" lang="ja-JP">
              <a:latin typeface="Noto Sans"/>
              <a:ea typeface="Noto Sans CJK JP"/>
              <a:cs typeface="Noto Sans"/>
            </a:endParaRPr>
          </a:p>
        </p:txBody>
      </p:sp>
      <p:sp>
        <p:nvSpPr>
          <p:cNvPr id="7" name="example-question"/>
          <p:cNvSpPr txBox="1"/>
          <p:nvPr/>
        </p:nvSpPr>
        <p:spPr>
          <a:xfrm>
            <a:off x="548640" y="3245715"/>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is the only divisor besides 1 that a prime number can have?</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素数が1以外に持つことのできる約数は何か？</a:t>
            </a:r>
            <a:endParaRPr sz="1700" lang="ja-JP">
              <a:latin typeface="Noto Sans"/>
              <a:ea typeface="Noto Sans CJK JP"/>
              <a:cs typeface="Noto Sans"/>
            </a:endParaRPr>
          </a:p>
        </p:txBody>
      </p:sp>
      <p:sp>
        <p:nvSpPr>
          <p:cNvPr id="8" name="example-answer"/>
          <p:cNvSpPr txBox="1"/>
          <p:nvPr/>
        </p:nvSpPr>
        <p:spPr>
          <a:xfrm>
            <a:off x="548640" y="3893415"/>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itself</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Prime_number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57296d571d04691400779413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補足実例4 Black Death</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37690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Spreading throughout the Mediterranean and Europe, the Black Death is estimated to have killed </a:t>
            </a:r>
            <a:r>
              <a:rPr sz="1800" b="1" lang="ja-JP">
                <a:solidFill>
                  <a:srgbClr val="B13731"/>
                </a:solidFill>
                <a:latin typeface="Noto Sans"/>
                <a:ea typeface="Noto Sans CJK JP"/>
                <a:cs typeface="Noto Sans"/>
              </a:rPr>
              <a:t>30–60% of Europe's total population</a:t>
            </a:r>
            <a:r>
              <a:rPr sz="1800" b="0" lang="ja-JP">
                <a:solidFill>
                  <a:srgbClr val="303437"/>
                </a:solidFill>
                <a:latin typeface="Noto Sans"/>
                <a:ea typeface="Noto Sans CJK JP"/>
                <a:cs typeface="Noto Sans"/>
              </a:rPr>
              <a:t>. In total, the plague reduced the world population from an estimated 450 million down to 350–375 million in the 14th century.</a:t>
            </a:r>
            <a:endParaRPr sz="1800" lang="ja-JP">
              <a:latin typeface="Noto Sans"/>
              <a:ea typeface="Noto Sans CJK JP"/>
              <a:cs typeface="Noto Sans"/>
            </a:endParaRPr>
          </a:p>
        </p:txBody>
      </p:sp>
      <p:sp>
        <p:nvSpPr>
          <p:cNvPr id="7" name="example-question"/>
          <p:cNvSpPr txBox="1"/>
          <p:nvPr/>
        </p:nvSpPr>
        <p:spPr>
          <a:xfrm>
            <a:off x="548640" y="3245715"/>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How much of the European population did the black death kill?</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黒死病でヨーロッパ人口のどのくらいが死亡したか？</a:t>
            </a:r>
            <a:endParaRPr sz="1700" lang="ja-JP">
              <a:latin typeface="Noto Sans"/>
              <a:ea typeface="Noto Sans CJK JP"/>
              <a:cs typeface="Noto Sans"/>
            </a:endParaRPr>
          </a:p>
        </p:txBody>
      </p:sp>
      <p:sp>
        <p:nvSpPr>
          <p:cNvPr id="8" name="example-answer"/>
          <p:cNvSpPr txBox="1"/>
          <p:nvPr/>
        </p:nvSpPr>
        <p:spPr>
          <a:xfrm>
            <a:off x="548640" y="3893415"/>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30–60% of Europe's total population</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Black_Death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57264684708984140094c125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補足実例5 Warsaw</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6728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One of the most famous people born in Warsaw was Maria Skłodowska-Curie, who achieved international recognition for her research on radioactivity and was the first female recipient of the </a:t>
            </a:r>
            <a:r>
              <a:rPr sz="1800" b="1" lang="ja-JP">
                <a:solidFill>
                  <a:srgbClr val="B13731"/>
                </a:solidFill>
                <a:latin typeface="Noto Sans"/>
                <a:ea typeface="Noto Sans CJK JP"/>
                <a:cs typeface="Noto Sans"/>
              </a:rPr>
              <a:t>Nobel Prize</a:t>
            </a:r>
            <a:r>
              <a:rPr sz="1800" b="0" lang="ja-JP">
                <a:solidFill>
                  <a:srgbClr val="303437"/>
                </a:solidFill>
                <a:latin typeface="Noto Sans"/>
                <a:ea typeface="Noto Sans CJK JP"/>
                <a:cs typeface="Noto Sans"/>
              </a:rPr>
              <a:t>. Famous musicians include Władysław Szpilman and Frédéric Chopin.</a:t>
            </a:r>
            <a:endParaRPr sz="1800" lang="ja-JP">
              <a:latin typeface="Noto Sans"/>
              <a:ea typeface="Noto Sans CJK JP"/>
              <a:cs typeface="Noto Sans"/>
            </a:endParaRPr>
          </a:p>
        </p:txBody>
      </p:sp>
      <p:sp>
        <p:nvSpPr>
          <p:cNvPr id="7" name="example-question"/>
          <p:cNvSpPr txBox="1"/>
          <p:nvPr/>
        </p:nvSpPr>
        <p:spPr>
          <a:xfrm>
            <a:off x="548640" y="3541638"/>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was Maria Curie the first female recipient of?</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マリ・キュリーが女性として初めて受賞した賞は何か？</a:t>
            </a:r>
            <a:endParaRPr sz="1700" lang="ja-JP">
              <a:latin typeface="Noto Sans"/>
              <a:ea typeface="Noto Sans CJK JP"/>
              <a:cs typeface="Noto Sans"/>
            </a:endParaRPr>
          </a:p>
        </p:txBody>
      </p:sp>
      <p:sp>
        <p:nvSpPr>
          <p:cNvPr id="8" name="example-answer"/>
          <p:cNvSpPr txBox="1"/>
          <p:nvPr/>
        </p:nvSpPr>
        <p:spPr>
          <a:xfrm>
            <a:off x="548640" y="4189338"/>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Nobel Prize</a:t>
            </a:r>
            <a:endParaRPr sz="2200" lang="ja-JP">
              <a:latin typeface="Noto Sans"/>
              <a:ea typeface="Noto Sans CJK JP"/>
              <a:cs typeface="Noto Sans"/>
            </a:endParaRPr>
          </a:p>
        </p:txBody>
      </p:sp>
      <p:sp>
        <p:nvSpPr>
          <p:cNvPr id="9"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Warsaw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5733a5f54776f41900660f45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補足実例6 Genghis Khan</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37690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After founding </a:t>
            </a:r>
            <a:r>
              <a:rPr sz="1800" b="1" lang="ja-JP">
                <a:solidFill>
                  <a:srgbClr val="B13731"/>
                </a:solidFill>
                <a:latin typeface="Noto Sans"/>
                <a:ea typeface="Noto Sans CJK JP"/>
                <a:cs typeface="Noto Sans"/>
              </a:rPr>
              <a:t>the Mongol Empire</a:t>
            </a:r>
            <a:r>
              <a:rPr sz="1800" b="0" lang="ja-JP">
                <a:solidFill>
                  <a:srgbClr val="303437"/>
                </a:solidFill>
                <a:latin typeface="Noto Sans"/>
                <a:ea typeface="Noto Sans CJK JP"/>
                <a:cs typeface="Noto Sans"/>
              </a:rPr>
              <a:t> and being proclaimed "Genghis Khan", he started the Mongol invasions that resulted in the conquest of most of Eurasia. These included raids or invasions of the Qara Khitai, Caucasus, Khwarezmid Empire, Western Xia and Jin dynasties.</a:t>
            </a:r>
            <a:endParaRPr sz="1800" lang="ja-JP">
              <a:latin typeface="Noto Sans"/>
              <a:ea typeface="Noto Sans CJK JP"/>
              <a:cs typeface="Noto Sans"/>
            </a:endParaRPr>
          </a:p>
        </p:txBody>
      </p:sp>
      <p:sp>
        <p:nvSpPr>
          <p:cNvPr id="7" name="example-question"/>
          <p:cNvSpPr txBox="1"/>
          <p:nvPr/>
        </p:nvSpPr>
        <p:spPr>
          <a:xfrm>
            <a:off x="548640" y="3245715"/>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do we call the empire that Genghis Khan founded?</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チンギス・ハンが建てた帝国を何と呼ぶか？</a:t>
            </a:r>
            <a:endParaRPr sz="1700" lang="ja-JP">
              <a:latin typeface="Noto Sans"/>
              <a:ea typeface="Noto Sans CJK JP"/>
              <a:cs typeface="Noto Sans"/>
            </a:endParaRPr>
          </a:p>
        </p:txBody>
      </p:sp>
      <p:sp>
        <p:nvSpPr>
          <p:cNvPr id="8" name="example-answer"/>
          <p:cNvSpPr txBox="1"/>
          <p:nvPr/>
        </p:nvSpPr>
        <p:spPr>
          <a:xfrm>
            <a:off x="548640" y="3893415"/>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the Mongol Empire</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Genghis_Khan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57269e8a5951b619008f77f5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補足実例7 Chloroplast</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37690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Chloroplasts' main role is </a:t>
            </a:r>
            <a:r>
              <a:rPr sz="1800" b="1" lang="ja-JP">
                <a:solidFill>
                  <a:srgbClr val="B13731"/>
                </a:solidFill>
                <a:latin typeface="Noto Sans"/>
                <a:ea typeface="Noto Sans CJK JP"/>
                <a:cs typeface="Noto Sans"/>
              </a:rPr>
              <a:t>to conduct photosynthesis</a:t>
            </a:r>
            <a:r>
              <a:rPr sz="1800" b="0" lang="ja-JP">
                <a:solidFill>
                  <a:srgbClr val="303437"/>
                </a:solidFill>
                <a:latin typeface="Noto Sans"/>
                <a:ea typeface="Noto Sans CJK JP"/>
                <a:cs typeface="Noto Sans"/>
              </a:rPr>
              <a:t>, where the photosynthetic pigment chlorophyll captures the energy from sunlight and converts it and stores it in the energy-storage molecules ATP and NADPH while freeing oxygen from water.</a:t>
            </a:r>
            <a:endParaRPr sz="1800" lang="ja-JP">
              <a:latin typeface="Noto Sans"/>
              <a:ea typeface="Noto Sans CJK JP"/>
              <a:cs typeface="Noto Sans"/>
            </a:endParaRPr>
          </a:p>
        </p:txBody>
      </p:sp>
      <p:sp>
        <p:nvSpPr>
          <p:cNvPr id="7" name="example-question"/>
          <p:cNvSpPr txBox="1"/>
          <p:nvPr/>
        </p:nvSpPr>
        <p:spPr>
          <a:xfrm>
            <a:off x="548640" y="3245715"/>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is the primary purpose of chloroplasts?</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葉緑体の主な役割は何か？</a:t>
            </a:r>
            <a:endParaRPr sz="1700" lang="ja-JP">
              <a:latin typeface="Noto Sans"/>
              <a:ea typeface="Noto Sans CJK JP"/>
              <a:cs typeface="Noto Sans"/>
            </a:endParaRPr>
          </a:p>
        </p:txBody>
      </p:sp>
      <p:sp>
        <p:nvSpPr>
          <p:cNvPr id="8" name="example-answer"/>
          <p:cNvSpPr txBox="1"/>
          <p:nvPr/>
        </p:nvSpPr>
        <p:spPr>
          <a:xfrm>
            <a:off x="548640" y="3893415"/>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to conduct photosynthesis</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Chloroplast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572953013f37b3190047824d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補足実例8 University of Chicago</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16728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The University of Chicago (UChicago, Chicago, or U of C) is </a:t>
            </a:r>
            <a:r>
              <a:rPr sz="1800" b="1" lang="ja-JP">
                <a:solidFill>
                  <a:srgbClr val="B13731"/>
                </a:solidFill>
                <a:latin typeface="Noto Sans"/>
                <a:ea typeface="Noto Sans CJK JP"/>
                <a:cs typeface="Noto Sans"/>
              </a:rPr>
              <a:t>a private research university</a:t>
            </a:r>
            <a:r>
              <a:rPr sz="1800" b="0" lang="ja-JP">
                <a:solidFill>
                  <a:srgbClr val="303437"/>
                </a:solidFill>
                <a:latin typeface="Noto Sans"/>
                <a:ea typeface="Noto Sans CJK JP"/>
                <a:cs typeface="Noto Sans"/>
              </a:rPr>
              <a:t> in Chicago. The university, established in 1890, consists of The College, various graduate programs, interdisciplinary committees organized into four academic research divisions and seven professional schools.</a:t>
            </a:r>
            <a:endParaRPr sz="1800" lang="ja-JP">
              <a:latin typeface="Noto Sans"/>
              <a:ea typeface="Noto Sans CJK JP"/>
              <a:cs typeface="Noto Sans"/>
            </a:endParaRPr>
          </a:p>
        </p:txBody>
      </p:sp>
      <p:sp>
        <p:nvSpPr>
          <p:cNvPr id="7" name="example-question"/>
          <p:cNvSpPr txBox="1"/>
          <p:nvPr/>
        </p:nvSpPr>
        <p:spPr>
          <a:xfrm>
            <a:off x="548640" y="3541638"/>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kind of university is the University of Chicago?</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シカゴ大学はどのような種類の大学か？</a:t>
            </a:r>
            <a:endParaRPr sz="1700" lang="ja-JP">
              <a:latin typeface="Noto Sans"/>
              <a:ea typeface="Noto Sans CJK JP"/>
              <a:cs typeface="Noto Sans"/>
            </a:endParaRPr>
          </a:p>
        </p:txBody>
      </p:sp>
      <p:sp>
        <p:nvSpPr>
          <p:cNvPr id="8" name="example-answer"/>
          <p:cNvSpPr txBox="1"/>
          <p:nvPr/>
        </p:nvSpPr>
        <p:spPr>
          <a:xfrm>
            <a:off x="548640" y="4189338"/>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a private research university</a:t>
            </a:r>
            <a:endParaRPr sz="2200" lang="ja-JP">
              <a:latin typeface="Noto Sans"/>
              <a:ea typeface="Noto Sans CJK JP"/>
              <a:cs typeface="Noto Sans"/>
            </a:endParaRPr>
          </a:p>
        </p:txBody>
      </p:sp>
      <p:sp>
        <p:nvSpPr>
          <p:cNvPr id="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University_of_Chicago　</a:t>
            </a:r>
            <a:r>
              <a:rPr sz="800" b="0" lang="ja-JP">
                <a:solidFill>
                  <a:srgbClr val="626669"/>
                </a:solidFill>
                <a:latin typeface="Noto Sans"/>
                <a:ea typeface="Noto Sans CJK JP"/>
                <a:cs typeface="Noto Sans"/>
                <a:hlinkClick r:id="rId2"/>
              </a:rPr>
              <a:t>https://rajpurkar.github.io/SQuAD-explorer/dataset/dev-v1.1.json</a:t>
            </a:r>
            <a:r>
              <a:rPr sz="800" b="0" lang="ja-JP">
                <a:solidFill>
                  <a:srgbClr val="626669"/>
                </a:solidFill>
                <a:latin typeface="Noto Sans"/>
                <a:ea typeface="Noto Sans CJK JP"/>
                <a:cs typeface="Noto Sans"/>
              </a:rPr>
              <a:t>  （CC BY-SA 4.0／抜粋・強調・質問訳を追加）　ID 57283c464b864d19001647c8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補足実例9 Steam engine</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7850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Steam engines are external combustion engines, where the working fluid is separate from the combustion products.</a:t>
            </a:r>
            <a:endParaRPr sz="1800" lang="ja-JP">
              <a:latin typeface="Noto Sans"/>
              <a:ea typeface="Noto Sans CJK JP"/>
              <a:cs typeface="Noto Sans"/>
            </a:endParaRPr>
          </a:p>
        </p:txBody>
      </p:sp>
      <p:sp>
        <p:nvSpPr>
          <p:cNvPr id="7" name="example-question"/>
          <p:cNvSpPr txBox="1"/>
          <p:nvPr/>
        </p:nvSpPr>
        <p:spPr>
          <a:xfrm>
            <a:off x="548640" y="2653882"/>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types of engines are solar engines?</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太陽熱機関はどのような種類の機関か？</a:t>
            </a:r>
            <a:endParaRPr sz="1700" lang="ja-JP">
              <a:latin typeface="Noto Sans"/>
              <a:ea typeface="Noto Sans CJK JP"/>
              <a:cs typeface="Noto Sans"/>
            </a:endParaRPr>
          </a:p>
        </p:txBody>
      </p:sp>
      <p:sp>
        <p:nvSpPr>
          <p:cNvPr id="8" name="example-answer"/>
          <p:cNvSpPr txBox="1"/>
          <p:nvPr/>
        </p:nvSpPr>
        <p:spPr>
          <a:xfrm>
            <a:off x="548640" y="3301582"/>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回答不能（文章に根拠がない）</a:t>
            </a:r>
            <a:endParaRPr sz="2200" lang="ja-JP">
              <a:latin typeface="Noto Sans"/>
              <a:ea typeface="Noto Sans CJK JP"/>
              <a:cs typeface="Noto Sans"/>
            </a:endParaRPr>
          </a:p>
        </p:txBody>
      </p:sp>
      <p:sp>
        <p:nvSpPr>
          <p:cNvPr id="9" name="content-text"/>
          <p:cNvSpPr txBox="1"/>
          <p:nvPr/>
        </p:nvSpPr>
        <p:spPr>
          <a:xfrm>
            <a:off x="548640" y="3873082"/>
            <a:ext cx="8046720" cy="23145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原文は蒸気機関を説明する。太陽熱機関の種類は書かれていない。</a:t>
            </a:r>
            <a:endParaRPr sz="1400" lang="ja-JP">
              <a:latin typeface="Noto Sans"/>
              <a:ea typeface="Noto Sans CJK JP"/>
              <a:cs typeface="Noto Sans"/>
            </a:endParaRPr>
          </a:p>
        </p:txBody>
      </p:sp>
      <p:sp>
        <p:nvSpPr>
          <p:cNvPr id="10"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Steam_engine　</a:t>
            </a:r>
            <a:r>
              <a:rPr sz="800" b="0" lang="ja-JP">
                <a:solidFill>
                  <a:srgbClr val="626669"/>
                </a:solidFill>
                <a:latin typeface="Noto Sans"/>
                <a:ea typeface="Noto Sans CJK JP"/>
                <a:cs typeface="Noto Sans"/>
                <a:hlinkClick r:id="rId2"/>
              </a:rPr>
              <a:t>https://rajpurkar.github.io/SQuAD-explorer/dataset/dev-v2.0.json</a:t>
            </a:r>
            <a:r>
              <a:rPr sz="800" b="0" lang="ja-JP">
                <a:solidFill>
                  <a:srgbClr val="626669"/>
                </a:solidFill>
                <a:latin typeface="Noto Sans"/>
                <a:ea typeface="Noto Sans CJK JP"/>
                <a:cs typeface="Noto Sans"/>
              </a:rPr>
              <a:t>  （CC BY-SA 4.0／抜粋・強調・質問訳を追加）　ID 5ad3bd8f604f3c001a3fef31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補足実例10 Oxygen</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2. 段落・質問・回答の追加例</a:t>
            </a:r>
            <a:endParaRPr sz="1400" lang="ja-JP">
              <a:latin typeface="Noto Sans"/>
              <a:ea typeface="Noto Sans CJK JP"/>
              <a:cs typeface="Noto Sans"/>
            </a:endParaRPr>
          </a:p>
        </p:txBody>
      </p:sp>
      <p:sp>
        <p:nvSpPr>
          <p:cNvPr id="4" name="content-text"/>
          <p:cNvSpPr txBox="1"/>
          <p:nvPr/>
        </p:nvSpPr>
        <p:spPr>
          <a:xfrm>
            <a:off x="548640" y="1363027"/>
            <a:ext cx="8046720" cy="231457"/>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400" lang="ja-JP">
                <a:latin typeface="Noto Sans"/>
                <a:ea typeface="Noto Sans CJK JP"/>
                <a:cs typeface="Noto Sans"/>
              </a:defRPr>
            </a:pPr>
            <a:r>
              <a:rPr sz="1400" lang="ja-JP">
                <a:solidFill>
                  <a:srgbClr val="626669"/>
                </a:solidFill>
                <a:latin typeface="Noto Sans"/>
                <a:ea typeface="Noto Sans CJK JP"/>
                <a:cs typeface="Noto Sans"/>
              </a:rPr>
              <a:t>Wikipedia記事の段落（抜粋）</a:t>
            </a:r>
            <a:endParaRPr sz="1400" lang="ja-JP">
              <a:latin typeface="Noto Sans"/>
              <a:ea typeface="Noto Sans CJK JP"/>
              <a:cs typeface="Noto Sans"/>
            </a:endParaRPr>
          </a:p>
        </p:txBody>
      </p:sp>
      <p:sp>
        <p:nvSpPr>
          <p:cNvPr id="5" name="quote-frame"/>
          <p:cNvSpPr/>
          <p:nvPr/>
        </p:nvSpPr>
        <p:spPr>
          <a:xfrm>
            <a:off x="548640" y="1691007"/>
            <a:ext cx="8046720" cy="48915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774507"/>
            <a:ext cx="7680960" cy="1543050"/>
          </a:xfrm>
          <a:prstGeom prst="rect">
            <a:avLst/>
          </a:prstGeom>
          <a:noFill/>
        </p:spPr>
        <p:txBody>
          <a:bodyPr wrap="square" anchor="t" lIns="0" rIns="0" tIns="0" bIns="0">
            <a:noAutofit/>
          </a:bodyPr>
          <a:lstStyle/>
          <a:p>
            <a:pPr algn="l" marL="0" indent="0">
              <a:lnSpc>
                <a:spcPct val="108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Diatomic oxygen gas constitutes 20.8% of the Earth's atmosphere.</a:t>
            </a:r>
            <a:endParaRPr sz="1800" lang="ja-JP">
              <a:latin typeface="Noto Sans"/>
              <a:ea typeface="Noto Sans CJK JP"/>
              <a:cs typeface="Noto Sans"/>
            </a:endParaRPr>
          </a:p>
        </p:txBody>
      </p:sp>
      <p:sp>
        <p:nvSpPr>
          <p:cNvPr id="7" name="example-question"/>
          <p:cNvSpPr txBox="1"/>
          <p:nvPr/>
        </p:nvSpPr>
        <p:spPr>
          <a:xfrm>
            <a:off x="548640" y="2357960"/>
            <a:ext cx="8046720" cy="771525"/>
          </a:xfrm>
          <a:prstGeom prst="rect">
            <a:avLst/>
          </a:prstGeom>
          <a:noFill/>
        </p:spPr>
        <p:txBody>
          <a:bodyPr wrap="square" anchor="t" lIns="0" rIns="0" tIns="0" bIns="0">
            <a:noAutofit/>
          </a:bodyPr>
          <a:lstStyle/>
          <a:p>
            <a:pPr algn="l" marL="0" indent="0">
              <a:lnSpc>
                <a:spcPct val="110000"/>
              </a:lnSpc>
              <a:spcBef>
                <a:spcPts val="0"/>
              </a:spcBef>
              <a:spcAft>
                <a:spcPts val="600"/>
              </a:spcAft>
              <a:buNone/>
              <a:defRPr sz="1900" lang="ja-JP">
                <a:latin typeface="Noto Sans"/>
                <a:ea typeface="Noto Sans CJK JP"/>
                <a:cs typeface="Noto Sans"/>
              </a:defRPr>
            </a:pPr>
            <a:r>
              <a:rPr sz="1900" b="1" lang="ja-JP">
                <a:solidFill>
                  <a:srgbClr val="303437"/>
                </a:solidFill>
                <a:latin typeface="Noto Sans"/>
                <a:ea typeface="Noto Sans CJK JP"/>
                <a:cs typeface="Noto Sans"/>
              </a:rPr>
              <a:t>質問 </a:t>
            </a:r>
            <a:r>
              <a:rPr sz="1900" b="0" lang="ja-JP">
                <a:solidFill>
                  <a:srgbClr val="303437"/>
                </a:solidFill>
                <a:latin typeface="Noto Sans"/>
                <a:ea typeface="Noto Sans CJK JP"/>
                <a:cs typeface="Noto Sans"/>
              </a:rPr>
              <a:t>What constitutes 28.0% of the Earth's atmosphere?</a:t>
            </a:r>
            <a:endParaRPr sz="1900" lang="ja-JP">
              <a:latin typeface="Noto Sans"/>
              <a:ea typeface="Noto Sans CJK JP"/>
              <a:cs typeface="Noto Sans"/>
            </a:endParaRPr>
          </a:p>
          <a:p>
            <a:pPr algn="l" marL="0" indent="0">
              <a:lnSpc>
                <a:spcPct val="110000"/>
              </a:lnSpc>
              <a:spcBef>
                <a:spcPts val="0"/>
              </a:spcBef>
              <a:spcAft>
                <a:spcPts val="600"/>
              </a:spcAft>
              <a:buNone/>
              <a:defRPr sz="1700" lang="ja-JP">
                <a:latin typeface="Noto Sans"/>
                <a:ea typeface="Noto Sans CJK JP"/>
                <a:cs typeface="Noto Sans"/>
              </a:defRPr>
            </a:pPr>
            <a:r>
              <a:rPr sz="1700" b="0" lang="ja-JP">
                <a:solidFill>
                  <a:srgbClr val="626669"/>
                </a:solidFill>
                <a:latin typeface="Noto Sans"/>
                <a:ea typeface="Noto Sans CJK JP"/>
                <a:cs typeface="Noto Sans"/>
              </a:rPr>
              <a:t>質問の日本語訳 地球の大気の28.0%を占めるものは何か？</a:t>
            </a:r>
            <a:endParaRPr sz="1700" lang="ja-JP">
              <a:latin typeface="Noto Sans"/>
              <a:ea typeface="Noto Sans CJK JP"/>
              <a:cs typeface="Noto Sans"/>
            </a:endParaRPr>
          </a:p>
        </p:txBody>
      </p:sp>
      <p:sp>
        <p:nvSpPr>
          <p:cNvPr id="8" name="example-answer"/>
          <p:cNvSpPr txBox="1"/>
          <p:nvPr/>
        </p:nvSpPr>
        <p:spPr>
          <a:xfrm>
            <a:off x="548640" y="3005660"/>
            <a:ext cx="8046720" cy="33432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200" lang="ja-JP">
                <a:latin typeface="Noto Sans"/>
                <a:ea typeface="Noto Sans CJK JP"/>
                <a:cs typeface="Noto Sans"/>
              </a:defRPr>
            </a:pPr>
            <a:r>
              <a:rPr sz="2200" b="1" lang="ja-JP">
                <a:solidFill>
                  <a:srgbClr val="B13731"/>
                </a:solidFill>
                <a:latin typeface="Noto Sans"/>
                <a:ea typeface="Noto Sans CJK JP"/>
                <a:cs typeface="Noto Sans"/>
              </a:rPr>
              <a:t>正解は 回答不能（文章に根拠がない）</a:t>
            </a:r>
            <a:endParaRPr sz="2200" lang="ja-JP">
              <a:latin typeface="Noto Sans"/>
              <a:ea typeface="Noto Sans CJK JP"/>
              <a:cs typeface="Noto Sans"/>
            </a:endParaRPr>
          </a:p>
        </p:txBody>
      </p:sp>
      <p:sp>
        <p:nvSpPr>
          <p:cNvPr id="9" name="content-text"/>
          <p:cNvSpPr txBox="1"/>
          <p:nvPr/>
        </p:nvSpPr>
        <p:spPr>
          <a:xfrm>
            <a:off x="548640" y="3577160"/>
            <a:ext cx="8046720" cy="231457"/>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原文の割合は20.8%。28.0%に対応する記述はない。</a:t>
            </a:r>
            <a:endParaRPr sz="1400" lang="ja-JP">
              <a:latin typeface="Noto Sans"/>
              <a:ea typeface="Noto Sans CJK JP"/>
              <a:cs typeface="Noto Sans"/>
            </a:endParaRPr>
          </a:p>
        </p:txBody>
      </p:sp>
      <p:sp>
        <p:nvSpPr>
          <p:cNvPr id="10"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SQuAD 記事名 Oxygen　</a:t>
            </a:r>
            <a:r>
              <a:rPr sz="800" b="0" lang="ja-JP">
                <a:solidFill>
                  <a:srgbClr val="626669"/>
                </a:solidFill>
                <a:latin typeface="Noto Sans"/>
                <a:ea typeface="Noto Sans CJK JP"/>
                <a:cs typeface="Noto Sans"/>
                <a:hlinkClick r:id="rId2"/>
              </a:rPr>
              <a:t>https://rajpurkar.github.io/SQuAD-explorer/dataset/dev-v2.0.json</a:t>
            </a:r>
            <a:r>
              <a:rPr sz="800" b="0" lang="ja-JP">
                <a:solidFill>
                  <a:srgbClr val="626669"/>
                </a:solidFill>
                <a:latin typeface="Noto Sans"/>
                <a:ea typeface="Noto Sans CJK JP"/>
                <a:cs typeface="Noto Sans"/>
              </a:rPr>
              <a:t>  （CC BY-SA 4.0／抜粋・強調・質問訳を追加）　ID 5ad21646d7d075001a4283c7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記述統計 バージョン1.1・学習用</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6004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質問 87,599件／回答あり 87,599件／回答不能 0件</a:t>
            </a:r>
            <a:endParaRPr sz="2000" lang="ja-JP">
              <a:latin typeface="Noto Sans"/>
              <a:ea typeface="Noto Sans CJK JP"/>
              <a:cs typeface="Noto Sans"/>
            </a:endParaRPr>
          </a:p>
        </p:txBody>
      </p:sp>
      <p:graphicFrame>
        <p:nvGraphicFramePr>
          <p:cNvPr id="5" name="Table 4"/>
          <p:cNvGraphicFramePr>
            <a:graphicFrameLocks noGrp="1"/>
          </p:cNvGraphicFramePr>
          <p:nvPr/>
        </p:nvGraphicFramePr>
        <p:xfrm>
          <a:off x="502920" y="2031682"/>
          <a:ext cx="8138154" cy="1645920"/>
        </p:xfrm>
        <a:graphic>
          <a:graphicData uri="http://schemas.openxmlformats.org/drawingml/2006/table">
            <a:tbl>
              <a:tblPr firstRow="1" bandRow="1">
                <a:tableStyleId>{5C22544A-7EE6-4342-B048-85BDC9FD1C3A}</a:tableStyleId>
              </a:tblPr>
              <a:tblGrid>
                <a:gridCol w="1546250"/>
                <a:gridCol w="823988"/>
                <a:gridCol w="823988"/>
                <a:gridCol w="823988"/>
                <a:gridCol w="823988"/>
                <a:gridCol w="823988"/>
                <a:gridCol w="823988"/>
                <a:gridCol w="823988"/>
                <a:gridCol w="823988"/>
              </a:tblGrid>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指標 [1]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平均</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標準偏差</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最小</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中央値</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最大</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質問文字</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59.2</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21.2</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44.0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56.0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71.0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98.0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270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質問単語</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3.6</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8.0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12.0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17.0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回答文字</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21.6</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23.0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63.0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239</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回答単語</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3.2</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3.4</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43</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6" name="content-text"/>
          <p:cNvSpPr/>
          <p:nvPr>
            <p:ph type="body" idx="1"/>
          </p:nvPr>
        </p:nvSpPr>
        <p:spPr>
          <a:xfrm>
            <a:off x="594360" y="3995928"/>
            <a:ext cx="8046720" cy="684451"/>
          </a:xfrm>
          <a:prstGeom prst="rect">
            <a:avLst/>
          </a:prstGeom>
          <a:noFill/>
        </p:spPr>
        <p:txBody>
          <a:bodyPr wrap="square" anchor="t" lIns="91425" rIns="91425" tIns="91425" bIns="91425">
            <a:noAutofit/>
          </a:bodyPr>
          <a:lstStyle/>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文字数は前後の空白だけを除いた文字列の長さ。</a:t>
            </a:r>
            <a:endParaRPr sz="1550" lang="ja-JP">
              <a:latin typeface="Noto Sans"/>
              <a:ea typeface="Noto Sans CJK JP"/>
              <a:cs typeface="Noto Sans"/>
            </a:endParaRPr>
          </a:p>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単語数は空白区切り。回答は先頭の正解を1問1件、回答不能は除外。</a:t>
            </a:r>
            <a:endParaRPr sz="155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公式JSONを全件集計　</a:t>
            </a: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記述統計 バージョン1.1・開発用</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6004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質問 10,570件／回答あり 10,570件／回答不能 0件</a:t>
            </a:r>
            <a:endParaRPr sz="2000" lang="ja-JP">
              <a:latin typeface="Noto Sans"/>
              <a:ea typeface="Noto Sans CJK JP"/>
              <a:cs typeface="Noto Sans"/>
            </a:endParaRPr>
          </a:p>
        </p:txBody>
      </p:sp>
      <p:graphicFrame>
        <p:nvGraphicFramePr>
          <p:cNvPr id="5" name="Table 4"/>
          <p:cNvGraphicFramePr>
            <a:graphicFrameLocks noGrp="1"/>
          </p:cNvGraphicFramePr>
          <p:nvPr/>
        </p:nvGraphicFramePr>
        <p:xfrm>
          <a:off x="502920" y="2031682"/>
          <a:ext cx="8138154" cy="1645920"/>
        </p:xfrm>
        <a:graphic>
          <a:graphicData uri="http://schemas.openxmlformats.org/drawingml/2006/table">
            <a:tbl>
              <a:tblPr firstRow="1" bandRow="1">
                <a:tableStyleId>{5C22544A-7EE6-4342-B048-85BDC9FD1C3A}</a:tableStyleId>
              </a:tblPr>
              <a:tblGrid>
                <a:gridCol w="1546250"/>
                <a:gridCol w="823988"/>
                <a:gridCol w="823988"/>
                <a:gridCol w="823988"/>
                <a:gridCol w="823988"/>
                <a:gridCol w="823988"/>
                <a:gridCol w="823988"/>
                <a:gridCol w="823988"/>
                <a:gridCol w="823988"/>
              </a:tblGrid>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指標 [1]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平均</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標準偏差</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最小</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中央値</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最大</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質問文字</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60.0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21.2</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12</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45.0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57.0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72.0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99.0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197</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質問単語</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10.2</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3.6</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8.0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12.0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17.0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33</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回答文字</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19.4</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19.3</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8.0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23.0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57.0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160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回答単語</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29</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6" name="content-text"/>
          <p:cNvSpPr/>
          <p:nvPr>
            <p:ph type="body" idx="1"/>
          </p:nvPr>
        </p:nvSpPr>
        <p:spPr>
          <a:xfrm>
            <a:off x="594360" y="3995928"/>
            <a:ext cx="8046720" cy="684451"/>
          </a:xfrm>
          <a:prstGeom prst="rect">
            <a:avLst/>
          </a:prstGeom>
          <a:noFill/>
        </p:spPr>
        <p:txBody>
          <a:bodyPr wrap="square" anchor="t" lIns="91425" rIns="91425" tIns="91425" bIns="91425">
            <a:noAutofit/>
          </a:bodyPr>
          <a:lstStyle/>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文字数は前後の空白だけを除いた文字列の長さ。</a:t>
            </a:r>
            <a:endParaRPr sz="1550" lang="ja-JP">
              <a:latin typeface="Noto Sans"/>
              <a:ea typeface="Noto Sans CJK JP"/>
              <a:cs typeface="Noto Sans"/>
            </a:endParaRPr>
          </a:p>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単語数は空白区切り。回答は先頭の正解を1問1件、回答不能は除外。</a:t>
            </a:r>
            <a:endParaRPr sz="155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公式JSONを全件集計　</a:t>
            </a: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記述統計 バージョン2.0・学習用</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6004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質問 130,319件／回答あり 86,821件／回答不能 43,498件</a:t>
            </a:r>
            <a:endParaRPr sz="2000" lang="ja-JP">
              <a:latin typeface="Noto Sans"/>
              <a:ea typeface="Noto Sans CJK JP"/>
              <a:cs typeface="Noto Sans"/>
            </a:endParaRPr>
          </a:p>
        </p:txBody>
      </p:sp>
      <p:graphicFrame>
        <p:nvGraphicFramePr>
          <p:cNvPr id="5" name="Table 4"/>
          <p:cNvGraphicFramePr>
            <a:graphicFrameLocks noGrp="1"/>
          </p:cNvGraphicFramePr>
          <p:nvPr/>
        </p:nvGraphicFramePr>
        <p:xfrm>
          <a:off x="502920" y="2031682"/>
          <a:ext cx="8138154" cy="1645920"/>
        </p:xfrm>
        <a:graphic>
          <a:graphicData uri="http://schemas.openxmlformats.org/drawingml/2006/table">
            <a:tbl>
              <a:tblPr firstRow="1" bandRow="1">
                <a:tableStyleId>{5C22544A-7EE6-4342-B048-85BDC9FD1C3A}</a:tableStyleId>
              </a:tblPr>
              <a:tblGrid>
                <a:gridCol w="1546250"/>
                <a:gridCol w="823988"/>
                <a:gridCol w="823988"/>
                <a:gridCol w="823988"/>
                <a:gridCol w="823988"/>
                <a:gridCol w="823988"/>
                <a:gridCol w="823988"/>
                <a:gridCol w="823988"/>
                <a:gridCol w="823988"/>
              </a:tblGrid>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指標 [1]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平均</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標準偏差</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最小</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中央値</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最大</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質問文字</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58.3</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20.4</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44.0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55.0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69.0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96.0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270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質問単語</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9.9</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3.4</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12.0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16.0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回答文字</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21.6</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23.0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63.0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239</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回答単語</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3.2</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3.4</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43</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6" name="content-text"/>
          <p:cNvSpPr/>
          <p:nvPr>
            <p:ph type="body" idx="1"/>
          </p:nvPr>
        </p:nvSpPr>
        <p:spPr>
          <a:xfrm>
            <a:off x="594360" y="3995928"/>
            <a:ext cx="8046720" cy="684451"/>
          </a:xfrm>
          <a:prstGeom prst="rect">
            <a:avLst/>
          </a:prstGeom>
          <a:noFill/>
        </p:spPr>
        <p:txBody>
          <a:bodyPr wrap="square" anchor="t" lIns="91425" rIns="91425" tIns="91425" bIns="91425">
            <a:noAutofit/>
          </a:bodyPr>
          <a:lstStyle/>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文字数は前後の空白だけを除いた文字列の長さ。</a:t>
            </a:r>
            <a:endParaRPr sz="1550" lang="ja-JP">
              <a:latin typeface="Noto Sans"/>
              <a:ea typeface="Noto Sans CJK JP"/>
              <a:cs typeface="Noto Sans"/>
            </a:endParaRPr>
          </a:p>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単語数は空白区切り。回答は先頭の正解を1問1件、回答不能は除外。</a:t>
            </a:r>
            <a:endParaRPr sz="155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公式JSONを全件集計　</a:t>
            </a: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記述統計 バージョン2.0・開発用</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6004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質問 11,873件／回答あり 5,928件／回答不能 5,945件</a:t>
            </a:r>
            <a:endParaRPr sz="2000" lang="ja-JP">
              <a:latin typeface="Noto Sans"/>
              <a:ea typeface="Noto Sans CJK JP"/>
              <a:cs typeface="Noto Sans"/>
            </a:endParaRPr>
          </a:p>
        </p:txBody>
      </p:sp>
      <p:graphicFrame>
        <p:nvGraphicFramePr>
          <p:cNvPr id="5" name="Table 4"/>
          <p:cNvGraphicFramePr>
            <a:graphicFrameLocks noGrp="1"/>
          </p:cNvGraphicFramePr>
          <p:nvPr/>
        </p:nvGraphicFramePr>
        <p:xfrm>
          <a:off x="502920" y="2031682"/>
          <a:ext cx="8138154" cy="1645920"/>
        </p:xfrm>
        <a:graphic>
          <a:graphicData uri="http://schemas.openxmlformats.org/drawingml/2006/table">
            <a:tbl>
              <a:tblPr firstRow="1" bandRow="1">
                <a:tableStyleId>{5C22544A-7EE6-4342-B048-85BDC9FD1C3A}</a:tableStyleId>
              </a:tblPr>
              <a:tblGrid>
                <a:gridCol w="1546250"/>
                <a:gridCol w="823988"/>
                <a:gridCol w="823988"/>
                <a:gridCol w="823988"/>
                <a:gridCol w="823988"/>
                <a:gridCol w="823988"/>
                <a:gridCol w="823988"/>
                <a:gridCol w="823988"/>
                <a:gridCol w="823988"/>
              </a:tblGrid>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指標 [1]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平均</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標準偏差</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最小</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中央値</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95%点</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最大</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質問文字</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59.4</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20.8</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11</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45.0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57.0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71.0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98.0</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197</a:t>
                      </a:r>
                      <a:endParaRPr sz="14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質問単語</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3.5</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8.0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12.0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16.0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回答文字</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20.9</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21.4</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8.0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64.0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160</a:t>
                      </a:r>
                      <a:endParaRPr sz="14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29184">
                <a:tc>
                  <a:txBody>
                    <a:bodyPr wrap="square" anchor="ctr" lIns="0" rIns="0" tIns="0" bIns="0">
                      <a:noAutofit/>
                    </a:bodyPr>
                    <a:lstStyle/>
                    <a:p>
                      <a:pPr algn="l"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回答単語</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3.2</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3.3</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4.0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10.0</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400" lang="ja-JP">
                          <a:latin typeface="Noto Sans"/>
                          <a:ea typeface="Noto Sans CJK JP"/>
                          <a:cs typeface="Noto Sans"/>
                        </a:defRPr>
                      </a:pPr>
                      <a:r>
                        <a:rPr sz="1400" b="0" lang="ja-JP">
                          <a:solidFill>
                            <a:srgbClr val="303437"/>
                          </a:solidFill>
                          <a:latin typeface="Noto Sans"/>
                          <a:ea typeface="Noto Sans CJK JP"/>
                          <a:cs typeface="Noto Sans"/>
                        </a:rPr>
                        <a:t>29</a:t>
                      </a:r>
                      <a:endParaRPr sz="14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6" name="content-text"/>
          <p:cNvSpPr/>
          <p:nvPr>
            <p:ph type="body" idx="1"/>
          </p:nvPr>
        </p:nvSpPr>
        <p:spPr>
          <a:xfrm>
            <a:off x="594360" y="3995928"/>
            <a:ext cx="8046720" cy="684451"/>
          </a:xfrm>
          <a:prstGeom prst="rect">
            <a:avLst/>
          </a:prstGeom>
          <a:noFill/>
        </p:spPr>
        <p:txBody>
          <a:bodyPr wrap="square" anchor="t" lIns="91425" rIns="91425" tIns="91425" bIns="91425">
            <a:noAutofit/>
          </a:bodyPr>
          <a:lstStyle/>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文字数は前後の空白だけを除いた文字列の長さ。</a:t>
            </a:r>
            <a:endParaRPr sz="1550" lang="ja-JP">
              <a:latin typeface="Noto Sans"/>
              <a:ea typeface="Noto Sans CJK JP"/>
              <a:cs typeface="Noto Sans"/>
            </a:endParaRPr>
          </a:p>
          <a:p>
            <a:pPr algn="l" lvl="0" marL="457200" indent="-355600">
              <a:buSzPct val="85806"/>
              <a:buFont typeface="Noto Sans CJK JP"/>
              <a:buChar char="●"/>
              <a:defRPr sz="1550" lang="ja-JP">
                <a:latin typeface="Noto Sans"/>
                <a:ea typeface="Noto Sans CJK JP"/>
                <a:cs typeface="Noto Sans"/>
              </a:defRPr>
            </a:pPr>
            <a:r>
              <a:rPr sz="1550" lang="ja-JP">
                <a:solidFill>
                  <a:srgbClr val="303437"/>
                </a:solidFill>
                <a:latin typeface="Noto Sans"/>
                <a:ea typeface="Noto Sans CJK JP"/>
                <a:cs typeface="Noto Sans"/>
              </a:rPr>
              <a:t>単語数は空白区切り。回答は先頭の正解を1問1件、回答不能は除外。</a:t>
            </a:r>
            <a:endParaRPr sz="155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公式JSONを全件集計　</a:t>
            </a: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回答長の集計単位 バージョン1.1</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94485"/>
          <a:ext cx="8046718" cy="1954530"/>
        </p:xfrm>
        <a:graphic>
          <a:graphicData uri="http://schemas.openxmlformats.org/drawingml/2006/table">
            <a:tbl>
              <a:tblPr firstRow="1" bandRow="1">
                <a:tableStyleId>{5C22544A-7EE6-4342-B048-85BDC9FD1C3A}</a:tableStyleId>
              </a:tblPr>
              <a:tblGrid>
                <a:gridCol w="2574950"/>
                <a:gridCol w="1528876"/>
                <a:gridCol w="985723"/>
                <a:gridCol w="985723"/>
                <a:gridCol w="985723"/>
                <a:gridCol w="985723"/>
              </a:tblGrid>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対象・指標 [1]</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件数</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平均</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中央値</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95%点</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最大</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1問1件・文字</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98,169</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20.1</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14.0</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63.0</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239</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1問1件・単語</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98,169</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3.1</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10.0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43</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全正解注釈・文字</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122,325</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19.7</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14.0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61.0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239</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全正解注釈・単語</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122,325</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3.1</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9.0</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43</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833243"/>
            <a:ext cx="8046720" cy="848485"/>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学習用＋開発用を集計。回答不能の質問は除外。</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全正解注釈では、同じ質問の複数正解・重複注釈も数える。</a:t>
            </a:r>
            <a:endParaRPr sz="2000" lang="ja-JP">
              <a:latin typeface="Noto Sans"/>
              <a:ea typeface="Noto Sans CJK JP"/>
              <a:cs typeface="Noto Sans"/>
            </a:endParaRPr>
          </a:p>
        </p:txBody>
      </p:sp>
      <p:sp>
        <p:nvSpPr>
          <p:cNvPr id="6"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回答長の集計単位 バージョン2.0</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94485"/>
          <a:ext cx="8046718" cy="1954530"/>
        </p:xfrm>
        <a:graphic>
          <a:graphicData uri="http://schemas.openxmlformats.org/drawingml/2006/table">
            <a:tbl>
              <a:tblPr firstRow="1" bandRow="1">
                <a:tableStyleId>{5C22544A-7EE6-4342-B048-85BDC9FD1C3A}</a:tableStyleId>
              </a:tblPr>
              <a:tblGrid>
                <a:gridCol w="2574950"/>
                <a:gridCol w="1528876"/>
                <a:gridCol w="985723"/>
                <a:gridCol w="985723"/>
                <a:gridCol w="985723"/>
                <a:gridCol w="985723"/>
              </a:tblGrid>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対象・指標 [1]</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件数</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平均</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中央値</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95%点</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最大</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1問1件・文字</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92,749</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20.2</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14.0</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63.0</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239</a:t>
                      </a:r>
                      <a:endParaRPr sz="16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1問1件・単語</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92,749</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3.2</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10.0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43</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全正解注釈・文字</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107,123</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20.1</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14.0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63.0</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239</a:t>
                      </a:r>
                      <a:endParaRPr sz="16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390906">
                <a:tc>
                  <a:txBody>
                    <a:bodyPr wrap="square" anchor="ctr" lIns="0" rIns="0" tIns="0" bIns="0">
                      <a:noAutofit/>
                    </a:bodyPr>
                    <a:lstStyle/>
                    <a:p>
                      <a:pPr algn="l"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全正解注釈・単語</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107,123</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3.1</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2.0</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10.0</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600" lang="ja-JP">
                          <a:latin typeface="Noto Sans"/>
                          <a:ea typeface="Noto Sans CJK JP"/>
                          <a:cs typeface="Noto Sans"/>
                        </a:defRPr>
                      </a:pPr>
                      <a:r>
                        <a:rPr sz="1600" b="0" lang="ja-JP">
                          <a:solidFill>
                            <a:srgbClr val="303437"/>
                          </a:solidFill>
                          <a:latin typeface="Noto Sans"/>
                          <a:ea typeface="Noto Sans CJK JP"/>
                          <a:cs typeface="Noto Sans"/>
                        </a:rPr>
                        <a:t>43</a:t>
                      </a:r>
                      <a:endParaRPr sz="16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833243"/>
            <a:ext cx="8046720" cy="848485"/>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学習用＋開発用を集計。回答不能の質問は除外。</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全正解注釈では、同じ質問の複数正解・重複注釈も数える。</a:t>
            </a:r>
            <a:endParaRPr sz="2000" lang="ja-JP">
              <a:latin typeface="Noto Sans"/>
              <a:ea typeface="Noto Sans CJK JP"/>
              <a:cs typeface="Noto Sans"/>
            </a:endParaRPr>
          </a:p>
        </p:txBody>
      </p:sp>
      <p:sp>
        <p:nvSpPr>
          <p:cNvPr id="6"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入力段落の記述統計 バージョン1.1・train</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748790"/>
          <a:ext cx="8046718" cy="1543050"/>
        </p:xfrm>
        <a:graphic>
          <a:graphicData uri="http://schemas.openxmlformats.org/drawingml/2006/table">
            <a:tbl>
              <a:tblPr firstRow="1" bandRow="1">
                <a:tableStyleId>{5C22544A-7EE6-4342-B048-85BDC9FD1C3A}</a:tableStyleId>
              </a:tblPr>
              <a:tblGrid>
                <a:gridCol w="1528876"/>
                <a:gridCol w="1086307"/>
                <a:gridCol w="1086307"/>
                <a:gridCol w="1086307"/>
                <a:gridCol w="1086307"/>
                <a:gridCol w="1086307"/>
                <a:gridCol w="1086307"/>
              </a:tblGrid>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context [1]</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件数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平均</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SD</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中央値</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95%点</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最大</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文字数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18896</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735.8</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310.0</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678.0</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1311.0</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3706</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単語数</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18896</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116.6</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49.7</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107.0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210.0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653</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03320"/>
            <a:ext cx="8046720" cy="771525"/>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各段落を1回ずつ集計（質問数による重複は含めない）。</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文字数は前後空白除去／単語数は空白分割。</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SDは母標準偏差。95%点は95パーセンタイル。</a:t>
            </a:r>
          </a:p>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入力段落の記述統計 バージョン1.1・dev</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748790"/>
          <a:ext cx="8046718" cy="1543050"/>
        </p:xfrm>
        <a:graphic>
          <a:graphicData uri="http://schemas.openxmlformats.org/drawingml/2006/table">
            <a:tbl>
              <a:tblPr firstRow="1" bandRow="1">
                <a:tableStyleId>{5C22544A-7EE6-4342-B048-85BDC9FD1C3A}</a:tableStyleId>
              </a:tblPr>
              <a:tblGrid>
                <a:gridCol w="1528876"/>
                <a:gridCol w="1086307"/>
                <a:gridCol w="1086307"/>
                <a:gridCol w="1086307"/>
                <a:gridCol w="1086307"/>
                <a:gridCol w="1086307"/>
                <a:gridCol w="1086307"/>
              </a:tblGrid>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context [1]</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件数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平均</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SD</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中央値</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95%点</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最大</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文字数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2067</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774.3</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342.9</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700.0</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1338.0</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4063</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単語数</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2067</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122.8</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54.8</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111.0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213.0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629</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03320"/>
            <a:ext cx="8046720" cy="771525"/>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各段落を1回ずつ集計（質問数による重複は含めない）。</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文字数は前後空白除去／単語数は空白分割。</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SDは母標準偏差。95%点は95パーセンタイル。</a:t>
            </a:r>
          </a:p>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入力段落の記述統計 バージョン2.0・train</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748790"/>
          <a:ext cx="8046718" cy="1543050"/>
        </p:xfrm>
        <a:graphic>
          <a:graphicData uri="http://schemas.openxmlformats.org/drawingml/2006/table">
            <a:tbl>
              <a:tblPr firstRow="1" bandRow="1">
                <a:tableStyleId>{5C22544A-7EE6-4342-B048-85BDC9FD1C3A}</a:tableStyleId>
              </a:tblPr>
              <a:tblGrid>
                <a:gridCol w="1528876"/>
                <a:gridCol w="1086307"/>
                <a:gridCol w="1086307"/>
                <a:gridCol w="1086307"/>
                <a:gridCol w="1086307"/>
                <a:gridCol w="1086307"/>
                <a:gridCol w="1086307"/>
              </a:tblGrid>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context [1]</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件数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平均</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SD</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中央値</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95%点</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最大</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文字数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19035</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735.5</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309.8</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677.0</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1310.3</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3706</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単語数</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19035</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116.6</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49.7</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107.0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209.0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653</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03320"/>
            <a:ext cx="8046720" cy="771525"/>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各段落を1回ずつ集計（質問数による重複は含めない）。</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文字数は前後空白除去／単語数は空白分割。</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SDは母標準偏差。95%点は95パーセンタイル。</a:t>
            </a:r>
          </a:p>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入力段落の記述統計 バージョン2.0・dev</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748790"/>
          <a:ext cx="8046718" cy="1543050"/>
        </p:xfrm>
        <a:graphic>
          <a:graphicData uri="http://schemas.openxmlformats.org/drawingml/2006/table">
            <a:tbl>
              <a:tblPr firstRow="1" bandRow="1">
                <a:tableStyleId>{5C22544A-7EE6-4342-B048-85BDC9FD1C3A}</a:tableStyleId>
              </a:tblPr>
              <a:tblGrid>
                <a:gridCol w="1528876"/>
                <a:gridCol w="1086307"/>
                <a:gridCol w="1086307"/>
                <a:gridCol w="1086307"/>
                <a:gridCol w="1086307"/>
                <a:gridCol w="1086307"/>
                <a:gridCol w="1086307"/>
              </a:tblGrid>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context [1]</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件数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平均</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SD</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中央値</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95%点</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最大</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文字数</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1204</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802.6</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359.6</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711.5</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1425.9</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4063</a:t>
                      </a:r>
                      <a:endParaRPr sz="17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514350">
                <a:tc>
                  <a:txBody>
                    <a:bodyPr wrap="square" anchor="ctr"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単語数</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1204</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126.6</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57.4</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113.0</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223.8</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629</a:t>
                      </a:r>
                      <a:endParaRPr sz="17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03320"/>
            <a:ext cx="8046720" cy="771525"/>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各段落を1回ずつ集計（質問数による重複は含めない）。</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文字数は前後空白除去／単語数は空白分割。</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SDは母標準偏差。95%点は95パーセンタイル。</a:t>
            </a:r>
          </a:p>
          <a:p>
            <a:pPr>
              <a:lnSpc>
                <a:spcPts val="1200"/>
              </a:lnSpc>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長い回答の例 2008 Sichuan earthquake</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回答文字数 239／回答単語数 43 </a:t>
            </a:r>
            <a:r>
              <a:rPr sz="2100" b="0" lang="ja-JP">
                <a:solidFill>
                  <a:srgbClr val="303437"/>
                </a:solidFill>
                <a:latin typeface="Noto Sans"/>
                <a:ea typeface="Noto Sans CJK JP"/>
                <a:cs typeface="Noto Sans"/>
              </a:rPr>
              <a:t>[1]</a:t>
            </a:r>
            <a:r>
              <a:rPr sz="2100" b="0" lang="ja-JP">
                <a:solidFill>
                  <a:srgbClr val="303437"/>
                </a:solidFill>
                <a:latin typeface="Noto Sans"/>
                <a:ea typeface="Noto Sans CJK JP"/>
                <a:cs typeface="Noto Sans"/>
              </a:rPr>
              <a:t>。</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What was concluded about the construction?</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that the sudden shift of a huge quantity of water into the region could have relaxed the tension between the two sides of the fault, allowing them to move apart, and could have increased the direct pressure on it, causing a violent rupture</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1.1/train、2.0/train。</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2008_Sichuan_earthquake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56cec3e8aab44d1400b88a02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長い回答の原文抜粋 2008 Sichuan earthquake</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5207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An article in Science suggested that the construction and filling of the Zipingpu Dam may have triggered the earthquake. The chief engineer of the Sichuan Geology and Mineral Bureau said that the sudden shift of a huge quantity of water into the region could have relaxed the tension between the two sides of the fault, allowing them to move apart, and could have increased the direct pressure on it, causing a violent rupture. The effect was "25 times more" than a year's worth of natural stress from tectonic movement.</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56cec3e8aab44d1400b88a02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開発用で長い質問の例 Construction</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質問文字数 197 [1]</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What kind of contract is given when the contractor is given a performance specification and must undertake the project from design to construction, while adhering to the performance specifications?</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"design build" contract</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1.1/dev、2.0/dev。</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Construction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57274e0d708984140094dbe8</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長い質問の原文抜粋 Construction</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5207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Presently, a firm that is nominally an "architecture" or "construction management" firm may have experts from all related fields as employees, or to have an associated company that provides each necessary skill. Thus, each such firm may offer itself as "one-stop shopping" for a construction project, from beginning to end. This is designated as a "design build" contract where the contractor is given a performance specification and must undertake the project from design to construction, while adhering to the performance specifications.</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57274e0d708984140094dbe8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開発用で単語数が多い質問の例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質問単語数 33 [1]</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What was the name of the event at the The Embarcadero that was held prior to Super Bowl 50 to help show off some of the things that San Francisco has to offer?</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Super Bowl City</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1.1/dev。</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Super_Bowl_50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56bf53e73aeaaa14008c95ce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質問の原文抜粋 Super Bowl 50</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5207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The annual NFL Experience was held at the Moscone Center in San Francisco. In addition, "Super Bowl City" opened on January 30 at Justin Herman Plaza on The Embarcadero, featuring games and activities that will highlight the Bay Area's technology, culinary creations, and cultural diversity. More than 1 million people are expected to attend the festivities in San Francisco during Super Bowl Week. San Francisco mayor Ed Lee said of the highly visible homeless presence in this area "they are going to have to leave".</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56bf53e73aeaaa14008c95ce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文字数が最も多い入力段落の例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段落文字数 4063／段落単語数 629 </a:t>
            </a:r>
            <a:r>
              <a:rPr sz="2100" b="0" lang="ja-JP">
                <a:solidFill>
                  <a:srgbClr val="303437"/>
                </a:solidFill>
                <a:latin typeface="Noto Sans"/>
                <a:ea typeface="Noto Sans CJK JP"/>
                <a:cs typeface="Noto Sans"/>
              </a:rPr>
              <a:t>[1]</a:t>
            </a:r>
            <a:r>
              <a:rPr sz="2100" b="0" lang="ja-JP">
                <a:solidFill>
                  <a:srgbClr val="303437"/>
                </a:solidFill>
                <a:latin typeface="Noto Sans"/>
                <a:ea typeface="Noto Sans CJK JP"/>
                <a:cs typeface="Noto Sans"/>
              </a:rPr>
              <a:t>。</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The freedom to provide services under TFEU article 56 applies to who?</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to people who give services "for remuneration"</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1.1/dev、2.0/dev。</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European_Union_law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5726c3da708984140094d0d9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最長段落からの原文抜粋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2280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The "freedom to provide services" under TFEU article 56 applies to people who give services "for remuneration", especially commercial or professional activity. For example, in Van Binsbergen v Bestuur van de Bedrijfvereniging voor de Metaalnijverheid a Dutch lawyer moved to Belgium while advising a client in a social security case, and was told he could not continue because Dutch law said only people established in the Netherlands could give legal advice.</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5726c3da708984140094d0d9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開発用で長い回答の例 French and Indian War</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回答文字数 160 </a:t>
            </a:r>
            <a:r>
              <a:rPr sz="2100" b="0" lang="ja-JP">
                <a:solidFill>
                  <a:srgbClr val="303437"/>
                </a:solidFill>
                <a:latin typeface="Noto Sans"/>
                <a:ea typeface="Noto Sans CJK JP"/>
                <a:cs typeface="Noto Sans"/>
              </a:rPr>
              <a:t>[1]</a:t>
            </a:r>
            <a:r>
              <a:rPr sz="2100" b="0" lang="ja-JP">
                <a:solidFill>
                  <a:srgbClr val="303437"/>
                </a:solidFill>
                <a:latin typeface="Noto Sans"/>
                <a:ea typeface="Noto Sans CJK JP"/>
                <a:cs typeface="Noto Sans"/>
              </a:rPr>
              <a:t>。</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What was normal British defense?</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mustered local militia companies, generally ill trained and available only for short periods, to deal with native threats, but did not have any standing forces.</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1.1/dev、2.0/dev。</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French_and_Indian_War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5733dab4d058e614000b640b</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長い回答の原文抜粋 French and Indian War</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193538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New France was defended by about 3,000 troupes de la marine, companies of colonial regulars (some of whom had significant woodland combat experience). The colonial government recruited militia support when needed. Most British colonies mustered local militia companies, generally ill trained and available only for short periods, to deal with native threats, but did not have any standing forces.</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5733dab4d058e614000b640b</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開発用で単語数が多い回答の例</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回答単語数 29 </a:t>
            </a:r>
            <a:r>
              <a:rPr sz="2100" b="0" lang="ja-JP">
                <a:solidFill>
                  <a:srgbClr val="303437"/>
                </a:solidFill>
                <a:latin typeface="Noto Sans"/>
                <a:ea typeface="Noto Sans CJK JP"/>
                <a:cs typeface="Noto Sans"/>
              </a:rPr>
              <a:t>[1]</a:t>
            </a:r>
            <a:r>
              <a:rPr sz="2100" b="0" lang="ja-JP">
                <a:solidFill>
                  <a:srgbClr val="303437"/>
                </a:solidFill>
                <a:latin typeface="Noto Sans"/>
                <a:ea typeface="Noto Sans CJK JP"/>
                <a:cs typeface="Noto Sans"/>
              </a:rPr>
              <a:t>。</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What does the internal cavity contain?</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a mouth that can usually be closed by muscles; a pharynx ("throat"); a wider area in the center that acts as a stomach; and a system of internal canals.</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1.1/dev、2.0/dev。</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Ctenophora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57264b1ddd62a815002e80a3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回答の原文抜粋 Ctenophora</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2280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The internal cavity forms: a mouth that can usually be closed by muscles; a pharynx ("throat"); a wider area in the center that acts as a stomach; and a system of internal canals. These branch through the mesoglea to the most active parts of the animal: the mouth and pharynx; the roots of the tentacles, if present; all along the underside of each comb row; and four branches round the sensory complex at the far end from the mouth – two of these four branches terminate in anal pores.</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57264b1ddd62a815002e80a3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バージョン2.0開発用の長い質問</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p:nvPr>
            <p:ph type="body" idx="1"/>
          </p:nvPr>
        </p:nvSpPr>
        <p:spPr>
          <a:xfrm>
            <a:off x="594360" y="1465897"/>
            <a:ext cx="8046720" cy="3086100"/>
          </a:xfrm>
          <a:prstGeom prst="rect">
            <a:avLst/>
          </a:prstGeom>
          <a:noFill/>
        </p:spPr>
        <p:txBody>
          <a:bodyPr wrap="square" anchor="t" lIns="91425" rIns="91425" tIns="91425" bIns="91425">
            <a:noAutofit/>
          </a:bodyPr>
          <a:lstStyle/>
          <a:p>
            <a:pPr algn="l" lvl="0" marL="457200" indent="-355600">
              <a:buSzPct val="63333"/>
              <a:buFont typeface="Noto Sans CJK JP"/>
              <a:buChar char="●"/>
              <a:defRPr sz="2100" lang="ja-JP">
                <a:latin typeface="Noto Sans"/>
                <a:ea typeface="Noto Sans CJK JP"/>
                <a:cs typeface="Noto Sans"/>
              </a:defRPr>
            </a:pPr>
            <a:r>
              <a:rPr sz="2100" b="0" lang="ja-JP">
                <a:solidFill>
                  <a:srgbClr val="303437"/>
                </a:solidFill>
                <a:latin typeface="Noto Sans"/>
                <a:ea typeface="Noto Sans CJK JP"/>
                <a:cs typeface="Noto Sans"/>
              </a:rPr>
              <a:t>質問単語数 31 [1]</a:t>
            </a:r>
            <a:endParaRPr sz="21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質問 In which case did the Court of Justice state that refusal to admit a lawyer to the Belgian bar because he did not have Belgian heritage wasn't able to be justified?</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b="0" lang="ja-JP">
                <a:solidFill>
                  <a:srgbClr val="303437"/>
                </a:solidFill>
                <a:latin typeface="Noto Sans"/>
                <a:ea typeface="Noto Sans CJK JP"/>
                <a:cs typeface="Noto Sans"/>
              </a:rPr>
              <a:t>正解は Reyners v Belgium</a:t>
            </a:r>
            <a:endParaRPr sz="2000" lang="ja-JP">
              <a:latin typeface="Noto Sans"/>
              <a:ea typeface="Noto Sans CJK JP"/>
              <a:cs typeface="Noto Sans"/>
            </a:endParaRPr>
          </a:p>
          <a:p>
            <a:pPr algn="l" lvl="0" marL="457200" indent="-355600">
              <a:buSzPct val="73889"/>
              <a:buFont typeface="Noto Sans CJK JP"/>
              <a:buChar char="●"/>
              <a:defRPr sz="1800" lang="ja-JP">
                <a:latin typeface="Noto Sans"/>
                <a:ea typeface="Noto Sans CJK JP"/>
                <a:cs typeface="Noto Sans"/>
              </a:defRPr>
            </a:pPr>
            <a:r>
              <a:rPr sz="1800" b="0" lang="ja-JP">
                <a:solidFill>
                  <a:srgbClr val="303437"/>
                </a:solidFill>
                <a:latin typeface="Noto Sans"/>
                <a:ea typeface="Noto Sans CJK JP"/>
                <a:cs typeface="Noto Sans"/>
              </a:rPr>
              <a:t>対象の版と分割は 2.0/dev。</a:t>
            </a:r>
            <a:endParaRPr sz="1800" lang="ja-JP">
              <a:latin typeface="Noto Sans"/>
              <a:ea typeface="Noto Sans CJK JP"/>
              <a:cs typeface="Noto Sans"/>
            </a:endParaRPr>
          </a:p>
        </p:txBody>
      </p:sp>
      <p:sp>
        <p:nvSpPr>
          <p:cNvPr id="5"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記事名 European_Union_law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5726c002708984140094d075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質問の原文抜粋 European Union law</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3. 段落・質問・回答の統計と極値</a:t>
            </a:r>
            <a:endParaRPr sz="1400" lang="ja-JP">
              <a:latin typeface="Noto Sans"/>
              <a:ea typeface="Noto Sans CJK JP"/>
              <a:cs typeface="Noto Sans"/>
            </a:endParaRPr>
          </a:p>
        </p:txBody>
      </p:sp>
      <p:sp>
        <p:nvSpPr>
          <p:cNvPr id="4" name="content-text"/>
          <p:cNvSpPr txBox="1"/>
          <p:nvPr/>
        </p:nvSpPr>
        <p:spPr>
          <a:xfrm>
            <a:off x="548640" y="1440180"/>
            <a:ext cx="8046720" cy="308610"/>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Wikipedia記事の段落から再抜粋（段落全体の長さとは異なる）。</a:t>
            </a:r>
            <a:endParaRPr sz="1700" lang="ja-JP">
              <a:latin typeface="Noto Sans"/>
              <a:ea typeface="Noto Sans CJK JP"/>
              <a:cs typeface="Noto Sans"/>
            </a:endParaRPr>
          </a:p>
        </p:txBody>
      </p:sp>
      <p:sp>
        <p:nvSpPr>
          <p:cNvPr id="5" name="quote-frame"/>
          <p:cNvSpPr/>
          <p:nvPr/>
        </p:nvSpPr>
        <p:spPr>
          <a:xfrm>
            <a:off x="548640" y="1883760"/>
            <a:ext cx="8046720" cy="25207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quote-text"/>
          <p:cNvSpPr txBox="1"/>
          <p:nvPr/>
        </p:nvSpPr>
        <p:spPr>
          <a:xfrm>
            <a:off x="731520" y="1954530"/>
            <a:ext cx="7680960" cy="2005965"/>
          </a:xfrm>
          <a:prstGeom prst="rect">
            <a:avLst/>
          </a:prstGeom>
          <a:noFill/>
        </p:spPr>
        <p:txBody>
          <a:bodyPr wrap="square" anchor="t" lIns="0" rIns="0" tIns="0" bIns="0">
            <a:noAutofit/>
          </a:bodyPr>
          <a:lstStyle/>
          <a:p>
            <a:pPr algn="l" marL="0" indent="0">
              <a:lnSpc>
                <a:spcPct val="113000"/>
              </a:lnSpc>
              <a:spcBef>
                <a:spcPts val="0"/>
              </a:spcBef>
              <a:spcAft>
                <a:spcPts val="0"/>
              </a:spcAft>
              <a:buNone/>
              <a:defRPr sz="1700" lang="ja-JP">
                <a:latin typeface="Noto Sans"/>
                <a:ea typeface="Noto Sans CJK JP"/>
                <a:cs typeface="Noto Sans"/>
              </a:defRPr>
            </a:pPr>
            <a:r>
              <a:rPr sz="1700" b="0" lang="ja-JP">
                <a:solidFill>
                  <a:srgbClr val="303437"/>
                </a:solidFill>
                <a:latin typeface="Noto Sans"/>
                <a:ea typeface="Noto Sans CJK JP"/>
                <a:cs typeface="Noto Sans"/>
              </a:rPr>
              <a:t>The Court of Justice has held that both a member state government and a private party can hinder freedom of establishment, so article 49 has both "vertical" and "horizontal" direct effect. In Reyners v Belgium the Court of Justice held that a refusal to admit a lawyer to the Belgian bar because he lacked Belgian nationality was unjustified. TFEU article 49 says states are exempt from infringing others' freedom of establishment when they exercise "official authority", but this did an advocate's work (as opposed to a court's) was not official.</a:t>
            </a:r>
            <a:endParaRPr sz="1700" lang="ja-JP">
              <a:latin typeface="Noto Sans"/>
              <a:ea typeface="Noto Sans CJK JP"/>
              <a:cs typeface="Noto Sans"/>
            </a:endParaRPr>
          </a:p>
        </p:txBody>
      </p:sp>
      <p:sp>
        <p:nvSpPr>
          <p:cNvPr id="7" name="lookup-sources"/>
          <p:cNvSpPr txBox="1"/>
          <p:nvPr/>
        </p:nvSpPr>
        <p:spPr>
          <a:xfrm>
            <a:off x="502920" y="4828032"/>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a:t>
            </a:r>
            <a:r>
              <a:rPr sz="800" b="0" lang="ja-JP">
                <a:solidFill>
                  <a:srgbClr val="626669"/>
                </a:solidFill>
                <a:latin typeface="Noto Sans"/>
                <a:ea typeface="Noto Sans CJK JP"/>
                <a:cs typeface="Noto Sans"/>
                <a:hlinkClick r:id="rId2"/>
              </a:rPr>
              <a:t>https://github.com/rajpurkar/SQuAD-explorer/tree/master/dataset</a:t>
            </a:r>
            <a:r>
              <a:rPr sz="800" b="0" lang="ja-JP">
                <a:solidFill>
                  <a:srgbClr val="626669"/>
                </a:solidFill>
                <a:latin typeface="Noto Sans"/>
                <a:ea typeface="Noto Sans CJK JP"/>
                <a:cs typeface="Noto Sans"/>
              </a:rPr>
              <a:t>　ID 5726c002708984140094d075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バージョン2.0のベンチマーク結果</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4. SQuAD 2.0のモデル評価結果</a:t>
            </a:r>
            <a:endParaRPr sz="1400" lang="ja-JP">
              <a:latin typeface="Noto Sans"/>
              <a:ea typeface="Noto Sans CJK JP"/>
              <a:cs typeface="Noto Sans"/>
            </a:endParaRPr>
          </a:p>
        </p:txBody>
      </p:sp>
      <p:graphicFrame>
        <p:nvGraphicFramePr>
          <p:cNvPr id="4" name="Table 3"/>
          <p:cNvGraphicFramePr>
            <a:graphicFrameLocks noGrp="1"/>
          </p:cNvGraphicFramePr>
          <p:nvPr/>
        </p:nvGraphicFramePr>
        <p:xfrm>
          <a:off x="548640" y="1594485"/>
          <a:ext cx="8046717" cy="1800225"/>
        </p:xfrm>
        <a:graphic>
          <a:graphicData uri="http://schemas.openxmlformats.org/drawingml/2006/table">
            <a:tbl>
              <a:tblPr firstRow="1" bandRow="1">
                <a:tableStyleId>{5C22544A-7EE6-4342-B048-85BDC9FD1C3A}</a:tableStyleId>
              </a:tblPr>
              <a:tblGrid>
                <a:gridCol w="2333548"/>
                <a:gridCol w="2655417"/>
                <a:gridCol w="1528876"/>
                <a:gridCol w="1528876"/>
              </a:tblGrid>
              <a:tr h="450056">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モデル [1]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提出日</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EM</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F1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10160">
                      <a:solidFill>
                        <a:srgbClr val="626669"/>
                      </a:solidFill>
                      <a:prstDash val="solid"/>
                    </a:lnB>
                    <a:solidFill>
                      <a:srgbClr val="FFFEF8"/>
                    </a:solidFill>
                  </a:tcPr>
                </a:tc>
              </a:tr>
              <a:tr h="450056">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BERT</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2018-11-08</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80.0</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83.1</a:t>
                      </a:r>
                      <a:endParaRPr sz="2000" lang="ja-JP">
                        <a:latin typeface="Noto Sans"/>
                        <a:ea typeface="Noto Sans CJK JP"/>
                        <a:cs typeface="Noto Sans"/>
                      </a:endParaRPr>
                    </a:p>
                  </a:txBody>
                  <a:tcPr marL="38100" marR="38100" marT="38100" marB="38100">
                    <a:lnL w="0">
                      <a:noFill/>
                    </a:lnL>
                    <a:lnR w="0">
                      <a:noFill/>
                    </a:lnR>
                    <a:lnT w="10160">
                      <a:solidFill>
                        <a:srgbClr val="626669"/>
                      </a:solidFill>
                      <a:prstDash val="solid"/>
                    </a:lnT>
                    <a:lnB w="0">
                      <a:noFill/>
                    </a:lnB>
                    <a:solidFill>
                      <a:srgbClr val="FFFEF8"/>
                    </a:solidFill>
                  </a:tcPr>
                </a:tc>
              </a:tr>
              <a:tr h="450056">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RoBERTa</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2019-07-20</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86.8</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89.8</a:t>
                      </a:r>
                      <a:endParaRPr sz="2000" lang="ja-JP">
                        <a:latin typeface="Noto Sans"/>
                        <a:ea typeface="Noto Sans CJK JP"/>
                        <a:cs typeface="Noto Sans"/>
                      </a:endParaRPr>
                    </a:p>
                  </a:txBody>
                  <a:tcPr marL="38100" marR="38100" marT="38100" marB="38100">
                    <a:lnL w="0">
                      <a:noFill/>
                    </a:lnL>
                    <a:lnR w="0">
                      <a:noFill/>
                    </a:lnR>
                    <a:lnT w="0">
                      <a:noFill/>
                    </a:lnT>
                    <a:lnB w="0">
                      <a:noFill/>
                    </a:lnB>
                    <a:solidFill>
                      <a:srgbClr val="FFFEF8"/>
                    </a:solidFill>
                  </a:tcPr>
                </a:tc>
              </a:tr>
              <a:tr h="450057">
                <a:tc>
                  <a:txBody>
                    <a:bodyPr wrap="square" anchor="ctr" lIns="0" rIns="0" tIns="0" bIns="0">
                      <a:noAutofit/>
                    </a:bodyPr>
                    <a:lstStyle/>
                    <a:p>
                      <a:pPr algn="l"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XLNet</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2019-11-15</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87.9</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c>
                  <a:txBody>
                    <a:bodyPr wrap="square" anchor="ctr" lIns="0" rIns="0" tIns="0" bIns="0">
                      <a:noAutofit/>
                    </a:bodyPr>
                    <a:lstStyle/>
                    <a:p>
                      <a:pPr algn="r" marL="0" indent="0">
                        <a:lnSpc>
                          <a:spcPct val="115000"/>
                        </a:lnSpc>
                        <a:spcBef>
                          <a:spcPts val="0"/>
                        </a:spcBef>
                        <a:spcAft>
                          <a:spcPts val="0"/>
                        </a:spcAft>
                        <a:buNone/>
                        <a:defRPr sz="2000" lang="ja-JP">
                          <a:latin typeface="Noto Sans"/>
                          <a:ea typeface="Noto Sans CJK JP"/>
                          <a:cs typeface="Noto Sans"/>
                        </a:defRPr>
                      </a:pPr>
                      <a:r>
                        <a:rPr sz="2000" b="0" lang="ja-JP">
                          <a:solidFill>
                            <a:srgbClr val="303437"/>
                          </a:solidFill>
                          <a:latin typeface="Noto Sans"/>
                          <a:ea typeface="Noto Sans CJK JP"/>
                          <a:cs typeface="Noto Sans"/>
                        </a:rPr>
                        <a:t>90.7</a:t>
                      </a:r>
                      <a:endParaRPr sz="2000" lang="ja-JP">
                        <a:latin typeface="Noto Sans"/>
                        <a:ea typeface="Noto Sans CJK JP"/>
                        <a:cs typeface="Noto Sans"/>
                      </a:endParaRPr>
                    </a:p>
                  </a:txBody>
                  <a:tcPr marL="38100" marR="38100" marT="38100" marB="38100">
                    <a:lnL w="0">
                      <a:noFill/>
                    </a:lnL>
                    <a:lnR w="0">
                      <a:noFill/>
                    </a:lnR>
                    <a:lnT w="0">
                      <a:noFill/>
                    </a:lnT>
                    <a:lnB w="10160">
                      <a:solidFill>
                        <a:srgbClr val="626669"/>
                      </a:solidFill>
                      <a:prstDash val="solid"/>
                    </a:lnB>
                    <a:solidFill>
                      <a:srgbClr val="FFFEF8"/>
                    </a:solidFill>
                  </a:tcPr>
                </a:tc>
              </a:tr>
            </a:tbl>
          </a:graphicData>
        </a:graphic>
      </p:graphicFrame>
      <p:sp>
        <p:nvSpPr>
          <p:cNvPr id="5" name="content-text"/>
          <p:cNvSpPr/>
          <p:nvPr>
            <p:ph type="body" idx="1"/>
          </p:nvPr>
        </p:nvSpPr>
        <p:spPr>
          <a:xfrm>
            <a:off x="594360" y="3770962"/>
            <a:ext cx="8046720" cy="910766"/>
          </a:xfrm>
          <a:prstGeom prst="rect">
            <a:avLst/>
          </a:prstGeom>
          <a:noFill/>
        </p:spPr>
        <p:txBody>
          <a:bodyPr wrap="square" anchor="t" lIns="91425" rIns="91425" tIns="91425" bIns="91425">
            <a:noAutofit/>
          </a:bodyPr>
          <a:lstStyle/>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SQuAD運営者の非公開テストで採点。</a:t>
            </a:r>
            <a:endParaRPr sz="2000" lang="ja-JP">
              <a:latin typeface="Noto Sans"/>
              <a:ea typeface="Noto Sans CJK JP"/>
              <a:cs typeface="Noto Sans"/>
            </a:endParaRPr>
          </a:p>
          <a:p>
            <a:pPr algn="l" lvl="0" marL="457200" indent="-355600">
              <a:buSzPct val="66500"/>
              <a:buFont typeface="Noto Sans CJK JP"/>
              <a:buChar char="●"/>
              <a:defRPr sz="2000" lang="ja-JP">
                <a:latin typeface="Noto Sans"/>
                <a:ea typeface="Noto Sans CJK JP"/>
                <a:cs typeface="Noto Sans"/>
              </a:defRPr>
            </a:pPr>
            <a:r>
              <a:rPr sz="2000" lang="ja-JP">
                <a:solidFill>
                  <a:srgbClr val="303437"/>
                </a:solidFill>
                <a:latin typeface="Noto Sans"/>
                <a:ea typeface="Noto Sans CJK JP"/>
                <a:cs typeface="Noto Sans"/>
              </a:rPr>
              <a:t>開発用とは別のデータ。各行は単一モデルの提出結果。</a:t>
            </a:r>
            <a:endParaRPr sz="2000" lang="ja-JP">
              <a:latin typeface="Noto Sans"/>
              <a:ea typeface="Noto Sans CJK JP"/>
              <a:cs typeface="Noto Sans"/>
            </a:endParaRP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[1] 掲載された提出結果（EM・F1は%）。</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https://rajpurkar.github.io/SQuAD-explorer/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開発用 Wikipedia 記事一覧 1/2</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バージョン1.1では、48記事／2.0 このうち35記事。</a:t>
            </a:r>
            <a:endParaRPr sz="1800" lang="ja-JP">
              <a:latin typeface="Noto Sans"/>
              <a:ea typeface="Noto Sans CJK JP"/>
              <a:cs typeface="Noto Sans"/>
            </a:endParaRPr>
          </a:p>
        </p:txBody>
      </p:sp>
      <p:sp>
        <p:nvSpPr>
          <p:cNvPr id="5" name="content-text"/>
          <p:cNvSpPr txBox="1"/>
          <p:nvPr/>
        </p:nvSpPr>
        <p:spPr>
          <a:xfrm>
            <a:off x="594360" y="17745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1973_oil_crisis</a:t>
            </a:r>
            <a:endParaRPr sz="1250" lang="ja-JP">
              <a:latin typeface="Noto Sans"/>
              <a:ea typeface="Noto Sans CJK JP"/>
              <a:cs typeface="Noto Sans"/>
            </a:endParaRPr>
          </a:p>
        </p:txBody>
      </p:sp>
      <p:sp>
        <p:nvSpPr>
          <p:cNvPr id="6" name="content-text"/>
          <p:cNvSpPr txBox="1"/>
          <p:nvPr/>
        </p:nvSpPr>
        <p:spPr>
          <a:xfrm>
            <a:off x="594360" y="20107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Amazon_rainforest</a:t>
            </a:r>
            <a:endParaRPr sz="1250" lang="ja-JP">
              <a:latin typeface="Noto Sans"/>
              <a:ea typeface="Noto Sans CJK JP"/>
              <a:cs typeface="Noto Sans"/>
            </a:endParaRPr>
          </a:p>
        </p:txBody>
      </p:sp>
      <p:sp>
        <p:nvSpPr>
          <p:cNvPr id="7" name="content-text"/>
          <p:cNvSpPr txBox="1"/>
          <p:nvPr/>
        </p:nvSpPr>
        <p:spPr>
          <a:xfrm>
            <a:off x="594360" y="22469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American_Broadcasting_Company *</a:t>
            </a:r>
            <a:endParaRPr sz="1250" lang="ja-JP">
              <a:latin typeface="Noto Sans"/>
              <a:ea typeface="Noto Sans CJK JP"/>
              <a:cs typeface="Noto Sans"/>
            </a:endParaRPr>
          </a:p>
        </p:txBody>
      </p:sp>
      <p:sp>
        <p:nvSpPr>
          <p:cNvPr id="8" name="content-text"/>
          <p:cNvSpPr txBox="1"/>
          <p:nvPr/>
        </p:nvSpPr>
        <p:spPr>
          <a:xfrm>
            <a:off x="594360" y="24831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Apollo_program *</a:t>
            </a:r>
            <a:endParaRPr sz="1250" lang="ja-JP">
              <a:latin typeface="Noto Sans"/>
              <a:ea typeface="Noto Sans CJK JP"/>
              <a:cs typeface="Noto Sans"/>
            </a:endParaRPr>
          </a:p>
        </p:txBody>
      </p:sp>
      <p:sp>
        <p:nvSpPr>
          <p:cNvPr id="9" name="content-text"/>
          <p:cNvSpPr txBox="1"/>
          <p:nvPr/>
        </p:nvSpPr>
        <p:spPr>
          <a:xfrm>
            <a:off x="594360" y="27193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Black_Death</a:t>
            </a:r>
            <a:endParaRPr sz="1250" lang="ja-JP">
              <a:latin typeface="Noto Sans"/>
              <a:ea typeface="Noto Sans CJK JP"/>
              <a:cs typeface="Noto Sans"/>
            </a:endParaRPr>
          </a:p>
        </p:txBody>
      </p:sp>
      <p:sp>
        <p:nvSpPr>
          <p:cNvPr id="10" name="content-text"/>
          <p:cNvSpPr txBox="1"/>
          <p:nvPr/>
        </p:nvSpPr>
        <p:spPr>
          <a:xfrm>
            <a:off x="594360" y="29556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Chloroplast *</a:t>
            </a:r>
            <a:endParaRPr sz="1250" lang="ja-JP">
              <a:latin typeface="Noto Sans"/>
              <a:ea typeface="Noto Sans CJK JP"/>
              <a:cs typeface="Noto Sans"/>
            </a:endParaRPr>
          </a:p>
        </p:txBody>
      </p:sp>
      <p:sp>
        <p:nvSpPr>
          <p:cNvPr id="11" name="content-text"/>
          <p:cNvSpPr txBox="1"/>
          <p:nvPr/>
        </p:nvSpPr>
        <p:spPr>
          <a:xfrm>
            <a:off x="594360" y="31918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Civil_disobedience</a:t>
            </a:r>
            <a:endParaRPr sz="1250" lang="ja-JP">
              <a:latin typeface="Noto Sans"/>
              <a:ea typeface="Noto Sans CJK JP"/>
              <a:cs typeface="Noto Sans"/>
            </a:endParaRPr>
          </a:p>
        </p:txBody>
      </p:sp>
      <p:sp>
        <p:nvSpPr>
          <p:cNvPr id="12" name="content-text"/>
          <p:cNvSpPr txBox="1"/>
          <p:nvPr/>
        </p:nvSpPr>
        <p:spPr>
          <a:xfrm>
            <a:off x="594360" y="34280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Computational_complexity_theory</a:t>
            </a:r>
            <a:endParaRPr sz="1250" lang="ja-JP">
              <a:latin typeface="Noto Sans"/>
              <a:ea typeface="Noto Sans CJK JP"/>
              <a:cs typeface="Noto Sans"/>
            </a:endParaRPr>
          </a:p>
        </p:txBody>
      </p:sp>
      <p:sp>
        <p:nvSpPr>
          <p:cNvPr id="13" name="content-text"/>
          <p:cNvSpPr txBox="1"/>
          <p:nvPr/>
        </p:nvSpPr>
        <p:spPr>
          <a:xfrm>
            <a:off x="594360" y="36642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Construction</a:t>
            </a:r>
            <a:endParaRPr sz="1250" lang="ja-JP">
              <a:latin typeface="Noto Sans"/>
              <a:ea typeface="Noto Sans CJK JP"/>
              <a:cs typeface="Noto Sans"/>
            </a:endParaRPr>
          </a:p>
        </p:txBody>
      </p:sp>
      <p:sp>
        <p:nvSpPr>
          <p:cNvPr id="14" name="content-text"/>
          <p:cNvSpPr txBox="1"/>
          <p:nvPr/>
        </p:nvSpPr>
        <p:spPr>
          <a:xfrm>
            <a:off x="594360" y="39004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Ctenophora</a:t>
            </a:r>
            <a:endParaRPr sz="1250" lang="ja-JP">
              <a:latin typeface="Noto Sans"/>
              <a:ea typeface="Noto Sans CJK JP"/>
              <a:cs typeface="Noto Sans"/>
            </a:endParaRPr>
          </a:p>
        </p:txBody>
      </p:sp>
      <p:sp>
        <p:nvSpPr>
          <p:cNvPr id="15" name="content-text"/>
          <p:cNvSpPr txBox="1"/>
          <p:nvPr/>
        </p:nvSpPr>
        <p:spPr>
          <a:xfrm>
            <a:off x="594360" y="41367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Doctor_Who *</a:t>
            </a:r>
            <a:endParaRPr sz="1250" lang="ja-JP">
              <a:latin typeface="Noto Sans"/>
              <a:ea typeface="Noto Sans CJK JP"/>
              <a:cs typeface="Noto Sans"/>
            </a:endParaRPr>
          </a:p>
        </p:txBody>
      </p:sp>
      <p:sp>
        <p:nvSpPr>
          <p:cNvPr id="16" name="content-text"/>
          <p:cNvSpPr txBox="1"/>
          <p:nvPr/>
        </p:nvSpPr>
        <p:spPr>
          <a:xfrm>
            <a:off x="594360" y="43729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Economic_inequality</a:t>
            </a:r>
            <a:endParaRPr sz="1250" lang="ja-JP">
              <a:latin typeface="Noto Sans"/>
              <a:ea typeface="Noto Sans CJK JP"/>
              <a:cs typeface="Noto Sans"/>
            </a:endParaRPr>
          </a:p>
        </p:txBody>
      </p:sp>
      <p:sp>
        <p:nvSpPr>
          <p:cNvPr id="17" name="content-text"/>
          <p:cNvSpPr txBox="1"/>
          <p:nvPr/>
        </p:nvSpPr>
        <p:spPr>
          <a:xfrm>
            <a:off x="4846320" y="17745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European_Union_law</a:t>
            </a:r>
            <a:endParaRPr sz="1250" lang="ja-JP">
              <a:latin typeface="Noto Sans"/>
              <a:ea typeface="Noto Sans CJK JP"/>
              <a:cs typeface="Noto Sans"/>
            </a:endParaRPr>
          </a:p>
        </p:txBody>
      </p:sp>
      <p:sp>
        <p:nvSpPr>
          <p:cNvPr id="18" name="content-text"/>
          <p:cNvSpPr txBox="1"/>
          <p:nvPr/>
        </p:nvSpPr>
        <p:spPr>
          <a:xfrm>
            <a:off x="4846320" y="20107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Force</a:t>
            </a:r>
            <a:endParaRPr sz="1250" lang="ja-JP">
              <a:latin typeface="Noto Sans"/>
              <a:ea typeface="Noto Sans CJK JP"/>
              <a:cs typeface="Noto Sans"/>
            </a:endParaRPr>
          </a:p>
        </p:txBody>
      </p:sp>
      <p:sp>
        <p:nvSpPr>
          <p:cNvPr id="19" name="content-text"/>
          <p:cNvSpPr txBox="1"/>
          <p:nvPr/>
        </p:nvSpPr>
        <p:spPr>
          <a:xfrm>
            <a:off x="4846320" y="22469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French_and_Indian_War</a:t>
            </a:r>
            <a:endParaRPr sz="1250" lang="ja-JP">
              <a:latin typeface="Noto Sans"/>
              <a:ea typeface="Noto Sans CJK JP"/>
              <a:cs typeface="Noto Sans"/>
            </a:endParaRPr>
          </a:p>
        </p:txBody>
      </p:sp>
      <p:sp>
        <p:nvSpPr>
          <p:cNvPr id="20" name="content-text"/>
          <p:cNvSpPr txBox="1"/>
          <p:nvPr/>
        </p:nvSpPr>
        <p:spPr>
          <a:xfrm>
            <a:off x="4846320" y="24831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Fresno,_California</a:t>
            </a:r>
            <a:endParaRPr sz="1250" lang="ja-JP">
              <a:latin typeface="Noto Sans"/>
              <a:ea typeface="Noto Sans CJK JP"/>
              <a:cs typeface="Noto Sans"/>
            </a:endParaRPr>
          </a:p>
        </p:txBody>
      </p:sp>
      <p:sp>
        <p:nvSpPr>
          <p:cNvPr id="21" name="content-text"/>
          <p:cNvSpPr txBox="1"/>
          <p:nvPr/>
        </p:nvSpPr>
        <p:spPr>
          <a:xfrm>
            <a:off x="4846320" y="27193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Genghis_Khan *</a:t>
            </a:r>
            <a:endParaRPr sz="1250" lang="ja-JP">
              <a:latin typeface="Noto Sans"/>
              <a:ea typeface="Noto Sans CJK JP"/>
              <a:cs typeface="Noto Sans"/>
            </a:endParaRPr>
          </a:p>
        </p:txBody>
      </p:sp>
      <p:sp>
        <p:nvSpPr>
          <p:cNvPr id="22" name="content-text"/>
          <p:cNvSpPr txBox="1"/>
          <p:nvPr/>
        </p:nvSpPr>
        <p:spPr>
          <a:xfrm>
            <a:off x="4846320" y="29556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Geology</a:t>
            </a:r>
            <a:endParaRPr sz="1250" lang="ja-JP">
              <a:latin typeface="Noto Sans"/>
              <a:ea typeface="Noto Sans CJK JP"/>
              <a:cs typeface="Noto Sans"/>
            </a:endParaRPr>
          </a:p>
        </p:txBody>
      </p:sp>
      <p:sp>
        <p:nvSpPr>
          <p:cNvPr id="23" name="content-text"/>
          <p:cNvSpPr txBox="1"/>
          <p:nvPr/>
        </p:nvSpPr>
        <p:spPr>
          <a:xfrm>
            <a:off x="4846320" y="31918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Harvard_University</a:t>
            </a:r>
            <a:endParaRPr sz="1250" lang="ja-JP">
              <a:latin typeface="Noto Sans"/>
              <a:ea typeface="Noto Sans CJK JP"/>
              <a:cs typeface="Noto Sans"/>
            </a:endParaRPr>
          </a:p>
        </p:txBody>
      </p:sp>
      <p:sp>
        <p:nvSpPr>
          <p:cNvPr id="24" name="content-text"/>
          <p:cNvSpPr txBox="1"/>
          <p:nvPr/>
        </p:nvSpPr>
        <p:spPr>
          <a:xfrm>
            <a:off x="4846320" y="34280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Huguenot</a:t>
            </a:r>
            <a:endParaRPr sz="1250" lang="ja-JP">
              <a:latin typeface="Noto Sans"/>
              <a:ea typeface="Noto Sans CJK JP"/>
              <a:cs typeface="Noto Sans"/>
            </a:endParaRPr>
          </a:p>
        </p:txBody>
      </p:sp>
      <p:sp>
        <p:nvSpPr>
          <p:cNvPr id="25" name="content-text"/>
          <p:cNvSpPr txBox="1"/>
          <p:nvPr/>
        </p:nvSpPr>
        <p:spPr>
          <a:xfrm>
            <a:off x="4846320" y="36642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Immune_system</a:t>
            </a:r>
            <a:endParaRPr sz="1250" lang="ja-JP">
              <a:latin typeface="Noto Sans"/>
              <a:ea typeface="Noto Sans CJK JP"/>
              <a:cs typeface="Noto Sans"/>
            </a:endParaRPr>
          </a:p>
        </p:txBody>
      </p:sp>
      <p:sp>
        <p:nvSpPr>
          <p:cNvPr id="26" name="content-text"/>
          <p:cNvSpPr txBox="1"/>
          <p:nvPr/>
        </p:nvSpPr>
        <p:spPr>
          <a:xfrm>
            <a:off x="4846320" y="39004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Imperialism</a:t>
            </a:r>
            <a:endParaRPr sz="1250" lang="ja-JP">
              <a:latin typeface="Noto Sans"/>
              <a:ea typeface="Noto Sans CJK JP"/>
              <a:cs typeface="Noto Sans"/>
            </a:endParaRPr>
          </a:p>
        </p:txBody>
      </p:sp>
      <p:sp>
        <p:nvSpPr>
          <p:cNvPr id="27" name="content-text"/>
          <p:cNvSpPr txBox="1"/>
          <p:nvPr/>
        </p:nvSpPr>
        <p:spPr>
          <a:xfrm>
            <a:off x="4846320" y="41367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Intergovernmental_Panel_on_Climate_Change</a:t>
            </a:r>
            <a:endParaRPr sz="1250" lang="ja-JP">
              <a:latin typeface="Noto Sans"/>
              <a:ea typeface="Noto Sans CJK JP"/>
              <a:cs typeface="Noto Sans"/>
            </a:endParaRPr>
          </a:p>
        </p:txBody>
      </p:sp>
      <p:sp>
        <p:nvSpPr>
          <p:cNvPr id="28" name="content-text"/>
          <p:cNvSpPr txBox="1"/>
          <p:nvPr/>
        </p:nvSpPr>
        <p:spPr>
          <a:xfrm>
            <a:off x="4846320" y="43729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Islamism</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 はバージョン1.1のみに含まれる開発用記事。</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開発用 Wikipedia 記事一覧 2/2</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バージョン1.1では、48記事／2.0 このうち35記事。</a:t>
            </a:r>
            <a:endParaRPr sz="1800" lang="ja-JP">
              <a:latin typeface="Noto Sans"/>
              <a:ea typeface="Noto Sans CJK JP"/>
              <a:cs typeface="Noto Sans"/>
            </a:endParaRPr>
          </a:p>
        </p:txBody>
      </p:sp>
      <p:sp>
        <p:nvSpPr>
          <p:cNvPr id="5" name="content-text"/>
          <p:cNvSpPr txBox="1"/>
          <p:nvPr/>
        </p:nvSpPr>
        <p:spPr>
          <a:xfrm>
            <a:off x="594360" y="17745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Jacksonville,_Florida</a:t>
            </a:r>
            <a:endParaRPr sz="1250" lang="ja-JP">
              <a:latin typeface="Noto Sans"/>
              <a:ea typeface="Noto Sans CJK JP"/>
              <a:cs typeface="Noto Sans"/>
            </a:endParaRPr>
          </a:p>
        </p:txBody>
      </p:sp>
      <p:sp>
        <p:nvSpPr>
          <p:cNvPr id="6" name="content-text"/>
          <p:cNvSpPr txBox="1"/>
          <p:nvPr/>
        </p:nvSpPr>
        <p:spPr>
          <a:xfrm>
            <a:off x="594360" y="20107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Kenya *</a:t>
            </a:r>
            <a:endParaRPr sz="1250" lang="ja-JP">
              <a:latin typeface="Noto Sans"/>
              <a:ea typeface="Noto Sans CJK JP"/>
              <a:cs typeface="Noto Sans"/>
            </a:endParaRPr>
          </a:p>
        </p:txBody>
      </p:sp>
      <p:sp>
        <p:nvSpPr>
          <p:cNvPr id="7" name="content-text"/>
          <p:cNvSpPr txBox="1"/>
          <p:nvPr/>
        </p:nvSpPr>
        <p:spPr>
          <a:xfrm>
            <a:off x="594360" y="22469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Martin_Luther *</a:t>
            </a:r>
            <a:endParaRPr sz="1250" lang="ja-JP">
              <a:latin typeface="Noto Sans"/>
              <a:ea typeface="Noto Sans CJK JP"/>
              <a:cs typeface="Noto Sans"/>
            </a:endParaRPr>
          </a:p>
        </p:txBody>
      </p:sp>
      <p:sp>
        <p:nvSpPr>
          <p:cNvPr id="8" name="content-text"/>
          <p:cNvSpPr txBox="1"/>
          <p:nvPr/>
        </p:nvSpPr>
        <p:spPr>
          <a:xfrm>
            <a:off x="594360" y="24831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Newcastle_upon_Tyne *</a:t>
            </a:r>
            <a:endParaRPr sz="1250" lang="ja-JP">
              <a:latin typeface="Noto Sans"/>
              <a:ea typeface="Noto Sans CJK JP"/>
              <a:cs typeface="Noto Sans"/>
            </a:endParaRPr>
          </a:p>
        </p:txBody>
      </p:sp>
      <p:sp>
        <p:nvSpPr>
          <p:cNvPr id="9" name="content-text"/>
          <p:cNvSpPr txBox="1"/>
          <p:nvPr/>
        </p:nvSpPr>
        <p:spPr>
          <a:xfrm>
            <a:off x="594360" y="27193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Nikola_Tesla *</a:t>
            </a:r>
            <a:endParaRPr sz="1250" lang="ja-JP">
              <a:latin typeface="Noto Sans"/>
              <a:ea typeface="Noto Sans CJK JP"/>
              <a:cs typeface="Noto Sans"/>
            </a:endParaRPr>
          </a:p>
        </p:txBody>
      </p:sp>
      <p:sp>
        <p:nvSpPr>
          <p:cNvPr id="10" name="content-text"/>
          <p:cNvSpPr txBox="1"/>
          <p:nvPr/>
        </p:nvSpPr>
        <p:spPr>
          <a:xfrm>
            <a:off x="594360" y="29556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Normans</a:t>
            </a:r>
            <a:endParaRPr sz="1250" lang="ja-JP">
              <a:latin typeface="Noto Sans"/>
              <a:ea typeface="Noto Sans CJK JP"/>
              <a:cs typeface="Noto Sans"/>
            </a:endParaRPr>
          </a:p>
        </p:txBody>
      </p:sp>
      <p:sp>
        <p:nvSpPr>
          <p:cNvPr id="11" name="content-text"/>
          <p:cNvSpPr txBox="1"/>
          <p:nvPr/>
        </p:nvSpPr>
        <p:spPr>
          <a:xfrm>
            <a:off x="594360" y="31918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Oxygen</a:t>
            </a:r>
            <a:endParaRPr sz="1250" lang="ja-JP">
              <a:latin typeface="Noto Sans"/>
              <a:ea typeface="Noto Sans CJK JP"/>
              <a:cs typeface="Noto Sans"/>
            </a:endParaRPr>
          </a:p>
        </p:txBody>
      </p:sp>
      <p:sp>
        <p:nvSpPr>
          <p:cNvPr id="12" name="content-text"/>
          <p:cNvSpPr txBox="1"/>
          <p:nvPr/>
        </p:nvSpPr>
        <p:spPr>
          <a:xfrm>
            <a:off x="594360" y="34280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Packet_switching</a:t>
            </a:r>
            <a:endParaRPr sz="1250" lang="ja-JP">
              <a:latin typeface="Noto Sans"/>
              <a:ea typeface="Noto Sans CJK JP"/>
              <a:cs typeface="Noto Sans"/>
            </a:endParaRPr>
          </a:p>
        </p:txBody>
      </p:sp>
      <p:sp>
        <p:nvSpPr>
          <p:cNvPr id="13" name="content-text"/>
          <p:cNvSpPr txBox="1"/>
          <p:nvPr/>
        </p:nvSpPr>
        <p:spPr>
          <a:xfrm>
            <a:off x="594360" y="36642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Pharmacy</a:t>
            </a:r>
            <a:endParaRPr sz="1250" lang="ja-JP">
              <a:latin typeface="Noto Sans"/>
              <a:ea typeface="Noto Sans CJK JP"/>
              <a:cs typeface="Noto Sans"/>
            </a:endParaRPr>
          </a:p>
        </p:txBody>
      </p:sp>
      <p:sp>
        <p:nvSpPr>
          <p:cNvPr id="14" name="content-text"/>
          <p:cNvSpPr txBox="1"/>
          <p:nvPr/>
        </p:nvSpPr>
        <p:spPr>
          <a:xfrm>
            <a:off x="594360" y="39004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Prime_number</a:t>
            </a:r>
            <a:endParaRPr sz="1250" lang="ja-JP">
              <a:latin typeface="Noto Sans"/>
              <a:ea typeface="Noto Sans CJK JP"/>
              <a:cs typeface="Noto Sans"/>
            </a:endParaRPr>
          </a:p>
        </p:txBody>
      </p:sp>
      <p:sp>
        <p:nvSpPr>
          <p:cNvPr id="15" name="content-text"/>
          <p:cNvSpPr txBox="1"/>
          <p:nvPr/>
        </p:nvSpPr>
        <p:spPr>
          <a:xfrm>
            <a:off x="594360" y="41367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Private_school</a:t>
            </a:r>
            <a:endParaRPr sz="1250" lang="ja-JP">
              <a:latin typeface="Noto Sans"/>
              <a:ea typeface="Noto Sans CJK JP"/>
              <a:cs typeface="Noto Sans"/>
            </a:endParaRPr>
          </a:p>
        </p:txBody>
      </p:sp>
      <p:sp>
        <p:nvSpPr>
          <p:cNvPr id="16" name="content-text"/>
          <p:cNvSpPr txBox="1"/>
          <p:nvPr/>
        </p:nvSpPr>
        <p:spPr>
          <a:xfrm>
            <a:off x="594360" y="43729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Rhine</a:t>
            </a:r>
            <a:endParaRPr sz="1250" lang="ja-JP">
              <a:latin typeface="Noto Sans"/>
              <a:ea typeface="Noto Sans CJK JP"/>
              <a:cs typeface="Noto Sans"/>
            </a:endParaRPr>
          </a:p>
        </p:txBody>
      </p:sp>
      <p:sp>
        <p:nvSpPr>
          <p:cNvPr id="17" name="content-text"/>
          <p:cNvSpPr txBox="1"/>
          <p:nvPr/>
        </p:nvSpPr>
        <p:spPr>
          <a:xfrm>
            <a:off x="4846320" y="17745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Scottish_Parliament</a:t>
            </a:r>
            <a:endParaRPr sz="1250" lang="ja-JP">
              <a:latin typeface="Noto Sans"/>
              <a:ea typeface="Noto Sans CJK JP"/>
              <a:cs typeface="Noto Sans"/>
            </a:endParaRPr>
          </a:p>
        </p:txBody>
      </p:sp>
      <p:sp>
        <p:nvSpPr>
          <p:cNvPr id="18" name="content-text"/>
          <p:cNvSpPr txBox="1"/>
          <p:nvPr/>
        </p:nvSpPr>
        <p:spPr>
          <a:xfrm>
            <a:off x="4846320" y="20107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Sky_(United_Kingdom)</a:t>
            </a:r>
            <a:endParaRPr sz="1250" lang="ja-JP">
              <a:latin typeface="Noto Sans"/>
              <a:ea typeface="Noto Sans CJK JP"/>
              <a:cs typeface="Noto Sans"/>
            </a:endParaRPr>
          </a:p>
        </p:txBody>
      </p:sp>
      <p:sp>
        <p:nvSpPr>
          <p:cNvPr id="19" name="content-text"/>
          <p:cNvSpPr txBox="1"/>
          <p:nvPr/>
        </p:nvSpPr>
        <p:spPr>
          <a:xfrm>
            <a:off x="4846320" y="22469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Southern_California</a:t>
            </a:r>
            <a:endParaRPr sz="1250" lang="ja-JP">
              <a:latin typeface="Noto Sans"/>
              <a:ea typeface="Noto Sans CJK JP"/>
              <a:cs typeface="Noto Sans"/>
            </a:endParaRPr>
          </a:p>
        </p:txBody>
      </p:sp>
      <p:sp>
        <p:nvSpPr>
          <p:cNvPr id="20" name="content-text"/>
          <p:cNvSpPr txBox="1"/>
          <p:nvPr/>
        </p:nvSpPr>
        <p:spPr>
          <a:xfrm>
            <a:off x="4846320" y="24831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Steam_engine</a:t>
            </a:r>
            <a:endParaRPr sz="1250" lang="ja-JP">
              <a:latin typeface="Noto Sans"/>
              <a:ea typeface="Noto Sans CJK JP"/>
              <a:cs typeface="Noto Sans"/>
            </a:endParaRPr>
          </a:p>
        </p:txBody>
      </p:sp>
      <p:sp>
        <p:nvSpPr>
          <p:cNvPr id="21" name="content-text"/>
          <p:cNvSpPr txBox="1"/>
          <p:nvPr/>
        </p:nvSpPr>
        <p:spPr>
          <a:xfrm>
            <a:off x="4846320" y="27193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Super_Bowl_50 *</a:t>
            </a:r>
            <a:endParaRPr sz="1250" lang="ja-JP">
              <a:latin typeface="Noto Sans"/>
              <a:ea typeface="Noto Sans CJK JP"/>
              <a:cs typeface="Noto Sans"/>
            </a:endParaRPr>
          </a:p>
        </p:txBody>
      </p:sp>
      <p:sp>
        <p:nvSpPr>
          <p:cNvPr id="22" name="content-text"/>
          <p:cNvSpPr txBox="1"/>
          <p:nvPr/>
        </p:nvSpPr>
        <p:spPr>
          <a:xfrm>
            <a:off x="4846320" y="29556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Teacher *</a:t>
            </a:r>
            <a:endParaRPr sz="1250" lang="ja-JP">
              <a:latin typeface="Noto Sans"/>
              <a:ea typeface="Noto Sans CJK JP"/>
              <a:cs typeface="Noto Sans"/>
            </a:endParaRPr>
          </a:p>
        </p:txBody>
      </p:sp>
      <p:sp>
        <p:nvSpPr>
          <p:cNvPr id="23" name="content-text"/>
          <p:cNvSpPr txBox="1"/>
          <p:nvPr/>
        </p:nvSpPr>
        <p:spPr>
          <a:xfrm>
            <a:off x="4846320" y="31918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United_Methodist_Church *</a:t>
            </a:r>
            <a:endParaRPr sz="1250" lang="ja-JP">
              <a:latin typeface="Noto Sans"/>
              <a:ea typeface="Noto Sans CJK JP"/>
              <a:cs typeface="Noto Sans"/>
            </a:endParaRPr>
          </a:p>
        </p:txBody>
      </p:sp>
      <p:sp>
        <p:nvSpPr>
          <p:cNvPr id="24" name="content-text"/>
          <p:cNvSpPr txBox="1"/>
          <p:nvPr/>
        </p:nvSpPr>
        <p:spPr>
          <a:xfrm>
            <a:off x="4846320" y="342804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University_of_Chicago</a:t>
            </a:r>
            <a:endParaRPr sz="1250" lang="ja-JP">
              <a:latin typeface="Noto Sans"/>
              <a:ea typeface="Noto Sans CJK JP"/>
              <a:cs typeface="Noto Sans"/>
            </a:endParaRPr>
          </a:p>
        </p:txBody>
      </p:sp>
      <p:sp>
        <p:nvSpPr>
          <p:cNvPr id="25" name="content-text"/>
          <p:cNvSpPr txBox="1"/>
          <p:nvPr/>
        </p:nvSpPr>
        <p:spPr>
          <a:xfrm>
            <a:off x="4846320" y="366426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Victoria_(Australia)</a:t>
            </a:r>
            <a:endParaRPr sz="1250" lang="ja-JP">
              <a:latin typeface="Noto Sans"/>
              <a:ea typeface="Noto Sans CJK JP"/>
              <a:cs typeface="Noto Sans"/>
            </a:endParaRPr>
          </a:p>
        </p:txBody>
      </p:sp>
      <p:sp>
        <p:nvSpPr>
          <p:cNvPr id="26" name="content-text"/>
          <p:cNvSpPr txBox="1"/>
          <p:nvPr/>
        </p:nvSpPr>
        <p:spPr>
          <a:xfrm>
            <a:off x="4846320" y="390048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Victoria_and_Albert_Museum *</a:t>
            </a:r>
            <a:endParaRPr sz="1250" lang="ja-JP">
              <a:latin typeface="Noto Sans"/>
              <a:ea typeface="Noto Sans CJK JP"/>
              <a:cs typeface="Noto Sans"/>
            </a:endParaRPr>
          </a:p>
        </p:txBody>
      </p:sp>
      <p:sp>
        <p:nvSpPr>
          <p:cNvPr id="27" name="content-text"/>
          <p:cNvSpPr txBox="1"/>
          <p:nvPr/>
        </p:nvSpPr>
        <p:spPr>
          <a:xfrm>
            <a:off x="4846320" y="413670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Warsaw</a:t>
            </a:r>
            <a:endParaRPr sz="1250" lang="ja-JP">
              <a:latin typeface="Noto Sans"/>
              <a:ea typeface="Noto Sans CJK JP"/>
              <a:cs typeface="Noto Sans"/>
            </a:endParaRPr>
          </a:p>
        </p:txBody>
      </p:sp>
      <p:sp>
        <p:nvSpPr>
          <p:cNvPr id="28" name="content-text"/>
          <p:cNvSpPr txBox="1"/>
          <p:nvPr/>
        </p:nvSpPr>
        <p:spPr>
          <a:xfrm>
            <a:off x="4846320" y="4372927"/>
            <a:ext cx="3749040" cy="210820"/>
          </a:xfrm>
          <a:prstGeom prst="rect">
            <a:avLst/>
          </a:prstGeom>
          <a:noFill/>
        </p:spPr>
        <p:txBody>
          <a:bodyPr wrap="square" anchor="t" lIns="0" rIns="0" tIns="0" bIns="0">
            <a:noAutofit/>
          </a:bodyPr>
          <a:lstStyle/>
          <a:p>
            <a:pPr algn="l" marL="0" indent="0">
              <a:lnSpc>
                <a:spcPct val="110000"/>
              </a:lnSpc>
              <a:spcBef>
                <a:spcPts val="0"/>
              </a:spcBef>
              <a:spcAft>
                <a:spcPts val="0"/>
              </a:spcAft>
              <a:buNone/>
              <a:defRPr sz="1250" lang="ja-JP">
                <a:latin typeface="Noto Sans"/>
                <a:ea typeface="Noto Sans CJK JP"/>
                <a:cs typeface="Noto Sans"/>
              </a:defRPr>
            </a:pPr>
            <a:r>
              <a:rPr sz="1250" b="0" lang="ja-JP">
                <a:solidFill>
                  <a:srgbClr val="303437"/>
                </a:solidFill>
                <a:latin typeface="Noto Sans"/>
                <a:ea typeface="Noto Sans CJK JP"/>
                <a:cs typeface="Noto Sans"/>
              </a:rPr>
              <a:t>Yuan_dynasty</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 はバージョン1.1のみに含まれる開発用記事。</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2008_Sichuan_earthquake</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2008_Summer_Olympics_torch_relay</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51st_state</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A_cappella</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Adolescence</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Adult_contemporary_music</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Affirmative_action_in_the_United_States</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Age_of_Enlightenment</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Aircraft_carrier</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Airport</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Alaska</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Alexander_Graham_Bell</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Alfred_North_Whitehead</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Alloy</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Alps</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Alsace</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American_Idol</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Animal</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Ann_Arbor,_Michigan</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Annelid</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Antarctica</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Antenna_(radio)</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Anthropology</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Anti-aircraft_warfare</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2/19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Antibiotics</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Apollo</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Appalachian_Mountains</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Architecture</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Arena_Football_League</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Armenia</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Armenians</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Arnold_Schwarzenegger</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Arsenal_F.C.</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ASCII</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Ashkenazi_Jews</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Asphalt</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Aspirated_consonant</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Association_football</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Asthma</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Athanasius_of_Alexandria</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Atlantic_City,_New_Jersey</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Avicenna</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Bacteria</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Baptists</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BBC_Television</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Beer</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BeiDou_Navigation_Satellite_System</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Bermuda</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3/19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Bern</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Beyoncé</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Bill_%26_Melinda_Gates_Foundation</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Biodiversity</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Bird</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Bird_migration</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Black_people</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Boston</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Botany</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Brain</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Bras%C3%ADlia</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Brigham_Young_University</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British_Empire</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British_Isles</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Buckingham_Palace</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Buddhism</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Canadian_Armed_Forces</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Canadian_football</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Canon_law</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Capacitor</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Capital_punishment_in_the_United_States</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Cardinal_(Catholicism)</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Carnival</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Catalan_language</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4/19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CBC_Television</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Central_African_Republic</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Central_Intelligence_Agency</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Charleston,_South_Carolina</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Chicago_Cubs</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Chihuahua_(state)</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Child_labour</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Chinese_characters</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Christian</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Circadian_rhythm</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Classical_music</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Clothing</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Comcast</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Comics</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Communication</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Communications_in_Somalia</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Compact_disc</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Comprehensive_school</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Computer</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Computer_security</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Copper</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Copyright_infringement</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Cork_(city)</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Cotton</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5/19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Crimean_War</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Crucifixion_of_Jesus</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Cubism</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Culture</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Cyprus</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Czech_language</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Data_compression</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Database</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Daylight_saving_time</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Dell</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Department_store</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Detroit</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Dialect</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Diarrhea</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Digestion</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Digimon</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Dissolution_of_the_Soviet_Union</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Dog</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Dominican_Order</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Dutch_language</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Dutch_Republic</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Dwight_D._Eisenhower</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East_India_Company</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East_Prussia</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6/19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Economy_of_Greece</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Edmund_Burke</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Education</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Egypt</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Electric_motor</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Elevator</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Elizabeth_II</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Emotion</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Empiricism</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Endangered_Species_Act</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Energy</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England_national_football_team</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Eritrea</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Estonia</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Estonian_language</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Eton_College</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European_Central_Bank</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Everton_F.C.</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Exhibition_game</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FA_Cup</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FC_Barcelona</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Federal_Aviation_Administration</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Federal_Bureau_of_Investigation</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Federalism</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7/19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Film_speed</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Financial_crisis_of_2007%E2%80%9308</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Florida</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Flowering_plant</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Franco-Prussian_War</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Freemasonry</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Friedrich_Hayek</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Frédéric_Chopin</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Galicia_(Spain)</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Gamal_Abdel_Nasser</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Gene</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General_Electric</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Genocide</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Genome</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Geography_of_the_United_States</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Geological_history_of_Earth</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George_VI</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Georgian_architecture</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Germans</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Glacier</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Glass</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God</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Gothic_architecture</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Gramophone_record</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8/19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Grape</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Great_Plains</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Great_power</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Greece</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Greeks</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Green</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Gregorian_calendar</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Group_(mathematics)</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Guam</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Guinea-Bissau</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Gymnastics</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Han_dynasty</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Hanover</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Hard_rock</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Heian_period</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Hellenistic_period</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Heresy</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High-definition_television</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Himachal_Pradesh</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Hindu_philosophy</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History_of_India</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History_of_science</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Hokkien</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House_music</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9/19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Houston</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Human_Development_Index</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Humanism</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Hunter-gatherer</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Hunting</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Hyderabad</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Hydrogen</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IBM</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Idealism</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Identity_(social_science)</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Imamah_(Shia_doctrine)</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Immaculate_Conception</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Immunology</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Imperial_College_London</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Incandescent_light_bulb</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Indigenous_peoples_of_the_Americas</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Infection</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Infrared</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Insect</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Institute_of_technology</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Intellectual_property</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Internet_service_provider</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IPod</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Iran</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10/19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Iranian_languages</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Israel</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Jehovah%27s_Witnesses</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Jews</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John,_King_of_England</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John_Kerry</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John_von_Neumann</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Josip_Broz_Tito</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Kanye_West</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Karl_Popper</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Kathmandu</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Kievan_Rus%27</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Korean_War</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Labour_Party_(UK)</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Lancashire</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LaserDisc</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Late_Middle_Ages</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Law_of_the_United_States</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Letter_case</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Liberal_Party_of_Australia</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Liberia</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Light-emitting_diode</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Lighting</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List_of_numbered_streets_in_Manhattan</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11/19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Literature</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London</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Macintosh</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Madonna_(entertainer)</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Madrasa</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Mali</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Mammal</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Mandolin</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Marshall_Islands</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Marvel_Comics</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Mary_(mother_of_Jesus)</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Materialism</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Matter</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Melbourne</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Memory</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Mesozoic</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Mexico_City</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Miami</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Middle_Ages</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Military_history_of_the_United_States</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Ministry_of_Defence_(United_Kingdom)</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Modern_history</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Molotov%E2%80%93Ribbentrop_Pact</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Montana</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12/19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Montevideo</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Mosaic</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MP3</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Muammar_Gaddafi</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Multiracial_American</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Muslim_world</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Myanmar</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Myocardial_infarction</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Namibia</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Nanjing</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Napoleon</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National_Archives_and_Records_Administration</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Near_East</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Neoclassical_architecture</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Neolithic</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Neptune</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New_Delhi</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New_Haven,_Connecticut</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New_York_City</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Nigeria</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Nintendo_Entertainment_System</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Nonprofit_organization</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Norfolk_Island</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North_Carolina</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13/19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Northwestern_University</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Nutrition</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Oklahoma</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Oklahoma_City</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Old_English</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On_the_Origin_of_Species</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Order_of_the_British_Empire</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Orthodox_Judaism</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Ottoman_Empire</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Pacific_War</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Pain</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Palermo</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Paper</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Paris</a:t>
            </a:r>
            <a:endParaRPr sz="1250" lang="ja-JP">
              <a:latin typeface="Noto Sans"/>
              <a:ea typeface="Noto Sans CJK JP"/>
              <a:cs typeface="Noto Sans"/>
            </a:endParaRPr>
          </a:p>
        </p:txBody>
      </p:sp>
      <p:sp>
        <p:nvSpPr>
          <p:cNvPr id="19" name="content-text"/>
          <p:cNvSpPr txBox="1"/>
          <p:nvPr/>
        </p:nvSpPr>
        <p:spPr>
          <a:xfrm>
            <a:off x="4846320" y="2160016"/>
            <a:ext cx="3886200" cy="3992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Party_leaders_of_the_United_States_House_of_Representatives</a:t>
            </a:r>
            <a:endParaRPr sz="1250" lang="ja-JP">
              <a:latin typeface="Noto Sans"/>
              <a:ea typeface="Noto Sans CJK JP"/>
              <a:cs typeface="Noto Sans"/>
            </a:endParaRPr>
          </a:p>
        </p:txBody>
      </p:sp>
      <p:sp>
        <p:nvSpPr>
          <p:cNvPr id="20" name="content-text"/>
          <p:cNvSpPr txBox="1"/>
          <p:nvPr/>
        </p:nvSpPr>
        <p:spPr>
          <a:xfrm>
            <a:off x="4846320" y="25847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Pesticide</a:t>
            </a:r>
            <a:endParaRPr sz="1250" lang="ja-JP">
              <a:latin typeface="Noto Sans"/>
              <a:ea typeface="Noto Sans CJK JP"/>
              <a:cs typeface="Noto Sans"/>
            </a:endParaRPr>
          </a:p>
        </p:txBody>
      </p:sp>
      <p:sp>
        <p:nvSpPr>
          <p:cNvPr id="21" name="content-text"/>
          <p:cNvSpPr txBox="1"/>
          <p:nvPr/>
        </p:nvSpPr>
        <p:spPr>
          <a:xfrm>
            <a:off x="4846320" y="28188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Pharmaceutical_industry</a:t>
            </a:r>
            <a:endParaRPr sz="1250" lang="ja-JP">
              <a:latin typeface="Noto Sans"/>
              <a:ea typeface="Noto Sans CJK JP"/>
              <a:cs typeface="Noto Sans"/>
            </a:endParaRPr>
          </a:p>
        </p:txBody>
      </p:sp>
      <p:sp>
        <p:nvSpPr>
          <p:cNvPr id="22" name="content-text"/>
          <p:cNvSpPr txBox="1"/>
          <p:nvPr/>
        </p:nvSpPr>
        <p:spPr>
          <a:xfrm>
            <a:off x="4846320" y="30530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Philadelphia</a:t>
            </a:r>
            <a:endParaRPr sz="1250" lang="ja-JP">
              <a:latin typeface="Noto Sans"/>
              <a:ea typeface="Noto Sans CJK JP"/>
              <a:cs typeface="Noto Sans"/>
            </a:endParaRPr>
          </a:p>
        </p:txBody>
      </p:sp>
      <p:sp>
        <p:nvSpPr>
          <p:cNvPr id="23" name="content-text"/>
          <p:cNvSpPr txBox="1"/>
          <p:nvPr/>
        </p:nvSpPr>
        <p:spPr>
          <a:xfrm>
            <a:off x="4846320" y="32872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Philosophy_of_space_and_time</a:t>
            </a:r>
            <a:endParaRPr sz="1250" lang="ja-JP">
              <a:latin typeface="Noto Sans"/>
              <a:ea typeface="Noto Sans CJK JP"/>
              <a:cs typeface="Noto Sans"/>
            </a:endParaRPr>
          </a:p>
        </p:txBody>
      </p:sp>
      <p:sp>
        <p:nvSpPr>
          <p:cNvPr id="24" name="content-text"/>
          <p:cNvSpPr txBox="1"/>
          <p:nvPr/>
        </p:nvSpPr>
        <p:spPr>
          <a:xfrm>
            <a:off x="4846320" y="35214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Phonology</a:t>
            </a:r>
            <a:endParaRPr sz="1250" lang="ja-JP">
              <a:latin typeface="Noto Sans"/>
              <a:ea typeface="Noto Sans CJK JP"/>
              <a:cs typeface="Noto Sans"/>
            </a:endParaRPr>
          </a:p>
        </p:txBody>
      </p:sp>
      <p:sp>
        <p:nvSpPr>
          <p:cNvPr id="25" name="content-text"/>
          <p:cNvSpPr txBox="1"/>
          <p:nvPr/>
        </p:nvSpPr>
        <p:spPr>
          <a:xfrm>
            <a:off x="4846320" y="37556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Pitch_(music)</a:t>
            </a:r>
            <a:endParaRPr sz="1250" lang="ja-JP">
              <a:latin typeface="Noto Sans"/>
              <a:ea typeface="Noto Sans CJK JP"/>
              <a:cs typeface="Noto Sans"/>
            </a:endParaRPr>
          </a:p>
        </p:txBody>
      </p:sp>
      <p:sp>
        <p:nvSpPr>
          <p:cNvPr id="26" name="content-text"/>
          <p:cNvSpPr txBox="1"/>
          <p:nvPr/>
        </p:nvSpPr>
        <p:spPr>
          <a:xfrm>
            <a:off x="4846320" y="39898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Planck_constant</a:t>
            </a:r>
            <a:endParaRPr sz="1250" lang="ja-JP">
              <a:latin typeface="Noto Sans"/>
              <a:ea typeface="Noto Sans CJK JP"/>
              <a:cs typeface="Noto Sans"/>
            </a:endParaRPr>
          </a:p>
        </p:txBody>
      </p:sp>
      <p:sp>
        <p:nvSpPr>
          <p:cNvPr id="27" name="content-text"/>
          <p:cNvSpPr txBox="1"/>
          <p:nvPr/>
        </p:nvSpPr>
        <p:spPr>
          <a:xfrm>
            <a:off x="4846320" y="42240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PlayStation_3</a:t>
            </a:r>
            <a:endParaRPr sz="1250" lang="ja-JP">
              <a:latin typeface="Noto Sans"/>
              <a:ea typeface="Noto Sans CJK JP"/>
              <a:cs typeface="Noto Sans"/>
            </a:endParaRPr>
          </a:p>
        </p:txBody>
      </p:sp>
      <p:sp>
        <p:nvSpPr>
          <p:cNvPr id="28"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14/19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Plymouth</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Police</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Political_corruption</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Political_party</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Political_philosophy</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Pope_John_XXIII</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Pope_Paul_VI</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Portugal</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Post-punk</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Poultry</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Predation</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Premier_League</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Presbyterianism</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Prime_minister</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Printed_circuit_board</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Professional_wrestling</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Protestantism</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Pub</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Punjab,_Pakistan</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Qing_dynasty</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Queen_(band)</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Queen_Victoria</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Quran</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Race_(human_categorization)</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15/19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Race_and_ethnicity_in_the_United_States_Census</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Railway_electrification_system</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Rajasthan</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Raleigh,_North_Carolina</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Red</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Religion_in_ancient_Rome</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Renewable_energy_commercialization</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Republic_of_the_Congo</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Richard_Feynman</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Richmond,_Virginia</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Roman_Republic</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Royal_assent</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Royal_Dutch_Shell</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Royal_Institute_of_British_Architects</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Rule_of_law</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Russian_language</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Russian_Soviet_Federative_Socialist_Republic</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Sahara</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Saint_Barth%C3%A9lemy</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Saint_Helena</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Samoa</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Samurai</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San_Diego</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Sanskrit</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16/19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Santa_Monica,_California</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Seattle</a:t>
            </a:r>
            <a:endParaRPr sz="1250" lang="ja-JP">
              <a:latin typeface="Noto Sans"/>
              <a:ea typeface="Noto Sans CJK JP"/>
              <a:cs typeface="Noto Sans"/>
            </a:endParaRPr>
          </a:p>
        </p:txBody>
      </p:sp>
      <p:sp>
        <p:nvSpPr>
          <p:cNvPr id="7" name="content-text"/>
          <p:cNvSpPr txBox="1"/>
          <p:nvPr/>
        </p:nvSpPr>
        <p:spPr>
          <a:xfrm>
            <a:off x="594360" y="2160016"/>
            <a:ext cx="3886200" cy="3992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Separation_of_church_and_state_in_the_United_States</a:t>
            </a:r>
            <a:endParaRPr sz="1250" lang="ja-JP">
              <a:latin typeface="Noto Sans"/>
              <a:ea typeface="Noto Sans CJK JP"/>
              <a:cs typeface="Noto Sans"/>
            </a:endParaRPr>
          </a:p>
        </p:txBody>
      </p:sp>
      <p:sp>
        <p:nvSpPr>
          <p:cNvPr id="8" name="content-text"/>
          <p:cNvSpPr txBox="1"/>
          <p:nvPr/>
        </p:nvSpPr>
        <p:spPr>
          <a:xfrm>
            <a:off x="594360" y="2584704"/>
            <a:ext cx="3886200" cy="3992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Separation_of_powers_under_the_United_States_Constitution</a:t>
            </a:r>
            <a:endParaRPr sz="1250" lang="ja-JP">
              <a:latin typeface="Noto Sans"/>
              <a:ea typeface="Noto Sans CJK JP"/>
              <a:cs typeface="Noto Sans"/>
            </a:endParaRPr>
          </a:p>
        </p:txBody>
      </p:sp>
      <p:sp>
        <p:nvSpPr>
          <p:cNvPr id="9" name="content-text"/>
          <p:cNvSpPr txBox="1"/>
          <p:nvPr/>
        </p:nvSpPr>
        <p:spPr>
          <a:xfrm>
            <a:off x="594360" y="3009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Serbo-Croatian</a:t>
            </a:r>
            <a:endParaRPr sz="1250" lang="ja-JP">
              <a:latin typeface="Noto Sans"/>
              <a:ea typeface="Noto Sans CJK JP"/>
              <a:cs typeface="Noto Sans"/>
            </a:endParaRPr>
          </a:p>
        </p:txBody>
      </p:sp>
      <p:sp>
        <p:nvSpPr>
          <p:cNvPr id="10" name="content-text"/>
          <p:cNvSpPr txBox="1"/>
          <p:nvPr/>
        </p:nvSpPr>
        <p:spPr>
          <a:xfrm>
            <a:off x="594360" y="3243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Seven_Years%27_War</a:t>
            </a:r>
            <a:endParaRPr sz="1250" lang="ja-JP">
              <a:latin typeface="Noto Sans"/>
              <a:ea typeface="Noto Sans CJK JP"/>
              <a:cs typeface="Noto Sans"/>
            </a:endParaRPr>
          </a:p>
        </p:txBody>
      </p:sp>
      <p:sp>
        <p:nvSpPr>
          <p:cNvPr id="11" name="content-text"/>
          <p:cNvSpPr txBox="1"/>
          <p:nvPr/>
        </p:nvSpPr>
        <p:spPr>
          <a:xfrm>
            <a:off x="594360" y="3477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Sexual_orientation</a:t>
            </a:r>
            <a:endParaRPr sz="1250" lang="ja-JP">
              <a:latin typeface="Noto Sans"/>
              <a:ea typeface="Noto Sans CJK JP"/>
              <a:cs typeface="Noto Sans"/>
            </a:endParaRPr>
          </a:p>
        </p:txBody>
      </p:sp>
      <p:sp>
        <p:nvSpPr>
          <p:cNvPr id="12" name="content-text"/>
          <p:cNvSpPr txBox="1"/>
          <p:nvPr/>
        </p:nvSpPr>
        <p:spPr>
          <a:xfrm>
            <a:off x="594360" y="3711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Sichuan</a:t>
            </a:r>
            <a:endParaRPr sz="1250" lang="ja-JP">
              <a:latin typeface="Noto Sans"/>
              <a:ea typeface="Noto Sans CJK JP"/>
              <a:cs typeface="Noto Sans"/>
            </a:endParaRPr>
          </a:p>
        </p:txBody>
      </p:sp>
      <p:sp>
        <p:nvSpPr>
          <p:cNvPr id="13" name="content-text"/>
          <p:cNvSpPr txBox="1"/>
          <p:nvPr/>
        </p:nvSpPr>
        <p:spPr>
          <a:xfrm>
            <a:off x="594360" y="3946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Sino-Tibetan_relations_during_the_Ming_dynasty</a:t>
            </a:r>
            <a:endParaRPr sz="1250" lang="ja-JP">
              <a:latin typeface="Noto Sans"/>
              <a:ea typeface="Noto Sans CJK JP"/>
              <a:cs typeface="Noto Sans"/>
            </a:endParaRPr>
          </a:p>
        </p:txBody>
      </p:sp>
      <p:sp>
        <p:nvSpPr>
          <p:cNvPr id="14" name="content-text"/>
          <p:cNvSpPr txBox="1"/>
          <p:nvPr/>
        </p:nvSpPr>
        <p:spPr>
          <a:xfrm>
            <a:off x="594360" y="4180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Slavs</a:t>
            </a:r>
            <a:endParaRPr sz="1250" lang="ja-JP">
              <a:latin typeface="Noto Sans"/>
              <a:ea typeface="Noto Sans CJK JP"/>
              <a:cs typeface="Noto Sans"/>
            </a:endParaRPr>
          </a:p>
        </p:txBody>
      </p:sp>
      <p:sp>
        <p:nvSpPr>
          <p:cNvPr id="15"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Software_testing</a:t>
            </a:r>
            <a:endParaRPr sz="1250" lang="ja-JP">
              <a:latin typeface="Noto Sans"/>
              <a:ea typeface="Noto Sans CJK JP"/>
              <a:cs typeface="Noto Sans"/>
            </a:endParaRPr>
          </a:p>
        </p:txBody>
      </p:sp>
      <p:sp>
        <p:nvSpPr>
          <p:cNvPr id="16"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Solar_energy</a:t>
            </a:r>
            <a:endParaRPr sz="1250" lang="ja-JP">
              <a:latin typeface="Noto Sans"/>
              <a:ea typeface="Noto Sans CJK JP"/>
              <a:cs typeface="Noto Sans"/>
            </a:endParaRPr>
          </a:p>
        </p:txBody>
      </p:sp>
      <p:sp>
        <p:nvSpPr>
          <p:cNvPr id="17"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Somalis</a:t>
            </a:r>
            <a:endParaRPr sz="1250" lang="ja-JP">
              <a:latin typeface="Noto Sans"/>
              <a:ea typeface="Noto Sans CJK JP"/>
              <a:cs typeface="Noto Sans"/>
            </a:endParaRPr>
          </a:p>
        </p:txBody>
      </p:sp>
      <p:sp>
        <p:nvSpPr>
          <p:cNvPr id="18"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Somerset</a:t>
            </a:r>
            <a:endParaRPr sz="1250" lang="ja-JP">
              <a:latin typeface="Noto Sans"/>
              <a:ea typeface="Noto Sans CJK JP"/>
              <a:cs typeface="Noto Sans"/>
            </a:endParaRPr>
          </a:p>
        </p:txBody>
      </p:sp>
      <p:sp>
        <p:nvSpPr>
          <p:cNvPr id="19"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Sony_Music_Entertainment</a:t>
            </a:r>
            <a:endParaRPr sz="1250" lang="ja-JP">
              <a:latin typeface="Noto Sans"/>
              <a:ea typeface="Noto Sans CJK JP"/>
              <a:cs typeface="Noto Sans"/>
            </a:endParaRPr>
          </a:p>
        </p:txBody>
      </p:sp>
      <p:sp>
        <p:nvSpPr>
          <p:cNvPr id="20"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Southampton</a:t>
            </a:r>
            <a:endParaRPr sz="1250" lang="ja-JP">
              <a:latin typeface="Noto Sans"/>
              <a:ea typeface="Noto Sans CJK JP"/>
              <a:cs typeface="Noto Sans"/>
            </a:endParaRPr>
          </a:p>
        </p:txBody>
      </p:sp>
      <p:sp>
        <p:nvSpPr>
          <p:cNvPr id="21"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Southeast_Asia</a:t>
            </a:r>
            <a:endParaRPr sz="1250" lang="ja-JP">
              <a:latin typeface="Noto Sans"/>
              <a:ea typeface="Noto Sans CJK JP"/>
              <a:cs typeface="Noto Sans"/>
            </a:endParaRPr>
          </a:p>
        </p:txBody>
      </p:sp>
      <p:sp>
        <p:nvSpPr>
          <p:cNvPr id="22"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Southern_Europe</a:t>
            </a:r>
            <a:endParaRPr sz="1250" lang="ja-JP">
              <a:latin typeface="Noto Sans"/>
              <a:ea typeface="Noto Sans CJK JP"/>
              <a:cs typeface="Noto Sans"/>
            </a:endParaRPr>
          </a:p>
        </p:txBody>
      </p:sp>
      <p:sp>
        <p:nvSpPr>
          <p:cNvPr id="23"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Space_Race</a:t>
            </a:r>
            <a:endParaRPr sz="1250" lang="ja-JP">
              <a:latin typeface="Noto Sans"/>
              <a:ea typeface="Noto Sans CJK JP"/>
              <a:cs typeface="Noto Sans"/>
            </a:endParaRPr>
          </a:p>
        </p:txBody>
      </p:sp>
      <p:sp>
        <p:nvSpPr>
          <p:cNvPr id="24"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Spanish_language_in_the_United_States</a:t>
            </a:r>
            <a:endParaRPr sz="1250" lang="ja-JP">
              <a:latin typeface="Noto Sans"/>
              <a:ea typeface="Noto Sans CJK JP"/>
              <a:cs typeface="Noto Sans"/>
            </a:endParaRPr>
          </a:p>
        </p:txBody>
      </p:sp>
      <p:sp>
        <p:nvSpPr>
          <p:cNvPr id="25"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Spectre_(2015_film)</a:t>
            </a:r>
            <a:endParaRPr sz="1250" lang="ja-JP">
              <a:latin typeface="Noto Sans"/>
              <a:ea typeface="Noto Sans CJK JP"/>
              <a:cs typeface="Noto Sans"/>
            </a:endParaRPr>
          </a:p>
        </p:txBody>
      </p:sp>
      <p:sp>
        <p:nvSpPr>
          <p:cNvPr id="26"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St._John%27s,_Newfoundland_and_Labrador</a:t>
            </a:r>
            <a:endParaRPr sz="1250" lang="ja-JP">
              <a:latin typeface="Noto Sans"/>
              <a:ea typeface="Noto Sans CJK JP"/>
              <a:cs typeface="Noto Sans"/>
            </a:endParaRPr>
          </a:p>
        </p:txBody>
      </p:sp>
      <p:sp>
        <p:nvSpPr>
          <p:cNvPr id="27"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17/19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States_of_Germany</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Steven_Spielberg</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Strasbourg</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Sumer</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Super_Nintendo_Entertainment_System</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Supreme_court</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Swaziland</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Switzerland</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Symbiosis</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Szlachta</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Tajikistan</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Tennessee</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Textual_criticism</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The_Blitz</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The_Bronx</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The_Legend_of_Zelda:_Twilight_Princess</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The_Sun_(United_Kingdom)</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The_Times</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Thuringia</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Tibet</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Time</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To_Kill_a_Mockingbird</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Transistor</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Translation</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18/19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Treaty</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Tristan_da_Cunha</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Tuberculosis</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Tucson,_Arizona</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Turner_Classic_Movies</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Tuvalu</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Umayyad_Caliphate</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Unicode</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United_Nations_Population_Fund</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United_States_Air_Force</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United_States_Army</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United_States_dollar</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United_States_presidential_election,_2004</a:t>
            </a:r>
            <a:endParaRPr sz="1250" lang="ja-JP">
              <a:latin typeface="Noto Sans"/>
              <a:ea typeface="Noto Sans CJK JP"/>
              <a:cs typeface="Noto Sans"/>
            </a:endParaRPr>
          </a:p>
        </p:txBody>
      </p:sp>
      <p:sp>
        <p:nvSpPr>
          <p:cNvPr id="18" name="content-text"/>
          <p:cNvSpPr txBox="1"/>
          <p:nvPr/>
        </p:nvSpPr>
        <p:spPr>
          <a:xfrm>
            <a:off x="484632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Universal_Studios</a:t>
            </a:r>
            <a:endParaRPr sz="1250" lang="ja-JP">
              <a:latin typeface="Noto Sans"/>
              <a:ea typeface="Noto Sans CJK JP"/>
              <a:cs typeface="Noto Sans"/>
            </a:endParaRPr>
          </a:p>
        </p:txBody>
      </p:sp>
      <p:sp>
        <p:nvSpPr>
          <p:cNvPr id="19" name="content-text"/>
          <p:cNvSpPr txBox="1"/>
          <p:nvPr/>
        </p:nvSpPr>
        <p:spPr>
          <a:xfrm>
            <a:off x="484632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University</a:t>
            </a:r>
            <a:endParaRPr sz="1250" lang="ja-JP">
              <a:latin typeface="Noto Sans"/>
              <a:ea typeface="Noto Sans CJK JP"/>
              <a:cs typeface="Noto Sans"/>
            </a:endParaRPr>
          </a:p>
        </p:txBody>
      </p:sp>
      <p:sp>
        <p:nvSpPr>
          <p:cNvPr id="20" name="content-text"/>
          <p:cNvSpPr txBox="1"/>
          <p:nvPr/>
        </p:nvSpPr>
        <p:spPr>
          <a:xfrm>
            <a:off x="484632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University_of_Kansas</a:t>
            </a:r>
            <a:endParaRPr sz="1250" lang="ja-JP">
              <a:latin typeface="Noto Sans"/>
              <a:ea typeface="Noto Sans CJK JP"/>
              <a:cs typeface="Noto Sans"/>
            </a:endParaRPr>
          </a:p>
        </p:txBody>
      </p:sp>
      <p:sp>
        <p:nvSpPr>
          <p:cNvPr id="21" name="content-text"/>
          <p:cNvSpPr txBox="1"/>
          <p:nvPr/>
        </p:nvSpPr>
        <p:spPr>
          <a:xfrm>
            <a:off x="484632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University_of_Notre_Dame</a:t>
            </a:r>
            <a:endParaRPr sz="1250" lang="ja-JP">
              <a:latin typeface="Noto Sans"/>
              <a:ea typeface="Noto Sans CJK JP"/>
              <a:cs typeface="Noto Sans"/>
            </a:endParaRPr>
          </a:p>
        </p:txBody>
      </p:sp>
      <p:sp>
        <p:nvSpPr>
          <p:cNvPr id="22" name="content-text"/>
          <p:cNvSpPr txBox="1"/>
          <p:nvPr/>
        </p:nvSpPr>
        <p:spPr>
          <a:xfrm>
            <a:off x="484632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Uranium</a:t>
            </a:r>
            <a:endParaRPr sz="1250" lang="ja-JP">
              <a:latin typeface="Noto Sans"/>
              <a:ea typeface="Noto Sans CJK JP"/>
              <a:cs typeface="Noto Sans"/>
            </a:endParaRPr>
          </a:p>
        </p:txBody>
      </p:sp>
      <p:sp>
        <p:nvSpPr>
          <p:cNvPr id="23" name="content-text"/>
          <p:cNvSpPr txBox="1"/>
          <p:nvPr/>
        </p:nvSpPr>
        <p:spPr>
          <a:xfrm>
            <a:off x="484632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USB</a:t>
            </a:r>
            <a:endParaRPr sz="1250" lang="ja-JP">
              <a:latin typeface="Noto Sans"/>
              <a:ea typeface="Noto Sans CJK JP"/>
              <a:cs typeface="Noto Sans"/>
            </a:endParaRPr>
          </a:p>
        </p:txBody>
      </p:sp>
      <p:sp>
        <p:nvSpPr>
          <p:cNvPr id="24" name="content-text"/>
          <p:cNvSpPr txBox="1"/>
          <p:nvPr/>
        </p:nvSpPr>
        <p:spPr>
          <a:xfrm>
            <a:off x="484632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Utrecht</a:t>
            </a:r>
            <a:endParaRPr sz="1250" lang="ja-JP">
              <a:latin typeface="Noto Sans"/>
              <a:ea typeface="Noto Sans CJK JP"/>
              <a:cs typeface="Noto Sans"/>
            </a:endParaRPr>
          </a:p>
        </p:txBody>
      </p:sp>
      <p:sp>
        <p:nvSpPr>
          <p:cNvPr id="25" name="content-text"/>
          <p:cNvSpPr txBox="1"/>
          <p:nvPr/>
        </p:nvSpPr>
        <p:spPr>
          <a:xfrm>
            <a:off x="484632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Vacuum</a:t>
            </a:r>
            <a:endParaRPr sz="1250" lang="ja-JP">
              <a:latin typeface="Noto Sans"/>
              <a:ea typeface="Noto Sans CJK JP"/>
              <a:cs typeface="Noto Sans"/>
            </a:endParaRPr>
          </a:p>
        </p:txBody>
      </p:sp>
      <p:sp>
        <p:nvSpPr>
          <p:cNvPr id="26" name="content-text"/>
          <p:cNvSpPr txBox="1"/>
          <p:nvPr/>
        </p:nvSpPr>
        <p:spPr>
          <a:xfrm>
            <a:off x="484632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Valencia</a:t>
            </a:r>
            <a:endParaRPr sz="1250" lang="ja-JP">
              <a:latin typeface="Noto Sans"/>
              <a:ea typeface="Noto Sans CJK JP"/>
              <a:cs typeface="Noto Sans"/>
            </a:endParaRPr>
          </a:p>
        </p:txBody>
      </p:sp>
      <p:sp>
        <p:nvSpPr>
          <p:cNvPr id="27" name="content-text"/>
          <p:cNvSpPr txBox="1"/>
          <p:nvPr/>
        </p:nvSpPr>
        <p:spPr>
          <a:xfrm>
            <a:off x="484632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Videoconferencing</a:t>
            </a:r>
            <a:endParaRPr sz="1250" lang="ja-JP">
              <a:latin typeface="Noto Sans"/>
              <a:ea typeface="Noto Sans CJK JP"/>
              <a:cs typeface="Noto Sans"/>
            </a:endParaRPr>
          </a:p>
        </p:txBody>
      </p:sp>
      <p:sp>
        <p:nvSpPr>
          <p:cNvPr id="28" name="content-text"/>
          <p:cNvSpPr txBox="1"/>
          <p:nvPr/>
        </p:nvSpPr>
        <p:spPr>
          <a:xfrm>
            <a:off x="484632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Virgil</a:t>
            </a:r>
            <a:endParaRPr sz="1250" lang="ja-JP">
              <a:latin typeface="Noto Sans"/>
              <a:ea typeface="Noto Sans CJK JP"/>
              <a:cs typeface="Noto Sans"/>
            </a:endParaRPr>
          </a:p>
        </p:txBody>
      </p:sp>
      <p:sp>
        <p:nvSpPr>
          <p:cNvPr id="29"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学習用 Wikipedia 記事一覧 19/19</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5. 収録されたWikipedia記事の全一覧</a:t>
            </a:r>
            <a:endParaRPr sz="1400" lang="ja-JP">
              <a:latin typeface="Noto Sans"/>
              <a:ea typeface="Noto Sans CJK JP"/>
              <a:cs typeface="Noto Sans"/>
            </a:endParaRPr>
          </a:p>
        </p:txBody>
      </p:sp>
      <p:sp>
        <p:nvSpPr>
          <p:cNvPr id="4" name="content-text"/>
          <p:cNvSpPr txBox="1"/>
          <p:nvPr/>
        </p:nvSpPr>
        <p:spPr>
          <a:xfrm>
            <a:off x="548640" y="1388745"/>
            <a:ext cx="8046720" cy="257175"/>
          </a:xfrm>
          <a:prstGeom prst="rect">
            <a:avLst/>
          </a:prstGeom>
          <a:noFill/>
        </p:spPr>
        <p:txBody>
          <a:bodyPr wrap="square" anchor="t" lIns="0" rIns="0" tIns="0" bIns="0">
            <a:noAutofit/>
          </a:bodyPr>
          <a:lstStyle/>
          <a:p>
            <a:pPr algn="l" marL="0" indent="0">
              <a:lnSpc>
                <a:spcPct val="115000"/>
              </a:lnSpc>
              <a:spcBef>
                <a:spcPts val="0"/>
              </a:spcBef>
              <a:spcAft>
                <a:spcPts val="0"/>
              </a:spcAft>
              <a:buNone/>
              <a:defRPr sz="1800" lang="ja-JP">
                <a:latin typeface="Noto Sans"/>
                <a:ea typeface="Noto Sans CJK JP"/>
                <a:cs typeface="Noto Sans"/>
              </a:defRPr>
            </a:pPr>
            <a:r>
              <a:rPr sz="1800" b="0" lang="ja-JP">
                <a:solidFill>
                  <a:srgbClr val="303437"/>
                </a:solidFill>
                <a:latin typeface="Noto Sans"/>
                <a:ea typeface="Noto Sans CJK JP"/>
                <a:cs typeface="Noto Sans"/>
              </a:rPr>
              <a:t>バージョン1.1と2.0に共通する442記事。</a:t>
            </a:r>
            <a:endParaRPr sz="1800" lang="ja-JP">
              <a:latin typeface="Noto Sans"/>
              <a:ea typeface="Noto Sans CJK JP"/>
              <a:cs typeface="Noto Sans"/>
            </a:endParaRPr>
          </a:p>
        </p:txBody>
      </p:sp>
      <p:sp>
        <p:nvSpPr>
          <p:cNvPr id="5" name="content-text"/>
          <p:cNvSpPr txBox="1"/>
          <p:nvPr/>
        </p:nvSpPr>
        <p:spPr>
          <a:xfrm>
            <a:off x="59436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War_on_Terror</a:t>
            </a:r>
            <a:endParaRPr sz="1250" lang="ja-JP">
              <a:latin typeface="Noto Sans"/>
              <a:ea typeface="Noto Sans CJK JP"/>
              <a:cs typeface="Noto Sans"/>
            </a:endParaRPr>
          </a:p>
        </p:txBody>
      </p:sp>
      <p:sp>
        <p:nvSpPr>
          <p:cNvPr id="6" name="content-text"/>
          <p:cNvSpPr txBox="1"/>
          <p:nvPr/>
        </p:nvSpPr>
        <p:spPr>
          <a:xfrm>
            <a:off x="594360" y="192582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Warsaw_Pact</a:t>
            </a:r>
            <a:endParaRPr sz="1250" lang="ja-JP">
              <a:latin typeface="Noto Sans"/>
              <a:ea typeface="Noto Sans CJK JP"/>
              <a:cs typeface="Noto Sans"/>
            </a:endParaRPr>
          </a:p>
        </p:txBody>
      </p:sp>
      <p:sp>
        <p:nvSpPr>
          <p:cNvPr id="7" name="content-text"/>
          <p:cNvSpPr txBox="1"/>
          <p:nvPr/>
        </p:nvSpPr>
        <p:spPr>
          <a:xfrm>
            <a:off x="594360" y="216001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Washington_University_in_St._Louis</a:t>
            </a:r>
            <a:endParaRPr sz="1250" lang="ja-JP">
              <a:latin typeface="Noto Sans"/>
              <a:ea typeface="Noto Sans CJK JP"/>
              <a:cs typeface="Noto Sans"/>
            </a:endParaRPr>
          </a:p>
        </p:txBody>
      </p:sp>
      <p:sp>
        <p:nvSpPr>
          <p:cNvPr id="8" name="content-text"/>
          <p:cNvSpPr txBox="1"/>
          <p:nvPr/>
        </p:nvSpPr>
        <p:spPr>
          <a:xfrm>
            <a:off x="594360" y="239420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Wayback_Machine</a:t>
            </a:r>
            <a:endParaRPr sz="1250" lang="ja-JP">
              <a:latin typeface="Noto Sans"/>
              <a:ea typeface="Noto Sans CJK JP"/>
              <a:cs typeface="Noto Sans"/>
            </a:endParaRPr>
          </a:p>
        </p:txBody>
      </p:sp>
      <p:sp>
        <p:nvSpPr>
          <p:cNvPr id="9" name="content-text"/>
          <p:cNvSpPr txBox="1"/>
          <p:nvPr/>
        </p:nvSpPr>
        <p:spPr>
          <a:xfrm>
            <a:off x="594360" y="262839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Web_browser</a:t>
            </a:r>
            <a:endParaRPr sz="1250" lang="ja-JP">
              <a:latin typeface="Noto Sans"/>
              <a:ea typeface="Noto Sans CJK JP"/>
              <a:cs typeface="Noto Sans"/>
            </a:endParaRPr>
          </a:p>
        </p:txBody>
      </p:sp>
      <p:sp>
        <p:nvSpPr>
          <p:cNvPr id="10" name="content-text"/>
          <p:cNvSpPr txBox="1"/>
          <p:nvPr/>
        </p:nvSpPr>
        <p:spPr>
          <a:xfrm>
            <a:off x="594360" y="286258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Westminster_Abbey</a:t>
            </a:r>
            <a:endParaRPr sz="1250" lang="ja-JP">
              <a:latin typeface="Noto Sans"/>
              <a:ea typeface="Noto Sans CJK JP"/>
              <a:cs typeface="Noto Sans"/>
            </a:endParaRPr>
          </a:p>
        </p:txBody>
      </p:sp>
      <p:sp>
        <p:nvSpPr>
          <p:cNvPr id="11" name="content-text"/>
          <p:cNvSpPr txBox="1"/>
          <p:nvPr/>
        </p:nvSpPr>
        <p:spPr>
          <a:xfrm>
            <a:off x="594360" y="309676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Windows_8</a:t>
            </a:r>
            <a:endParaRPr sz="1250" lang="ja-JP">
              <a:latin typeface="Noto Sans"/>
              <a:ea typeface="Noto Sans CJK JP"/>
              <a:cs typeface="Noto Sans"/>
            </a:endParaRPr>
          </a:p>
        </p:txBody>
      </p:sp>
      <p:sp>
        <p:nvSpPr>
          <p:cNvPr id="12" name="content-text"/>
          <p:cNvSpPr txBox="1"/>
          <p:nvPr/>
        </p:nvSpPr>
        <p:spPr>
          <a:xfrm>
            <a:off x="594360" y="3330956"/>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Wood</a:t>
            </a:r>
            <a:endParaRPr sz="1250" lang="ja-JP">
              <a:latin typeface="Noto Sans"/>
              <a:ea typeface="Noto Sans CJK JP"/>
              <a:cs typeface="Noto Sans"/>
            </a:endParaRPr>
          </a:p>
        </p:txBody>
      </p:sp>
      <p:sp>
        <p:nvSpPr>
          <p:cNvPr id="13" name="content-text"/>
          <p:cNvSpPr txBox="1"/>
          <p:nvPr/>
        </p:nvSpPr>
        <p:spPr>
          <a:xfrm>
            <a:off x="594360" y="3565144"/>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Xbox_360</a:t>
            </a:r>
            <a:endParaRPr sz="1250" lang="ja-JP">
              <a:latin typeface="Noto Sans"/>
              <a:ea typeface="Noto Sans CJK JP"/>
              <a:cs typeface="Noto Sans"/>
            </a:endParaRPr>
          </a:p>
        </p:txBody>
      </p:sp>
      <p:sp>
        <p:nvSpPr>
          <p:cNvPr id="14" name="content-text"/>
          <p:cNvSpPr txBox="1"/>
          <p:nvPr/>
        </p:nvSpPr>
        <p:spPr>
          <a:xfrm>
            <a:off x="594360" y="3799332"/>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Yale_University</a:t>
            </a:r>
            <a:endParaRPr sz="1250" lang="ja-JP">
              <a:latin typeface="Noto Sans"/>
              <a:ea typeface="Noto Sans CJK JP"/>
              <a:cs typeface="Noto Sans"/>
            </a:endParaRPr>
          </a:p>
        </p:txBody>
      </p:sp>
      <p:sp>
        <p:nvSpPr>
          <p:cNvPr id="15" name="content-text"/>
          <p:cNvSpPr txBox="1"/>
          <p:nvPr/>
        </p:nvSpPr>
        <p:spPr>
          <a:xfrm>
            <a:off x="594360" y="403352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YouTube</a:t>
            </a:r>
            <a:endParaRPr sz="1250" lang="ja-JP">
              <a:latin typeface="Noto Sans"/>
              <a:ea typeface="Noto Sans CJK JP"/>
              <a:cs typeface="Noto Sans"/>
            </a:endParaRPr>
          </a:p>
        </p:txBody>
      </p:sp>
      <p:sp>
        <p:nvSpPr>
          <p:cNvPr id="16" name="content-text"/>
          <p:cNvSpPr txBox="1"/>
          <p:nvPr/>
        </p:nvSpPr>
        <p:spPr>
          <a:xfrm>
            <a:off x="594360" y="4267708"/>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Zhejiang</a:t>
            </a:r>
            <a:endParaRPr sz="1250" lang="ja-JP">
              <a:latin typeface="Noto Sans"/>
              <a:ea typeface="Noto Sans CJK JP"/>
              <a:cs typeface="Noto Sans"/>
            </a:endParaRPr>
          </a:p>
        </p:txBody>
      </p:sp>
      <p:sp>
        <p:nvSpPr>
          <p:cNvPr id="17" name="content-text"/>
          <p:cNvSpPr txBox="1"/>
          <p:nvPr/>
        </p:nvSpPr>
        <p:spPr>
          <a:xfrm>
            <a:off x="4846320" y="1691640"/>
            <a:ext cx="3886200" cy="208788"/>
          </a:xfrm>
          <a:prstGeom prst="rect">
            <a:avLst/>
          </a:prstGeom>
          <a:noFill/>
        </p:spPr>
        <p:txBody>
          <a:bodyPr wrap="square" anchor="t" lIns="0" rIns="0" tIns="0" bIns="0">
            <a:noAutofit/>
          </a:bodyPr>
          <a:lstStyle/>
          <a:p>
            <a:pPr algn="l" marL="0" indent="0">
              <a:lnSpc>
                <a:spcPct val="100000"/>
              </a:lnSpc>
              <a:spcBef>
                <a:spcPts val="0"/>
              </a:spcBef>
              <a:spcAft>
                <a:spcPts val="0"/>
              </a:spcAft>
              <a:buNone/>
              <a:defRPr sz="1250" lang="ja-JP" b="0">
                <a:solidFill>
                  <a:srgbClr val="303437"/>
                </a:solidFill>
                <a:latin typeface="Noto Sans"/>
                <a:ea typeface="Noto Sans CJK JP"/>
                <a:cs typeface="Noto Sans"/>
              </a:defRPr>
            </a:pPr>
            <a:r>
              <a:rPr sz="1250" b="0" lang="ja-JP">
                <a:solidFill>
                  <a:srgbClr val="303437"/>
                </a:solidFill>
                <a:latin typeface="Noto Sans"/>
                <a:ea typeface="Noto Sans CJK JP"/>
                <a:cs typeface="Noto Sans"/>
              </a:rPr>
              <a:t>Zinc</a:t>
            </a:r>
            <a:endParaRPr sz="1250" lang="ja-JP">
              <a:latin typeface="Noto Sans"/>
              <a:ea typeface="Noto Sans CJK JP"/>
              <a:cs typeface="Noto Sans"/>
            </a:endParaRPr>
          </a:p>
        </p:txBody>
      </p:sp>
      <p:sp>
        <p:nvSpPr>
          <p:cNvPr id="18"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記事名は元JSONの title をそのまま記載。</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hlinkClick r:id="rId2"/>
              </a:rPr>
              <a:t>https://github.com/rajpurkar/SQuAD-explorer/tree/master/dataset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none" anchor="t" lIns="0" rIns="0" tIns="0" bIns="0">
            <a:noAutofit/>
          </a:bodyPr>
          <a:lstStyle/>
          <a:p>
            <a:pPr algn="l" marL="0" indent="0">
              <a:lnSpc>
                <a:spcPct val="100000"/>
              </a:lnSpc>
              <a:spcBef>
                <a:spcPts val="0"/>
              </a:spcBef>
              <a:spcAft>
                <a:spcPts val="0"/>
              </a:spcAft>
              <a:buNone/>
              <a:defRPr sz="2800" lang="ja-JP">
                <a:latin typeface="Noto Sans"/>
                <a:ea typeface="Noto Sans CJK JP"/>
                <a:cs typeface="Noto Sans"/>
              </a:defRPr>
            </a:pPr>
            <a:r>
              <a:rPr sz="2800" b="1" lang="ja-JP">
                <a:solidFill>
                  <a:srgbClr val="303437"/>
                </a:solidFill>
                <a:latin typeface="Noto Sans"/>
                <a:ea typeface="Noto Sans CJK JP"/>
                <a:cs typeface="Noto Sans"/>
              </a:rPr>
              <a:t>各版の公式JSONを取得するPythonコード</a:t>
            </a:r>
            <a:endParaRPr sz="2800" lang="ja-JP">
              <a:latin typeface="Noto Sans"/>
              <a:ea typeface="Noto Sans CJK JP"/>
              <a:cs typeface="Noto Sans"/>
            </a:endParaRPr>
          </a:p>
        </p:txBody>
      </p:sp>
      <p:sp>
        <p:nvSpPr>
          <p:cNvPr id="3" name="Title 2"/>
          <p:cNvSpPr>
            <a:spLocks noGrp="1"/>
          </p:cNvSpPr>
          <p:nvPr>
            <p:ph type="title" idx="2"/>
          </p:nvPr>
        </p:nvSpPr>
        <p:spPr>
          <a:xfrm>
            <a:off x="73152" y="0"/>
            <a:ext cx="8119872" cy="480060"/>
          </a:xfrm>
        </p:spPr>
        <p:txBody>
          <a:bodyPr wrap="square" anchor="ctr" lIns="0" rIns="0" tIns="0" bIns="0">
            <a:noAutofit/>
          </a:bodyPr>
          <a:lstStyle/>
          <a:p>
            <a:pPr algn="l" marL="0" indent="0">
              <a:lnSpc>
                <a:spcPct val="100000"/>
              </a:lnSpc>
              <a:spcBef>
                <a:spcPts val="0"/>
              </a:spcBef>
              <a:spcAft>
                <a:spcPts val="0"/>
              </a:spcAft>
              <a:buNone/>
              <a:defRPr sz="1400" lang="ja-JP">
                <a:latin typeface="Noto Sans"/>
                <a:ea typeface="Noto Sans CJK JP"/>
                <a:cs typeface="Noto Sans"/>
              </a:defRPr>
            </a:pPr>
            <a:r>
              <a:rPr sz="1400" lang="ja-JP" b="1">
                <a:solidFill>
                  <a:srgbClr val="FFFEF8"/>
                </a:solidFill>
                <a:latin typeface="Noto Sans"/>
                <a:ea typeface="Noto Sans CJK JP"/>
                <a:cs typeface="Noto Sans"/>
              </a:rPr>
              <a:t>Appendix: 6. 公式JSONの取得コードと関連文献</a:t>
            </a:r>
            <a:endParaRPr sz="1400" lang="ja-JP">
              <a:latin typeface="Noto Sans"/>
              <a:ea typeface="Noto Sans CJK JP"/>
              <a:cs typeface="Noto Sans"/>
            </a:endParaRPr>
          </a:p>
        </p:txBody>
      </p:sp>
      <p:sp>
        <p:nvSpPr>
          <p:cNvPr id="7" name="code-background"/>
          <p:cNvSpPr/>
          <p:nvPr/>
        </p:nvSpPr>
        <p:spPr>
          <a:xfrm>
            <a:off x="548640" y="1474275"/>
            <a:ext cx="8046720" cy="2500114"/>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ontent-text"/>
          <p:cNvSpPr txBox="1"/>
          <p:nvPr/>
        </p:nvSpPr>
        <p:spPr>
          <a:xfrm>
            <a:off x="502920" y="1465897"/>
            <a:ext cx="8138160" cy="2477770"/>
          </a:xfrm>
          <a:prstGeom prst="rect">
            <a:avLst/>
          </a:prstGeom>
          <a:noFill/>
        </p:spPr>
        <p:txBody>
          <a:bodyPr wrap="none" anchor="t" lIns="152400" rIns="152400" tIns="114300" bIns="114300">
            <a:noAutofit/>
          </a:bodyPr>
          <a:lstStyle/>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import json</a:t>
            </a:r>
            <a:endParaRPr sz="1400" lang="ja-JP">
              <a:latin typeface="Noto Sans"/>
              <a:ea typeface="Noto Sans CJK JP"/>
              <a:cs typeface="Noto Sans"/>
            </a:endParaRP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from urllib.request import urlopen</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base = "</a:t>
            </a:r>
            <a:r>
              <a:rPr sz="1400" lang="ja-JP">
                <a:solidFill>
                  <a:srgbClr val="303437"/>
                </a:solidFill>
                <a:latin typeface="Liberation Mono"/>
                <a:ea typeface="Noto Sans CJK JP"/>
                <a:cs typeface="Noto Sans"/>
                <a:hlinkClick r:id="rId3"/>
              </a:rPr>
              <a:t>https://rajpurkar.github.io/SQuAD-explorer/dataset/"</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for version in ("1.1", "2.0"):</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for split in ("train", "dev"):</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name = f"{split}-v{version}.json"</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with urlopen(base + name) as response:</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data = json.load(response)</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with open(name, "w", encoding="utf-8") as output:</a:t>
            </a:r>
          </a:p>
          <a:p>
            <a:pPr algn="l" marL="0" indent="0">
              <a:lnSpc>
                <a:spcPts val="1609"/>
              </a:lnSpc>
              <a:spcBef>
                <a:spcPts val="0"/>
              </a:spcBef>
              <a:spcAft>
                <a:spcPts val="0"/>
              </a:spcAft>
              <a:buNone/>
              <a:defRPr sz="1400" lang="ja-JP">
                <a:latin typeface="Liberation Mono"/>
                <a:ea typeface="Noto Sans CJK JP"/>
                <a:cs typeface="Noto Sans"/>
              </a:defRPr>
            </a:pPr>
            <a:r>
              <a:rPr sz="1400" lang="ja-JP">
                <a:solidFill>
                  <a:srgbClr val="303437"/>
                </a:solidFill>
                <a:latin typeface="Liberation Mono"/>
                <a:ea typeface="Noto Sans CJK JP"/>
                <a:cs typeface="Noto Sans"/>
              </a:rPr>
              <a:t>            json.dump(data, output, ensure_ascii=False)</a:t>
            </a:r>
          </a:p>
        </p:txBody>
      </p:sp>
      <p:sp>
        <p:nvSpPr>
          <p:cNvPr id="6" name="lookup-sources"/>
          <p:cNvSpPr txBox="1"/>
          <p:nvPr/>
        </p:nvSpPr>
        <p:spPr>
          <a:xfrm>
            <a:off x="502920" y="4787900"/>
            <a:ext cx="8183879" cy="640080"/>
          </a:xfrm>
          <a:prstGeom prst="rect">
            <a:avLst/>
          </a:prstGeom>
          <a:noFill/>
        </p:spPr>
        <p:txBody>
          <a:bodyPr wrap="square" lIns="0" rIns="0" tIns="0" bIns="0" anchor="t">
            <a:spAutoFit/>
          </a:bodyPr>
          <a:lstStyle/>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配布元　</a:t>
            </a:r>
            <a:r>
              <a:rPr sz="800" b="0" lang="ja-JP">
                <a:solidFill>
                  <a:srgbClr val="626669"/>
                </a:solidFill>
                <a:latin typeface="Noto Sans"/>
                <a:ea typeface="Noto Sans CJK JP"/>
                <a:cs typeface="Noto Sans"/>
                <a:hlinkClick r:id="rId2"/>
              </a:rPr>
              <a:t>https://rajpurkar.github.io/SQuAD-explorer/dataset/</a:t>
            </a:r>
          </a:p>
          <a:p>
            <a:pPr>
              <a:lnSpc>
                <a:spcPts val="1200"/>
              </a:lnSpc>
              <a:spcBef>
                <a:spcPts val="0"/>
              </a:spcBef>
              <a:spcAft>
                <a:spcPts val="0"/>
              </a:spcAft>
              <a:defRPr sz="800" b="0" lang="ja-JP">
                <a:solidFill>
                  <a:srgbClr val="626669"/>
                </a:solidFill>
                <a:latin typeface="Noto Sans"/>
                <a:ea typeface="Noto Sans CJK JP"/>
                <a:cs typeface="Noto Sans"/>
              </a:defRPr>
            </a:pPr>
            <a:r>
              <a:rPr sz="800" b="0" lang="ja-JP">
                <a:solidFill>
                  <a:srgbClr val="626669"/>
                </a:solidFill>
                <a:latin typeface="Noto Sans"/>
                <a:ea typeface="Noto Sans CJK JP"/>
                <a:cs typeface="Noto Sans"/>
              </a:rPr>
              <a:t>バージョン・分割ごとに公式JSONを取得。Python標準ライブラリのみ使用。</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sz="2800">
                <a:latin typeface="Noto Sans"/>
              </a:rPr>
              <a:t/>
            </a: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Appendix: 6. 参考文献</a:t>
            </a:r>
          </a:p>
        </p:txBody>
      </p:sp>
      <p:sp>
        <p:nvSpPr>
          <p:cNvPr id="4" name="TextBox 3"/>
          <p:cNvSpPr txBox="1"/>
          <p:nvPr/>
        </p:nvSpPr>
        <p:spPr>
          <a:xfrm>
            <a:off x="548640" y="780772"/>
            <a:ext cx="8046720" cy="734171"/>
          </a:xfrm>
          <a:prstGeom prst="rect">
            <a:avLst/>
          </a:prstGeom>
          <a:noFill/>
        </p:spPr>
        <p:txBody>
          <a:bodyPr wrap="square" lIns="0" rIns="0" tIns="0" bIns="0">
            <a:spAutoFit/>
          </a:bodyPr>
          <a:lstStyle/>
          <a:p>
            <a:pPr algn="l">
              <a:lnSpc>
                <a:spcPct val="100000"/>
              </a:lnSpc>
              <a:spcBef>
                <a:spcPts val="0"/>
              </a:spcBef>
              <a:spcAft>
                <a:spcPts val="0"/>
              </a:spcAft>
            </a:pPr>
            <a:r>
              <a:rPr sz="2100" b="1" lang="ja-JP">
                <a:solidFill>
                  <a:srgbClr val="303437"/>
                </a:solidFill>
                <a:latin typeface="Noto Sans"/>
                <a:ea typeface="Noto Sans CJK JP"/>
                <a:cs typeface="Noto Sans"/>
              </a:rPr>
              <a:t>SQuAD: 100,000+ Questions for Machine Comprehension of Text</a:t>
            </a:r>
          </a:p>
        </p:txBody>
      </p:sp>
      <p:sp>
        <p:nvSpPr>
          <p:cNvPr id="5" name="TextBox 4"/>
          <p:cNvSpPr txBox="1"/>
          <p:nvPr/>
        </p:nvSpPr>
        <p:spPr>
          <a:xfrm>
            <a:off x="548640" y="1533020"/>
            <a:ext cx="8046720" cy="267034"/>
          </a:xfrm>
          <a:prstGeom prst="rect">
            <a:avLst/>
          </a:prstGeom>
          <a:noFill/>
        </p:spPr>
        <p:txBody>
          <a:bodyPr wrap="square" lIns="0" rIns="0" tIns="0" bIns="0">
            <a:spAutoFit/>
          </a:bodyPr>
          <a:lstStyle/>
          <a:p>
            <a:pPr algn="l">
              <a:lnSpc>
                <a:spcPct val="100000"/>
              </a:lnSpc>
              <a:spcBef>
                <a:spcPts val="0"/>
              </a:spcBef>
              <a:spcAft>
                <a:spcPts val="0"/>
              </a:spcAft>
            </a:pPr>
            <a:r>
              <a:rPr sz="1250" b="0" lang="ja-JP">
                <a:solidFill>
                  <a:srgbClr val="626669"/>
                </a:solidFill>
                <a:latin typeface="Noto Sans"/>
                <a:ea typeface="Noto Sans CJK JP"/>
                <a:cs typeface="Noto Sans"/>
              </a:rPr>
              <a:t>Rajpurkar, P., Zhang, J., Lopyrev, K., &amp; Liang, P. (2016). EMNLP, pp. 2383–2392.</a:t>
            </a:r>
          </a:p>
        </p:txBody>
      </p:sp>
      <p:sp>
        <p:nvSpPr>
          <p:cNvPr id="6" name="TextBox 5"/>
          <p:cNvSpPr txBox="1"/>
          <p:nvPr/>
        </p:nvSpPr>
        <p:spPr>
          <a:xfrm>
            <a:off x="548640" y="1848690"/>
            <a:ext cx="8046720" cy="622764"/>
          </a:xfrm>
          <a:prstGeom prst="rect">
            <a:avLst/>
          </a:prstGeom>
          <a:noFill/>
        </p:spPr>
        <p:txBody>
          <a:bodyPr wrap="square" lIns="0" rIns="0" tIns="0" bIns="0">
            <a:spAutoFit/>
          </a:bodyPr>
          <a:lstStyle/>
          <a:p>
            <a:pPr algn="l">
              <a:lnSpc>
                <a:spcPct val="100000"/>
              </a:lnSpc>
              <a:spcBef>
                <a:spcPts val="0"/>
              </a:spcBef>
              <a:spcAft>
                <a:spcPts val="0"/>
              </a:spcAft>
            </a:pPr>
            <a:r>
              <a:rPr sz="1700" b="0" lang="ja-JP">
                <a:solidFill>
                  <a:srgbClr val="303437"/>
                </a:solidFill>
                <a:latin typeface="Noto Sans"/>
                <a:ea typeface="Noto Sans CJK JP"/>
                <a:cs typeface="Noto Sans"/>
              </a:rPr>
              <a:t>SQuADの原著論文。データセットの収集方法、回答範囲の注釈、EM・F1評価を記載する。</a:t>
            </a:r>
          </a:p>
        </p:txBody>
      </p:sp>
      <p:sp>
        <p:nvSpPr>
          <p:cNvPr id="7" name="TextBox 6"/>
          <p:cNvSpPr txBox="1"/>
          <p:nvPr/>
        </p:nvSpPr>
        <p:spPr>
          <a:xfrm>
            <a:off x="548640" y="2471419"/>
            <a:ext cx="8046720" cy="223877"/>
          </a:xfrm>
          <a:prstGeom prst="rect">
            <a:avLst/>
          </a:prstGeom>
          <a:noFill/>
        </p:spPr>
        <p:txBody>
          <a:bodyPr wrap="square" lIns="0" rIns="0" tIns="0" bIns="0">
            <a:spAutoFit/>
          </a:bodyPr>
          <a:lstStyle/>
          <a:p>
            <a:pPr algn="l">
              <a:lnSpc>
                <a:spcPct val="100000"/>
              </a:lnSpc>
              <a:spcBef>
                <a:spcPts val="0"/>
              </a:spcBef>
              <a:spcAft>
                <a:spcPts val="0"/>
              </a:spcAft>
            </a:pPr>
            <a:r>
              <a:rPr sz="1000" b="0" lang="ja-JP">
                <a:solidFill>
                  <a:srgbClr val="626669"/>
                </a:solidFill>
                <a:latin typeface="Noto Sans"/>
                <a:ea typeface="Noto Sans CJK JP"/>
                <a:cs typeface="Noto Sans"/>
                <a:hlinkClick r:id="rId2"/>
              </a:rPr>
              <a:t>https://aclanthology.org/D16-1264/</a:t>
            </a:r>
          </a:p>
        </p:txBody>
      </p:sp>
      <p:sp>
        <p:nvSpPr>
          <p:cNvPr id="8" name="TextBox 7"/>
          <p:cNvSpPr txBox="1"/>
          <p:nvPr/>
        </p:nvSpPr>
        <p:spPr>
          <a:xfrm>
            <a:off x="548640" y="3041374"/>
            <a:ext cx="8046720" cy="734172"/>
          </a:xfrm>
          <a:prstGeom prst="rect">
            <a:avLst/>
          </a:prstGeom>
          <a:noFill/>
        </p:spPr>
        <p:txBody>
          <a:bodyPr wrap="square" lIns="0" rIns="0" tIns="0" bIns="0">
            <a:spAutoFit/>
          </a:bodyPr>
          <a:lstStyle/>
          <a:p>
            <a:pPr algn="l">
              <a:lnSpc>
                <a:spcPct val="100000"/>
              </a:lnSpc>
              <a:spcBef>
                <a:spcPts val="0"/>
              </a:spcBef>
              <a:spcAft>
                <a:spcPts val="0"/>
              </a:spcAft>
            </a:pPr>
            <a:r>
              <a:rPr sz="2100" b="1" lang="ja-JP">
                <a:solidFill>
                  <a:srgbClr val="303437"/>
                </a:solidFill>
                <a:latin typeface="Noto Sans"/>
                <a:ea typeface="Noto Sans CJK JP"/>
                <a:cs typeface="Noto Sans"/>
              </a:rPr>
              <a:t>Know What You Don’t Know: Unanswerable Questions for SQuAD</a:t>
            </a:r>
          </a:p>
        </p:txBody>
      </p:sp>
      <p:sp>
        <p:nvSpPr>
          <p:cNvPr id="9" name="TextBox 8"/>
          <p:cNvSpPr txBox="1"/>
          <p:nvPr/>
        </p:nvSpPr>
        <p:spPr>
          <a:xfrm>
            <a:off x="548640" y="3793620"/>
            <a:ext cx="8046720" cy="267034"/>
          </a:xfrm>
          <a:prstGeom prst="rect">
            <a:avLst/>
          </a:prstGeom>
          <a:noFill/>
        </p:spPr>
        <p:txBody>
          <a:bodyPr wrap="square" lIns="0" rIns="0" tIns="0" bIns="0">
            <a:spAutoFit/>
          </a:bodyPr>
          <a:lstStyle/>
          <a:p>
            <a:pPr algn="l">
              <a:lnSpc>
                <a:spcPct val="100000"/>
              </a:lnSpc>
              <a:spcBef>
                <a:spcPts val="0"/>
              </a:spcBef>
              <a:spcAft>
                <a:spcPts val="0"/>
              </a:spcAft>
            </a:pPr>
            <a:r>
              <a:rPr sz="1250" b="0" lang="ja-JP">
                <a:solidFill>
                  <a:srgbClr val="626669"/>
                </a:solidFill>
                <a:latin typeface="Noto Sans"/>
                <a:ea typeface="Noto Sans CJK JP"/>
                <a:cs typeface="Noto Sans"/>
              </a:rPr>
              <a:t>Rajpurkar, P., Jia, R., &amp; Liang, P. (2018). ACL, pp. 784–789.</a:t>
            </a:r>
          </a:p>
        </p:txBody>
      </p:sp>
      <p:sp>
        <p:nvSpPr>
          <p:cNvPr id="10" name="TextBox 9"/>
          <p:cNvSpPr txBox="1"/>
          <p:nvPr/>
        </p:nvSpPr>
        <p:spPr>
          <a:xfrm>
            <a:off x="548640" y="4109293"/>
            <a:ext cx="8046720" cy="622764"/>
          </a:xfrm>
          <a:prstGeom prst="rect">
            <a:avLst/>
          </a:prstGeom>
          <a:noFill/>
        </p:spPr>
        <p:txBody>
          <a:bodyPr wrap="square" lIns="0" rIns="0" tIns="0" bIns="0">
            <a:spAutoFit/>
          </a:bodyPr>
          <a:lstStyle/>
          <a:p>
            <a:pPr algn="l">
              <a:lnSpc>
                <a:spcPct val="100000"/>
              </a:lnSpc>
              <a:spcBef>
                <a:spcPts val="0"/>
              </a:spcBef>
              <a:spcAft>
                <a:spcPts val="0"/>
              </a:spcAft>
            </a:pPr>
            <a:r>
              <a:rPr sz="1700" b="0" lang="ja-JP">
                <a:solidFill>
                  <a:srgbClr val="303437"/>
                </a:solidFill>
                <a:latin typeface="Noto Sans"/>
                <a:ea typeface="Noto Sans CJK JP"/>
                <a:cs typeface="Noto Sans"/>
              </a:rPr>
              <a:t>SQuAD 2.0の原著論文。回答不能な質問の作成方法と、回答保留を含む評価を報告する。</a:t>
            </a:r>
          </a:p>
        </p:txBody>
      </p:sp>
      <p:sp>
        <p:nvSpPr>
          <p:cNvPr id="11" name="TextBox 10"/>
          <p:cNvSpPr txBox="1"/>
          <p:nvPr/>
        </p:nvSpPr>
        <p:spPr>
          <a:xfrm>
            <a:off x="548640" y="4732021"/>
            <a:ext cx="8046720" cy="223877"/>
          </a:xfrm>
          <a:prstGeom prst="rect">
            <a:avLst/>
          </a:prstGeom>
          <a:noFill/>
        </p:spPr>
        <p:txBody>
          <a:bodyPr wrap="square" lIns="0" rIns="0" tIns="0" bIns="0">
            <a:spAutoFit/>
          </a:bodyPr>
          <a:lstStyle/>
          <a:p>
            <a:pPr algn="l">
              <a:lnSpc>
                <a:spcPct val="100000"/>
              </a:lnSpc>
              <a:spcBef>
                <a:spcPts val="0"/>
              </a:spcBef>
              <a:spcAft>
                <a:spcPts val="0"/>
              </a:spcAft>
            </a:pPr>
            <a:r>
              <a:rPr sz="1000" b="0" lang="ja-JP">
                <a:solidFill>
                  <a:srgbClr val="626669"/>
                </a:solidFill>
                <a:latin typeface="Noto Sans"/>
                <a:ea typeface="Noto Sans CJK JP"/>
                <a:cs typeface="Noto Sans"/>
                <a:hlinkClick r:id="rId3"/>
              </a:rPr>
              <a:t>https://aclanthology.org/P18-2124/</a:t>
            </a:r>
          </a:p>
        </p:txBody>
      </p:sp>
      <p:sp>
        <p:nvSpPr>
          <p:cNvPr id="12" name="Rectangle 11"/>
          <p:cNvSpPr/>
          <p:nvPr/>
        </p:nvSpPr>
        <p:spPr>
          <a:xfrm>
            <a:off x="548640" y="2852928"/>
            <a:ext cx="8046720" cy="7620"/>
          </a:xfrm>
          <a:prstGeom prst="rect">
            <a:avLst/>
          </a:prstGeom>
          <a:solidFill>
            <a:srgbClr val="C9CC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sz="2800">
                <a:latin typeface="Noto Sans"/>
              </a:rPr>
              <a:t/>
            </a: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Appendix: 6. 参考文献</a:t>
            </a:r>
          </a:p>
        </p:txBody>
      </p:sp>
      <p:sp>
        <p:nvSpPr>
          <p:cNvPr id="4" name="TextBox 3"/>
          <p:cNvSpPr txBox="1"/>
          <p:nvPr/>
        </p:nvSpPr>
        <p:spPr>
          <a:xfrm>
            <a:off x="548640" y="780772"/>
            <a:ext cx="8046720" cy="414131"/>
          </a:xfrm>
          <a:prstGeom prst="rect">
            <a:avLst/>
          </a:prstGeom>
          <a:noFill/>
        </p:spPr>
        <p:txBody>
          <a:bodyPr wrap="square" lIns="0" rIns="0" tIns="0" bIns="0">
            <a:spAutoFit/>
          </a:bodyPr>
          <a:lstStyle/>
          <a:p>
            <a:pPr algn="l">
              <a:lnSpc>
                <a:spcPct val="100000"/>
              </a:lnSpc>
              <a:spcBef>
                <a:spcPts val="0"/>
              </a:spcBef>
              <a:spcAft>
                <a:spcPts val="0"/>
              </a:spcAft>
            </a:pPr>
            <a:r>
              <a:rPr sz="2100" b="1" lang="ja-JP">
                <a:solidFill>
                  <a:srgbClr val="303437"/>
                </a:solidFill>
                <a:latin typeface="Noto Sans"/>
                <a:ea typeface="Noto Sans CJK JP"/>
                <a:cs typeface="Noto Sans"/>
              </a:rPr>
              <a:t>Question answering</a:t>
            </a:r>
          </a:p>
        </p:txBody>
      </p:sp>
      <p:sp>
        <p:nvSpPr>
          <p:cNvPr id="5" name="TextBox 4"/>
          <p:cNvSpPr txBox="1"/>
          <p:nvPr/>
        </p:nvSpPr>
        <p:spPr>
          <a:xfrm>
            <a:off x="548640" y="1227427"/>
            <a:ext cx="8046720" cy="281482"/>
          </a:xfrm>
          <a:prstGeom prst="rect">
            <a:avLst/>
          </a:prstGeom>
          <a:noFill/>
        </p:spPr>
        <p:txBody>
          <a:bodyPr wrap="square" lIns="0" rIns="0" tIns="0" bIns="0">
            <a:spAutoFit/>
          </a:bodyPr>
          <a:lstStyle/>
          <a:p>
            <a:pPr algn="l">
              <a:lnSpc>
                <a:spcPct val="100000"/>
              </a:lnSpc>
              <a:spcBef>
                <a:spcPts val="0"/>
              </a:spcBef>
              <a:spcAft>
                <a:spcPts val="0"/>
              </a:spcAft>
            </a:pPr>
            <a:r>
              <a:rPr sz="1250" b="0" lang="ja-JP">
                <a:solidFill>
                  <a:srgbClr val="626669"/>
                </a:solidFill>
                <a:latin typeface="Noto Sans"/>
                <a:ea typeface="Noto Sans CJK JP"/>
                <a:cs typeface="Noto Sans"/>
              </a:rPr>
              <a:t>Hugging Face (n.d.). Hugging Face Course, Chapter 7, Section 7. 参照 2026-10-15.</a:t>
            </a:r>
          </a:p>
        </p:txBody>
      </p:sp>
      <p:sp>
        <p:nvSpPr>
          <p:cNvPr id="6" name="TextBox 5"/>
          <p:cNvSpPr txBox="1"/>
          <p:nvPr/>
        </p:nvSpPr>
        <p:spPr>
          <a:xfrm>
            <a:off x="548640" y="1543099"/>
            <a:ext cx="8046720" cy="622764"/>
          </a:xfrm>
          <a:prstGeom prst="rect">
            <a:avLst/>
          </a:prstGeom>
          <a:noFill/>
        </p:spPr>
        <p:txBody>
          <a:bodyPr wrap="square" lIns="0" rIns="0" tIns="0" bIns="0">
            <a:spAutoFit/>
          </a:bodyPr>
          <a:lstStyle/>
          <a:p>
            <a:pPr algn="l">
              <a:lnSpc>
                <a:spcPct val="100000"/>
              </a:lnSpc>
              <a:spcBef>
                <a:spcPts val="0"/>
              </a:spcBef>
              <a:spcAft>
                <a:spcPts val="0"/>
              </a:spcAft>
            </a:pPr>
            <a:r>
              <a:rPr sz="1700" b="0" lang="ja-JP">
                <a:solidFill>
                  <a:srgbClr val="303437"/>
                </a:solidFill>
                <a:latin typeface="Noto Sans"/>
                <a:ea typeface="Noto Sans CJK JP"/>
                <a:cs typeface="Noto Sans"/>
              </a:rPr>
              <a:t>質問応答の公式教材。長い段落の分割、回答位置の変換、モデルの微調整と評価を扱う。</a:t>
            </a:r>
          </a:p>
        </p:txBody>
      </p:sp>
      <p:sp>
        <p:nvSpPr>
          <p:cNvPr id="7" name="TextBox 6"/>
          <p:cNvSpPr txBox="1"/>
          <p:nvPr/>
        </p:nvSpPr>
        <p:spPr>
          <a:xfrm>
            <a:off x="548640" y="2165840"/>
            <a:ext cx="8046720" cy="223877"/>
          </a:xfrm>
          <a:prstGeom prst="rect">
            <a:avLst/>
          </a:prstGeom>
          <a:noFill/>
        </p:spPr>
        <p:txBody>
          <a:bodyPr wrap="square" lIns="0" rIns="0" tIns="0" bIns="0">
            <a:spAutoFit/>
          </a:bodyPr>
          <a:lstStyle/>
          <a:p>
            <a:pPr algn="l">
              <a:lnSpc>
                <a:spcPct val="100000"/>
              </a:lnSpc>
              <a:spcBef>
                <a:spcPts val="0"/>
              </a:spcBef>
              <a:spcAft>
                <a:spcPts val="0"/>
              </a:spcAft>
            </a:pPr>
            <a:r>
              <a:rPr sz="1000" b="0" lang="ja-JP">
                <a:solidFill>
                  <a:srgbClr val="626669"/>
                </a:solidFill>
                <a:latin typeface="Noto Sans"/>
                <a:ea typeface="Noto Sans CJK JP"/>
                <a:cs typeface="Noto Sans"/>
                <a:hlinkClick r:id="rId2"/>
              </a:rPr>
              <a:t>https://github.com/huggingface/course/blob/main/chapters/en/chapter7/7.mdx</a:t>
            </a:r>
          </a:p>
        </p:txBody>
      </p:sp>
      <p:sp>
        <p:nvSpPr>
          <p:cNvPr id="8" name="TextBox 7"/>
          <p:cNvSpPr txBox="1"/>
          <p:nvPr/>
        </p:nvSpPr>
        <p:spPr>
          <a:xfrm>
            <a:off x="548640" y="3041374"/>
            <a:ext cx="8046720" cy="734172"/>
          </a:xfrm>
          <a:prstGeom prst="rect">
            <a:avLst/>
          </a:prstGeom>
          <a:noFill/>
        </p:spPr>
        <p:txBody>
          <a:bodyPr wrap="square" lIns="0" rIns="0" tIns="0" bIns="0">
            <a:spAutoFit/>
          </a:bodyPr>
          <a:lstStyle/>
          <a:p>
            <a:pPr algn="l">
              <a:lnSpc>
                <a:spcPct val="100000"/>
              </a:lnSpc>
              <a:spcBef>
                <a:spcPts val="0"/>
              </a:spcBef>
              <a:spcAft>
                <a:spcPts val="0"/>
              </a:spcAft>
            </a:pPr>
            <a:r>
              <a:rPr sz="2100" b="1" lang="ja-JP">
                <a:solidFill>
                  <a:srgbClr val="303437"/>
                </a:solidFill>
                <a:latin typeface="Noto Sans"/>
                <a:ea typeface="Noto Sans CJK JP"/>
                <a:cs typeface="Noto Sans"/>
              </a:rPr>
              <a:t>BERT: Pre-training of Deep Bidirectional Transformers for Language Understanding</a:t>
            </a:r>
          </a:p>
        </p:txBody>
      </p:sp>
      <p:sp>
        <p:nvSpPr>
          <p:cNvPr id="9" name="TextBox 8"/>
          <p:cNvSpPr txBox="1"/>
          <p:nvPr/>
        </p:nvSpPr>
        <p:spPr>
          <a:xfrm>
            <a:off x="548640" y="3793620"/>
            <a:ext cx="8046720" cy="267034"/>
          </a:xfrm>
          <a:prstGeom prst="rect">
            <a:avLst/>
          </a:prstGeom>
          <a:noFill/>
        </p:spPr>
        <p:txBody>
          <a:bodyPr wrap="square" lIns="0" rIns="0" tIns="0" bIns="0">
            <a:spAutoFit/>
          </a:bodyPr>
          <a:lstStyle/>
          <a:p>
            <a:pPr algn="l">
              <a:lnSpc>
                <a:spcPct val="100000"/>
              </a:lnSpc>
              <a:spcBef>
                <a:spcPts val="0"/>
              </a:spcBef>
              <a:spcAft>
                <a:spcPts val="0"/>
              </a:spcAft>
            </a:pPr>
            <a:r>
              <a:rPr sz="1250" b="0" lang="ja-JP">
                <a:solidFill>
                  <a:srgbClr val="626669"/>
                </a:solidFill>
                <a:latin typeface="Noto Sans"/>
                <a:ea typeface="Noto Sans CJK JP"/>
                <a:cs typeface="Noto Sans"/>
              </a:rPr>
              <a:t>Devlin, J., Chang, M.-W., Lee, K., &amp; Toutanova, K. (2019). NAACL-HLT, pp. 4171–4186.</a:t>
            </a:r>
          </a:p>
        </p:txBody>
      </p:sp>
      <p:sp>
        <p:nvSpPr>
          <p:cNvPr id="10" name="TextBox 9"/>
          <p:cNvSpPr txBox="1"/>
          <p:nvPr/>
        </p:nvSpPr>
        <p:spPr>
          <a:xfrm>
            <a:off x="548640" y="4109648"/>
            <a:ext cx="8046720" cy="622764"/>
          </a:xfrm>
          <a:prstGeom prst="rect">
            <a:avLst/>
          </a:prstGeom>
          <a:noFill/>
        </p:spPr>
        <p:txBody>
          <a:bodyPr wrap="square" lIns="0" rIns="0" tIns="0" bIns="0">
            <a:spAutoFit/>
          </a:bodyPr>
          <a:lstStyle/>
          <a:p>
            <a:pPr algn="l">
              <a:lnSpc>
                <a:spcPct val="100000"/>
              </a:lnSpc>
              <a:spcBef>
                <a:spcPts val="0"/>
              </a:spcBef>
              <a:spcAft>
                <a:spcPts val="0"/>
              </a:spcAft>
            </a:pPr>
            <a:r>
              <a:rPr sz="1700" b="0" lang="ja-JP">
                <a:solidFill>
                  <a:srgbClr val="303437"/>
                </a:solidFill>
                <a:latin typeface="Noto Sans"/>
                <a:ea typeface="Noto Sans CJK JP"/>
                <a:cs typeface="Noto Sans"/>
              </a:rPr>
              <a:t>BERTの原著論文。双方向の事前学習と微調整を提案し、SQuADなどで評価する。</a:t>
            </a:r>
          </a:p>
        </p:txBody>
      </p:sp>
      <p:sp>
        <p:nvSpPr>
          <p:cNvPr id="11" name="TextBox 10"/>
          <p:cNvSpPr txBox="1"/>
          <p:nvPr/>
        </p:nvSpPr>
        <p:spPr>
          <a:xfrm>
            <a:off x="548640" y="4731804"/>
            <a:ext cx="8046720" cy="223877"/>
          </a:xfrm>
          <a:prstGeom prst="rect">
            <a:avLst/>
          </a:prstGeom>
          <a:noFill/>
        </p:spPr>
        <p:txBody>
          <a:bodyPr wrap="square" lIns="0" rIns="0" tIns="0" bIns="0">
            <a:spAutoFit/>
          </a:bodyPr>
          <a:lstStyle/>
          <a:p>
            <a:pPr algn="l">
              <a:lnSpc>
                <a:spcPct val="100000"/>
              </a:lnSpc>
              <a:spcBef>
                <a:spcPts val="0"/>
              </a:spcBef>
              <a:spcAft>
                <a:spcPts val="0"/>
              </a:spcAft>
            </a:pPr>
            <a:r>
              <a:rPr sz="1000" b="0" lang="ja-JP">
                <a:solidFill>
                  <a:srgbClr val="626669"/>
                </a:solidFill>
                <a:latin typeface="Noto Sans"/>
                <a:ea typeface="Noto Sans CJK JP"/>
                <a:cs typeface="Noto Sans"/>
                <a:hlinkClick r:id="rId3"/>
              </a:rPr>
              <a:t>https://aclanthology.org/N19-1423/</a:t>
            </a:r>
          </a:p>
        </p:txBody>
      </p:sp>
      <p:sp>
        <p:nvSpPr>
          <p:cNvPr id="12" name="Rectangle 11"/>
          <p:cNvSpPr/>
          <p:nvPr/>
        </p:nvSpPr>
        <p:spPr>
          <a:xfrm>
            <a:off x="548640" y="2852928"/>
            <a:ext cx="8046720" cy="7620"/>
          </a:xfrm>
          <a:prstGeom prst="rect">
            <a:avLst/>
          </a:prstGeom>
          <a:solidFill>
            <a:srgbClr val="C9CC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sz="2800">
                <a:latin typeface="Noto Sans"/>
              </a:rPr>
              <a:t/>
            </a:r>
          </a:p>
        </p:txBody>
      </p:sp>
      <p:sp>
        <p:nvSpPr>
          <p:cNvPr id="3" name="Title 2"/>
          <p:cNvSpPr>
            <a:spLocks noGrp="1"/>
          </p:cNvSpPr>
          <p:nvPr>
            <p:ph type="title" idx="2"/>
          </p:nvPr>
        </p:nvSpPr>
        <p:spPr/>
        <p:txBody>
          <a:bodyPr anchor="ctr" tIns="0" bIns="0"/>
          <a:lstStyle/>
          <a:p>
            <a:pPr>
              <a:lnSpc>
                <a:spcPct val="100000"/>
              </a:lnSpc>
              <a:spcBef>
                <a:spcPts val="0"/>
              </a:spcBef>
              <a:spcAft>
                <a:spcPts val="0"/>
              </a:spcAft>
            </a:pPr>
            <a:r>
              <a:rPr sz="1400" b="1" lang="ja-JP">
                <a:solidFill>
                  <a:srgbClr val="FFFEF8"/>
                </a:solidFill>
                <a:latin typeface="Noto Sans"/>
                <a:ea typeface="Noto Sans CJK JP"/>
                <a:cs typeface="Noto Sans"/>
              </a:rPr>
              <a:t>Appendix: 6. 参考文献</a:t>
            </a:r>
          </a:p>
        </p:txBody>
      </p:sp>
      <p:sp>
        <p:nvSpPr>
          <p:cNvPr id="4" name="TextBox 3"/>
          <p:cNvSpPr txBox="1"/>
          <p:nvPr/>
        </p:nvSpPr>
        <p:spPr>
          <a:xfrm>
            <a:off x="548640" y="780772"/>
            <a:ext cx="8046720" cy="734171"/>
          </a:xfrm>
          <a:prstGeom prst="rect">
            <a:avLst/>
          </a:prstGeom>
          <a:noFill/>
        </p:spPr>
        <p:txBody>
          <a:bodyPr wrap="square" lIns="0" rIns="0" tIns="0" bIns="0">
            <a:spAutoFit/>
          </a:bodyPr>
          <a:lstStyle/>
          <a:p>
            <a:pPr algn="l">
              <a:lnSpc>
                <a:spcPct val="100000"/>
              </a:lnSpc>
              <a:spcBef>
                <a:spcPts val="0"/>
              </a:spcBef>
              <a:spcAft>
                <a:spcPts val="0"/>
              </a:spcAft>
            </a:pPr>
            <a:r>
              <a:rPr sz="2100" b="1" lang="ja-JP">
                <a:solidFill>
                  <a:srgbClr val="303437"/>
                </a:solidFill>
                <a:latin typeface="Noto Sans"/>
                <a:ea typeface="Noto Sans CJK JP"/>
                <a:cs typeface="Noto Sans"/>
              </a:rPr>
              <a:t>Adversarial Examples for Evaluating Reading Comprehension Systems</a:t>
            </a:r>
          </a:p>
        </p:txBody>
      </p:sp>
      <p:sp>
        <p:nvSpPr>
          <p:cNvPr id="5" name="TextBox 4"/>
          <p:cNvSpPr txBox="1"/>
          <p:nvPr/>
        </p:nvSpPr>
        <p:spPr>
          <a:xfrm>
            <a:off x="548640" y="1533020"/>
            <a:ext cx="8046720" cy="267034"/>
          </a:xfrm>
          <a:prstGeom prst="rect">
            <a:avLst/>
          </a:prstGeom>
          <a:noFill/>
        </p:spPr>
        <p:txBody>
          <a:bodyPr wrap="square" lIns="0" rIns="0" tIns="0" bIns="0">
            <a:spAutoFit/>
          </a:bodyPr>
          <a:lstStyle/>
          <a:p>
            <a:pPr algn="l">
              <a:lnSpc>
                <a:spcPct val="100000"/>
              </a:lnSpc>
              <a:spcBef>
                <a:spcPts val="0"/>
              </a:spcBef>
              <a:spcAft>
                <a:spcPts val="0"/>
              </a:spcAft>
            </a:pPr>
            <a:r>
              <a:rPr sz="1250" b="0" lang="ja-JP">
                <a:solidFill>
                  <a:srgbClr val="626669"/>
                </a:solidFill>
                <a:latin typeface="Noto Sans"/>
                <a:ea typeface="Noto Sans CJK JP"/>
                <a:cs typeface="Noto Sans"/>
              </a:rPr>
              <a:t>Jia, R., &amp; Liang, P. (2017). EMNLP, pp. 2021–2031.</a:t>
            </a:r>
          </a:p>
        </p:txBody>
      </p:sp>
      <p:sp>
        <p:nvSpPr>
          <p:cNvPr id="6" name="TextBox 5"/>
          <p:cNvSpPr txBox="1"/>
          <p:nvPr/>
        </p:nvSpPr>
        <p:spPr>
          <a:xfrm>
            <a:off x="548640" y="1848690"/>
            <a:ext cx="8046720" cy="622764"/>
          </a:xfrm>
          <a:prstGeom prst="rect">
            <a:avLst/>
          </a:prstGeom>
          <a:noFill/>
        </p:spPr>
        <p:txBody>
          <a:bodyPr wrap="square" lIns="0" rIns="0" tIns="0" bIns="0">
            <a:spAutoFit/>
          </a:bodyPr>
          <a:lstStyle/>
          <a:p>
            <a:pPr algn="l">
              <a:lnSpc>
                <a:spcPct val="100000"/>
              </a:lnSpc>
              <a:spcBef>
                <a:spcPts val="0"/>
              </a:spcBef>
              <a:spcAft>
                <a:spcPts val="0"/>
              </a:spcAft>
            </a:pPr>
            <a:r>
              <a:rPr sz="1700" b="0" lang="ja-JP">
                <a:solidFill>
                  <a:srgbClr val="303437"/>
                </a:solidFill>
                <a:latin typeface="Noto Sans"/>
                <a:ea typeface="Noto Sans CJK JP"/>
                <a:cs typeface="Noto Sans"/>
              </a:rPr>
              <a:t>読解モデルの頑健性を調べた研究。SQuADの段落に紛らわしい文を追加して性能を検証する。</a:t>
            </a:r>
          </a:p>
        </p:txBody>
      </p:sp>
      <p:sp>
        <p:nvSpPr>
          <p:cNvPr id="7" name="TextBox 6"/>
          <p:cNvSpPr txBox="1"/>
          <p:nvPr/>
        </p:nvSpPr>
        <p:spPr>
          <a:xfrm>
            <a:off x="548640" y="2471419"/>
            <a:ext cx="8046720" cy="223877"/>
          </a:xfrm>
          <a:prstGeom prst="rect">
            <a:avLst/>
          </a:prstGeom>
          <a:noFill/>
        </p:spPr>
        <p:txBody>
          <a:bodyPr wrap="square" lIns="0" rIns="0" tIns="0" bIns="0">
            <a:spAutoFit/>
          </a:bodyPr>
          <a:lstStyle/>
          <a:p>
            <a:pPr algn="l">
              <a:lnSpc>
                <a:spcPct val="100000"/>
              </a:lnSpc>
              <a:spcBef>
                <a:spcPts val="0"/>
              </a:spcBef>
              <a:spcAft>
                <a:spcPts val="0"/>
              </a:spcAft>
            </a:pPr>
            <a:r>
              <a:rPr sz="1000" b="0" lang="ja-JP">
                <a:solidFill>
                  <a:srgbClr val="626669"/>
                </a:solidFill>
                <a:latin typeface="Noto Sans"/>
                <a:ea typeface="Noto Sans CJK JP"/>
                <a:cs typeface="Noto Sans"/>
                <a:hlinkClick r:id="rId2"/>
              </a:rPr>
              <a:t>https://aclanthology.org/D17-1215/</a:t>
            </a:r>
          </a:p>
        </p:txBody>
      </p:sp>
      <p:sp>
        <p:nvSpPr>
          <p:cNvPr id="8" name="TextBox 7"/>
          <p:cNvSpPr txBox="1"/>
          <p:nvPr/>
        </p:nvSpPr>
        <p:spPr>
          <a:xfrm>
            <a:off x="548640" y="3041374"/>
            <a:ext cx="8046720" cy="414132"/>
          </a:xfrm>
          <a:prstGeom prst="rect">
            <a:avLst/>
          </a:prstGeom>
          <a:noFill/>
        </p:spPr>
        <p:txBody>
          <a:bodyPr wrap="square" lIns="0" rIns="0" tIns="0" bIns="0">
            <a:spAutoFit/>
          </a:bodyPr>
          <a:lstStyle/>
          <a:p>
            <a:pPr algn="l">
              <a:lnSpc>
                <a:spcPct val="100000"/>
              </a:lnSpc>
              <a:spcBef>
                <a:spcPts val="0"/>
              </a:spcBef>
              <a:spcAft>
                <a:spcPts val="0"/>
              </a:spcAft>
            </a:pPr>
            <a:r>
              <a:rPr sz="2100" b="1" lang="ja-JP">
                <a:solidFill>
                  <a:srgbClr val="303437"/>
                </a:solidFill>
                <a:latin typeface="Noto Sans"/>
                <a:ea typeface="Noto Sans CJK JP"/>
                <a:cs typeface="Noto Sans"/>
              </a:rPr>
              <a:t>SQuAD-explorer</a:t>
            </a:r>
          </a:p>
        </p:txBody>
      </p:sp>
      <p:sp>
        <p:nvSpPr>
          <p:cNvPr id="9" name="TextBox 8"/>
          <p:cNvSpPr txBox="1"/>
          <p:nvPr/>
        </p:nvSpPr>
        <p:spPr>
          <a:xfrm>
            <a:off x="548640" y="3488028"/>
            <a:ext cx="8046720" cy="281482"/>
          </a:xfrm>
          <a:prstGeom prst="rect">
            <a:avLst/>
          </a:prstGeom>
          <a:noFill/>
        </p:spPr>
        <p:txBody>
          <a:bodyPr wrap="square" lIns="0" rIns="0" tIns="0" bIns="0">
            <a:spAutoFit/>
          </a:bodyPr>
          <a:lstStyle/>
          <a:p>
            <a:pPr algn="l">
              <a:lnSpc>
                <a:spcPct val="100000"/>
              </a:lnSpc>
              <a:spcBef>
                <a:spcPts val="0"/>
              </a:spcBef>
              <a:spcAft>
                <a:spcPts val="0"/>
              </a:spcAft>
            </a:pPr>
            <a:r>
              <a:rPr sz="1250" b="0" lang="ja-JP">
                <a:solidFill>
                  <a:srgbClr val="626669"/>
                </a:solidFill>
                <a:latin typeface="Noto Sans"/>
                <a:ea typeface="Noto Sans CJK JP"/>
                <a:cs typeface="Noto Sans"/>
              </a:rPr>
              <a:t>Rajpurkar, P., et al. (n.d.). GitHub repository. 参照 2026-10-15.</a:t>
            </a:r>
          </a:p>
        </p:txBody>
      </p:sp>
      <p:sp>
        <p:nvSpPr>
          <p:cNvPr id="10" name="TextBox 9"/>
          <p:cNvSpPr txBox="1"/>
          <p:nvPr/>
        </p:nvSpPr>
        <p:spPr>
          <a:xfrm>
            <a:off x="548640" y="3803699"/>
            <a:ext cx="8046720" cy="622764"/>
          </a:xfrm>
          <a:prstGeom prst="rect">
            <a:avLst/>
          </a:prstGeom>
          <a:noFill/>
        </p:spPr>
        <p:txBody>
          <a:bodyPr wrap="square" lIns="0" rIns="0" tIns="0" bIns="0">
            <a:spAutoFit/>
          </a:bodyPr>
          <a:lstStyle/>
          <a:p>
            <a:pPr algn="l">
              <a:lnSpc>
                <a:spcPct val="100000"/>
              </a:lnSpc>
              <a:spcBef>
                <a:spcPts val="0"/>
              </a:spcBef>
              <a:spcAft>
                <a:spcPts val="0"/>
              </a:spcAft>
            </a:pPr>
            <a:r>
              <a:rPr sz="1700" b="0" lang="ja-JP">
                <a:solidFill>
                  <a:srgbClr val="303437"/>
                </a:solidFill>
                <a:latin typeface="Noto Sans"/>
                <a:ea typeface="Noto Sans CJK JP"/>
                <a:cs typeface="Noto Sans"/>
              </a:rPr>
              <a:t>SQuADの公式配布リポジトリ。公開JSON、EM・F1の評価スクリプトと提出形式を提供する。</a:t>
            </a:r>
          </a:p>
        </p:txBody>
      </p:sp>
      <p:sp>
        <p:nvSpPr>
          <p:cNvPr id="11" name="TextBox 10"/>
          <p:cNvSpPr txBox="1"/>
          <p:nvPr/>
        </p:nvSpPr>
        <p:spPr>
          <a:xfrm>
            <a:off x="548640" y="4426441"/>
            <a:ext cx="8046720" cy="223877"/>
          </a:xfrm>
          <a:prstGeom prst="rect">
            <a:avLst/>
          </a:prstGeom>
          <a:noFill/>
        </p:spPr>
        <p:txBody>
          <a:bodyPr wrap="square" lIns="0" rIns="0" tIns="0" bIns="0">
            <a:spAutoFit/>
          </a:bodyPr>
          <a:lstStyle/>
          <a:p>
            <a:pPr algn="l">
              <a:lnSpc>
                <a:spcPct val="100000"/>
              </a:lnSpc>
              <a:spcBef>
                <a:spcPts val="0"/>
              </a:spcBef>
              <a:spcAft>
                <a:spcPts val="0"/>
              </a:spcAft>
            </a:pPr>
            <a:r>
              <a:rPr sz="1000" b="0" lang="ja-JP">
                <a:solidFill>
                  <a:srgbClr val="626669"/>
                </a:solidFill>
                <a:latin typeface="Noto Sans"/>
                <a:ea typeface="Noto Sans CJK JP"/>
                <a:cs typeface="Noto Sans"/>
                <a:hlinkClick r:id="rId3"/>
              </a:rPr>
              <a:t>https://github.com/rajpurkar/SQuAD-explorer</a:t>
            </a:r>
          </a:p>
        </p:txBody>
      </p:sp>
      <p:sp>
        <p:nvSpPr>
          <p:cNvPr id="12" name="Rectangle 11"/>
          <p:cNvSpPr/>
          <p:nvPr/>
        </p:nvSpPr>
        <p:spPr>
          <a:xfrm>
            <a:off x="548640" y="2852928"/>
            <a:ext cx="8046720" cy="7620"/>
          </a:xfrm>
          <a:prstGeom prst="rect">
            <a:avLst/>
          </a:prstGeom>
          <a:solidFill>
            <a:srgbClr val="C9CC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読解型質問応答用データセット SQuAD</dc:title>
  <dc:subject>SQuAD introduction and appendix</dc:subject>
  <dc:creator/>
  <dc:language>ja-JP</dc:language>
</cp:coreProperties>
</file>