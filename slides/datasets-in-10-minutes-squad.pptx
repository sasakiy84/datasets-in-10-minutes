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63" r:id="rId2"/>
    <p:sldId id="359" r:id="rId26"/>
    <p:sldId id="264" r:id="rId15"/>
    <p:sldId id="265" r:id="rId16"/>
    <p:sldId id="266" r:id="rId17"/>
    <p:sldId id="267" r:id="rId18"/>
    <p:sldId id="269" r:id="rId20"/>
    <p:sldId id="350" r:id="rId101"/>
    <p:sldId id="259" r:id="rId6"/>
    <p:sldId id="360" r:id="rId10"/>
    <p:sldId id="258" r:id="rId9"/>
    <p:sldId id="261" r:id="rId4"/>
    <p:sldId id="262" r:id="rId3"/>
    <p:sldId id="361" r:id="rId107"/>
    <p:sldId id="268" r:id="rId19"/>
    <p:sldId id="270" r:id="rId21"/>
    <p:sldId id="273" r:id="rId24"/>
    <p:sldId id="331" r:id="rId82"/>
    <p:sldId id="332" r:id="rId83"/>
    <p:sldId id="272" r:id="rId23"/>
    <p:sldId id="329" r:id="rId80"/>
    <p:sldId id="330" r:id="rId81"/>
    <p:sldId id="271" r:id="rId22"/>
    <p:sldId id="351" r:id="rId102"/>
    <p:sldId id="274" r:id="rId25"/>
    <p:sldId id="362" r:id="rId108"/>
    <p:sldId id="363" r:id="rId109"/>
    <p:sldId id="352" r:id="rId103"/>
    <p:sldId id="276" r:id="rId27"/>
    <p:sldId id="278" r:id="rId29"/>
    <p:sldId id="277" r:id="rId28"/>
    <p:sldId id="364" r:id="rId110"/>
    <p:sldId id="365" r:id="rId111"/>
    <p:sldId id="353" r:id="rId104"/>
    <p:sldId id="260" r:id="rId5"/>
    <p:sldId id="366" r:id="rId112"/>
    <p:sldId id="279" r:id="rId30"/>
    <p:sldId id="367" r:id="rId113"/>
    <p:sldId id="354" r:id="rId105"/>
    <p:sldId id="280" r:id="rId31"/>
    <p:sldId id="281" r:id="rId32"/>
    <p:sldId id="368" r:id="rId114"/>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39.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9.xml"/><Relationship Id="rId20" Type="http://schemas.openxmlformats.org/officeDocument/2006/relationships/slide" Target="slides/slide11.xml"/><Relationship Id="rId21" Type="http://schemas.openxmlformats.org/officeDocument/2006/relationships/slide" Target="slides/slide20.xml"/><Relationship Id="rId22" Type="http://schemas.openxmlformats.org/officeDocument/2006/relationships/slide" Target="slides/slide27.xml"/><Relationship Id="rId23" Type="http://schemas.openxmlformats.org/officeDocument/2006/relationships/slide" Target="slides/slide24.xml"/><Relationship Id="rId24" Type="http://schemas.openxmlformats.org/officeDocument/2006/relationships/slide" Target="slides/slide21.xml"/><Relationship Id="rId25" Type="http://schemas.openxmlformats.org/officeDocument/2006/relationships/slide" Target="slides/slide29.xml"/><Relationship Id="rId26" Type="http://schemas.openxmlformats.org/officeDocument/2006/relationships/slide" Target="slides/slide6.xml"/><Relationship Id="rId27" Type="http://schemas.openxmlformats.org/officeDocument/2006/relationships/slide" Target="slides/slide33.xml"/><Relationship Id="rId28" Type="http://schemas.openxmlformats.org/officeDocument/2006/relationships/slide" Target="slides/slide35.xml"/><Relationship Id="rId29" Type="http://schemas.openxmlformats.org/officeDocument/2006/relationships/slide" Target="slides/slide34.xml"/><Relationship Id="rId30" Type="http://schemas.openxmlformats.org/officeDocument/2006/relationships/slide" Target="slides/slide41.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109.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slide" Target="slides/slide51.xml"/><Relationship Id="rId38" Type="http://schemas.openxmlformats.org/officeDocument/2006/relationships/slide" Target="slides/slide52.xml"/><Relationship Id="rId39" Type="http://schemas.openxmlformats.org/officeDocument/2006/relationships/slide" Target="slides/slide53.xml"/><Relationship Id="rId40" Type="http://schemas.openxmlformats.org/officeDocument/2006/relationships/slide" Target="slides/slide54.xml"/><Relationship Id="rId41" Type="http://schemas.openxmlformats.org/officeDocument/2006/relationships/slide" Target="slides/slide55.xml"/><Relationship Id="rId42" Type="http://schemas.openxmlformats.org/officeDocument/2006/relationships/slide" Target="slides/slide56.xml"/><Relationship Id="rId43" Type="http://schemas.openxmlformats.org/officeDocument/2006/relationships/slide" Target="slides/slide57.xml"/><Relationship Id="rId44" Type="http://schemas.openxmlformats.org/officeDocument/2006/relationships/slide" Target="slides/slide58.xml"/><Relationship Id="rId45" Type="http://schemas.openxmlformats.org/officeDocument/2006/relationships/slide" Target="slides/slide59.xml"/><Relationship Id="rId46" Type="http://schemas.openxmlformats.org/officeDocument/2006/relationships/slide" Target="slides/slide60.xml"/><Relationship Id="rId47" Type="http://schemas.openxmlformats.org/officeDocument/2006/relationships/slide" Target="slides/slide61.xml"/><Relationship Id="rId48" Type="http://schemas.openxmlformats.org/officeDocument/2006/relationships/slide" Target="slides/slide62.xml"/><Relationship Id="rId49" Type="http://schemas.openxmlformats.org/officeDocument/2006/relationships/slide" Target="slides/slide63.xml"/><Relationship Id="rId50" Type="http://schemas.openxmlformats.org/officeDocument/2006/relationships/slide" Target="slides/slide64.xml"/><Relationship Id="rId51" Type="http://schemas.openxmlformats.org/officeDocument/2006/relationships/slide" Target="slides/slide65.xml"/><Relationship Id="rId52" Type="http://schemas.openxmlformats.org/officeDocument/2006/relationships/slide" Target="slides/slide84.xml"/><Relationship Id="rId53" Type="http://schemas.openxmlformats.org/officeDocument/2006/relationships/slide" Target="slides/slide85.xml"/><Relationship Id="rId54" Type="http://schemas.openxmlformats.org/officeDocument/2006/relationships/slide" Target="slides/slide86.xml"/><Relationship Id="rId55" Type="http://schemas.openxmlformats.org/officeDocument/2006/relationships/slide" Target="slides/slide87.xml"/><Relationship Id="rId56" Type="http://schemas.openxmlformats.org/officeDocument/2006/relationships/slide" Target="slides/slide88.xml"/><Relationship Id="rId57" Type="http://schemas.openxmlformats.org/officeDocument/2006/relationships/slide" Target="slides/slide89.xml"/><Relationship Id="rId58" Type="http://schemas.openxmlformats.org/officeDocument/2006/relationships/slide" Target="slides/slide90.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3.xml"/><Relationship Id="rId62" Type="http://schemas.openxmlformats.org/officeDocument/2006/relationships/slide" Target="slides/slide94.xml"/><Relationship Id="rId63" Type="http://schemas.openxmlformats.org/officeDocument/2006/relationships/slide" Target="slides/slide95.xml"/><Relationship Id="rId64" Type="http://schemas.openxmlformats.org/officeDocument/2006/relationships/slide" Target="slides/slide96.xml"/><Relationship Id="rId65" Type="http://schemas.openxmlformats.org/officeDocument/2006/relationships/slide" Target="slides/slide97.xml"/><Relationship Id="rId66" Type="http://schemas.openxmlformats.org/officeDocument/2006/relationships/slide" Target="slides/slide98.xml"/><Relationship Id="rId67" Type="http://schemas.openxmlformats.org/officeDocument/2006/relationships/slide" Target="slides/slide99.xml"/><Relationship Id="rId68" Type="http://schemas.openxmlformats.org/officeDocument/2006/relationships/slide" Target="slides/slide100.xml"/><Relationship Id="rId69" Type="http://schemas.openxmlformats.org/officeDocument/2006/relationships/slide" Target="slides/slide101.xml"/><Relationship Id="rId70" Type="http://schemas.openxmlformats.org/officeDocument/2006/relationships/slide" Target="slides/slide102.xml"/><Relationship Id="rId71" Type="http://schemas.openxmlformats.org/officeDocument/2006/relationships/slide" Target="slides/slide103.xml"/><Relationship Id="rId72" Type="http://schemas.openxmlformats.org/officeDocument/2006/relationships/slide" Target="slides/slide104.xml"/><Relationship Id="rId73" Type="http://schemas.openxmlformats.org/officeDocument/2006/relationships/slide" Target="slides/slide105.xml"/><Relationship Id="rId74" Type="http://schemas.openxmlformats.org/officeDocument/2006/relationships/slide" Target="slides/slide108.xml"/><Relationship Id="rId75" Type="http://schemas.openxmlformats.org/officeDocument/2006/relationships/slide" Target="slides/slide106.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25.xml"/><Relationship Id="rId81" Type="http://schemas.openxmlformats.org/officeDocument/2006/relationships/slide" Target="slides/slide26.xml"/><Relationship Id="rId82" Type="http://schemas.openxmlformats.org/officeDocument/2006/relationships/slide" Target="slides/slide22.xml"/><Relationship Id="rId83" Type="http://schemas.openxmlformats.org/officeDocument/2006/relationships/slide" Target="slides/slide23.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10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2.xml"/><Relationship Id="rId102" Type="http://schemas.openxmlformats.org/officeDocument/2006/relationships/slide" Target="slides/slide28.xml"/><Relationship Id="rId103" Type="http://schemas.openxmlformats.org/officeDocument/2006/relationships/slide" Target="slides/slide32.xml"/><Relationship Id="rId104" Type="http://schemas.openxmlformats.org/officeDocument/2006/relationships/slide" Target="slides/slide38.xml"/><Relationship Id="rId105" Type="http://schemas.openxmlformats.org/officeDocument/2006/relationships/slide" Target="slides/slide43.xml"/><Relationship Id="rId106" Type="http://schemas.openxmlformats.org/officeDocument/2006/relationships/slide" Target="slides/slide47.xml"/><Relationship Id="rId107" Type="http://schemas.openxmlformats.org/officeDocument/2006/relationships/slide" Target="slides/slide18.xml"/><Relationship Id="rId108" Type="http://schemas.openxmlformats.org/officeDocument/2006/relationships/slide" Target="slides/slide30.xml"/><Relationship Id="rId109" Type="http://schemas.openxmlformats.org/officeDocument/2006/relationships/slide" Target="slides/slide31.xml"/><Relationship Id="rId110" Type="http://schemas.openxmlformats.org/officeDocument/2006/relationships/slide" Target="slides/slide36.xml"/><Relationship Id="rId111" Type="http://schemas.openxmlformats.org/officeDocument/2006/relationships/slide" Target="slides/slide37.xml"/><Relationship Id="rId112" Type="http://schemas.openxmlformats.org/officeDocument/2006/relationships/slide" Target="slides/slide40.xml"/><Relationship Id="rId113" Type="http://schemas.openxmlformats.org/officeDocument/2006/relationships/slide" Target="slides/slide42.xml"/><Relationship Id="rId114"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wrap="none"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ajpurkar.github.io/SQuAD-explor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3-1020/" TargetMode="External"/><Relationship Id="rId3" Type="http://schemas.openxmlformats.org/officeDocument/2006/relationships/hyperlink" Target="https://aclanthology.org/D16-12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deepmind/rc-data" TargetMode="External"/><Relationship Id="rId3" Type="http://schemas.openxmlformats.org/officeDocument/2006/relationships/hyperlink" Target="https://aclanthology.org/D16-12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github.com/rajpurkar/SQuAD-explorer/tree/master/datase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8-212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evaluate/blob/main/metrics/squad/compute_score.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 Id="rId3" Type="http://schemas.openxmlformats.org/officeDocument/2006/relationships/hyperlink" Target="https://github.com/huggingface/evaluate/blob/main/metrics/squad_v2/squad_v2.py"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DeBERTa"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meta-llama/llama-models/blob/main/models/llama3_1/eval_details.md"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423/" TargetMode="External"/><Relationship Id="rId3" Type="http://schemas.openxmlformats.org/officeDocument/2006/relationships/hyperlink" Target="https://github.com/meta-llama/llama-models/blob/main/models/llama3_1/eval_details.md"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eval_detail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otpotqa/hotpo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huggingface/evaluate/blob/main/metrics/squad_v2/squad_v2.p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DM/LongBen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 Id="rId3" Type="http://schemas.openxmlformats.org/officeDocument/2006/relationships/hyperlink" Target="https://creativecommons.org/licenses/by-sa/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stanford-crfm/helm" TargetMode="External"/><Relationship Id="rId5" Type="http://schemas.openxmlformats.org/officeDocument/2006/relationships/hyperlink" Target="https://github.com/stanfordmlgroup/chexpert-label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 TargetMode="External"/><Relationship Id="rId3" Type="http://schemas.openxmlformats.org/officeDocument/2006/relationships/hyperlink" Target="https://rajpurkar.github.io/SQuAD-explorer/dataset/&quot;"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63116"/>
            <a:ext cx="8229600" cy="2926080"/>
          </a:xfrm>
        </p:spPr>
        <p:txBody>
          <a:bodyPr wrap="square" anchor="ctr" lIns="0" rIns="0" tIns="0" bIns="0">
            <a:noAutofit/>
          </a:bodyPr>
          <a:lstStyle/>
          <a:p>
            <a:pPr algn="ctr" marL="0" indent="0">
              <a:lnSpc>
                <a:spcPct val="100000"/>
              </a:lnSpc>
              <a:spcBef>
                <a:spcPts val="0"/>
              </a:spcBef>
              <a:spcAft>
                <a:spcPts val="1000"/>
              </a:spcAft>
              <a:buNone/>
              <a:defRPr sz="3400" lang="ja-JP">
                <a:latin typeface="Noto Sans"/>
                <a:ea typeface="Noto Sans CJK JP"/>
                <a:cs typeface="Noto Sans"/>
              </a:defRPr>
            </a:pPr>
            <a:r>
              <a:rPr sz="2800" b="0" lang="ja-JP">
                <a:solidFill>
                  <a:srgbClr val="303437"/>
                </a:solidFill>
                <a:latin typeface="Noto Sans"/>
                <a:ea typeface="Noto Sans CJK JP"/>
              </a:rPr>
              <a:t>読解型質問応答用データセット</a:t>
            </a:r>
            <a:endParaRPr sz="3400" lang="ja-JP">
              <a:latin typeface="Noto Sans"/>
              <a:ea typeface="Noto Sans CJK JP"/>
              <a:cs typeface="Noto Sans"/>
            </a:endParaRPr>
          </a:p>
          <a:p>
            <a:pPr algn="ctr">
              <a:lnSpc>
                <a:spcPct val="100000"/>
              </a:lnSpc>
              <a:spcBef>
                <a:spcPts val="0"/>
              </a:spcBef>
              <a:spcAft>
                <a:spcPts val="1000"/>
              </a:spcAft>
            </a:pPr>
            <a:r>
              <a:rPr sz="5600" b="1" lang="ja-JP">
                <a:solidFill>
                  <a:srgbClr val="303437"/>
                </a:solidFill>
                <a:latin typeface="Noto Sans"/>
                <a:ea typeface="Noto Sans CJK JP"/>
              </a:rPr>
              <a:t>SQuAD</a:t>
            </a:r>
          </a:p>
          <a:p>
            <a:pPr algn="ctr">
              <a:lnSpc>
                <a:spcPct val="100000"/>
              </a:lnSpc>
              <a:spcBef>
                <a:spcPts val="0"/>
              </a:spcBef>
              <a:spcAft>
                <a:spcPts val="0"/>
              </a:spcAft>
            </a:pPr>
            <a:r>
              <a:rPr sz="2400" b="0" lang="ja-JP">
                <a:solidFill>
                  <a:srgbClr val="303437"/>
                </a:solidFill>
                <a:latin typeface="Noto Sans"/>
                <a:ea typeface="Noto Sans CJK JP"/>
              </a:rPr>
              <a:t>Stanford Question Answering Dataset</a:t>
            </a: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SQuADの読解課題と版ごとの違い</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質問・回答の作成方法と収録規模</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読解の評価指標とモデル性能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質問応答データの入手方法と利用条件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SQuADの読解課題と版ごとの違い</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3"/>
              </a:rPr>
              <a:t>https://rajpurkar.github.io/SQuAD-explorer/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段落と質問を入力し答えの範囲を選ぶ</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読解型質問応答は、文章を根拠に質問へ答える課題である。SQuADでは、英語Wikipediaの記事から選んだ1段落と、その段落に対する質問を入力する。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答えは、段落内にある連続した語句を選ぶ。固有名詞・年・数量に限らず、複数語からなる表現も正解となる。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バージョン2.0には段落から答えられない質問もあり、答えの抽出に加えて回答を控える判断を行う。</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記事の中の段落に複数の質問と正解が付く</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配布データの全体は記事の集合である。各記事には複数の段落があり、それぞれの段落に質問と正解回答が付く。</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contextは入力となる1段落、questionはその段落への質問、answersは正解の文字列と段落内の開始位置を表す。</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モデルには、その質問に対応する段落を渡す。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Super_Bowl_50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56be4db0acb8001400a502ec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Nikola_Tesla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56df9ee138dc421700152108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57112686b654c5140001fbd7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 の側が王に忠誠を誓う。王が誰に誓ったかは記載されていない。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Normans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5ad39d53604f3c001a3fe8d3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バージョン2.0では、回答不能な質問を追加する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質問・回答の作成方法と収録規模</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MCTestは物語を読んで4択の質問に答える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MCTest（2013）は、短い物語を読み、4つの選択肢から質問の答えを選ぶ読解データセットである。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これに対しSQuADは、百科事典Wikipediaの段落を読み、答えの表現を本文中から選ぶ。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選択肢を選ぶ形式から、段落内の任意の連続した回答範囲を特定する形式へ変わる。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Richardson et al. (2013). EMNLP. MCTest: A Challenge Dataset for the Open-Domain Machine Comprehension of Text.</a:t>
            </a:r>
          </a:p>
        </p:txBody>
      </p:sp>
      <p:sp>
        <p:nvSpPr>
          <p:cNvPr id="6" name="TextBox 5"/>
          <p:cNvSpPr txBox="1"/>
          <p:nvPr/>
        </p:nvSpPr>
        <p:spPr>
          <a:xfrm>
            <a:off x="6266263" y="4361713"/>
            <a:ext cx="242053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https://aclanthology.org/D13-1020/</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(2016). EMNLP, pp. 2383–2392. SQuAD: 100,000+ Questions for Machine Comprehension of Text.</a:t>
            </a:r>
          </a:p>
        </p:txBody>
      </p:sp>
      <p:sp>
        <p:nvSpPr>
          <p:cNvPr id="8" name="TextBox 7"/>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750" b="1" lang="ja-JP">
                <a:solidFill>
                  <a:srgbClr val="303437"/>
                </a:solidFill>
                <a:latin typeface="Noto Sans"/>
                <a:ea typeface="Noto Sans CJK JP"/>
                <a:cs typeface="Noto Sans"/>
              </a:rPr>
              <a:t>ニュースから穴埋め問題を作るCNN／Daily Mail</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CNN／Daily Mail（2015）は、ニュースの要約文で固有表現を伏せ、元記事を根拠に埋める問題を自動作成した。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これに対しSQuADでは、人が段落を読んで質問を書き、固有表現に限らない回答範囲を選ぶ。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人手による質問の多様性と、ニューラルモデルを学習・評価できる規模の両立を目指した。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人手による多様な読解問題を大規模に収集する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先行する読解データは、人手作成では小規模、自動作成では質問や正解の形式が限定されていた。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SQuADは、Wikipediaの段落に人が質問と回答範囲を付け、自然な読解問題を大量に用意することを目的とした。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2016年の原著は、500以上の記事から10万問以上を作成したと報告した。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記事を選び段落単位で質問の素材にする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英語Wikipediaの記事を、リンク関係に基づく重要度PageRankで順位付けし、上位10,000記事から536記事を無作為に選んだ。</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原著は、各記事から段落を取り出し、500文字未満を除いたと説明する。学習・開発・テストは記事単位で分けた。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公開バージョン1.1の学習用・開発用には、20,963段落のうち500文字未満の段落が2,874件ある。</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5395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https://github.com/rajpurkar/SQuAD-explorer/tree/master/dataset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段落を読んで質問と最小限の回答範囲を作る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オンラインで作業を依頼するAmazon Mechanical Turkを使い、作業者へ段落を提示した。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作業者は、その段落だけから答えられる質問を最大5問作った。段落の文をコピーせず、自分の言葉で質問を書くよう指示された。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答えとなる最小限の連続した範囲を段落内で選んだ。この範囲が、回答位置を予測するモデルの学習用の正解となる。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追加の正解回答で表現の違いを許容する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開発用・テスト用では、作成済みの質問へ別の作業者が追加の回答範囲を指定した。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同じ質問にも、長さや表現が異なる妥当な回答がありうるため、1問に複数の正解を持たせる。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評価では各正解との一致を計算し、その中で最も高い得点を質問の得点とする。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初版では、どの質問にも段落内に答えがあった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作業者が各段落に対し、回答不能な質問を最大5問作成した。</a:t>
            </a:r>
            <a:endParaRPr sz="21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段落の話題に関連し、回答可能な質問に見えるようにする。</a:t>
            </a:r>
            <a:endParaRPr sz="20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段落内に、答えに見える候補がある質問にする。</a:t>
            </a:r>
            <a:endParaRPr sz="20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記事・段落ごとの作業を分配し、人手で50,000問以上を追加。</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回答範囲の抽出と、回答保留の判断を評価する。</a:t>
            </a:r>
            <a:endParaRPr sz="21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(2018). ACL, pp. 784–789. Know What You Don’t Know: Unanswerable Questions for SQuAD. §1, §3</a:t>
            </a:r>
          </a:p>
        </p:txBody>
      </p:sp>
      <p:sp>
        <p:nvSpPr>
          <p:cNvPr id="6" name="TextBox 5"/>
          <p:cNvSpPr txBox="1"/>
          <p:nvPr/>
        </p:nvSpPr>
        <p:spPr>
          <a:xfrm>
            <a:off x="6098038" y="4717326"/>
            <a:ext cx="258876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https://aclanthology.org/P18-2124/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SQuAD各版の質問数・回答不能数・記事数</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45560"/>
            <a:ext cx="8046720" cy="658368"/>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記事数は、質問の元となったWikipedia記事の数。</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バージョン2.0は同じ記事に回答不能な質問を追加。</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 train / dev JSON の全件集計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前後に大量の空白が含まれる質問を1件確認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主要統計は前後空白だけを除去し、本文の文字は保持。</a:t>
            </a:r>
            <a:endParaRPr sz="23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572fdefb947a6a140053cd8d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長い入力段落の例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Great Desert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Sahara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長い段落の原文抜粋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最大4,063文字／653単語。別々の段落。</a:t>
            </a:r>
            <a:endParaRPr sz="21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文字数は前後空白を除去／単語数は空白分割。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長い質問の例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Age_of_Enlightenment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長い質問の根拠となる原文抜粋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バージョン1.1のtrainとdevを集計。文字数は前後空白を除去し、単語数は空白で分割。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読解の評価指標とモデル性能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完全一致と単語の重なりを別々に評価する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SQuADの評価には、回答文字列が一致するかを測るExact Match（EM）と、単語の重なりを測るF1がある。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EMは、予測が正解に完全一致すれば1、それ以外は0である。F1は、一致した単語の割合を予測側と正解側で計算して組み合わせる。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どちらも、各質問で得た0〜1の得点を全質問について平均し、百分率で報告する。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Denverだけを答えると部分一致になる</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4"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graphicFrame>
        <p:nvGraphicFramePr>
          <p:cNvPr id="5" name="Table 4"/>
          <p:cNvGraphicFramePr>
            <a:graphicFrameLocks noGrp="1"/>
          </p:cNvGraphicFramePr>
          <p:nvPr/>
        </p:nvGraphicFramePr>
        <p:xfrm>
          <a:off x="548640" y="1417320"/>
          <a:ext cx="8046720" cy="2048256"/>
        </p:xfrm>
        <a:graphic>
          <a:graphicData uri="http://schemas.openxmlformats.org/drawingml/2006/table">
            <a:tbl>
              <a:tblPr firstRow="0" bandRow="0" lastRow="0" firstCol="0" lastCol="0" bandCol="0"/>
              <a:tblGrid>
                <a:gridCol w="5120640"/>
                <a:gridCol w="1463040"/>
                <a:gridCol w="1463040"/>
              </a:tblGrid>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予測（正解はDenver Broncos）</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EM</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F1</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 Broncos</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2/3</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Carolina Panthers</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r>
            </a:tbl>
          </a:graphicData>
        </a:graphic>
      </p:graphicFrame>
      <p:sp>
        <p:nvSpPr>
          <p:cNvPr id="6" name="TextBox 5"/>
          <p:cNvSpPr txBox="1"/>
          <p:nvPr/>
        </p:nvSpPr>
        <p:spPr>
          <a:xfrm>
            <a:off x="594360" y="3639312"/>
            <a:ext cx="7955279" cy="685800"/>
          </a:xfrm>
          <a:prstGeom prst="rect">
            <a:avLst/>
          </a:prstGeom>
          <a:noFill/>
        </p:spPr>
        <p:txBody>
          <a:bodyPr wrap="square" lIns="0" rIns="0" tIns="0" bIns="0">
            <a:spAutoFit/>
          </a:bodyPr>
          <a:lstStyle/>
          <a:p>
            <a:pPr>
              <a:lnSpc>
                <a:spcPct val="11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Denverだけなら、予測1語中1語が一致し、正解2語中1語を含む。適合率1と再現率1/2の調和平均は2/3となる。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表記の違いを正規化して複数正解と照合する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採点では、小文字化、句読点の除去、英語の冠詞a・an・theの除去、空白の正規化を行う。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F1の適合率Pは一致語数÷予測の語数、再現率Rは一致語数÷正解の語数である。両者の調和平均2PR÷（P＋R）を使う。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複数正解がある質問は最良の得点を採用する。バージョン2.0では、回答不能な質問に回答を控えた場合を正解として採点する。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単語一致を使うSliding Window</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SQuADバージョン1.0のテスト用で評価した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 Table 5, §6.2.</a:t>
            </a:r>
          </a:p>
        </p:txBody>
      </p:sp>
      <p:sp>
        <p:nvSpPr>
          <p:cNvPr id="7" name="TextBox 6"/>
          <p:cNvSpPr txBox="1"/>
          <p:nvPr/>
        </p:nvSpPr>
        <p:spPr>
          <a:xfrm>
            <a:off x="6677941" y="4717326"/>
            <a:ext cx="200885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過去の抽出型モデルの評価結果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BERT-Large（2018）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RoBERTa-Large（2019）</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DeBERTa-V3-Large（2021）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 2.0の学習用で微調整し、開発用で評価した公表値。答えの開始・終了位置を予測する抽出型モデルを比較する。</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Microsoftの公開結果で、SQuAD 2.0開発用のEM・F1を掲載。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https://github.com/microsoft/DeBERTa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484708"/>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661134"/>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2024-07-23公開、答え付きの例を1件示す1-shotで生成評価。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同じ段落に付いた先行する全質問と正解も入力に含める [2]。</a:t>
            </a:r>
            <a:endParaRPr sz="17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回答範囲を選ぶ方式と文章を生成する方式がある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抽出型は、段落中の開始・終了位置を予測する。読解モデルBiDAFや言語モデルBERTを使い、原文中の回答範囲を選ぶ。</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生成型は、段落と質問を受け取り、答えの文字列を生成する。大規模言語モデルLlamaも、この方式で評価される。</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抽出型は原文中の位置を、生成型は出力する語句を予測する。どちらも、得られた回答文字列をEM・F1で採点する。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Devlin et al. (2019). NAACL-HLT, pp. 4171–4186. BERT: Pre-training of Deep Bidirectional Transformers for Language Understanding.</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https://aclanthology.org/N19-1423/</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SQuADによる微調整と例示付きの生成評価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微調整では、SQuADの学習用の質問と正解を使い、モデルのパラメータを更新する。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1-shotでは、答え付きの例を1件入力に提示してから別の質問へ答えさせる。この提示だけではモデルのパラメータを更新しない。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https://github.com/meta-llama/llama-models/blob/main/models/llama3_1/eval_details.md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SQuADの利用動向と後続データ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HotpotQAは複数記事の情報を組み合わせる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HotpotQA（2018）は、複数のWikipedia記事にまたがる推論と、回答の根拠となる文の特定を扱う。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SQuADが基本的に1段落を根拠とするのに対し、HotpotQAでは文書をまたいで情報を組み合わせる。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回答文字列の正しさに加え、根拠文を選べるかも評価対象となる。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https://github.com/hotpotqa/hotpot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Natural Questionsは実際の検索質問を使う</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Natural Questions（2019）は、Google検索に入力された質問と、その回答を含むWikipediaページを使う。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回答を含む段落などの長い回答と、必要に応じて語句や固有名詞などの短い回答を指定する。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SQuADのように段落を見て質問を作るのではなく、実際の情報要求とページ全体を対応付ける。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SQuADは生成型モデルの読解評価にも使われる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SQuADは、回答範囲を選ぶモデルから、答えを生成する大規模言語モデルの評価へも用途が広がった。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2024年のLlama 3.1の評価にもSQuAD 2が含まれる。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2026-10-15の確認時点でも、モデル評価ライブラリHugging Face EvaluateはSQuAD 2.0の採点実装を公開している。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LongBench v2はより長い文脈から回答を選ぶ</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LongBench v2（2024）は、8千〜200万語の長い文脈を与え、選択肢から回答を選ぶ評価データである。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SQuADの短い段落からの回答範囲抽出と比べ、文脈長と回答形式が異なる。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https://github.com/THUDM/LongBench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質問応答データの入手方法と利用条件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質問応答データの入手方法と利用条件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バージョンごとのJSONと評価実装を入手する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公式サイトは、構造化データ形式JSONで学習用trainと開発用devを配布する。バージョン1.1と2.0のファイルを選んで取得する。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データ配布サービスHugging Face Datasetsでは、1.1はrajpurkar/squad、2.0はrajpurkar/squad_v2という名前で取得できる。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データの利用条件はCC BY-SA 4.0である。質問への予測は、対応するバージョンの公式採点実装で評価する。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https://rajpurkar.github.io/SQuAD-explorer/</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https://creativecommons.org/licenses/by-sa/4.0/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SQuADの目的・版の違いと評価方法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SQuADは、英語の読解型質問応答データセット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Wikipediaの段落から、質問の答えとなる範囲を選ぶ。</a:t>
            </a:r>
            <a:endParaRPr sz="21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人手作成の質問を大規模に評価するため、2016年に発表。</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バージョン1.1では、回答可能な質問の答えを抽出。</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バージョン2.0は回答不能な質問と回答保留も扱う </a:t>
            </a:r>
            <a:r>
              <a:rPr sz="2100" b="0" lang="ja-JP">
                <a:solidFill>
                  <a:srgbClr val="303437"/>
                </a:solidFill>
                <a:latin typeface="Noto Sans"/>
                <a:ea typeface="Noto Sans CJK JP"/>
                <a:cs typeface="Noto Sans"/>
              </a:rPr>
              <a:t>[2]</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EM・F1で評価し、大規模言語モデルの読解評価にも用いられる。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(2016). EMNLP, pp. 2383–2392. SQuAD: 100,000+ Questions for Machine Comprehension of Text.</a:t>
            </a:r>
          </a:p>
        </p:txBody>
      </p:sp>
      <p:sp>
        <p:nvSpPr>
          <p:cNvPr id="6" name="TextBox 5"/>
          <p:cNvSpPr txBox="1"/>
          <p:nvPr/>
        </p:nvSpPr>
        <p:spPr>
          <a:xfrm>
            <a:off x="5886361" y="4361713"/>
            <a:ext cx="28004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(2018). ACL, pp. 784–789. Know What You Don’t Know: Unanswerable Questions for SQuAD.</a:t>
            </a:r>
          </a:p>
        </p:txBody>
      </p:sp>
      <p:sp>
        <p:nvSpPr>
          <p:cNvPr id="8" name="TextBox 7"/>
          <p:cNvSpPr txBox="1"/>
          <p:nvPr/>
        </p:nvSpPr>
        <p:spPr>
          <a:xfrm>
            <a:off x="5644836" y="4717326"/>
            <a:ext cx="3041963"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19929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段落・質問・回答の追加例</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段落・質問・回答の統計と極値</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 2.0のモデル評価結果</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収録されたWikipedia記事の全一覧</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公式JSONの取得コードと関連文献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329139"/>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筆頭・最終著者の研究分野と関連実績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254984"/>
            <a:ext cx="8046720" cy="2674620"/>
          </a:xfrm>
          <a:prstGeom prst="rect">
            <a:avLst/>
          </a:prstGeom>
          <a:noFill/>
        </p:spPr>
        <p:txBody>
          <a:bodyPr wrap="square" anchor="t" lIns="91425" rIns="91425" tIns="91425" bIns="91425">
            <a:noAutofit/>
          </a:bodyPr>
          <a:lstStyle/>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第一著者のPranav Rajpurkarは、読解型QAと医療AIを研究している </a:t>
            </a:r>
            <a:r>
              <a:rPr sz="2100" lang="ja-JP">
                <a:solidFill>
                  <a:srgbClr val="303437"/>
                </a:solidFill>
                <a:latin typeface="Noto Sans"/>
                <a:ea typeface="Noto Sans CJK JP"/>
                <a:cs typeface="Noto Sans"/>
              </a:rPr>
              <a:t>[1,2]</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SQuADと、胸部X線のデータセットCheXpertに貢献した（2019年） </a:t>
            </a:r>
            <a:r>
              <a:rPr sz="2100" lang="ja-JP">
                <a:solidFill>
                  <a:srgbClr val="303437"/>
                </a:solidFill>
                <a:latin typeface="Noto Sans"/>
                <a:ea typeface="Noto Sans CJK JP"/>
                <a:cs typeface="Noto Sans"/>
              </a:rPr>
              <a:t>[5]</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言語モデルを幅広く評価するHELMにも取り組んだ </a:t>
            </a:r>
            <a:r>
              <a:rPr sz="2100" lang="ja-JP">
                <a:solidFill>
                  <a:srgbClr val="303437"/>
                </a:solidFill>
                <a:latin typeface="Noto Sans"/>
                <a:ea typeface="Noto Sans CJK JP"/>
                <a:cs typeface="Noto Sans"/>
              </a:rPr>
              <a:t>[3]</a:t>
            </a:r>
            <a:r>
              <a:rPr sz="21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TextBox 4"/>
          <p:cNvSpPr txBox="1"/>
          <p:nvPr/>
        </p:nvSpPr>
        <p:spPr>
          <a:xfrm>
            <a:off x="502920" y="3987799"/>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006114"/>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361713"/>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[3] </a:t>
            </a:r>
            <a:r>
              <a:rPr sz="800" lang="ja-JP">
                <a:solidFill>
                  <a:srgbClr val="626669"/>
                </a:solidFill>
                <a:latin typeface="Noto Sans"/>
                <a:ea typeface="Noto Sans CJK JP"/>
                <a:cs typeface="Noto Sans"/>
                <a:hlinkClick r:id="rId4"/>
              </a:rPr>
              <a:t>https://github.com/stanford-crfm/helm</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[5] </a:t>
            </a:r>
            <a:r>
              <a:rPr sz="800" lang="ja-JP">
                <a:solidFill>
                  <a:srgbClr val="626669"/>
                </a:solidFill>
                <a:latin typeface="Noto Sans"/>
                <a:ea typeface="Noto Sans CJK JP"/>
                <a:cs typeface="Noto Sans"/>
                <a:hlinkClick r:id="rId5"/>
              </a:rPr>
              <a:t>https://github.com/stanfordmlgroup/chexpert-labeler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Apollo_program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5725b41838643c19005acb81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Amazon_rainforest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5729e2316aef0514001550c6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Prime_number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57296d571d04691400779413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Black_Death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57264684708984140094c125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Warsaw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5733a5f54776f41900660f45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Genghis_Khan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57269e8a5951b619008f77f5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Chloroplast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572953013f37b3190047824d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University_of_Chicago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57283c464b864d19001647c8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5ad3bd8f604f3c001a3fef31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Oxygen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5ad21646d7d075001a4283c7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2008_Sichuan_earthquake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開発用で長い質問の例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Construction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長い質問の原文抜粋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開発用で単語数が多い質問の例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Super_Bowl_50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文字数が最も多い入力段落の例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最長段落からの原文抜粋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開発用で長い回答の例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French_and_Indian_War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開発用で単語数が多い回答の例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Ctenophora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回答の原文抜粋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バージョン2.0開発用の長い質問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4. SQuAD 2.0のモデル評価結果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endParaRPr sz="1250" lang="ja-JP">
              <a:latin typeface="Noto Sans"/>
              <a:ea typeface="Noto Sans CJK JP"/>
              <a:cs typeface="Noto Sans"/>
            </a:endParaRPr>
          </a:p>
        </p:txBody>
      </p:sp>
      <p:sp>
        <p:nvSpPr>
          <p:cNvPr id="20" name="content-text"/>
          <p:cNvSpPr txBox="1"/>
          <p:nvPr/>
        </p:nvSpPr>
        <p:spPr>
          <a:xfrm>
            <a:off x="4846320" y="25847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188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0530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2872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5214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7556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39898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2240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endParaRPr sz="1250" lang="ja-JP">
              <a:latin typeface="Noto Sans"/>
              <a:ea typeface="Noto Sans CJK JP"/>
              <a:cs typeface="Noto Sans"/>
            </a:endParaRPr>
          </a:p>
        </p:txBody>
      </p:sp>
      <p:sp>
        <p:nvSpPr>
          <p:cNvPr id="8" name="content-text"/>
          <p:cNvSpPr txBox="1"/>
          <p:nvPr/>
        </p:nvSpPr>
        <p:spPr>
          <a:xfrm>
            <a:off x="594360" y="2584704"/>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endParaRPr sz="1250" lang="ja-JP">
              <a:latin typeface="Noto Sans"/>
              <a:ea typeface="Noto Sans CJK JP"/>
              <a:cs typeface="Noto Sans"/>
            </a:endParaRPr>
          </a:p>
        </p:txBody>
      </p:sp>
      <p:sp>
        <p:nvSpPr>
          <p:cNvPr id="9" name="content-text"/>
          <p:cNvSpPr txBox="1"/>
          <p:nvPr/>
        </p:nvSpPr>
        <p:spPr>
          <a:xfrm>
            <a:off x="594360" y="3009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243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477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11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3946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180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The_Legend_of_Zelda:_Twilight_Princess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各版の公式JSONを取得するPythonコード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公式JSONの取得コードと関連文献</a:t>
            </a:r>
            <a:endParaRPr sz="1400" lang="ja-JP">
              <a:latin typeface="Noto Sans"/>
              <a:ea typeface="Noto Sans CJK JP"/>
              <a:cs typeface="Noto Sans"/>
            </a:endParaRPr>
          </a:p>
        </p:txBody>
      </p:sp>
      <p:sp>
        <p:nvSpPr>
          <p:cNvPr id="7" name="code-background"/>
          <p:cNvSpPr/>
          <p:nvPr/>
        </p:nvSpPr>
        <p:spPr>
          <a:xfrm>
            <a:off x="548640" y="1474275"/>
            <a:ext cx="8046720" cy="25001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a:t>
            </a:r>
            <a:r>
              <a:rPr sz="1400" lang="ja-JP">
                <a:solidFill>
                  <a:srgbClr val="303437"/>
                </a:solidFill>
                <a:latin typeface="Liberation Mono"/>
                <a:ea typeface="Noto Sans CJK JP"/>
                <a:cs typeface="Noto Sans"/>
                <a:hlinkClick r:id="rId3"/>
              </a:rPr>
              <a:t>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配布元　</a:t>
            </a:r>
            <a:r>
              <a:rPr sz="800" b="0" lang="ja-JP">
                <a:solidFill>
                  <a:srgbClr val="626669"/>
                </a:solidFill>
                <a:latin typeface="Noto Sans"/>
                <a:ea typeface="Noto Sans CJK JP"/>
                <a:cs typeface="Noto Sans"/>
                <a:hlinkClick r:id="rId2"/>
              </a:rPr>
              <a:t>https://rajpurkar.github.io/SQuAD-explorer/dataset/</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バージョン・分割ごとに公式JSONを取得。Python標準ライブラリのみ使用。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 100,000+ Questions for Machine Comprehension of Text</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Zhang, J., Lopyrev, K., &amp; Liang, P. (2016). EMNLP, pp. 2383–2392.</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SQuADの原著論文。データセットの収集方法、回答範囲の注釈、EM・F1評価を記載する。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https://aclanthology.org/D16-1264/</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Know What You Don’t Know: Unanswerable Questions for SQuAD</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Jia, R., &amp; Liang, P. (2018). ACL, pp. 784–789.</a:t>
            </a:r>
          </a:p>
        </p:txBody>
      </p:sp>
      <p:sp>
        <p:nvSpPr>
          <p:cNvPr id="10" name="TextBox 9"/>
          <p:cNvSpPr txBox="1"/>
          <p:nvPr/>
        </p:nvSpPr>
        <p:spPr>
          <a:xfrm>
            <a:off x="548640" y="4109293"/>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 2.0の原著論文。回答不能な質問の作成方法と、回答保留を含む評価を報告する。</a:t>
            </a:r>
          </a:p>
        </p:txBody>
      </p:sp>
      <p:sp>
        <p:nvSpPr>
          <p:cNvPr id="11" name="TextBox 10"/>
          <p:cNvSpPr txBox="1"/>
          <p:nvPr/>
        </p:nvSpPr>
        <p:spPr>
          <a:xfrm>
            <a:off x="548640" y="473202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https://aclanthology.org/P18-2124/</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Question answering</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Hugging Face (n.d.). Hugging Face Course, Chapter 7, Section 7.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質問応答の公式教材。長い段落の分割、回答位置の変換、モデルの微調整と評価を扱う。</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https://github.com/huggingface/course/blob/main/chapters/en/chapter7/7.mdx</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BERT: Pre-training of Deep Bidirectional Transformers for Language Understanding</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Devlin, J., Chang, M.-W., Lee, K., &amp; Toutanova, K. (2019). NAACL-HLT, pp. 4171–4186.</a:t>
            </a:r>
          </a:p>
        </p:txBody>
      </p:sp>
      <p:sp>
        <p:nvSpPr>
          <p:cNvPr id="10" name="TextBox 9"/>
          <p:cNvSpPr txBox="1"/>
          <p:nvPr/>
        </p:nvSpPr>
        <p:spPr>
          <a:xfrm>
            <a:off x="548640" y="4109648"/>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BERTの原著論文。双方向の事前学習と微調整を提案し、SQuADなどで評価する。</a:t>
            </a:r>
          </a:p>
        </p:txBody>
      </p:sp>
      <p:sp>
        <p:nvSpPr>
          <p:cNvPr id="11" name="TextBox 10"/>
          <p:cNvSpPr txBox="1"/>
          <p:nvPr/>
        </p:nvSpPr>
        <p:spPr>
          <a:xfrm>
            <a:off x="548640" y="4731804"/>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https://aclanthology.org/N19-1423/</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Adversarial Examples for Evaluating Reading Comprehension Systems</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Jia, R., &amp; Liang, P. (2017). EMNLP, pp. 2021–2031.</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読解モデルの頑健性を調べた研究。SQuADの段落に紛らわしい文を追加して性能を検証する。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https://aclanthology.org/D17-1215/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SQuAD-explorer</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et al.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SQuADの公式配布リポジトリ。公開JSON、EM・F1の評価スクリプトと提出形式を提供する。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https://github.com/rajpurkar/SQuAD-explorer</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