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9" r:id="rId6"/>
    <p:sldId id="360" r:id="rId10"/>
    <p:sldId id="258" r:id="rId9"/>
    <p:sldId id="261" r:id="rId4"/>
    <p:sldId id="262" r:id="rId3"/>
    <p:sldId id="361" r:id="rId107"/>
    <p:sldId id="268" r:id="rId19"/>
    <p:sldId id="270" r:id="rId21"/>
    <p:sldId id="273" r:id="rId24"/>
    <p:sldId id="331" r:id="rId82"/>
    <p:sldId id="332" r:id="rId83"/>
    <p:sldId id="272" r:id="rId23"/>
    <p:sldId id="329" r:id="rId80"/>
    <p:sldId id="330" r:id="rId81"/>
    <p:sldId id="271" r:id="rId22"/>
    <p:sldId id="351" r:id="rId102"/>
    <p:sldId id="274" r:id="rId25"/>
    <p:sldId id="362" r:id="rId108"/>
    <p:sldId id="363" r:id="rId109"/>
    <p:sldId id="364" r:id="rId110"/>
    <p:sldId id="365" r:id="rId111"/>
    <p:sldId id="352" r:id="rId103"/>
    <p:sldId id="276" r:id="rId27"/>
    <p:sldId id="278" r:id="rId29"/>
    <p:sldId id="277" r:id="rId28"/>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7.xml"/><Relationship Id="rId23" Type="http://schemas.openxmlformats.org/officeDocument/2006/relationships/slide" Target="slides/slide24.xml"/><Relationship Id="rId24" Type="http://schemas.openxmlformats.org/officeDocument/2006/relationships/slide" Target="slides/slide21.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5.xml"/><Relationship Id="rId28" Type="http://schemas.openxmlformats.org/officeDocument/2006/relationships/slide" Target="slides/slide37.xml"/><Relationship Id="rId29" Type="http://schemas.openxmlformats.org/officeDocument/2006/relationships/slide" Target="slides/slide36.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5.xml"/><Relationship Id="rId81" Type="http://schemas.openxmlformats.org/officeDocument/2006/relationships/slide" Target="slides/slide26.xml"/><Relationship Id="rId82" Type="http://schemas.openxmlformats.org/officeDocument/2006/relationships/slide" Target="slides/slide22.xml"/><Relationship Id="rId83" Type="http://schemas.openxmlformats.org/officeDocument/2006/relationships/slide" Target="slides/slide23.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4.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2.xml"/><Relationship Id="rId111" Type="http://schemas.openxmlformats.org/officeDocument/2006/relationships/slide" Target="slides/slide33.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lIns="0" rIns="0" wrap="none"/>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 Id="rId3" Type="http://schemas.openxmlformats.org/officeDocument/2006/relationships/hyperlink" Target="https://rajpurkar.github.io/SQuAD-explorer/dataset/&quo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63116"/>
            <a:ext cx="8229600" cy="2926080"/>
          </a:xfrm>
        </p:spPr>
        <p:txBody>
          <a:bodyPr wrap="square" anchor="ctr" lIns="0" rIns="0" tIns="0" bIns="0">
            <a:noAutofit/>
          </a:bodyPr>
          <a:lstStyle/>
          <a:p>
            <a:pPr algn="ctr" marL="0" indent="0">
              <a:lnSpc>
                <a:spcPct val="100000"/>
              </a:lnSpc>
              <a:spcBef>
                <a:spcPts val="0"/>
              </a:spcBef>
              <a:spcAft>
                <a:spcPts val="1000"/>
              </a:spcAft>
              <a:buNone/>
              <a:defRPr sz="3400" lang="ja-JP">
                <a:latin typeface="Noto Sans"/>
                <a:ea typeface="Noto Sans CJK JP"/>
                <a:cs typeface="Noto Sans"/>
              </a:defRPr>
            </a:pPr>
            <a:r>
              <a:rPr sz="2800" b="0" lang="ja-JP">
                <a:solidFill>
                  <a:srgbClr val="303437"/>
                </a:solidFill>
                <a:latin typeface="Noto Sans"/>
                <a:ea typeface="Noto Sans CJK JP"/>
              </a:rPr>
              <a:t>読解型質問応答用データセット</a:t>
            </a:r>
            <a:endParaRPr sz="3400" lang="ja-JP">
              <a:latin typeface="Noto Sans"/>
              <a:ea typeface="Noto Sans CJK JP"/>
              <a:cs typeface="Noto Sans"/>
            </a:endParaRPr>
          </a:p>
          <a:p>
            <a:pPr algn="ctr">
              <a:lnSpc>
                <a:spcPct val="100000"/>
              </a:lnSpc>
              <a:spcBef>
                <a:spcPts val="0"/>
              </a:spcBef>
              <a:spcAft>
                <a:spcPts val="1000"/>
              </a:spcAft>
            </a:pPr>
            <a:r>
              <a:rPr sz="5600" b="1" lang="ja-JP">
                <a:solidFill>
                  <a:srgbClr val="303437"/>
                </a:solidFill>
                <a:latin typeface="Noto Sans"/>
                <a:ea typeface="Noto Sans CJK JP"/>
              </a:rPr>
              <a:t>SQuAD</a:t>
            </a:r>
          </a:p>
          <a:p>
            <a:pPr algn="ctr">
              <a:lnSpc>
                <a:spcPct val="100000"/>
              </a:lnSpc>
              <a:spcBef>
                <a:spcPts val="0"/>
              </a:spcBef>
              <a:spcAft>
                <a:spcPts val="0"/>
              </a:spcAft>
            </a:pPr>
            <a:r>
              <a:rPr sz="2400" b="0" lang="ja-JP">
                <a:solidFill>
                  <a:srgbClr val="303437"/>
                </a:solidFill>
                <a:latin typeface="Noto Sans"/>
                <a:ea typeface="Noto Sans CJK JP"/>
              </a:rPr>
              <a:t>Stanford Question Answering Dataset</a:t>
            </a: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23444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SQuADの読解課題と版ごとの違い</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質問・回答の作成方法と収録規模</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読解の評価指標とモデル性能</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SQuADの利用動向と後続データ</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質問応答データの入手方法と利用条件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SQuADの読解課題と版ごとの違い</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段落と質問を入力し答えの範囲を選ぶ</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読解型質問応答は、文章を根拠に質問へ答える課題である。SQuADでは、英語Wikipediaの記事から選んだ1段落と、その段落に対する質問を入力する。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答えは、段落内にある連続した語句を選ぶ。固有名詞・年・数量に限らず、複数語からなる表現も正解となる。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バージョン2.0には段落から答えられない質問もあり、答えの抽出に加えて回答を控える判断を行う。</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配布データの全体は記事の集合である。各記事には複数の段落があり、それぞれの段落に質問と正解回答が付く。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同じ段落へ複数の質問を作れるため、記事数・段落数・質問数・正解注釈数は異なる。モデルには記事全体ではなく、その質問に対応する段落を渡す。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 の側が王に忠誠を誓う。王が誰に誓ったかは記載されていない。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バージョン2.0では、回答不能な質問を追加する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異なるバージョンの得点は、そのまま比較できない。</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質問・回答の作成方法と収録規模</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Richardson et al. (2013). EMNLP. MCTest: A Challenge Dataset for the Open-Domain Machine Comprehension of Text.</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https://aclanthology.org/D13-1020/</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(2016). EMNLP, pp. 2383–2392. SQuAD: 100,000+ Questions for Machine Comprehension of Text.</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75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2016年の原著は、500以上の記事から10万問以上を作成したと報告した。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原著は、各記事から段落を取り出し、500文字未満を除いたと説明する。学習・開発・テストは記事単位で分けた。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公開バージョン1.1の学習用・開発用を実測すると、20,963段落のうち2,874段落は500文字未満である。原著の収集説明と公開版の実測は範囲が異なる。</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答えとなる最小限の連続した範囲を段落内で選んだ。この範囲が、回答位置を予測するモデルの学習用の正解となる。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同じ質問にも、長さや表現が異なる妥当な回答がありうるため、1問に複数の正解を持たせる。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評価では各正解との一致を計算し、その中で最も高い得点を質問の得点とする。正解注釈数は質問数と一致しない。</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初版では、どの質問にも段落内に答えがあった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作業者が各段落に対し、回答不能な質問を最大5問作成した。</a:t>
            </a:r>
            <a:endParaRPr sz="21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段落の話題に関連し、回答可能な質問に見えるようにする。</a:t>
            </a:r>
            <a:endParaRPr sz="20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段落内に、答えに見える候補がある質問にする。</a:t>
            </a:r>
            <a:endParaRPr sz="20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記事・段落ごとの作業を分配し、人手で50,000問以上を追加。</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回答範囲の抽出と、回答保留の判断を評価する。</a:t>
            </a:r>
            <a:endParaRPr sz="21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(2018). ACL, pp. 784–789. Know What You Don’t Know: Unanswerable Questions for SQuAD. §1, §3</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SQuAD各版の質問数・回答不能数・記事数</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845560"/>
            <a:ext cx="8046720" cy="658368"/>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記事数は、質問の元となったWikipedia記事の数。</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バージョン2.0は同じ記事に回答不能な質問を追加。</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前後に大量の空白が含まれる質問を1件確認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主要統計は前後空白だけを除去し、本文の文字は保持。</a:t>
            </a:r>
            <a:endParaRPr sz="23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長さの比較では、空白を含めるかで結果が大きく変わる。</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長い入力段落の例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Great Desert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同じ段落への複数質問による重複カウントはしない。</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読解の評価指標とモデル性能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0160">
                      <a:solidFill>
                        <a:srgbClr val="626669"/>
                      </a:solidFill>
                      <a:prstDash val="solid"/>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0160">
                      <a:solidFill>
                        <a:srgbClr val="626669"/>
                      </a:solidFill>
                      <a:prstDash val="solid"/>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0160">
                      <a:solidFill>
                        <a:srgbClr val="626669"/>
                      </a:solidFill>
                      <a:prstDash val="solid"/>
                    </a:lnT>
                    <a:lnB w="10160">
                      <a:solidFill>
                        <a:srgbClr val="626669"/>
                      </a:solidFill>
                      <a:prstDash val="solid"/>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1016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1016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10160">
                      <a:solidFill>
                        <a:srgbClr val="626669"/>
                      </a:solidFill>
                      <a:prstDash val="solid"/>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016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0160">
                      <a:solidFill>
                        <a:srgbClr val="626669"/>
                      </a:solidFill>
                      <a:prstDash val="solid"/>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抽出型は、段落中の開始・終了位置を予測する。読解モデルBiDAFや言語モデルBERTを使い、原文中の回答範囲を選ぶ。</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Devlin et al. (2019). NAACL-HLT, pp. 4171–4186. BERT: Pre-training of Deep Bidirectional Transformers for Language Understanding.</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https://aclanthology.org/N19-1423/</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SQuADによる微調整と例示付きの生成評価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1-shotでは、答え付きの例を1件入力に提示してから別の質問へ答えさせる。この提示だけではモデルのパラメータを更新しない。</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同じEM・F1でも、学習・提示の条件や評価データが異なる結果は直接比較できない。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単語一致を使うSliding Window</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SQuADバージョン1.0のテスト用で評価した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 Table 5, §6.2.</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 2.0の学習用で微調整し、開発用で評価した公表値。答えの開始・終了位置を予測する抽出型モデルを比較する。</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484708"/>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661134"/>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2024-07-23公開、事前学習モデルを1-shotで生成評価。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同じ段落に付いた先行する全質問と正解を入力に含めるため、SQuAD運営者の非公開テストとは条件が異なる [2]。</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SQuADの利用動向と後続データ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2が含まれる。回答形式や提示例の条件は、抽出型モデルの微調整評価と異なる。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SQuADの得点は段落単位の読解を測るが、それだけで長い文書全体を扱う能力を示すわけではない。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質問応答データの入手方法と利用条件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質問応答データの入手方法と利用条件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SQuADの目的・版の違いと評価方法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SQuADは、英語の読解型質問応答データセット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Wikipediaの段落から、質問の答えとなる範囲を選ぶ。</a:t>
            </a:r>
            <a:endParaRPr sz="21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人手作成の質問を大規模に評価するため、2016年に発表。</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バージョン1.1では、回答可能な質問の答えを抽出。</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バージョン2.0は回答不能な質問と回答保留も扱う </a:t>
            </a:r>
            <a:r>
              <a:rPr sz="2100" b="0" lang="ja-JP">
                <a:solidFill>
                  <a:srgbClr val="303437"/>
                </a:solidFill>
                <a:latin typeface="Noto Sans"/>
                <a:ea typeface="Noto Sans CJK JP"/>
                <a:cs typeface="Noto Sans"/>
              </a:rPr>
              <a:t>[2]</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EM・F1で評価し、大規模言語モデルの読解評価にも用いられる。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(2016). EMNLP, pp. 2383–2392. SQuAD: 100,000+ Questions for Machine Comprehension of Text.</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(2018). ACL, pp. 784–789. Know What You Don’t Know: Unanswerable Questions for SQuAD.</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5156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段落・質問・回答の追加例</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段落・質問・回答の統計と極値</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 2.0のモデル評価結果</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収録されたWikipedia記事の全一覧</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公式JSONの取得コードと関連文献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329139"/>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筆頭・最終著者の研究分野と関連実績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254984"/>
            <a:ext cx="8046720" cy="2674620"/>
          </a:xfrm>
          <a:prstGeom prst="rect">
            <a:avLst/>
          </a:prstGeom>
          <a:noFill/>
        </p:spPr>
        <p:txBody>
          <a:bodyPr wrap="square" anchor="t" lIns="91425" rIns="91425" tIns="91425" bIns="91425">
            <a:noAutofit/>
          </a:bodyPr>
          <a:lstStyle/>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第一著者のPranav Rajpurkarは、読解型QAと医療AIを研究している </a:t>
            </a:r>
            <a:r>
              <a:rPr sz="2100" lang="ja-JP">
                <a:solidFill>
                  <a:srgbClr val="303437"/>
                </a:solidFill>
                <a:latin typeface="Noto Sans"/>
                <a:ea typeface="Noto Sans CJK JP"/>
                <a:cs typeface="Noto Sans"/>
              </a:rPr>
              <a:t>[1,2]</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SQuADと、胸部X線のデータセットCheXpertに貢献した（2019年） </a:t>
            </a:r>
            <a:r>
              <a:rPr sz="2100" lang="ja-JP">
                <a:solidFill>
                  <a:srgbClr val="303437"/>
                </a:solidFill>
                <a:latin typeface="Noto Sans"/>
                <a:ea typeface="Noto Sans CJK JP"/>
                <a:cs typeface="Noto Sans"/>
              </a:rPr>
              <a:t>[5]</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言語モデルを幅広く評価するHELMにも取り組んだ </a:t>
            </a:r>
            <a:r>
              <a:rPr sz="2100" lang="ja-JP">
                <a:solidFill>
                  <a:srgbClr val="303437"/>
                </a:solidFill>
                <a:latin typeface="Noto Sans"/>
                <a:ea typeface="Noto Sans CJK JP"/>
                <a:cs typeface="Noto Sans"/>
              </a:rPr>
              <a:t>[3]</a:t>
            </a:r>
            <a:r>
              <a:rPr sz="21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TextBox 4"/>
          <p:cNvSpPr txBox="1"/>
          <p:nvPr/>
        </p:nvSpPr>
        <p:spPr>
          <a:xfrm>
            <a:off x="502920" y="3987799"/>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502920" y="41656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[3] </a:t>
            </a:r>
            <a:r>
              <a:rPr sz="800" lang="ja-JP">
                <a:solidFill>
                  <a:srgbClr val="626669"/>
                </a:solidFill>
                <a:latin typeface="Noto Sans"/>
                <a:ea typeface="Noto Sans CJK JP"/>
                <a:cs typeface="Noto Sans"/>
                <a:hlinkClick r:id="rId4"/>
              </a:rPr>
              <a:t>https://github.com/stanford-crfm/helm</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[5] </a:t>
            </a:r>
            <a:r>
              <a:rPr sz="80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4 SQuAD 2.0のモデル評価結果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1016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1016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各版の公式JSONを取得するPythonコード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公式JSONの取得コードと関連文献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a:t>
            </a:r>
            <a:r>
              <a:rPr sz="1400" lang="ja-JP">
                <a:solidFill>
                  <a:srgbClr val="303437"/>
                </a:solidFill>
                <a:latin typeface="Liberation Mono"/>
                <a:ea typeface="Noto Sans CJK JP"/>
                <a:cs typeface="Noto Sans"/>
                <a:hlinkClick r:id="rId3"/>
              </a:rPr>
              <a:t>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SQuADの原著論文。データセットの収集方法、回答範囲の注釈、EM・F1評価を記載する。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https://aclanthology.org/D16-1264/</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48640" y="4109293"/>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 2.0の原著論文。回答不能な質問の作成方法と、回答保留を含む評価を報告する。</a:t>
            </a:r>
          </a:p>
        </p:txBody>
      </p:sp>
      <p:sp>
        <p:nvSpPr>
          <p:cNvPr id="11" name="TextBox 10"/>
          <p:cNvSpPr txBox="1"/>
          <p:nvPr/>
        </p:nvSpPr>
        <p:spPr>
          <a:xfrm>
            <a:off x="548640" y="473202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https://aclanthology.org/P18-2124/</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Question answering</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48640" y="4109648"/>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BERTの原著論文。双方向の事前学習と微調整を提案し、SQuADなどで評価する。</a:t>
            </a:r>
          </a:p>
        </p:txBody>
      </p:sp>
      <p:sp>
        <p:nvSpPr>
          <p:cNvPr id="11" name="TextBox 10"/>
          <p:cNvSpPr txBox="1"/>
          <p:nvPr/>
        </p:nvSpPr>
        <p:spPr>
          <a:xfrm>
            <a:off x="548640" y="4731804"/>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https://aclanthology.org/N19-1423/</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https://aclanthology.org/D17-1215/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SQuAD-explorer</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https://github.com/rajpurkar/SQuAD-explorer</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