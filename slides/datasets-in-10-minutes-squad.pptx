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8" r:id="rId9"/>
    <p:sldId id="259" r:id="rId6"/>
    <p:sldId id="360" r:id="rId10"/>
    <p:sldId id="261" r:id="rId4"/>
    <p:sldId id="262" r:id="rId3"/>
    <p:sldId id="361" r:id="rId107"/>
    <p:sldId id="268" r:id="rId19"/>
    <p:sldId id="270" r:id="rId21"/>
    <p:sldId id="331" r:id="rId82"/>
    <p:sldId id="332" r:id="rId83"/>
    <p:sldId id="272" r:id="rId23"/>
    <p:sldId id="329" r:id="rId80"/>
    <p:sldId id="330" r:id="rId81"/>
    <p:sldId id="271" r:id="rId22"/>
    <p:sldId id="273" r:id="rId24"/>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4.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3.xml"/><Relationship Id="rId10" Type="http://schemas.openxmlformats.org/officeDocument/2006/relationships/slide" Target="slides/slide1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6.xml"/><Relationship Id="rId23" Type="http://schemas.openxmlformats.org/officeDocument/2006/relationships/slide" Target="slides/slide23.xml"/><Relationship Id="rId24" Type="http://schemas.openxmlformats.org/officeDocument/2006/relationships/slide" Target="slides/slide27.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4.xml"/><Relationship Id="rId81" Type="http://schemas.openxmlformats.org/officeDocument/2006/relationships/slide" Target="slides/slide25.xml"/><Relationship Id="rId82" Type="http://schemas.openxmlformats.org/officeDocument/2006/relationships/slide" Target="slides/slide21.xml"/><Relationship Id="rId83" Type="http://schemas.openxmlformats.org/officeDocument/2006/relationships/slide" Target="slides/slide22.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2.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6.xml"/><Relationship Id="rId111" Type="http://schemas.openxmlformats.org/officeDocument/2006/relationships/slide" Target="slides/slide37.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段落と質問から答えの範囲を特定する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読解型質問応答は、文章を根拠に質問に答える課題である。SQuADでは、英語Wikipediaの記事から選んだ1段落と、その段落に対する質問を入力する。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答えとして、段落内にある連続した語句を選ぶ。固有名詞・年・数量に限らず、複数語からなる表現も正解となる。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バージョン2.0には段落から答えられない質問も含まれており、答えの抽出に加えて回答を控える判断も行う。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モデルには、その質問に対応する段落を渡す。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43676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435244"/>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Rolloの側が王に忠誠を誓ったのであり、王が誰に誓ったかは記載されていない。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バージョン2.0では、回答不能な質問が追加された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2016年には、500以上の記事から10万問以上を作成したと報告された。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構築時には各記事から段落を抽出し、500文字未満を除外したと説明されている。また、学習・開発・テストの分割は記事単位で行われた。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公開データセット（v1.1の学習用・開発用）では、全20,963段落のうち500文字未満の段落が2,874件含まれている。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答えとなる最小限の連続した範囲を段落内から抽出した。この範囲が、回答位置を予測するモデルの正解ラベルとなる。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同一の質問に対しても長さや表現の異なる妥当な回答が存在しうるため、1問に対して複数の正解を付与している。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評価時は人手による各正解との一致度を計算し、その最高値を該当する質問のスコアとする。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280160"/>
            <a:ext cx="8046720" cy="3310128"/>
          </a:xfrm>
          <a:prstGeom prst="rect">
            <a:avLst/>
          </a:prstGeom>
          <a:noFill/>
        </p:spPr>
        <p:txBody>
          <a:bodyPr wrap="square" anchor="t" lIns="91425" rIns="91425" tIns="91425" bIns="91425">
            <a:noAutofit/>
          </a:bodyPr>
          <a:lstStyle/>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初版では、どの質問にも段落内に答えがあった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作業者が各段落に対し、回答不能な質問を最大5問作成した。</a:t>
            </a:r>
            <a:endParaRPr sz="19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段落の話題に関連させ、一見すると回答可能に見える質問を作成した。</a:t>
            </a:r>
            <a:endParaRPr sz="18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段落内に正解の候補となりそうなもっともらしい表現が含まれる質問とした。</a:t>
            </a:r>
            <a:endParaRPr sz="18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記事や段落ごとにタスクを分配し、人手で50,000問以上の回答不能な質問を追加した。</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回答範囲の特定に加え、回答不能であるかどうかの棄却判断も評価対象となる。</a:t>
            </a:r>
            <a:endParaRPr sz="19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49040"/>
            <a:ext cx="8046720" cy="960120"/>
          </a:xfrm>
          <a:prstGeom prst="rect">
            <a:avLst/>
          </a:prstGeom>
          <a:noFill/>
        </p:spPr>
        <p:txBody>
          <a:bodyPr wrap="square" anchor="t" lIns="91425" rIns="91425" tIns="91425" bIns="91425">
            <a:noAutofit/>
          </a:bodyPr>
          <a:lstStyle/>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記事数は、質問の作成元となったWikipedia記事の総数である。</a:t>
            </a:r>
            <a:endParaRPr sz="1800" lang="ja-JP">
              <a:latin typeface="Noto Sans"/>
              <a:ea typeface="Noto Sans CJK JP"/>
              <a:cs typeface="Noto Sans"/>
            </a:endParaRPr>
          </a:p>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バージョン2.0では、既存の記事に対して回答不能な質問を追加している。</a:t>
            </a:r>
            <a:endParaRPr sz="18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極端に長い入力段落の実例（Sahara）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正解スパンは the Great Desert である。</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該当する収録データは 1.1/train および 2.0/train である。</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前後に大量の空白文字を含む質問が1件確認されている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本資料の主要統計では前後の空白のみを除去し、質問文中の文字列はそのまま保持している。</a:t>
            </a:r>
            <a:endParaRPr sz="23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複数正解がある質問では最良の得点を採用する。バージョン2.0では、回答不能な質問に回答を控えた場合を正解として採点する。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2016年の初期モデルはF1が51.0%だった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初期モデル・人の回答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単語一致によるSliding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SQuADバージョン1.0のテストセットで評価した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70000"/>
              <a:buFont typeface="Noto Sans CJK JP"/>
              <a:buChar char="●"/>
              <a:defRPr sz="1900" lang="ja-JP">
                <a:latin typeface="Noto Sans"/>
                <a:ea typeface="Noto Sans CJK JP"/>
                <a:cs typeface="Noto Sans"/>
              </a:defRPr>
            </a:pPr>
            <a:r>
              <a:rPr sz="1900" lang="ja-JP">
                <a:solidFill>
                  <a:srgbClr val="303437"/>
                </a:solidFill>
                <a:latin typeface="Noto Sans"/>
                <a:ea typeface="Noto Sans CJK JP"/>
                <a:cs typeface="Noto Sans"/>
              </a:rPr>
              <a:t>SQuAD 2.0の学習データで微調整し、開発データで評価した公表値。答えの開始・終了位置を予測する抽出型モデルを比較する。</a:t>
            </a:r>
            <a:endParaRPr sz="19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同じ段落に付いた先行する全質問と正解も入力に含める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抽出型は、段落中の開始・終了位置を予測する。読解モデルBiDAFや言語モデルBERTなどで用いられ、原文中の回答範囲を選ぶ。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1-shotでは、答え付きの例を1件入力に提示してから別の質問に答えさせる。この提示だけではモデルのパラメータを更新しない。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SQuADの目的・バージョンの違いと評価方法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SQuADは、英語の読解型質問応答データセット </a:t>
            </a:r>
            <a:r>
              <a:rPr sz="2000" b="0" lang="ja-JP">
                <a:solidFill>
                  <a:srgbClr val="303437"/>
                </a:solidFill>
                <a:latin typeface="Noto Sans"/>
                <a:ea typeface="Noto Sans CJK JP"/>
                <a:cs typeface="Noto Sans"/>
              </a:rPr>
              <a:t>[1]</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lvl="1" algn="l" marL="914400" indent="-355600">
              <a:lnSpc>
                <a:spcPct val="110000"/>
              </a:lnSpc>
              <a:spcBef>
                <a:spcPts val="0"/>
              </a:spcBef>
              <a:spcAft>
                <a:spcPts val="0"/>
              </a:spcAft>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Wikipediaの段落から、質問の答えとなる範囲を選ぶ。</a:t>
            </a:r>
            <a:endParaRPr sz="18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人手で作成した質問による大規模な読解評価を目的に、2016年に発表。</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バージョン1.1では、回答可能な質問の答えを抽出。</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バージョン2.0は回答不能な質問と回答保留も扱う </a:t>
            </a:r>
            <a:r>
              <a:rPr sz="2000" b="0" lang="ja-JP">
                <a:solidFill>
                  <a:srgbClr val="303437"/>
                </a:solidFill>
                <a:latin typeface="Noto Sans"/>
                <a:ea typeface="Noto Sans CJK JP"/>
                <a:cs typeface="Noto Sans"/>
              </a:rPr>
              <a:t>[2]</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EM・F1で評価し、大規模言語モデルの読解評価にも用いられる。</a:t>
            </a:r>
            <a:endParaRPr sz="20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SQuADの各バージョンの著者と発表先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SQuADに加え、2019年の胸部X線データセットCheXpertの開発にも貢献した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43664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435231"/>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435243"/>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chemeClr val="accent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2"/>
              </a:rPr>
              <a:t>https://rajpurkar.github.io/SQuAD-explorer/dataset/</a:t>
            </a:r>
            <a:r>
              <a:rPr sz="1400" lang="ja-JP">
                <a:solidFill>
                  <a:srgbClr val="303437"/>
                </a:solidFill>
                <a:latin typeface="Liberation Mono"/>
                <a:ea typeface="Noto Sans CJK JP"/>
                <a:cs typeface="Noto Sans"/>
              </a:rPr>
              <a: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