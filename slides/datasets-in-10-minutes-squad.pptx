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7"/>
    <p:sldId id="348" r:id="rId99"/>
    <p:sldId id="349" r:id="rId100"/>
    <p:sldId id="257" r:id="rId8"/>
    <p:sldId id="258" r:id="rId9"/>
    <p:sldId id="263" r:id="rId2"/>
    <p:sldId id="264" r:id="rId15"/>
    <p:sldId id="265" r:id="rId16"/>
    <p:sldId id="266" r:id="rId17"/>
    <p:sldId id="267" r:id="rId18"/>
    <p:sldId id="350" r:id="rId101"/>
    <p:sldId id="261" r:id="rId4"/>
    <p:sldId id="262" r:id="rId3"/>
    <p:sldId id="268" r:id="rId19"/>
    <p:sldId id="269" r:id="rId20"/>
    <p:sldId id="270" r:id="rId21"/>
    <p:sldId id="271" r:id="rId22"/>
    <p:sldId id="272" r:id="rId23"/>
    <p:sldId id="273" r:id="rId24"/>
    <p:sldId id="351" r:id="rId102"/>
    <p:sldId id="274" r:id="rId25"/>
    <p:sldId id="352" r:id="rId103"/>
    <p:sldId id="276" r:id="rId27"/>
    <p:sldId id="278" r:id="rId29"/>
    <p:sldId id="277" r:id="rId28"/>
    <p:sldId id="353" r:id="rId104"/>
    <p:sldId id="259" r:id="rId6"/>
    <p:sldId id="260" r:id="rId5"/>
    <p:sldId id="279" r:id="rId30"/>
    <p:sldId id="354" r:id="rId105"/>
    <p:sldId id="280" r:id="rId31"/>
    <p:sldId id="281" r:id="rId32"/>
    <p:sldId id="355" r:id="rId106"/>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4" r:id="rId75"/>
    <p:sldId id="356" r:id="rId98"/>
    <p:sldId id="357" r:id="rId74"/>
    <p:sldId id="358" r:id="rId33"/>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6.xml"/><Relationship Id="rId3" Type="http://schemas.openxmlformats.org/officeDocument/2006/relationships/slide" Target="slides/slide13.xml"/><Relationship Id="rId4" Type="http://schemas.openxmlformats.org/officeDocument/2006/relationships/slide" Target="slides/slide12.xml"/><Relationship Id="rId5" Type="http://schemas.openxmlformats.org/officeDocument/2006/relationships/slide" Target="slides/slide28.xml"/><Relationship Id="rId6" Type="http://schemas.openxmlformats.org/officeDocument/2006/relationships/slide" Target="slides/slide27.xml"/><Relationship Id="rId7" Type="http://schemas.openxmlformats.org/officeDocument/2006/relationships/slide" Target="slides/slide1.xml"/><Relationship Id="rId8" Type="http://schemas.openxmlformats.org/officeDocument/2006/relationships/slide" Target="slides/slide4.xml"/><Relationship Id="rId9"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1.xml"/><Relationship Id="rId27" Type="http://schemas.openxmlformats.org/officeDocument/2006/relationships/slide" Target="slides/slide23.xml"/><Relationship Id="rId28" Type="http://schemas.openxmlformats.org/officeDocument/2006/relationships/slide" Target="slides/slide25.xml"/><Relationship Id="rId29" Type="http://schemas.openxmlformats.org/officeDocument/2006/relationships/slide" Target="slides/slide24.xml"/><Relationship Id="rId30" Type="http://schemas.openxmlformats.org/officeDocument/2006/relationships/slide" Target="slides/slide29.xml"/><Relationship Id="rId31" Type="http://schemas.openxmlformats.org/officeDocument/2006/relationships/slide" Target="slides/slide31.xml"/><Relationship Id="rId32" Type="http://schemas.openxmlformats.org/officeDocument/2006/relationships/slide" Target="slides/slide32.xml"/><Relationship Id="rId33" Type="http://schemas.openxmlformats.org/officeDocument/2006/relationships/slide" Target="slides/slide99.xml"/><Relationship Id="rId34" Type="http://schemas.openxmlformats.org/officeDocument/2006/relationships/slide" Target="slides/slide34.xml"/><Relationship Id="rId35" Type="http://schemas.openxmlformats.org/officeDocument/2006/relationships/slide" Target="slides/slide35.xml"/><Relationship Id="rId36" Type="http://schemas.openxmlformats.org/officeDocument/2006/relationships/slide" Target="slides/slide36.xml"/><Relationship Id="rId37" Type="http://schemas.openxmlformats.org/officeDocument/2006/relationships/slide" Target="slides/slide37.xml"/><Relationship Id="rId38" Type="http://schemas.openxmlformats.org/officeDocument/2006/relationships/slide" Target="slides/slide38.xml"/><Relationship Id="rId39" Type="http://schemas.openxmlformats.org/officeDocument/2006/relationships/slide" Target="slides/slide39.xml"/><Relationship Id="rId40" Type="http://schemas.openxmlformats.org/officeDocument/2006/relationships/slide" Target="slides/slide40.xml"/><Relationship Id="rId41" Type="http://schemas.openxmlformats.org/officeDocument/2006/relationships/slide" Target="slides/slide41.xml"/><Relationship Id="rId42" Type="http://schemas.openxmlformats.org/officeDocument/2006/relationships/slide" Target="slides/slide42.xml"/><Relationship Id="rId43" Type="http://schemas.openxmlformats.org/officeDocument/2006/relationships/slide" Target="slides/slide43.xml"/><Relationship Id="rId44" Type="http://schemas.openxmlformats.org/officeDocument/2006/relationships/slide" Target="slides/slide44.xml"/><Relationship Id="rId45" Type="http://schemas.openxmlformats.org/officeDocument/2006/relationships/slide" Target="slides/slide45.xml"/><Relationship Id="rId46" Type="http://schemas.openxmlformats.org/officeDocument/2006/relationships/slide" Target="slides/slide46.xml"/><Relationship Id="rId47" Type="http://schemas.openxmlformats.org/officeDocument/2006/relationships/slide" Target="slides/slide47.xml"/><Relationship Id="rId48" Type="http://schemas.openxmlformats.org/officeDocument/2006/relationships/slide" Target="slides/slide48.xml"/><Relationship Id="rId49" Type="http://schemas.openxmlformats.org/officeDocument/2006/relationships/slide" Target="slides/slide49.xml"/><Relationship Id="rId50" Type="http://schemas.openxmlformats.org/officeDocument/2006/relationships/slide" Target="slides/slide50.xml"/><Relationship Id="rId51" Type="http://schemas.openxmlformats.org/officeDocument/2006/relationships/slide" Target="slides/slide51.xml"/><Relationship Id="rId52" Type="http://schemas.openxmlformats.org/officeDocument/2006/relationships/slide" Target="slides/slide74.xml"/><Relationship Id="rId53" Type="http://schemas.openxmlformats.org/officeDocument/2006/relationships/slide" Target="slides/slide75.xml"/><Relationship Id="rId54" Type="http://schemas.openxmlformats.org/officeDocument/2006/relationships/slide" Target="slides/slide76.xml"/><Relationship Id="rId55" Type="http://schemas.openxmlformats.org/officeDocument/2006/relationships/slide" Target="slides/slide77.xml"/><Relationship Id="rId56" Type="http://schemas.openxmlformats.org/officeDocument/2006/relationships/slide" Target="slides/slide78.xml"/><Relationship Id="rId57" Type="http://schemas.openxmlformats.org/officeDocument/2006/relationships/slide" Target="slides/slide79.xml"/><Relationship Id="rId58" Type="http://schemas.openxmlformats.org/officeDocument/2006/relationships/slide" Target="slides/slide80.xml"/><Relationship Id="rId59" Type="http://schemas.openxmlformats.org/officeDocument/2006/relationships/slide" Target="slides/slide81.xml"/><Relationship Id="rId60" Type="http://schemas.openxmlformats.org/officeDocument/2006/relationships/slide" Target="slides/slide82.xml"/><Relationship Id="rId61" Type="http://schemas.openxmlformats.org/officeDocument/2006/relationships/slide" Target="slides/slide83.xml"/><Relationship Id="rId62" Type="http://schemas.openxmlformats.org/officeDocument/2006/relationships/slide" Target="slides/slide84.xml"/><Relationship Id="rId63" Type="http://schemas.openxmlformats.org/officeDocument/2006/relationships/slide" Target="slides/slide85.xml"/><Relationship Id="rId64" Type="http://schemas.openxmlformats.org/officeDocument/2006/relationships/slide" Target="slides/slide86.xml"/><Relationship Id="rId65" Type="http://schemas.openxmlformats.org/officeDocument/2006/relationships/slide" Target="slides/slide87.xml"/><Relationship Id="rId66" Type="http://schemas.openxmlformats.org/officeDocument/2006/relationships/slide" Target="slides/slide88.xml"/><Relationship Id="rId67" Type="http://schemas.openxmlformats.org/officeDocument/2006/relationships/slide" Target="slides/slide89.xml"/><Relationship Id="rId68" Type="http://schemas.openxmlformats.org/officeDocument/2006/relationships/slide" Target="slides/slide90.xml"/><Relationship Id="rId69" Type="http://schemas.openxmlformats.org/officeDocument/2006/relationships/slide" Target="slides/slide91.xml"/><Relationship Id="rId70" Type="http://schemas.openxmlformats.org/officeDocument/2006/relationships/slide" Target="slides/slide92.xml"/><Relationship Id="rId71" Type="http://schemas.openxmlformats.org/officeDocument/2006/relationships/slide" Target="slides/slide93.xml"/><Relationship Id="rId72" Type="http://schemas.openxmlformats.org/officeDocument/2006/relationships/slide" Target="slides/slide94.xml"/><Relationship Id="rId73" Type="http://schemas.openxmlformats.org/officeDocument/2006/relationships/slide" Target="slides/slide95.xml"/><Relationship Id="rId74" Type="http://schemas.openxmlformats.org/officeDocument/2006/relationships/slide" Target="slides/slide98.xml"/><Relationship Id="rId75" Type="http://schemas.openxmlformats.org/officeDocument/2006/relationships/slide" Target="slides/slide96.xml"/><Relationship Id="rId76" Type="http://schemas.openxmlformats.org/officeDocument/2006/relationships/slide" Target="slides/slide52.xml"/><Relationship Id="rId77" Type="http://schemas.openxmlformats.org/officeDocument/2006/relationships/slide" Target="slides/slide53.xml"/><Relationship Id="rId78" Type="http://schemas.openxmlformats.org/officeDocument/2006/relationships/slide" Target="slides/slide54.xml"/><Relationship Id="rId79" Type="http://schemas.openxmlformats.org/officeDocument/2006/relationships/slide" Target="slides/slide55.xml"/><Relationship Id="rId80" Type="http://schemas.openxmlformats.org/officeDocument/2006/relationships/slide" Target="slides/slide56.xml"/><Relationship Id="rId81" Type="http://schemas.openxmlformats.org/officeDocument/2006/relationships/slide" Target="slides/slide57.xml"/><Relationship Id="rId82" Type="http://schemas.openxmlformats.org/officeDocument/2006/relationships/slide" Target="slides/slide58.xml"/><Relationship Id="rId83" Type="http://schemas.openxmlformats.org/officeDocument/2006/relationships/slide" Target="slides/slide59.xml"/><Relationship Id="rId84" Type="http://schemas.openxmlformats.org/officeDocument/2006/relationships/slide" Target="slides/slide60.xml"/><Relationship Id="rId85" Type="http://schemas.openxmlformats.org/officeDocument/2006/relationships/slide" Target="slides/slide61.xml"/><Relationship Id="rId86" Type="http://schemas.openxmlformats.org/officeDocument/2006/relationships/slide" Target="slides/slide62.xml"/><Relationship Id="rId87" Type="http://schemas.openxmlformats.org/officeDocument/2006/relationships/slide" Target="slides/slide63.xml"/><Relationship Id="rId88" Type="http://schemas.openxmlformats.org/officeDocument/2006/relationships/slide" Target="slides/slide64.xml"/><Relationship Id="rId89" Type="http://schemas.openxmlformats.org/officeDocument/2006/relationships/slide" Target="slides/slide65.xml"/><Relationship Id="rId90" Type="http://schemas.openxmlformats.org/officeDocument/2006/relationships/slide" Target="slides/slide66.xml"/><Relationship Id="rId91" Type="http://schemas.openxmlformats.org/officeDocument/2006/relationships/slide" Target="slides/slide67.xml"/><Relationship Id="rId92" Type="http://schemas.openxmlformats.org/officeDocument/2006/relationships/slide" Target="slides/slide68.xml"/><Relationship Id="rId93" Type="http://schemas.openxmlformats.org/officeDocument/2006/relationships/slide" Target="slides/slide69.xml"/><Relationship Id="rId94" Type="http://schemas.openxmlformats.org/officeDocument/2006/relationships/slide" Target="slides/slide70.xml"/><Relationship Id="rId95" Type="http://schemas.openxmlformats.org/officeDocument/2006/relationships/slide" Target="slides/slide71.xml"/><Relationship Id="rId96" Type="http://schemas.openxmlformats.org/officeDocument/2006/relationships/slide" Target="slides/slide72.xml"/><Relationship Id="rId97" Type="http://schemas.openxmlformats.org/officeDocument/2006/relationships/slide" Target="slides/slide73.xml"/><Relationship Id="rId98" Type="http://schemas.openxmlformats.org/officeDocument/2006/relationships/slide" Target="slides/slide97.xml"/><Relationship Id="rId99" Type="http://schemas.openxmlformats.org/officeDocument/2006/relationships/slide" Target="slides/slide2.xml"/><Relationship Id="rId100" Type="http://schemas.openxmlformats.org/officeDocument/2006/relationships/slide" Target="slides/slide3.xml"/><Relationship Id="rId101" Type="http://schemas.openxmlformats.org/officeDocument/2006/relationships/slide" Target="slides/slide11.xml"/><Relationship Id="rId102" Type="http://schemas.openxmlformats.org/officeDocument/2006/relationships/slide" Target="slides/slide20.xml"/><Relationship Id="rId103" Type="http://schemas.openxmlformats.org/officeDocument/2006/relationships/slide" Target="slides/slide22.xml"/><Relationship Id="rId104" Type="http://schemas.openxmlformats.org/officeDocument/2006/relationships/slide" Target="slides/slide26.xml"/><Relationship Id="rId105" Type="http://schemas.openxmlformats.org/officeDocument/2006/relationships/slide" Target="slides/slide30.xml"/><Relationship Id="rId106" Type="http://schemas.openxmlformats.org/officeDocument/2006/relationships/slide" Target="slides/slide3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607898" y="-10450"/>
            <a:ext cx="548701" cy="479700"/>
          </a:xfrm>
          <a:prstGeom prst="rect">
            <a:avLst/>
          </a:prstGeom>
          <a:noFill/>
          <a:ln>
            <a:noFill/>
          </a:ln>
        </p:spPr>
        <p:txBody>
          <a:bodyPr anchor="ctr"/>
          <a:lstStyle/>
          <a:p>
            <a:pPr algn="ct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5486400" y="477316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pPr>
            <a:r>
              <a:rPr lang="ja-JP" altLang="ja" b="1" dirty="0">
                <a:solidFill>
                  <a:schemeClr val="lt1"/>
                </a:solidFill>
                <a:latin typeface="Noto Sans"/>
                <a:ea typeface="Noto Sans CJK JP"/>
                <a:cs typeface="Noto Sans"/>
              </a:rPr>
              <a:t>T</a:t>
            </a:r>
            <a:r>
              <a:rPr lang="ja-JP" b="1" dirty="0">
                <a:solidFill>
                  <a:schemeClr val="lt1"/>
                </a:solidFill>
                <a:latin typeface="Noto Sans"/>
                <a:ea typeface="Noto Sans CJK JP"/>
                <a:cs typeface="Noto Sans"/>
              </a:rPr>
              <a:t>able of </a:t>
            </a:r>
            <a:r>
              <a:rPr lang="ja-JP" altLang="ja" b="1" dirty="0">
                <a:solidFill>
                  <a:schemeClr val="lt1"/>
                </a:solidFill>
                <a:latin typeface="Noto Sans"/>
                <a:ea typeface="Noto Sans CJK JP"/>
                <a:cs typeface="Noto Sans"/>
              </a:rPr>
              <a:t>C</a:t>
            </a:r>
            <a:r>
              <a:rPr lang="ja-JP" b="1" dirty="0">
                <a:solidFill>
                  <a:schemeClr val="lt1"/>
                </a:solidFill>
                <a:latin typeface="Noto Sans"/>
                <a:ea typeface="Noto Sans CJK JP"/>
                <a:cs typeface="Noto Sans"/>
              </a:rPr>
              <a:t>ontents</a:t>
            </a:r>
            <a:endParaRPr b="1" dirty="0" lang="ja-JP">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squar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solidFill>
                  <a:schemeClr val="lt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lang="ja-JP">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squar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lang="ja-JP">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468600" y="2263650"/>
            <a:ext cx="8206800" cy="616200"/>
          </a:xfrm>
          <a:prstGeom prst="rect">
            <a:avLst/>
          </a:prstGeom>
        </p:spPr>
        <p:txBody>
          <a:bodyPr spcFirstLastPara="1" wrap="squar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dirty="0" lang="ja-JP">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dirty="0" lang="ja-JP">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dirty="0" lang="ja-JP">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72458" y="28683"/>
            <a:ext cx="548700" cy="393600"/>
          </a:xfrm>
          <a:prstGeom prst="rect">
            <a:avLst/>
          </a:prstGeom>
          <a:noFill/>
          <a:ln>
            <a:noFill/>
          </a:ln>
        </p:spPr>
        <p:txBody>
          <a:bodyPr anchor="ctr"/>
          <a:lstStyle/>
          <a:p>
            <a:pPr algn="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D16-1264/" TargetMode="External"/><Relationship Id="rId3" Type="http://schemas.openxmlformats.org/officeDocument/2006/relationships/hyperlink" Target="https://aclanthology.org/P18-2124/" TargetMode="Externa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huggingface/course/blob/main/chapters/en/chapter7/7.mdx" TargetMode="External"/><Relationship Id="rId3" Type="http://schemas.openxmlformats.org/officeDocument/2006/relationships/hyperlink" Target="https://aclanthology.org/N19-1423/" TargetMode="Externa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D17-1215/" TargetMode="External"/><Relationship Id="rId3" Type="http://schemas.openxmlformats.org/officeDocument/2006/relationships/hyperlink" Target="https://github.com/rajpurkar/SQuAD-explorer"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457200" y="1388745"/>
            <a:ext cx="8229600" cy="2005965"/>
          </a:xfrm>
        </p:spPr>
        <p:txBody>
          <a:bodyPr wrap="square" anchor="ctr" lIns="0" rIns="0" tIns="0" bIns="0">
            <a:noAutofit/>
          </a:bodyPr>
          <a:lstStyle/>
          <a:p>
            <a:pPr algn="ctr" marL="0" indent="0">
              <a:lnSpc>
                <a:spcPct val="110000"/>
              </a:lnSpc>
              <a:spcBef>
                <a:spcPts val="0"/>
              </a:spcBef>
              <a:spcAft>
                <a:spcPts val="1200"/>
              </a:spcAft>
              <a:buNone/>
              <a:defRPr sz="3400" lang="ja-JP">
                <a:latin typeface="Noto Sans"/>
                <a:ea typeface="Noto Sans CJK JP"/>
                <a:cs typeface="Noto Sans"/>
              </a:defRPr>
            </a:pPr>
            <a:r>
              <a:rPr sz="3400" b="1" lang="ja-JP">
                <a:solidFill>
                  <a:srgbClr val="303437"/>
                </a:solidFill>
                <a:latin typeface="Noto Sans"/>
                <a:ea typeface="Noto Sans CJK JP"/>
                <a:cs typeface="Noto Sans"/>
              </a:rPr>
              <a:t>読解型質問応答用データセット</a:t>
            </a:r>
            <a:endParaRPr sz="3400" lang="ja-JP">
              <a:latin typeface="Noto Sans"/>
              <a:ea typeface="Noto Sans CJK JP"/>
              <a:cs typeface="Noto Sans"/>
            </a:endParaRPr>
          </a:p>
          <a:p>
            <a:pPr algn="ctr" marL="0" indent="0">
              <a:lnSpc>
                <a:spcPct val="110000"/>
              </a:lnSpc>
              <a:spcBef>
                <a:spcPts val="0"/>
              </a:spcBef>
              <a:spcAft>
                <a:spcPts val="1200"/>
              </a:spcAft>
              <a:buNone/>
              <a:defRPr sz="5800" lang="ja-JP">
                <a:latin typeface="Noto Sans"/>
                <a:ea typeface="Noto Sans CJK JP"/>
                <a:cs typeface="Noto Sans"/>
              </a:defRPr>
            </a:pPr>
            <a:r>
              <a:rPr sz="5800" b="1" lang="ja-JP">
                <a:solidFill>
                  <a:srgbClr val="303437"/>
                </a:solidFill>
                <a:latin typeface="Noto Sans"/>
                <a:ea typeface="Noto Sans CJK JP"/>
                <a:cs typeface="Noto Sans"/>
              </a:rPr>
              <a:t>SQuAD</a:t>
            </a:r>
            <a:endParaRPr sz="5800" lang="ja-JP">
              <a:latin typeface="Noto Sans"/>
              <a:ea typeface="Noto Sans CJK JP"/>
              <a:cs typeface="Noto Sans"/>
            </a:endParaRPr>
          </a:p>
        </p:txBody>
      </p:sp>
      <p:sp>
        <p:nvSpPr>
          <p:cNvPr id="3" name="Subtitle 2"/>
          <p:cNvSpPr>
            <a:spLocks noGrp="1"/>
          </p:cNvSpPr>
          <p:nvPr>
            <p:ph type="subTitle" idx="1"/>
          </p:nvPr>
        </p:nvSpPr>
        <p:spPr>
          <a:xfrm>
            <a:off x="548640" y="3657600"/>
            <a:ext cx="8046720" cy="365760"/>
          </a:xfrm>
        </p:spPr>
        <p:txBody>
          <a:bodyPr wrap="square" anchor="ctr" lIns="0" rIns="0" tIns="0" bIns="0">
            <a:noAutofit/>
          </a:bodyPr>
          <a:lstStyle/>
          <a:p>
            <a:pPr algn="ctr" marL="0" indent="0">
              <a:lnSpc>
                <a:spcPct val="115000"/>
              </a:lnSpc>
              <a:spcBef>
                <a:spcPts val="0"/>
              </a:spcBef>
              <a:spcAft>
                <a:spcPts val="800"/>
              </a:spcAft>
              <a:buNone/>
              <a:defRPr sz="2200" lang="ja-JP">
                <a:latin typeface="Noto Sans"/>
                <a:ea typeface="Noto Sans CJK JP"/>
                <a:cs typeface="Noto Sans"/>
              </a:defRPr>
            </a:pPr>
            <a:r>
              <a:rPr sz="2200" b="0" lang="ja-JP">
                <a:solidFill>
                  <a:srgbClr val="303437"/>
                </a:solidFill>
                <a:latin typeface="Noto Sans"/>
                <a:ea typeface="Noto Sans CJK JP"/>
                <a:cs typeface="Noto Sans"/>
              </a:rPr>
              <a:t>Stanford Question Answering Dataset</a:t>
            </a:r>
            <a:endParaRPr sz="2200" lang="ja-JP">
              <a:latin typeface="Noto Sans"/>
              <a:ea typeface="Noto Sans CJK JP"/>
              <a:cs typeface="Noto Sans"/>
            </a:endParaRPr>
          </a:p>
        </p:txBody>
      </p:sp>
      <p:sp>
        <p:nvSpPr>
          <p:cNvPr id="5" name="Text Placeholder 4"/>
          <p:cNvSpPr>
            <a:spLocks noGrp="1"/>
          </p:cNvSpPr>
          <p:nvPr>
            <p:ph type="body" idx="11"/>
          </p:nvPr>
        </p:nvSpPr>
        <p:spPr>
          <a:xfrm>
            <a:off x="5486400" y="4416552"/>
            <a:ext cx="3108960" cy="402336"/>
          </a:xfrm>
        </p:spPr>
        <p:txBody>
          <a:bodyPr wrap="square" anchor="t" lIns="0" rIns="0" tIns="0" bIns="0">
            <a:noAutofit/>
          </a:bodyPr>
          <a:lstStyle/>
          <a:p>
            <a:pPr algn="r" marL="0" indent="0">
              <a:lnSpc>
                <a:spcPct val="110000"/>
              </a:lnSpc>
              <a:spcBef>
                <a:spcPts val="0"/>
              </a:spcBef>
              <a:spcAft>
                <a:spcPts val="600"/>
              </a:spcAft>
              <a:buNone/>
              <a:defRPr sz="2000" lang="ja-JP">
                <a:latin typeface="Noto Sans"/>
                <a:ea typeface="Noto Sans CJK JP"/>
                <a:cs typeface="Noto Sans"/>
              </a:defRPr>
            </a:pPr>
            <a:r>
              <a:rPr sz="2000" lang="ja-JP">
                <a:solidFill>
                  <a:srgbClr val="303437"/>
                </a:solidFill>
                <a:latin typeface="Noto Sans"/>
                <a:ea typeface="Noto Sans CJK JP"/>
                <a:cs typeface="Noto Sans"/>
              </a:rPr>
              <a:t>sasakiy84</a:t>
            </a:r>
            <a:endParaRPr sz="1400" lang="ja-JP">
              <a:latin typeface="Noto Sans"/>
              <a:ea typeface="Noto Sans CJK JP"/>
              <a:cs typeface="Noto Sans"/>
            </a:endParaRPr>
          </a:p>
        </p:txBody>
      </p:sp>
      <p:sp>
        <p:nvSpPr>
          <p:cNvPr id="6" name="Text Placeholder 5"/>
          <p:cNvSpPr>
            <a:spLocks noGrp="1"/>
          </p:cNvSpPr>
          <p:nvPr>
            <p:ph type="body" idx="12"/>
          </p:nvPr>
        </p:nvSpPr>
        <p:spPr>
          <a:xfrm>
            <a:off x="457200" y="274320"/>
            <a:ext cx="8046720" cy="27432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datasets in 10 minutes (2026-10-15)</a:t>
            </a:r>
            <a:endParaRPr sz="1400" lang="ja-JP">
              <a:latin typeface="Noto Sans"/>
              <a:ea typeface="Noto Sans CJK JP"/>
              <a:cs typeface="Noto Sans"/>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lIns="0" rIns="0" tIns="0" bIns="0" anchor="t"/>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本編の構成</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SQuADの構成</a:t>
            </a:r>
            <a:endParaRPr sz="1400" lang="ja-JP">
              <a:latin typeface="Noto Sans"/>
              <a:ea typeface="Noto Sans CJK JP"/>
              <a:cs typeface="Noto Sans"/>
            </a:endParaRPr>
          </a:p>
        </p:txBody>
      </p:sp>
      <p:sp>
        <p:nvSpPr>
          <p:cNvPr id="4" name="TextBox 3"/>
          <p:cNvSpPr txBox="1"/>
          <p:nvPr/>
        </p:nvSpPr>
        <p:spPr>
          <a:xfrm>
            <a:off x="594360" y="1463040"/>
            <a:ext cx="7955279" cy="3383280"/>
          </a:xfrm>
          <a:prstGeom prst="rect">
            <a:avLst/>
          </a:prstGeom>
          <a:noFill/>
        </p:spPr>
        <p:txBody>
          <a:bodyPr wrap="square" lIns="0" rIns="0" tIns="0" bIns="0" anchor="t">
            <a:spAutoFit/>
          </a:bodyPr>
          <a:lstStyle/>
          <a:p>
            <a:pPr algn="l" marL="533400" indent="-381000">
              <a:lnSpc>
                <a:spcPct val="110000"/>
              </a:lnSpc>
              <a:spcBef>
                <a:spcPts val="0"/>
              </a:spcBef>
              <a:spcAft>
                <a:spcPts val="1100"/>
              </a:spcAft>
              <a:buAutoNum type="arabicPeriod" startAt="1"/>
              <a:defRPr sz="2800" lang="ja-JP">
                <a:latin typeface="Noto Sans"/>
                <a:ea typeface="Noto Sans CJK JP"/>
                <a:cs typeface="Noto Sans"/>
              </a:defRPr>
            </a:pPr>
            <a:r>
              <a:rPr sz="2800" lang="ja-JP">
                <a:solidFill>
                  <a:srgbClr val="303437"/>
                </a:solidFill>
                <a:latin typeface="Noto Sans"/>
                <a:ea typeface="Noto Sans CJK JP"/>
                <a:cs typeface="Noto Sans"/>
              </a:rPr>
              <a:t>目的とタスク</a:t>
            </a:r>
            <a:endParaRPr sz="2800" lang="ja-JP">
              <a:latin typeface="Noto Sans"/>
              <a:ea typeface="Noto Sans CJK JP"/>
              <a:cs typeface="Noto Sans"/>
            </a:endParaRPr>
          </a:p>
          <a:p>
            <a:pPr algn="l" marL="533400" indent="-381000">
              <a:lnSpc>
                <a:spcPct val="110000"/>
              </a:lnSpc>
              <a:spcBef>
                <a:spcPts val="0"/>
              </a:spcBef>
              <a:spcAft>
                <a:spcPts val="1100"/>
              </a:spcAft>
              <a:buAutoNum type="arabicPeriod" startAt="2"/>
              <a:defRPr sz="2800" lang="ja-JP">
                <a:latin typeface="Noto Sans"/>
                <a:ea typeface="Noto Sans CJK JP"/>
                <a:cs typeface="Noto Sans"/>
              </a:defRPr>
            </a:pPr>
            <a:r>
              <a:rPr sz="2800" lang="ja-JP">
                <a:solidFill>
                  <a:srgbClr val="303437"/>
                </a:solidFill>
                <a:latin typeface="Noto Sans"/>
                <a:ea typeface="Noto Sans CJK JP"/>
                <a:cs typeface="Noto Sans"/>
              </a:rPr>
              <a:t>作成方法と規模</a:t>
            </a:r>
            <a:endParaRPr sz="2800" lang="ja-JP">
              <a:latin typeface="Noto Sans"/>
              <a:ea typeface="Noto Sans CJK JP"/>
              <a:cs typeface="Noto Sans"/>
            </a:endParaRPr>
          </a:p>
          <a:p>
            <a:pPr algn="l" marL="533400" indent="-381000">
              <a:lnSpc>
                <a:spcPct val="110000"/>
              </a:lnSpc>
              <a:spcBef>
                <a:spcPts val="0"/>
              </a:spcBef>
              <a:spcAft>
                <a:spcPts val="1100"/>
              </a:spcAft>
              <a:buAutoNum type="arabicPeriod" startAt="3"/>
              <a:defRPr sz="2800" lang="ja-JP">
                <a:latin typeface="Noto Sans"/>
                <a:ea typeface="Noto Sans CJK JP"/>
                <a:cs typeface="Noto Sans"/>
              </a:defRPr>
            </a:pPr>
            <a:r>
              <a:rPr sz="2800" lang="ja-JP">
                <a:solidFill>
                  <a:srgbClr val="303437"/>
                </a:solidFill>
                <a:latin typeface="Noto Sans"/>
                <a:ea typeface="Noto Sans CJK JP"/>
                <a:cs typeface="Noto Sans"/>
              </a:rPr>
              <a:t>評価と性能</a:t>
            </a:r>
            <a:endParaRPr sz="2800" lang="ja-JP">
              <a:latin typeface="Noto Sans"/>
              <a:ea typeface="Noto Sans CJK JP"/>
              <a:cs typeface="Noto Sans"/>
            </a:endParaRPr>
          </a:p>
          <a:p>
            <a:pPr algn="l" marL="533400" indent="-381000">
              <a:lnSpc>
                <a:spcPct val="110000"/>
              </a:lnSpc>
              <a:spcBef>
                <a:spcPts val="0"/>
              </a:spcBef>
              <a:spcAft>
                <a:spcPts val="1100"/>
              </a:spcAft>
              <a:buAutoNum type="arabicPeriod" startAt="4"/>
              <a:defRPr sz="2800" lang="ja-JP">
                <a:latin typeface="Noto Sans"/>
                <a:ea typeface="Noto Sans CJK JP"/>
                <a:cs typeface="Noto Sans"/>
              </a:defRPr>
            </a:pPr>
            <a:r>
              <a:rPr sz="2800" lang="ja-JP">
                <a:solidFill>
                  <a:srgbClr val="303437"/>
                </a:solidFill>
                <a:latin typeface="Noto Sans"/>
                <a:ea typeface="Noto Sans CJK JP"/>
                <a:cs typeface="Noto Sans"/>
              </a:rPr>
              <a:t>利用の変遷と現在</a:t>
            </a:r>
            <a:endParaRPr sz="2800" lang="ja-JP">
              <a:latin typeface="Noto Sans"/>
              <a:ea typeface="Noto Sans CJK JP"/>
              <a:cs typeface="Noto Sans"/>
            </a:endParaRPr>
          </a:p>
          <a:p>
            <a:pPr algn="l" marL="533400" indent="-381000">
              <a:lnSpc>
                <a:spcPct val="110000"/>
              </a:lnSpc>
              <a:spcBef>
                <a:spcPts val="0"/>
              </a:spcBef>
              <a:spcAft>
                <a:spcPts val="1100"/>
              </a:spcAft>
              <a:buAutoNum type="arabicPeriod" startAt="5"/>
              <a:defRPr sz="2800" lang="ja-JP">
                <a:latin typeface="Noto Sans"/>
                <a:ea typeface="Noto Sans CJK JP"/>
                <a:cs typeface="Noto Sans"/>
              </a:defRPr>
            </a:pPr>
            <a:r>
              <a:rPr sz="2800" lang="ja-JP">
                <a:solidFill>
                  <a:srgbClr val="303437"/>
                </a:solidFill>
                <a:latin typeface="Noto Sans"/>
                <a:ea typeface="Noto Sans CJK JP"/>
                <a:cs typeface="Noto Sans"/>
              </a:rPr>
              <a:t>入手方法とまとめ</a:t>
            </a:r>
            <a:endParaRPr sz="2800" lang="ja-JP">
              <a:latin typeface="Noto Sans"/>
              <a:ea typeface="Noto Sans CJK JP"/>
              <a:cs typeface="Noto Sans"/>
            </a:endParaRP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1783080"/>
            <a:ext cx="8229600" cy="1417320"/>
          </a:xfrm>
        </p:spPr>
        <p:txBody>
          <a:bodyPr wrap="none" lIns="0" rIns="0" tIns="0" bIns="0" anchor="ctr"/>
          <a:lstStyle/>
          <a:p>
            <a:pPr algn="ctr" marL="0" indent="0">
              <a:lnSpc>
                <a:spcPct val="110000"/>
              </a:lnSpc>
              <a:spcBef>
                <a:spcPts val="0"/>
              </a:spcBef>
              <a:spcAft>
                <a:spcPts val="0"/>
              </a:spcAft>
              <a:buNone/>
              <a:defRPr sz="4000" lang="ja-JP">
                <a:latin typeface="Noto Sans"/>
                <a:ea typeface="Noto Sans CJK JP"/>
                <a:cs typeface="Noto Sans"/>
              </a:defRPr>
            </a:pPr>
            <a:r>
              <a:rPr sz="4000" lang="ja-JP" b="1">
                <a:solidFill>
                  <a:srgbClr val="303437"/>
                </a:solidFill>
                <a:latin typeface="Noto Sans"/>
                <a:ea typeface="Noto Sans CJK JP"/>
                <a:cs typeface="Noto Sans"/>
              </a:rPr>
              <a:t>1 目的とタスク</a:t>
            </a:r>
            <a:endParaRPr sz="4000" lang="ja-JP">
              <a:latin typeface="Noto Sans"/>
              <a:ea typeface="Noto Sans CJK JP"/>
              <a:cs typeface="Noto Sans"/>
            </a:endParaRPr>
          </a:p>
        </p:txBody>
      </p:sp>
      <p:sp>
        <p:nvSpPr>
          <p:cNvPr id="3" name="Title 2"/>
          <p:cNvSpPr>
            <a:spLocks noGrp="1"/>
          </p:cNvSpPr>
          <p:nvPr>
            <p:ph type="title" idx="2"/>
          </p:nvPr>
        </p:nvSpPr>
        <p:spPr/>
        <p:txBody>
          <a:bodyPr/>
          <a:lstStyle/>
          <a:p>
            <a:pP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SQuAD の公式サイト</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概要</a:t>
            </a:r>
            <a:endParaRPr sz="1400" lang="ja-JP">
              <a:latin typeface="Noto Sans"/>
              <a:ea typeface="Noto Sans CJK JP"/>
              <a:cs typeface="Noto Sans"/>
            </a:endParaRPr>
          </a:p>
        </p:txBody>
      </p:sp>
      <p:pic>
        <p:nvPicPr>
          <p:cNvPr id="4" name="Picture 3" descr="official-homepage.png"/>
          <p:cNvPicPr>
            <a:picLocks noChangeAspect="1"/>
          </p:cNvPicPr>
          <p:nvPr/>
        </p:nvPicPr>
        <p:blipFill>
          <a:blip r:embed="rId2"/>
          <a:stretch>
            <a:fillRect/>
          </a:stretch>
        </p:blipFill>
        <p:spPr>
          <a:xfrm>
            <a:off x="2094754" y="1414462"/>
            <a:ext cx="4954491" cy="3163252"/>
          </a:xfrm>
          <a:prstGeom prst="rect">
            <a:avLst/>
          </a:prstGeom>
        </p:spPr>
      </p:pic>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https://rajpurkar.github.io/SQuAD-explorer/</a:t>
            </a:r>
            <a:endParaRPr sz="850" lang="ja-JP">
              <a:latin typeface="Noto Sans"/>
              <a:ea typeface="Noto Sans CJK JP"/>
              <a:cs typeface="Noto Sans"/>
            </a:endParaRP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開発当時の課題と SQuAD の目的</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概要</a:t>
            </a:r>
            <a:endParaRPr sz="1400" lang="ja-JP">
              <a:latin typeface="Noto Sans"/>
              <a:ea typeface="Noto Sans CJK JP"/>
              <a:cs typeface="Noto Sans"/>
            </a:endParaRPr>
          </a:p>
        </p:txBody>
      </p:sp>
      <p:sp>
        <p:nvSpPr>
          <p:cNvPr id="4" name="content-text"/>
          <p:cNvSpPr txBox="1"/>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55417"/>
              <a:buFont typeface="Noto Sans CJK JP"/>
              <a:buChar char="●"/>
              <a:defRPr sz="2400" lang="ja-JP">
                <a:latin typeface="Noto Sans"/>
                <a:ea typeface="Noto Sans CJK JP"/>
                <a:cs typeface="Noto Sans"/>
              </a:defRPr>
            </a:pPr>
            <a:r>
              <a:rPr sz="2400" b="0" lang="ja-JP">
                <a:solidFill>
                  <a:srgbClr val="303437"/>
                </a:solidFill>
                <a:latin typeface="Noto Sans"/>
                <a:ea typeface="Noto Sans CJK JP"/>
                <a:cs typeface="Noto Sans"/>
              </a:rPr>
              <a:t>人手で作った質問で、読解を大規模に評価する </a:t>
            </a:r>
            <a:r>
              <a:rPr sz="2400" b="0" lang="ja-JP">
                <a:solidFill>
                  <a:srgbClr val="303437"/>
                </a:solidFill>
                <a:latin typeface="Noto Sans"/>
                <a:ea typeface="Noto Sans CJK JP"/>
                <a:cs typeface="Noto Sans"/>
              </a:rPr>
              <a:t>[1]</a:t>
            </a:r>
            <a:r>
              <a:rPr sz="2400" b="0" lang="ja-JP">
                <a:solidFill>
                  <a:srgbClr val="303437"/>
                </a:solidFill>
                <a:latin typeface="Noto Sans"/>
                <a:ea typeface="Noto Sans CJK JP"/>
                <a:cs typeface="Noto Sans"/>
              </a:rPr>
              <a:t>。</a:t>
            </a:r>
            <a:endParaRPr sz="2400" lang="ja-JP">
              <a:latin typeface="Noto Sans"/>
              <a:ea typeface="Noto Sans CJK JP"/>
              <a:cs typeface="Noto Sans"/>
            </a:endParaRPr>
          </a:p>
          <a:p>
            <a:pPr algn="l" lvl="0" marL="457200" indent="-355600">
              <a:buSzPct val="57826"/>
              <a:buFont typeface="Noto Sans CJK JP"/>
              <a:buChar char="●"/>
              <a:defRPr sz="2300" lang="ja-JP">
                <a:latin typeface="Noto Sans"/>
                <a:ea typeface="Noto Sans CJK JP"/>
                <a:cs typeface="Noto Sans"/>
              </a:defRPr>
            </a:pPr>
            <a:r>
              <a:rPr sz="2300" b="0" lang="ja-JP">
                <a:solidFill>
                  <a:srgbClr val="303437"/>
                </a:solidFill>
                <a:latin typeface="Noto Sans"/>
                <a:ea typeface="Noto Sans CJK JP"/>
                <a:cs typeface="Noto Sans"/>
              </a:rPr>
              <a:t>当時は、人手作成の読解データが小規模だった。</a:t>
            </a:r>
            <a:endParaRPr sz="2300" lang="ja-JP">
              <a:latin typeface="Noto Sans"/>
              <a:ea typeface="Noto Sans CJK JP"/>
              <a:cs typeface="Noto Sans"/>
            </a:endParaRPr>
          </a:p>
          <a:p>
            <a:pPr lvl="1" algn="l" marL="9144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大規模な自動作成データでは、質問・正解の形式が限定的。</a:t>
            </a:r>
            <a:endParaRPr sz="2100" lang="ja-JP">
              <a:latin typeface="Noto Sans"/>
              <a:ea typeface="Noto Sans CJK JP"/>
              <a:cs typeface="Noto Sans"/>
            </a:endParaRPr>
          </a:p>
          <a:p>
            <a:pPr algn="l" lvl="0" marL="457200" indent="-355600">
              <a:buSzPct val="57826"/>
              <a:buFont typeface="Noto Sans CJK JP"/>
              <a:buChar char="●"/>
              <a:defRPr sz="2300" lang="ja-JP">
                <a:latin typeface="Noto Sans"/>
                <a:ea typeface="Noto Sans CJK JP"/>
                <a:cs typeface="Noto Sans"/>
              </a:defRPr>
            </a:pPr>
            <a:r>
              <a:rPr sz="2300" b="0" lang="ja-JP">
                <a:solidFill>
                  <a:srgbClr val="303437"/>
                </a:solidFill>
                <a:latin typeface="Noto Sans"/>
                <a:ea typeface="Noto Sans CJK JP"/>
                <a:cs typeface="Noto Sans"/>
              </a:rPr>
              <a:t>Wikipediaの段落に、人が質問と回答範囲を付ける。</a:t>
            </a:r>
            <a:endParaRPr sz="2300" lang="ja-JP">
              <a:latin typeface="Noto Sans"/>
              <a:ea typeface="Noto Sans CJK JP"/>
              <a:cs typeface="Noto Sans"/>
            </a:endParaRPr>
          </a:p>
          <a:p>
            <a:pPr lvl="1" algn="l" marL="9144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正解は単語1個や固有名詞に限らず、連続した語句を許す</a:t>
            </a:r>
            <a:endParaRPr sz="2100" lang="ja-JP">
              <a:latin typeface="Noto Sans"/>
              <a:ea typeface="Noto Sans CJK JP"/>
              <a:cs typeface="Noto Sans"/>
            </a:endParaRPr>
          </a:p>
          <a:p>
            <a:pPr algn="l" lvl="0" marL="457200" indent="-355600">
              <a:buSzPct val="57826"/>
              <a:buFont typeface="Noto Sans CJK JP"/>
              <a:buChar char="●"/>
              <a:defRPr sz="2300" lang="ja-JP">
                <a:latin typeface="Noto Sans"/>
                <a:ea typeface="Noto Sans CJK JP"/>
                <a:cs typeface="Noto Sans"/>
              </a:defRPr>
            </a:pPr>
            <a:r>
              <a:rPr sz="2300" b="0" lang="ja-JP">
                <a:solidFill>
                  <a:srgbClr val="303437"/>
                </a:solidFill>
                <a:latin typeface="Noto Sans"/>
                <a:ea typeface="Noto Sans CJK JP"/>
                <a:cs typeface="Noto Sans"/>
              </a:rPr>
              <a:t>論文では10万問以上・500以上の記事を報告。</a:t>
            </a:r>
            <a:endParaRPr sz="2300" lang="ja-JP">
              <a:latin typeface="Noto Sans"/>
              <a:ea typeface="Noto Sans CJK JP"/>
              <a:cs typeface="Noto Sans"/>
            </a:endParaRPr>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Rajpurkar et al. (2016), §1–3　https://aclanthology.org/D16-1264/</a:t>
            </a:r>
            <a:endParaRPr sz="850" lang="ja-JP">
              <a:latin typeface="Noto Sans"/>
              <a:ea typeface="Noto Sans CJK JP"/>
              <a:cs typeface="Noto Sans"/>
            </a:endParaR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SQuAD のタスク</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概要</a:t>
            </a:r>
            <a:endParaRPr sz="1400" lang="ja-JP">
              <a:latin typeface="Noto Sans"/>
              <a:ea typeface="Noto Sans CJK JP"/>
              <a:cs typeface="Noto Sans"/>
            </a:endParaRPr>
          </a:p>
        </p:txBody>
      </p:sp>
      <p:sp>
        <p:nvSpPr>
          <p:cNvPr id="4" name="content-text"/>
          <p:cNvSpPr txBox="1"/>
          <p:nvPr>
            <p:ph type="body" idx="1"/>
          </p:nvPr>
        </p:nvSpPr>
        <p:spPr>
          <a:xfrm>
            <a:off x="594360" y="1543050"/>
            <a:ext cx="8046720" cy="2674620"/>
          </a:xfrm>
          <a:prstGeom prst="rect">
            <a:avLst/>
          </a:prstGeom>
          <a:noFill/>
        </p:spPr>
        <p:txBody>
          <a:bodyPr wrap="square" anchor="t" lIns="91425" rIns="91425" tIns="91425" bIns="91425">
            <a:noAutofit/>
          </a:bodyPr>
          <a:lstStyle/>
          <a:p>
            <a:pPr algn="l" lvl="0" marL="457200" indent="-355600">
              <a:buSzPct val="53200"/>
              <a:buFont typeface="Noto Sans CJK JP"/>
              <a:buChar char="●"/>
              <a:defRPr sz="2500" lang="ja-JP">
                <a:latin typeface="Noto Sans"/>
                <a:ea typeface="Noto Sans CJK JP"/>
                <a:cs typeface="Noto Sans"/>
              </a:defRPr>
            </a:pPr>
            <a:r>
              <a:rPr sz="2500" b="0" lang="ja-JP">
                <a:solidFill>
                  <a:srgbClr val="303437"/>
                </a:solidFill>
                <a:latin typeface="Noto Sans"/>
                <a:ea typeface="Noto Sans CJK JP"/>
                <a:cs typeface="Noto Sans"/>
              </a:rPr>
              <a:t>入力にはWikipedia記事の1段落と、その段落への質問を使う </a:t>
            </a:r>
            <a:r>
              <a:rPr sz="2500" b="0" lang="ja-JP">
                <a:solidFill>
                  <a:srgbClr val="303437"/>
                </a:solidFill>
                <a:latin typeface="Noto Sans"/>
                <a:ea typeface="Noto Sans CJK JP"/>
                <a:cs typeface="Noto Sans"/>
              </a:rPr>
              <a:t>[1]</a:t>
            </a:r>
            <a:r>
              <a:rPr sz="2500" b="0" lang="ja-JP">
                <a:solidFill>
                  <a:srgbClr val="303437"/>
                </a:solidFill>
                <a:latin typeface="Noto Sans"/>
                <a:ea typeface="Noto Sans CJK JP"/>
                <a:cs typeface="Noto Sans"/>
              </a:rPr>
              <a:t>。</a:t>
            </a:r>
            <a:endParaRPr sz="2500" lang="ja-JP">
              <a:latin typeface="Noto Sans"/>
              <a:ea typeface="Noto Sans CJK JP"/>
              <a:cs typeface="Noto Sans"/>
            </a:endParaRPr>
          </a:p>
          <a:p>
            <a:pPr algn="l" lvl="0" marL="457200" indent="-355600">
              <a:buSzPct val="53200"/>
              <a:buFont typeface="Noto Sans CJK JP"/>
              <a:buChar char="●"/>
              <a:defRPr sz="2500" lang="ja-JP">
                <a:latin typeface="Noto Sans"/>
                <a:ea typeface="Noto Sans CJK JP"/>
                <a:cs typeface="Noto Sans"/>
              </a:defRPr>
            </a:pPr>
            <a:r>
              <a:rPr sz="2500" b="0" lang="ja-JP">
                <a:solidFill>
                  <a:srgbClr val="303437"/>
                </a:solidFill>
                <a:latin typeface="Noto Sans"/>
                <a:ea typeface="Noto Sans CJK JP"/>
                <a:cs typeface="Noto Sans"/>
              </a:rPr>
              <a:t>質問に対応する原文の表現を回答する</a:t>
            </a:r>
            <a:endParaRPr sz="2500" lang="ja-JP">
              <a:latin typeface="Noto Sans"/>
              <a:ea typeface="Noto Sans CJK JP"/>
              <a:cs typeface="Noto Sans"/>
            </a:endParaRPr>
          </a:p>
          <a:p>
            <a:pPr lvl="1" algn="l" marL="914400" indent="-355600">
              <a:buSzPct val="57826"/>
              <a:buFont typeface="Noto Sans CJK JP"/>
              <a:buChar char="○"/>
              <a:defRPr sz="2300" lang="ja-JP">
                <a:latin typeface="Noto Sans"/>
                <a:ea typeface="Noto Sans CJK JP"/>
                <a:cs typeface="Noto Sans"/>
              </a:defRPr>
            </a:pPr>
            <a:r>
              <a:rPr sz="2300" b="0" lang="ja-JP">
                <a:solidFill>
                  <a:srgbClr val="303437"/>
                </a:solidFill>
                <a:latin typeface="Noto Sans"/>
                <a:ea typeface="Noto Sans CJK JP"/>
                <a:cs typeface="Noto Sans"/>
              </a:rPr>
              <a:t>本文中の連続した範囲を正解として指定する。</a:t>
            </a:r>
            <a:endParaRPr sz="2300" lang="ja-JP">
              <a:latin typeface="Noto Sans"/>
              <a:ea typeface="Noto Sans CJK JP"/>
              <a:cs typeface="Noto Sans"/>
            </a:endParaRPr>
          </a:p>
          <a:p>
            <a:pPr algn="l" lvl="0" marL="457200" indent="-355600">
              <a:buSzPct val="53200"/>
              <a:buFont typeface="Noto Sans CJK JP"/>
              <a:buChar char="●"/>
              <a:defRPr sz="2500" lang="ja-JP">
                <a:latin typeface="Noto Sans"/>
                <a:ea typeface="Noto Sans CJK JP"/>
                <a:cs typeface="Noto Sans"/>
              </a:defRPr>
            </a:pPr>
            <a:r>
              <a:rPr sz="2500" b="0" lang="ja-JP">
                <a:solidFill>
                  <a:srgbClr val="303437"/>
                </a:solidFill>
                <a:latin typeface="Noto Sans"/>
                <a:ea typeface="Noto Sans CJK JP"/>
                <a:cs typeface="Noto Sans"/>
              </a:rPr>
              <a:t>答えは固有名詞・年・数量・語句など。</a:t>
            </a:r>
            <a:endParaRPr sz="2500" lang="ja-JP">
              <a:latin typeface="Noto Sans"/>
              <a:ea typeface="Noto Sans CJK JP"/>
              <a:cs typeface="Noto Sans"/>
            </a:endParaRPr>
          </a:p>
          <a:p>
            <a:pPr algn="l" lvl="0" marL="457200" indent="-355600">
              <a:buSzPct val="53200"/>
              <a:buFont typeface="Noto Sans CJK JP"/>
              <a:buChar char="●"/>
              <a:defRPr sz="2500" lang="ja-JP">
                <a:latin typeface="Noto Sans"/>
                <a:ea typeface="Noto Sans CJK JP"/>
                <a:cs typeface="Noto Sans"/>
              </a:defRPr>
            </a:pPr>
            <a:r>
              <a:rPr sz="2500" b="0" lang="ja-JP">
                <a:solidFill>
                  <a:srgbClr val="303437"/>
                </a:solidFill>
                <a:latin typeface="Noto Sans"/>
                <a:ea typeface="Noto Sans CJK JP"/>
                <a:cs typeface="Noto Sans"/>
              </a:rPr>
              <a:t>元データの文章・質問・正解は英語。</a:t>
            </a:r>
            <a:endParaRPr sz="2500" lang="ja-JP">
              <a:latin typeface="Noto Sans"/>
              <a:ea typeface="Noto Sans CJK JP"/>
              <a:cs typeface="Noto Sans"/>
            </a:endParaRPr>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タスク・入力単位　https://aclanthology.org/D16-1264/</a:t>
            </a:r>
            <a:endParaRPr sz="850" lang="ja-JP">
              <a:latin typeface="Noto Sans"/>
              <a:ea typeface="Noto Sans CJK JP"/>
              <a:cs typeface="Noto Sans"/>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実例1 スポーツ記事の質問</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タスクの実例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67283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The American Football Conference (AFC) champion </a:t>
            </a:r>
            <a:r>
              <a:rPr sz="1800" b="1" lang="ja-JP">
                <a:solidFill>
                  <a:srgbClr val="B13731"/>
                </a:solidFill>
                <a:latin typeface="Noto Sans"/>
                <a:ea typeface="Noto Sans CJK JP"/>
                <a:cs typeface="Noto Sans"/>
              </a:rPr>
              <a:t>Denver Broncos</a:t>
            </a:r>
            <a:r>
              <a:rPr sz="1800" b="0" lang="ja-JP">
                <a:solidFill>
                  <a:srgbClr val="303437"/>
                </a:solidFill>
                <a:latin typeface="Noto Sans"/>
                <a:ea typeface="Noto Sans CJK JP"/>
                <a:cs typeface="Noto Sans"/>
              </a:rPr>
              <a:t> defeated the National Football Conference (NFC) champion Carolina Panthers 24–10 to earn their third Super Bowl title. The game was played on February 7, 2016, at Levi's Stadium in the San Francisco Bay Area at Santa Clara, California.</a:t>
            </a:r>
            <a:endParaRPr sz="1800" lang="ja-JP">
              <a:latin typeface="Noto Sans"/>
              <a:ea typeface="Noto Sans CJK JP"/>
              <a:cs typeface="Noto Sans"/>
            </a:endParaRPr>
          </a:p>
        </p:txBody>
      </p:sp>
      <p:sp>
        <p:nvSpPr>
          <p:cNvPr id="7" name="example-question"/>
          <p:cNvSpPr txBox="1"/>
          <p:nvPr/>
        </p:nvSpPr>
        <p:spPr>
          <a:xfrm>
            <a:off x="548640" y="3541638"/>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Which NFL team represented the AFC at Super Bowl 50?</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第50回スーパーボウルで AFC を代表したチームは？</a:t>
            </a:r>
            <a:endParaRPr sz="1700" lang="ja-JP">
              <a:latin typeface="Noto Sans"/>
              <a:ea typeface="Noto Sans CJK JP"/>
              <a:cs typeface="Noto Sans"/>
            </a:endParaRPr>
          </a:p>
        </p:txBody>
      </p:sp>
      <p:sp>
        <p:nvSpPr>
          <p:cNvPr id="8" name="example-answer"/>
          <p:cNvSpPr txBox="1"/>
          <p:nvPr/>
        </p:nvSpPr>
        <p:spPr>
          <a:xfrm>
            <a:off x="548640" y="4189338"/>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Denver Broncos</a:t>
            </a:r>
            <a:endParaRPr sz="2200" lang="ja-JP">
              <a:latin typeface="Noto Sans"/>
              <a:ea typeface="Noto Sans CJK JP"/>
              <a:cs typeface="Noto Sans"/>
            </a:endParaRPr>
          </a:p>
        </p:txBody>
      </p:sp>
      <p:sp>
        <p:nvSpPr>
          <p:cNvPr id="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SQuAD 記事名 Super_Bowl_50　https://rajpurkar.github.io/SQuAD-explorer/dataset/dev-v1.1.json（CC BY-SA 4.0／抜粋・強調・質問訳を追加）　ID 56be4db0acb8001400a502ec</a:t>
            </a:r>
            <a:endParaRPr sz="850" lang="ja-JP">
              <a:latin typeface="Noto Sans"/>
              <a:ea typeface="Noto Sans CJK JP"/>
              <a:cs typeface="Noto Sans"/>
            </a:endParaRP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実例2 人物記事の質問</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タスクの実例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67283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Tesla gained experience in telephony and electrical engineering before emigrating to the United States in </a:t>
            </a:r>
            <a:r>
              <a:rPr sz="1800" b="1" lang="ja-JP">
                <a:solidFill>
                  <a:srgbClr val="B13731"/>
                </a:solidFill>
                <a:latin typeface="Noto Sans"/>
                <a:ea typeface="Noto Sans CJK JP"/>
                <a:cs typeface="Noto Sans"/>
              </a:rPr>
              <a:t>1884</a:t>
            </a:r>
            <a:r>
              <a:rPr sz="1800" b="0" lang="ja-JP">
                <a:solidFill>
                  <a:srgbClr val="303437"/>
                </a:solidFill>
                <a:latin typeface="Noto Sans"/>
                <a:ea typeface="Noto Sans CJK JP"/>
                <a:cs typeface="Noto Sans"/>
              </a:rPr>
              <a:t> to work for Thomas Edison in New York City. He soon struck out on his own with financial backers, setting up laboratories and companies to develop a range of electrical devices.</a:t>
            </a:r>
            <a:endParaRPr sz="1800" lang="ja-JP">
              <a:latin typeface="Noto Sans"/>
              <a:ea typeface="Noto Sans CJK JP"/>
              <a:cs typeface="Noto Sans"/>
            </a:endParaRPr>
          </a:p>
        </p:txBody>
      </p:sp>
      <p:sp>
        <p:nvSpPr>
          <p:cNvPr id="7" name="example-question"/>
          <p:cNvSpPr txBox="1"/>
          <p:nvPr/>
        </p:nvSpPr>
        <p:spPr>
          <a:xfrm>
            <a:off x="548640" y="3541638"/>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In what year did Nikola Tesla emigrate to the United States?</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ニコラ・テスラがアメリカへ移住したのは何年か？</a:t>
            </a:r>
            <a:endParaRPr sz="1700" lang="ja-JP">
              <a:latin typeface="Noto Sans"/>
              <a:ea typeface="Noto Sans CJK JP"/>
              <a:cs typeface="Noto Sans"/>
            </a:endParaRPr>
          </a:p>
        </p:txBody>
      </p:sp>
      <p:sp>
        <p:nvSpPr>
          <p:cNvPr id="8" name="example-answer"/>
          <p:cNvSpPr txBox="1"/>
          <p:nvPr/>
        </p:nvSpPr>
        <p:spPr>
          <a:xfrm>
            <a:off x="548640" y="4189338"/>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1884</a:t>
            </a:r>
            <a:endParaRPr sz="2200" lang="ja-JP">
              <a:latin typeface="Noto Sans"/>
              <a:ea typeface="Noto Sans CJK JP"/>
              <a:cs typeface="Noto Sans"/>
            </a:endParaRPr>
          </a:p>
        </p:txBody>
      </p:sp>
      <p:sp>
        <p:nvSpPr>
          <p:cNvPr id="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SQuAD 記事名 Nikola_Tesla　https://rajpurkar.github.io/SQuAD-explorer/dataset/dev-v1.1.json（CC BY-SA 4.0／抜粋・強調・質問訳を追加）　ID 56df9ee138dc421700152108</a:t>
            </a:r>
            <a:endParaRPr sz="850" lang="ja-JP">
              <a:latin typeface="Noto Sans"/>
              <a:ea typeface="Noto Sans CJK JP"/>
              <a:cs typeface="Noto Sans"/>
            </a:endParaRP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実例3 技術記事の質問</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タスクの実例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705053"/>
            <a:ext cx="8046720" cy="137690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88566"/>
            <a:ext cx="7680960" cy="118872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Steam engines are </a:t>
            </a:r>
            <a:r>
              <a:rPr sz="1800" b="1" lang="ja-JP">
                <a:solidFill>
                  <a:srgbClr val="B13731"/>
                </a:solidFill>
                <a:latin typeface="Noto Sans"/>
                <a:ea typeface="Noto Sans CJK JP"/>
                <a:cs typeface="Noto Sans"/>
              </a:rPr>
              <a:t>external combustion</a:t>
            </a:r>
            <a:r>
              <a:rPr sz="1800" b="0" lang="ja-JP">
                <a:solidFill>
                  <a:srgbClr val="303437"/>
                </a:solidFill>
                <a:latin typeface="Noto Sans"/>
                <a:ea typeface="Noto Sans CJK JP"/>
                <a:cs typeface="Noto Sans"/>
              </a:rPr>
              <a:t> engines, where the working fluid is separate from the combustion products. Non-combustion heat sources such as solar power, nuclear power or geothermal energy may be used.</a:t>
            </a:r>
            <a:endParaRPr sz="1800" lang="ja-JP">
              <a:latin typeface="Noto Sans"/>
              <a:ea typeface="Noto Sans CJK JP"/>
              <a:cs typeface="Noto Sans"/>
            </a:endParaRPr>
          </a:p>
        </p:txBody>
      </p:sp>
      <p:sp>
        <p:nvSpPr>
          <p:cNvPr id="7" name="example-question"/>
          <p:cNvSpPr txBox="1"/>
          <p:nvPr/>
        </p:nvSpPr>
        <p:spPr>
          <a:xfrm>
            <a:off x="548640" y="3259761"/>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types of engines are steam engines?</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蒸気機関はどのような種類の機関か？</a:t>
            </a:r>
            <a:endParaRPr sz="1700" lang="ja-JP">
              <a:latin typeface="Noto Sans"/>
              <a:ea typeface="Noto Sans CJK JP"/>
              <a:cs typeface="Noto Sans"/>
            </a:endParaRPr>
          </a:p>
        </p:txBody>
      </p:sp>
      <p:sp>
        <p:nvSpPr>
          <p:cNvPr id="8" name="example-answer"/>
          <p:cNvSpPr txBox="1"/>
          <p:nvPr/>
        </p:nvSpPr>
        <p:spPr>
          <a:xfrm>
            <a:off x="548640" y="3918129"/>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external combustion</a:t>
            </a:r>
            <a:endParaRPr sz="2200" lang="ja-JP">
              <a:latin typeface="Noto Sans"/>
              <a:ea typeface="Noto Sans CJK JP"/>
              <a:cs typeface="Noto Sans"/>
            </a:endParaRPr>
          </a:p>
        </p:txBody>
      </p:sp>
      <p:sp>
        <p:nvSpPr>
          <p:cNvPr id="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SQuAD 記事名 Steam_engine　https://rajpurkar.github.io/SQuAD-explorer/dataset/dev-v1.1.json（CC BY-SA 4.0／抜粋・強調・質問訳を追加）　ID 57112686b654c5140001fbd7</a:t>
            </a:r>
            <a:endParaRPr sz="850" lang="ja-JP">
              <a:latin typeface="Noto Sans"/>
              <a:ea typeface="Noto Sans CJK JP"/>
              <a:cs typeface="Noto Sans"/>
            </a:endParaRP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実例4 文章から回答できない質問</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タスクの実例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37690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They were descended from Norse ("Norman" comes from "Norseman") raiders and pirates from Denmark, Iceland and Norway who, under their leader Rollo, agreed to swear fealty to King Charles III of West Francia.</a:t>
            </a:r>
            <a:endParaRPr sz="1800" lang="ja-JP">
              <a:latin typeface="Noto Sans"/>
              <a:ea typeface="Noto Sans CJK JP"/>
              <a:cs typeface="Noto Sans"/>
            </a:endParaRPr>
          </a:p>
        </p:txBody>
      </p:sp>
      <p:sp>
        <p:nvSpPr>
          <p:cNvPr id="7" name="example-question"/>
          <p:cNvSpPr txBox="1"/>
          <p:nvPr/>
        </p:nvSpPr>
        <p:spPr>
          <a:xfrm>
            <a:off x="548640" y="3245715"/>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Who did King Charles III swear fealty to?</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シャルル3世は誰に忠誠を誓ったか？</a:t>
            </a:r>
            <a:endParaRPr sz="1700" lang="ja-JP">
              <a:latin typeface="Noto Sans"/>
              <a:ea typeface="Noto Sans CJK JP"/>
              <a:cs typeface="Noto Sans"/>
            </a:endParaRPr>
          </a:p>
        </p:txBody>
      </p:sp>
      <p:sp>
        <p:nvSpPr>
          <p:cNvPr id="8" name="example-answer"/>
          <p:cNvSpPr txBox="1"/>
          <p:nvPr/>
        </p:nvSpPr>
        <p:spPr>
          <a:xfrm>
            <a:off x="548640" y="3893415"/>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回答不能（文章に根拠がない）</a:t>
            </a:r>
            <a:endParaRPr sz="2200" lang="ja-JP">
              <a:latin typeface="Noto Sans"/>
              <a:ea typeface="Noto Sans CJK JP"/>
              <a:cs typeface="Noto Sans"/>
            </a:endParaRPr>
          </a:p>
        </p:txBody>
      </p:sp>
      <p:sp>
        <p:nvSpPr>
          <p:cNvPr id="9" name="content-text"/>
          <p:cNvSpPr txBox="1"/>
          <p:nvPr/>
        </p:nvSpPr>
        <p:spPr>
          <a:xfrm>
            <a:off x="548640" y="4337915"/>
            <a:ext cx="8046720" cy="23145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Rollo の側が王に忠誠を誓う。王が誰に誓ったかは記載されていない。</a:t>
            </a:r>
            <a:endParaRPr sz="1400" lang="ja-JP">
              <a:latin typeface="Noto Sans"/>
              <a:ea typeface="Noto Sans CJK JP"/>
              <a:cs typeface="Noto Sans"/>
            </a:endParaRPr>
          </a:p>
        </p:txBody>
      </p:sp>
      <p:sp>
        <p:nvSpPr>
          <p:cNvPr id="10"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SQuAD 記事名 Normans　https://rajpurkar.github.io/SQuAD-explorer/dataset/dev-v2.0.json（CC BY-SA 4.0／抜粋・強調・質問訳を追加）　ID 5ad39d53604f3c001a3fe8d3</a:t>
            </a:r>
            <a:endParaRPr sz="850" lang="ja-JP">
              <a:latin typeface="Noto Sans"/>
              <a:ea typeface="Noto Sans CJK JP"/>
              <a:cs typeface="Noto Sans"/>
            </a:endParaRP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1783080"/>
            <a:ext cx="8229600" cy="1417320"/>
          </a:xfrm>
        </p:spPr>
        <p:txBody>
          <a:bodyPr wrap="none" lIns="0" rIns="0" tIns="0" bIns="0" anchor="ctr"/>
          <a:lstStyle/>
          <a:p>
            <a:pPr algn="ctr" marL="0" indent="0">
              <a:lnSpc>
                <a:spcPct val="110000"/>
              </a:lnSpc>
              <a:spcBef>
                <a:spcPts val="0"/>
              </a:spcBef>
              <a:spcAft>
                <a:spcPts val="0"/>
              </a:spcAft>
              <a:buNone/>
              <a:defRPr sz="4000" lang="ja-JP">
                <a:latin typeface="Noto Sans"/>
                <a:ea typeface="Noto Sans CJK JP"/>
                <a:cs typeface="Noto Sans"/>
              </a:defRPr>
            </a:pPr>
            <a:r>
              <a:rPr sz="4000" lang="ja-JP" b="1">
                <a:solidFill>
                  <a:srgbClr val="303437"/>
                </a:solidFill>
                <a:latin typeface="Noto Sans"/>
                <a:ea typeface="Noto Sans CJK JP"/>
                <a:cs typeface="Noto Sans"/>
              </a:rPr>
              <a:t>2 作成方法と規模</a:t>
            </a:r>
            <a:endParaRPr sz="4000" lang="ja-JP">
              <a:latin typeface="Noto Sans"/>
              <a:ea typeface="Noto Sans CJK JP"/>
              <a:cs typeface="Noto Sans"/>
            </a:endParaRPr>
          </a:p>
        </p:txBody>
      </p:sp>
      <p:sp>
        <p:nvSpPr>
          <p:cNvPr id="3" name="Title 2"/>
          <p:cNvSpPr>
            <a:spLocks noGrp="1"/>
          </p:cNvSpPr>
          <p:nvPr>
            <p:ph type="title" idx="2"/>
          </p:nvPr>
        </p:nvSpPr>
        <p:spPr/>
        <p:txBody>
          <a:bodyPr/>
          <a:lstStyle/>
          <a:p>
            <a:pP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Wikipediaの記事と段落の選定方法</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概要</a:t>
            </a:r>
            <a:endParaRPr sz="1400" lang="ja-JP">
              <a:latin typeface="Noto Sans"/>
              <a:ea typeface="Noto Sans CJK JP"/>
              <a:cs typeface="Noto Sans"/>
            </a:endParaRPr>
          </a:p>
        </p:txBody>
      </p:sp>
      <p:sp>
        <p:nvSpPr>
          <p:cNvPr id="4" name="content-text"/>
          <p:cNvSpPr txBox="1"/>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0455"/>
              <a:buFont typeface="Noto Sans CJK JP"/>
              <a:buChar char="●"/>
              <a:defRPr sz="2200" lang="ja-JP">
                <a:latin typeface="Noto Sans"/>
                <a:ea typeface="Noto Sans CJK JP"/>
                <a:cs typeface="Noto Sans"/>
              </a:defRPr>
            </a:pPr>
            <a:r>
              <a:rPr sz="2200" lang="ja-JP">
                <a:latin typeface="Noto Sans"/>
                <a:ea typeface="Noto Sans CJK JP"/>
              </a:rPr>
              <a:t>英語Wikipediaの記事をPageRankで順位付けした [1]。</a:t>
            </a:r>
            <a:endParaRPr sz="2200" lang="ja-JP">
              <a:latin typeface="Noto Sans"/>
              <a:ea typeface="Noto Sans CJK JP"/>
              <a:cs typeface="Noto Sans"/>
            </a:endParaRPr>
          </a:p>
          <a:p>
            <a:pPr lvl="1" algn="l" marL="914400" indent="-355600">
              <a:buSzPct val="60455"/>
              <a:buFont typeface="Noto Sans CJK JP"/>
              <a:buChar char="○"/>
              <a:defRPr sz="2200" lang="ja-JP">
                <a:latin typeface="Noto Sans"/>
                <a:ea typeface="Noto Sans CJK JP"/>
                <a:cs typeface="Noto Sans"/>
              </a:defRPr>
            </a:pPr>
            <a:r>
              <a:rPr sz="2200" lang="ja-JP">
                <a:latin typeface="Noto Sans"/>
                <a:ea typeface="Noto Sans CJK JP"/>
              </a:rPr>
              <a:t>上位10,000記事から536記事を無作為に選んだ。</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latin typeface="Noto Sans"/>
                <a:ea typeface="Noto Sans CJK JP"/>
              </a:rPr>
              <a:t>各記事から段落を取り出し、500文字未満を除いた。</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latin typeface="Noto Sans"/>
                <a:ea typeface="Noto Sans CJK JP"/>
              </a:rPr>
              <a:t>学習・開発・テストは記事単位で分けた。</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latin typeface="Noto Sans"/>
                <a:ea typeface="Noto Sans CJK JP"/>
              </a:rPr>
              <a:t>入力contextは、選ばれた1段落である。</a:t>
            </a:r>
            <a:endParaRPr sz="2200" lang="ja-JP">
              <a:latin typeface="Noto Sans"/>
              <a:ea typeface="Noto Sans CJK JP"/>
              <a:cs typeface="Noto Sans"/>
            </a:endParaRPr>
          </a:p>
          <a:p>
            <a:pPr lvl="1" algn="l" marL="914400" indent="-355600">
              <a:buSzPct val="66500"/>
              <a:buFont typeface="Noto Sans CJK JP"/>
              <a:buChar char="○"/>
              <a:defRPr sz="2000" lang="ja-JP">
                <a:latin typeface="Noto Sans"/>
                <a:ea typeface="Noto Sans CJK JP"/>
                <a:cs typeface="Noto Sans"/>
              </a:defRPr>
            </a:pPr>
            <a:r>
              <a:rPr sz="2000" lang="ja-JP">
                <a:latin typeface="Noto Sans"/>
                <a:ea typeface="Noto Sans CJK JP"/>
              </a:rPr>
              <a:t>配布版1.1では、2,874段落が500文字未満である [2]。</a:t>
            </a:r>
            <a:endParaRPr sz="2000" lang="ja-JP">
              <a:latin typeface="Noto Sans"/>
              <a:ea typeface="Noto Sans CJK JP"/>
              <a:cs typeface="Noto Sans"/>
            </a:endParaRPr>
          </a:p>
        </p:txBody>
      </p:sp>
      <p:sp>
        <p:nvSpPr>
          <p:cNvPr id="5" name="lookup-sources"/>
          <p:cNvSpPr txBox="1"/>
          <p:nvPr/>
        </p:nvSpPr>
        <p:spPr>
          <a:xfrm>
            <a:off x="502920" y="4727448"/>
            <a:ext cx="8183879" cy="356616"/>
          </a:xfrm>
          <a:prstGeom prst="rect">
            <a:avLst/>
          </a:prstGeom>
          <a:noFill/>
        </p:spPr>
        <p:txBody>
          <a:bodyPr wrap="square" lIns="0" rIns="0" tIns="0" bIns="0" anchor="t">
            <a:spAutoFit/>
          </a:bodyPr>
          <a:lstStyle/>
          <a:p>
            <a:r>
              <a:rPr sz="850"/>
              <a:t>[1] Rajpurkar et al. (2016), §3  https://aclanthology.org/D16-1264/</a:t>
            </a:r>
          </a:p>
          <a:p>
            <a:r>
              <a:rPr sz="850"/>
              <a:t>[2] 公式v1.1 train＋devの全20,963段落を各1回集計。前後空白除去後の文字数。https://github.com/rajpurkar/SQuAD-explorer/tree/master/dataset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質問と回答の作成方法</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概要</a:t>
            </a:r>
            <a:endParaRPr sz="1400" lang="ja-JP">
              <a:latin typeface="Noto Sans"/>
              <a:ea typeface="Noto Sans CJK JP"/>
              <a:cs typeface="Noto Sans"/>
            </a:endParaRPr>
          </a:p>
        </p:txBody>
      </p:sp>
      <p:sp>
        <p:nvSpPr>
          <p:cNvPr id="4" name="content-text"/>
          <p:cNvSpPr txBox="1"/>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0455"/>
              <a:buFont typeface="Noto Sans CJK JP"/>
              <a:buChar char="●"/>
              <a:defRPr sz="2200" lang="ja-JP">
                <a:latin typeface="Noto Sans"/>
                <a:ea typeface="Noto Sans CJK JP"/>
                <a:cs typeface="Noto Sans"/>
              </a:defRPr>
            </a:pPr>
            <a:r>
              <a:rPr sz="2200" b="0" lang="ja-JP">
                <a:solidFill>
                  <a:srgbClr val="303437"/>
                </a:solidFill>
                <a:latin typeface="Noto Sans"/>
                <a:ea typeface="Noto Sans CJK JP"/>
                <a:cs typeface="Noto Sans"/>
              </a:rPr>
              <a:t>Amazon Mechanical Turkで質問と回答を作成 </a:t>
            </a:r>
            <a:r>
              <a:rPr sz="2200" b="0" lang="ja-JP">
                <a:solidFill>
                  <a:srgbClr val="303437"/>
                </a:solidFill>
                <a:latin typeface="Noto Sans"/>
                <a:ea typeface="Noto Sans CJK JP"/>
                <a:cs typeface="Noto Sans"/>
              </a:rPr>
              <a:t>[1]</a:t>
            </a:r>
            <a:r>
              <a:rPr sz="2200" b="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b="0" lang="ja-JP">
                <a:solidFill>
                  <a:srgbClr val="303437"/>
                </a:solidFill>
                <a:latin typeface="Noto Sans"/>
                <a:ea typeface="Noto Sans CJK JP"/>
                <a:cs typeface="Noto Sans"/>
              </a:rPr>
              <a:t>作業者には段落を提示し、最大5問作るよう指示。</a:t>
            </a:r>
            <a:endParaRPr sz="2200" lang="ja-JP">
              <a:latin typeface="Noto Sans"/>
              <a:ea typeface="Noto Sans CJK JP"/>
              <a:cs typeface="Noto Sans"/>
            </a:endParaRPr>
          </a:p>
          <a:p>
            <a:pPr lvl="1" algn="l" marL="9144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段落だけから回答できる質問にする。</a:t>
            </a:r>
            <a:endParaRPr sz="2100" lang="ja-JP">
              <a:latin typeface="Noto Sans"/>
              <a:ea typeface="Noto Sans CJK JP"/>
              <a:cs typeface="Noto Sans"/>
            </a:endParaRPr>
          </a:p>
          <a:p>
            <a:pPr lvl="1" algn="l" marL="9144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本文のコピーではなく、自分の言葉で質問を書く。</a:t>
            </a:r>
            <a:endParaRPr sz="2100" lang="ja-JP">
              <a:latin typeface="Noto Sans"/>
              <a:ea typeface="Noto Sans CJK JP"/>
              <a:cs typeface="Noto Sans"/>
            </a:endParaRPr>
          </a:p>
          <a:p>
            <a:pPr lvl="1" algn="l" marL="9144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答えとなる最小限の連続した範囲を、段落内で選択する。</a:t>
            </a:r>
            <a:endParaRPr sz="21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b="0" lang="ja-JP">
                <a:solidFill>
                  <a:srgbClr val="303437"/>
                </a:solidFill>
                <a:latin typeface="Noto Sans"/>
                <a:ea typeface="Noto Sans CJK JP"/>
                <a:cs typeface="Noto Sans"/>
              </a:rPr>
              <a:t>開発・テストでは、別の作業者による追加回答も収集。</a:t>
            </a:r>
            <a:endParaRPr sz="2200" lang="ja-JP">
              <a:latin typeface="Noto Sans"/>
              <a:ea typeface="Noto Sans CJK JP"/>
              <a:cs typeface="Noto Sans"/>
            </a:endParaRPr>
          </a:p>
          <a:p>
            <a:pPr lvl="1" algn="l" marL="9144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表現の違う正解を認め、複数正解のうち最良の一致で評価する。</a:t>
            </a:r>
            <a:endParaRPr sz="2000" lang="ja-JP">
              <a:latin typeface="Noto Sans"/>
              <a:ea typeface="Noto Sans CJK JP"/>
              <a:cs typeface="Noto Sans"/>
            </a:endParaRPr>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Rajpurkar et al. (2016), §3 Dataset collection　https://aclanthology.org/D16-1264/</a:t>
            </a:r>
            <a:endParaRPr sz="850" lang="ja-JP">
              <a:latin typeface="Noto Sans"/>
              <a:ea typeface="Noto Sans CJK JP"/>
              <a:cs typeface="Noto Sans"/>
            </a:endParaRP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バージョン2.0を作った理由と作成方法</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概要</a:t>
            </a:r>
            <a:endParaRPr sz="1400" lang="ja-JP">
              <a:latin typeface="Noto Sans"/>
              <a:ea typeface="Noto Sans CJK JP"/>
              <a:cs typeface="Noto Sans"/>
            </a:endParaRPr>
          </a:p>
        </p:txBody>
      </p:sp>
      <p:sp>
        <p:nvSpPr>
          <p:cNvPr id="4" name="content-text"/>
          <p:cNvSpPr txBox="1"/>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0455"/>
              <a:buFont typeface="Noto Sans CJK JP"/>
              <a:buChar char="●"/>
              <a:defRPr sz="2200" lang="ja-JP">
                <a:latin typeface="Noto Sans"/>
                <a:ea typeface="Noto Sans CJK JP"/>
                <a:cs typeface="Noto Sans"/>
              </a:defRPr>
            </a:pPr>
            <a:r>
              <a:rPr sz="2200" b="0" lang="ja-JP">
                <a:solidFill>
                  <a:srgbClr val="303437"/>
                </a:solidFill>
                <a:latin typeface="Noto Sans"/>
                <a:ea typeface="Noto Sans CJK JP"/>
                <a:cs typeface="Noto Sans"/>
              </a:rPr>
              <a:t>初版では、どの質問にも段落内に答えがあった </a:t>
            </a:r>
            <a:r>
              <a:rPr sz="2200" b="0" lang="ja-JP">
                <a:solidFill>
                  <a:srgbClr val="303437"/>
                </a:solidFill>
                <a:latin typeface="Noto Sans"/>
                <a:ea typeface="Noto Sans CJK JP"/>
                <a:cs typeface="Noto Sans"/>
              </a:rPr>
              <a:t>[1]</a:t>
            </a:r>
            <a:r>
              <a:rPr sz="2200" b="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作業者が各段落に対し、回答不能な質問を最大5問作成した。</a:t>
            </a:r>
            <a:endParaRPr sz="2100" lang="ja-JP">
              <a:latin typeface="Noto Sans"/>
              <a:ea typeface="Noto Sans CJK JP"/>
              <a:cs typeface="Noto Sans"/>
            </a:endParaRPr>
          </a:p>
          <a:p>
            <a:pPr lvl="1" algn="l" marL="9144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段落の話題に関連し、回答可能な質問に見えるようにする。</a:t>
            </a:r>
            <a:endParaRPr sz="2000" lang="ja-JP">
              <a:latin typeface="Noto Sans"/>
              <a:ea typeface="Noto Sans CJK JP"/>
              <a:cs typeface="Noto Sans"/>
            </a:endParaRPr>
          </a:p>
          <a:p>
            <a:pPr lvl="1" algn="l" marL="9144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段落内に、答えに見える候補がある質問にする。</a:t>
            </a:r>
            <a:endParaRPr sz="20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記事・段落ごとの作業を分配し、人手で50,000問以上を追加。</a:t>
            </a:r>
            <a:endParaRPr sz="21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回答範囲の抽出と、回答保留の判断を評価する。</a:t>
            </a:r>
            <a:endParaRPr sz="2100" lang="ja-JP">
              <a:latin typeface="Noto Sans"/>
              <a:ea typeface="Noto Sans CJK JP"/>
              <a:cs typeface="Noto Sans"/>
            </a:endParaRPr>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Rajpurkar, Jia &amp; Liang (2018), §1・§3　https://aclanthology.org/P18-2124/</a:t>
            </a:r>
            <a:endParaRPr sz="850" lang="ja-JP">
              <a:latin typeface="Noto Sans"/>
              <a:ea typeface="Noto Sans CJK JP"/>
              <a:cs typeface="Noto Sans"/>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SQuAD のバージョン1.1と2.0</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バージョンと規模</a:t>
            </a:r>
            <a:endParaRPr sz="1400" lang="ja-JP">
              <a:latin typeface="Noto Sans"/>
              <a:ea typeface="Noto Sans CJK JP"/>
              <a:cs typeface="Noto Sans"/>
            </a:endParaRPr>
          </a:p>
        </p:txBody>
      </p:sp>
      <p:sp>
        <p:nvSpPr>
          <p:cNvPr id="4" name="content-text"/>
          <p:cNvSpPr txBox="1"/>
          <p:nvPr>
            <p:ph type="body" idx="1"/>
          </p:nvPr>
        </p:nvSpPr>
        <p:spPr>
          <a:xfrm>
            <a:off x="594360" y="1543050"/>
            <a:ext cx="8046720" cy="2674620"/>
          </a:xfrm>
          <a:prstGeom prst="rect">
            <a:avLst/>
          </a:prstGeom>
          <a:noFill/>
        </p:spPr>
        <p:txBody>
          <a:bodyPr wrap="square" anchor="t" lIns="91425" rIns="91425" tIns="91425" bIns="91425">
            <a:noAutofit/>
          </a:bodyPr>
          <a:lstStyle/>
          <a:p>
            <a:pPr algn="l" lvl="0" marL="457200" indent="-355600">
              <a:buSzPct val="57826"/>
              <a:buFont typeface="Noto Sans CJK JP"/>
              <a:buChar char="●"/>
              <a:defRPr sz="2300" lang="ja-JP">
                <a:latin typeface="Noto Sans"/>
                <a:ea typeface="Noto Sans CJK JP"/>
                <a:cs typeface="Noto Sans"/>
              </a:defRPr>
            </a:pPr>
            <a:r>
              <a:rPr sz="2300" b="0" lang="ja-JP">
                <a:solidFill>
                  <a:srgbClr val="303437"/>
                </a:solidFill>
                <a:latin typeface="Noto Sans"/>
                <a:ea typeface="Noto Sans CJK JP"/>
                <a:cs typeface="Noto Sans"/>
              </a:rPr>
              <a:t>バージョン1.1は、文章に答えがある質問を扱う </a:t>
            </a:r>
            <a:r>
              <a:rPr sz="2300" b="0" lang="ja-JP">
                <a:solidFill>
                  <a:srgbClr val="303437"/>
                </a:solidFill>
                <a:latin typeface="Noto Sans"/>
                <a:ea typeface="Noto Sans CJK JP"/>
                <a:cs typeface="Noto Sans"/>
              </a:rPr>
              <a:t>[1]</a:t>
            </a:r>
            <a:r>
              <a:rPr sz="2300" b="0" lang="ja-JP">
                <a:solidFill>
                  <a:srgbClr val="303437"/>
                </a:solidFill>
                <a:latin typeface="Noto Sans"/>
                <a:ea typeface="Noto Sans CJK JP"/>
                <a:cs typeface="Noto Sans"/>
              </a:rPr>
              <a:t>。</a:t>
            </a:r>
            <a:endParaRPr sz="2300" lang="ja-JP">
              <a:latin typeface="Noto Sans"/>
              <a:ea typeface="Noto Sans CJK JP"/>
              <a:cs typeface="Noto Sans"/>
            </a:endParaRPr>
          </a:p>
          <a:p>
            <a:pPr lvl="1" algn="l" marL="9144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質問に対応する本文中の範囲を回答する</a:t>
            </a:r>
            <a:endParaRPr sz="2100" lang="ja-JP">
              <a:latin typeface="Noto Sans"/>
              <a:ea typeface="Noto Sans CJK JP"/>
              <a:cs typeface="Noto Sans"/>
            </a:endParaRPr>
          </a:p>
          <a:p>
            <a:pPr algn="l" lvl="0" marL="457200" indent="-355600">
              <a:buSzPct val="57826"/>
              <a:buFont typeface="Noto Sans CJK JP"/>
              <a:buChar char="●"/>
              <a:defRPr sz="2300" lang="ja-JP">
                <a:latin typeface="Noto Sans"/>
                <a:ea typeface="Noto Sans CJK JP"/>
                <a:cs typeface="Noto Sans"/>
              </a:defRPr>
            </a:pPr>
            <a:r>
              <a:rPr sz="2300" b="0" lang="ja-JP">
                <a:solidFill>
                  <a:srgbClr val="303437"/>
                </a:solidFill>
                <a:latin typeface="Noto Sans"/>
                <a:ea typeface="Noto Sans CJK JP"/>
                <a:cs typeface="Noto Sans"/>
              </a:rPr>
              <a:t>バージョン2.0では、回答不能な質問を追加する </a:t>
            </a:r>
            <a:r>
              <a:rPr sz="2300" b="0" lang="ja-JP">
                <a:solidFill>
                  <a:srgbClr val="303437"/>
                </a:solidFill>
                <a:latin typeface="Noto Sans"/>
                <a:ea typeface="Noto Sans CJK JP"/>
                <a:cs typeface="Noto Sans"/>
              </a:rPr>
              <a:t>[2]</a:t>
            </a:r>
            <a:r>
              <a:rPr sz="2300" b="0" lang="ja-JP">
                <a:solidFill>
                  <a:srgbClr val="303437"/>
                </a:solidFill>
                <a:latin typeface="Noto Sans"/>
                <a:ea typeface="Noto Sans CJK JP"/>
                <a:cs typeface="Noto Sans"/>
              </a:rPr>
              <a:t>。</a:t>
            </a:r>
            <a:endParaRPr sz="2300" lang="ja-JP">
              <a:latin typeface="Noto Sans"/>
              <a:ea typeface="Noto Sans CJK JP"/>
              <a:cs typeface="Noto Sans"/>
            </a:endParaRPr>
          </a:p>
          <a:p>
            <a:pPr lvl="1" algn="l" marL="9144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既存の質問に似た、答えられない質問を人が作成。</a:t>
            </a:r>
            <a:endParaRPr sz="2100" lang="ja-JP">
              <a:latin typeface="Noto Sans"/>
              <a:ea typeface="Noto Sans CJK JP"/>
              <a:cs typeface="Noto Sans"/>
            </a:endParaRPr>
          </a:p>
          <a:p>
            <a:pPr lvl="1" algn="l" marL="9144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答えられるかを判定し、答えがなければ回答を控える。</a:t>
            </a:r>
            <a:endParaRPr sz="2100" lang="ja-JP">
              <a:latin typeface="Noto Sans"/>
              <a:ea typeface="Noto Sans CJK JP"/>
              <a:cs typeface="Noto Sans"/>
            </a:endParaRPr>
          </a:p>
          <a:p>
            <a:pPr algn="l" lvl="0" marL="457200" indent="-355600">
              <a:buSzPct val="57826"/>
              <a:buFont typeface="Noto Sans CJK JP"/>
              <a:buChar char="●"/>
              <a:defRPr sz="2300" lang="ja-JP">
                <a:latin typeface="Noto Sans"/>
                <a:ea typeface="Noto Sans CJK JP"/>
                <a:cs typeface="Noto Sans"/>
              </a:defRPr>
            </a:pPr>
            <a:r>
              <a:rPr sz="2300" b="0" lang="ja-JP">
                <a:solidFill>
                  <a:srgbClr val="303437"/>
                </a:solidFill>
                <a:latin typeface="Noto Sans"/>
                <a:ea typeface="Noto Sans CJK JP"/>
                <a:cs typeface="Noto Sans"/>
              </a:rPr>
              <a:t>異なるバージョンの得点は、そのまま比較できない。</a:t>
            </a:r>
            <a:endParaRPr sz="2300" lang="ja-JP">
              <a:latin typeface="Noto Sans"/>
              <a:ea typeface="Noto Sans CJK JP"/>
              <a:cs typeface="Noto Sans"/>
            </a:endParaRPr>
          </a:p>
        </p:txBody>
      </p:sp>
      <p:sp>
        <p:nvSpPr>
          <p:cNvPr id="5"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https://aclanthology.org/D16-1264/</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[2]</a:t>
            </a:r>
            <a:r>
              <a:rPr sz="850" lang="ja-JP">
                <a:solidFill>
                  <a:srgbClr val="626669"/>
                </a:solidFill>
                <a:latin typeface="Noto Sans"/>
                <a:ea typeface="Noto Sans CJK JP"/>
                <a:cs typeface="Noto Sans"/>
              </a:rPr>
              <a:t> https://aclanthology.org/P18-2124/</a:t>
            </a:r>
            <a:endParaRPr sz="850" lang="ja-JP">
              <a:latin typeface="Noto Sans"/>
              <a:ea typeface="Noto Sans CJK JP"/>
              <a:cs typeface="Noto Sans"/>
            </a:endParaRP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公開データの規模</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バージョンと規模</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68767"/>
          <a:ext cx="8046719" cy="1903095"/>
        </p:xfrm>
        <a:graphic>
          <a:graphicData uri="http://schemas.openxmlformats.org/drawingml/2006/table">
            <a:tbl>
              <a:tblPr firstRow="1" bandRow="1">
                <a:tableStyleId>{5C22544A-7EE6-4342-B048-85BDC9FD1C3A}</a:tableStyleId>
              </a:tblPr>
              <a:tblGrid>
                <a:gridCol w="2574950"/>
                <a:gridCol w="1609344"/>
                <a:gridCol w="1609344"/>
                <a:gridCol w="2253081"/>
              </a:tblGrid>
              <a:tr h="380619">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版・分割 [1]</a:t>
                      </a:r>
                      <a:endParaRPr sz="19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質問数</a:t>
                      </a:r>
                      <a:endParaRPr sz="19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回答不能</a:t>
                      </a:r>
                      <a:endParaRPr sz="19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Wikipedia記事数</a:t>
                      </a:r>
                      <a:endParaRPr sz="19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r>
              <a:tr h="380619">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1.1・学習用</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87,599</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0</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442</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80619">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1.1・開発用</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10,570</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0</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48</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80619">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2.0・学習用</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130,319</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43,498</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442</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80619">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2.0・開発用</a:t>
                      </a:r>
                      <a:endParaRPr sz="19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11,873</a:t>
                      </a:r>
                      <a:endParaRPr sz="19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5,945</a:t>
                      </a:r>
                      <a:endParaRPr sz="19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35</a:t>
                      </a:r>
                      <a:endParaRPr sz="19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ph type="body" idx="1"/>
          </p:nvPr>
        </p:nvSpPr>
        <p:spPr>
          <a:xfrm>
            <a:off x="594360" y="3845560"/>
            <a:ext cx="8046720" cy="658368"/>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記事数は、質問の元となったWikipedia記事の数。</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バージョン2.0は同じ記事に回答不能な質問を追加。</a:t>
            </a:r>
            <a:endParaRPr sz="2000" lang="ja-JP">
              <a:latin typeface="Noto Sans"/>
              <a:ea typeface="Noto Sans CJK JP"/>
              <a:cs typeface="Noto Sans"/>
            </a:endParaRPr>
          </a:p>
        </p:txBody>
      </p:sp>
      <p:sp>
        <p:nvSpPr>
          <p:cNvPr id="6" name="lookup-sources"/>
          <p:cNvSpPr txBox="1"/>
          <p:nvPr/>
        </p:nvSpPr>
        <p:spPr>
          <a:xfrm>
            <a:off x="502920" y="489585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公式 train / dev JSON の全件集計　https://github.com/rajpurkar/SQuAD-explorer/tree/master/dataset</a:t>
            </a:r>
            <a:endParaRPr sz="850" lang="ja-JP">
              <a:latin typeface="Noto Sans"/>
              <a:ea typeface="Noto Sans CJK JP"/>
              <a:cs typeface="Noto Sans"/>
            </a:endParaRP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質問と回答の長さ</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データの特徴</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43050"/>
          <a:ext cx="8046716" cy="1954530"/>
        </p:xfrm>
        <a:graphic>
          <a:graphicData uri="http://schemas.openxmlformats.org/drawingml/2006/table">
            <a:tbl>
              <a:tblPr firstRow="1" bandRow="1">
                <a:tableStyleId>{5C22544A-7EE6-4342-B048-85BDC9FD1C3A}</a:tableStyleId>
              </a:tblPr>
              <a:tblGrid>
                <a:gridCol w="2735884"/>
                <a:gridCol w="1327708"/>
                <a:gridCol w="1327708"/>
                <a:gridCol w="1327708"/>
                <a:gridCol w="1327708"/>
              </a:tblGrid>
              <a:tr h="390906">
                <a:tc>
                  <a:txBody>
                    <a:bodyPr wrap="square" anchor="ctr"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長さ [1]</a:t>
                      </a:r>
                      <a:endParaRPr sz="18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平均</a:t>
                      </a:r>
                      <a:endParaRPr sz="18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中央値</a:t>
                      </a:r>
                      <a:endParaRPr sz="18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95%点</a:t>
                      </a:r>
                      <a:endParaRPr sz="18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最大</a:t>
                      </a:r>
                      <a:endParaRPr sz="18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質問の文字数</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59.3</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56.0</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98.0</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270</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質問の単語数</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10.1</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10.0</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17.0</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40</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回答の文字数</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20.1</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14.0</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63.0</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239</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回答の単語数</a:t>
                      </a:r>
                      <a:endParaRPr sz="18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3.1</a:t>
                      </a:r>
                      <a:endParaRPr sz="18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2.0</a:t>
                      </a:r>
                      <a:endParaRPr sz="18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10.0</a:t>
                      </a:r>
                      <a:endParaRPr sz="18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43</a:t>
                      </a:r>
                      <a:endParaRPr sz="18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ph type="body" idx="1"/>
          </p:nvPr>
        </p:nvSpPr>
        <p:spPr>
          <a:xfrm>
            <a:off x="594360" y="3708400"/>
            <a:ext cx="8046720" cy="761134"/>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公開データ98,169問の先頭正解を1問1件で集計。</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最大の回答は43単語・239文字。</a:t>
            </a:r>
            <a:endParaRPr sz="2000" lang="ja-JP">
              <a:latin typeface="Noto Sans"/>
              <a:ea typeface="Noto Sans CJK JP"/>
              <a:cs typeface="Noto Sans"/>
            </a:endParaRPr>
          </a:p>
        </p:txBody>
      </p:sp>
      <p:sp>
        <p:nvSpPr>
          <p:cNvPr id="6" name="lookup-sources"/>
          <p:cNvSpPr txBox="1"/>
          <p:nvPr/>
        </p:nvSpPr>
        <p:spPr>
          <a:xfrm>
            <a:off x="502920" y="476377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バージョン1.1のtrainとdevを集計。文字数は前後空白を除去し、単語数は空白で分割。</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https://github.com/rajpurkar/SQuAD-explorer/tree/master/dataset</a:t>
            </a:r>
            <a:endParaRPr sz="850" lang="ja-JP">
              <a:latin typeface="Noto Sans"/>
              <a:ea typeface="Noto Sans CJK JP"/>
              <a:cs typeface="Noto Sans"/>
            </a:endParaRP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入力段落（context）の長さ</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データの特徴</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620202"/>
          <a:ext cx="8046716" cy="1388745"/>
        </p:xfrm>
        <a:graphic>
          <a:graphicData uri="http://schemas.openxmlformats.org/drawingml/2006/table">
            <a:tbl>
              <a:tblPr firstRow="1" bandRow="1">
                <a:tableStyleId>{5C22544A-7EE6-4342-B048-85BDC9FD1C3A}</a:tableStyleId>
              </a:tblPr>
              <a:tblGrid>
                <a:gridCol w="2735884"/>
                <a:gridCol w="1327708"/>
                <a:gridCol w="1327708"/>
                <a:gridCol w="1327708"/>
                <a:gridCol w="1327708"/>
              </a:tblGrid>
              <a:tr h="462915">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context の長さ [1]</a:t>
                      </a:r>
                      <a:endParaRPr sz="19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平均</a:t>
                      </a:r>
                      <a:endParaRPr sz="19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中央値</a:t>
                      </a:r>
                      <a:endParaRPr sz="19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95%点</a:t>
                      </a:r>
                      <a:endParaRPr sz="19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最大</a:t>
                      </a:r>
                      <a:endParaRPr sz="19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r>
              <a:tr h="462915">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文字数</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739.6</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679.0</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1312.0</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4063</a:t>
                      </a:r>
                      <a:endParaRPr sz="19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462915">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単語数</a:t>
                      </a:r>
                      <a:endParaRPr sz="19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117.2</a:t>
                      </a:r>
                      <a:endParaRPr sz="19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108.0</a:t>
                      </a:r>
                      <a:endParaRPr sz="19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210.0</a:t>
                      </a:r>
                      <a:endParaRPr sz="19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653</a:t>
                      </a:r>
                      <a:endParaRPr sz="19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ph type="body" idx="1"/>
          </p:nvPr>
        </p:nvSpPr>
        <p:spPr>
          <a:xfrm>
            <a:off x="594360" y="3343275"/>
            <a:ext cx="8046720" cy="1183005"/>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バージョン1.1 train＋dev、20,963段落を各1回集計。</a:t>
            </a:r>
            <a:endParaRPr sz="21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同じ段落への複数質問による重複カウントはしない。</a:t>
            </a:r>
            <a:endParaRPr sz="21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最長は4,063文字／653単語。</a:t>
            </a:r>
            <a:endParaRPr sz="2100" lang="ja-JP">
              <a:latin typeface="Noto Sans"/>
              <a:ea typeface="Noto Sans CJK JP"/>
              <a:cs typeface="Noto Sans"/>
            </a:endParaRPr>
          </a:p>
        </p:txBody>
      </p:sp>
      <p:sp>
        <p:nvSpPr>
          <p:cNvPr id="6"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文字数は前後空白を除去／単語数は空白分割。</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https://github.com/rajpurkar/SQuAD-explorer/tree/master/dataset</a:t>
            </a:r>
            <a:endParaRPr sz="850" lang="ja-JP">
              <a:latin typeface="Noto Sans"/>
              <a:ea typeface="Noto Sans CJK JP"/>
              <a:cs typeface="Noto Sans"/>
            </a:endParaRP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質問に大量の空白が含まれる実例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データの特徴</a:t>
            </a:r>
            <a:endParaRPr sz="1400" lang="ja-JP">
              <a:latin typeface="Noto Sans"/>
              <a:ea typeface="Noto Sans CJK JP"/>
              <a:cs typeface="Noto Sans"/>
            </a:endParaRPr>
          </a:p>
        </p:txBody>
      </p:sp>
      <p:sp>
        <p:nvSpPr>
          <p:cNvPr id="4" name="content-text"/>
          <p:cNvSpPr txBox="1"/>
          <p:nvPr>
            <p:ph type="body" idx="1"/>
          </p:nvPr>
        </p:nvSpPr>
        <p:spPr>
          <a:xfrm>
            <a:off x="594360" y="1543050"/>
            <a:ext cx="8046720" cy="2674620"/>
          </a:xfrm>
          <a:prstGeom prst="rect">
            <a:avLst/>
          </a:prstGeom>
          <a:noFill/>
        </p:spPr>
        <p:txBody>
          <a:bodyPr wrap="square" anchor="t" lIns="91425" rIns="91425" tIns="91425" bIns="91425">
            <a:noAutofit/>
          </a:bodyPr>
          <a:lstStyle/>
          <a:p>
            <a:pPr algn="l" lvl="0" marL="457200" indent="-355600">
              <a:buSzPct val="57826"/>
              <a:buFont typeface="Noto Sans CJK JP"/>
              <a:buChar char="●"/>
              <a:defRPr sz="2300" lang="ja-JP">
                <a:latin typeface="Noto Sans"/>
                <a:ea typeface="Noto Sans CJK JP"/>
                <a:cs typeface="Noto Sans"/>
              </a:defRPr>
            </a:pPr>
            <a:r>
              <a:rPr sz="2300" b="0" lang="ja-JP">
                <a:solidFill>
                  <a:srgbClr val="303437"/>
                </a:solidFill>
                <a:latin typeface="Noto Sans"/>
                <a:ea typeface="Noto Sans CJK JP"/>
                <a:cs typeface="Noto Sans"/>
              </a:rPr>
              <a:t>前後に大量の空白が含まれる質問を1件確認 </a:t>
            </a:r>
            <a:r>
              <a:rPr sz="2300" b="0" lang="ja-JP">
                <a:solidFill>
                  <a:srgbClr val="303437"/>
                </a:solidFill>
                <a:latin typeface="Noto Sans"/>
                <a:ea typeface="Noto Sans CJK JP"/>
                <a:cs typeface="Noto Sans"/>
              </a:rPr>
              <a:t>[1]</a:t>
            </a:r>
            <a:r>
              <a:rPr sz="2300" b="0" lang="ja-JP">
                <a:solidFill>
                  <a:srgbClr val="303437"/>
                </a:solidFill>
                <a:latin typeface="Noto Sans"/>
                <a:ea typeface="Noto Sans CJK JP"/>
                <a:cs typeface="Noto Sans"/>
              </a:rPr>
              <a:t>。</a:t>
            </a:r>
            <a:endParaRPr sz="2300" lang="ja-JP">
              <a:latin typeface="Noto Sans"/>
              <a:ea typeface="Noto Sans CJK JP"/>
              <a:cs typeface="Noto Sans"/>
            </a:endParaRPr>
          </a:p>
          <a:p>
            <a:pPr lvl="1" algn="l" marL="914400" indent="-355600">
              <a:buSzPct val="60455"/>
              <a:buFont typeface="Noto Sans CJK JP"/>
              <a:buChar char="○"/>
              <a:defRPr sz="2200" lang="ja-JP">
                <a:latin typeface="Noto Sans"/>
                <a:ea typeface="Noto Sans CJK JP"/>
                <a:cs typeface="Noto Sans"/>
              </a:defRPr>
            </a:pPr>
            <a:r>
              <a:rPr sz="2200" b="0" lang="ja-JP">
                <a:solidFill>
                  <a:srgbClr val="303437"/>
                </a:solidFill>
                <a:latin typeface="Noto Sans"/>
                <a:ea typeface="Noto Sans CJK JP"/>
                <a:cs typeface="Noto Sans"/>
              </a:rPr>
              <a:t>元文字列 25,651文字 → 前後空白を除去 59文字。</a:t>
            </a:r>
            <a:endParaRPr sz="2200" lang="ja-JP">
              <a:latin typeface="Noto Sans"/>
              <a:ea typeface="Noto Sans CJK JP"/>
              <a:cs typeface="Noto Sans"/>
            </a:endParaRPr>
          </a:p>
          <a:p>
            <a:pPr algn="l" lvl="0" marL="457200" indent="-355600">
              <a:buSzPct val="70000"/>
              <a:buFont typeface="Noto Sans CJK JP"/>
              <a:buChar char="●"/>
              <a:defRPr sz="1900" lang="ja-JP">
                <a:latin typeface="Noto Sans"/>
                <a:ea typeface="Noto Sans CJK JP"/>
                <a:cs typeface="Noto Sans"/>
              </a:defRPr>
            </a:pPr>
            <a:r>
              <a:rPr sz="1900" b="0" lang="ja-JP">
                <a:solidFill>
                  <a:srgbClr val="303437"/>
                </a:solidFill>
                <a:latin typeface="Noto Sans"/>
                <a:ea typeface="Noto Sans CJK JP"/>
                <a:cs typeface="Noto Sans"/>
              </a:rPr>
              <a:t>What radiates two lobes perpendicular to the antennas axis?</a:t>
            </a:r>
            <a:endParaRPr sz="1900" lang="ja-JP">
              <a:latin typeface="Noto Sans"/>
              <a:ea typeface="Noto Sans CJK JP"/>
              <a:cs typeface="Noto Sans"/>
            </a:endParaRPr>
          </a:p>
          <a:p>
            <a:pPr lvl="1" algn="l" marL="9144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アンテナの軸に垂直な2つのローブを放射するものは何か。</a:t>
            </a:r>
            <a:endParaRPr sz="2000" lang="ja-JP">
              <a:latin typeface="Noto Sans"/>
              <a:ea typeface="Noto Sans CJK JP"/>
              <a:cs typeface="Noto Sans"/>
            </a:endParaRPr>
          </a:p>
          <a:p>
            <a:pPr algn="l" lvl="0" marL="457200" indent="-355600">
              <a:buSzPct val="57826"/>
              <a:buFont typeface="Noto Sans CJK JP"/>
              <a:buChar char="●"/>
              <a:defRPr sz="2300" lang="ja-JP">
                <a:latin typeface="Noto Sans"/>
                <a:ea typeface="Noto Sans CJK JP"/>
                <a:cs typeface="Noto Sans"/>
              </a:defRPr>
            </a:pPr>
            <a:r>
              <a:rPr sz="2300" b="0" lang="ja-JP">
                <a:solidFill>
                  <a:srgbClr val="303437"/>
                </a:solidFill>
                <a:latin typeface="Noto Sans"/>
                <a:ea typeface="Noto Sans CJK JP"/>
                <a:cs typeface="Noto Sans"/>
              </a:rPr>
              <a:t>主要統計は前後空白だけを除去し、本文の文字は保持。</a:t>
            </a:r>
            <a:endParaRPr sz="23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b="0" lang="ja-JP">
                <a:solidFill>
                  <a:srgbClr val="303437"/>
                </a:solidFill>
                <a:latin typeface="Noto Sans"/>
                <a:ea typeface="Noto Sans CJK JP"/>
                <a:cs typeface="Noto Sans"/>
              </a:rPr>
              <a:t>長さの比較では、空白を含めるかで結果が大きく変わる。</a:t>
            </a:r>
            <a:endParaRPr sz="2200" lang="ja-JP">
              <a:latin typeface="Noto Sans"/>
              <a:ea typeface="Noto Sans CJK JP"/>
              <a:cs typeface="Noto Sans"/>
            </a:endParaRPr>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https://github.com/rajpurkar/SQuAD-explorer/tree/master/dataset　ID 572fdefb947a6a140053cd8d</a:t>
            </a:r>
            <a:endParaRPr sz="850" lang="ja-JP">
              <a:latin typeface="Noto Sans"/>
              <a:ea typeface="Noto Sans CJK JP"/>
              <a:cs typeface="Noto Sans"/>
            </a:endParaRP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1783080"/>
            <a:ext cx="8229600" cy="1417320"/>
          </a:xfrm>
        </p:spPr>
        <p:txBody>
          <a:bodyPr wrap="none" lIns="0" rIns="0" tIns="0" bIns="0" anchor="ctr"/>
          <a:lstStyle/>
          <a:p>
            <a:pPr algn="ctr" marL="0" indent="0">
              <a:lnSpc>
                <a:spcPct val="110000"/>
              </a:lnSpc>
              <a:spcBef>
                <a:spcPts val="0"/>
              </a:spcBef>
              <a:spcAft>
                <a:spcPts val="0"/>
              </a:spcAft>
              <a:buNone/>
              <a:defRPr sz="4000" lang="ja-JP">
                <a:latin typeface="Noto Sans"/>
                <a:ea typeface="Noto Sans CJK JP"/>
                <a:cs typeface="Noto Sans"/>
              </a:defRPr>
            </a:pPr>
            <a:r>
              <a:rPr sz="4000" lang="ja-JP" b="1">
                <a:solidFill>
                  <a:srgbClr val="303437"/>
                </a:solidFill>
                <a:latin typeface="Noto Sans"/>
                <a:ea typeface="Noto Sans CJK JP"/>
                <a:cs typeface="Noto Sans"/>
              </a:rPr>
              <a:t>3 評価と性能</a:t>
            </a:r>
            <a:endParaRPr sz="4000" lang="ja-JP">
              <a:latin typeface="Noto Sans"/>
              <a:ea typeface="Noto Sans CJK JP"/>
              <a:cs typeface="Noto Sans"/>
            </a:endParaRPr>
          </a:p>
        </p:txBody>
      </p:sp>
      <p:sp>
        <p:nvSpPr>
          <p:cNvPr id="3" name="Title 2"/>
          <p:cNvSpPr>
            <a:spLocks noGrp="1"/>
          </p:cNvSpPr>
          <p:nvPr>
            <p:ph type="title" idx="2"/>
          </p:nvPr>
        </p:nvSpPr>
        <p:spPr/>
        <p:txBody>
          <a:bodyPr/>
          <a:lstStyle/>
          <a:p>
            <a:pP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評価手法は EM と F1 の2種類</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評価と位置付け</a:t>
            </a:r>
            <a:endParaRPr sz="1400" lang="ja-JP">
              <a:latin typeface="Noto Sans"/>
              <a:ea typeface="Noto Sans CJK JP"/>
              <a:cs typeface="Noto Sans"/>
            </a:endParaRPr>
          </a:p>
        </p:txBody>
      </p:sp>
      <p:sp>
        <p:nvSpPr>
          <p:cNvPr id="4" name="content-text"/>
          <p:cNvSpPr txBox="1"/>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57826"/>
              <a:buFont typeface="Noto Sans CJK JP"/>
              <a:buChar char="●"/>
              <a:defRPr sz="2300" lang="ja-JP">
                <a:latin typeface="Noto Sans"/>
                <a:ea typeface="Noto Sans CJK JP"/>
                <a:cs typeface="Noto Sans"/>
              </a:defRPr>
            </a:pPr>
            <a:r>
              <a:rPr sz="2300" b="0" lang="ja-JP">
                <a:solidFill>
                  <a:srgbClr val="303437"/>
                </a:solidFill>
                <a:latin typeface="Noto Sans"/>
                <a:ea typeface="Noto Sans CJK JP"/>
                <a:cs typeface="Noto Sans"/>
              </a:rPr>
              <a:t>EMは、1問では完全一致なら1、不一致なら0 </a:t>
            </a:r>
            <a:r>
              <a:rPr sz="2300" b="0" lang="ja-JP">
                <a:solidFill>
                  <a:srgbClr val="303437"/>
                </a:solidFill>
                <a:latin typeface="Noto Sans"/>
                <a:ea typeface="Noto Sans CJK JP"/>
                <a:cs typeface="Noto Sans"/>
              </a:rPr>
              <a:t>[1]</a:t>
            </a:r>
            <a:r>
              <a:rPr sz="2300" b="0" lang="ja-JP">
                <a:solidFill>
                  <a:srgbClr val="303437"/>
                </a:solidFill>
                <a:latin typeface="Noto Sans"/>
                <a:ea typeface="Noto Sans CJK JP"/>
                <a:cs typeface="Noto Sans"/>
              </a:rPr>
              <a:t>。</a:t>
            </a:r>
            <a:endParaRPr sz="2300" lang="ja-JP">
              <a:latin typeface="Noto Sans"/>
              <a:ea typeface="Noto Sans CJK JP"/>
              <a:cs typeface="Noto Sans"/>
            </a:endParaRPr>
          </a:p>
          <a:p>
            <a:pPr lvl="1" algn="l" marL="9144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正解がDenver Broncosなら、一致は1、Denverは0。</a:t>
            </a:r>
            <a:endParaRPr sz="2100" lang="ja-JP">
              <a:latin typeface="Noto Sans"/>
              <a:ea typeface="Noto Sans CJK JP"/>
              <a:cs typeface="Noto Sans"/>
            </a:endParaRPr>
          </a:p>
          <a:p>
            <a:pPr algn="l" lvl="0" marL="457200" indent="-355600">
              <a:buSzPct val="57826"/>
              <a:buFont typeface="Noto Sans CJK JP"/>
              <a:buChar char="●"/>
              <a:defRPr sz="2300" lang="ja-JP">
                <a:latin typeface="Noto Sans"/>
                <a:ea typeface="Noto Sans CJK JP"/>
                <a:cs typeface="Noto Sans"/>
              </a:defRPr>
            </a:pPr>
            <a:r>
              <a:rPr sz="2300" b="0" lang="ja-JP">
                <a:solidFill>
                  <a:srgbClr val="303437"/>
                </a:solidFill>
                <a:latin typeface="Noto Sans"/>
                <a:ea typeface="Noto Sans CJK JP"/>
                <a:cs typeface="Noto Sans"/>
              </a:rPr>
              <a:t>F1は、共通する単語の適合率・再現率の調和平均。</a:t>
            </a:r>
            <a:endParaRPr sz="2300" lang="ja-JP">
              <a:latin typeface="Noto Sans"/>
              <a:ea typeface="Noto Sans CJK JP"/>
              <a:cs typeface="Noto Sans"/>
            </a:endParaRPr>
          </a:p>
          <a:p>
            <a:pPr lvl="1" algn="l" marL="9144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上の例では、完全一致なら1、Denverだけなら2/3。</a:t>
            </a:r>
            <a:endParaRPr sz="2100" lang="ja-JP">
              <a:latin typeface="Noto Sans"/>
              <a:ea typeface="Noto Sans CJK JP"/>
              <a:cs typeface="Noto Sans"/>
            </a:endParaRPr>
          </a:p>
          <a:p>
            <a:pPr algn="l" lvl="0" marL="457200" indent="-355600">
              <a:buSzPct val="57826"/>
              <a:buFont typeface="Noto Sans CJK JP"/>
              <a:buChar char="●"/>
              <a:defRPr sz="2300" lang="ja-JP">
                <a:latin typeface="Noto Sans"/>
                <a:ea typeface="Noto Sans CJK JP"/>
                <a:cs typeface="Noto Sans"/>
              </a:defRPr>
            </a:pPr>
            <a:r>
              <a:rPr sz="2300" b="0" lang="ja-JP">
                <a:solidFill>
                  <a:srgbClr val="303437"/>
                </a:solidFill>
                <a:latin typeface="Noto Sans"/>
                <a:ea typeface="Noto Sans CJK JP"/>
                <a:cs typeface="Noto Sans"/>
              </a:rPr>
              <a:t>報告値は、全問の得点の平均 × 100（%）。</a:t>
            </a:r>
            <a:endParaRPr sz="2300" lang="ja-JP">
              <a:latin typeface="Noto Sans"/>
              <a:ea typeface="Noto Sans CJK JP"/>
              <a:cs typeface="Noto Sans"/>
            </a:endParaRPr>
          </a:p>
          <a:p>
            <a:pPr lvl="1" algn="l" marL="9144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2問中1問が完全一致なら、集合のEMは50%。</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小文字化・句読点・冠詞除去・空白正規化。複数正解の最良値。</a:t>
            </a:r>
            <a:endParaRPr sz="2000" lang="ja-JP">
              <a:latin typeface="Noto Sans"/>
              <a:ea typeface="Noto Sans CJK JP"/>
              <a:cs typeface="Noto Sans"/>
            </a:endParaRPr>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評価実装　https://github.com/huggingface/evaluate/blob/main/metrics/squad/compute_score.py</a:t>
            </a:r>
            <a:endParaRPr sz="850" lang="ja-JP">
              <a:latin typeface="Noto Sans"/>
              <a:ea typeface="Noto Sans CJK JP"/>
              <a:cs typeface="Noto Sans"/>
            </a:endParaRP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2016年の原著のモデルはF1が51.0%だった</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SQuADの登場時の性能</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554480"/>
          <a:ext cx="8046720" cy="2103120"/>
        </p:xfrm>
        <a:graphic>
          <a:graphicData uri="http://schemas.openxmlformats.org/drawingml/2006/table">
            <a:tbl>
              <a:tblPr firstRow="1" bandRow="1">
                <a:tableStyleId>{5C22544A-7EE6-4342-B048-85BDC9FD1C3A}</a:tableStyleId>
              </a:tblPr>
              <a:tblGrid>
                <a:gridCol w="4572000"/>
                <a:gridCol w="1737360"/>
                <a:gridCol w="1737360"/>
              </a:tblGrid>
              <a:tr h="52578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原著のモデル・人の回答</a:t>
                      </a:r>
                      <a:endParaRPr sz="2200" lang="ja-JP">
                        <a:latin typeface="Noto Sans"/>
                        <a:ea typeface="Noto Sans CJK JP"/>
                        <a:cs typeface="Noto Sans"/>
                      </a:endParaRPr>
                    </a:p>
                  </a:txBody>
                  <a:tcPr>
                    <a:lnL w="0">
                      <a:noFill/>
                    </a:lnL>
                    <a:lnR w="0">
                      <a:noFill/>
                    </a:lnR>
                    <a:lnT w="10160">
                      <a:solidFill>
                        <a:srgbClr val="626669"/>
                      </a:solidFill>
                    </a:lnT>
                    <a:lnB w="10160">
                      <a:solidFill>
                        <a:srgbClr val="626669"/>
                      </a:solid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EM（%）</a:t>
                      </a:r>
                      <a:endParaRPr sz="2200" lang="ja-JP">
                        <a:latin typeface="Noto Sans"/>
                        <a:ea typeface="Noto Sans CJK JP"/>
                        <a:cs typeface="Noto Sans"/>
                      </a:endParaRPr>
                    </a:p>
                  </a:txBody>
                  <a:tcPr>
                    <a:lnL w="0">
                      <a:noFill/>
                    </a:lnL>
                    <a:lnR w="0">
                      <a:noFill/>
                    </a:lnR>
                    <a:lnT w="10160">
                      <a:solidFill>
                        <a:srgbClr val="626669"/>
                      </a:solidFill>
                    </a:lnT>
                    <a:lnB w="10160">
                      <a:solidFill>
                        <a:srgbClr val="626669"/>
                      </a:solid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F1（%）</a:t>
                      </a:r>
                      <a:endParaRPr sz="2200" lang="ja-JP">
                        <a:latin typeface="Noto Sans"/>
                        <a:ea typeface="Noto Sans CJK JP"/>
                        <a:cs typeface="Noto Sans"/>
                      </a:endParaRPr>
                    </a:p>
                  </a:txBody>
                  <a:tcPr>
                    <a:lnL w="0">
                      <a:noFill/>
                    </a:lnL>
                    <a:lnR w="0">
                      <a:noFill/>
                    </a:lnR>
                    <a:lnT w="10160">
                      <a:solidFill>
                        <a:srgbClr val="626669"/>
                      </a:solidFill>
                    </a:lnT>
                    <a:lnB w="10160">
                      <a:solidFill>
                        <a:srgbClr val="626669"/>
                      </a:solidFill>
                    </a:lnB>
                    <a:solidFill>
                      <a:srgbClr val="FFFEF8"/>
                    </a:solidFill>
                  </a:tcPr>
                </a:tc>
              </a:tr>
              <a:tr h="52578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単語一致を使うSliding Window</a:t>
                      </a:r>
                      <a:endParaRPr sz="2200" lang="ja-JP">
                        <a:latin typeface="Noto Sans"/>
                        <a:ea typeface="Noto Sans CJK JP"/>
                        <a:cs typeface="Noto Sans"/>
                      </a:endParaRPr>
                    </a:p>
                  </a:txBody>
                  <a:tcPr>
                    <a:lnL w="0">
                      <a:noFill/>
                    </a:lnL>
                    <a:lnR w="0">
                      <a:noFill/>
                    </a:lnR>
                    <a:lnT w="0">
                      <a:noFill/>
                    </a:lnT>
                    <a:lnB w="0">
                      <a:no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12.5</a:t>
                      </a:r>
                      <a:endParaRPr sz="2200" lang="ja-JP">
                        <a:latin typeface="Noto Sans"/>
                        <a:ea typeface="Noto Sans CJK JP"/>
                        <a:cs typeface="Noto Sans"/>
                      </a:endParaRPr>
                    </a:p>
                  </a:txBody>
                  <a:tcPr>
                    <a:lnL w="0">
                      <a:noFill/>
                    </a:lnL>
                    <a:lnR w="0">
                      <a:noFill/>
                    </a:lnR>
                    <a:lnT w="0">
                      <a:noFill/>
                    </a:lnT>
                    <a:lnB w="0">
                      <a:no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19.7</a:t>
                      </a:r>
                      <a:endParaRPr sz="2200" lang="ja-JP">
                        <a:latin typeface="Noto Sans"/>
                        <a:ea typeface="Noto Sans CJK JP"/>
                        <a:cs typeface="Noto Sans"/>
                      </a:endParaRPr>
                    </a:p>
                  </a:txBody>
                  <a:tcPr>
                    <a:lnL w="0">
                      <a:noFill/>
                    </a:lnL>
                    <a:lnR w="0">
                      <a:noFill/>
                    </a:lnR>
                    <a:lnT w="0">
                      <a:noFill/>
                    </a:lnT>
                    <a:lnB w="0">
                      <a:noFill/>
                    </a:lnB>
                    <a:solidFill>
                      <a:srgbClr val="FFFEF8"/>
                    </a:solidFill>
                  </a:tcPr>
                </a:tc>
              </a:tr>
              <a:tr h="52578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ロジスティック回帰</a:t>
                      </a:r>
                      <a:endParaRPr sz="2200" lang="ja-JP">
                        <a:latin typeface="Noto Sans"/>
                        <a:ea typeface="Noto Sans CJK JP"/>
                        <a:cs typeface="Noto Sans"/>
                      </a:endParaRPr>
                    </a:p>
                  </a:txBody>
                  <a:tcPr>
                    <a:lnL w="0">
                      <a:noFill/>
                    </a:lnL>
                    <a:lnR w="0">
                      <a:noFill/>
                    </a:lnR>
                    <a:lnT w="0">
                      <a:noFill/>
                    </a:lnT>
                    <a:lnB w="0">
                      <a:no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40.4</a:t>
                      </a:r>
                      <a:endParaRPr sz="2200" lang="ja-JP">
                        <a:latin typeface="Noto Sans"/>
                        <a:ea typeface="Noto Sans CJK JP"/>
                        <a:cs typeface="Noto Sans"/>
                      </a:endParaRPr>
                    </a:p>
                  </a:txBody>
                  <a:tcPr>
                    <a:lnL w="0">
                      <a:noFill/>
                    </a:lnL>
                    <a:lnR w="0">
                      <a:noFill/>
                    </a:lnR>
                    <a:lnT w="0">
                      <a:noFill/>
                    </a:lnT>
                    <a:lnB w="0">
                      <a:no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51.0</a:t>
                      </a:r>
                      <a:endParaRPr sz="2200" lang="ja-JP">
                        <a:latin typeface="Noto Sans"/>
                        <a:ea typeface="Noto Sans CJK JP"/>
                        <a:cs typeface="Noto Sans"/>
                      </a:endParaRPr>
                    </a:p>
                  </a:txBody>
                  <a:tcPr>
                    <a:lnL w="0">
                      <a:noFill/>
                    </a:lnL>
                    <a:lnR w="0">
                      <a:noFill/>
                    </a:lnR>
                    <a:lnT w="0">
                      <a:noFill/>
                    </a:lnT>
                    <a:lnB w="0">
                      <a:noFill/>
                    </a:lnB>
                    <a:solidFill>
                      <a:srgbClr val="FFFEF8"/>
                    </a:solidFill>
                  </a:tcPr>
                </a:tc>
              </a:tr>
              <a:tr h="52578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人の回答</a:t>
                      </a:r>
                      <a:endParaRPr sz="2200" lang="ja-JP">
                        <a:latin typeface="Noto Sans"/>
                        <a:ea typeface="Noto Sans CJK JP"/>
                        <a:cs typeface="Noto Sans"/>
                      </a:endParaRPr>
                    </a:p>
                  </a:txBody>
                  <a:tcPr>
                    <a:lnL w="0">
                      <a:noFill/>
                    </a:lnL>
                    <a:lnR w="0">
                      <a:noFill/>
                    </a:lnR>
                    <a:lnT w="0">
                      <a:noFill/>
                    </a:lnT>
                    <a:lnB w="10160">
                      <a:solidFill>
                        <a:srgbClr val="626669"/>
                      </a:solid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77.0</a:t>
                      </a:r>
                      <a:endParaRPr sz="2200" lang="ja-JP">
                        <a:latin typeface="Noto Sans"/>
                        <a:ea typeface="Noto Sans CJK JP"/>
                        <a:cs typeface="Noto Sans"/>
                      </a:endParaRPr>
                    </a:p>
                  </a:txBody>
                  <a:tcPr>
                    <a:lnL w="0">
                      <a:noFill/>
                    </a:lnL>
                    <a:lnR w="0">
                      <a:noFill/>
                    </a:lnR>
                    <a:lnT w="0">
                      <a:noFill/>
                    </a:lnT>
                    <a:lnB w="10160">
                      <a:solidFill>
                        <a:srgbClr val="626669"/>
                      </a:solid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86.8</a:t>
                      </a:r>
                      <a:endParaRPr sz="2200" lang="ja-JP">
                        <a:latin typeface="Noto Sans"/>
                        <a:ea typeface="Noto Sans CJK JP"/>
                        <a:cs typeface="Noto Sans"/>
                      </a:endParaRPr>
                    </a:p>
                  </a:txBody>
                  <a:tcPr>
                    <a:lnL w="0">
                      <a:noFill/>
                    </a:lnL>
                    <a:lnR w="0">
                      <a:noFill/>
                    </a:lnR>
                    <a:lnT w="0">
                      <a:noFill/>
                    </a:lnT>
                    <a:lnB w="10160">
                      <a:solidFill>
                        <a:srgbClr val="626669"/>
                      </a:solidFill>
                    </a:lnB>
                    <a:solidFill>
                      <a:srgbClr val="FFFEF8"/>
                    </a:solidFill>
                  </a:tcPr>
                </a:tc>
              </a:tr>
            </a:tbl>
          </a:graphicData>
        </a:graphic>
      </p:graphicFrame>
      <p:sp>
        <p:nvSpPr>
          <p:cNvPr id="5" name="TextBox 4"/>
          <p:cNvSpPr txBox="1"/>
          <p:nvPr/>
        </p:nvSpPr>
        <p:spPr>
          <a:xfrm>
            <a:off x="594360" y="3858768"/>
            <a:ext cx="7955279" cy="640080"/>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a:solidFill>
                  <a:srgbClr val="303437"/>
                </a:solidFill>
                <a:latin typeface="Noto Sans"/>
                <a:ea typeface="Noto Sans CJK JP"/>
                <a:cs typeface="Noto Sans"/>
              </a:rPr>
              <a:t>SQuADバージョン1.0のテスト用で評価した </a:t>
            </a:r>
            <a:r>
              <a:rPr sz="1800" lang="ja-JP">
                <a:solidFill>
                  <a:srgbClr val="303437"/>
                </a:solidFill>
                <a:latin typeface="Noto Sans"/>
                <a:ea typeface="Noto Sans CJK JP"/>
                <a:cs typeface="Noto Sans"/>
              </a:rPr>
              <a:t>[1]</a:t>
            </a:r>
            <a:r>
              <a:rPr sz="1800" lang="ja-JP">
                <a:solidFill>
                  <a:srgbClr val="303437"/>
                </a:solidFill>
                <a:latin typeface="Noto Sans"/>
                <a:ea typeface="Noto Sans CJK JP"/>
                <a:cs typeface="Noto Sans"/>
              </a:rPr>
              <a:t>。人の得点は、追加の正解回答を予測として採点した。</a:t>
            </a:r>
            <a:endParaRPr sz="1800" lang="ja-JP">
              <a:latin typeface="Noto Sans"/>
              <a:ea typeface="Noto Sans CJK JP"/>
              <a:cs typeface="Noto Sans"/>
            </a:endParaRPr>
          </a:p>
        </p:txBody>
      </p:sp>
      <p:sp>
        <p:nvSpPr>
          <p:cNvPr id="6"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Rajpurkar et al. (2016), Table 5・§6.2. https://aclanthology.org/D16-1264/</a:t>
            </a:r>
            <a:endParaRPr sz="850" lang="ja-JP">
              <a:latin typeface="Noto Sans"/>
              <a:ea typeface="Noto Sans CJK JP"/>
              <a:cs typeface="Noto Sans"/>
            </a:endParaRP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バージョン1.1のベンチマーク結果</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評価と位置付け</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94485"/>
          <a:ext cx="8046717" cy="1800225"/>
        </p:xfrm>
        <a:graphic>
          <a:graphicData uri="http://schemas.openxmlformats.org/drawingml/2006/table">
            <a:tbl>
              <a:tblPr firstRow="1" bandRow="1">
                <a:tableStyleId>{5C22544A-7EE6-4342-B048-85BDC9FD1C3A}</a:tableStyleId>
              </a:tblPr>
              <a:tblGrid>
                <a:gridCol w="2333548"/>
                <a:gridCol w="2655417"/>
                <a:gridCol w="1528876"/>
                <a:gridCol w="1528876"/>
              </a:tblGrid>
              <a:tr h="450056">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モデル [1]</a:t>
                      </a:r>
                      <a:endParaRPr sz="20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提出日</a:t>
                      </a:r>
                      <a:endParaRPr sz="20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EM</a:t>
                      </a:r>
                      <a:endParaRPr sz="20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F1</a:t>
                      </a:r>
                      <a:endParaRPr sz="20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r>
              <a:tr h="450056">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BiDAF</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2016-11-28</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68.0</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77.3</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450056">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BERT</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2018-10-05</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85.1</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91.8</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450057">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XLNet</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2019-05-21</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89.9</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95.1</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ph type="body" idx="1"/>
          </p:nvPr>
        </p:nvSpPr>
        <p:spPr>
          <a:xfrm>
            <a:off x="594360" y="3770962"/>
            <a:ext cx="8046720" cy="910766"/>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SQuAD運営者の非公開テストで採点。</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開発用とは別のデータ。各行は単一モデルの提出結果。</a:t>
            </a:r>
            <a:endParaRPr sz="2000" lang="ja-JP">
              <a:latin typeface="Noto Sans"/>
              <a:ea typeface="Noto Sans CJK JP"/>
              <a:cs typeface="Noto Sans"/>
            </a:endParaRPr>
          </a:p>
        </p:txBody>
      </p:sp>
      <p:sp>
        <p:nvSpPr>
          <p:cNvPr id="6"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掲載された提出結果（EM・F1は%）。</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https://rajpurkar.github.io/SQuAD-explorer/</a:t>
            </a:r>
            <a:endParaRPr sz="850" lang="ja-JP">
              <a:latin typeface="Noto Sans"/>
              <a:ea typeface="Noto Sans CJK JP"/>
              <a:cs typeface="Noto Sans"/>
            </a:endParaRP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SQuAD 2.0では抽出型モデルも比較されている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評価と位置付け</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43050"/>
          <a:ext cx="8046718" cy="1825942"/>
        </p:xfrm>
        <a:graphic>
          <a:graphicData uri="http://schemas.openxmlformats.org/drawingml/2006/table">
            <a:tbl>
              <a:tblPr firstRow="1" bandRow="1">
                <a:tableStyleId>{5C22544A-7EE6-4342-B048-85BDC9FD1C3A}</a:tableStyleId>
              </a:tblPr>
              <a:tblGrid>
                <a:gridCol w="4345228"/>
                <a:gridCol w="1850745"/>
                <a:gridCol w="1850745"/>
              </a:tblGrid>
              <a:tr h="456485">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モデル [1]</a:t>
                      </a:r>
                      <a:endParaRPr sz="20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EM（%）</a:t>
                      </a:r>
                      <a:endParaRPr sz="20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F1（%）</a:t>
                      </a:r>
                      <a:endParaRPr sz="20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r>
              <a:tr h="456485">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BERT-Large</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79.0</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81.8</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456485">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RoBERTa-Large</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86.5</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89.4</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456487">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DeBERTa-V3-Large</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89.0</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91.5</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ph type="body" idx="1"/>
          </p:nvPr>
        </p:nvSpPr>
        <p:spPr>
          <a:xfrm>
            <a:off x="594360" y="3719476"/>
            <a:ext cx="8046720" cy="962252"/>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SQuAD 2.0の学習用で微調整し、開発用で評価した公表値。</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Llamaの生成評価や、運営者の非公開テストとは条件が異なる。</a:t>
            </a:r>
            <a:endParaRPr sz="2000" lang="ja-JP">
              <a:latin typeface="Noto Sans"/>
              <a:ea typeface="Noto Sans CJK JP"/>
              <a:cs typeface="Noto Sans"/>
            </a:endParaRPr>
          </a:p>
        </p:txBody>
      </p:sp>
      <p:sp>
        <p:nvSpPr>
          <p:cNvPr id="6"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Microsoftの公開結果で、SQuAD 2.0開発用のEM・F1を掲載。</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https://github.com/microsoft/DeBERTa</a:t>
            </a:r>
            <a:endParaRPr sz="850" lang="ja-JP">
              <a:latin typeface="Noto Sans"/>
              <a:ea typeface="Noto Sans CJK JP"/>
              <a:cs typeface="Noto Sans"/>
            </a:endParaRP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Llama 3.1でもSQuAD 2を評価している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評価と位置付け</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43050"/>
          <a:ext cx="8046720" cy="1825942"/>
        </p:xfrm>
        <a:graphic>
          <a:graphicData uri="http://schemas.openxmlformats.org/drawingml/2006/table">
            <a:tbl>
              <a:tblPr firstRow="1" bandRow="1">
                <a:tableStyleId>{5C22544A-7EE6-4342-B048-85BDC9FD1C3A}</a:tableStyleId>
              </a:tblPr>
              <a:tblGrid>
                <a:gridCol w="5230368"/>
                <a:gridCol w="2816352"/>
              </a:tblGrid>
              <a:tr h="456485">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事前学習モデル [1]</a:t>
                      </a:r>
                      <a:endParaRPr sz="20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EM（%）</a:t>
                      </a:r>
                      <a:endParaRPr sz="20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r>
              <a:tr h="456485">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Llama 3.1 8B</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77.0</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456485">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Llama 3.1 70B</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81.8</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456487">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Llama 3.1 405B</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89.3</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ph type="body" idx="1"/>
          </p:nvPr>
        </p:nvSpPr>
        <p:spPr>
          <a:xfrm>
            <a:off x="594360" y="3719476"/>
            <a:ext cx="8046720" cy="1043023"/>
          </a:xfrm>
          <a:prstGeom prst="rect">
            <a:avLst/>
          </a:prstGeom>
          <a:noFill/>
        </p:spPr>
        <p:txBody>
          <a:bodyPr wrap="square" anchor="t" lIns="91425" rIns="91425" tIns="91425" bIns="91425">
            <a:noAutofit/>
          </a:bodyPr>
          <a:lstStyle/>
          <a:p>
            <a:pPr algn="l" lvl="0" marL="457200" indent="-355600">
              <a:buSzPct val="78235"/>
              <a:buFont typeface="Noto Sans CJK JP"/>
              <a:buChar char="●"/>
              <a:defRPr sz="1700" lang="ja-JP">
                <a:latin typeface="Noto Sans"/>
                <a:ea typeface="Noto Sans CJK JP"/>
                <a:cs typeface="Noto Sans"/>
              </a:defRPr>
            </a:pPr>
            <a:r>
              <a:rPr sz="1700" lang="ja-JP">
                <a:solidFill>
                  <a:srgbClr val="303437"/>
                </a:solidFill>
                <a:latin typeface="Noto Sans"/>
                <a:ea typeface="Noto Sans CJK JP"/>
                <a:cs typeface="Noto Sans"/>
              </a:rPr>
              <a:t>2024-07-23公開、事前学習モデルを1-shotで生成評価。</a:t>
            </a:r>
            <a:endParaRPr sz="1700" lang="ja-JP">
              <a:latin typeface="Noto Sans"/>
              <a:ea typeface="Noto Sans CJK JP"/>
              <a:cs typeface="Noto Sans"/>
            </a:endParaRPr>
          </a:p>
          <a:p>
            <a:pPr algn="l" lvl="0" marL="457200" indent="-355600">
              <a:buSzPct val="78235"/>
              <a:buFont typeface="Noto Sans CJK JP"/>
              <a:buChar char="●"/>
              <a:defRPr sz="1700" lang="ja-JP">
                <a:latin typeface="Noto Sans"/>
                <a:ea typeface="Noto Sans CJK JP"/>
                <a:cs typeface="Noto Sans"/>
              </a:defRPr>
            </a:pPr>
            <a:r>
              <a:rPr sz="1700" lang="ja-JP">
                <a:solidFill>
                  <a:srgbClr val="303437"/>
                </a:solidFill>
                <a:latin typeface="Noto Sans"/>
                <a:ea typeface="Noto Sans CJK JP"/>
                <a:cs typeface="Noto Sans"/>
              </a:rPr>
              <a:t>先行QAの正解を含むため、運営者のテストとは条件が異なる </a:t>
            </a:r>
            <a:r>
              <a:rPr sz="1700" lang="ja-JP">
                <a:solidFill>
                  <a:srgbClr val="303437"/>
                </a:solidFill>
                <a:latin typeface="Noto Sans"/>
                <a:ea typeface="Noto Sans CJK JP"/>
                <a:cs typeface="Noto Sans"/>
              </a:rPr>
              <a:t>[2]</a:t>
            </a:r>
            <a:r>
              <a:rPr sz="1700" lang="ja-JP">
                <a:solidFill>
                  <a:srgbClr val="303437"/>
                </a:solidFill>
                <a:latin typeface="Noto Sans"/>
                <a:ea typeface="Noto Sans CJK JP"/>
                <a:cs typeface="Noto Sans"/>
              </a:rPr>
              <a:t>。</a:t>
            </a:r>
            <a:endParaRPr sz="1700" lang="ja-JP">
              <a:latin typeface="Noto Sans"/>
              <a:ea typeface="Noto Sans CJK JP"/>
              <a:cs typeface="Noto Sans"/>
            </a:endParaRPr>
          </a:p>
        </p:txBody>
      </p:sp>
      <p:sp>
        <p:nvSpPr>
          <p:cNvPr id="6"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https://github.com/meta-llama/llama-models/blob/main/models/llama3_1/MODEL_CARD.md</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[2]</a:t>
            </a:r>
            <a:r>
              <a:rPr sz="850" lang="ja-JP">
                <a:solidFill>
                  <a:srgbClr val="626669"/>
                </a:solidFill>
                <a:latin typeface="Noto Sans"/>
                <a:ea typeface="Noto Sans CJK JP"/>
                <a:cs typeface="Noto Sans"/>
              </a:rPr>
              <a:t> https://github.com/meta-llama/llama-models/blob/main/models/llama3_1/eval_details.md</a:t>
            </a:r>
            <a:endParaRPr sz="850" lang="ja-JP">
              <a:latin typeface="Noto Sans"/>
              <a:ea typeface="Noto Sans CJK JP"/>
              <a:cs typeface="Noto Sans"/>
            </a:endParaRP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1783080"/>
            <a:ext cx="8229600" cy="1417320"/>
          </a:xfrm>
        </p:spPr>
        <p:txBody>
          <a:bodyPr wrap="none" lIns="0" rIns="0" tIns="0" bIns="0" anchor="ctr"/>
          <a:lstStyle/>
          <a:p>
            <a:pPr algn="ctr" marL="0" indent="0">
              <a:lnSpc>
                <a:spcPct val="110000"/>
              </a:lnSpc>
              <a:spcBef>
                <a:spcPts val="0"/>
              </a:spcBef>
              <a:spcAft>
                <a:spcPts val="0"/>
              </a:spcAft>
              <a:buNone/>
              <a:defRPr sz="4000" lang="ja-JP">
                <a:latin typeface="Noto Sans"/>
                <a:ea typeface="Noto Sans CJK JP"/>
                <a:cs typeface="Noto Sans"/>
              </a:defRPr>
            </a:pPr>
            <a:r>
              <a:rPr sz="4000" lang="ja-JP" b="1">
                <a:solidFill>
                  <a:srgbClr val="303437"/>
                </a:solidFill>
                <a:latin typeface="Noto Sans"/>
                <a:ea typeface="Noto Sans CJK JP"/>
                <a:cs typeface="Noto Sans"/>
              </a:rPr>
              <a:t>4 利用の変遷と現在</a:t>
            </a:r>
            <a:endParaRPr sz="4000" lang="ja-JP">
              <a:latin typeface="Noto Sans"/>
              <a:ea typeface="Noto Sans CJK JP"/>
              <a:cs typeface="Noto Sans"/>
            </a:endParaRPr>
          </a:p>
        </p:txBody>
      </p:sp>
      <p:sp>
        <p:nvSpPr>
          <p:cNvPr id="3" name="Title 2"/>
          <p:cNvSpPr>
            <a:spLocks noGrp="1"/>
          </p:cNvSpPr>
          <p:nvPr>
            <p:ph type="title" idx="2"/>
          </p:nvPr>
        </p:nvSpPr>
        <p:spPr/>
        <p:txBody>
          <a:bodyPr/>
          <a:lstStyle/>
          <a:p>
            <a:pP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SQuAD以前にも読解用データセットがあった</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周辺データセット</a:t>
            </a:r>
            <a:endParaRPr sz="1400" lang="ja-JP">
              <a:latin typeface="Noto Sans"/>
              <a:ea typeface="Noto Sans CJK JP"/>
              <a:cs typeface="Noto Sans"/>
            </a:endParaRPr>
          </a:p>
        </p:txBody>
      </p:sp>
      <p:sp>
        <p:nvSpPr>
          <p:cNvPr id="4" name="content-text"/>
          <p:cNvSpPr txBox="1"/>
          <p:nvPr>
            <p:ph type="body" idx="1"/>
          </p:nvPr>
        </p:nvSpPr>
        <p:spPr>
          <a:xfrm>
            <a:off x="594360" y="1491615"/>
            <a:ext cx="8046720" cy="2983230"/>
          </a:xfrm>
          <a:prstGeom prst="rect">
            <a:avLst/>
          </a:prstGeom>
          <a:noFill/>
        </p:spPr>
        <p:txBody>
          <a:bodyPr wrap="square" anchor="t" lIns="91425" rIns="91425" tIns="91425" bIns="91425">
            <a:noAutofit/>
          </a:bodyPr>
          <a:lstStyle/>
          <a:p>
            <a:pPr algn="l" lvl="0" marL="457200" indent="-355600">
              <a:buSzPct val="55417"/>
              <a:buFont typeface="Noto Sans CJK JP"/>
              <a:buChar char="●"/>
              <a:defRPr sz="2400" lang="ja-JP">
                <a:latin typeface="Noto Sans"/>
                <a:ea typeface="Noto Sans CJK JP"/>
                <a:cs typeface="Noto Sans"/>
              </a:defRPr>
            </a:pPr>
            <a:r>
              <a:rPr sz="2400" b="0" lang="ja-JP">
                <a:solidFill>
                  <a:srgbClr val="303437"/>
                </a:solidFill>
                <a:latin typeface="Noto Sans"/>
                <a:ea typeface="Noto Sans CJK JP"/>
                <a:cs typeface="Noto Sans"/>
              </a:rPr>
              <a:t>MCTestは2013年に公開された。</a:t>
            </a:r>
            <a:endParaRPr sz="2400" lang="ja-JP">
              <a:latin typeface="Noto Sans"/>
              <a:ea typeface="Noto Sans CJK JP"/>
              <a:cs typeface="Noto Sans"/>
            </a:endParaRPr>
          </a:p>
          <a:p>
            <a:pPr lvl="1" algn="l" marL="914400" indent="-355600">
              <a:buSzPct val="60455"/>
              <a:buFont typeface="Noto Sans CJK JP"/>
              <a:buChar char="○"/>
              <a:defRPr sz="2200" lang="ja-JP">
                <a:latin typeface="Noto Sans"/>
                <a:ea typeface="Noto Sans CJK JP"/>
                <a:cs typeface="Noto Sans"/>
              </a:defRPr>
            </a:pPr>
            <a:r>
              <a:rPr sz="2200" b="0" lang="ja-JP">
                <a:solidFill>
                  <a:srgbClr val="303437"/>
                </a:solidFill>
                <a:latin typeface="Noto Sans"/>
                <a:ea typeface="Noto Sans CJK JP"/>
                <a:cs typeface="Noto Sans"/>
              </a:rPr>
              <a:t>短い物語を読んで4択質問に答える。SQuADはWikipediaの段落から回答範囲を選ぶ </a:t>
            </a:r>
            <a:r>
              <a:rPr sz="2200" b="0" lang="ja-JP">
                <a:solidFill>
                  <a:srgbClr val="303437"/>
                </a:solidFill>
                <a:latin typeface="Noto Sans"/>
                <a:ea typeface="Noto Sans CJK JP"/>
                <a:cs typeface="Noto Sans"/>
              </a:rPr>
              <a:t>[1]</a:t>
            </a:r>
            <a:r>
              <a:rPr sz="2200" b="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buSzPct val="55417"/>
              <a:buFont typeface="Noto Sans CJK JP"/>
              <a:buChar char="●"/>
              <a:defRPr sz="2400" lang="ja-JP">
                <a:latin typeface="Noto Sans"/>
                <a:ea typeface="Noto Sans CJK JP"/>
                <a:cs typeface="Noto Sans"/>
              </a:defRPr>
            </a:pPr>
            <a:r>
              <a:rPr sz="2400" b="0" lang="ja-JP">
                <a:solidFill>
                  <a:srgbClr val="303437"/>
                </a:solidFill>
                <a:latin typeface="Noto Sans"/>
                <a:ea typeface="Noto Sans CJK JP"/>
                <a:cs typeface="Noto Sans"/>
              </a:rPr>
              <a:t>CNN / Daily Mailは2015年に公開された。</a:t>
            </a:r>
            <a:endParaRPr sz="2400" lang="ja-JP">
              <a:latin typeface="Noto Sans"/>
              <a:ea typeface="Noto Sans CJK JP"/>
              <a:cs typeface="Noto Sans"/>
            </a:endParaRPr>
          </a:p>
          <a:p>
            <a:pPr lvl="1" algn="l" marL="914400" indent="-355600">
              <a:buSzPct val="60455"/>
              <a:buFont typeface="Noto Sans CJK JP"/>
              <a:buChar char="○"/>
              <a:defRPr sz="2200" lang="ja-JP">
                <a:latin typeface="Noto Sans"/>
                <a:ea typeface="Noto Sans CJK JP"/>
                <a:cs typeface="Noto Sans"/>
              </a:defRPr>
            </a:pPr>
            <a:r>
              <a:rPr sz="2200" b="0" lang="ja-JP">
                <a:solidFill>
                  <a:srgbClr val="303437"/>
                </a:solidFill>
                <a:latin typeface="Noto Sans"/>
                <a:ea typeface="Noto Sans CJK JP"/>
                <a:cs typeface="Noto Sans"/>
              </a:rPr>
              <a:t>ニュースの要約の固有表現を伏せて質問を自動生成する。SQuADでは人が質問を書き、回答は任意の連続範囲を認める </a:t>
            </a:r>
            <a:r>
              <a:rPr sz="2200" b="0" lang="ja-JP">
                <a:solidFill>
                  <a:srgbClr val="303437"/>
                </a:solidFill>
                <a:latin typeface="Noto Sans"/>
                <a:ea typeface="Noto Sans CJK JP"/>
                <a:cs typeface="Noto Sans"/>
              </a:rPr>
              <a:t>[2]</a:t>
            </a:r>
            <a:r>
              <a:rPr sz="2200" b="0" lang="ja-JP">
                <a:solidFill>
                  <a:srgbClr val="303437"/>
                </a:solidFill>
                <a:latin typeface="Noto Sans"/>
                <a:ea typeface="Noto Sans CJK JP"/>
                <a:cs typeface="Noto Sans"/>
              </a:rPr>
              <a:t>。</a:t>
            </a:r>
            <a:endParaRPr sz="2200" lang="ja-JP">
              <a:latin typeface="Noto Sans"/>
              <a:ea typeface="Noto Sans CJK JP"/>
              <a:cs typeface="Noto Sans"/>
            </a:endParaRPr>
          </a:p>
        </p:txBody>
      </p:sp>
      <p:sp>
        <p:nvSpPr>
          <p:cNvPr id="5"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Richardson et al. (2013) https://aclanthology.org/D13-1020/</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[2]</a:t>
            </a:r>
            <a:r>
              <a:rPr sz="850" lang="ja-JP">
                <a:solidFill>
                  <a:srgbClr val="626669"/>
                </a:solidFill>
                <a:latin typeface="Noto Sans"/>
                <a:ea typeface="Noto Sans CJK JP"/>
                <a:cs typeface="Noto Sans"/>
              </a:rPr>
              <a:t> Hermann et al. (2015) https://github.com/deepmind/rc-data</a:t>
            </a:r>
            <a:endParaRPr sz="850" lang="ja-JP">
              <a:latin typeface="Noto Sans"/>
              <a:ea typeface="Noto Sans CJK JP"/>
              <a:cs typeface="Noto Sans"/>
            </a:endParaRP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後続データセットでは入力と質問が広がった</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周辺データセット</a:t>
            </a:r>
            <a:endParaRPr sz="1400" lang="ja-JP">
              <a:latin typeface="Noto Sans"/>
              <a:ea typeface="Noto Sans CJK JP"/>
              <a:cs typeface="Noto Sans"/>
            </a:endParaRPr>
          </a:p>
        </p:txBody>
      </p:sp>
      <p:sp>
        <p:nvSpPr>
          <p:cNvPr id="4" name="content-text"/>
          <p:cNvSpPr txBox="1"/>
          <p:nvPr>
            <p:ph type="body" idx="1"/>
          </p:nvPr>
        </p:nvSpPr>
        <p:spPr>
          <a:xfrm>
            <a:off x="594360" y="1491615"/>
            <a:ext cx="8046720" cy="2983230"/>
          </a:xfrm>
          <a:prstGeom prst="rect">
            <a:avLst/>
          </a:prstGeom>
          <a:noFill/>
        </p:spPr>
        <p:txBody>
          <a:bodyPr wrap="square" anchor="t" lIns="91425" rIns="91425" tIns="91425" bIns="91425">
            <a:noAutofit/>
          </a:bodyPr>
          <a:lstStyle/>
          <a:p>
            <a:pPr algn="l" lvl="0" marL="457200" indent="-355600">
              <a:buSzPct val="57826"/>
              <a:buFont typeface="Noto Sans CJK JP"/>
              <a:buChar char="●"/>
              <a:defRPr sz="2300" lang="ja-JP">
                <a:latin typeface="Noto Sans"/>
                <a:ea typeface="Noto Sans CJK JP"/>
                <a:cs typeface="Noto Sans"/>
              </a:defRPr>
            </a:pPr>
            <a:r>
              <a:rPr sz="2300" b="0" lang="ja-JP">
                <a:solidFill>
                  <a:srgbClr val="303437"/>
                </a:solidFill>
                <a:latin typeface="Noto Sans"/>
                <a:ea typeface="Noto Sans CJK JP"/>
                <a:cs typeface="Noto Sans"/>
              </a:rPr>
              <a:t>HotpotQAは2018年に公開された。</a:t>
            </a:r>
            <a:endParaRPr sz="2300" lang="ja-JP">
              <a:latin typeface="Noto Sans"/>
              <a:ea typeface="Noto Sans CJK JP"/>
              <a:cs typeface="Noto Sans"/>
            </a:endParaRPr>
          </a:p>
          <a:p>
            <a:pPr lvl="1" algn="l" marL="9144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複数のWikipedia記事にまたがる推論と、根拠文の特定を扱う。SQuADの1段落の読解より、文書間の情報を組み合わせる </a:t>
            </a:r>
            <a:r>
              <a:rPr sz="2100" b="0" lang="ja-JP">
                <a:solidFill>
                  <a:srgbClr val="303437"/>
                </a:solidFill>
                <a:latin typeface="Noto Sans"/>
                <a:ea typeface="Noto Sans CJK JP"/>
                <a:cs typeface="Noto Sans"/>
              </a:rPr>
              <a:t>[1]</a:t>
            </a:r>
            <a:r>
              <a:rPr sz="2100" b="0" lang="ja-JP">
                <a:solidFill>
                  <a:srgbClr val="303437"/>
                </a:solidFill>
                <a:latin typeface="Noto Sans"/>
                <a:ea typeface="Noto Sans CJK JP"/>
                <a:cs typeface="Noto Sans"/>
              </a:rPr>
              <a:t>。</a:t>
            </a:r>
            <a:endParaRPr sz="2100" lang="ja-JP">
              <a:latin typeface="Noto Sans"/>
              <a:ea typeface="Noto Sans CJK JP"/>
              <a:cs typeface="Noto Sans"/>
            </a:endParaRPr>
          </a:p>
          <a:p>
            <a:pPr algn="l" lvl="0" marL="457200" indent="-355600">
              <a:buSzPct val="57826"/>
              <a:buFont typeface="Noto Sans CJK JP"/>
              <a:buChar char="●"/>
              <a:defRPr sz="2300" lang="ja-JP">
                <a:latin typeface="Noto Sans"/>
                <a:ea typeface="Noto Sans CJK JP"/>
                <a:cs typeface="Noto Sans"/>
              </a:defRPr>
            </a:pPr>
            <a:r>
              <a:rPr sz="2300" b="0" lang="ja-JP">
                <a:solidFill>
                  <a:srgbClr val="303437"/>
                </a:solidFill>
                <a:latin typeface="Noto Sans"/>
                <a:ea typeface="Noto Sans CJK JP"/>
                <a:cs typeface="Noto Sans"/>
              </a:rPr>
              <a:t>Natural Questionsは2019年に公開された。</a:t>
            </a:r>
            <a:endParaRPr sz="2300" lang="ja-JP">
              <a:latin typeface="Noto Sans"/>
              <a:ea typeface="Noto Sans CJK JP"/>
              <a:cs typeface="Noto Sans"/>
            </a:endParaRPr>
          </a:p>
          <a:p>
            <a:pPr lvl="1" algn="l" marL="9144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Googleの検索質問とWikipediaページを使う。SQuADと異なり、長い回答と短い回答を指定する </a:t>
            </a:r>
            <a:r>
              <a:rPr sz="2100" b="0" lang="ja-JP">
                <a:solidFill>
                  <a:srgbClr val="303437"/>
                </a:solidFill>
                <a:latin typeface="Noto Sans"/>
                <a:ea typeface="Noto Sans CJK JP"/>
                <a:cs typeface="Noto Sans"/>
              </a:rPr>
              <a:t>[2]</a:t>
            </a:r>
            <a:r>
              <a:rPr sz="2100" b="0" lang="ja-JP">
                <a:solidFill>
                  <a:srgbClr val="303437"/>
                </a:solidFill>
                <a:latin typeface="Noto Sans"/>
                <a:ea typeface="Noto Sans CJK JP"/>
                <a:cs typeface="Noto Sans"/>
              </a:rPr>
              <a:t>。</a:t>
            </a:r>
            <a:endParaRPr sz="2100" lang="ja-JP">
              <a:latin typeface="Noto Sans"/>
              <a:ea typeface="Noto Sans CJK JP"/>
              <a:cs typeface="Noto Sans"/>
            </a:endParaRPr>
          </a:p>
        </p:txBody>
      </p:sp>
      <p:sp>
        <p:nvSpPr>
          <p:cNvPr id="5"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Yang et al. (2018) https://github.com/hotpotqa/hotpot</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[2]</a:t>
            </a:r>
            <a:r>
              <a:rPr sz="850" lang="ja-JP">
                <a:solidFill>
                  <a:srgbClr val="626669"/>
                </a:solidFill>
                <a:latin typeface="Noto Sans"/>
                <a:ea typeface="Noto Sans CJK JP"/>
                <a:cs typeface="Noto Sans"/>
              </a:rPr>
              <a:t> Kwiatkowski et al. (2019) https://github.com/google-research-datasets/natural-questions</a:t>
            </a:r>
            <a:endParaRPr sz="850" lang="ja-JP">
              <a:latin typeface="Noto Sans"/>
              <a:ea typeface="Noto Sans CJK JP"/>
              <a:cs typeface="Noto Sans"/>
            </a:endParaRP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発表当時と2026年時点の位置付け</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評価と位置付け</a:t>
            </a:r>
            <a:endParaRPr sz="1400" lang="ja-JP">
              <a:latin typeface="Noto Sans"/>
              <a:ea typeface="Noto Sans CJK JP"/>
              <a:cs typeface="Noto Sans"/>
            </a:endParaRPr>
          </a:p>
        </p:txBody>
      </p:sp>
      <p:sp>
        <p:nvSpPr>
          <p:cNvPr id="4" name="content-text"/>
          <p:cNvSpPr txBox="1"/>
          <p:nvPr>
            <p:ph type="body" idx="1"/>
          </p:nvPr>
        </p:nvSpPr>
        <p:spPr>
          <a:xfrm>
            <a:off x="594360" y="1465897"/>
            <a:ext cx="8046720" cy="3137535"/>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SQuADは、生成型言語モデルの読解評価にも使われている。</a:t>
            </a:r>
            <a:endParaRPr sz="21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2026年も、SQuAD 2.0の評価実装が公開されている </a:t>
            </a:r>
            <a:r>
              <a:rPr sz="2100" lang="ja-JP">
                <a:solidFill>
                  <a:srgbClr val="303437"/>
                </a:solidFill>
                <a:latin typeface="Noto Sans"/>
                <a:ea typeface="Noto Sans CJK JP"/>
                <a:cs typeface="Noto Sans"/>
              </a:rPr>
              <a:t>[1]</a:t>
            </a:r>
            <a:r>
              <a:rPr sz="2100" lang="ja-JP">
                <a:solidFill>
                  <a:srgbClr val="303437"/>
                </a:solidFill>
                <a:latin typeface="Noto Sans"/>
                <a:ea typeface="Noto Sans CJK JP"/>
                <a:cs typeface="Noto Sans"/>
              </a:rPr>
              <a:t>。</a:t>
            </a:r>
            <a:endParaRPr sz="21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一方、長文を扱うLongBench v2が2024年に登場した </a:t>
            </a:r>
            <a:r>
              <a:rPr sz="2100" lang="ja-JP">
                <a:solidFill>
                  <a:srgbClr val="303437"/>
                </a:solidFill>
                <a:latin typeface="Noto Sans"/>
                <a:ea typeface="Noto Sans CJK JP"/>
                <a:cs typeface="Noto Sans"/>
              </a:rPr>
              <a:t>[2]</a:t>
            </a:r>
            <a:r>
              <a:rPr sz="2100" lang="ja-JP">
                <a:solidFill>
                  <a:srgbClr val="303437"/>
                </a:solidFill>
                <a:latin typeface="Noto Sans"/>
                <a:ea typeface="Noto Sans CJK JP"/>
                <a:cs typeface="Noto Sans"/>
              </a:rPr>
              <a:t>。</a:t>
            </a:r>
            <a:endParaRPr sz="2100" lang="ja-JP">
              <a:latin typeface="Noto Sans"/>
              <a:ea typeface="Noto Sans CJK JP"/>
              <a:cs typeface="Noto Sans"/>
            </a:endParaRPr>
          </a:p>
          <a:p>
            <a:pPr algn="l" lvl="1" marL="914400" indent="-355600">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8千〜200万語の文脈から選択肢を選ぶ。短い段落から回答範囲を抽出するSQuADとは、文脈長と回答形式が異なる。</a:t>
            </a:r>
            <a:endParaRPr sz="2100" lang="ja-JP">
              <a:latin typeface="Noto Sans"/>
              <a:ea typeface="Noto Sans CJK JP"/>
              <a:cs typeface="Noto Sans"/>
            </a:endParaRPr>
          </a:p>
        </p:txBody>
      </p:sp>
      <p:sp>
        <p:nvSpPr>
          <p:cNvPr id="5"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Hugging Face Evaluate, SQuAD 2.0. https://github.com/huggingface/evaluate/blob/main/metrics/squad_v2/squad_v2.py</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[2]</a:t>
            </a:r>
            <a:r>
              <a:rPr sz="850" lang="ja-JP">
                <a:solidFill>
                  <a:srgbClr val="626669"/>
                </a:solidFill>
                <a:latin typeface="Noto Sans"/>
                <a:ea typeface="Noto Sans CJK JP"/>
                <a:cs typeface="Noto Sans"/>
              </a:rPr>
              <a:t> LongBench v2. https://github.com/THUDM/LongBench</a:t>
            </a:r>
            <a:endParaRPr sz="850" lang="ja-JP">
              <a:latin typeface="Noto Sans"/>
              <a:ea typeface="Noto Sans CJK JP"/>
              <a:cs typeface="Noto Sans"/>
            </a:endParaRP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1783080"/>
            <a:ext cx="8229600" cy="1417320"/>
          </a:xfrm>
        </p:spPr>
        <p:txBody>
          <a:bodyPr wrap="none" lIns="0" rIns="0" tIns="0" bIns="0" anchor="ctr"/>
          <a:lstStyle/>
          <a:p>
            <a:pPr algn="ctr" marL="0" indent="0">
              <a:lnSpc>
                <a:spcPct val="110000"/>
              </a:lnSpc>
              <a:spcBef>
                <a:spcPts val="0"/>
              </a:spcBef>
              <a:spcAft>
                <a:spcPts val="0"/>
              </a:spcAft>
              <a:buNone/>
              <a:defRPr sz="4000" lang="ja-JP">
                <a:latin typeface="Noto Sans"/>
                <a:ea typeface="Noto Sans CJK JP"/>
                <a:cs typeface="Noto Sans"/>
              </a:defRPr>
            </a:pPr>
            <a:r>
              <a:rPr sz="4000" lang="ja-JP" b="1">
                <a:solidFill>
                  <a:srgbClr val="303437"/>
                </a:solidFill>
                <a:latin typeface="Noto Sans"/>
                <a:ea typeface="Noto Sans CJK JP"/>
                <a:cs typeface="Noto Sans"/>
              </a:rPr>
              <a:t>5 入手方法とまとめ</a:t>
            </a:r>
            <a:endParaRPr sz="4000" lang="ja-JP">
              <a:latin typeface="Noto Sans"/>
              <a:ea typeface="Noto Sans CJK JP"/>
              <a:cs typeface="Noto Sans"/>
            </a:endParaRPr>
          </a:p>
        </p:txBody>
      </p:sp>
      <p:sp>
        <p:nvSpPr>
          <p:cNvPr id="3" name="Title 2"/>
          <p:cNvSpPr>
            <a:spLocks noGrp="1"/>
          </p:cNvSpPr>
          <p:nvPr>
            <p:ph type="title" idx="2"/>
          </p:nvPr>
        </p:nvSpPr>
        <p:spPr/>
        <p:txBody>
          <a:bodyPr/>
          <a:lstStyle/>
          <a:p>
            <a:pP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SQuAD の入手方法</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利用と入手</a:t>
            </a:r>
            <a:endParaRPr sz="1400" lang="ja-JP">
              <a:latin typeface="Noto Sans"/>
              <a:ea typeface="Noto Sans CJK JP"/>
              <a:cs typeface="Noto Sans"/>
            </a:endParaRPr>
          </a:p>
        </p:txBody>
      </p:sp>
      <p:sp>
        <p:nvSpPr>
          <p:cNvPr id="4" name="content-text"/>
          <p:cNvSpPr txBox="1"/>
          <p:nvPr>
            <p:ph type="body" idx="1"/>
          </p:nvPr>
        </p:nvSpPr>
        <p:spPr>
          <a:xfrm>
            <a:off x="594360" y="1543050"/>
            <a:ext cx="8046720" cy="2674620"/>
          </a:xfrm>
          <a:prstGeom prst="rect">
            <a:avLst/>
          </a:prstGeom>
          <a:noFill/>
        </p:spPr>
        <p:txBody>
          <a:bodyPr wrap="square" anchor="t" lIns="91425" rIns="91425" tIns="91425" bIns="91425">
            <a:noAutofit/>
          </a:bodyPr>
          <a:lstStyle/>
          <a:p>
            <a:pPr algn="l" lvl="0" marL="457200" indent="-355600">
              <a:buSzPct val="53200"/>
              <a:buFont typeface="Noto Sans CJK JP"/>
              <a:buChar char="●"/>
              <a:defRPr sz="2500" lang="ja-JP">
                <a:latin typeface="Noto Sans"/>
                <a:ea typeface="Noto Sans CJK JP"/>
                <a:cs typeface="Noto Sans"/>
              </a:defRPr>
            </a:pPr>
            <a:r>
              <a:rPr sz="2500" b="0" lang="ja-JP">
                <a:solidFill>
                  <a:srgbClr val="303437"/>
                </a:solidFill>
                <a:latin typeface="Noto Sans"/>
                <a:ea typeface="Noto Sans CJK JP"/>
                <a:cs typeface="Noto Sans"/>
              </a:rPr>
              <a:t>公式サイトからJSONをダウンロードできる </a:t>
            </a:r>
            <a:r>
              <a:rPr sz="2500" b="0" lang="ja-JP">
                <a:solidFill>
                  <a:srgbClr val="303437"/>
                </a:solidFill>
                <a:latin typeface="Noto Sans"/>
                <a:ea typeface="Noto Sans CJK JP"/>
                <a:cs typeface="Noto Sans"/>
              </a:rPr>
              <a:t>[1]</a:t>
            </a:r>
            <a:r>
              <a:rPr sz="2500" b="0" lang="ja-JP">
                <a:solidFill>
                  <a:srgbClr val="303437"/>
                </a:solidFill>
                <a:latin typeface="Noto Sans"/>
                <a:ea typeface="Noto Sans CJK JP"/>
                <a:cs typeface="Noto Sans"/>
              </a:rPr>
              <a:t>。</a:t>
            </a:r>
            <a:endParaRPr sz="2500" lang="ja-JP">
              <a:latin typeface="Noto Sans"/>
              <a:ea typeface="Noto Sans CJK JP"/>
              <a:cs typeface="Noto Sans"/>
            </a:endParaRPr>
          </a:p>
          <a:p>
            <a:pPr lvl="1" algn="l" marL="914400" indent="-355600">
              <a:buSzPct val="57826"/>
              <a:buFont typeface="Noto Sans CJK JP"/>
              <a:buChar char="○"/>
              <a:defRPr sz="2300" lang="ja-JP">
                <a:latin typeface="Noto Sans"/>
                <a:ea typeface="Noto Sans CJK JP"/>
                <a:cs typeface="Noto Sans"/>
              </a:defRPr>
            </a:pPr>
            <a:r>
              <a:rPr sz="2300" b="0" lang="ja-JP">
                <a:solidFill>
                  <a:srgbClr val="303437"/>
                </a:solidFill>
                <a:latin typeface="Noto Sans"/>
                <a:ea typeface="Noto Sans CJK JP"/>
                <a:cs typeface="Noto Sans"/>
              </a:rPr>
              <a:t>学習用 train と開発用 dev をバージョンごとに配布。</a:t>
            </a:r>
            <a:endParaRPr sz="2300" lang="ja-JP">
              <a:latin typeface="Noto Sans"/>
              <a:ea typeface="Noto Sans CJK JP"/>
              <a:cs typeface="Noto Sans"/>
            </a:endParaRPr>
          </a:p>
          <a:p>
            <a:pPr algn="l" lvl="0" marL="457200" indent="-355600">
              <a:buSzPct val="53200"/>
              <a:buFont typeface="Noto Sans CJK JP"/>
              <a:buChar char="●"/>
              <a:defRPr sz="2500" lang="ja-JP">
                <a:latin typeface="Noto Sans"/>
                <a:ea typeface="Noto Sans CJK JP"/>
                <a:cs typeface="Noto Sans"/>
              </a:defRPr>
            </a:pPr>
            <a:r>
              <a:rPr sz="2500" b="0" lang="ja-JP">
                <a:solidFill>
                  <a:srgbClr val="303437"/>
                </a:solidFill>
                <a:latin typeface="Noto Sans"/>
                <a:ea typeface="Noto Sans CJK JP"/>
                <a:cs typeface="Noto Sans"/>
              </a:rPr>
              <a:t>Hugging Face Datasetsからも取得できる </a:t>
            </a:r>
            <a:r>
              <a:rPr sz="2500" b="0" lang="ja-JP">
                <a:solidFill>
                  <a:srgbClr val="303437"/>
                </a:solidFill>
                <a:latin typeface="Noto Sans"/>
                <a:ea typeface="Noto Sans CJK JP"/>
                <a:cs typeface="Noto Sans"/>
              </a:rPr>
              <a:t>[2]</a:t>
            </a:r>
            <a:r>
              <a:rPr sz="2500" b="0" lang="ja-JP">
                <a:solidFill>
                  <a:srgbClr val="303437"/>
                </a:solidFill>
                <a:latin typeface="Noto Sans"/>
                <a:ea typeface="Noto Sans CJK JP"/>
                <a:cs typeface="Noto Sans"/>
              </a:rPr>
              <a:t>。</a:t>
            </a:r>
            <a:endParaRPr sz="2500" lang="ja-JP">
              <a:latin typeface="Noto Sans"/>
              <a:ea typeface="Noto Sans CJK JP"/>
              <a:cs typeface="Noto Sans"/>
            </a:endParaRPr>
          </a:p>
          <a:p>
            <a:pPr lvl="1" algn="l" marL="914400" indent="-355600">
              <a:buSzPct val="57826"/>
              <a:buFont typeface="Noto Sans CJK JP"/>
              <a:buChar char="○"/>
              <a:defRPr sz="2300" lang="ja-JP">
                <a:latin typeface="Noto Sans"/>
                <a:ea typeface="Noto Sans CJK JP"/>
                <a:cs typeface="Noto Sans"/>
              </a:defRPr>
            </a:pPr>
            <a:r>
              <a:rPr sz="2300" b="0" lang="ja-JP">
                <a:solidFill>
                  <a:srgbClr val="303437"/>
                </a:solidFill>
                <a:latin typeface="Noto Sans"/>
                <a:ea typeface="Noto Sans CJK JP"/>
                <a:cs typeface="Noto Sans"/>
              </a:rPr>
              <a:t>バージョン1.1では、rajpurkar/squadを使う。</a:t>
            </a:r>
            <a:endParaRPr sz="2300" lang="ja-JP">
              <a:latin typeface="Noto Sans"/>
              <a:ea typeface="Noto Sans CJK JP"/>
              <a:cs typeface="Noto Sans"/>
            </a:endParaRPr>
          </a:p>
          <a:p>
            <a:pPr lvl="1" algn="l" marL="914400" indent="-355600">
              <a:buSzPct val="57826"/>
              <a:buFont typeface="Noto Sans CJK JP"/>
              <a:buChar char="○"/>
              <a:defRPr sz="2300" lang="ja-JP">
                <a:latin typeface="Noto Sans"/>
                <a:ea typeface="Noto Sans CJK JP"/>
                <a:cs typeface="Noto Sans"/>
              </a:defRPr>
            </a:pPr>
            <a:r>
              <a:rPr sz="2300" b="0" lang="ja-JP">
                <a:solidFill>
                  <a:srgbClr val="303437"/>
                </a:solidFill>
                <a:latin typeface="Noto Sans"/>
                <a:ea typeface="Noto Sans CJK JP"/>
                <a:cs typeface="Noto Sans"/>
              </a:rPr>
              <a:t>バージョン2.0では、rajpurkar/squad_v2を使う。</a:t>
            </a:r>
            <a:endParaRPr sz="2300" lang="ja-JP">
              <a:latin typeface="Noto Sans"/>
              <a:ea typeface="Noto Sans CJK JP"/>
              <a:cs typeface="Noto Sans"/>
            </a:endParaRPr>
          </a:p>
          <a:p>
            <a:pPr algn="l" lvl="0" marL="457200" indent="-355600">
              <a:buSzPct val="57826"/>
              <a:buFont typeface="Noto Sans CJK JP"/>
              <a:buChar char="●"/>
              <a:defRPr sz="2300" lang="ja-JP">
                <a:latin typeface="Noto Sans"/>
                <a:ea typeface="Noto Sans CJK JP"/>
                <a:cs typeface="Noto Sans"/>
              </a:defRPr>
            </a:pPr>
            <a:r>
              <a:rPr sz="2300" b="0" lang="ja-JP">
                <a:solidFill>
                  <a:srgbClr val="303437"/>
                </a:solidFill>
                <a:latin typeface="Noto Sans"/>
                <a:ea typeface="Noto Sans CJK JP"/>
                <a:cs typeface="Noto Sans"/>
              </a:rPr>
              <a:t>データの利用条件はCC BY-SA 4.0。</a:t>
            </a:r>
            <a:endParaRPr sz="2300" lang="ja-JP">
              <a:latin typeface="Noto Sans"/>
              <a:ea typeface="Noto Sans CJK JP"/>
              <a:cs typeface="Noto Sans"/>
            </a:endParaRPr>
          </a:p>
        </p:txBody>
      </p:sp>
      <p:sp>
        <p:nvSpPr>
          <p:cNvPr id="5" name="lookup-sources"/>
          <p:cNvSpPr txBox="1"/>
          <p:nvPr/>
        </p:nvSpPr>
        <p:spPr>
          <a:xfrm>
            <a:off x="502920" y="4612640"/>
            <a:ext cx="8183879" cy="47142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https://rajpurkar.github.io/SQuAD-explorer/</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[2]</a:t>
            </a:r>
            <a:r>
              <a:rPr sz="850" lang="ja-JP">
                <a:solidFill>
                  <a:srgbClr val="626669"/>
                </a:solidFill>
                <a:latin typeface="Noto Sans"/>
                <a:ea typeface="Noto Sans CJK JP"/>
                <a:cs typeface="Noto Sans"/>
              </a:rPr>
              <a:t> https://huggingface.co/datasets/rajpurkar/squad / https://huggingface.co/datasets/rajpurkar/squad_v2</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[3]</a:t>
            </a:r>
            <a:r>
              <a:rPr sz="850" lang="ja-JP">
                <a:solidFill>
                  <a:srgbClr val="626669"/>
                </a:solidFill>
                <a:latin typeface="Noto Sans"/>
                <a:ea typeface="Noto Sans CJK JP"/>
                <a:cs typeface="Noto Sans"/>
              </a:rPr>
              <a:t> https://creativecommons.org/licenses/by-sa/4.0/</a:t>
            </a:r>
            <a:endParaRPr sz="850" lang="ja-JP">
              <a:latin typeface="Noto Sans"/>
              <a:ea typeface="Noto Sans CJK JP"/>
              <a:cs typeface="Noto Sans"/>
            </a:endParaRP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まとめ</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まとめ</a:t>
            </a:r>
            <a:endParaRPr sz="1400" lang="ja-JP">
              <a:latin typeface="Noto Sans"/>
              <a:ea typeface="Noto Sans CJK JP"/>
              <a:cs typeface="Noto Sans"/>
            </a:endParaRPr>
          </a:p>
        </p:txBody>
      </p:sp>
      <p:sp>
        <p:nvSpPr>
          <p:cNvPr id="4" name="content-text"/>
          <p:cNvSpPr txBox="1"/>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0455"/>
              <a:buFont typeface="Noto Sans CJK JP"/>
              <a:buChar char="●"/>
              <a:defRPr sz="2200" lang="ja-JP">
                <a:latin typeface="Noto Sans"/>
                <a:ea typeface="Noto Sans CJK JP"/>
                <a:cs typeface="Noto Sans"/>
              </a:defRPr>
            </a:pPr>
            <a:r>
              <a:rPr sz="2200" b="0" lang="ja-JP">
                <a:solidFill>
                  <a:srgbClr val="303437"/>
                </a:solidFill>
                <a:latin typeface="Noto Sans"/>
                <a:ea typeface="Noto Sans CJK JP"/>
                <a:cs typeface="Noto Sans"/>
              </a:rPr>
              <a:t>SQuADは、英語の読解型質問応答データセット </a:t>
            </a:r>
            <a:r>
              <a:rPr sz="2200" b="0" lang="ja-JP">
                <a:solidFill>
                  <a:srgbClr val="303437"/>
                </a:solidFill>
                <a:latin typeface="Noto Sans"/>
                <a:ea typeface="Noto Sans CJK JP"/>
                <a:cs typeface="Noto Sans"/>
              </a:rPr>
              <a:t>[1]</a:t>
            </a:r>
            <a:r>
              <a:rPr sz="2200" b="0" lang="ja-JP">
                <a:solidFill>
                  <a:srgbClr val="303437"/>
                </a:solidFill>
                <a:latin typeface="Noto Sans"/>
                <a:ea typeface="Noto Sans CJK JP"/>
                <a:cs typeface="Noto Sans"/>
              </a:rPr>
              <a:t>。</a:t>
            </a:r>
            <a:endParaRPr sz="2200" lang="ja-JP">
              <a:latin typeface="Noto Sans"/>
              <a:ea typeface="Noto Sans CJK JP"/>
              <a:cs typeface="Noto Sans"/>
            </a:endParaRPr>
          </a:p>
          <a:p>
            <a:pPr lvl="1" algn="l" marL="9144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Wikipediaの段落から、質問の答えとなる範囲を選ぶ。</a:t>
            </a:r>
            <a:endParaRPr sz="21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b="0" lang="ja-JP">
                <a:solidFill>
                  <a:srgbClr val="303437"/>
                </a:solidFill>
                <a:latin typeface="Noto Sans"/>
                <a:ea typeface="Noto Sans CJK JP"/>
                <a:cs typeface="Noto Sans"/>
              </a:rPr>
              <a:t>人手作成の質問を大規模に評価するため、2016年に発表。</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b="0" lang="ja-JP">
                <a:solidFill>
                  <a:srgbClr val="303437"/>
                </a:solidFill>
                <a:latin typeface="Noto Sans"/>
                <a:ea typeface="Noto Sans CJK JP"/>
                <a:cs typeface="Noto Sans"/>
              </a:rPr>
              <a:t>バージョン1.1では、回答可能な質問の答えを抽出。</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b="0" lang="ja-JP">
                <a:solidFill>
                  <a:srgbClr val="303437"/>
                </a:solidFill>
                <a:latin typeface="Noto Sans"/>
                <a:ea typeface="Noto Sans CJK JP"/>
                <a:cs typeface="Noto Sans"/>
              </a:rPr>
              <a:t>バージョン2.0は回答不能な質問と回答保留も扱う </a:t>
            </a:r>
            <a:r>
              <a:rPr sz="2200" b="0" lang="ja-JP">
                <a:solidFill>
                  <a:srgbClr val="303437"/>
                </a:solidFill>
                <a:latin typeface="Noto Sans"/>
                <a:ea typeface="Noto Sans CJK JP"/>
                <a:cs typeface="Noto Sans"/>
              </a:rPr>
              <a:t>[2]</a:t>
            </a:r>
            <a:r>
              <a:rPr sz="2200" b="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EM・F1で評価。LLMにも利用され、評価条件の確認が必要。</a:t>
            </a:r>
            <a:endParaRPr sz="2100" lang="ja-JP">
              <a:latin typeface="Noto Sans"/>
              <a:ea typeface="Noto Sans CJK JP"/>
              <a:cs typeface="Noto Sans"/>
            </a:endParaRPr>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初版は https://aclanthology.org/D16-1264/  バージョン2 https://aclanthology.org/P18-2124/</a:t>
            </a:r>
            <a:endParaRPr sz="850" lang="ja-JP">
              <a:latin typeface="Noto Sans"/>
              <a:ea typeface="Noto Sans CJK JP"/>
              <a:cs typeface="Noto Sans"/>
            </a:endParaRP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lIns="0" rIns="0" tIns="0" bIns="0" anchor="t"/>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Appendixの目次</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補足資料の構成</a:t>
            </a:r>
            <a:endParaRPr sz="1400" lang="ja-JP">
              <a:latin typeface="Noto Sans"/>
              <a:ea typeface="Noto Sans CJK JP"/>
              <a:cs typeface="Noto Sans"/>
            </a:endParaRPr>
          </a:p>
        </p:txBody>
      </p:sp>
      <p:sp>
        <p:nvSpPr>
          <p:cNvPr id="4" name="TextBox 3"/>
          <p:cNvSpPr txBox="1"/>
          <p:nvPr/>
        </p:nvSpPr>
        <p:spPr>
          <a:xfrm>
            <a:off x="594360" y="1463040"/>
            <a:ext cx="7955279" cy="3383280"/>
          </a:xfrm>
          <a:prstGeom prst="rect">
            <a:avLst/>
          </a:prstGeom>
          <a:noFill/>
        </p:spPr>
        <p:txBody>
          <a:bodyPr wrap="square" lIns="0" rIns="0" tIns="0" bIns="0" anchor="t">
            <a:spAutoFit/>
          </a:bodyPr>
          <a:lstStyle/>
          <a:p>
            <a:pPr algn="l" marL="533400" indent="-381000">
              <a:lnSpc>
                <a:spcPct val="110000"/>
              </a:lnSpc>
              <a:spcBef>
                <a:spcPts val="0"/>
              </a:spcBef>
              <a:spcAft>
                <a:spcPts val="800"/>
              </a:spcAft>
              <a:buAutoNum type="arabicPeriod" startAt="1"/>
              <a:defRPr sz="2500" lang="ja-JP">
                <a:latin typeface="Noto Sans"/>
                <a:ea typeface="Noto Sans CJK JP"/>
                <a:cs typeface="Noto Sans"/>
              </a:defRPr>
            </a:pPr>
            <a:r>
              <a:rPr sz="2500" lang="ja-JP">
                <a:solidFill>
                  <a:srgbClr val="303437"/>
                </a:solidFill>
                <a:latin typeface="Noto Sans"/>
                <a:ea typeface="Noto Sans CJK JP"/>
                <a:cs typeface="Noto Sans"/>
              </a:rPr>
              <a:t>著者と発表先</a:t>
            </a:r>
            <a:endParaRPr sz="2500" lang="ja-JP">
              <a:latin typeface="Noto Sans"/>
              <a:ea typeface="Noto Sans CJK JP"/>
              <a:cs typeface="Noto Sans"/>
            </a:endParaRPr>
          </a:p>
          <a:p>
            <a:pPr algn="l" marL="533400" indent="-381000">
              <a:lnSpc>
                <a:spcPct val="110000"/>
              </a:lnSpc>
              <a:spcBef>
                <a:spcPts val="0"/>
              </a:spcBef>
              <a:spcAft>
                <a:spcPts val="800"/>
              </a:spcAft>
              <a:buAutoNum type="arabicPeriod" startAt="2"/>
              <a:defRPr sz="2500" lang="ja-JP">
                <a:latin typeface="Noto Sans"/>
                <a:ea typeface="Noto Sans CJK JP"/>
                <a:cs typeface="Noto Sans"/>
              </a:defRPr>
            </a:pPr>
            <a:r>
              <a:rPr sz="2500" lang="ja-JP">
                <a:solidFill>
                  <a:srgbClr val="303437"/>
                </a:solidFill>
                <a:latin typeface="Noto Sans"/>
                <a:ea typeface="Noto Sans CJK JP"/>
                <a:cs typeface="Noto Sans"/>
              </a:rPr>
              <a:t>追加の実例</a:t>
            </a:r>
            <a:endParaRPr sz="2500" lang="ja-JP">
              <a:latin typeface="Noto Sans"/>
              <a:ea typeface="Noto Sans CJK JP"/>
              <a:cs typeface="Noto Sans"/>
            </a:endParaRPr>
          </a:p>
          <a:p>
            <a:pPr algn="l" marL="533400" indent="-381000">
              <a:lnSpc>
                <a:spcPct val="110000"/>
              </a:lnSpc>
              <a:spcBef>
                <a:spcPts val="0"/>
              </a:spcBef>
              <a:spcAft>
                <a:spcPts val="800"/>
              </a:spcAft>
              <a:buAutoNum type="arabicPeriod" startAt="3"/>
              <a:defRPr sz="2500" lang="ja-JP">
                <a:latin typeface="Noto Sans"/>
                <a:ea typeface="Noto Sans CJK JP"/>
                <a:cs typeface="Noto Sans"/>
              </a:defRPr>
            </a:pPr>
            <a:r>
              <a:rPr sz="2500" lang="ja-JP">
                <a:solidFill>
                  <a:srgbClr val="303437"/>
                </a:solidFill>
                <a:latin typeface="Noto Sans"/>
                <a:ea typeface="Noto Sans CJK JP"/>
                <a:cs typeface="Noto Sans"/>
              </a:rPr>
              <a:t>詳細統計と極値</a:t>
            </a:r>
            <a:endParaRPr sz="2500" lang="ja-JP">
              <a:latin typeface="Noto Sans"/>
              <a:ea typeface="Noto Sans CJK JP"/>
              <a:cs typeface="Noto Sans"/>
            </a:endParaRPr>
          </a:p>
          <a:p>
            <a:pPr algn="l" marL="533400" indent="-381000">
              <a:lnSpc>
                <a:spcPct val="110000"/>
              </a:lnSpc>
              <a:spcBef>
                <a:spcPts val="0"/>
              </a:spcBef>
              <a:spcAft>
                <a:spcPts val="800"/>
              </a:spcAft>
              <a:buAutoNum type="arabicPeriod" startAt="4"/>
              <a:defRPr sz="2500" lang="ja-JP">
                <a:latin typeface="Noto Sans"/>
                <a:ea typeface="Noto Sans CJK JP"/>
                <a:cs typeface="Noto Sans"/>
              </a:defRPr>
            </a:pPr>
            <a:r>
              <a:rPr sz="2500" lang="ja-JP">
                <a:solidFill>
                  <a:srgbClr val="303437"/>
                </a:solidFill>
                <a:latin typeface="Noto Sans"/>
                <a:ea typeface="Noto Sans CJK JP"/>
                <a:cs typeface="Noto Sans"/>
              </a:rPr>
              <a:t>追加の評価結果</a:t>
            </a:r>
            <a:endParaRPr sz="2500" lang="ja-JP">
              <a:latin typeface="Noto Sans"/>
              <a:ea typeface="Noto Sans CJK JP"/>
              <a:cs typeface="Noto Sans"/>
            </a:endParaRPr>
          </a:p>
          <a:p>
            <a:pPr algn="l" marL="533400" indent="-381000">
              <a:lnSpc>
                <a:spcPct val="110000"/>
              </a:lnSpc>
              <a:spcBef>
                <a:spcPts val="0"/>
              </a:spcBef>
              <a:spcAft>
                <a:spcPts val="800"/>
              </a:spcAft>
              <a:buAutoNum type="arabicPeriod" startAt="5"/>
              <a:defRPr sz="2500" lang="ja-JP">
                <a:latin typeface="Noto Sans"/>
                <a:ea typeface="Noto Sans CJK JP"/>
                <a:cs typeface="Noto Sans"/>
              </a:defRPr>
            </a:pPr>
            <a:r>
              <a:rPr sz="2500" lang="ja-JP">
                <a:solidFill>
                  <a:srgbClr val="303437"/>
                </a:solidFill>
                <a:latin typeface="Noto Sans"/>
                <a:ea typeface="Noto Sans CJK JP"/>
                <a:cs typeface="Noto Sans"/>
              </a:rPr>
              <a:t>Wikipedia記事一覧</a:t>
            </a:r>
            <a:endParaRPr sz="2500" lang="ja-JP">
              <a:latin typeface="Noto Sans"/>
              <a:ea typeface="Noto Sans CJK JP"/>
              <a:cs typeface="Noto Sans"/>
            </a:endParaRPr>
          </a:p>
          <a:p>
            <a:pPr algn="l" marL="533400" indent="-381000">
              <a:lnSpc>
                <a:spcPct val="110000"/>
              </a:lnSpc>
              <a:spcBef>
                <a:spcPts val="0"/>
              </a:spcBef>
              <a:spcAft>
                <a:spcPts val="800"/>
              </a:spcAft>
              <a:buAutoNum type="arabicPeriod" startAt="6"/>
              <a:defRPr sz="2500" lang="ja-JP">
                <a:latin typeface="Noto Sans"/>
                <a:ea typeface="Noto Sans CJK JP"/>
                <a:cs typeface="Noto Sans"/>
              </a:defRPr>
            </a:pPr>
            <a:r>
              <a:rPr sz="2500" lang="ja-JP">
                <a:solidFill>
                  <a:srgbClr val="303437"/>
                </a:solidFill>
                <a:latin typeface="Noto Sans"/>
                <a:ea typeface="Noto Sans CJK JP"/>
                <a:cs typeface="Noto Sans"/>
              </a:rPr>
              <a:t>入手コードと参考文献</a:t>
            </a:r>
            <a:endParaRPr sz="2500" lang="ja-JP">
              <a:latin typeface="Noto Sans"/>
              <a:ea typeface="Noto Sans CJK JP"/>
              <a:cs typeface="Noto Sans"/>
            </a:endParaRP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発表先と著者</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1 著者と発表先</a:t>
            </a:r>
            <a:endParaRPr sz="1400" lang="ja-JP">
              <a:latin typeface="Noto Sans"/>
              <a:ea typeface="Noto Sans CJK JP"/>
              <a:cs typeface="Noto Sans"/>
            </a:endParaRPr>
          </a:p>
        </p:txBody>
      </p:sp>
      <p:sp>
        <p:nvSpPr>
          <p:cNvPr id="4" name="content-text"/>
          <p:cNvSpPr txBox="1"/>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初版はPranav RajpurkarらがEMNLP 2016で発表した </a:t>
            </a:r>
            <a:r>
              <a:rPr sz="2300" lang="ja-JP">
                <a:solidFill>
                  <a:srgbClr val="303437"/>
                </a:solidFill>
                <a:latin typeface="Noto Sans"/>
                <a:ea typeface="Noto Sans CJK JP"/>
                <a:cs typeface="Noto Sans"/>
              </a:rPr>
              <a:t>[1]</a:t>
            </a:r>
            <a:r>
              <a:rPr sz="2300" lang="ja-JP">
                <a:solidFill>
                  <a:srgbClr val="303437"/>
                </a:solidFill>
                <a:latin typeface="Noto Sans"/>
                <a:ea typeface="Noto Sans CJK JP"/>
                <a:cs typeface="Noto Sans"/>
              </a:rPr>
              <a:t>。</a:t>
            </a:r>
            <a:endParaRPr sz="2300" lang="ja-JP">
              <a:latin typeface="Noto Sans"/>
              <a:ea typeface="Noto Sans CJK JP"/>
              <a:cs typeface="Noto Sans"/>
            </a:endParaRPr>
          </a:p>
          <a:p>
            <a:pPr algn="l"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バージョン2は、2018年のACLで発表された </a:t>
            </a:r>
            <a:r>
              <a:rPr sz="2300" lang="ja-JP">
                <a:solidFill>
                  <a:srgbClr val="303437"/>
                </a:solidFill>
                <a:latin typeface="Noto Sans"/>
                <a:ea typeface="Noto Sans CJK JP"/>
                <a:cs typeface="Noto Sans"/>
              </a:rPr>
              <a:t>[2]</a:t>
            </a:r>
            <a:r>
              <a:rPr sz="2300" lang="ja-JP">
                <a:solidFill>
                  <a:srgbClr val="303437"/>
                </a:solidFill>
                <a:latin typeface="Noto Sans"/>
                <a:ea typeface="Noto Sans CJK JP"/>
                <a:cs typeface="Noto Sans"/>
              </a:rPr>
              <a:t>。</a:t>
            </a:r>
            <a:endParaRPr sz="2300" lang="ja-JP">
              <a:latin typeface="Noto Sans"/>
              <a:ea typeface="Noto Sans CJK JP"/>
              <a:cs typeface="Noto Sans"/>
            </a:endParaRPr>
          </a:p>
          <a:p>
            <a:pPr algn="l"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両論文の第一著者はPranav Rajpurkar、最終著者はPercy Liangである。</a:t>
            </a:r>
            <a:endParaRPr sz="2300" lang="ja-JP">
              <a:latin typeface="Noto Sans"/>
              <a:ea typeface="Noto Sans CJK JP"/>
              <a:cs typeface="Noto Sans"/>
            </a:endParaRPr>
          </a:p>
          <a:p>
            <a:pPr algn="l"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2026年に初版がACL Test of Time Awardを受賞した </a:t>
            </a:r>
            <a:r>
              <a:rPr sz="2300" lang="ja-JP">
                <a:solidFill>
                  <a:srgbClr val="303437"/>
                </a:solidFill>
                <a:latin typeface="Noto Sans"/>
                <a:ea typeface="Noto Sans CJK JP"/>
                <a:cs typeface="Noto Sans"/>
              </a:rPr>
              <a:t>[1]</a:t>
            </a:r>
            <a:r>
              <a:rPr sz="2300" lang="ja-JP">
                <a:solidFill>
                  <a:srgbClr val="303437"/>
                </a:solidFill>
                <a:latin typeface="Noto Sans"/>
                <a:ea typeface="Noto Sans CJK JP"/>
                <a:cs typeface="Noto Sans"/>
              </a:rPr>
              <a:t>。</a:t>
            </a:r>
            <a:endParaRPr sz="2300" lang="ja-JP">
              <a:latin typeface="Noto Sans"/>
              <a:ea typeface="Noto Sans CJK JP"/>
              <a:cs typeface="Noto Sans"/>
            </a:endParaRPr>
          </a:p>
        </p:txBody>
      </p:sp>
      <p:sp>
        <p:nvSpPr>
          <p:cNvPr id="5"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EMNLP 2016　https://aclanthology.org/D16-1264/</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[2]</a:t>
            </a:r>
            <a:r>
              <a:rPr sz="850" lang="ja-JP">
                <a:solidFill>
                  <a:srgbClr val="626669"/>
                </a:solidFill>
                <a:latin typeface="Noto Sans"/>
                <a:ea typeface="Noto Sans CJK JP"/>
                <a:cs typeface="Noto Sans"/>
              </a:rPr>
              <a:t> ACL 2018 Short Papers　https://aclanthology.org/P18-2124/</a:t>
            </a:r>
            <a:endParaRPr sz="850" lang="ja-JP">
              <a:latin typeface="Noto Sans"/>
              <a:ea typeface="Noto Sans CJK JP"/>
              <a:cs typeface="Noto Sans"/>
            </a:endParaRP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主な著者の研究分野と実績</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1 著者と発表先</a:t>
            </a:r>
            <a:endParaRPr sz="1400" lang="ja-JP">
              <a:latin typeface="Noto Sans"/>
              <a:ea typeface="Noto Sans CJK JP"/>
              <a:cs typeface="Noto Sans"/>
            </a:endParaRPr>
          </a:p>
        </p:txBody>
      </p:sp>
      <p:sp>
        <p:nvSpPr>
          <p:cNvPr id="4" name="content-text"/>
          <p:cNvSpPr txBox="1"/>
          <p:nvPr>
            <p:ph type="body" idx="1"/>
          </p:nvPr>
        </p:nvSpPr>
        <p:spPr>
          <a:xfrm>
            <a:off x="594360" y="1543050"/>
            <a:ext cx="8046720" cy="2674620"/>
          </a:xfrm>
          <a:prstGeom prst="rect">
            <a:avLst/>
          </a:prstGeom>
          <a:noFill/>
        </p:spPr>
        <p:txBody>
          <a:bodyPr wrap="square" anchor="t" lIns="91425" rIns="91425" tIns="91425" bIns="91425">
            <a:noAutofit/>
          </a:bodyPr>
          <a:lstStyle/>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第一著者のPranav Rajpurkarは、読解型QAと医療AIを研究している </a:t>
            </a:r>
            <a:r>
              <a:rPr sz="2200" lang="ja-JP">
                <a:solidFill>
                  <a:srgbClr val="303437"/>
                </a:solidFill>
                <a:latin typeface="Noto Sans"/>
                <a:ea typeface="Noto Sans CJK JP"/>
                <a:cs typeface="Noto Sans"/>
              </a:rPr>
              <a:t>[1,2]</a:t>
            </a:r>
            <a:r>
              <a:rPr sz="220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SQuADと、胸部X線のデータセットCheXpertに貢献した（2019年） </a:t>
            </a:r>
            <a:r>
              <a:rPr sz="2200" lang="ja-JP">
                <a:solidFill>
                  <a:srgbClr val="303437"/>
                </a:solidFill>
                <a:latin typeface="Noto Sans"/>
                <a:ea typeface="Noto Sans CJK JP"/>
                <a:cs typeface="Noto Sans"/>
              </a:rPr>
              <a:t>[5]</a:t>
            </a:r>
            <a:r>
              <a:rPr sz="220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最終著者のPercy Liangは、自然言語処理・機械学習を研究している。</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言語モデルを幅広く評価するHELMにも取り組んだ </a:t>
            </a:r>
            <a:r>
              <a:rPr sz="2200" lang="ja-JP">
                <a:solidFill>
                  <a:srgbClr val="303437"/>
                </a:solidFill>
                <a:latin typeface="Noto Sans"/>
                <a:ea typeface="Noto Sans CJK JP"/>
                <a:cs typeface="Noto Sans"/>
              </a:rPr>
              <a:t>[3]</a:t>
            </a:r>
            <a:r>
              <a:rPr sz="2200" lang="ja-JP">
                <a:solidFill>
                  <a:srgbClr val="303437"/>
                </a:solidFill>
                <a:latin typeface="Noto Sans"/>
                <a:ea typeface="Noto Sans CJK JP"/>
                <a:cs typeface="Noto Sans"/>
              </a:rPr>
              <a:t>。</a:t>
            </a:r>
            <a:endParaRPr sz="2200" lang="ja-JP">
              <a:latin typeface="Noto Sans"/>
              <a:ea typeface="Noto Sans CJK JP"/>
              <a:cs typeface="Noto Sans"/>
            </a:endParaRPr>
          </a:p>
        </p:txBody>
      </p:sp>
      <p:sp>
        <p:nvSpPr>
          <p:cNvPr id="5" name="lookup-sources"/>
          <p:cNvSpPr txBox="1"/>
          <p:nvPr/>
        </p:nvSpPr>
        <p:spPr>
          <a:xfrm>
            <a:off x="502920" y="4612640"/>
            <a:ext cx="8183879" cy="47142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https://aclanthology.org/D16-1264/  </a:t>
            </a:r>
            <a:r>
              <a:rPr sz="850" lang="ja-JP">
                <a:solidFill>
                  <a:srgbClr val="626669"/>
                </a:solidFill>
                <a:latin typeface="Noto Sans"/>
                <a:ea typeface="Noto Sans CJK JP"/>
                <a:cs typeface="Noto Sans"/>
              </a:rPr>
              <a:t>[2]</a:t>
            </a:r>
            <a:r>
              <a:rPr sz="850" lang="ja-JP">
                <a:solidFill>
                  <a:srgbClr val="626669"/>
                </a:solidFill>
                <a:latin typeface="Noto Sans"/>
                <a:ea typeface="Noto Sans CJK JP"/>
                <a:cs typeface="Noto Sans"/>
              </a:rPr>
              <a:t> https://aclanthology.org/P18-2124/</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[3]</a:t>
            </a:r>
            <a:r>
              <a:rPr sz="850" lang="ja-JP">
                <a:solidFill>
                  <a:srgbClr val="626669"/>
                </a:solidFill>
                <a:latin typeface="Noto Sans"/>
                <a:ea typeface="Noto Sans CJK JP"/>
                <a:cs typeface="Noto Sans"/>
              </a:rPr>
              <a:t> https://github.com/stanford-crfm/helm</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[5]</a:t>
            </a:r>
            <a:r>
              <a:rPr sz="850" lang="ja-JP">
                <a:solidFill>
                  <a:srgbClr val="626669"/>
                </a:solidFill>
                <a:latin typeface="Noto Sans"/>
                <a:ea typeface="Noto Sans CJK JP"/>
                <a:cs typeface="Noto Sans"/>
              </a:rPr>
              <a:t> https://github.com/stanfordmlgroup/chexpert-labeler</a:t>
            </a:r>
            <a:endParaRPr sz="850" lang="ja-JP">
              <a:latin typeface="Noto Sans"/>
              <a:ea typeface="Noto Sans CJK JP"/>
              <a:cs typeface="Noto Sans"/>
            </a:endParaRP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補足実例1 Apollo program</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2 追加の実例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48915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The first manned flight of Apollo was in </a:t>
            </a:r>
            <a:r>
              <a:rPr sz="1800" b="1" lang="ja-JP">
                <a:solidFill>
                  <a:srgbClr val="B13731"/>
                </a:solidFill>
                <a:latin typeface="Noto Sans"/>
                <a:ea typeface="Noto Sans CJK JP"/>
                <a:cs typeface="Noto Sans"/>
              </a:rPr>
              <a:t>1968</a:t>
            </a:r>
            <a:r>
              <a:rPr sz="1800" b="0" lang="ja-JP">
                <a:solidFill>
                  <a:srgbClr val="303437"/>
                </a:solidFill>
                <a:latin typeface="Noto Sans"/>
                <a:ea typeface="Noto Sans CJK JP"/>
                <a:cs typeface="Noto Sans"/>
              </a:rPr>
              <a:t>.</a:t>
            </a:r>
            <a:endParaRPr sz="1800" lang="ja-JP">
              <a:latin typeface="Noto Sans"/>
              <a:ea typeface="Noto Sans CJK JP"/>
              <a:cs typeface="Noto Sans"/>
            </a:endParaRPr>
          </a:p>
        </p:txBody>
      </p:sp>
      <p:sp>
        <p:nvSpPr>
          <p:cNvPr id="7" name="example-question"/>
          <p:cNvSpPr txBox="1"/>
          <p:nvPr/>
        </p:nvSpPr>
        <p:spPr>
          <a:xfrm>
            <a:off x="548640" y="2357960"/>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year did the first manned Apollo flight occur?</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アポロ計画の最初の有人飛行が行われたのは何年か？</a:t>
            </a:r>
            <a:endParaRPr sz="1700" lang="ja-JP">
              <a:latin typeface="Noto Sans"/>
              <a:ea typeface="Noto Sans CJK JP"/>
              <a:cs typeface="Noto Sans"/>
            </a:endParaRPr>
          </a:p>
        </p:txBody>
      </p:sp>
      <p:sp>
        <p:nvSpPr>
          <p:cNvPr id="8" name="example-answer"/>
          <p:cNvSpPr txBox="1"/>
          <p:nvPr/>
        </p:nvSpPr>
        <p:spPr>
          <a:xfrm>
            <a:off x="548640" y="3005660"/>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1968</a:t>
            </a:r>
            <a:endParaRPr sz="2200" lang="ja-JP">
              <a:latin typeface="Noto Sans"/>
              <a:ea typeface="Noto Sans CJK JP"/>
              <a:cs typeface="Noto Sans"/>
            </a:endParaRPr>
          </a:p>
        </p:txBody>
      </p:sp>
      <p:sp>
        <p:nvSpPr>
          <p:cNvPr id="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SQuAD 記事名 Apollo_program　https://rajpurkar.github.io/SQuAD-explorer/dataset/dev-v1.1.json（CC BY-SA 4.0／抜粋・強調・質問訳を追加）　ID 5725b41838643c19005acb81</a:t>
            </a:r>
            <a:endParaRPr sz="850" lang="ja-JP">
              <a:latin typeface="Noto Sans"/>
              <a:ea typeface="Noto Sans CJK JP"/>
              <a:cs typeface="Noto Sans"/>
            </a:endParaRP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補足実例2 Amazon rainforest</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2 追加の実例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67283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This region includes territory belonging to </a:t>
            </a:r>
            <a:r>
              <a:rPr sz="1800" b="1" lang="ja-JP">
                <a:solidFill>
                  <a:srgbClr val="B13731"/>
                </a:solidFill>
                <a:latin typeface="Noto Sans"/>
                <a:ea typeface="Noto Sans CJK JP"/>
                <a:cs typeface="Noto Sans"/>
              </a:rPr>
              <a:t>nine nations</a:t>
            </a:r>
            <a:r>
              <a:rPr sz="1800" b="0" lang="ja-JP">
                <a:solidFill>
                  <a:srgbClr val="303437"/>
                </a:solidFill>
                <a:latin typeface="Noto Sans"/>
                <a:ea typeface="Noto Sans CJK JP"/>
                <a:cs typeface="Noto Sans"/>
              </a:rPr>
              <a:t>. The majority of the forest is contained within Brazil, with 60% of the rainforest, followed by Peru with 13%, Colombia with 10%, and with minor amounts in Venezuela, Ecuador, Bolivia, Guyana, Suriname and French Guiana.</a:t>
            </a:r>
            <a:endParaRPr sz="1800" lang="ja-JP">
              <a:latin typeface="Noto Sans"/>
              <a:ea typeface="Noto Sans CJK JP"/>
              <a:cs typeface="Noto Sans"/>
            </a:endParaRPr>
          </a:p>
        </p:txBody>
      </p:sp>
      <p:sp>
        <p:nvSpPr>
          <p:cNvPr id="7" name="example-question"/>
          <p:cNvSpPr txBox="1"/>
          <p:nvPr/>
        </p:nvSpPr>
        <p:spPr>
          <a:xfrm>
            <a:off x="548640" y="3541638"/>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How many nations are within the Amazon Basin?</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アマゾン盆地には何か国が含まれるか？</a:t>
            </a:r>
            <a:endParaRPr sz="1700" lang="ja-JP">
              <a:latin typeface="Noto Sans"/>
              <a:ea typeface="Noto Sans CJK JP"/>
              <a:cs typeface="Noto Sans"/>
            </a:endParaRPr>
          </a:p>
        </p:txBody>
      </p:sp>
      <p:sp>
        <p:nvSpPr>
          <p:cNvPr id="8" name="example-answer"/>
          <p:cNvSpPr txBox="1"/>
          <p:nvPr/>
        </p:nvSpPr>
        <p:spPr>
          <a:xfrm>
            <a:off x="548640" y="4189338"/>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nine nations</a:t>
            </a:r>
            <a:endParaRPr sz="2200" lang="ja-JP">
              <a:latin typeface="Noto Sans"/>
              <a:ea typeface="Noto Sans CJK JP"/>
              <a:cs typeface="Noto Sans"/>
            </a:endParaRPr>
          </a:p>
        </p:txBody>
      </p:sp>
      <p:sp>
        <p:nvSpPr>
          <p:cNvPr id="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SQuAD 記事名 Amazon_rainforest　https://rajpurkar.github.io/SQuAD-explorer/dataset/dev-v1.1.json（CC BY-SA 4.0／抜粋・強調・質問訳を追加）　ID 5729e2316aef0514001550c6</a:t>
            </a:r>
            <a:endParaRPr sz="850" lang="ja-JP">
              <a:latin typeface="Noto Sans"/>
              <a:ea typeface="Noto Sans CJK JP"/>
              <a:cs typeface="Noto Sans"/>
            </a:endParaRP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補足実例3 Prime number</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2 追加の実例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37690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A prime number (or a prime) is a natural number greater than 1 that has no positive divisors other than 1 and </a:t>
            </a:r>
            <a:r>
              <a:rPr sz="1800" b="1" lang="ja-JP">
                <a:solidFill>
                  <a:srgbClr val="B13731"/>
                </a:solidFill>
                <a:latin typeface="Noto Sans"/>
                <a:ea typeface="Noto Sans CJK JP"/>
                <a:cs typeface="Noto Sans"/>
              </a:rPr>
              <a:t>itself</a:t>
            </a:r>
            <a:r>
              <a:rPr sz="1800" b="0" lang="ja-JP">
                <a:solidFill>
                  <a:srgbClr val="303437"/>
                </a:solidFill>
                <a:latin typeface="Noto Sans"/>
                <a:ea typeface="Noto Sans CJK JP"/>
                <a:cs typeface="Noto Sans"/>
              </a:rPr>
              <a:t>. A natural number greater than 1 that is not a prime number is called a composite number.</a:t>
            </a:r>
            <a:endParaRPr sz="1800" lang="ja-JP">
              <a:latin typeface="Noto Sans"/>
              <a:ea typeface="Noto Sans CJK JP"/>
              <a:cs typeface="Noto Sans"/>
            </a:endParaRPr>
          </a:p>
        </p:txBody>
      </p:sp>
      <p:sp>
        <p:nvSpPr>
          <p:cNvPr id="7" name="example-question"/>
          <p:cNvSpPr txBox="1"/>
          <p:nvPr/>
        </p:nvSpPr>
        <p:spPr>
          <a:xfrm>
            <a:off x="548640" y="3245715"/>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is the only divisor besides 1 that a prime number can have?</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素数が1以外に持つことのできる約数は何か？</a:t>
            </a:r>
            <a:endParaRPr sz="1700" lang="ja-JP">
              <a:latin typeface="Noto Sans"/>
              <a:ea typeface="Noto Sans CJK JP"/>
              <a:cs typeface="Noto Sans"/>
            </a:endParaRPr>
          </a:p>
        </p:txBody>
      </p:sp>
      <p:sp>
        <p:nvSpPr>
          <p:cNvPr id="8" name="example-answer"/>
          <p:cNvSpPr txBox="1"/>
          <p:nvPr/>
        </p:nvSpPr>
        <p:spPr>
          <a:xfrm>
            <a:off x="548640" y="3893415"/>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itself</a:t>
            </a:r>
            <a:endParaRPr sz="2200" lang="ja-JP">
              <a:latin typeface="Noto Sans"/>
              <a:ea typeface="Noto Sans CJK JP"/>
              <a:cs typeface="Noto Sans"/>
            </a:endParaRPr>
          </a:p>
        </p:txBody>
      </p:sp>
      <p:sp>
        <p:nvSpPr>
          <p:cNvPr id="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SQuAD 記事名 Prime_number　https://rajpurkar.github.io/SQuAD-explorer/dataset/dev-v1.1.json（CC BY-SA 4.0／抜粋・強調・質問訳を追加）　ID 57296d571d04691400779413</a:t>
            </a:r>
            <a:endParaRPr sz="850" lang="ja-JP">
              <a:latin typeface="Noto Sans"/>
              <a:ea typeface="Noto Sans CJK JP"/>
              <a:cs typeface="Noto Sans"/>
            </a:endParaRP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補足実例4 Black Death</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2 追加の実例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37690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Spreading throughout the Mediterranean and Europe, the Black Death is estimated to have killed </a:t>
            </a:r>
            <a:r>
              <a:rPr sz="1800" b="1" lang="ja-JP">
                <a:solidFill>
                  <a:srgbClr val="B13731"/>
                </a:solidFill>
                <a:latin typeface="Noto Sans"/>
                <a:ea typeface="Noto Sans CJK JP"/>
                <a:cs typeface="Noto Sans"/>
              </a:rPr>
              <a:t>30–60% of Europe's total population</a:t>
            </a:r>
            <a:r>
              <a:rPr sz="1800" b="0" lang="ja-JP">
                <a:solidFill>
                  <a:srgbClr val="303437"/>
                </a:solidFill>
                <a:latin typeface="Noto Sans"/>
                <a:ea typeface="Noto Sans CJK JP"/>
                <a:cs typeface="Noto Sans"/>
              </a:rPr>
              <a:t>. In total, the plague reduced the world population from an estimated 450 million down to 350–375 million in the 14th century.</a:t>
            </a:r>
            <a:endParaRPr sz="1800" lang="ja-JP">
              <a:latin typeface="Noto Sans"/>
              <a:ea typeface="Noto Sans CJK JP"/>
              <a:cs typeface="Noto Sans"/>
            </a:endParaRPr>
          </a:p>
        </p:txBody>
      </p:sp>
      <p:sp>
        <p:nvSpPr>
          <p:cNvPr id="7" name="example-question"/>
          <p:cNvSpPr txBox="1"/>
          <p:nvPr/>
        </p:nvSpPr>
        <p:spPr>
          <a:xfrm>
            <a:off x="548640" y="3245715"/>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How much of the European population did the black death kill?</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黒死病でヨーロッパ人口のどのくらいが死亡したか？</a:t>
            </a:r>
            <a:endParaRPr sz="1700" lang="ja-JP">
              <a:latin typeface="Noto Sans"/>
              <a:ea typeface="Noto Sans CJK JP"/>
              <a:cs typeface="Noto Sans"/>
            </a:endParaRPr>
          </a:p>
        </p:txBody>
      </p:sp>
      <p:sp>
        <p:nvSpPr>
          <p:cNvPr id="8" name="example-answer"/>
          <p:cNvSpPr txBox="1"/>
          <p:nvPr/>
        </p:nvSpPr>
        <p:spPr>
          <a:xfrm>
            <a:off x="548640" y="3893415"/>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30–60% of Europe's total population</a:t>
            </a:r>
            <a:endParaRPr sz="2200" lang="ja-JP">
              <a:latin typeface="Noto Sans"/>
              <a:ea typeface="Noto Sans CJK JP"/>
              <a:cs typeface="Noto Sans"/>
            </a:endParaRPr>
          </a:p>
        </p:txBody>
      </p:sp>
      <p:sp>
        <p:nvSpPr>
          <p:cNvPr id="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SQuAD 記事名 Black_Death　https://rajpurkar.github.io/SQuAD-explorer/dataset/dev-v1.1.json（CC BY-SA 4.0／抜粋・強調・質問訳を追加）　ID 57264684708984140094c125</a:t>
            </a:r>
            <a:endParaRPr sz="850" lang="ja-JP">
              <a:latin typeface="Noto Sans"/>
              <a:ea typeface="Noto Sans CJK JP"/>
              <a:cs typeface="Noto Sans"/>
            </a:endParaRP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補足実例5 Warsaw</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2 追加の実例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67283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One of the most famous people born in Warsaw was Maria Skłodowska-Curie, who achieved international recognition for her research on radioactivity and was the first female recipient of the </a:t>
            </a:r>
            <a:r>
              <a:rPr sz="1800" b="1" lang="ja-JP">
                <a:solidFill>
                  <a:srgbClr val="B13731"/>
                </a:solidFill>
                <a:latin typeface="Noto Sans"/>
                <a:ea typeface="Noto Sans CJK JP"/>
                <a:cs typeface="Noto Sans"/>
              </a:rPr>
              <a:t>Nobel Prize</a:t>
            </a:r>
            <a:r>
              <a:rPr sz="1800" b="0" lang="ja-JP">
                <a:solidFill>
                  <a:srgbClr val="303437"/>
                </a:solidFill>
                <a:latin typeface="Noto Sans"/>
                <a:ea typeface="Noto Sans CJK JP"/>
                <a:cs typeface="Noto Sans"/>
              </a:rPr>
              <a:t>. Famous musicians include Władysław Szpilman and Frédéric Chopin.</a:t>
            </a:r>
            <a:endParaRPr sz="1800" lang="ja-JP">
              <a:latin typeface="Noto Sans"/>
              <a:ea typeface="Noto Sans CJK JP"/>
              <a:cs typeface="Noto Sans"/>
            </a:endParaRPr>
          </a:p>
        </p:txBody>
      </p:sp>
      <p:sp>
        <p:nvSpPr>
          <p:cNvPr id="7" name="example-question"/>
          <p:cNvSpPr txBox="1"/>
          <p:nvPr/>
        </p:nvSpPr>
        <p:spPr>
          <a:xfrm>
            <a:off x="548640" y="3541638"/>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was Maria Curie the first female recipient of?</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マリ・キュリーが女性として初めて受賞した賞は何か？</a:t>
            </a:r>
            <a:endParaRPr sz="1700" lang="ja-JP">
              <a:latin typeface="Noto Sans"/>
              <a:ea typeface="Noto Sans CJK JP"/>
              <a:cs typeface="Noto Sans"/>
            </a:endParaRPr>
          </a:p>
        </p:txBody>
      </p:sp>
      <p:sp>
        <p:nvSpPr>
          <p:cNvPr id="8" name="example-answer"/>
          <p:cNvSpPr txBox="1"/>
          <p:nvPr/>
        </p:nvSpPr>
        <p:spPr>
          <a:xfrm>
            <a:off x="548640" y="4189338"/>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Nobel Prize</a:t>
            </a:r>
            <a:endParaRPr sz="2200" lang="ja-JP">
              <a:latin typeface="Noto Sans"/>
              <a:ea typeface="Noto Sans CJK JP"/>
              <a:cs typeface="Noto Sans"/>
            </a:endParaRPr>
          </a:p>
        </p:txBody>
      </p:sp>
      <p:sp>
        <p:nvSpPr>
          <p:cNvPr id="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SQuAD 記事名 Warsaw　https://rajpurkar.github.io/SQuAD-explorer/dataset/dev-v1.1.json（CC BY-SA 4.0／抜粋・強調・質問訳を追加）　ID 5733a5f54776f41900660f45</a:t>
            </a:r>
            <a:endParaRPr sz="850" lang="ja-JP">
              <a:latin typeface="Noto Sans"/>
              <a:ea typeface="Noto Sans CJK JP"/>
              <a:cs typeface="Noto Sans"/>
            </a:endParaRP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補足実例6 Genghis Khan</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2 追加の実例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37690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After founding </a:t>
            </a:r>
            <a:r>
              <a:rPr sz="1800" b="1" lang="ja-JP">
                <a:solidFill>
                  <a:srgbClr val="B13731"/>
                </a:solidFill>
                <a:latin typeface="Noto Sans"/>
                <a:ea typeface="Noto Sans CJK JP"/>
                <a:cs typeface="Noto Sans"/>
              </a:rPr>
              <a:t>the Mongol Empire</a:t>
            </a:r>
            <a:r>
              <a:rPr sz="1800" b="0" lang="ja-JP">
                <a:solidFill>
                  <a:srgbClr val="303437"/>
                </a:solidFill>
                <a:latin typeface="Noto Sans"/>
                <a:ea typeface="Noto Sans CJK JP"/>
                <a:cs typeface="Noto Sans"/>
              </a:rPr>
              <a:t> and being proclaimed "Genghis Khan", he started the Mongol invasions that resulted in the conquest of most of Eurasia. These included raids or invasions of the Qara Khitai, Caucasus, Khwarezmid Empire, Western Xia and Jin dynasties.</a:t>
            </a:r>
            <a:endParaRPr sz="1800" lang="ja-JP">
              <a:latin typeface="Noto Sans"/>
              <a:ea typeface="Noto Sans CJK JP"/>
              <a:cs typeface="Noto Sans"/>
            </a:endParaRPr>
          </a:p>
        </p:txBody>
      </p:sp>
      <p:sp>
        <p:nvSpPr>
          <p:cNvPr id="7" name="example-question"/>
          <p:cNvSpPr txBox="1"/>
          <p:nvPr/>
        </p:nvSpPr>
        <p:spPr>
          <a:xfrm>
            <a:off x="548640" y="3245715"/>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do we call the empire that Genghis Khan founded?</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チンギス・ハンが建てた帝国を何と呼ぶか？</a:t>
            </a:r>
            <a:endParaRPr sz="1700" lang="ja-JP">
              <a:latin typeface="Noto Sans"/>
              <a:ea typeface="Noto Sans CJK JP"/>
              <a:cs typeface="Noto Sans"/>
            </a:endParaRPr>
          </a:p>
        </p:txBody>
      </p:sp>
      <p:sp>
        <p:nvSpPr>
          <p:cNvPr id="8" name="example-answer"/>
          <p:cNvSpPr txBox="1"/>
          <p:nvPr/>
        </p:nvSpPr>
        <p:spPr>
          <a:xfrm>
            <a:off x="548640" y="3893415"/>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the Mongol Empire</a:t>
            </a:r>
            <a:endParaRPr sz="2200" lang="ja-JP">
              <a:latin typeface="Noto Sans"/>
              <a:ea typeface="Noto Sans CJK JP"/>
              <a:cs typeface="Noto Sans"/>
            </a:endParaRPr>
          </a:p>
        </p:txBody>
      </p:sp>
      <p:sp>
        <p:nvSpPr>
          <p:cNvPr id="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SQuAD 記事名 Genghis_Khan　https://rajpurkar.github.io/SQuAD-explorer/dataset/dev-v1.1.json（CC BY-SA 4.0／抜粋・強調・質問訳を追加）　ID 57269e8a5951b619008f77f5</a:t>
            </a:r>
            <a:endParaRPr sz="850" lang="ja-JP">
              <a:latin typeface="Noto Sans"/>
              <a:ea typeface="Noto Sans CJK JP"/>
              <a:cs typeface="Noto Sans"/>
            </a:endParaRP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補足実例7 Chloroplast</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2 追加の実例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37690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Chloroplasts' main role is </a:t>
            </a:r>
            <a:r>
              <a:rPr sz="1800" b="1" lang="ja-JP">
                <a:solidFill>
                  <a:srgbClr val="B13731"/>
                </a:solidFill>
                <a:latin typeface="Noto Sans"/>
                <a:ea typeface="Noto Sans CJK JP"/>
                <a:cs typeface="Noto Sans"/>
              </a:rPr>
              <a:t>to conduct photosynthesis</a:t>
            </a:r>
            <a:r>
              <a:rPr sz="1800" b="0" lang="ja-JP">
                <a:solidFill>
                  <a:srgbClr val="303437"/>
                </a:solidFill>
                <a:latin typeface="Noto Sans"/>
                <a:ea typeface="Noto Sans CJK JP"/>
                <a:cs typeface="Noto Sans"/>
              </a:rPr>
              <a:t>, where the photosynthetic pigment chlorophyll captures the energy from sunlight and converts it and stores it in the energy-storage molecules ATP and NADPH while freeing oxygen from water.</a:t>
            </a:r>
            <a:endParaRPr sz="1800" lang="ja-JP">
              <a:latin typeface="Noto Sans"/>
              <a:ea typeface="Noto Sans CJK JP"/>
              <a:cs typeface="Noto Sans"/>
            </a:endParaRPr>
          </a:p>
        </p:txBody>
      </p:sp>
      <p:sp>
        <p:nvSpPr>
          <p:cNvPr id="7" name="example-question"/>
          <p:cNvSpPr txBox="1"/>
          <p:nvPr/>
        </p:nvSpPr>
        <p:spPr>
          <a:xfrm>
            <a:off x="548640" y="3245715"/>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is the primary purpose of chloroplasts?</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葉緑体の主な役割は何か？</a:t>
            </a:r>
            <a:endParaRPr sz="1700" lang="ja-JP">
              <a:latin typeface="Noto Sans"/>
              <a:ea typeface="Noto Sans CJK JP"/>
              <a:cs typeface="Noto Sans"/>
            </a:endParaRPr>
          </a:p>
        </p:txBody>
      </p:sp>
      <p:sp>
        <p:nvSpPr>
          <p:cNvPr id="8" name="example-answer"/>
          <p:cNvSpPr txBox="1"/>
          <p:nvPr/>
        </p:nvSpPr>
        <p:spPr>
          <a:xfrm>
            <a:off x="548640" y="3893415"/>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to conduct photosynthesis</a:t>
            </a:r>
            <a:endParaRPr sz="2200" lang="ja-JP">
              <a:latin typeface="Noto Sans"/>
              <a:ea typeface="Noto Sans CJK JP"/>
              <a:cs typeface="Noto Sans"/>
            </a:endParaRPr>
          </a:p>
        </p:txBody>
      </p:sp>
      <p:sp>
        <p:nvSpPr>
          <p:cNvPr id="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SQuAD 記事名 Chloroplast　https://rajpurkar.github.io/SQuAD-explorer/dataset/dev-v1.1.json（CC BY-SA 4.0／抜粋・強調・質問訳を追加）　ID 572953013f37b3190047824d</a:t>
            </a:r>
            <a:endParaRPr sz="850" lang="ja-JP">
              <a:latin typeface="Noto Sans"/>
              <a:ea typeface="Noto Sans CJK JP"/>
              <a:cs typeface="Noto Sans"/>
            </a:endParaRP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補足実例8 University of Chicago</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2 追加の実例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67283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The University of Chicago (UChicago, Chicago, or U of C) is </a:t>
            </a:r>
            <a:r>
              <a:rPr sz="1800" b="1" lang="ja-JP">
                <a:solidFill>
                  <a:srgbClr val="B13731"/>
                </a:solidFill>
                <a:latin typeface="Noto Sans"/>
                <a:ea typeface="Noto Sans CJK JP"/>
                <a:cs typeface="Noto Sans"/>
              </a:rPr>
              <a:t>a private research university</a:t>
            </a:r>
            <a:r>
              <a:rPr sz="1800" b="0" lang="ja-JP">
                <a:solidFill>
                  <a:srgbClr val="303437"/>
                </a:solidFill>
                <a:latin typeface="Noto Sans"/>
                <a:ea typeface="Noto Sans CJK JP"/>
                <a:cs typeface="Noto Sans"/>
              </a:rPr>
              <a:t> in Chicago. The university, established in 1890, consists of The College, various graduate programs, interdisciplinary committees organized into four academic research divisions and seven professional schools.</a:t>
            </a:r>
            <a:endParaRPr sz="1800" lang="ja-JP">
              <a:latin typeface="Noto Sans"/>
              <a:ea typeface="Noto Sans CJK JP"/>
              <a:cs typeface="Noto Sans"/>
            </a:endParaRPr>
          </a:p>
        </p:txBody>
      </p:sp>
      <p:sp>
        <p:nvSpPr>
          <p:cNvPr id="7" name="example-question"/>
          <p:cNvSpPr txBox="1"/>
          <p:nvPr/>
        </p:nvSpPr>
        <p:spPr>
          <a:xfrm>
            <a:off x="548640" y="3541638"/>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kind of university is the University of Chicago?</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シカゴ大学はどのような種類の大学か？</a:t>
            </a:r>
            <a:endParaRPr sz="1700" lang="ja-JP">
              <a:latin typeface="Noto Sans"/>
              <a:ea typeface="Noto Sans CJK JP"/>
              <a:cs typeface="Noto Sans"/>
            </a:endParaRPr>
          </a:p>
        </p:txBody>
      </p:sp>
      <p:sp>
        <p:nvSpPr>
          <p:cNvPr id="8" name="example-answer"/>
          <p:cNvSpPr txBox="1"/>
          <p:nvPr/>
        </p:nvSpPr>
        <p:spPr>
          <a:xfrm>
            <a:off x="548640" y="4189338"/>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a private research university</a:t>
            </a:r>
            <a:endParaRPr sz="2200" lang="ja-JP">
              <a:latin typeface="Noto Sans"/>
              <a:ea typeface="Noto Sans CJK JP"/>
              <a:cs typeface="Noto Sans"/>
            </a:endParaRPr>
          </a:p>
        </p:txBody>
      </p:sp>
      <p:sp>
        <p:nvSpPr>
          <p:cNvPr id="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SQuAD 記事名 University_of_Chicago　https://rajpurkar.github.io/SQuAD-explorer/dataset/dev-v1.1.json（CC BY-SA 4.0／抜粋・強調・質問訳を追加）　ID 57283c464b864d19001647c8</a:t>
            </a:r>
            <a:endParaRPr sz="850" lang="ja-JP">
              <a:latin typeface="Noto Sans"/>
              <a:ea typeface="Noto Sans CJK JP"/>
              <a:cs typeface="Noto Sans"/>
            </a:endParaRP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補足実例9 Steam engine</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2 追加の実例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78507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Steam engines are external combustion engines, where the working fluid is separate from the combustion products.</a:t>
            </a:r>
            <a:endParaRPr sz="1800" lang="ja-JP">
              <a:latin typeface="Noto Sans"/>
              <a:ea typeface="Noto Sans CJK JP"/>
              <a:cs typeface="Noto Sans"/>
            </a:endParaRPr>
          </a:p>
        </p:txBody>
      </p:sp>
      <p:sp>
        <p:nvSpPr>
          <p:cNvPr id="7" name="example-question"/>
          <p:cNvSpPr txBox="1"/>
          <p:nvPr/>
        </p:nvSpPr>
        <p:spPr>
          <a:xfrm>
            <a:off x="548640" y="2653882"/>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types of engines are solar engines?</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太陽熱機関はどのような種類の機関か？</a:t>
            </a:r>
            <a:endParaRPr sz="1700" lang="ja-JP">
              <a:latin typeface="Noto Sans"/>
              <a:ea typeface="Noto Sans CJK JP"/>
              <a:cs typeface="Noto Sans"/>
            </a:endParaRPr>
          </a:p>
        </p:txBody>
      </p:sp>
      <p:sp>
        <p:nvSpPr>
          <p:cNvPr id="8" name="example-answer"/>
          <p:cNvSpPr txBox="1"/>
          <p:nvPr/>
        </p:nvSpPr>
        <p:spPr>
          <a:xfrm>
            <a:off x="548640" y="3301582"/>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回答不能（文章に根拠がない）</a:t>
            </a:r>
            <a:endParaRPr sz="2200" lang="ja-JP">
              <a:latin typeface="Noto Sans"/>
              <a:ea typeface="Noto Sans CJK JP"/>
              <a:cs typeface="Noto Sans"/>
            </a:endParaRPr>
          </a:p>
        </p:txBody>
      </p:sp>
      <p:sp>
        <p:nvSpPr>
          <p:cNvPr id="9" name="content-text"/>
          <p:cNvSpPr txBox="1"/>
          <p:nvPr/>
        </p:nvSpPr>
        <p:spPr>
          <a:xfrm>
            <a:off x="548640" y="3873082"/>
            <a:ext cx="8046720" cy="23145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原文は蒸気機関を説明する。太陽熱機関の種類は書かれていない。</a:t>
            </a:r>
            <a:endParaRPr sz="1400" lang="ja-JP">
              <a:latin typeface="Noto Sans"/>
              <a:ea typeface="Noto Sans CJK JP"/>
              <a:cs typeface="Noto Sans"/>
            </a:endParaRPr>
          </a:p>
        </p:txBody>
      </p:sp>
      <p:sp>
        <p:nvSpPr>
          <p:cNvPr id="10"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SQuAD 記事名 Steam_engine　https://rajpurkar.github.io/SQuAD-explorer/dataset/dev-v2.0.json（CC BY-SA 4.0／抜粋・強調・質問訳を追加）　ID 5ad3bd8f604f3c001a3fef31</a:t>
            </a:r>
            <a:endParaRPr sz="850" lang="ja-JP">
              <a:latin typeface="Noto Sans"/>
              <a:ea typeface="Noto Sans CJK JP"/>
              <a:cs typeface="Noto Sans"/>
            </a:endParaRP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補足実例10 Oxygen</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2 追加の実例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48915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Diatomic oxygen gas constitutes 20.8% of the Earth's atmosphere.</a:t>
            </a:r>
            <a:endParaRPr sz="1800" lang="ja-JP">
              <a:latin typeface="Noto Sans"/>
              <a:ea typeface="Noto Sans CJK JP"/>
              <a:cs typeface="Noto Sans"/>
            </a:endParaRPr>
          </a:p>
        </p:txBody>
      </p:sp>
      <p:sp>
        <p:nvSpPr>
          <p:cNvPr id="7" name="example-question"/>
          <p:cNvSpPr txBox="1"/>
          <p:nvPr/>
        </p:nvSpPr>
        <p:spPr>
          <a:xfrm>
            <a:off x="548640" y="2357960"/>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constitutes 28.0% of the Earth's atmosphere?</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地球の大気の28.0%を占めるものは何か？</a:t>
            </a:r>
            <a:endParaRPr sz="1700" lang="ja-JP">
              <a:latin typeface="Noto Sans"/>
              <a:ea typeface="Noto Sans CJK JP"/>
              <a:cs typeface="Noto Sans"/>
            </a:endParaRPr>
          </a:p>
        </p:txBody>
      </p:sp>
      <p:sp>
        <p:nvSpPr>
          <p:cNvPr id="8" name="example-answer"/>
          <p:cNvSpPr txBox="1"/>
          <p:nvPr/>
        </p:nvSpPr>
        <p:spPr>
          <a:xfrm>
            <a:off x="548640" y="3005660"/>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回答不能（文章に根拠がない）</a:t>
            </a:r>
            <a:endParaRPr sz="2200" lang="ja-JP">
              <a:latin typeface="Noto Sans"/>
              <a:ea typeface="Noto Sans CJK JP"/>
              <a:cs typeface="Noto Sans"/>
            </a:endParaRPr>
          </a:p>
        </p:txBody>
      </p:sp>
      <p:sp>
        <p:nvSpPr>
          <p:cNvPr id="9" name="content-text"/>
          <p:cNvSpPr txBox="1"/>
          <p:nvPr/>
        </p:nvSpPr>
        <p:spPr>
          <a:xfrm>
            <a:off x="548640" y="3577160"/>
            <a:ext cx="8046720" cy="23145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原文の割合は20.8%。28.0%に対応する記述はない。</a:t>
            </a:r>
            <a:endParaRPr sz="1400" lang="ja-JP">
              <a:latin typeface="Noto Sans"/>
              <a:ea typeface="Noto Sans CJK JP"/>
              <a:cs typeface="Noto Sans"/>
            </a:endParaRPr>
          </a:p>
        </p:txBody>
      </p:sp>
      <p:sp>
        <p:nvSpPr>
          <p:cNvPr id="10"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SQuAD 記事名 Oxygen　https://rajpurkar.github.io/SQuAD-explorer/dataset/dev-v2.0.json（CC BY-SA 4.0／抜粋・強調・質問訳を追加）　ID 5ad21646d7d075001a4283c7</a:t>
            </a:r>
            <a:endParaRPr sz="850" lang="ja-JP">
              <a:latin typeface="Noto Sans"/>
              <a:ea typeface="Noto Sans CJK JP"/>
              <a:cs typeface="Noto Sans"/>
            </a:endParaRP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記述統計 バージョン1.1・学習用</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sp>
        <p:nvSpPr>
          <p:cNvPr id="4" name="content-text"/>
          <p:cNvSpPr txBox="1"/>
          <p:nvPr/>
        </p:nvSpPr>
        <p:spPr>
          <a:xfrm>
            <a:off x="548640" y="1440180"/>
            <a:ext cx="8046720" cy="36004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質問 87,599件／回答あり 87,599件／回答不能 0件</a:t>
            </a:r>
            <a:endParaRPr sz="2000" lang="ja-JP">
              <a:latin typeface="Noto Sans"/>
              <a:ea typeface="Noto Sans CJK JP"/>
              <a:cs typeface="Noto Sans"/>
            </a:endParaRPr>
          </a:p>
        </p:txBody>
      </p:sp>
      <p:graphicFrame>
        <p:nvGraphicFramePr>
          <p:cNvPr id="5" name="Table 4"/>
          <p:cNvGraphicFramePr>
            <a:graphicFrameLocks noGrp="1"/>
          </p:cNvGraphicFramePr>
          <p:nvPr/>
        </p:nvGraphicFramePr>
        <p:xfrm>
          <a:off x="502920" y="2031682"/>
          <a:ext cx="8138154" cy="1645920"/>
        </p:xfrm>
        <a:graphic>
          <a:graphicData uri="http://schemas.openxmlformats.org/drawingml/2006/table">
            <a:tbl>
              <a:tblPr firstRow="1" bandRow="1">
                <a:tableStyleId>{5C22544A-7EE6-4342-B048-85BDC9FD1C3A}</a:tableStyleId>
              </a:tblPr>
              <a:tblGrid>
                <a:gridCol w="1546250"/>
                <a:gridCol w="823988"/>
                <a:gridCol w="823988"/>
                <a:gridCol w="823988"/>
                <a:gridCol w="823988"/>
                <a:gridCol w="823988"/>
                <a:gridCol w="823988"/>
                <a:gridCol w="823988"/>
                <a:gridCol w="823988"/>
              </a:tblGrid>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指標 [1]</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平均</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標準偏差</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最小</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25%点</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中央値</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75%点</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95%点</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最大</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質問文字</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59.2</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21.2</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56.0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71.0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98.0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質問単語</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3.6</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8.0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12.0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回答文字</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21.6</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23.0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63.0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239</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回答単語</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3.2</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3.4</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43</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6" name="content-text"/>
          <p:cNvSpPr txBox="1"/>
          <p:nvPr>
            <p:ph type="body" idx="1"/>
          </p:nvPr>
        </p:nvSpPr>
        <p:spPr>
          <a:xfrm>
            <a:off x="594360" y="3995928"/>
            <a:ext cx="8046720" cy="684451"/>
          </a:xfrm>
          <a:prstGeom prst="rect">
            <a:avLst/>
          </a:prstGeom>
          <a:noFill/>
        </p:spPr>
        <p:txBody>
          <a:bodyPr wrap="square" anchor="t" lIns="91425" rIns="91425" tIns="91425" bIns="91425">
            <a:noAutofit/>
          </a:bodyPr>
          <a:lstStyle/>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文字数は前後の空白だけを除いた文字列の長さ。</a:t>
            </a:r>
            <a:endParaRPr sz="1550" lang="ja-JP">
              <a:latin typeface="Noto Sans"/>
              <a:ea typeface="Noto Sans CJK JP"/>
              <a:cs typeface="Noto Sans"/>
            </a:endParaRPr>
          </a:p>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単語数は空白区切り。回答は先頭の正解を1問1件、回答不能は除外。</a:t>
            </a:r>
            <a:endParaRPr sz="1550" lang="ja-JP">
              <a:latin typeface="Noto Sans"/>
              <a:ea typeface="Noto Sans CJK JP"/>
              <a:cs typeface="Noto Sans"/>
            </a:endParaRPr>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公式JSONを全件集計　https://github.com/rajpurkar/SQuAD-explorer/tree/master/dataset</a:t>
            </a:r>
            <a:endParaRPr sz="850" lang="ja-JP">
              <a:latin typeface="Noto Sans"/>
              <a:ea typeface="Noto Sans CJK JP"/>
              <a:cs typeface="Noto Sans"/>
            </a:endParaRP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記述統計 バージョン1.1・開発用</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sp>
        <p:nvSpPr>
          <p:cNvPr id="4" name="content-text"/>
          <p:cNvSpPr txBox="1"/>
          <p:nvPr/>
        </p:nvSpPr>
        <p:spPr>
          <a:xfrm>
            <a:off x="548640" y="1440180"/>
            <a:ext cx="8046720" cy="36004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質問 10,570件／回答あり 10,570件／回答不能 0件</a:t>
            </a:r>
            <a:endParaRPr sz="2000" lang="ja-JP">
              <a:latin typeface="Noto Sans"/>
              <a:ea typeface="Noto Sans CJK JP"/>
              <a:cs typeface="Noto Sans"/>
            </a:endParaRPr>
          </a:p>
        </p:txBody>
      </p:sp>
      <p:graphicFrame>
        <p:nvGraphicFramePr>
          <p:cNvPr id="5" name="Table 4"/>
          <p:cNvGraphicFramePr>
            <a:graphicFrameLocks noGrp="1"/>
          </p:cNvGraphicFramePr>
          <p:nvPr/>
        </p:nvGraphicFramePr>
        <p:xfrm>
          <a:off x="502920" y="2031682"/>
          <a:ext cx="8138154" cy="1645920"/>
        </p:xfrm>
        <a:graphic>
          <a:graphicData uri="http://schemas.openxmlformats.org/drawingml/2006/table">
            <a:tbl>
              <a:tblPr firstRow="1" bandRow="1">
                <a:tableStyleId>{5C22544A-7EE6-4342-B048-85BDC9FD1C3A}</a:tableStyleId>
              </a:tblPr>
              <a:tblGrid>
                <a:gridCol w="1546250"/>
                <a:gridCol w="823988"/>
                <a:gridCol w="823988"/>
                <a:gridCol w="823988"/>
                <a:gridCol w="823988"/>
                <a:gridCol w="823988"/>
                <a:gridCol w="823988"/>
                <a:gridCol w="823988"/>
                <a:gridCol w="823988"/>
              </a:tblGrid>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指標 [1]</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平均</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標準偏差</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最小</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25%点</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中央値</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75%点</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95%点</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最大</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質問文字</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60.0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21.2</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12</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45.0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72.0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99.0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197</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質問単語</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10.2</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3.6</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8.0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12.0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33</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回答文字</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19.4</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19.3</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8.0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23.0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160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回答単語</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29</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6" name="content-text"/>
          <p:cNvSpPr txBox="1"/>
          <p:nvPr>
            <p:ph type="body" idx="1"/>
          </p:nvPr>
        </p:nvSpPr>
        <p:spPr>
          <a:xfrm>
            <a:off x="594360" y="3995928"/>
            <a:ext cx="8046720" cy="684451"/>
          </a:xfrm>
          <a:prstGeom prst="rect">
            <a:avLst/>
          </a:prstGeom>
          <a:noFill/>
        </p:spPr>
        <p:txBody>
          <a:bodyPr wrap="square" anchor="t" lIns="91425" rIns="91425" tIns="91425" bIns="91425">
            <a:noAutofit/>
          </a:bodyPr>
          <a:lstStyle/>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文字数は前後の空白だけを除いた文字列の長さ。</a:t>
            </a:r>
            <a:endParaRPr sz="1550" lang="ja-JP">
              <a:latin typeface="Noto Sans"/>
              <a:ea typeface="Noto Sans CJK JP"/>
              <a:cs typeface="Noto Sans"/>
            </a:endParaRPr>
          </a:p>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単語数は空白区切り。回答は先頭の正解を1問1件、回答不能は除外。</a:t>
            </a:r>
            <a:endParaRPr sz="1550" lang="ja-JP">
              <a:latin typeface="Noto Sans"/>
              <a:ea typeface="Noto Sans CJK JP"/>
              <a:cs typeface="Noto Sans"/>
            </a:endParaRPr>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公式JSONを全件集計　https://github.com/rajpurkar/SQuAD-explorer/tree/master/dataset</a:t>
            </a:r>
            <a:endParaRPr sz="850" lang="ja-JP">
              <a:latin typeface="Noto Sans"/>
              <a:ea typeface="Noto Sans CJK JP"/>
              <a:cs typeface="Noto Sans"/>
            </a:endParaRP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記述統計 バージョン2.0・学習用</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sp>
        <p:nvSpPr>
          <p:cNvPr id="4" name="content-text"/>
          <p:cNvSpPr txBox="1"/>
          <p:nvPr/>
        </p:nvSpPr>
        <p:spPr>
          <a:xfrm>
            <a:off x="548640" y="1440180"/>
            <a:ext cx="8046720" cy="36004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質問 130,319件／回答あり 86,821件／回答不能 43,498件</a:t>
            </a:r>
            <a:endParaRPr sz="2000" lang="ja-JP">
              <a:latin typeface="Noto Sans"/>
              <a:ea typeface="Noto Sans CJK JP"/>
              <a:cs typeface="Noto Sans"/>
            </a:endParaRPr>
          </a:p>
        </p:txBody>
      </p:sp>
      <p:graphicFrame>
        <p:nvGraphicFramePr>
          <p:cNvPr id="5" name="Table 4"/>
          <p:cNvGraphicFramePr>
            <a:graphicFrameLocks noGrp="1"/>
          </p:cNvGraphicFramePr>
          <p:nvPr/>
        </p:nvGraphicFramePr>
        <p:xfrm>
          <a:off x="502920" y="2031682"/>
          <a:ext cx="8138154" cy="1645920"/>
        </p:xfrm>
        <a:graphic>
          <a:graphicData uri="http://schemas.openxmlformats.org/drawingml/2006/table">
            <a:tbl>
              <a:tblPr firstRow="1" bandRow="1">
                <a:tableStyleId>{5C22544A-7EE6-4342-B048-85BDC9FD1C3A}</a:tableStyleId>
              </a:tblPr>
              <a:tblGrid>
                <a:gridCol w="1546250"/>
                <a:gridCol w="823988"/>
                <a:gridCol w="823988"/>
                <a:gridCol w="823988"/>
                <a:gridCol w="823988"/>
                <a:gridCol w="823988"/>
                <a:gridCol w="823988"/>
                <a:gridCol w="823988"/>
                <a:gridCol w="823988"/>
              </a:tblGrid>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指標 [1]</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平均</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標準偏差</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最小</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25%点</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中央値</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75%点</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95%点</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最大</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質問文字</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58.3</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20.4</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55.0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69.0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96.0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質問単語</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9.9</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3.4</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12.0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16.0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回答文字</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21.6</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23.0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63.0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239</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回答単語</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3.2</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3.4</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43</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6" name="content-text"/>
          <p:cNvSpPr txBox="1"/>
          <p:nvPr>
            <p:ph type="body" idx="1"/>
          </p:nvPr>
        </p:nvSpPr>
        <p:spPr>
          <a:xfrm>
            <a:off x="594360" y="3995928"/>
            <a:ext cx="8046720" cy="684451"/>
          </a:xfrm>
          <a:prstGeom prst="rect">
            <a:avLst/>
          </a:prstGeom>
          <a:noFill/>
        </p:spPr>
        <p:txBody>
          <a:bodyPr wrap="square" anchor="t" lIns="91425" rIns="91425" tIns="91425" bIns="91425">
            <a:noAutofit/>
          </a:bodyPr>
          <a:lstStyle/>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文字数は前後の空白だけを除いた文字列の長さ。</a:t>
            </a:r>
            <a:endParaRPr sz="1550" lang="ja-JP">
              <a:latin typeface="Noto Sans"/>
              <a:ea typeface="Noto Sans CJK JP"/>
              <a:cs typeface="Noto Sans"/>
            </a:endParaRPr>
          </a:p>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単語数は空白区切り。回答は先頭の正解を1問1件、回答不能は除外。</a:t>
            </a:r>
            <a:endParaRPr sz="1550" lang="ja-JP">
              <a:latin typeface="Noto Sans"/>
              <a:ea typeface="Noto Sans CJK JP"/>
              <a:cs typeface="Noto Sans"/>
            </a:endParaRPr>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公式JSONを全件集計　https://github.com/rajpurkar/SQuAD-explorer/tree/master/dataset</a:t>
            </a:r>
            <a:endParaRPr sz="850" lang="ja-JP">
              <a:latin typeface="Noto Sans"/>
              <a:ea typeface="Noto Sans CJK JP"/>
              <a:cs typeface="Noto Sans"/>
            </a:endParaRP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記述統計 バージョン2.0・開発用</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sp>
        <p:nvSpPr>
          <p:cNvPr id="4" name="content-text"/>
          <p:cNvSpPr txBox="1"/>
          <p:nvPr/>
        </p:nvSpPr>
        <p:spPr>
          <a:xfrm>
            <a:off x="548640" y="1440180"/>
            <a:ext cx="8046720" cy="36004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質問 11,873件／回答あり 5,928件／回答不能 5,945件</a:t>
            </a:r>
            <a:endParaRPr sz="2000" lang="ja-JP">
              <a:latin typeface="Noto Sans"/>
              <a:ea typeface="Noto Sans CJK JP"/>
              <a:cs typeface="Noto Sans"/>
            </a:endParaRPr>
          </a:p>
        </p:txBody>
      </p:sp>
      <p:graphicFrame>
        <p:nvGraphicFramePr>
          <p:cNvPr id="5" name="Table 4"/>
          <p:cNvGraphicFramePr>
            <a:graphicFrameLocks noGrp="1"/>
          </p:cNvGraphicFramePr>
          <p:nvPr/>
        </p:nvGraphicFramePr>
        <p:xfrm>
          <a:off x="502920" y="2031682"/>
          <a:ext cx="8138154" cy="1645920"/>
        </p:xfrm>
        <a:graphic>
          <a:graphicData uri="http://schemas.openxmlformats.org/drawingml/2006/table">
            <a:tbl>
              <a:tblPr firstRow="1" bandRow="1">
                <a:tableStyleId>{5C22544A-7EE6-4342-B048-85BDC9FD1C3A}</a:tableStyleId>
              </a:tblPr>
              <a:tblGrid>
                <a:gridCol w="1546250"/>
                <a:gridCol w="823988"/>
                <a:gridCol w="823988"/>
                <a:gridCol w="823988"/>
                <a:gridCol w="823988"/>
                <a:gridCol w="823988"/>
                <a:gridCol w="823988"/>
                <a:gridCol w="823988"/>
                <a:gridCol w="823988"/>
              </a:tblGrid>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指標 [1]</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平均</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標準偏差</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最小</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25%点</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中央値</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75%点</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95%点</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最大</a:t>
                      </a:r>
                      <a:endParaRPr sz="14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質問文字</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59.4</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20.8</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45.0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71.0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98.0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197</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質問単語</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3.5</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8.0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12.0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16.0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回答文字</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20.9</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21.4</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8.0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64.0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160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回答単語</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3.2</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3.3</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29</a:t>
                      </a:r>
                      <a:endParaRPr sz="14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6" name="content-text"/>
          <p:cNvSpPr txBox="1"/>
          <p:nvPr>
            <p:ph type="body" idx="1"/>
          </p:nvPr>
        </p:nvSpPr>
        <p:spPr>
          <a:xfrm>
            <a:off x="594360" y="3995928"/>
            <a:ext cx="8046720" cy="684451"/>
          </a:xfrm>
          <a:prstGeom prst="rect">
            <a:avLst/>
          </a:prstGeom>
          <a:noFill/>
        </p:spPr>
        <p:txBody>
          <a:bodyPr wrap="square" anchor="t" lIns="91425" rIns="91425" tIns="91425" bIns="91425">
            <a:noAutofit/>
          </a:bodyPr>
          <a:lstStyle/>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文字数は前後の空白だけを除いた文字列の長さ。</a:t>
            </a:r>
            <a:endParaRPr sz="1550" lang="ja-JP">
              <a:latin typeface="Noto Sans"/>
              <a:ea typeface="Noto Sans CJK JP"/>
              <a:cs typeface="Noto Sans"/>
            </a:endParaRPr>
          </a:p>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単語数は空白区切り。回答は先頭の正解を1問1件、回答不能は除外。</a:t>
            </a:r>
            <a:endParaRPr sz="1550" lang="ja-JP">
              <a:latin typeface="Noto Sans"/>
              <a:ea typeface="Noto Sans CJK JP"/>
              <a:cs typeface="Noto Sans"/>
            </a:endParaRPr>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公式JSONを全件集計　https://github.com/rajpurkar/SQuAD-explorer/tree/master/dataset</a:t>
            </a:r>
            <a:endParaRPr sz="850" lang="ja-JP">
              <a:latin typeface="Noto Sans"/>
              <a:ea typeface="Noto Sans CJK JP"/>
              <a:cs typeface="Noto Sans"/>
            </a:endParaRP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回答長の集計単位 バージョン1.1</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94485"/>
          <a:ext cx="8046718" cy="1954530"/>
        </p:xfrm>
        <a:graphic>
          <a:graphicData uri="http://schemas.openxmlformats.org/drawingml/2006/table">
            <a:tbl>
              <a:tblPr firstRow="1" bandRow="1">
                <a:tableStyleId>{5C22544A-7EE6-4342-B048-85BDC9FD1C3A}</a:tableStyleId>
              </a:tblPr>
              <a:tblGrid>
                <a:gridCol w="2574950"/>
                <a:gridCol w="1528876"/>
                <a:gridCol w="985723"/>
                <a:gridCol w="985723"/>
                <a:gridCol w="985723"/>
                <a:gridCol w="985723"/>
              </a:tblGrid>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対象・指標 [1]</a:t>
                      </a:r>
                      <a:endParaRPr sz="16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件数</a:t>
                      </a:r>
                      <a:endParaRPr sz="16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平均</a:t>
                      </a:r>
                      <a:endParaRPr sz="16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中央値</a:t>
                      </a:r>
                      <a:endParaRPr sz="16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95%点</a:t>
                      </a:r>
                      <a:endParaRPr sz="16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最大</a:t>
                      </a:r>
                      <a:endParaRPr sz="16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1問1件・文字</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98,169</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20.1</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14.0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63.0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239</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1問1件・単語</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98,169</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3.1</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10.0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43</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全正解注釈・文字</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122,325</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19.7</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14.0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61.0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239</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全正解注釈・単語</a:t>
                      </a:r>
                      <a:endParaRPr sz="16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122,325</a:t>
                      </a:r>
                      <a:endParaRPr sz="16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3.1</a:t>
                      </a:r>
                      <a:endParaRPr sz="16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a:t>
                      </a:r>
                      <a:endParaRPr sz="16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9.0</a:t>
                      </a:r>
                      <a:endParaRPr sz="16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43</a:t>
                      </a:r>
                      <a:endParaRPr sz="16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ph type="body" idx="1"/>
          </p:nvPr>
        </p:nvSpPr>
        <p:spPr>
          <a:xfrm>
            <a:off x="594360" y="3833243"/>
            <a:ext cx="8046720" cy="848485"/>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学習用＋開発用を集計。回答不能の質問は除外。</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全正解注釈では、同じ質問の複数正解・重複注釈も数える。</a:t>
            </a:r>
            <a:endParaRPr sz="2000" lang="ja-JP">
              <a:latin typeface="Noto Sans"/>
              <a:ea typeface="Noto Sans CJK JP"/>
              <a:cs typeface="Noto Sans"/>
            </a:endParaRPr>
          </a:p>
        </p:txBody>
      </p:sp>
      <p:sp>
        <p:nvSpPr>
          <p:cNvPr id="6"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https://github.com/rajpurkar/SQuAD-explorer/tree/master/dataset</a:t>
            </a:r>
            <a:endParaRPr sz="850" lang="ja-JP">
              <a:latin typeface="Noto Sans"/>
              <a:ea typeface="Noto Sans CJK JP"/>
              <a:cs typeface="Noto Sans"/>
            </a:endParaRP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回答長の集計単位 バージョン2.0</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94485"/>
          <a:ext cx="8046718" cy="1954530"/>
        </p:xfrm>
        <a:graphic>
          <a:graphicData uri="http://schemas.openxmlformats.org/drawingml/2006/table">
            <a:tbl>
              <a:tblPr firstRow="1" bandRow="1">
                <a:tableStyleId>{5C22544A-7EE6-4342-B048-85BDC9FD1C3A}</a:tableStyleId>
              </a:tblPr>
              <a:tblGrid>
                <a:gridCol w="2574950"/>
                <a:gridCol w="1528876"/>
                <a:gridCol w="985723"/>
                <a:gridCol w="985723"/>
                <a:gridCol w="985723"/>
                <a:gridCol w="985723"/>
              </a:tblGrid>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対象・指標 [1]</a:t>
                      </a:r>
                      <a:endParaRPr sz="16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件数</a:t>
                      </a:r>
                      <a:endParaRPr sz="16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平均</a:t>
                      </a:r>
                      <a:endParaRPr sz="16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中央値</a:t>
                      </a:r>
                      <a:endParaRPr sz="16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95%点</a:t>
                      </a:r>
                      <a:endParaRPr sz="16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最大</a:t>
                      </a:r>
                      <a:endParaRPr sz="16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1問1件・文字</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92,749</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20.2</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14.0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63.0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239</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1問1件・単語</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92,749</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3.2</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10.0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43</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全正解注釈・文字</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107,123</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20.1</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14.0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63.0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239</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全正解注釈・単語</a:t>
                      </a:r>
                      <a:endParaRPr sz="16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107,123</a:t>
                      </a:r>
                      <a:endParaRPr sz="16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3.1</a:t>
                      </a:r>
                      <a:endParaRPr sz="16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a:t>
                      </a:r>
                      <a:endParaRPr sz="16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10.0</a:t>
                      </a:r>
                      <a:endParaRPr sz="16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43</a:t>
                      </a:r>
                      <a:endParaRPr sz="16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ph type="body" idx="1"/>
          </p:nvPr>
        </p:nvSpPr>
        <p:spPr>
          <a:xfrm>
            <a:off x="594360" y="3833243"/>
            <a:ext cx="8046720" cy="848485"/>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学習用＋開発用を集計。回答不能の質問は除外。</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全正解注釈では、同じ質問の複数正解・重複注釈も数える。</a:t>
            </a:r>
            <a:endParaRPr sz="2000" lang="ja-JP">
              <a:latin typeface="Noto Sans"/>
              <a:ea typeface="Noto Sans CJK JP"/>
              <a:cs typeface="Noto Sans"/>
            </a:endParaRPr>
          </a:p>
        </p:txBody>
      </p:sp>
      <p:sp>
        <p:nvSpPr>
          <p:cNvPr id="6"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https://github.com/rajpurkar/SQuAD-explorer/tree/master/dataset</a:t>
            </a:r>
            <a:endParaRPr sz="850" lang="ja-JP">
              <a:latin typeface="Noto Sans"/>
              <a:ea typeface="Noto Sans CJK JP"/>
              <a:cs typeface="Noto Sans"/>
            </a:endParaRP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入力段落の記述統計 バージョン1.1・train</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748790"/>
          <a:ext cx="8046718" cy="1543050"/>
        </p:xfrm>
        <a:graphic>
          <a:graphicData uri="http://schemas.openxmlformats.org/drawingml/2006/table">
            <a:tbl>
              <a:tblPr firstRow="1" bandRow="1">
                <a:tableStyleId>{5C22544A-7EE6-4342-B048-85BDC9FD1C3A}</a:tableStyleId>
              </a:tblPr>
              <a:tblGrid>
                <a:gridCol w="1528876"/>
                <a:gridCol w="1086307"/>
                <a:gridCol w="1086307"/>
                <a:gridCol w="1086307"/>
                <a:gridCol w="1086307"/>
                <a:gridCol w="1086307"/>
                <a:gridCol w="1086307"/>
              </a:tblGrid>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context [1]</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件数</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平均</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SD</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中央値</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95%点</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最大</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文字数</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18896</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735.8</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310.0</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678.0</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1311.0</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3706</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単語数</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18896</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116.6</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49.7</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107.0</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210.0</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653</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ph type="body" idx="1"/>
          </p:nvPr>
        </p:nvSpPr>
        <p:spPr>
          <a:xfrm>
            <a:off x="594360" y="3703320"/>
            <a:ext cx="8046720" cy="771525"/>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各段落を1回ずつ集計（質問数による重複は含めない）。</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文字数は前後空白除去／単語数は空白分割。</a:t>
            </a:r>
            <a:endParaRPr sz="2000" lang="ja-JP">
              <a:latin typeface="Noto Sans"/>
              <a:ea typeface="Noto Sans CJK JP"/>
              <a:cs typeface="Noto Sans"/>
            </a:endParaRPr>
          </a:p>
        </p:txBody>
      </p:sp>
      <p:sp>
        <p:nvSpPr>
          <p:cNvPr id="6"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各行の最大値に対応するIDと具体例は、以降の「最大値の実例」に掲載。</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https://github.com/rajpurkar/SQuAD-explorer/tree/master/dataset</a:t>
            </a:r>
            <a:endParaRPr sz="850" lang="ja-JP">
              <a:latin typeface="Noto Sans"/>
              <a:ea typeface="Noto Sans CJK JP"/>
              <a:cs typeface="Noto Sans"/>
            </a:endParaRP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入力段落の記述統計 バージョン1.1・dev</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748790"/>
          <a:ext cx="8046718" cy="1543050"/>
        </p:xfrm>
        <a:graphic>
          <a:graphicData uri="http://schemas.openxmlformats.org/drawingml/2006/table">
            <a:tbl>
              <a:tblPr firstRow="1" bandRow="1">
                <a:tableStyleId>{5C22544A-7EE6-4342-B048-85BDC9FD1C3A}</a:tableStyleId>
              </a:tblPr>
              <a:tblGrid>
                <a:gridCol w="1528876"/>
                <a:gridCol w="1086307"/>
                <a:gridCol w="1086307"/>
                <a:gridCol w="1086307"/>
                <a:gridCol w="1086307"/>
                <a:gridCol w="1086307"/>
                <a:gridCol w="1086307"/>
              </a:tblGrid>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context [1]</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件数</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平均</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SD</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中央値</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95%点</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最大</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文字数</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2067</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774.3</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342.9</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700.0</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1338.0</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4063</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単語数</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2067</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122.8</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54.8</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111.0</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213.0</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629</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ph type="body" idx="1"/>
          </p:nvPr>
        </p:nvSpPr>
        <p:spPr>
          <a:xfrm>
            <a:off x="594360" y="3703320"/>
            <a:ext cx="8046720" cy="771525"/>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各段落を1回ずつ集計（質問数による重複は含めない）。</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文字数は前後空白除去／単語数は空白分割。</a:t>
            </a:r>
            <a:endParaRPr sz="2000" lang="ja-JP">
              <a:latin typeface="Noto Sans"/>
              <a:ea typeface="Noto Sans CJK JP"/>
              <a:cs typeface="Noto Sans"/>
            </a:endParaRPr>
          </a:p>
        </p:txBody>
      </p:sp>
      <p:sp>
        <p:nvSpPr>
          <p:cNvPr id="6"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各行の最大値に対応するIDと具体例は、以降の「最大値の実例」に掲載。</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https://github.com/rajpurkar/SQuAD-explorer/tree/master/dataset</a:t>
            </a:r>
            <a:endParaRPr sz="850" lang="ja-JP">
              <a:latin typeface="Noto Sans"/>
              <a:ea typeface="Noto Sans CJK JP"/>
              <a:cs typeface="Noto Sans"/>
            </a:endParaRP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入力段落の記述統計 バージョン2.0・train</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748790"/>
          <a:ext cx="8046718" cy="1543050"/>
        </p:xfrm>
        <a:graphic>
          <a:graphicData uri="http://schemas.openxmlformats.org/drawingml/2006/table">
            <a:tbl>
              <a:tblPr firstRow="1" bandRow="1">
                <a:tableStyleId>{5C22544A-7EE6-4342-B048-85BDC9FD1C3A}</a:tableStyleId>
              </a:tblPr>
              <a:tblGrid>
                <a:gridCol w="1528876"/>
                <a:gridCol w="1086307"/>
                <a:gridCol w="1086307"/>
                <a:gridCol w="1086307"/>
                <a:gridCol w="1086307"/>
                <a:gridCol w="1086307"/>
                <a:gridCol w="1086307"/>
              </a:tblGrid>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context [1]</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件数</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平均</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SD</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中央値</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95%点</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最大</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文字数</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19035</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735.5</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309.8</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677.0</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1310.3</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3706</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単語数</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19035</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116.6</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49.7</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107.0</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209.0</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653</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ph type="body" idx="1"/>
          </p:nvPr>
        </p:nvSpPr>
        <p:spPr>
          <a:xfrm>
            <a:off x="594360" y="3703320"/>
            <a:ext cx="8046720" cy="771525"/>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各段落を1回ずつ集計（質問数による重複は含めない）。</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文字数は前後空白除去／単語数は空白分割。</a:t>
            </a:r>
            <a:endParaRPr sz="2000" lang="ja-JP">
              <a:latin typeface="Noto Sans"/>
              <a:ea typeface="Noto Sans CJK JP"/>
              <a:cs typeface="Noto Sans"/>
            </a:endParaRPr>
          </a:p>
        </p:txBody>
      </p:sp>
      <p:sp>
        <p:nvSpPr>
          <p:cNvPr id="6"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各行の最大値に対応するIDと具体例は、以降の「最大値の実例」に掲載。</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https://github.com/rajpurkar/SQuAD-explorer/tree/master/dataset</a:t>
            </a:r>
            <a:endParaRPr sz="850" lang="ja-JP">
              <a:latin typeface="Noto Sans"/>
              <a:ea typeface="Noto Sans CJK JP"/>
              <a:cs typeface="Noto Sans"/>
            </a:endParaRP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入力段落の記述統計 バージョン2.0・dev</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748790"/>
          <a:ext cx="8046718" cy="1543050"/>
        </p:xfrm>
        <a:graphic>
          <a:graphicData uri="http://schemas.openxmlformats.org/drawingml/2006/table">
            <a:tbl>
              <a:tblPr firstRow="1" bandRow="1">
                <a:tableStyleId>{5C22544A-7EE6-4342-B048-85BDC9FD1C3A}</a:tableStyleId>
              </a:tblPr>
              <a:tblGrid>
                <a:gridCol w="1528876"/>
                <a:gridCol w="1086307"/>
                <a:gridCol w="1086307"/>
                <a:gridCol w="1086307"/>
                <a:gridCol w="1086307"/>
                <a:gridCol w="1086307"/>
                <a:gridCol w="1086307"/>
              </a:tblGrid>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context [1]</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件数</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平均</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SD</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中央値</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95%点</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最大</a:t>
                      </a:r>
                      <a:endParaRPr sz="17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文字数</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1204</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802.6</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359.6</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711.5</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1425.9</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4063</a:t>
                      </a:r>
                      <a:endParaRPr sz="17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単語数</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1204</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126.6</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57.4</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113.0</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223.8</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629</a:t>
                      </a:r>
                      <a:endParaRPr sz="17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ph type="body" idx="1"/>
          </p:nvPr>
        </p:nvSpPr>
        <p:spPr>
          <a:xfrm>
            <a:off x="594360" y="3703320"/>
            <a:ext cx="8046720" cy="771525"/>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各段落を1回ずつ集計（質問数による重複は含めない）。</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文字数は前後空白除去／単語数は空白分割。</a:t>
            </a:r>
            <a:endParaRPr sz="2000" lang="ja-JP">
              <a:latin typeface="Noto Sans"/>
              <a:ea typeface="Noto Sans CJK JP"/>
              <a:cs typeface="Noto Sans"/>
            </a:endParaRPr>
          </a:p>
        </p:txBody>
      </p:sp>
      <p:sp>
        <p:nvSpPr>
          <p:cNvPr id="6"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各行の最大値に対応するIDと具体例は、以降の「最大値の実例」に掲載。</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https://github.com/rajpurkar/SQuAD-explorer/tree/master/dataset</a:t>
            </a:r>
            <a:endParaRPr sz="850" lang="ja-JP">
              <a:latin typeface="Noto Sans"/>
              <a:ea typeface="Noto Sans CJK JP"/>
              <a:cs typeface="Noto Sans"/>
            </a:endParaRP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最大値の実例 1 Age of Enlightenment</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sp>
        <p:nvSpPr>
          <p:cNvPr id="4" name="content-text"/>
          <p:cNvSpPr txBox="1"/>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質問文字数 270／質問単語数 40 [1]</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Which century is considered by some as a "drab" period, however saw significant advancements in the practice of medicine, mathematics, and physics, the development of biological taxonomy, a new understanding of magnetism, and the maturation of chemistry as a discipline?</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the 18th century</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1.1/train、2.0/train。</a:t>
            </a:r>
            <a:endParaRPr sz="1800" lang="ja-JP">
              <a:latin typeface="Noto Sans"/>
              <a:ea typeface="Noto Sans CJK JP"/>
              <a:cs typeface="Noto Sans"/>
            </a:endParaRPr>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記事名 Age_of_Enlightenment　https://github.com/rajpurkar/SQuAD-explorer/tree/master/dataset　ID 5710dcb5b654c5140001fa10</a:t>
            </a:r>
            <a:endParaRPr sz="850" lang="ja-JP">
              <a:latin typeface="Noto Sans"/>
              <a:ea typeface="Noto Sans CJK JP"/>
              <a:cs typeface="Noto Sans"/>
            </a:endParaRP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最大値の原文 1 Age of Enlightenment</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Wikipedia記事の段落から再抜粋（段落全体の長さとは異なる）。</a:t>
            </a:r>
            <a:endParaRPr sz="1700" lang="ja-JP">
              <a:latin typeface="Noto Sans"/>
              <a:ea typeface="Noto Sans CJK JP"/>
              <a:cs typeface="Noto Sans"/>
            </a:endParaRPr>
          </a:p>
        </p:txBody>
      </p:sp>
      <p:sp>
        <p:nvSpPr>
          <p:cNvPr id="5" name="quote-frame"/>
          <p:cNvSpPr/>
          <p:nvPr/>
        </p:nvSpPr>
        <p:spPr>
          <a:xfrm>
            <a:off x="548640" y="1883760"/>
            <a:ext cx="8046720" cy="252074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Philosophes introduced the public to many scientific theories, most notably through the Encyclopédie and the popularization of Newtonianism by Voltaire and Émilie du Châtelet. Some historians have marked the 18th century as a drab period in the history of science; however, the century saw significant advancements in the practice of medicine, mathematics, and physics; the development of biological taxonomy; a new understanding of magnetism and electricity; and the maturation of chemistry as a discipline, which established the foundations of modern chemistry.</a:t>
            </a:r>
            <a:endParaRPr sz="1700" lang="ja-JP">
              <a:latin typeface="Noto Sans"/>
              <a:ea typeface="Noto Sans CJK JP"/>
              <a:cs typeface="Noto Sans"/>
            </a:endParaRPr>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https://github.com/rajpurkar/SQuAD-explorer/tree/master/dataset　ID 5710dcb5b654c5140001fa10</a:t>
            </a:r>
            <a:endParaRPr sz="850" lang="ja-JP">
              <a:latin typeface="Noto Sans"/>
              <a:ea typeface="Noto Sans CJK JP"/>
              <a:cs typeface="Noto Sans"/>
            </a:endParaRP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最大値の実例 2 Sahara</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sp>
        <p:nvSpPr>
          <p:cNvPr id="4" name="content-text"/>
          <p:cNvSpPr txBox="1"/>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段落文字数 3706／段落単語数 653 </a:t>
            </a:r>
            <a:r>
              <a:rPr sz="2100" b="0" lang="ja-JP">
                <a:solidFill>
                  <a:srgbClr val="303437"/>
                </a:solidFill>
                <a:latin typeface="Noto Sans"/>
                <a:ea typeface="Noto Sans CJK JP"/>
                <a:cs typeface="Noto Sans"/>
              </a:rPr>
              <a:t>[1]</a:t>
            </a:r>
            <a:r>
              <a:rPr sz="2100" b="0" lang="ja-JP">
                <a:solidFill>
                  <a:srgbClr val="303437"/>
                </a:solidFill>
                <a:latin typeface="Noto Sans"/>
                <a:ea typeface="Noto Sans CJK JP"/>
                <a:cs typeface="Noto Sans"/>
              </a:rPr>
              <a:t>。</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What is the largest hottest continuously large area worldwide?</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the Great Desert</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1.1/train、2.0/train。</a:t>
            </a:r>
            <a:endParaRPr sz="1800" lang="ja-JP">
              <a:latin typeface="Noto Sans"/>
              <a:ea typeface="Noto Sans CJK JP"/>
              <a:cs typeface="Noto Sans"/>
            </a:endParaRPr>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記事名 Sahara　https://github.com/rajpurkar/SQuAD-explorer/tree/master/dataset　ID 5728c4163acd2414000dfddf</a:t>
            </a:r>
            <a:endParaRPr sz="850" lang="ja-JP">
              <a:latin typeface="Noto Sans"/>
              <a:ea typeface="Noto Sans CJK JP"/>
              <a:cs typeface="Noto Sans"/>
            </a:endParaRP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最大値の原文 2 Sahara</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Wikipedia記事の段落から再抜粋（段落全体の長さとは異なる）。</a:t>
            </a:r>
            <a:endParaRPr sz="1700" lang="ja-JP">
              <a:latin typeface="Noto Sans"/>
              <a:ea typeface="Noto Sans CJK JP"/>
              <a:cs typeface="Noto Sans"/>
            </a:endParaRPr>
          </a:p>
        </p:txBody>
      </p:sp>
      <p:sp>
        <p:nvSpPr>
          <p:cNvPr id="5" name="quote-frame"/>
          <p:cNvSpPr/>
          <p:nvPr/>
        </p:nvSpPr>
        <p:spPr>
          <a:xfrm>
            <a:off x="548640" y="1883760"/>
            <a:ext cx="8046720" cy="252074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A value of 4,300 h or 98% of the time would be recorded in Upper Egypt (Aswan, Luxor) and in the Nubian Desert (Wadi Halfa). The annual average direct solar irradiation is around 2,800 kWh/(m2 year) in the Great Desert. The Sahara has a huge potential for solar energy production. The constantly high position of the sun, the extremely low relative humidity, the lack of vegetation and rainfall make the Great Desert the hottest continuously large area worldwide and certainly the hottest place on Earth during summertime in some spots.</a:t>
            </a:r>
            <a:endParaRPr sz="1700" lang="ja-JP">
              <a:latin typeface="Noto Sans"/>
              <a:ea typeface="Noto Sans CJK JP"/>
              <a:cs typeface="Noto Sans"/>
            </a:endParaRPr>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https://github.com/rajpurkar/SQuAD-explorer/tree/master/dataset　ID 5728c4163acd2414000dfddf</a:t>
            </a:r>
            <a:endParaRPr sz="850" lang="ja-JP">
              <a:latin typeface="Noto Sans"/>
              <a:ea typeface="Noto Sans CJK JP"/>
              <a:cs typeface="Noto Sans"/>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最大値の実例 3 2008 Sichuan earthquake</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sp>
        <p:nvSpPr>
          <p:cNvPr id="4" name="content-text"/>
          <p:cNvSpPr txBox="1"/>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回答文字数 239／回答単語数 43 </a:t>
            </a:r>
            <a:r>
              <a:rPr sz="2100" b="0" lang="ja-JP">
                <a:solidFill>
                  <a:srgbClr val="303437"/>
                </a:solidFill>
                <a:latin typeface="Noto Sans"/>
                <a:ea typeface="Noto Sans CJK JP"/>
                <a:cs typeface="Noto Sans"/>
              </a:rPr>
              <a:t>[1]</a:t>
            </a:r>
            <a:r>
              <a:rPr sz="2100" b="0" lang="ja-JP">
                <a:solidFill>
                  <a:srgbClr val="303437"/>
                </a:solidFill>
                <a:latin typeface="Noto Sans"/>
                <a:ea typeface="Noto Sans CJK JP"/>
                <a:cs typeface="Noto Sans"/>
              </a:rPr>
              <a:t>。</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What was concluded about the construction?</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that the sudden shift of a huge quantity of water into the region could have relaxed the tension between the two sides of the fault, allowing them to move apart, and could have increased the direct pressure on it, causing a violent rupture</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1.1/train、2.0/train。</a:t>
            </a:r>
            <a:endParaRPr sz="1800" lang="ja-JP">
              <a:latin typeface="Noto Sans"/>
              <a:ea typeface="Noto Sans CJK JP"/>
              <a:cs typeface="Noto Sans"/>
            </a:endParaRPr>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記事名 2008_Sichuan_earthquake　https://github.com/rajpurkar/SQuAD-explorer/tree/master/dataset　ID 56cec3e8aab44d1400b88a02</a:t>
            </a:r>
            <a:endParaRPr sz="850" lang="ja-JP">
              <a:latin typeface="Noto Sans"/>
              <a:ea typeface="Noto Sans CJK JP"/>
              <a:cs typeface="Noto Sans"/>
            </a:endParaRP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最大値の原文 3 2008 Sichuan earthquake</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Wikipedia記事の段落から再抜粋（段落全体の長さとは異なる）。</a:t>
            </a:r>
            <a:endParaRPr sz="1700" lang="ja-JP">
              <a:latin typeface="Noto Sans"/>
              <a:ea typeface="Noto Sans CJK JP"/>
              <a:cs typeface="Noto Sans"/>
            </a:endParaRPr>
          </a:p>
        </p:txBody>
      </p:sp>
      <p:sp>
        <p:nvSpPr>
          <p:cNvPr id="5" name="quote-frame"/>
          <p:cNvSpPr/>
          <p:nvPr/>
        </p:nvSpPr>
        <p:spPr>
          <a:xfrm>
            <a:off x="548640" y="1883760"/>
            <a:ext cx="8046720" cy="252074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An article in Science suggested that the construction and filling of the Zipingpu Dam may have triggered the earthquake. The chief engineer of the Sichuan Geology and Mineral Bureau said that the sudden shift of a huge quantity of water into the region could have relaxed the tension between the two sides of the fault, allowing them to move apart, and could have increased the direct pressure on it, causing a violent rupture. The effect was "25 times more" than a year's worth of natural stress from tectonic movement.</a:t>
            </a:r>
            <a:endParaRPr sz="1700" lang="ja-JP">
              <a:latin typeface="Noto Sans"/>
              <a:ea typeface="Noto Sans CJK JP"/>
              <a:cs typeface="Noto Sans"/>
            </a:endParaRPr>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https://github.com/rajpurkar/SQuAD-explorer/tree/master/dataset　ID 56cec3e8aab44d1400b88a02</a:t>
            </a:r>
            <a:endParaRPr sz="850" lang="ja-JP">
              <a:latin typeface="Noto Sans"/>
              <a:ea typeface="Noto Sans CJK JP"/>
              <a:cs typeface="Noto Sans"/>
            </a:endParaRP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最大値の実例 4 Construction</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sp>
        <p:nvSpPr>
          <p:cNvPr id="4" name="content-text"/>
          <p:cNvSpPr txBox="1"/>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質問文字数 197 [1]</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What kind of contract is given when the contractor is given a performance specification and must undertake the project from design to construction, while adhering to the performance specifications?</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"design build" contract</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1.1/dev、2.0/dev。</a:t>
            </a:r>
            <a:endParaRPr sz="1800" lang="ja-JP">
              <a:latin typeface="Noto Sans"/>
              <a:ea typeface="Noto Sans CJK JP"/>
              <a:cs typeface="Noto Sans"/>
            </a:endParaRPr>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記事名 Construction　https://github.com/rajpurkar/SQuAD-explorer/tree/master/dataset　ID 57274e0d708984140094dbe8</a:t>
            </a:r>
            <a:endParaRPr sz="850" lang="ja-JP">
              <a:latin typeface="Noto Sans"/>
              <a:ea typeface="Noto Sans CJK JP"/>
              <a:cs typeface="Noto Sans"/>
            </a:endParaRP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最大値の原文 4 Construction</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Wikipedia記事の段落から再抜粋（段落全体の長さとは異なる）。</a:t>
            </a:r>
            <a:endParaRPr sz="1700" lang="ja-JP">
              <a:latin typeface="Noto Sans"/>
              <a:ea typeface="Noto Sans CJK JP"/>
              <a:cs typeface="Noto Sans"/>
            </a:endParaRPr>
          </a:p>
        </p:txBody>
      </p:sp>
      <p:sp>
        <p:nvSpPr>
          <p:cNvPr id="5" name="quote-frame"/>
          <p:cNvSpPr/>
          <p:nvPr/>
        </p:nvSpPr>
        <p:spPr>
          <a:xfrm>
            <a:off x="548640" y="1883760"/>
            <a:ext cx="8046720" cy="252074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Presently, a firm that is nominally an "architecture" or "construction management" firm may have experts from all related fields as employees, or to have an associated company that provides each necessary skill. Thus, each such firm may offer itself as "one-stop shopping" for a construction project, from beginning to end. This is designated as a "design build" contract where the contractor is given a performance specification and must undertake the project from design to construction, while adhering to the performance specifications.</a:t>
            </a:r>
            <a:endParaRPr sz="1700" lang="ja-JP">
              <a:latin typeface="Noto Sans"/>
              <a:ea typeface="Noto Sans CJK JP"/>
              <a:cs typeface="Noto Sans"/>
            </a:endParaRPr>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https://github.com/rajpurkar/SQuAD-explorer/tree/master/dataset　ID 57274e0d708984140094dbe8</a:t>
            </a:r>
            <a:endParaRPr sz="850" lang="ja-JP">
              <a:latin typeface="Noto Sans"/>
              <a:ea typeface="Noto Sans CJK JP"/>
              <a:cs typeface="Noto Sans"/>
            </a:endParaRP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最大値の実例 5 Super Bowl 50</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sp>
        <p:nvSpPr>
          <p:cNvPr id="4" name="content-text"/>
          <p:cNvSpPr txBox="1"/>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質問単語数 33 [1]</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What was the name of the event at the The Embarcadero that was held prior to Super Bowl 50 to help show off some of the things that San Francisco has to offer?</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Super Bowl City</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1.1/dev。</a:t>
            </a:r>
            <a:endParaRPr sz="1800" lang="ja-JP">
              <a:latin typeface="Noto Sans"/>
              <a:ea typeface="Noto Sans CJK JP"/>
              <a:cs typeface="Noto Sans"/>
            </a:endParaRPr>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記事名 Super_Bowl_50　https://github.com/rajpurkar/SQuAD-explorer/tree/master/dataset　ID 56bf53e73aeaaa14008c95ce</a:t>
            </a:r>
            <a:endParaRPr sz="850" lang="ja-JP">
              <a:latin typeface="Noto Sans"/>
              <a:ea typeface="Noto Sans CJK JP"/>
              <a:cs typeface="Noto Sans"/>
            </a:endParaRP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最大値の原文 5 Super Bowl 50</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Wikipedia記事の段落から再抜粋（段落全体の長さとは異なる）。</a:t>
            </a:r>
            <a:endParaRPr sz="1700" lang="ja-JP">
              <a:latin typeface="Noto Sans"/>
              <a:ea typeface="Noto Sans CJK JP"/>
              <a:cs typeface="Noto Sans"/>
            </a:endParaRPr>
          </a:p>
        </p:txBody>
      </p:sp>
      <p:sp>
        <p:nvSpPr>
          <p:cNvPr id="5" name="quote-frame"/>
          <p:cNvSpPr/>
          <p:nvPr/>
        </p:nvSpPr>
        <p:spPr>
          <a:xfrm>
            <a:off x="548640" y="1883760"/>
            <a:ext cx="8046720" cy="252074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The annual NFL Experience was held at the Moscone Center in San Francisco. In addition, "Super Bowl City" opened on January 30 at Justin Herman Plaza on The Embarcadero, featuring games and activities that will highlight the Bay Area's technology, culinary creations, and cultural diversity. More than 1 million people are expected to attend the festivities in San Francisco during Super Bowl Week. San Francisco mayor Ed Lee said of the highly visible homeless presence in this area "they are going to have to leave".</a:t>
            </a:r>
            <a:endParaRPr sz="1700" lang="ja-JP">
              <a:latin typeface="Noto Sans"/>
              <a:ea typeface="Noto Sans CJK JP"/>
              <a:cs typeface="Noto Sans"/>
            </a:endParaRPr>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https://github.com/rajpurkar/SQuAD-explorer/tree/master/dataset　ID 56bf53e73aeaaa14008c95ce</a:t>
            </a:r>
            <a:endParaRPr sz="850" lang="ja-JP">
              <a:latin typeface="Noto Sans"/>
              <a:ea typeface="Noto Sans CJK JP"/>
              <a:cs typeface="Noto Sans"/>
            </a:endParaRP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最大値の実例 6 European Union law</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sp>
        <p:nvSpPr>
          <p:cNvPr id="4" name="content-text"/>
          <p:cNvSpPr txBox="1"/>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段落文字数 4063／段落単語数 629 </a:t>
            </a:r>
            <a:r>
              <a:rPr sz="2100" b="0" lang="ja-JP">
                <a:solidFill>
                  <a:srgbClr val="303437"/>
                </a:solidFill>
                <a:latin typeface="Noto Sans"/>
                <a:ea typeface="Noto Sans CJK JP"/>
                <a:cs typeface="Noto Sans"/>
              </a:rPr>
              <a:t>[1]</a:t>
            </a:r>
            <a:r>
              <a:rPr sz="2100" b="0" lang="ja-JP">
                <a:solidFill>
                  <a:srgbClr val="303437"/>
                </a:solidFill>
                <a:latin typeface="Noto Sans"/>
                <a:ea typeface="Noto Sans CJK JP"/>
                <a:cs typeface="Noto Sans"/>
              </a:rPr>
              <a:t>。</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The freedom to provide services under TFEU article 56 applies to who?</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to people who give services "for remuneration"</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1.1/dev、2.0/dev。</a:t>
            </a:r>
            <a:endParaRPr sz="1800" lang="ja-JP">
              <a:latin typeface="Noto Sans"/>
              <a:ea typeface="Noto Sans CJK JP"/>
              <a:cs typeface="Noto Sans"/>
            </a:endParaRPr>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記事名 European_Union_law　https://github.com/rajpurkar/SQuAD-explorer/tree/master/dataset　ID 5726c3da708984140094d0d9</a:t>
            </a:r>
            <a:endParaRPr sz="850" lang="ja-JP">
              <a:latin typeface="Noto Sans"/>
              <a:ea typeface="Noto Sans CJK JP"/>
              <a:cs typeface="Noto Sans"/>
            </a:endParaRP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最大値の原文 6 European Union law</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Wikipedia記事の段落から再抜粋（段落全体の長さとは異なる）。</a:t>
            </a:r>
            <a:endParaRPr sz="1700" lang="ja-JP">
              <a:latin typeface="Noto Sans"/>
              <a:ea typeface="Noto Sans CJK JP"/>
              <a:cs typeface="Noto Sans"/>
            </a:endParaRPr>
          </a:p>
        </p:txBody>
      </p:sp>
      <p:sp>
        <p:nvSpPr>
          <p:cNvPr id="5" name="quote-frame"/>
          <p:cNvSpPr/>
          <p:nvPr/>
        </p:nvSpPr>
        <p:spPr>
          <a:xfrm>
            <a:off x="548640" y="1883760"/>
            <a:ext cx="8046720" cy="222807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The "freedom to provide services" under TFEU article 56 applies to people who give services "for remuneration", especially commercial or professional activity. For example, in Van Binsbergen v Bestuur van de Bedrijfvereniging voor de Metaalnijverheid a Dutch lawyer moved to Belgium while advising a client in a social security case, and was told he could not continue because Dutch law said only people established in the Netherlands could give legal advice.</a:t>
            </a:r>
            <a:endParaRPr sz="1700" lang="ja-JP">
              <a:latin typeface="Noto Sans"/>
              <a:ea typeface="Noto Sans CJK JP"/>
              <a:cs typeface="Noto Sans"/>
            </a:endParaRPr>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https://github.com/rajpurkar/SQuAD-explorer/tree/master/dataset　ID 5726c3da708984140094d0d9</a:t>
            </a:r>
            <a:endParaRPr sz="850" lang="ja-JP">
              <a:latin typeface="Noto Sans"/>
              <a:ea typeface="Noto Sans CJK JP"/>
              <a:cs typeface="Noto Sans"/>
            </a:endParaRP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最大値の実例 7 French and Indian War</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sp>
        <p:nvSpPr>
          <p:cNvPr id="4" name="content-text"/>
          <p:cNvSpPr txBox="1"/>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回答文字数 160 </a:t>
            </a:r>
            <a:r>
              <a:rPr sz="2100" b="0" lang="ja-JP">
                <a:solidFill>
                  <a:srgbClr val="303437"/>
                </a:solidFill>
                <a:latin typeface="Noto Sans"/>
                <a:ea typeface="Noto Sans CJK JP"/>
                <a:cs typeface="Noto Sans"/>
              </a:rPr>
              <a:t>[1]</a:t>
            </a:r>
            <a:r>
              <a:rPr sz="2100" b="0" lang="ja-JP">
                <a:solidFill>
                  <a:srgbClr val="303437"/>
                </a:solidFill>
                <a:latin typeface="Noto Sans"/>
                <a:ea typeface="Noto Sans CJK JP"/>
                <a:cs typeface="Noto Sans"/>
              </a:rPr>
              <a:t>。</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What was normal British defense?</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mustered local militia companies, generally ill trained and available only for short periods, to deal with native threats, but did not have any standing forces.</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1.1/dev、2.0/dev。</a:t>
            </a:r>
            <a:endParaRPr sz="1800" lang="ja-JP">
              <a:latin typeface="Noto Sans"/>
              <a:ea typeface="Noto Sans CJK JP"/>
              <a:cs typeface="Noto Sans"/>
            </a:endParaRPr>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記事名 French_and_Indian_War　https://github.com/rajpurkar/SQuAD-explorer/tree/master/dataset　ID 5733dab4d058e614000b640b</a:t>
            </a:r>
            <a:endParaRPr sz="850" lang="ja-JP">
              <a:latin typeface="Noto Sans"/>
              <a:ea typeface="Noto Sans CJK JP"/>
              <a:cs typeface="Noto Sans"/>
            </a:endParaRP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最大値の原文 7 French and Indian War</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Wikipedia記事の段落から再抜粋（段落全体の長さとは異なる）。</a:t>
            </a:r>
            <a:endParaRPr sz="1700" lang="ja-JP">
              <a:latin typeface="Noto Sans"/>
              <a:ea typeface="Noto Sans CJK JP"/>
              <a:cs typeface="Noto Sans"/>
            </a:endParaRPr>
          </a:p>
        </p:txBody>
      </p:sp>
      <p:sp>
        <p:nvSpPr>
          <p:cNvPr id="5" name="quote-frame"/>
          <p:cNvSpPr/>
          <p:nvPr/>
        </p:nvSpPr>
        <p:spPr>
          <a:xfrm>
            <a:off x="548640" y="1883760"/>
            <a:ext cx="8046720" cy="193538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New France was defended by about 3,000 troupes de la marine, companies of colonial regulars (some of whom had significant woodland combat experience). The colonial government recruited militia support when needed. Most British colonies mustered local militia companies, generally ill trained and available only for short periods, to deal with native threats, but did not have any standing forces.</a:t>
            </a:r>
            <a:endParaRPr sz="1700" lang="ja-JP">
              <a:latin typeface="Noto Sans"/>
              <a:ea typeface="Noto Sans CJK JP"/>
              <a:cs typeface="Noto Sans"/>
            </a:endParaRPr>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https://github.com/rajpurkar/SQuAD-explorer/tree/master/dataset　ID 5733dab4d058e614000b640b</a:t>
            </a:r>
            <a:endParaRPr sz="850" lang="ja-JP">
              <a:latin typeface="Noto Sans"/>
              <a:ea typeface="Noto Sans CJK JP"/>
              <a:cs typeface="Noto Sans"/>
            </a:endParaRP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最大値の実例 8 Ctenophora</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sp>
        <p:nvSpPr>
          <p:cNvPr id="4" name="content-text"/>
          <p:cNvSpPr txBox="1"/>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回答単語数 29 </a:t>
            </a:r>
            <a:r>
              <a:rPr sz="2100" b="0" lang="ja-JP">
                <a:solidFill>
                  <a:srgbClr val="303437"/>
                </a:solidFill>
                <a:latin typeface="Noto Sans"/>
                <a:ea typeface="Noto Sans CJK JP"/>
                <a:cs typeface="Noto Sans"/>
              </a:rPr>
              <a:t>[1]</a:t>
            </a:r>
            <a:r>
              <a:rPr sz="2100" b="0" lang="ja-JP">
                <a:solidFill>
                  <a:srgbClr val="303437"/>
                </a:solidFill>
                <a:latin typeface="Noto Sans"/>
                <a:ea typeface="Noto Sans CJK JP"/>
                <a:cs typeface="Noto Sans"/>
              </a:rPr>
              <a:t>。</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What does the internal cavity contain?</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a mouth that can usually be closed by muscles; a pharynx ("throat"); a wider area in the center that acts as a stomach; and a system of internal canals.</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1.1/dev、2.0/dev。</a:t>
            </a:r>
            <a:endParaRPr sz="1800" lang="ja-JP">
              <a:latin typeface="Noto Sans"/>
              <a:ea typeface="Noto Sans CJK JP"/>
              <a:cs typeface="Noto Sans"/>
            </a:endParaRPr>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記事名 Ctenophora　https://github.com/rajpurkar/SQuAD-explorer/tree/master/dataset　ID 57264b1ddd62a815002e80a3</a:t>
            </a:r>
            <a:endParaRPr sz="850" lang="ja-JP">
              <a:latin typeface="Noto Sans"/>
              <a:ea typeface="Noto Sans CJK JP"/>
              <a:cs typeface="Noto Sans"/>
            </a:endParaRP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最大値の原文 8 Ctenophora</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Wikipedia記事の段落から再抜粋（段落全体の長さとは異なる）。</a:t>
            </a:r>
            <a:endParaRPr sz="1700" lang="ja-JP">
              <a:latin typeface="Noto Sans"/>
              <a:ea typeface="Noto Sans CJK JP"/>
              <a:cs typeface="Noto Sans"/>
            </a:endParaRPr>
          </a:p>
        </p:txBody>
      </p:sp>
      <p:sp>
        <p:nvSpPr>
          <p:cNvPr id="5" name="quote-frame"/>
          <p:cNvSpPr/>
          <p:nvPr/>
        </p:nvSpPr>
        <p:spPr>
          <a:xfrm>
            <a:off x="548640" y="1883760"/>
            <a:ext cx="8046720" cy="222807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The internal cavity forms: a mouth that can usually be closed by muscles; a pharynx ("throat"); a wider area in the center that acts as a stomach; and a system of internal canals. These branch through the mesoglea to the most active parts of the animal: the mouth and pharynx; the roots of the tentacles, if present; all along the underside of each comb row; and four branches round the sensory complex at the far end from the mouth – two of these four branches terminate in anal pores.</a:t>
            </a:r>
            <a:endParaRPr sz="1700" lang="ja-JP">
              <a:latin typeface="Noto Sans"/>
              <a:ea typeface="Noto Sans CJK JP"/>
              <a:cs typeface="Noto Sans"/>
            </a:endParaRPr>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https://github.com/rajpurkar/SQuAD-explorer/tree/master/dataset　ID 57264b1ddd62a815002e80a3</a:t>
            </a:r>
            <a:endParaRPr sz="850" lang="ja-JP">
              <a:latin typeface="Noto Sans"/>
              <a:ea typeface="Noto Sans CJK JP"/>
              <a:cs typeface="Noto Sans"/>
            </a:endParaRP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最大値の実例 9 European Union law</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sp>
        <p:nvSpPr>
          <p:cNvPr id="4" name="content-text"/>
          <p:cNvSpPr txBox="1"/>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質問単語数 31 [1]</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In which case did the Court of Justice state that refusal to admit a lawyer to the Belgian bar because he did not have Belgian heritage wasn't able to be justified?</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Reyners v Belgium</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2.0/dev。</a:t>
            </a:r>
            <a:endParaRPr sz="1800" lang="ja-JP">
              <a:latin typeface="Noto Sans"/>
              <a:ea typeface="Noto Sans CJK JP"/>
              <a:cs typeface="Noto Sans"/>
            </a:endParaRPr>
          </a:p>
        </p:txBody>
      </p:sp>
      <p:sp>
        <p:nvSpPr>
          <p:cNvPr id="5"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記事名 European_Union_law　https://github.com/rajpurkar/SQuAD-explorer/tree/master/dataset　ID 5726c002708984140094d075</a:t>
            </a:r>
            <a:endParaRPr sz="850" lang="ja-JP">
              <a:latin typeface="Noto Sans"/>
              <a:ea typeface="Noto Sans CJK JP"/>
              <a:cs typeface="Noto Sans"/>
            </a:endParaRP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最大値の原文 9 European Union law</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3 詳細統計と極値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Wikipedia記事の段落から再抜粋（段落全体の長さとは異なる）。</a:t>
            </a:r>
            <a:endParaRPr sz="1700" lang="ja-JP">
              <a:latin typeface="Noto Sans"/>
              <a:ea typeface="Noto Sans CJK JP"/>
              <a:cs typeface="Noto Sans"/>
            </a:endParaRPr>
          </a:p>
        </p:txBody>
      </p:sp>
      <p:sp>
        <p:nvSpPr>
          <p:cNvPr id="5" name="quote-frame"/>
          <p:cNvSpPr/>
          <p:nvPr/>
        </p:nvSpPr>
        <p:spPr>
          <a:xfrm>
            <a:off x="548640" y="1883760"/>
            <a:ext cx="8046720" cy="252074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The Court of Justice has held that both a member state government and a private party can hinder freedom of establishment, so article 49 has both "vertical" and "horizontal" direct effect. In Reyners v Belgium the Court of Justice held that a refusal to admit a lawyer to the Belgian bar because he lacked Belgian nationality was unjustified. TFEU article 49 says states are exempt from infringing others' freedom of establishment when they exercise "official authority", but this did an advocate's work (as opposed to a court's) was not official.</a:t>
            </a:r>
            <a:endParaRPr sz="1700" lang="ja-JP">
              <a:latin typeface="Noto Sans"/>
              <a:ea typeface="Noto Sans CJK JP"/>
              <a:cs typeface="Noto Sans"/>
            </a:endParaRPr>
          </a:p>
        </p:txBody>
      </p:sp>
      <p:sp>
        <p:nvSpPr>
          <p:cNvPr id="7" name="lookup-sources"/>
          <p:cNvSpPr txBox="1"/>
          <p:nvPr/>
        </p:nvSpPr>
        <p:spPr>
          <a:xfrm>
            <a:off x="502920" y="4876800"/>
            <a:ext cx="8183879" cy="20726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https://github.com/rajpurkar/SQuAD-explorer/tree/master/dataset　ID 5726c002708984140094d075</a:t>
            </a:r>
            <a:endParaRPr sz="850" lang="ja-JP">
              <a:latin typeface="Noto Sans"/>
              <a:ea typeface="Noto Sans CJK JP"/>
              <a:cs typeface="Noto Sans"/>
            </a:endParaRP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バージョン2.0のベンチマーク結果</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4 追加の評価結果</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94485"/>
          <a:ext cx="8046717" cy="1800225"/>
        </p:xfrm>
        <a:graphic>
          <a:graphicData uri="http://schemas.openxmlformats.org/drawingml/2006/table">
            <a:tbl>
              <a:tblPr firstRow="1" bandRow="1">
                <a:tableStyleId>{5C22544A-7EE6-4342-B048-85BDC9FD1C3A}</a:tableStyleId>
              </a:tblPr>
              <a:tblGrid>
                <a:gridCol w="2333548"/>
                <a:gridCol w="2655417"/>
                <a:gridCol w="1528876"/>
                <a:gridCol w="1528876"/>
              </a:tblGrid>
              <a:tr h="450056">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モデル [1]</a:t>
                      </a:r>
                      <a:endParaRPr sz="20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提出日</a:t>
                      </a:r>
                      <a:endParaRPr sz="20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EM</a:t>
                      </a:r>
                      <a:endParaRPr sz="20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F1</a:t>
                      </a:r>
                      <a:endParaRPr sz="2000" lang="ja-JP">
                        <a:latin typeface="Noto Sans"/>
                        <a:ea typeface="Noto Sans CJK JP"/>
                        <a:cs typeface="Noto Sans"/>
                      </a:endParaRPr>
                    </a:p>
                  </a:txBody>
                  <a:tcPr marL="38100" marR="38100" marT="38100" marB="38100">
                    <a:lnL w="0">
                      <a:noFill/>
                    </a:lnL>
                    <a:lnR w="0">
                      <a:noFill/>
                    </a:lnR>
                    <a:lnT w="10160">
                      <a:solidFill>
                        <a:srgbClr val="626669"/>
                      </a:solidFill>
                    </a:lnT>
                    <a:lnB w="10160">
                      <a:solidFill>
                        <a:srgbClr val="626669"/>
                      </a:solidFill>
                    </a:lnB>
                    <a:solidFill>
                      <a:srgbClr val="FFFEF8"/>
                    </a:solidFill>
                  </a:tcPr>
                </a:tc>
              </a:tr>
              <a:tr h="450056">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BERT</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2018-11-08</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80.0</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83.1</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450056">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RoBERTa</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2019-07-20</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86.8</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89.8</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450057">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XLNet</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2019-11-15</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87.9</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90.7</a:t>
                      </a:r>
                      <a:endParaRPr sz="2000" lang="ja-JP">
                        <a:latin typeface="Noto Sans"/>
                        <a:ea typeface="Noto Sans CJK JP"/>
                        <a:cs typeface="Noto Sans"/>
                      </a:endParaRPr>
                    </a:p>
                  </a:txBody>
                  <a:tcPr marL="38100" marR="38100" marT="38100" marB="38100">
                    <a:lnL w="0">
                      <a:noFill/>
                    </a:lnL>
                    <a:lnR w="0">
                      <a:noFill/>
                    </a:lnR>
                    <a:lnT w="0">
                      <a:noFill/>
                    </a:lnT>
                    <a:lnB w="10160">
                      <a:solidFill>
                        <a:srgbClr val="626669"/>
                      </a:solidFill>
                    </a:lnB>
                    <a:solidFill>
                      <a:srgbClr val="FFFEF8"/>
                    </a:solidFill>
                  </a:tcPr>
                </a:tc>
              </a:tr>
            </a:tbl>
          </a:graphicData>
        </a:graphic>
      </p:graphicFrame>
      <p:sp>
        <p:nvSpPr>
          <p:cNvPr id="5" name="content-text"/>
          <p:cNvSpPr txBox="1"/>
          <p:nvPr>
            <p:ph type="body" idx="1"/>
          </p:nvPr>
        </p:nvSpPr>
        <p:spPr>
          <a:xfrm>
            <a:off x="594360" y="3770962"/>
            <a:ext cx="8046720" cy="910766"/>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SQuAD運営者の非公開テストで採点。</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開発用とは別のデータ。各行は単一モデルの提出結果。</a:t>
            </a:r>
            <a:endParaRPr sz="2000" lang="ja-JP">
              <a:latin typeface="Noto Sans"/>
              <a:ea typeface="Noto Sans CJK JP"/>
              <a:cs typeface="Noto Sans"/>
            </a:endParaRPr>
          </a:p>
        </p:txBody>
      </p:sp>
      <p:sp>
        <p:nvSpPr>
          <p:cNvPr id="6"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[1]</a:t>
            </a:r>
            <a:r>
              <a:rPr sz="850" lang="ja-JP">
                <a:solidFill>
                  <a:srgbClr val="626669"/>
                </a:solidFill>
                <a:latin typeface="Noto Sans"/>
                <a:ea typeface="Noto Sans CJK JP"/>
                <a:cs typeface="Noto Sans"/>
              </a:rPr>
              <a:t> 掲載された提出結果（EM・F1は%）。</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https://rajpurkar.github.io/SQuAD-explorer/</a:t>
            </a:r>
            <a:endParaRPr sz="850" lang="ja-JP">
              <a:latin typeface="Noto Sans"/>
              <a:ea typeface="Noto Sans CJK JP"/>
              <a:cs typeface="Noto Sans"/>
            </a:endParaRP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開発用 Wikipedia 記事一覧 1/2</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5 Wikipedia記事一覧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バージョン1.1では、48記事／2.0 このうち35記事。</a:t>
            </a:r>
            <a:endParaRPr sz="1800" lang="ja-JP">
              <a:latin typeface="Noto Sans"/>
              <a:ea typeface="Noto Sans CJK JP"/>
              <a:cs typeface="Noto Sans"/>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1973_oil_crisis</a:t>
            </a:r>
            <a:endParaRPr sz="1250" lang="ja-JP">
              <a:latin typeface="Noto Sans"/>
              <a:ea typeface="Noto Sans CJK JP"/>
              <a:cs typeface="Noto Sans"/>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Amazon_rainforest</a:t>
            </a:r>
            <a:endParaRPr sz="1250" lang="ja-JP">
              <a:latin typeface="Noto Sans"/>
              <a:ea typeface="Noto Sans CJK JP"/>
              <a:cs typeface="Noto Sans"/>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American_Broadcasting_Company *</a:t>
            </a:r>
            <a:endParaRPr sz="1250" lang="ja-JP">
              <a:latin typeface="Noto Sans"/>
              <a:ea typeface="Noto Sans CJK JP"/>
              <a:cs typeface="Noto Sans"/>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Apollo_program *</a:t>
            </a:r>
            <a:endParaRPr sz="1250" lang="ja-JP">
              <a:latin typeface="Noto Sans"/>
              <a:ea typeface="Noto Sans CJK JP"/>
              <a:cs typeface="Noto Sans"/>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Black_Death</a:t>
            </a:r>
            <a:endParaRPr sz="1250" lang="ja-JP">
              <a:latin typeface="Noto Sans"/>
              <a:ea typeface="Noto Sans CJK JP"/>
              <a:cs typeface="Noto Sans"/>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Chloroplast *</a:t>
            </a:r>
            <a:endParaRPr sz="1250" lang="ja-JP">
              <a:latin typeface="Noto Sans"/>
              <a:ea typeface="Noto Sans CJK JP"/>
              <a:cs typeface="Noto Sans"/>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Civil_disobedience</a:t>
            </a:r>
            <a:endParaRPr sz="1250" lang="ja-JP">
              <a:latin typeface="Noto Sans"/>
              <a:ea typeface="Noto Sans CJK JP"/>
              <a:cs typeface="Noto Sans"/>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Computational_complexity_theory</a:t>
            </a:r>
            <a:endParaRPr sz="1250" lang="ja-JP">
              <a:latin typeface="Noto Sans"/>
              <a:ea typeface="Noto Sans CJK JP"/>
              <a:cs typeface="Noto Sans"/>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Construction</a:t>
            </a:r>
            <a:endParaRPr sz="1250" lang="ja-JP">
              <a:latin typeface="Noto Sans"/>
              <a:ea typeface="Noto Sans CJK JP"/>
              <a:cs typeface="Noto Sans"/>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Ctenophora</a:t>
            </a:r>
            <a:endParaRPr sz="1250" lang="ja-JP">
              <a:latin typeface="Noto Sans"/>
              <a:ea typeface="Noto Sans CJK JP"/>
              <a:cs typeface="Noto Sans"/>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Doctor_Who *</a:t>
            </a:r>
            <a:endParaRPr sz="1250" lang="ja-JP">
              <a:latin typeface="Noto Sans"/>
              <a:ea typeface="Noto Sans CJK JP"/>
              <a:cs typeface="Noto Sans"/>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Economic_inequality</a:t>
            </a:r>
            <a:endParaRPr sz="1250" lang="ja-JP">
              <a:latin typeface="Noto Sans"/>
              <a:ea typeface="Noto Sans CJK JP"/>
              <a:cs typeface="Noto Sans"/>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European_Union_law</a:t>
            </a:r>
            <a:endParaRPr sz="1250" lang="ja-JP">
              <a:latin typeface="Noto Sans"/>
              <a:ea typeface="Noto Sans CJK JP"/>
              <a:cs typeface="Noto Sans"/>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Force</a:t>
            </a:r>
            <a:endParaRPr sz="1250" lang="ja-JP">
              <a:latin typeface="Noto Sans"/>
              <a:ea typeface="Noto Sans CJK JP"/>
              <a:cs typeface="Noto Sans"/>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French_and_Indian_War</a:t>
            </a:r>
            <a:endParaRPr sz="1250" lang="ja-JP">
              <a:latin typeface="Noto Sans"/>
              <a:ea typeface="Noto Sans CJK JP"/>
              <a:cs typeface="Noto Sans"/>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Fresno,_California</a:t>
            </a:r>
            <a:endParaRPr sz="1250" lang="ja-JP">
              <a:latin typeface="Noto Sans"/>
              <a:ea typeface="Noto Sans CJK JP"/>
              <a:cs typeface="Noto Sans"/>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Genghis_Khan *</a:t>
            </a:r>
            <a:endParaRPr sz="1250" lang="ja-JP">
              <a:latin typeface="Noto Sans"/>
              <a:ea typeface="Noto Sans CJK JP"/>
              <a:cs typeface="Noto Sans"/>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Geology</a:t>
            </a:r>
            <a:endParaRPr sz="1250" lang="ja-JP">
              <a:latin typeface="Noto Sans"/>
              <a:ea typeface="Noto Sans CJK JP"/>
              <a:cs typeface="Noto Sans"/>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Harvard_University</a:t>
            </a:r>
            <a:endParaRPr sz="1250" lang="ja-JP">
              <a:latin typeface="Noto Sans"/>
              <a:ea typeface="Noto Sans CJK JP"/>
              <a:cs typeface="Noto Sans"/>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Huguenot</a:t>
            </a:r>
            <a:endParaRPr sz="1250" lang="ja-JP">
              <a:latin typeface="Noto Sans"/>
              <a:ea typeface="Noto Sans CJK JP"/>
              <a:cs typeface="Noto Sans"/>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Immune_system</a:t>
            </a:r>
            <a:endParaRPr sz="1250" lang="ja-JP">
              <a:latin typeface="Noto Sans"/>
              <a:ea typeface="Noto Sans CJK JP"/>
              <a:cs typeface="Noto Sans"/>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Imperialism</a:t>
            </a:r>
            <a:endParaRPr sz="1250" lang="ja-JP">
              <a:latin typeface="Noto Sans"/>
              <a:ea typeface="Noto Sans CJK JP"/>
              <a:cs typeface="Noto Sans"/>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Intergovernmental_Panel_on_Climate_Change</a:t>
            </a:r>
            <a:endParaRPr sz="1250" lang="ja-JP">
              <a:latin typeface="Noto Sans"/>
              <a:ea typeface="Noto Sans CJK JP"/>
              <a:cs typeface="Noto Sans"/>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Islamism</a:t>
            </a:r>
            <a:endParaRPr sz="1250" lang="ja-JP">
              <a:latin typeface="Noto Sans"/>
              <a:ea typeface="Noto Sans CJK JP"/>
              <a:cs typeface="Noto Sans"/>
            </a:endParaRPr>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 はバージョン1.1のみに含まれる開発用記事。</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https://github.com/rajpurkar/SQuAD-explorer/tree/master/dataset</a:t>
            </a:r>
            <a:endParaRPr sz="850" lang="ja-JP">
              <a:latin typeface="Noto Sans"/>
              <a:ea typeface="Noto Sans CJK JP"/>
              <a:cs typeface="Noto Sans"/>
            </a:endParaRP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開発用 Wikipedia 記事一覧 2/2</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5 Wikipedia記事一覧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バージョン1.1では、48記事／2.0 このうち35記事。</a:t>
            </a:r>
            <a:endParaRPr sz="1800" lang="ja-JP">
              <a:latin typeface="Noto Sans"/>
              <a:ea typeface="Noto Sans CJK JP"/>
              <a:cs typeface="Noto Sans"/>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Jacksonville,_Florida</a:t>
            </a:r>
            <a:endParaRPr sz="1250" lang="ja-JP">
              <a:latin typeface="Noto Sans"/>
              <a:ea typeface="Noto Sans CJK JP"/>
              <a:cs typeface="Noto Sans"/>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Kenya *</a:t>
            </a:r>
            <a:endParaRPr sz="1250" lang="ja-JP">
              <a:latin typeface="Noto Sans"/>
              <a:ea typeface="Noto Sans CJK JP"/>
              <a:cs typeface="Noto Sans"/>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Martin_Luther *</a:t>
            </a:r>
            <a:endParaRPr sz="1250" lang="ja-JP">
              <a:latin typeface="Noto Sans"/>
              <a:ea typeface="Noto Sans CJK JP"/>
              <a:cs typeface="Noto Sans"/>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Newcastle_upon_Tyne *</a:t>
            </a:r>
            <a:endParaRPr sz="1250" lang="ja-JP">
              <a:latin typeface="Noto Sans"/>
              <a:ea typeface="Noto Sans CJK JP"/>
              <a:cs typeface="Noto Sans"/>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Nikola_Tesla *</a:t>
            </a:r>
            <a:endParaRPr sz="1250" lang="ja-JP">
              <a:latin typeface="Noto Sans"/>
              <a:ea typeface="Noto Sans CJK JP"/>
              <a:cs typeface="Noto Sans"/>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Normans</a:t>
            </a:r>
            <a:endParaRPr sz="1250" lang="ja-JP">
              <a:latin typeface="Noto Sans"/>
              <a:ea typeface="Noto Sans CJK JP"/>
              <a:cs typeface="Noto Sans"/>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Oxygen</a:t>
            </a:r>
            <a:endParaRPr sz="1250" lang="ja-JP">
              <a:latin typeface="Noto Sans"/>
              <a:ea typeface="Noto Sans CJK JP"/>
              <a:cs typeface="Noto Sans"/>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Packet_switching</a:t>
            </a:r>
            <a:endParaRPr sz="1250" lang="ja-JP">
              <a:latin typeface="Noto Sans"/>
              <a:ea typeface="Noto Sans CJK JP"/>
              <a:cs typeface="Noto Sans"/>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Pharmacy</a:t>
            </a:r>
            <a:endParaRPr sz="1250" lang="ja-JP">
              <a:latin typeface="Noto Sans"/>
              <a:ea typeface="Noto Sans CJK JP"/>
              <a:cs typeface="Noto Sans"/>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Prime_number</a:t>
            </a:r>
            <a:endParaRPr sz="1250" lang="ja-JP">
              <a:latin typeface="Noto Sans"/>
              <a:ea typeface="Noto Sans CJK JP"/>
              <a:cs typeface="Noto Sans"/>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Private_school</a:t>
            </a:r>
            <a:endParaRPr sz="1250" lang="ja-JP">
              <a:latin typeface="Noto Sans"/>
              <a:ea typeface="Noto Sans CJK JP"/>
              <a:cs typeface="Noto Sans"/>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Rhine</a:t>
            </a:r>
            <a:endParaRPr sz="1250" lang="ja-JP">
              <a:latin typeface="Noto Sans"/>
              <a:ea typeface="Noto Sans CJK JP"/>
              <a:cs typeface="Noto Sans"/>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Scottish_Parliament</a:t>
            </a:r>
            <a:endParaRPr sz="1250" lang="ja-JP">
              <a:latin typeface="Noto Sans"/>
              <a:ea typeface="Noto Sans CJK JP"/>
              <a:cs typeface="Noto Sans"/>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Sky_(United_Kingdom)</a:t>
            </a:r>
            <a:endParaRPr sz="1250" lang="ja-JP">
              <a:latin typeface="Noto Sans"/>
              <a:ea typeface="Noto Sans CJK JP"/>
              <a:cs typeface="Noto Sans"/>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Southern_California</a:t>
            </a:r>
            <a:endParaRPr sz="1250" lang="ja-JP">
              <a:latin typeface="Noto Sans"/>
              <a:ea typeface="Noto Sans CJK JP"/>
              <a:cs typeface="Noto Sans"/>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Steam_engine</a:t>
            </a:r>
            <a:endParaRPr sz="1250" lang="ja-JP">
              <a:latin typeface="Noto Sans"/>
              <a:ea typeface="Noto Sans CJK JP"/>
              <a:cs typeface="Noto Sans"/>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Super_Bowl_50 *</a:t>
            </a:r>
            <a:endParaRPr sz="1250" lang="ja-JP">
              <a:latin typeface="Noto Sans"/>
              <a:ea typeface="Noto Sans CJK JP"/>
              <a:cs typeface="Noto Sans"/>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Teacher *</a:t>
            </a:r>
            <a:endParaRPr sz="1250" lang="ja-JP">
              <a:latin typeface="Noto Sans"/>
              <a:ea typeface="Noto Sans CJK JP"/>
              <a:cs typeface="Noto Sans"/>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United_Methodist_Church *</a:t>
            </a:r>
            <a:endParaRPr sz="1250" lang="ja-JP">
              <a:latin typeface="Noto Sans"/>
              <a:ea typeface="Noto Sans CJK JP"/>
              <a:cs typeface="Noto Sans"/>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University_of_Chicago</a:t>
            </a:r>
            <a:endParaRPr sz="1250" lang="ja-JP">
              <a:latin typeface="Noto Sans"/>
              <a:ea typeface="Noto Sans CJK JP"/>
              <a:cs typeface="Noto Sans"/>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Victoria_(Australia)</a:t>
            </a:r>
            <a:endParaRPr sz="1250" lang="ja-JP">
              <a:latin typeface="Noto Sans"/>
              <a:ea typeface="Noto Sans CJK JP"/>
              <a:cs typeface="Noto Sans"/>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Victoria_and_Albert_Museum *</a:t>
            </a:r>
            <a:endParaRPr sz="1250" lang="ja-JP">
              <a:latin typeface="Noto Sans"/>
              <a:ea typeface="Noto Sans CJK JP"/>
              <a:cs typeface="Noto Sans"/>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Warsaw</a:t>
            </a:r>
            <a:endParaRPr sz="1250" lang="ja-JP">
              <a:latin typeface="Noto Sans"/>
              <a:ea typeface="Noto Sans CJK JP"/>
              <a:cs typeface="Noto Sans"/>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Yuan_dynasty</a:t>
            </a:r>
            <a:endParaRPr sz="1250" lang="ja-JP">
              <a:latin typeface="Noto Sans"/>
              <a:ea typeface="Noto Sans CJK JP"/>
              <a:cs typeface="Noto Sans"/>
            </a:endParaRPr>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 はバージョン1.1のみに含まれる開発用記事。</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https://github.com/rajpurkar/SQuAD-explorer/tree/master/dataset</a:t>
            </a:r>
            <a:endParaRPr sz="850" lang="ja-JP">
              <a:latin typeface="Noto Sans"/>
              <a:ea typeface="Noto Sans CJK JP"/>
              <a:cs typeface="Noto Sans"/>
            </a:endParaRP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学習用 Wikipedia 記事一覧 1/19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5 Wikipedia記事一覧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2008_Sichuan_earthquake</a:t>
            </a:r>
            <a:endParaRPr sz="1250" lang="ja-JP">
              <a:latin typeface="Noto Sans"/>
              <a:ea typeface="Noto Sans CJK JP"/>
              <a:cs typeface="Noto Sans"/>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2008_Summer_Olympics_torch_relay</a:t>
            </a:r>
            <a:endParaRPr sz="1250" lang="ja-JP">
              <a:latin typeface="Noto Sans"/>
              <a:ea typeface="Noto Sans CJK JP"/>
              <a:cs typeface="Noto Sans"/>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51st_state</a:t>
            </a:r>
            <a:endParaRPr sz="1250" lang="ja-JP">
              <a:latin typeface="Noto Sans"/>
              <a:ea typeface="Noto Sans CJK JP"/>
              <a:cs typeface="Noto Sans"/>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A_cappella</a:t>
            </a:r>
            <a:endParaRPr sz="1250" lang="ja-JP">
              <a:latin typeface="Noto Sans"/>
              <a:ea typeface="Noto Sans CJK JP"/>
              <a:cs typeface="Noto Sans"/>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Adolescence</a:t>
            </a:r>
            <a:endParaRPr sz="1250" lang="ja-JP">
              <a:latin typeface="Noto Sans"/>
              <a:ea typeface="Noto Sans CJK JP"/>
              <a:cs typeface="Noto Sans"/>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Adult_contemporary_music</a:t>
            </a:r>
            <a:endParaRPr sz="1250" lang="ja-JP">
              <a:latin typeface="Noto Sans"/>
              <a:ea typeface="Noto Sans CJK JP"/>
              <a:cs typeface="Noto Sans"/>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Affirmative_action_in_the_United_States</a:t>
            </a:r>
            <a:endParaRPr sz="1250" lang="ja-JP">
              <a:latin typeface="Noto Sans"/>
              <a:ea typeface="Noto Sans CJK JP"/>
              <a:cs typeface="Noto Sans"/>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Age_of_Enlightenment</a:t>
            </a:r>
            <a:endParaRPr sz="1250" lang="ja-JP">
              <a:latin typeface="Noto Sans"/>
              <a:ea typeface="Noto Sans CJK JP"/>
              <a:cs typeface="Noto Sans"/>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Aircraft_carrier</a:t>
            </a:r>
            <a:endParaRPr sz="1250" lang="ja-JP">
              <a:latin typeface="Noto Sans"/>
              <a:ea typeface="Noto Sans CJK JP"/>
              <a:cs typeface="Noto Sans"/>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Airport</a:t>
            </a:r>
            <a:endParaRPr sz="1250" lang="ja-JP">
              <a:latin typeface="Noto Sans"/>
              <a:ea typeface="Noto Sans CJK JP"/>
              <a:cs typeface="Noto Sans"/>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Alaska</a:t>
            </a:r>
            <a:endParaRPr sz="1250" lang="ja-JP">
              <a:latin typeface="Noto Sans"/>
              <a:ea typeface="Noto Sans CJK JP"/>
              <a:cs typeface="Noto Sans"/>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Alexander_Graham_Bell</a:t>
            </a:r>
            <a:endParaRPr sz="1250" lang="ja-JP">
              <a:latin typeface="Noto Sans"/>
              <a:ea typeface="Noto Sans CJK JP"/>
              <a:cs typeface="Noto Sans"/>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Alfred_North_Whitehead</a:t>
            </a:r>
            <a:endParaRPr sz="1250" lang="ja-JP">
              <a:latin typeface="Noto Sans"/>
              <a:ea typeface="Noto Sans CJK JP"/>
              <a:cs typeface="Noto Sans"/>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Alloy</a:t>
            </a:r>
            <a:endParaRPr sz="1250" lang="ja-JP">
              <a:latin typeface="Noto Sans"/>
              <a:ea typeface="Noto Sans CJK JP"/>
              <a:cs typeface="Noto Sans"/>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Alps</a:t>
            </a:r>
            <a:endParaRPr sz="1250" lang="ja-JP">
              <a:latin typeface="Noto Sans"/>
              <a:ea typeface="Noto Sans CJK JP"/>
              <a:cs typeface="Noto Sans"/>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Alsace</a:t>
            </a:r>
            <a:endParaRPr sz="1250" lang="ja-JP">
              <a:latin typeface="Noto Sans"/>
              <a:ea typeface="Noto Sans CJK JP"/>
              <a:cs typeface="Noto Sans"/>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American_Idol</a:t>
            </a:r>
            <a:endParaRPr sz="1250" lang="ja-JP">
              <a:latin typeface="Noto Sans"/>
              <a:ea typeface="Noto Sans CJK JP"/>
              <a:cs typeface="Noto Sans"/>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Animal</a:t>
            </a:r>
            <a:endParaRPr sz="1250" lang="ja-JP">
              <a:latin typeface="Noto Sans"/>
              <a:ea typeface="Noto Sans CJK JP"/>
              <a:cs typeface="Noto Sans"/>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Ann_Arbor,_Michigan</a:t>
            </a:r>
            <a:endParaRPr sz="1250" lang="ja-JP">
              <a:latin typeface="Noto Sans"/>
              <a:ea typeface="Noto Sans CJK JP"/>
              <a:cs typeface="Noto Sans"/>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Annelid</a:t>
            </a:r>
            <a:endParaRPr sz="1250" lang="ja-JP">
              <a:latin typeface="Noto Sans"/>
              <a:ea typeface="Noto Sans CJK JP"/>
              <a:cs typeface="Noto Sans"/>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Antarctica</a:t>
            </a:r>
            <a:endParaRPr sz="1250" lang="ja-JP">
              <a:latin typeface="Noto Sans"/>
              <a:ea typeface="Noto Sans CJK JP"/>
              <a:cs typeface="Noto Sans"/>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Antenna_(radio)</a:t>
            </a:r>
            <a:endParaRPr sz="1250" lang="ja-JP">
              <a:latin typeface="Noto Sans"/>
              <a:ea typeface="Noto Sans CJK JP"/>
              <a:cs typeface="Noto Sans"/>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Anthropology</a:t>
            </a:r>
            <a:endParaRPr sz="1250" lang="ja-JP">
              <a:latin typeface="Noto Sans"/>
              <a:ea typeface="Noto Sans CJK JP"/>
              <a:cs typeface="Noto Sans"/>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Anti-aircraft_warfare</a:t>
            </a:r>
            <a:endParaRPr sz="1250" lang="ja-JP">
              <a:latin typeface="Noto Sans"/>
              <a:ea typeface="Noto Sans CJK JP"/>
              <a:cs typeface="Noto Sans"/>
            </a:endParaRPr>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記事名は元JSONの title をそのまま記載。</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https://github.com/rajpurkar/SQuAD-explorer/tree/master/dataset</a:t>
            </a:r>
            <a:endParaRPr sz="850" lang="ja-JP">
              <a:latin typeface="Noto Sans"/>
              <a:ea typeface="Noto Sans CJK JP"/>
              <a:cs typeface="Noto Sans"/>
            </a:endParaRP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学習用 Wikipedia 記事一覧 2/19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5 Wikipedia記事一覧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Antibiotics</a:t>
            </a:r>
            <a:endParaRPr sz="1250" lang="ja-JP">
              <a:latin typeface="Noto Sans"/>
              <a:ea typeface="Noto Sans CJK JP"/>
              <a:cs typeface="Noto Sans"/>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Apollo</a:t>
            </a:r>
            <a:endParaRPr sz="1250" lang="ja-JP">
              <a:latin typeface="Noto Sans"/>
              <a:ea typeface="Noto Sans CJK JP"/>
              <a:cs typeface="Noto Sans"/>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Appalachian_Mountains</a:t>
            </a:r>
            <a:endParaRPr sz="1250" lang="ja-JP">
              <a:latin typeface="Noto Sans"/>
              <a:ea typeface="Noto Sans CJK JP"/>
              <a:cs typeface="Noto Sans"/>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Architecture</a:t>
            </a:r>
            <a:endParaRPr sz="1250" lang="ja-JP">
              <a:latin typeface="Noto Sans"/>
              <a:ea typeface="Noto Sans CJK JP"/>
              <a:cs typeface="Noto Sans"/>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Arena_Football_League</a:t>
            </a:r>
            <a:endParaRPr sz="1250" lang="ja-JP">
              <a:latin typeface="Noto Sans"/>
              <a:ea typeface="Noto Sans CJK JP"/>
              <a:cs typeface="Noto Sans"/>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Armenia</a:t>
            </a:r>
            <a:endParaRPr sz="1250" lang="ja-JP">
              <a:latin typeface="Noto Sans"/>
              <a:ea typeface="Noto Sans CJK JP"/>
              <a:cs typeface="Noto Sans"/>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Armenians</a:t>
            </a:r>
            <a:endParaRPr sz="1250" lang="ja-JP">
              <a:latin typeface="Noto Sans"/>
              <a:ea typeface="Noto Sans CJK JP"/>
              <a:cs typeface="Noto Sans"/>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Arnold_Schwarzenegger</a:t>
            </a:r>
            <a:endParaRPr sz="1250" lang="ja-JP">
              <a:latin typeface="Noto Sans"/>
              <a:ea typeface="Noto Sans CJK JP"/>
              <a:cs typeface="Noto Sans"/>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Arsenal_F.C.</a:t>
            </a:r>
            <a:endParaRPr sz="1250" lang="ja-JP">
              <a:latin typeface="Noto Sans"/>
              <a:ea typeface="Noto Sans CJK JP"/>
              <a:cs typeface="Noto Sans"/>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ASCII</a:t>
            </a:r>
            <a:endParaRPr sz="1250" lang="ja-JP">
              <a:latin typeface="Noto Sans"/>
              <a:ea typeface="Noto Sans CJK JP"/>
              <a:cs typeface="Noto Sans"/>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Ashkenazi_Jews</a:t>
            </a:r>
            <a:endParaRPr sz="1250" lang="ja-JP">
              <a:latin typeface="Noto Sans"/>
              <a:ea typeface="Noto Sans CJK JP"/>
              <a:cs typeface="Noto Sans"/>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Asphalt</a:t>
            </a:r>
            <a:endParaRPr sz="1250" lang="ja-JP">
              <a:latin typeface="Noto Sans"/>
              <a:ea typeface="Noto Sans CJK JP"/>
              <a:cs typeface="Noto Sans"/>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Aspirated_consonant</a:t>
            </a:r>
            <a:endParaRPr sz="1250" lang="ja-JP">
              <a:latin typeface="Noto Sans"/>
              <a:ea typeface="Noto Sans CJK JP"/>
              <a:cs typeface="Noto Sans"/>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Association_football</a:t>
            </a:r>
            <a:endParaRPr sz="1250" lang="ja-JP">
              <a:latin typeface="Noto Sans"/>
              <a:ea typeface="Noto Sans CJK JP"/>
              <a:cs typeface="Noto Sans"/>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Asthma</a:t>
            </a:r>
            <a:endParaRPr sz="1250" lang="ja-JP">
              <a:latin typeface="Noto Sans"/>
              <a:ea typeface="Noto Sans CJK JP"/>
              <a:cs typeface="Noto Sans"/>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Athanasius_of_Alexandria</a:t>
            </a:r>
            <a:endParaRPr sz="1250" lang="ja-JP">
              <a:latin typeface="Noto Sans"/>
              <a:ea typeface="Noto Sans CJK JP"/>
              <a:cs typeface="Noto Sans"/>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Atlantic_City,_New_Jersey</a:t>
            </a:r>
            <a:endParaRPr sz="1250" lang="ja-JP">
              <a:latin typeface="Noto Sans"/>
              <a:ea typeface="Noto Sans CJK JP"/>
              <a:cs typeface="Noto Sans"/>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Avicenna</a:t>
            </a:r>
            <a:endParaRPr sz="1250" lang="ja-JP">
              <a:latin typeface="Noto Sans"/>
              <a:ea typeface="Noto Sans CJK JP"/>
              <a:cs typeface="Noto Sans"/>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Bacteria</a:t>
            </a:r>
            <a:endParaRPr sz="1250" lang="ja-JP">
              <a:latin typeface="Noto Sans"/>
              <a:ea typeface="Noto Sans CJK JP"/>
              <a:cs typeface="Noto Sans"/>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Baptists</a:t>
            </a:r>
            <a:endParaRPr sz="1250" lang="ja-JP">
              <a:latin typeface="Noto Sans"/>
              <a:ea typeface="Noto Sans CJK JP"/>
              <a:cs typeface="Noto Sans"/>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BBC_Television</a:t>
            </a:r>
            <a:endParaRPr sz="1250" lang="ja-JP">
              <a:latin typeface="Noto Sans"/>
              <a:ea typeface="Noto Sans CJK JP"/>
              <a:cs typeface="Noto Sans"/>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Beer</a:t>
            </a:r>
            <a:endParaRPr sz="1250" lang="ja-JP">
              <a:latin typeface="Noto Sans"/>
              <a:ea typeface="Noto Sans CJK JP"/>
              <a:cs typeface="Noto Sans"/>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BeiDou_Navigation_Satellite_System</a:t>
            </a:r>
            <a:endParaRPr sz="1250" lang="ja-JP">
              <a:latin typeface="Noto Sans"/>
              <a:ea typeface="Noto Sans CJK JP"/>
              <a:cs typeface="Noto Sans"/>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Bermuda</a:t>
            </a:r>
            <a:endParaRPr sz="1250" lang="ja-JP">
              <a:latin typeface="Noto Sans"/>
              <a:ea typeface="Noto Sans CJK JP"/>
              <a:cs typeface="Noto Sans"/>
            </a:endParaRPr>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記事名は元JSONの title をそのまま記載。</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https://github.com/rajpurkar/SQuAD-explorer/tree/master/dataset</a:t>
            </a:r>
            <a:endParaRPr sz="850" lang="ja-JP">
              <a:latin typeface="Noto Sans"/>
              <a:ea typeface="Noto Sans CJK JP"/>
              <a:cs typeface="Noto Sans"/>
            </a:endParaRP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学習用 Wikipedia 記事一覧 3/19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5 Wikipedia記事一覧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Bern</a:t>
            </a:r>
            <a:endParaRPr sz="1250" lang="ja-JP">
              <a:latin typeface="Noto Sans"/>
              <a:ea typeface="Noto Sans CJK JP"/>
              <a:cs typeface="Noto Sans"/>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Beyoncé</a:t>
            </a:r>
            <a:endParaRPr sz="1250" lang="ja-JP">
              <a:latin typeface="Noto Sans"/>
              <a:ea typeface="Noto Sans CJK JP"/>
              <a:cs typeface="Noto Sans"/>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Bill_%26_Melinda_Gates_Foundation</a:t>
            </a:r>
            <a:endParaRPr sz="1250" lang="ja-JP">
              <a:latin typeface="Noto Sans"/>
              <a:ea typeface="Noto Sans CJK JP"/>
              <a:cs typeface="Noto Sans"/>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Biodiversity</a:t>
            </a:r>
            <a:endParaRPr sz="1250" lang="ja-JP">
              <a:latin typeface="Noto Sans"/>
              <a:ea typeface="Noto Sans CJK JP"/>
              <a:cs typeface="Noto Sans"/>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Bird</a:t>
            </a:r>
            <a:endParaRPr sz="1250" lang="ja-JP">
              <a:latin typeface="Noto Sans"/>
              <a:ea typeface="Noto Sans CJK JP"/>
              <a:cs typeface="Noto Sans"/>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Bird_migration</a:t>
            </a:r>
            <a:endParaRPr sz="1250" lang="ja-JP">
              <a:latin typeface="Noto Sans"/>
              <a:ea typeface="Noto Sans CJK JP"/>
              <a:cs typeface="Noto Sans"/>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Black_people</a:t>
            </a:r>
            <a:endParaRPr sz="1250" lang="ja-JP">
              <a:latin typeface="Noto Sans"/>
              <a:ea typeface="Noto Sans CJK JP"/>
              <a:cs typeface="Noto Sans"/>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Boston</a:t>
            </a:r>
            <a:endParaRPr sz="1250" lang="ja-JP">
              <a:latin typeface="Noto Sans"/>
              <a:ea typeface="Noto Sans CJK JP"/>
              <a:cs typeface="Noto Sans"/>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Botany</a:t>
            </a:r>
            <a:endParaRPr sz="1250" lang="ja-JP">
              <a:latin typeface="Noto Sans"/>
              <a:ea typeface="Noto Sans CJK JP"/>
              <a:cs typeface="Noto Sans"/>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Brain</a:t>
            </a:r>
            <a:endParaRPr sz="1250" lang="ja-JP">
              <a:latin typeface="Noto Sans"/>
              <a:ea typeface="Noto Sans CJK JP"/>
              <a:cs typeface="Noto Sans"/>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Bras%C3%ADlia</a:t>
            </a:r>
            <a:endParaRPr sz="1250" lang="ja-JP">
              <a:latin typeface="Noto Sans"/>
              <a:ea typeface="Noto Sans CJK JP"/>
              <a:cs typeface="Noto Sans"/>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Brigham_Young_University</a:t>
            </a:r>
            <a:endParaRPr sz="1250" lang="ja-JP">
              <a:latin typeface="Noto Sans"/>
              <a:ea typeface="Noto Sans CJK JP"/>
              <a:cs typeface="Noto Sans"/>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British_Empire</a:t>
            </a:r>
            <a:endParaRPr sz="1250" lang="ja-JP">
              <a:latin typeface="Noto Sans"/>
              <a:ea typeface="Noto Sans CJK JP"/>
              <a:cs typeface="Noto Sans"/>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British_Isles</a:t>
            </a:r>
            <a:endParaRPr sz="1250" lang="ja-JP">
              <a:latin typeface="Noto Sans"/>
              <a:ea typeface="Noto Sans CJK JP"/>
              <a:cs typeface="Noto Sans"/>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Buckingham_Palace</a:t>
            </a:r>
            <a:endParaRPr sz="1250" lang="ja-JP">
              <a:latin typeface="Noto Sans"/>
              <a:ea typeface="Noto Sans CJK JP"/>
              <a:cs typeface="Noto Sans"/>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Buddhism</a:t>
            </a:r>
            <a:endParaRPr sz="1250" lang="ja-JP">
              <a:latin typeface="Noto Sans"/>
              <a:ea typeface="Noto Sans CJK JP"/>
              <a:cs typeface="Noto Sans"/>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Canadian_Armed_Forces</a:t>
            </a:r>
            <a:endParaRPr sz="1250" lang="ja-JP">
              <a:latin typeface="Noto Sans"/>
              <a:ea typeface="Noto Sans CJK JP"/>
              <a:cs typeface="Noto Sans"/>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Canadian_football</a:t>
            </a:r>
            <a:endParaRPr sz="1250" lang="ja-JP">
              <a:latin typeface="Noto Sans"/>
              <a:ea typeface="Noto Sans CJK JP"/>
              <a:cs typeface="Noto Sans"/>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Canon_law</a:t>
            </a:r>
            <a:endParaRPr sz="1250" lang="ja-JP">
              <a:latin typeface="Noto Sans"/>
              <a:ea typeface="Noto Sans CJK JP"/>
              <a:cs typeface="Noto Sans"/>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Capacitor</a:t>
            </a:r>
            <a:endParaRPr sz="1250" lang="ja-JP">
              <a:latin typeface="Noto Sans"/>
              <a:ea typeface="Noto Sans CJK JP"/>
              <a:cs typeface="Noto Sans"/>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Capital_punishment_in_the_United_States</a:t>
            </a:r>
            <a:endParaRPr sz="1250" lang="ja-JP">
              <a:latin typeface="Noto Sans"/>
              <a:ea typeface="Noto Sans CJK JP"/>
              <a:cs typeface="Noto Sans"/>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Cardinal_(Catholicism)</a:t>
            </a:r>
            <a:endParaRPr sz="1250" lang="ja-JP">
              <a:latin typeface="Noto Sans"/>
              <a:ea typeface="Noto Sans CJK JP"/>
              <a:cs typeface="Noto Sans"/>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Carnival</a:t>
            </a:r>
            <a:endParaRPr sz="1250" lang="ja-JP">
              <a:latin typeface="Noto Sans"/>
              <a:ea typeface="Noto Sans CJK JP"/>
              <a:cs typeface="Noto Sans"/>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Catalan_language</a:t>
            </a:r>
            <a:endParaRPr sz="1250" lang="ja-JP">
              <a:latin typeface="Noto Sans"/>
              <a:ea typeface="Noto Sans CJK JP"/>
              <a:cs typeface="Noto Sans"/>
            </a:endParaRPr>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記事名は元JSONの title をそのまま記載。</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https://github.com/rajpurkar/SQuAD-explorer/tree/master/dataset</a:t>
            </a:r>
            <a:endParaRPr sz="850" lang="ja-JP">
              <a:latin typeface="Noto Sans"/>
              <a:ea typeface="Noto Sans CJK JP"/>
              <a:cs typeface="Noto Sans"/>
            </a:endParaRP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学習用 Wikipedia 記事一覧 4/19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5 Wikipedia記事一覧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CBC_Television</a:t>
            </a:r>
            <a:endParaRPr sz="1250" lang="ja-JP">
              <a:latin typeface="Noto Sans"/>
              <a:ea typeface="Noto Sans CJK JP"/>
              <a:cs typeface="Noto Sans"/>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Central_African_Republic</a:t>
            </a:r>
            <a:endParaRPr sz="1250" lang="ja-JP">
              <a:latin typeface="Noto Sans"/>
              <a:ea typeface="Noto Sans CJK JP"/>
              <a:cs typeface="Noto Sans"/>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Central_Intelligence_Agency</a:t>
            </a:r>
            <a:endParaRPr sz="1250" lang="ja-JP">
              <a:latin typeface="Noto Sans"/>
              <a:ea typeface="Noto Sans CJK JP"/>
              <a:cs typeface="Noto Sans"/>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Charleston,_South_Carolina</a:t>
            </a:r>
            <a:endParaRPr sz="1250" lang="ja-JP">
              <a:latin typeface="Noto Sans"/>
              <a:ea typeface="Noto Sans CJK JP"/>
              <a:cs typeface="Noto Sans"/>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Chicago_Cubs</a:t>
            </a:r>
            <a:endParaRPr sz="1250" lang="ja-JP">
              <a:latin typeface="Noto Sans"/>
              <a:ea typeface="Noto Sans CJK JP"/>
              <a:cs typeface="Noto Sans"/>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Chihuahua_(state)</a:t>
            </a:r>
            <a:endParaRPr sz="1250" lang="ja-JP">
              <a:latin typeface="Noto Sans"/>
              <a:ea typeface="Noto Sans CJK JP"/>
              <a:cs typeface="Noto Sans"/>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Child_labour</a:t>
            </a:r>
            <a:endParaRPr sz="1250" lang="ja-JP">
              <a:latin typeface="Noto Sans"/>
              <a:ea typeface="Noto Sans CJK JP"/>
              <a:cs typeface="Noto Sans"/>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Chinese_characters</a:t>
            </a:r>
            <a:endParaRPr sz="1250" lang="ja-JP">
              <a:latin typeface="Noto Sans"/>
              <a:ea typeface="Noto Sans CJK JP"/>
              <a:cs typeface="Noto Sans"/>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Christian</a:t>
            </a:r>
            <a:endParaRPr sz="1250" lang="ja-JP">
              <a:latin typeface="Noto Sans"/>
              <a:ea typeface="Noto Sans CJK JP"/>
              <a:cs typeface="Noto Sans"/>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Circadian_rhythm</a:t>
            </a:r>
            <a:endParaRPr sz="1250" lang="ja-JP">
              <a:latin typeface="Noto Sans"/>
              <a:ea typeface="Noto Sans CJK JP"/>
              <a:cs typeface="Noto Sans"/>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Classical_music</a:t>
            </a:r>
            <a:endParaRPr sz="1250" lang="ja-JP">
              <a:latin typeface="Noto Sans"/>
              <a:ea typeface="Noto Sans CJK JP"/>
              <a:cs typeface="Noto Sans"/>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Clothing</a:t>
            </a:r>
            <a:endParaRPr sz="1250" lang="ja-JP">
              <a:latin typeface="Noto Sans"/>
              <a:ea typeface="Noto Sans CJK JP"/>
              <a:cs typeface="Noto Sans"/>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Comcast</a:t>
            </a:r>
            <a:endParaRPr sz="1250" lang="ja-JP">
              <a:latin typeface="Noto Sans"/>
              <a:ea typeface="Noto Sans CJK JP"/>
              <a:cs typeface="Noto Sans"/>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Comics</a:t>
            </a:r>
            <a:endParaRPr sz="1250" lang="ja-JP">
              <a:latin typeface="Noto Sans"/>
              <a:ea typeface="Noto Sans CJK JP"/>
              <a:cs typeface="Noto Sans"/>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Communication</a:t>
            </a:r>
            <a:endParaRPr sz="1250" lang="ja-JP">
              <a:latin typeface="Noto Sans"/>
              <a:ea typeface="Noto Sans CJK JP"/>
              <a:cs typeface="Noto Sans"/>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Communications_in_Somalia</a:t>
            </a:r>
            <a:endParaRPr sz="1250" lang="ja-JP">
              <a:latin typeface="Noto Sans"/>
              <a:ea typeface="Noto Sans CJK JP"/>
              <a:cs typeface="Noto Sans"/>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Compact_disc</a:t>
            </a:r>
            <a:endParaRPr sz="1250" lang="ja-JP">
              <a:latin typeface="Noto Sans"/>
              <a:ea typeface="Noto Sans CJK JP"/>
              <a:cs typeface="Noto Sans"/>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Comprehensive_school</a:t>
            </a:r>
            <a:endParaRPr sz="1250" lang="ja-JP">
              <a:latin typeface="Noto Sans"/>
              <a:ea typeface="Noto Sans CJK JP"/>
              <a:cs typeface="Noto Sans"/>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Computer</a:t>
            </a:r>
            <a:endParaRPr sz="1250" lang="ja-JP">
              <a:latin typeface="Noto Sans"/>
              <a:ea typeface="Noto Sans CJK JP"/>
              <a:cs typeface="Noto Sans"/>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Computer_security</a:t>
            </a:r>
            <a:endParaRPr sz="1250" lang="ja-JP">
              <a:latin typeface="Noto Sans"/>
              <a:ea typeface="Noto Sans CJK JP"/>
              <a:cs typeface="Noto Sans"/>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Copper</a:t>
            </a:r>
            <a:endParaRPr sz="1250" lang="ja-JP">
              <a:latin typeface="Noto Sans"/>
              <a:ea typeface="Noto Sans CJK JP"/>
              <a:cs typeface="Noto Sans"/>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Copyright_infringement</a:t>
            </a:r>
            <a:endParaRPr sz="1250" lang="ja-JP">
              <a:latin typeface="Noto Sans"/>
              <a:ea typeface="Noto Sans CJK JP"/>
              <a:cs typeface="Noto Sans"/>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Cork_(city)</a:t>
            </a:r>
            <a:endParaRPr sz="1250" lang="ja-JP">
              <a:latin typeface="Noto Sans"/>
              <a:ea typeface="Noto Sans CJK JP"/>
              <a:cs typeface="Noto Sans"/>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Cotton</a:t>
            </a:r>
            <a:endParaRPr sz="1250" lang="ja-JP">
              <a:latin typeface="Noto Sans"/>
              <a:ea typeface="Noto Sans CJK JP"/>
              <a:cs typeface="Noto Sans"/>
            </a:endParaRPr>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記事名は元JSONの title をそのまま記載。</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https://github.com/rajpurkar/SQuAD-explorer/tree/master/dataset</a:t>
            </a:r>
            <a:endParaRPr sz="850" lang="ja-JP">
              <a:latin typeface="Noto Sans"/>
              <a:ea typeface="Noto Sans CJK JP"/>
              <a:cs typeface="Noto Sans"/>
            </a:endParaRP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学習用 Wikipedia 記事一覧 5/19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5 Wikipedia記事一覧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Crimean_War</a:t>
            </a:r>
            <a:endParaRPr sz="1250" lang="ja-JP">
              <a:latin typeface="Noto Sans"/>
              <a:ea typeface="Noto Sans CJK JP"/>
              <a:cs typeface="Noto Sans"/>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Crucifixion_of_Jesus</a:t>
            </a:r>
            <a:endParaRPr sz="1250" lang="ja-JP">
              <a:latin typeface="Noto Sans"/>
              <a:ea typeface="Noto Sans CJK JP"/>
              <a:cs typeface="Noto Sans"/>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Cubism</a:t>
            </a:r>
            <a:endParaRPr sz="1250" lang="ja-JP">
              <a:latin typeface="Noto Sans"/>
              <a:ea typeface="Noto Sans CJK JP"/>
              <a:cs typeface="Noto Sans"/>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Culture</a:t>
            </a:r>
            <a:endParaRPr sz="1250" lang="ja-JP">
              <a:latin typeface="Noto Sans"/>
              <a:ea typeface="Noto Sans CJK JP"/>
              <a:cs typeface="Noto Sans"/>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Cyprus</a:t>
            </a:r>
            <a:endParaRPr sz="1250" lang="ja-JP">
              <a:latin typeface="Noto Sans"/>
              <a:ea typeface="Noto Sans CJK JP"/>
              <a:cs typeface="Noto Sans"/>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Czech_language</a:t>
            </a:r>
            <a:endParaRPr sz="1250" lang="ja-JP">
              <a:latin typeface="Noto Sans"/>
              <a:ea typeface="Noto Sans CJK JP"/>
              <a:cs typeface="Noto Sans"/>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Data_compression</a:t>
            </a:r>
            <a:endParaRPr sz="1250" lang="ja-JP">
              <a:latin typeface="Noto Sans"/>
              <a:ea typeface="Noto Sans CJK JP"/>
              <a:cs typeface="Noto Sans"/>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Database</a:t>
            </a:r>
            <a:endParaRPr sz="1250" lang="ja-JP">
              <a:latin typeface="Noto Sans"/>
              <a:ea typeface="Noto Sans CJK JP"/>
              <a:cs typeface="Noto Sans"/>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Daylight_saving_time</a:t>
            </a:r>
            <a:endParaRPr sz="1250" lang="ja-JP">
              <a:latin typeface="Noto Sans"/>
              <a:ea typeface="Noto Sans CJK JP"/>
              <a:cs typeface="Noto Sans"/>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Dell</a:t>
            </a:r>
            <a:endParaRPr sz="1250" lang="ja-JP">
              <a:latin typeface="Noto Sans"/>
              <a:ea typeface="Noto Sans CJK JP"/>
              <a:cs typeface="Noto Sans"/>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Department_store</a:t>
            </a:r>
            <a:endParaRPr sz="1250" lang="ja-JP">
              <a:latin typeface="Noto Sans"/>
              <a:ea typeface="Noto Sans CJK JP"/>
              <a:cs typeface="Noto Sans"/>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Detroit</a:t>
            </a:r>
            <a:endParaRPr sz="1250" lang="ja-JP">
              <a:latin typeface="Noto Sans"/>
              <a:ea typeface="Noto Sans CJK JP"/>
              <a:cs typeface="Noto Sans"/>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Dialect</a:t>
            </a:r>
            <a:endParaRPr sz="1250" lang="ja-JP">
              <a:latin typeface="Noto Sans"/>
              <a:ea typeface="Noto Sans CJK JP"/>
              <a:cs typeface="Noto Sans"/>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Diarrhea</a:t>
            </a:r>
            <a:endParaRPr sz="1250" lang="ja-JP">
              <a:latin typeface="Noto Sans"/>
              <a:ea typeface="Noto Sans CJK JP"/>
              <a:cs typeface="Noto Sans"/>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Digestion</a:t>
            </a:r>
            <a:endParaRPr sz="1250" lang="ja-JP">
              <a:latin typeface="Noto Sans"/>
              <a:ea typeface="Noto Sans CJK JP"/>
              <a:cs typeface="Noto Sans"/>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Digimon</a:t>
            </a:r>
            <a:endParaRPr sz="1250" lang="ja-JP">
              <a:latin typeface="Noto Sans"/>
              <a:ea typeface="Noto Sans CJK JP"/>
              <a:cs typeface="Noto Sans"/>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Dissolution_of_the_Soviet_Union</a:t>
            </a:r>
            <a:endParaRPr sz="1250" lang="ja-JP">
              <a:latin typeface="Noto Sans"/>
              <a:ea typeface="Noto Sans CJK JP"/>
              <a:cs typeface="Noto Sans"/>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Dog</a:t>
            </a:r>
            <a:endParaRPr sz="1250" lang="ja-JP">
              <a:latin typeface="Noto Sans"/>
              <a:ea typeface="Noto Sans CJK JP"/>
              <a:cs typeface="Noto Sans"/>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Dominican_Order</a:t>
            </a:r>
            <a:endParaRPr sz="1250" lang="ja-JP">
              <a:latin typeface="Noto Sans"/>
              <a:ea typeface="Noto Sans CJK JP"/>
              <a:cs typeface="Noto Sans"/>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Dutch_language</a:t>
            </a:r>
            <a:endParaRPr sz="1250" lang="ja-JP">
              <a:latin typeface="Noto Sans"/>
              <a:ea typeface="Noto Sans CJK JP"/>
              <a:cs typeface="Noto Sans"/>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Dutch_Republic</a:t>
            </a:r>
            <a:endParaRPr sz="1250" lang="ja-JP">
              <a:latin typeface="Noto Sans"/>
              <a:ea typeface="Noto Sans CJK JP"/>
              <a:cs typeface="Noto Sans"/>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Dwight_D._Eisenhower</a:t>
            </a:r>
            <a:endParaRPr sz="1250" lang="ja-JP">
              <a:latin typeface="Noto Sans"/>
              <a:ea typeface="Noto Sans CJK JP"/>
              <a:cs typeface="Noto Sans"/>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East_India_Company</a:t>
            </a:r>
            <a:endParaRPr sz="1250" lang="ja-JP">
              <a:latin typeface="Noto Sans"/>
              <a:ea typeface="Noto Sans CJK JP"/>
              <a:cs typeface="Noto Sans"/>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East_Prussia</a:t>
            </a:r>
            <a:endParaRPr sz="1250" lang="ja-JP">
              <a:latin typeface="Noto Sans"/>
              <a:ea typeface="Noto Sans CJK JP"/>
              <a:cs typeface="Noto Sans"/>
            </a:endParaRPr>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記事名は元JSONの title をそのまま記載。</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https://github.com/rajpurkar/SQuAD-explorer/tree/master/dataset</a:t>
            </a:r>
            <a:endParaRPr sz="850" lang="ja-JP">
              <a:latin typeface="Noto Sans"/>
              <a:ea typeface="Noto Sans CJK JP"/>
              <a:cs typeface="Noto Sans"/>
            </a:endParaRP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学習用 Wikipedia 記事一覧 6/19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5 Wikipedia記事一覧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Economy_of_Greece</a:t>
            </a:r>
            <a:endParaRPr sz="1250" lang="ja-JP">
              <a:latin typeface="Noto Sans"/>
              <a:ea typeface="Noto Sans CJK JP"/>
              <a:cs typeface="Noto Sans"/>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Edmund_Burke</a:t>
            </a:r>
            <a:endParaRPr sz="1250" lang="ja-JP">
              <a:latin typeface="Noto Sans"/>
              <a:ea typeface="Noto Sans CJK JP"/>
              <a:cs typeface="Noto Sans"/>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Education</a:t>
            </a:r>
            <a:endParaRPr sz="1250" lang="ja-JP">
              <a:latin typeface="Noto Sans"/>
              <a:ea typeface="Noto Sans CJK JP"/>
              <a:cs typeface="Noto Sans"/>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Egypt</a:t>
            </a:r>
            <a:endParaRPr sz="1250" lang="ja-JP">
              <a:latin typeface="Noto Sans"/>
              <a:ea typeface="Noto Sans CJK JP"/>
              <a:cs typeface="Noto Sans"/>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Electric_motor</a:t>
            </a:r>
            <a:endParaRPr sz="1250" lang="ja-JP">
              <a:latin typeface="Noto Sans"/>
              <a:ea typeface="Noto Sans CJK JP"/>
              <a:cs typeface="Noto Sans"/>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Elevator</a:t>
            </a:r>
            <a:endParaRPr sz="1250" lang="ja-JP">
              <a:latin typeface="Noto Sans"/>
              <a:ea typeface="Noto Sans CJK JP"/>
              <a:cs typeface="Noto Sans"/>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Elizabeth_II</a:t>
            </a:r>
            <a:endParaRPr sz="1250" lang="ja-JP">
              <a:latin typeface="Noto Sans"/>
              <a:ea typeface="Noto Sans CJK JP"/>
              <a:cs typeface="Noto Sans"/>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Emotion</a:t>
            </a:r>
            <a:endParaRPr sz="1250" lang="ja-JP">
              <a:latin typeface="Noto Sans"/>
              <a:ea typeface="Noto Sans CJK JP"/>
              <a:cs typeface="Noto Sans"/>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Empiricism</a:t>
            </a:r>
            <a:endParaRPr sz="1250" lang="ja-JP">
              <a:latin typeface="Noto Sans"/>
              <a:ea typeface="Noto Sans CJK JP"/>
              <a:cs typeface="Noto Sans"/>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Endangered_Species_Act</a:t>
            </a:r>
            <a:endParaRPr sz="1250" lang="ja-JP">
              <a:latin typeface="Noto Sans"/>
              <a:ea typeface="Noto Sans CJK JP"/>
              <a:cs typeface="Noto Sans"/>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Energy</a:t>
            </a:r>
            <a:endParaRPr sz="1250" lang="ja-JP">
              <a:latin typeface="Noto Sans"/>
              <a:ea typeface="Noto Sans CJK JP"/>
              <a:cs typeface="Noto Sans"/>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England_national_football_team</a:t>
            </a:r>
            <a:endParaRPr sz="1250" lang="ja-JP">
              <a:latin typeface="Noto Sans"/>
              <a:ea typeface="Noto Sans CJK JP"/>
              <a:cs typeface="Noto Sans"/>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Eritrea</a:t>
            </a:r>
            <a:endParaRPr sz="1250" lang="ja-JP">
              <a:latin typeface="Noto Sans"/>
              <a:ea typeface="Noto Sans CJK JP"/>
              <a:cs typeface="Noto Sans"/>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Estonia</a:t>
            </a:r>
            <a:endParaRPr sz="1250" lang="ja-JP">
              <a:latin typeface="Noto Sans"/>
              <a:ea typeface="Noto Sans CJK JP"/>
              <a:cs typeface="Noto Sans"/>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Estonian_language</a:t>
            </a:r>
            <a:endParaRPr sz="1250" lang="ja-JP">
              <a:latin typeface="Noto Sans"/>
              <a:ea typeface="Noto Sans CJK JP"/>
              <a:cs typeface="Noto Sans"/>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Eton_College</a:t>
            </a:r>
            <a:endParaRPr sz="1250" lang="ja-JP">
              <a:latin typeface="Noto Sans"/>
              <a:ea typeface="Noto Sans CJK JP"/>
              <a:cs typeface="Noto Sans"/>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European_Central_Bank</a:t>
            </a:r>
            <a:endParaRPr sz="1250" lang="ja-JP">
              <a:latin typeface="Noto Sans"/>
              <a:ea typeface="Noto Sans CJK JP"/>
              <a:cs typeface="Noto Sans"/>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Everton_F.C.</a:t>
            </a:r>
            <a:endParaRPr sz="1250" lang="ja-JP">
              <a:latin typeface="Noto Sans"/>
              <a:ea typeface="Noto Sans CJK JP"/>
              <a:cs typeface="Noto Sans"/>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Exhibition_game</a:t>
            </a:r>
            <a:endParaRPr sz="1250" lang="ja-JP">
              <a:latin typeface="Noto Sans"/>
              <a:ea typeface="Noto Sans CJK JP"/>
              <a:cs typeface="Noto Sans"/>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FA_Cup</a:t>
            </a:r>
            <a:endParaRPr sz="1250" lang="ja-JP">
              <a:latin typeface="Noto Sans"/>
              <a:ea typeface="Noto Sans CJK JP"/>
              <a:cs typeface="Noto Sans"/>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FC_Barcelona</a:t>
            </a:r>
            <a:endParaRPr sz="1250" lang="ja-JP">
              <a:latin typeface="Noto Sans"/>
              <a:ea typeface="Noto Sans CJK JP"/>
              <a:cs typeface="Noto Sans"/>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Federal_Aviation_Administration</a:t>
            </a:r>
            <a:endParaRPr sz="1250" lang="ja-JP">
              <a:latin typeface="Noto Sans"/>
              <a:ea typeface="Noto Sans CJK JP"/>
              <a:cs typeface="Noto Sans"/>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Federal_Bureau_of_Investigation</a:t>
            </a:r>
            <a:endParaRPr sz="1250" lang="ja-JP">
              <a:latin typeface="Noto Sans"/>
              <a:ea typeface="Noto Sans CJK JP"/>
              <a:cs typeface="Noto Sans"/>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Federalism</a:t>
            </a:r>
            <a:endParaRPr sz="1250" lang="ja-JP">
              <a:latin typeface="Noto Sans"/>
              <a:ea typeface="Noto Sans CJK JP"/>
              <a:cs typeface="Noto Sans"/>
            </a:endParaRPr>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記事名は元JSONの title をそのまま記載。</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https://github.com/rajpurkar/SQuAD-explorer/tree/master/dataset</a:t>
            </a:r>
            <a:endParaRPr sz="850" lang="ja-JP">
              <a:latin typeface="Noto Sans"/>
              <a:ea typeface="Noto Sans CJK JP"/>
              <a:cs typeface="Noto Sans"/>
            </a:endParaRP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学習用 Wikipedia 記事一覧 7/19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5 Wikipedia記事一覧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Film_speed</a:t>
            </a:r>
            <a:endParaRPr sz="1250" lang="ja-JP">
              <a:latin typeface="Noto Sans"/>
              <a:ea typeface="Noto Sans CJK JP"/>
              <a:cs typeface="Noto Sans"/>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Financial_crisis_of_2007%E2%80%9308</a:t>
            </a:r>
            <a:endParaRPr sz="1250" lang="ja-JP">
              <a:latin typeface="Noto Sans"/>
              <a:ea typeface="Noto Sans CJK JP"/>
              <a:cs typeface="Noto Sans"/>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Florida</a:t>
            </a:r>
            <a:endParaRPr sz="1250" lang="ja-JP">
              <a:latin typeface="Noto Sans"/>
              <a:ea typeface="Noto Sans CJK JP"/>
              <a:cs typeface="Noto Sans"/>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Flowering_plant</a:t>
            </a:r>
            <a:endParaRPr sz="1250" lang="ja-JP">
              <a:latin typeface="Noto Sans"/>
              <a:ea typeface="Noto Sans CJK JP"/>
              <a:cs typeface="Noto Sans"/>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Franco-Prussian_War</a:t>
            </a:r>
            <a:endParaRPr sz="1250" lang="ja-JP">
              <a:latin typeface="Noto Sans"/>
              <a:ea typeface="Noto Sans CJK JP"/>
              <a:cs typeface="Noto Sans"/>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Freemasonry</a:t>
            </a:r>
            <a:endParaRPr sz="1250" lang="ja-JP">
              <a:latin typeface="Noto Sans"/>
              <a:ea typeface="Noto Sans CJK JP"/>
              <a:cs typeface="Noto Sans"/>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Friedrich_Hayek</a:t>
            </a:r>
            <a:endParaRPr sz="1250" lang="ja-JP">
              <a:latin typeface="Noto Sans"/>
              <a:ea typeface="Noto Sans CJK JP"/>
              <a:cs typeface="Noto Sans"/>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Frédéric_Chopin</a:t>
            </a:r>
            <a:endParaRPr sz="1250" lang="ja-JP">
              <a:latin typeface="Noto Sans"/>
              <a:ea typeface="Noto Sans CJK JP"/>
              <a:cs typeface="Noto Sans"/>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Galicia_(Spain)</a:t>
            </a:r>
            <a:endParaRPr sz="1250" lang="ja-JP">
              <a:latin typeface="Noto Sans"/>
              <a:ea typeface="Noto Sans CJK JP"/>
              <a:cs typeface="Noto Sans"/>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Gamal_Abdel_Nasser</a:t>
            </a:r>
            <a:endParaRPr sz="1250" lang="ja-JP">
              <a:latin typeface="Noto Sans"/>
              <a:ea typeface="Noto Sans CJK JP"/>
              <a:cs typeface="Noto Sans"/>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Gene</a:t>
            </a:r>
            <a:endParaRPr sz="1250" lang="ja-JP">
              <a:latin typeface="Noto Sans"/>
              <a:ea typeface="Noto Sans CJK JP"/>
              <a:cs typeface="Noto Sans"/>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General_Electric</a:t>
            </a:r>
            <a:endParaRPr sz="1250" lang="ja-JP">
              <a:latin typeface="Noto Sans"/>
              <a:ea typeface="Noto Sans CJK JP"/>
              <a:cs typeface="Noto Sans"/>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Genocide</a:t>
            </a:r>
            <a:endParaRPr sz="1250" lang="ja-JP">
              <a:latin typeface="Noto Sans"/>
              <a:ea typeface="Noto Sans CJK JP"/>
              <a:cs typeface="Noto Sans"/>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Genome</a:t>
            </a:r>
            <a:endParaRPr sz="1250" lang="ja-JP">
              <a:latin typeface="Noto Sans"/>
              <a:ea typeface="Noto Sans CJK JP"/>
              <a:cs typeface="Noto Sans"/>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Geography_of_the_United_States</a:t>
            </a:r>
            <a:endParaRPr sz="1250" lang="ja-JP">
              <a:latin typeface="Noto Sans"/>
              <a:ea typeface="Noto Sans CJK JP"/>
              <a:cs typeface="Noto Sans"/>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Geological_history_of_Earth</a:t>
            </a:r>
            <a:endParaRPr sz="1250" lang="ja-JP">
              <a:latin typeface="Noto Sans"/>
              <a:ea typeface="Noto Sans CJK JP"/>
              <a:cs typeface="Noto Sans"/>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George_VI</a:t>
            </a:r>
            <a:endParaRPr sz="1250" lang="ja-JP">
              <a:latin typeface="Noto Sans"/>
              <a:ea typeface="Noto Sans CJK JP"/>
              <a:cs typeface="Noto Sans"/>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Georgian_architecture</a:t>
            </a:r>
            <a:endParaRPr sz="1250" lang="ja-JP">
              <a:latin typeface="Noto Sans"/>
              <a:ea typeface="Noto Sans CJK JP"/>
              <a:cs typeface="Noto Sans"/>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Germans</a:t>
            </a:r>
            <a:endParaRPr sz="1250" lang="ja-JP">
              <a:latin typeface="Noto Sans"/>
              <a:ea typeface="Noto Sans CJK JP"/>
              <a:cs typeface="Noto Sans"/>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Glacier</a:t>
            </a:r>
            <a:endParaRPr sz="1250" lang="ja-JP">
              <a:latin typeface="Noto Sans"/>
              <a:ea typeface="Noto Sans CJK JP"/>
              <a:cs typeface="Noto Sans"/>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Glass</a:t>
            </a:r>
            <a:endParaRPr sz="1250" lang="ja-JP">
              <a:latin typeface="Noto Sans"/>
              <a:ea typeface="Noto Sans CJK JP"/>
              <a:cs typeface="Noto Sans"/>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God</a:t>
            </a:r>
            <a:endParaRPr sz="1250" lang="ja-JP">
              <a:latin typeface="Noto Sans"/>
              <a:ea typeface="Noto Sans CJK JP"/>
              <a:cs typeface="Noto Sans"/>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Gothic_architecture</a:t>
            </a:r>
            <a:endParaRPr sz="1250" lang="ja-JP">
              <a:latin typeface="Noto Sans"/>
              <a:ea typeface="Noto Sans CJK JP"/>
              <a:cs typeface="Noto Sans"/>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Gramophone_record</a:t>
            </a:r>
            <a:endParaRPr sz="1250" lang="ja-JP">
              <a:latin typeface="Noto Sans"/>
              <a:ea typeface="Noto Sans CJK JP"/>
              <a:cs typeface="Noto Sans"/>
            </a:endParaRPr>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記事名は元JSONの title をそのまま記載。</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https://github.com/rajpurkar/SQuAD-explorer/tree/master/dataset</a:t>
            </a:r>
            <a:endParaRPr sz="850" lang="ja-JP">
              <a:latin typeface="Noto Sans"/>
              <a:ea typeface="Noto Sans CJK JP"/>
              <a:cs typeface="Noto Sans"/>
            </a:endParaRP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学習用 Wikipedia 記事一覧 8/19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5 Wikipedia記事一覧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Grape</a:t>
            </a:r>
            <a:endParaRPr sz="1250" lang="ja-JP">
              <a:latin typeface="Noto Sans"/>
              <a:ea typeface="Noto Sans CJK JP"/>
              <a:cs typeface="Noto Sans"/>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Great_Plains</a:t>
            </a:r>
            <a:endParaRPr sz="1250" lang="ja-JP">
              <a:latin typeface="Noto Sans"/>
              <a:ea typeface="Noto Sans CJK JP"/>
              <a:cs typeface="Noto Sans"/>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Great_power</a:t>
            </a:r>
            <a:endParaRPr sz="1250" lang="ja-JP">
              <a:latin typeface="Noto Sans"/>
              <a:ea typeface="Noto Sans CJK JP"/>
              <a:cs typeface="Noto Sans"/>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Greece</a:t>
            </a:r>
            <a:endParaRPr sz="1250" lang="ja-JP">
              <a:latin typeface="Noto Sans"/>
              <a:ea typeface="Noto Sans CJK JP"/>
              <a:cs typeface="Noto Sans"/>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Greeks</a:t>
            </a:r>
            <a:endParaRPr sz="1250" lang="ja-JP">
              <a:latin typeface="Noto Sans"/>
              <a:ea typeface="Noto Sans CJK JP"/>
              <a:cs typeface="Noto Sans"/>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Green</a:t>
            </a:r>
            <a:endParaRPr sz="1250" lang="ja-JP">
              <a:latin typeface="Noto Sans"/>
              <a:ea typeface="Noto Sans CJK JP"/>
              <a:cs typeface="Noto Sans"/>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Gregorian_calendar</a:t>
            </a:r>
            <a:endParaRPr sz="1250" lang="ja-JP">
              <a:latin typeface="Noto Sans"/>
              <a:ea typeface="Noto Sans CJK JP"/>
              <a:cs typeface="Noto Sans"/>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Group_(mathematics)</a:t>
            </a:r>
            <a:endParaRPr sz="1250" lang="ja-JP">
              <a:latin typeface="Noto Sans"/>
              <a:ea typeface="Noto Sans CJK JP"/>
              <a:cs typeface="Noto Sans"/>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Guam</a:t>
            </a:r>
            <a:endParaRPr sz="1250" lang="ja-JP">
              <a:latin typeface="Noto Sans"/>
              <a:ea typeface="Noto Sans CJK JP"/>
              <a:cs typeface="Noto Sans"/>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Guinea-Bissau</a:t>
            </a:r>
            <a:endParaRPr sz="1250" lang="ja-JP">
              <a:latin typeface="Noto Sans"/>
              <a:ea typeface="Noto Sans CJK JP"/>
              <a:cs typeface="Noto Sans"/>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Gymnastics</a:t>
            </a:r>
            <a:endParaRPr sz="1250" lang="ja-JP">
              <a:latin typeface="Noto Sans"/>
              <a:ea typeface="Noto Sans CJK JP"/>
              <a:cs typeface="Noto Sans"/>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Han_dynasty</a:t>
            </a:r>
            <a:endParaRPr sz="1250" lang="ja-JP">
              <a:latin typeface="Noto Sans"/>
              <a:ea typeface="Noto Sans CJK JP"/>
              <a:cs typeface="Noto Sans"/>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Hanover</a:t>
            </a:r>
            <a:endParaRPr sz="1250" lang="ja-JP">
              <a:latin typeface="Noto Sans"/>
              <a:ea typeface="Noto Sans CJK JP"/>
              <a:cs typeface="Noto Sans"/>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Hard_rock</a:t>
            </a:r>
            <a:endParaRPr sz="1250" lang="ja-JP">
              <a:latin typeface="Noto Sans"/>
              <a:ea typeface="Noto Sans CJK JP"/>
              <a:cs typeface="Noto Sans"/>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Heian_period</a:t>
            </a:r>
            <a:endParaRPr sz="1250" lang="ja-JP">
              <a:latin typeface="Noto Sans"/>
              <a:ea typeface="Noto Sans CJK JP"/>
              <a:cs typeface="Noto Sans"/>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Hellenistic_period</a:t>
            </a:r>
            <a:endParaRPr sz="1250" lang="ja-JP">
              <a:latin typeface="Noto Sans"/>
              <a:ea typeface="Noto Sans CJK JP"/>
              <a:cs typeface="Noto Sans"/>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Heresy</a:t>
            </a:r>
            <a:endParaRPr sz="1250" lang="ja-JP">
              <a:latin typeface="Noto Sans"/>
              <a:ea typeface="Noto Sans CJK JP"/>
              <a:cs typeface="Noto Sans"/>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High-definition_television</a:t>
            </a:r>
            <a:endParaRPr sz="1250" lang="ja-JP">
              <a:latin typeface="Noto Sans"/>
              <a:ea typeface="Noto Sans CJK JP"/>
              <a:cs typeface="Noto Sans"/>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Himachal_Pradesh</a:t>
            </a:r>
            <a:endParaRPr sz="1250" lang="ja-JP">
              <a:latin typeface="Noto Sans"/>
              <a:ea typeface="Noto Sans CJK JP"/>
              <a:cs typeface="Noto Sans"/>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Hindu_philosophy</a:t>
            </a:r>
            <a:endParaRPr sz="1250" lang="ja-JP">
              <a:latin typeface="Noto Sans"/>
              <a:ea typeface="Noto Sans CJK JP"/>
              <a:cs typeface="Noto Sans"/>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History_of_India</a:t>
            </a:r>
            <a:endParaRPr sz="1250" lang="ja-JP">
              <a:latin typeface="Noto Sans"/>
              <a:ea typeface="Noto Sans CJK JP"/>
              <a:cs typeface="Noto Sans"/>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History_of_science</a:t>
            </a:r>
            <a:endParaRPr sz="1250" lang="ja-JP">
              <a:latin typeface="Noto Sans"/>
              <a:ea typeface="Noto Sans CJK JP"/>
              <a:cs typeface="Noto Sans"/>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Hokkien</a:t>
            </a:r>
            <a:endParaRPr sz="1250" lang="ja-JP">
              <a:latin typeface="Noto Sans"/>
              <a:ea typeface="Noto Sans CJK JP"/>
              <a:cs typeface="Noto Sans"/>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House_music</a:t>
            </a:r>
            <a:endParaRPr sz="1250" lang="ja-JP">
              <a:latin typeface="Noto Sans"/>
              <a:ea typeface="Noto Sans CJK JP"/>
              <a:cs typeface="Noto Sans"/>
            </a:endParaRPr>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記事名は元JSONの title をそのまま記載。</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https://github.com/rajpurkar/SQuAD-explorer/tree/master/dataset</a:t>
            </a:r>
            <a:endParaRPr sz="850" lang="ja-JP">
              <a:latin typeface="Noto Sans"/>
              <a:ea typeface="Noto Sans CJK JP"/>
              <a:cs typeface="Noto Sans"/>
            </a:endParaRP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学習用 Wikipedia 記事一覧 9/19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5 Wikipedia記事一覧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Houston</a:t>
            </a:r>
            <a:endParaRPr sz="1250" lang="ja-JP">
              <a:latin typeface="Noto Sans"/>
              <a:ea typeface="Noto Sans CJK JP"/>
              <a:cs typeface="Noto Sans"/>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Human_Development_Index</a:t>
            </a:r>
            <a:endParaRPr sz="1250" lang="ja-JP">
              <a:latin typeface="Noto Sans"/>
              <a:ea typeface="Noto Sans CJK JP"/>
              <a:cs typeface="Noto Sans"/>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Humanism</a:t>
            </a:r>
            <a:endParaRPr sz="1250" lang="ja-JP">
              <a:latin typeface="Noto Sans"/>
              <a:ea typeface="Noto Sans CJK JP"/>
              <a:cs typeface="Noto Sans"/>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Hunter-gatherer</a:t>
            </a:r>
            <a:endParaRPr sz="1250" lang="ja-JP">
              <a:latin typeface="Noto Sans"/>
              <a:ea typeface="Noto Sans CJK JP"/>
              <a:cs typeface="Noto Sans"/>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Hunting</a:t>
            </a:r>
            <a:endParaRPr sz="1250" lang="ja-JP">
              <a:latin typeface="Noto Sans"/>
              <a:ea typeface="Noto Sans CJK JP"/>
              <a:cs typeface="Noto Sans"/>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Hyderabad</a:t>
            </a:r>
            <a:endParaRPr sz="1250" lang="ja-JP">
              <a:latin typeface="Noto Sans"/>
              <a:ea typeface="Noto Sans CJK JP"/>
              <a:cs typeface="Noto Sans"/>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Hydrogen</a:t>
            </a:r>
            <a:endParaRPr sz="1250" lang="ja-JP">
              <a:latin typeface="Noto Sans"/>
              <a:ea typeface="Noto Sans CJK JP"/>
              <a:cs typeface="Noto Sans"/>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IBM</a:t>
            </a:r>
            <a:endParaRPr sz="1250" lang="ja-JP">
              <a:latin typeface="Noto Sans"/>
              <a:ea typeface="Noto Sans CJK JP"/>
              <a:cs typeface="Noto Sans"/>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Idealism</a:t>
            </a:r>
            <a:endParaRPr sz="1250" lang="ja-JP">
              <a:latin typeface="Noto Sans"/>
              <a:ea typeface="Noto Sans CJK JP"/>
              <a:cs typeface="Noto Sans"/>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Identity_(social_science)</a:t>
            </a:r>
            <a:endParaRPr sz="1250" lang="ja-JP">
              <a:latin typeface="Noto Sans"/>
              <a:ea typeface="Noto Sans CJK JP"/>
              <a:cs typeface="Noto Sans"/>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Imamah_(Shia_doctrine)</a:t>
            </a:r>
            <a:endParaRPr sz="1250" lang="ja-JP">
              <a:latin typeface="Noto Sans"/>
              <a:ea typeface="Noto Sans CJK JP"/>
              <a:cs typeface="Noto Sans"/>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Immaculate_Conception</a:t>
            </a:r>
            <a:endParaRPr sz="1250" lang="ja-JP">
              <a:latin typeface="Noto Sans"/>
              <a:ea typeface="Noto Sans CJK JP"/>
              <a:cs typeface="Noto Sans"/>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Immunology</a:t>
            </a:r>
            <a:endParaRPr sz="1250" lang="ja-JP">
              <a:latin typeface="Noto Sans"/>
              <a:ea typeface="Noto Sans CJK JP"/>
              <a:cs typeface="Noto Sans"/>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Imperial_College_London</a:t>
            </a:r>
            <a:endParaRPr sz="1250" lang="ja-JP">
              <a:latin typeface="Noto Sans"/>
              <a:ea typeface="Noto Sans CJK JP"/>
              <a:cs typeface="Noto Sans"/>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Incandescent_light_bulb</a:t>
            </a:r>
            <a:endParaRPr sz="1250" lang="ja-JP">
              <a:latin typeface="Noto Sans"/>
              <a:ea typeface="Noto Sans CJK JP"/>
              <a:cs typeface="Noto Sans"/>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Indigenous_peoples_of_the_Americas</a:t>
            </a:r>
            <a:endParaRPr sz="1250" lang="ja-JP">
              <a:latin typeface="Noto Sans"/>
              <a:ea typeface="Noto Sans CJK JP"/>
              <a:cs typeface="Noto Sans"/>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Infection</a:t>
            </a:r>
            <a:endParaRPr sz="1250" lang="ja-JP">
              <a:latin typeface="Noto Sans"/>
              <a:ea typeface="Noto Sans CJK JP"/>
              <a:cs typeface="Noto Sans"/>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Infrared</a:t>
            </a:r>
            <a:endParaRPr sz="1250" lang="ja-JP">
              <a:latin typeface="Noto Sans"/>
              <a:ea typeface="Noto Sans CJK JP"/>
              <a:cs typeface="Noto Sans"/>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Insect</a:t>
            </a:r>
            <a:endParaRPr sz="1250" lang="ja-JP">
              <a:latin typeface="Noto Sans"/>
              <a:ea typeface="Noto Sans CJK JP"/>
              <a:cs typeface="Noto Sans"/>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Institute_of_technology</a:t>
            </a:r>
            <a:endParaRPr sz="1250" lang="ja-JP">
              <a:latin typeface="Noto Sans"/>
              <a:ea typeface="Noto Sans CJK JP"/>
              <a:cs typeface="Noto Sans"/>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Intellectual_property</a:t>
            </a:r>
            <a:endParaRPr sz="1250" lang="ja-JP">
              <a:latin typeface="Noto Sans"/>
              <a:ea typeface="Noto Sans CJK JP"/>
              <a:cs typeface="Noto Sans"/>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Internet_service_provider</a:t>
            </a:r>
            <a:endParaRPr sz="1250" lang="ja-JP">
              <a:latin typeface="Noto Sans"/>
              <a:ea typeface="Noto Sans CJK JP"/>
              <a:cs typeface="Noto Sans"/>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IPod</a:t>
            </a:r>
            <a:endParaRPr sz="1250" lang="ja-JP">
              <a:latin typeface="Noto Sans"/>
              <a:ea typeface="Noto Sans CJK JP"/>
              <a:cs typeface="Noto Sans"/>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Iran</a:t>
            </a:r>
            <a:endParaRPr sz="1250" lang="ja-JP">
              <a:latin typeface="Noto Sans"/>
              <a:ea typeface="Noto Sans CJK JP"/>
              <a:cs typeface="Noto Sans"/>
            </a:endParaRPr>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記事名は元JSONの title をそのまま記載。</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https://github.com/rajpurkar/SQuAD-explorer/tree/master/dataset</a:t>
            </a:r>
            <a:endParaRPr sz="850" lang="ja-JP">
              <a:latin typeface="Noto Sans"/>
              <a:ea typeface="Noto Sans CJK JP"/>
              <a:cs typeface="Noto Sans"/>
            </a:endParaRP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学習用 Wikipedia 記事一覧 10/19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5 Wikipedia記事一覧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Iranian_languages</a:t>
            </a:r>
            <a:endParaRPr sz="1250" lang="ja-JP">
              <a:latin typeface="Noto Sans"/>
              <a:ea typeface="Noto Sans CJK JP"/>
              <a:cs typeface="Noto Sans"/>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Israel</a:t>
            </a:r>
            <a:endParaRPr sz="1250" lang="ja-JP">
              <a:latin typeface="Noto Sans"/>
              <a:ea typeface="Noto Sans CJK JP"/>
              <a:cs typeface="Noto Sans"/>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Jehovah%27s_Witnesses</a:t>
            </a:r>
            <a:endParaRPr sz="1250" lang="ja-JP">
              <a:latin typeface="Noto Sans"/>
              <a:ea typeface="Noto Sans CJK JP"/>
              <a:cs typeface="Noto Sans"/>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Jews</a:t>
            </a:r>
            <a:endParaRPr sz="1250" lang="ja-JP">
              <a:latin typeface="Noto Sans"/>
              <a:ea typeface="Noto Sans CJK JP"/>
              <a:cs typeface="Noto Sans"/>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John,_King_of_England</a:t>
            </a:r>
            <a:endParaRPr sz="1250" lang="ja-JP">
              <a:latin typeface="Noto Sans"/>
              <a:ea typeface="Noto Sans CJK JP"/>
              <a:cs typeface="Noto Sans"/>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John_Kerry</a:t>
            </a:r>
            <a:endParaRPr sz="1250" lang="ja-JP">
              <a:latin typeface="Noto Sans"/>
              <a:ea typeface="Noto Sans CJK JP"/>
              <a:cs typeface="Noto Sans"/>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John_von_Neumann</a:t>
            </a:r>
            <a:endParaRPr sz="1250" lang="ja-JP">
              <a:latin typeface="Noto Sans"/>
              <a:ea typeface="Noto Sans CJK JP"/>
              <a:cs typeface="Noto Sans"/>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Josip_Broz_Tito</a:t>
            </a:r>
            <a:endParaRPr sz="1250" lang="ja-JP">
              <a:latin typeface="Noto Sans"/>
              <a:ea typeface="Noto Sans CJK JP"/>
              <a:cs typeface="Noto Sans"/>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Kanye_West</a:t>
            </a:r>
            <a:endParaRPr sz="1250" lang="ja-JP">
              <a:latin typeface="Noto Sans"/>
              <a:ea typeface="Noto Sans CJK JP"/>
              <a:cs typeface="Noto Sans"/>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Karl_Popper</a:t>
            </a:r>
            <a:endParaRPr sz="1250" lang="ja-JP">
              <a:latin typeface="Noto Sans"/>
              <a:ea typeface="Noto Sans CJK JP"/>
              <a:cs typeface="Noto Sans"/>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Kathmandu</a:t>
            </a:r>
            <a:endParaRPr sz="1250" lang="ja-JP">
              <a:latin typeface="Noto Sans"/>
              <a:ea typeface="Noto Sans CJK JP"/>
              <a:cs typeface="Noto Sans"/>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Kievan_Rus%27</a:t>
            </a:r>
            <a:endParaRPr sz="1250" lang="ja-JP">
              <a:latin typeface="Noto Sans"/>
              <a:ea typeface="Noto Sans CJK JP"/>
              <a:cs typeface="Noto Sans"/>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Korean_War</a:t>
            </a:r>
            <a:endParaRPr sz="1250" lang="ja-JP">
              <a:latin typeface="Noto Sans"/>
              <a:ea typeface="Noto Sans CJK JP"/>
              <a:cs typeface="Noto Sans"/>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Labour_Party_(UK)</a:t>
            </a:r>
            <a:endParaRPr sz="1250" lang="ja-JP">
              <a:latin typeface="Noto Sans"/>
              <a:ea typeface="Noto Sans CJK JP"/>
              <a:cs typeface="Noto Sans"/>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Lancashire</a:t>
            </a:r>
            <a:endParaRPr sz="1250" lang="ja-JP">
              <a:latin typeface="Noto Sans"/>
              <a:ea typeface="Noto Sans CJK JP"/>
              <a:cs typeface="Noto Sans"/>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LaserDisc</a:t>
            </a:r>
            <a:endParaRPr sz="1250" lang="ja-JP">
              <a:latin typeface="Noto Sans"/>
              <a:ea typeface="Noto Sans CJK JP"/>
              <a:cs typeface="Noto Sans"/>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Late_Middle_Ages</a:t>
            </a:r>
            <a:endParaRPr sz="1250" lang="ja-JP">
              <a:latin typeface="Noto Sans"/>
              <a:ea typeface="Noto Sans CJK JP"/>
              <a:cs typeface="Noto Sans"/>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Law_of_the_United_States</a:t>
            </a:r>
            <a:endParaRPr sz="1250" lang="ja-JP">
              <a:latin typeface="Noto Sans"/>
              <a:ea typeface="Noto Sans CJK JP"/>
              <a:cs typeface="Noto Sans"/>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Letter_case</a:t>
            </a:r>
            <a:endParaRPr sz="1250" lang="ja-JP">
              <a:latin typeface="Noto Sans"/>
              <a:ea typeface="Noto Sans CJK JP"/>
              <a:cs typeface="Noto Sans"/>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Liberal_Party_of_Australia</a:t>
            </a:r>
            <a:endParaRPr sz="1250" lang="ja-JP">
              <a:latin typeface="Noto Sans"/>
              <a:ea typeface="Noto Sans CJK JP"/>
              <a:cs typeface="Noto Sans"/>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Liberia</a:t>
            </a:r>
            <a:endParaRPr sz="1250" lang="ja-JP">
              <a:latin typeface="Noto Sans"/>
              <a:ea typeface="Noto Sans CJK JP"/>
              <a:cs typeface="Noto Sans"/>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Light-emitting_diode</a:t>
            </a:r>
            <a:endParaRPr sz="1250" lang="ja-JP">
              <a:latin typeface="Noto Sans"/>
              <a:ea typeface="Noto Sans CJK JP"/>
              <a:cs typeface="Noto Sans"/>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Lighting</a:t>
            </a:r>
            <a:endParaRPr sz="1250" lang="ja-JP">
              <a:latin typeface="Noto Sans"/>
              <a:ea typeface="Noto Sans CJK JP"/>
              <a:cs typeface="Noto Sans"/>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List_of_numbered_streets_in_Manhattan</a:t>
            </a:r>
            <a:endParaRPr sz="1250" lang="ja-JP">
              <a:latin typeface="Noto Sans"/>
              <a:ea typeface="Noto Sans CJK JP"/>
              <a:cs typeface="Noto Sans"/>
            </a:endParaRPr>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記事名は元JSONの title をそのまま記載。</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https://github.com/rajpurkar/SQuAD-explorer/tree/master/dataset</a:t>
            </a:r>
            <a:endParaRPr sz="850" lang="ja-JP">
              <a:latin typeface="Noto Sans"/>
              <a:ea typeface="Noto Sans CJK JP"/>
              <a:cs typeface="Noto Sans"/>
            </a:endParaRP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学習用 Wikipedia 記事一覧 11/19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5 Wikipedia記事一覧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Literature</a:t>
            </a:r>
            <a:endParaRPr sz="1250" lang="ja-JP">
              <a:latin typeface="Noto Sans"/>
              <a:ea typeface="Noto Sans CJK JP"/>
              <a:cs typeface="Noto Sans"/>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London</a:t>
            </a:r>
            <a:endParaRPr sz="1250" lang="ja-JP">
              <a:latin typeface="Noto Sans"/>
              <a:ea typeface="Noto Sans CJK JP"/>
              <a:cs typeface="Noto Sans"/>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Macintosh</a:t>
            </a:r>
            <a:endParaRPr sz="1250" lang="ja-JP">
              <a:latin typeface="Noto Sans"/>
              <a:ea typeface="Noto Sans CJK JP"/>
              <a:cs typeface="Noto Sans"/>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Madonna_(entertainer)</a:t>
            </a:r>
            <a:endParaRPr sz="1250" lang="ja-JP">
              <a:latin typeface="Noto Sans"/>
              <a:ea typeface="Noto Sans CJK JP"/>
              <a:cs typeface="Noto Sans"/>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Madrasa</a:t>
            </a:r>
            <a:endParaRPr sz="1250" lang="ja-JP">
              <a:latin typeface="Noto Sans"/>
              <a:ea typeface="Noto Sans CJK JP"/>
              <a:cs typeface="Noto Sans"/>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Mali</a:t>
            </a:r>
            <a:endParaRPr sz="1250" lang="ja-JP">
              <a:latin typeface="Noto Sans"/>
              <a:ea typeface="Noto Sans CJK JP"/>
              <a:cs typeface="Noto Sans"/>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Mammal</a:t>
            </a:r>
            <a:endParaRPr sz="1250" lang="ja-JP">
              <a:latin typeface="Noto Sans"/>
              <a:ea typeface="Noto Sans CJK JP"/>
              <a:cs typeface="Noto Sans"/>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Mandolin</a:t>
            </a:r>
            <a:endParaRPr sz="1250" lang="ja-JP">
              <a:latin typeface="Noto Sans"/>
              <a:ea typeface="Noto Sans CJK JP"/>
              <a:cs typeface="Noto Sans"/>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Marshall_Islands</a:t>
            </a:r>
            <a:endParaRPr sz="1250" lang="ja-JP">
              <a:latin typeface="Noto Sans"/>
              <a:ea typeface="Noto Sans CJK JP"/>
              <a:cs typeface="Noto Sans"/>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Marvel_Comics</a:t>
            </a:r>
            <a:endParaRPr sz="1250" lang="ja-JP">
              <a:latin typeface="Noto Sans"/>
              <a:ea typeface="Noto Sans CJK JP"/>
              <a:cs typeface="Noto Sans"/>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Mary_(mother_of_Jesus)</a:t>
            </a:r>
            <a:endParaRPr sz="1250" lang="ja-JP">
              <a:latin typeface="Noto Sans"/>
              <a:ea typeface="Noto Sans CJK JP"/>
              <a:cs typeface="Noto Sans"/>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Materialism</a:t>
            </a:r>
            <a:endParaRPr sz="1250" lang="ja-JP">
              <a:latin typeface="Noto Sans"/>
              <a:ea typeface="Noto Sans CJK JP"/>
              <a:cs typeface="Noto Sans"/>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Matter</a:t>
            </a:r>
            <a:endParaRPr sz="1250" lang="ja-JP">
              <a:latin typeface="Noto Sans"/>
              <a:ea typeface="Noto Sans CJK JP"/>
              <a:cs typeface="Noto Sans"/>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Melbourne</a:t>
            </a:r>
            <a:endParaRPr sz="1250" lang="ja-JP">
              <a:latin typeface="Noto Sans"/>
              <a:ea typeface="Noto Sans CJK JP"/>
              <a:cs typeface="Noto Sans"/>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Memory</a:t>
            </a:r>
            <a:endParaRPr sz="1250" lang="ja-JP">
              <a:latin typeface="Noto Sans"/>
              <a:ea typeface="Noto Sans CJK JP"/>
              <a:cs typeface="Noto Sans"/>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Mesozoic</a:t>
            </a:r>
            <a:endParaRPr sz="1250" lang="ja-JP">
              <a:latin typeface="Noto Sans"/>
              <a:ea typeface="Noto Sans CJK JP"/>
              <a:cs typeface="Noto Sans"/>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Mexico_City</a:t>
            </a:r>
            <a:endParaRPr sz="1250" lang="ja-JP">
              <a:latin typeface="Noto Sans"/>
              <a:ea typeface="Noto Sans CJK JP"/>
              <a:cs typeface="Noto Sans"/>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Miami</a:t>
            </a:r>
            <a:endParaRPr sz="1250" lang="ja-JP">
              <a:latin typeface="Noto Sans"/>
              <a:ea typeface="Noto Sans CJK JP"/>
              <a:cs typeface="Noto Sans"/>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Middle_Ages</a:t>
            </a:r>
            <a:endParaRPr sz="1250" lang="ja-JP">
              <a:latin typeface="Noto Sans"/>
              <a:ea typeface="Noto Sans CJK JP"/>
              <a:cs typeface="Noto Sans"/>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Military_history_of_the_United_States</a:t>
            </a:r>
            <a:endParaRPr sz="1250" lang="ja-JP">
              <a:latin typeface="Noto Sans"/>
              <a:ea typeface="Noto Sans CJK JP"/>
              <a:cs typeface="Noto Sans"/>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Ministry_of_Defence_(United_Kingdom)</a:t>
            </a:r>
            <a:endParaRPr sz="1250" lang="ja-JP">
              <a:latin typeface="Noto Sans"/>
              <a:ea typeface="Noto Sans CJK JP"/>
              <a:cs typeface="Noto Sans"/>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Modern_history</a:t>
            </a:r>
            <a:endParaRPr sz="1250" lang="ja-JP">
              <a:latin typeface="Noto Sans"/>
              <a:ea typeface="Noto Sans CJK JP"/>
              <a:cs typeface="Noto Sans"/>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Molotov%E2%80%93Ribbentrop_Pact</a:t>
            </a:r>
            <a:endParaRPr sz="1250" lang="ja-JP">
              <a:latin typeface="Noto Sans"/>
              <a:ea typeface="Noto Sans CJK JP"/>
              <a:cs typeface="Noto Sans"/>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Montana</a:t>
            </a:r>
            <a:endParaRPr sz="1250" lang="ja-JP">
              <a:latin typeface="Noto Sans"/>
              <a:ea typeface="Noto Sans CJK JP"/>
              <a:cs typeface="Noto Sans"/>
            </a:endParaRPr>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記事名は元JSONの title をそのまま記載。</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https://github.com/rajpurkar/SQuAD-explorer/tree/master/dataset</a:t>
            </a:r>
            <a:endParaRPr sz="850" lang="ja-JP">
              <a:latin typeface="Noto Sans"/>
              <a:ea typeface="Noto Sans CJK JP"/>
              <a:cs typeface="Noto Sans"/>
            </a:endParaRP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学習用 Wikipedia 記事一覧 12/19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5 Wikipedia記事一覧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Montevideo</a:t>
            </a:r>
            <a:endParaRPr sz="1250" lang="ja-JP">
              <a:latin typeface="Noto Sans"/>
              <a:ea typeface="Noto Sans CJK JP"/>
              <a:cs typeface="Noto Sans"/>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Mosaic</a:t>
            </a:r>
            <a:endParaRPr sz="1250" lang="ja-JP">
              <a:latin typeface="Noto Sans"/>
              <a:ea typeface="Noto Sans CJK JP"/>
              <a:cs typeface="Noto Sans"/>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MP3</a:t>
            </a:r>
            <a:endParaRPr sz="1250" lang="ja-JP">
              <a:latin typeface="Noto Sans"/>
              <a:ea typeface="Noto Sans CJK JP"/>
              <a:cs typeface="Noto Sans"/>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Muammar_Gaddafi</a:t>
            </a:r>
            <a:endParaRPr sz="1250" lang="ja-JP">
              <a:latin typeface="Noto Sans"/>
              <a:ea typeface="Noto Sans CJK JP"/>
              <a:cs typeface="Noto Sans"/>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Multiracial_American</a:t>
            </a:r>
            <a:endParaRPr sz="1250" lang="ja-JP">
              <a:latin typeface="Noto Sans"/>
              <a:ea typeface="Noto Sans CJK JP"/>
              <a:cs typeface="Noto Sans"/>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Muslim_world</a:t>
            </a:r>
            <a:endParaRPr sz="1250" lang="ja-JP">
              <a:latin typeface="Noto Sans"/>
              <a:ea typeface="Noto Sans CJK JP"/>
              <a:cs typeface="Noto Sans"/>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Myanmar</a:t>
            </a:r>
            <a:endParaRPr sz="1250" lang="ja-JP">
              <a:latin typeface="Noto Sans"/>
              <a:ea typeface="Noto Sans CJK JP"/>
              <a:cs typeface="Noto Sans"/>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Myocardial_infarction</a:t>
            </a:r>
            <a:endParaRPr sz="1250" lang="ja-JP">
              <a:latin typeface="Noto Sans"/>
              <a:ea typeface="Noto Sans CJK JP"/>
              <a:cs typeface="Noto Sans"/>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Namibia</a:t>
            </a:r>
            <a:endParaRPr sz="1250" lang="ja-JP">
              <a:latin typeface="Noto Sans"/>
              <a:ea typeface="Noto Sans CJK JP"/>
              <a:cs typeface="Noto Sans"/>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Nanjing</a:t>
            </a:r>
            <a:endParaRPr sz="1250" lang="ja-JP">
              <a:latin typeface="Noto Sans"/>
              <a:ea typeface="Noto Sans CJK JP"/>
              <a:cs typeface="Noto Sans"/>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Napoleon</a:t>
            </a:r>
            <a:endParaRPr sz="1250" lang="ja-JP">
              <a:latin typeface="Noto Sans"/>
              <a:ea typeface="Noto Sans CJK JP"/>
              <a:cs typeface="Noto Sans"/>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National_Archives_and_Records_Administration</a:t>
            </a:r>
            <a:endParaRPr sz="1250" lang="ja-JP">
              <a:latin typeface="Noto Sans"/>
              <a:ea typeface="Noto Sans CJK JP"/>
              <a:cs typeface="Noto Sans"/>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Near_East</a:t>
            </a:r>
            <a:endParaRPr sz="1250" lang="ja-JP">
              <a:latin typeface="Noto Sans"/>
              <a:ea typeface="Noto Sans CJK JP"/>
              <a:cs typeface="Noto Sans"/>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Neoclassical_architecture</a:t>
            </a:r>
            <a:endParaRPr sz="1250" lang="ja-JP">
              <a:latin typeface="Noto Sans"/>
              <a:ea typeface="Noto Sans CJK JP"/>
              <a:cs typeface="Noto Sans"/>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Neolithic</a:t>
            </a:r>
            <a:endParaRPr sz="1250" lang="ja-JP">
              <a:latin typeface="Noto Sans"/>
              <a:ea typeface="Noto Sans CJK JP"/>
              <a:cs typeface="Noto Sans"/>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Neptune</a:t>
            </a:r>
            <a:endParaRPr sz="1250" lang="ja-JP">
              <a:latin typeface="Noto Sans"/>
              <a:ea typeface="Noto Sans CJK JP"/>
              <a:cs typeface="Noto Sans"/>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New_Delhi</a:t>
            </a:r>
            <a:endParaRPr sz="1250" lang="ja-JP">
              <a:latin typeface="Noto Sans"/>
              <a:ea typeface="Noto Sans CJK JP"/>
              <a:cs typeface="Noto Sans"/>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New_Haven,_Connecticut</a:t>
            </a:r>
            <a:endParaRPr sz="1250" lang="ja-JP">
              <a:latin typeface="Noto Sans"/>
              <a:ea typeface="Noto Sans CJK JP"/>
              <a:cs typeface="Noto Sans"/>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New_York_City</a:t>
            </a:r>
            <a:endParaRPr sz="1250" lang="ja-JP">
              <a:latin typeface="Noto Sans"/>
              <a:ea typeface="Noto Sans CJK JP"/>
              <a:cs typeface="Noto Sans"/>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Nigeria</a:t>
            </a:r>
            <a:endParaRPr sz="1250" lang="ja-JP">
              <a:latin typeface="Noto Sans"/>
              <a:ea typeface="Noto Sans CJK JP"/>
              <a:cs typeface="Noto Sans"/>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Nintendo_Entertainment_System</a:t>
            </a:r>
            <a:endParaRPr sz="1250" lang="ja-JP">
              <a:latin typeface="Noto Sans"/>
              <a:ea typeface="Noto Sans CJK JP"/>
              <a:cs typeface="Noto Sans"/>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Nonprofit_organization</a:t>
            </a:r>
            <a:endParaRPr sz="1250" lang="ja-JP">
              <a:latin typeface="Noto Sans"/>
              <a:ea typeface="Noto Sans CJK JP"/>
              <a:cs typeface="Noto Sans"/>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Norfolk_Island</a:t>
            </a:r>
            <a:endParaRPr sz="1250" lang="ja-JP">
              <a:latin typeface="Noto Sans"/>
              <a:ea typeface="Noto Sans CJK JP"/>
              <a:cs typeface="Noto Sans"/>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North_Carolina</a:t>
            </a:r>
            <a:endParaRPr sz="1250" lang="ja-JP">
              <a:latin typeface="Noto Sans"/>
              <a:ea typeface="Noto Sans CJK JP"/>
              <a:cs typeface="Noto Sans"/>
            </a:endParaRPr>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記事名は元JSONの title をそのまま記載。</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https://github.com/rajpurkar/SQuAD-explorer/tree/master/dataset</a:t>
            </a:r>
            <a:endParaRPr sz="850" lang="ja-JP">
              <a:latin typeface="Noto Sans"/>
              <a:ea typeface="Noto Sans CJK JP"/>
              <a:cs typeface="Noto Sans"/>
            </a:endParaRP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学習用 Wikipedia 記事一覧 13/19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5 Wikipedia記事一覧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Northwestern_University</a:t>
            </a:r>
            <a:endParaRPr sz="1250" lang="ja-JP">
              <a:latin typeface="Noto Sans"/>
              <a:ea typeface="Noto Sans CJK JP"/>
              <a:cs typeface="Noto Sans"/>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Nutrition</a:t>
            </a:r>
            <a:endParaRPr sz="1250" lang="ja-JP">
              <a:latin typeface="Noto Sans"/>
              <a:ea typeface="Noto Sans CJK JP"/>
              <a:cs typeface="Noto Sans"/>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Oklahoma</a:t>
            </a:r>
            <a:endParaRPr sz="1250" lang="ja-JP">
              <a:latin typeface="Noto Sans"/>
              <a:ea typeface="Noto Sans CJK JP"/>
              <a:cs typeface="Noto Sans"/>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Oklahoma_City</a:t>
            </a:r>
            <a:endParaRPr sz="1250" lang="ja-JP">
              <a:latin typeface="Noto Sans"/>
              <a:ea typeface="Noto Sans CJK JP"/>
              <a:cs typeface="Noto Sans"/>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Old_English</a:t>
            </a:r>
            <a:endParaRPr sz="1250" lang="ja-JP">
              <a:latin typeface="Noto Sans"/>
              <a:ea typeface="Noto Sans CJK JP"/>
              <a:cs typeface="Noto Sans"/>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On_the_Origin_of_Species</a:t>
            </a:r>
            <a:endParaRPr sz="1250" lang="ja-JP">
              <a:latin typeface="Noto Sans"/>
              <a:ea typeface="Noto Sans CJK JP"/>
              <a:cs typeface="Noto Sans"/>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Order_of_the_British_Empire</a:t>
            </a:r>
            <a:endParaRPr sz="1250" lang="ja-JP">
              <a:latin typeface="Noto Sans"/>
              <a:ea typeface="Noto Sans CJK JP"/>
              <a:cs typeface="Noto Sans"/>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Orthodox_Judaism</a:t>
            </a:r>
            <a:endParaRPr sz="1250" lang="ja-JP">
              <a:latin typeface="Noto Sans"/>
              <a:ea typeface="Noto Sans CJK JP"/>
              <a:cs typeface="Noto Sans"/>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Ottoman_Empire</a:t>
            </a:r>
            <a:endParaRPr sz="1250" lang="ja-JP">
              <a:latin typeface="Noto Sans"/>
              <a:ea typeface="Noto Sans CJK JP"/>
              <a:cs typeface="Noto Sans"/>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Pacific_War</a:t>
            </a:r>
            <a:endParaRPr sz="1250" lang="ja-JP">
              <a:latin typeface="Noto Sans"/>
              <a:ea typeface="Noto Sans CJK JP"/>
              <a:cs typeface="Noto Sans"/>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Pain</a:t>
            </a:r>
            <a:endParaRPr sz="1250" lang="ja-JP">
              <a:latin typeface="Noto Sans"/>
              <a:ea typeface="Noto Sans CJK JP"/>
              <a:cs typeface="Noto Sans"/>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Palermo</a:t>
            </a:r>
            <a:endParaRPr sz="1250" lang="ja-JP">
              <a:latin typeface="Noto Sans"/>
              <a:ea typeface="Noto Sans CJK JP"/>
              <a:cs typeface="Noto Sans"/>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Paper</a:t>
            </a:r>
            <a:endParaRPr sz="1250" lang="ja-JP">
              <a:latin typeface="Noto Sans"/>
              <a:ea typeface="Noto Sans CJK JP"/>
              <a:cs typeface="Noto Sans"/>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Paris</a:t>
            </a:r>
            <a:endParaRPr sz="1250" lang="ja-JP">
              <a:latin typeface="Noto Sans"/>
              <a:ea typeface="Noto Sans CJK JP"/>
              <a:cs typeface="Noto Sans"/>
            </a:endParaRPr>
          </a:p>
        </p:txBody>
      </p:sp>
      <p:sp>
        <p:nvSpPr>
          <p:cNvPr id="19" name="content-text"/>
          <p:cNvSpPr txBox="1"/>
          <p:nvPr/>
        </p:nvSpPr>
        <p:spPr>
          <a:xfrm>
            <a:off x="4846320" y="2246947"/>
            <a:ext cx="3749040" cy="38989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Party_leaders_of_the_United_States_House_of_Representatives。</a:t>
            </a:r>
            <a:br/>
            <a:endParaRPr sz="1250" lang="ja-JP">
              <a:latin typeface="Noto Sans"/>
              <a:ea typeface="Noto Sans CJK JP"/>
              <a:cs typeface="Noto Sans"/>
            </a:endParaRPr>
          </a:p>
        </p:txBody>
      </p:sp>
      <p:sp>
        <p:nvSpPr>
          <p:cNvPr id="20" name="content-text"/>
          <p:cNvSpPr txBox="1"/>
          <p:nvPr/>
        </p:nvSpPr>
        <p:spPr>
          <a:xfrm>
            <a:off x="4846320" y="266223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Pesticide</a:t>
            </a:r>
            <a:endParaRPr sz="1250" lang="ja-JP">
              <a:latin typeface="Noto Sans"/>
              <a:ea typeface="Noto Sans CJK JP"/>
              <a:cs typeface="Noto Sans"/>
            </a:endParaRPr>
          </a:p>
        </p:txBody>
      </p:sp>
      <p:sp>
        <p:nvSpPr>
          <p:cNvPr id="21" name="content-text"/>
          <p:cNvSpPr txBox="1"/>
          <p:nvPr/>
        </p:nvSpPr>
        <p:spPr>
          <a:xfrm>
            <a:off x="4846320" y="289845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Pharmaceutical_industry</a:t>
            </a:r>
            <a:endParaRPr sz="1250" lang="ja-JP">
              <a:latin typeface="Noto Sans"/>
              <a:ea typeface="Noto Sans CJK JP"/>
              <a:cs typeface="Noto Sans"/>
            </a:endParaRPr>
          </a:p>
        </p:txBody>
      </p:sp>
      <p:sp>
        <p:nvSpPr>
          <p:cNvPr id="22" name="content-text"/>
          <p:cNvSpPr txBox="1"/>
          <p:nvPr/>
        </p:nvSpPr>
        <p:spPr>
          <a:xfrm>
            <a:off x="4846320" y="313467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Philadelphia</a:t>
            </a:r>
            <a:endParaRPr sz="1250" lang="ja-JP">
              <a:latin typeface="Noto Sans"/>
              <a:ea typeface="Noto Sans CJK JP"/>
              <a:cs typeface="Noto Sans"/>
            </a:endParaRPr>
          </a:p>
        </p:txBody>
      </p:sp>
      <p:sp>
        <p:nvSpPr>
          <p:cNvPr id="23" name="content-text"/>
          <p:cNvSpPr txBox="1"/>
          <p:nvPr/>
        </p:nvSpPr>
        <p:spPr>
          <a:xfrm>
            <a:off x="4846320" y="337089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Philosophy_of_space_and_time</a:t>
            </a:r>
            <a:endParaRPr sz="1250" lang="ja-JP">
              <a:latin typeface="Noto Sans"/>
              <a:ea typeface="Noto Sans CJK JP"/>
              <a:cs typeface="Noto Sans"/>
            </a:endParaRPr>
          </a:p>
        </p:txBody>
      </p:sp>
      <p:sp>
        <p:nvSpPr>
          <p:cNvPr id="24" name="content-text"/>
          <p:cNvSpPr txBox="1"/>
          <p:nvPr/>
        </p:nvSpPr>
        <p:spPr>
          <a:xfrm>
            <a:off x="4846320" y="360711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Phonology</a:t>
            </a:r>
            <a:endParaRPr sz="1250" lang="ja-JP">
              <a:latin typeface="Noto Sans"/>
              <a:ea typeface="Noto Sans CJK JP"/>
              <a:cs typeface="Noto Sans"/>
            </a:endParaRPr>
          </a:p>
        </p:txBody>
      </p:sp>
      <p:sp>
        <p:nvSpPr>
          <p:cNvPr id="25" name="content-text"/>
          <p:cNvSpPr txBox="1"/>
          <p:nvPr/>
        </p:nvSpPr>
        <p:spPr>
          <a:xfrm>
            <a:off x="4846320" y="384333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Pitch_(music)</a:t>
            </a:r>
            <a:endParaRPr sz="1250" lang="ja-JP">
              <a:latin typeface="Noto Sans"/>
              <a:ea typeface="Noto Sans CJK JP"/>
              <a:cs typeface="Noto Sans"/>
            </a:endParaRPr>
          </a:p>
        </p:txBody>
      </p:sp>
      <p:sp>
        <p:nvSpPr>
          <p:cNvPr id="26" name="content-text"/>
          <p:cNvSpPr txBox="1"/>
          <p:nvPr/>
        </p:nvSpPr>
        <p:spPr>
          <a:xfrm>
            <a:off x="4846320" y="407955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Planck_constant</a:t>
            </a:r>
            <a:endParaRPr sz="1250" lang="ja-JP">
              <a:latin typeface="Noto Sans"/>
              <a:ea typeface="Noto Sans CJK JP"/>
              <a:cs typeface="Noto Sans"/>
            </a:endParaRPr>
          </a:p>
        </p:txBody>
      </p:sp>
      <p:sp>
        <p:nvSpPr>
          <p:cNvPr id="27" name="content-text"/>
          <p:cNvSpPr txBox="1"/>
          <p:nvPr/>
        </p:nvSpPr>
        <p:spPr>
          <a:xfrm>
            <a:off x="4846320" y="431577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PlayStation_3</a:t>
            </a:r>
            <a:endParaRPr sz="1250" lang="ja-JP">
              <a:latin typeface="Noto Sans"/>
              <a:ea typeface="Noto Sans CJK JP"/>
              <a:cs typeface="Noto Sans"/>
            </a:endParaRPr>
          </a:p>
        </p:txBody>
      </p:sp>
      <p:sp>
        <p:nvSpPr>
          <p:cNvPr id="28"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記事名は元JSONの title をそのまま記載。</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https://github.com/rajpurkar/SQuAD-explorer/tree/master/dataset</a:t>
            </a:r>
            <a:endParaRPr sz="850" lang="ja-JP">
              <a:latin typeface="Noto Sans"/>
              <a:ea typeface="Noto Sans CJK JP"/>
              <a:cs typeface="Noto Sans"/>
            </a:endParaRP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学習用 Wikipedia 記事一覧 14/19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5 Wikipedia記事一覧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Plymouth</a:t>
            </a:r>
            <a:endParaRPr sz="1250" lang="ja-JP">
              <a:latin typeface="Noto Sans"/>
              <a:ea typeface="Noto Sans CJK JP"/>
              <a:cs typeface="Noto Sans"/>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Police</a:t>
            </a:r>
            <a:endParaRPr sz="1250" lang="ja-JP">
              <a:latin typeface="Noto Sans"/>
              <a:ea typeface="Noto Sans CJK JP"/>
              <a:cs typeface="Noto Sans"/>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Political_corruption</a:t>
            </a:r>
            <a:endParaRPr sz="1250" lang="ja-JP">
              <a:latin typeface="Noto Sans"/>
              <a:ea typeface="Noto Sans CJK JP"/>
              <a:cs typeface="Noto Sans"/>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Political_party</a:t>
            </a:r>
            <a:endParaRPr sz="1250" lang="ja-JP">
              <a:latin typeface="Noto Sans"/>
              <a:ea typeface="Noto Sans CJK JP"/>
              <a:cs typeface="Noto Sans"/>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Political_philosophy</a:t>
            </a:r>
            <a:endParaRPr sz="1250" lang="ja-JP">
              <a:latin typeface="Noto Sans"/>
              <a:ea typeface="Noto Sans CJK JP"/>
              <a:cs typeface="Noto Sans"/>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Pope_John_XXIII</a:t>
            </a:r>
            <a:endParaRPr sz="1250" lang="ja-JP">
              <a:latin typeface="Noto Sans"/>
              <a:ea typeface="Noto Sans CJK JP"/>
              <a:cs typeface="Noto Sans"/>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Pope_Paul_VI</a:t>
            </a:r>
            <a:endParaRPr sz="1250" lang="ja-JP">
              <a:latin typeface="Noto Sans"/>
              <a:ea typeface="Noto Sans CJK JP"/>
              <a:cs typeface="Noto Sans"/>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Portugal</a:t>
            </a:r>
            <a:endParaRPr sz="1250" lang="ja-JP">
              <a:latin typeface="Noto Sans"/>
              <a:ea typeface="Noto Sans CJK JP"/>
              <a:cs typeface="Noto Sans"/>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Post-punk</a:t>
            </a:r>
            <a:endParaRPr sz="1250" lang="ja-JP">
              <a:latin typeface="Noto Sans"/>
              <a:ea typeface="Noto Sans CJK JP"/>
              <a:cs typeface="Noto Sans"/>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Poultry</a:t>
            </a:r>
            <a:endParaRPr sz="1250" lang="ja-JP">
              <a:latin typeface="Noto Sans"/>
              <a:ea typeface="Noto Sans CJK JP"/>
              <a:cs typeface="Noto Sans"/>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Predation</a:t>
            </a:r>
            <a:endParaRPr sz="1250" lang="ja-JP">
              <a:latin typeface="Noto Sans"/>
              <a:ea typeface="Noto Sans CJK JP"/>
              <a:cs typeface="Noto Sans"/>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Premier_League</a:t>
            </a:r>
            <a:endParaRPr sz="1250" lang="ja-JP">
              <a:latin typeface="Noto Sans"/>
              <a:ea typeface="Noto Sans CJK JP"/>
              <a:cs typeface="Noto Sans"/>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Presbyterianism</a:t>
            </a:r>
            <a:endParaRPr sz="1250" lang="ja-JP">
              <a:latin typeface="Noto Sans"/>
              <a:ea typeface="Noto Sans CJK JP"/>
              <a:cs typeface="Noto Sans"/>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Prime_minister</a:t>
            </a:r>
            <a:endParaRPr sz="1250" lang="ja-JP">
              <a:latin typeface="Noto Sans"/>
              <a:ea typeface="Noto Sans CJK JP"/>
              <a:cs typeface="Noto Sans"/>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Printed_circuit_board</a:t>
            </a:r>
            <a:endParaRPr sz="1250" lang="ja-JP">
              <a:latin typeface="Noto Sans"/>
              <a:ea typeface="Noto Sans CJK JP"/>
              <a:cs typeface="Noto Sans"/>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Professional_wrestling</a:t>
            </a:r>
            <a:endParaRPr sz="1250" lang="ja-JP">
              <a:latin typeface="Noto Sans"/>
              <a:ea typeface="Noto Sans CJK JP"/>
              <a:cs typeface="Noto Sans"/>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Protestantism</a:t>
            </a:r>
            <a:endParaRPr sz="1250" lang="ja-JP">
              <a:latin typeface="Noto Sans"/>
              <a:ea typeface="Noto Sans CJK JP"/>
              <a:cs typeface="Noto Sans"/>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Pub</a:t>
            </a:r>
            <a:endParaRPr sz="1250" lang="ja-JP">
              <a:latin typeface="Noto Sans"/>
              <a:ea typeface="Noto Sans CJK JP"/>
              <a:cs typeface="Noto Sans"/>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Punjab,_Pakistan</a:t>
            </a:r>
            <a:endParaRPr sz="1250" lang="ja-JP">
              <a:latin typeface="Noto Sans"/>
              <a:ea typeface="Noto Sans CJK JP"/>
              <a:cs typeface="Noto Sans"/>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Qing_dynasty</a:t>
            </a:r>
            <a:endParaRPr sz="1250" lang="ja-JP">
              <a:latin typeface="Noto Sans"/>
              <a:ea typeface="Noto Sans CJK JP"/>
              <a:cs typeface="Noto Sans"/>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Queen_(band)</a:t>
            </a:r>
            <a:endParaRPr sz="1250" lang="ja-JP">
              <a:latin typeface="Noto Sans"/>
              <a:ea typeface="Noto Sans CJK JP"/>
              <a:cs typeface="Noto Sans"/>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Queen_Victoria</a:t>
            </a:r>
            <a:endParaRPr sz="1250" lang="ja-JP">
              <a:latin typeface="Noto Sans"/>
              <a:ea typeface="Noto Sans CJK JP"/>
              <a:cs typeface="Noto Sans"/>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Quran</a:t>
            </a:r>
            <a:endParaRPr sz="1250" lang="ja-JP">
              <a:latin typeface="Noto Sans"/>
              <a:ea typeface="Noto Sans CJK JP"/>
              <a:cs typeface="Noto Sans"/>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Race_(human_categorization)</a:t>
            </a:r>
            <a:endParaRPr sz="1250" lang="ja-JP">
              <a:latin typeface="Noto Sans"/>
              <a:ea typeface="Noto Sans CJK JP"/>
              <a:cs typeface="Noto Sans"/>
            </a:endParaRPr>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記事名は元JSONの title をそのまま記載。</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https://github.com/rajpurkar/SQuAD-explorer/tree/master/dataset</a:t>
            </a:r>
            <a:endParaRPr sz="850" lang="ja-JP">
              <a:latin typeface="Noto Sans"/>
              <a:ea typeface="Noto Sans CJK JP"/>
              <a:cs typeface="Noto Sans"/>
            </a:endParaRP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学習用 Wikipedia 記事一覧 15/19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5 Wikipedia記事一覧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Race_and_ethnicity_in_the_United_States_Census</a:t>
            </a:r>
            <a:endParaRPr sz="1250" lang="ja-JP">
              <a:latin typeface="Noto Sans"/>
              <a:ea typeface="Noto Sans CJK JP"/>
              <a:cs typeface="Noto Sans"/>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Railway_electrification_system</a:t>
            </a:r>
            <a:endParaRPr sz="1250" lang="ja-JP">
              <a:latin typeface="Noto Sans"/>
              <a:ea typeface="Noto Sans CJK JP"/>
              <a:cs typeface="Noto Sans"/>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Rajasthan</a:t>
            </a:r>
            <a:endParaRPr sz="1250" lang="ja-JP">
              <a:latin typeface="Noto Sans"/>
              <a:ea typeface="Noto Sans CJK JP"/>
              <a:cs typeface="Noto Sans"/>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Raleigh,_North_Carolina</a:t>
            </a:r>
            <a:endParaRPr sz="1250" lang="ja-JP">
              <a:latin typeface="Noto Sans"/>
              <a:ea typeface="Noto Sans CJK JP"/>
              <a:cs typeface="Noto Sans"/>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Red</a:t>
            </a:r>
            <a:endParaRPr sz="1250" lang="ja-JP">
              <a:latin typeface="Noto Sans"/>
              <a:ea typeface="Noto Sans CJK JP"/>
              <a:cs typeface="Noto Sans"/>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Religion_in_ancient_Rome</a:t>
            </a:r>
            <a:endParaRPr sz="1250" lang="ja-JP">
              <a:latin typeface="Noto Sans"/>
              <a:ea typeface="Noto Sans CJK JP"/>
              <a:cs typeface="Noto Sans"/>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Renewable_energy_commercialization</a:t>
            </a:r>
            <a:endParaRPr sz="1250" lang="ja-JP">
              <a:latin typeface="Noto Sans"/>
              <a:ea typeface="Noto Sans CJK JP"/>
              <a:cs typeface="Noto Sans"/>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Republic_of_the_Congo</a:t>
            </a:r>
            <a:endParaRPr sz="1250" lang="ja-JP">
              <a:latin typeface="Noto Sans"/>
              <a:ea typeface="Noto Sans CJK JP"/>
              <a:cs typeface="Noto Sans"/>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Richard_Feynman</a:t>
            </a:r>
            <a:endParaRPr sz="1250" lang="ja-JP">
              <a:latin typeface="Noto Sans"/>
              <a:ea typeface="Noto Sans CJK JP"/>
              <a:cs typeface="Noto Sans"/>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Richmond,_Virginia</a:t>
            </a:r>
            <a:endParaRPr sz="1250" lang="ja-JP">
              <a:latin typeface="Noto Sans"/>
              <a:ea typeface="Noto Sans CJK JP"/>
              <a:cs typeface="Noto Sans"/>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Roman_Republic</a:t>
            </a:r>
            <a:endParaRPr sz="1250" lang="ja-JP">
              <a:latin typeface="Noto Sans"/>
              <a:ea typeface="Noto Sans CJK JP"/>
              <a:cs typeface="Noto Sans"/>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Royal_assent</a:t>
            </a:r>
            <a:endParaRPr sz="1250" lang="ja-JP">
              <a:latin typeface="Noto Sans"/>
              <a:ea typeface="Noto Sans CJK JP"/>
              <a:cs typeface="Noto Sans"/>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Royal_Dutch_Shell</a:t>
            </a:r>
            <a:endParaRPr sz="1250" lang="ja-JP">
              <a:latin typeface="Noto Sans"/>
              <a:ea typeface="Noto Sans CJK JP"/>
              <a:cs typeface="Noto Sans"/>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Royal_Institute_of_British_Architects</a:t>
            </a:r>
            <a:endParaRPr sz="1250" lang="ja-JP">
              <a:latin typeface="Noto Sans"/>
              <a:ea typeface="Noto Sans CJK JP"/>
              <a:cs typeface="Noto Sans"/>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Rule_of_law</a:t>
            </a:r>
            <a:endParaRPr sz="1250" lang="ja-JP">
              <a:latin typeface="Noto Sans"/>
              <a:ea typeface="Noto Sans CJK JP"/>
              <a:cs typeface="Noto Sans"/>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Russian_language</a:t>
            </a:r>
            <a:endParaRPr sz="1250" lang="ja-JP">
              <a:latin typeface="Noto Sans"/>
              <a:ea typeface="Noto Sans CJK JP"/>
              <a:cs typeface="Noto Sans"/>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Russian_Soviet_Federative_Socialist_Republic</a:t>
            </a:r>
            <a:endParaRPr sz="1250" lang="ja-JP">
              <a:latin typeface="Noto Sans"/>
              <a:ea typeface="Noto Sans CJK JP"/>
              <a:cs typeface="Noto Sans"/>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Sahara</a:t>
            </a:r>
            <a:endParaRPr sz="1250" lang="ja-JP">
              <a:latin typeface="Noto Sans"/>
              <a:ea typeface="Noto Sans CJK JP"/>
              <a:cs typeface="Noto Sans"/>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Saint_Barth%C3%A9lemy</a:t>
            </a:r>
            <a:endParaRPr sz="1250" lang="ja-JP">
              <a:latin typeface="Noto Sans"/>
              <a:ea typeface="Noto Sans CJK JP"/>
              <a:cs typeface="Noto Sans"/>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Saint_Helena</a:t>
            </a:r>
            <a:endParaRPr sz="1250" lang="ja-JP">
              <a:latin typeface="Noto Sans"/>
              <a:ea typeface="Noto Sans CJK JP"/>
              <a:cs typeface="Noto Sans"/>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Samoa</a:t>
            </a:r>
            <a:endParaRPr sz="1250" lang="ja-JP">
              <a:latin typeface="Noto Sans"/>
              <a:ea typeface="Noto Sans CJK JP"/>
              <a:cs typeface="Noto Sans"/>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Samurai</a:t>
            </a:r>
            <a:endParaRPr sz="1250" lang="ja-JP">
              <a:latin typeface="Noto Sans"/>
              <a:ea typeface="Noto Sans CJK JP"/>
              <a:cs typeface="Noto Sans"/>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San_Diego</a:t>
            </a:r>
            <a:endParaRPr sz="1250" lang="ja-JP">
              <a:latin typeface="Noto Sans"/>
              <a:ea typeface="Noto Sans CJK JP"/>
              <a:cs typeface="Noto Sans"/>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Sanskrit</a:t>
            </a:r>
            <a:endParaRPr sz="1250" lang="ja-JP">
              <a:latin typeface="Noto Sans"/>
              <a:ea typeface="Noto Sans CJK JP"/>
              <a:cs typeface="Noto Sans"/>
            </a:endParaRPr>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記事名は元JSONの title をそのまま記載。</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https://github.com/rajpurkar/SQuAD-explorer/tree/master/dataset</a:t>
            </a:r>
            <a:endParaRPr sz="850" lang="ja-JP">
              <a:latin typeface="Noto Sans"/>
              <a:ea typeface="Noto Sans CJK JP"/>
              <a:cs typeface="Noto Sans"/>
            </a:endParaRP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学習用 Wikipedia 記事一覧 16/19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5 Wikipedia記事一覧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Santa_Monica,_California</a:t>
            </a:r>
            <a:endParaRPr sz="1250" lang="ja-JP">
              <a:latin typeface="Noto Sans"/>
              <a:ea typeface="Noto Sans CJK JP"/>
              <a:cs typeface="Noto Sans"/>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Seattle</a:t>
            </a:r>
            <a:endParaRPr sz="1250" lang="ja-JP">
              <a:latin typeface="Noto Sans"/>
              <a:ea typeface="Noto Sans CJK JP"/>
              <a:cs typeface="Noto Sans"/>
            </a:endParaRPr>
          </a:p>
        </p:txBody>
      </p:sp>
      <p:sp>
        <p:nvSpPr>
          <p:cNvPr id="7" name="content-text"/>
          <p:cNvSpPr txBox="1"/>
          <p:nvPr/>
        </p:nvSpPr>
        <p:spPr>
          <a:xfrm>
            <a:off x="594360" y="2246947"/>
            <a:ext cx="3749040" cy="38989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Separation_of_church_and_state_in_the_United_States。</a:t>
            </a:r>
            <a:br/>
            <a:endParaRPr sz="1250" lang="ja-JP">
              <a:latin typeface="Noto Sans"/>
              <a:ea typeface="Noto Sans CJK JP"/>
              <a:cs typeface="Noto Sans"/>
            </a:endParaRPr>
          </a:p>
        </p:txBody>
      </p:sp>
      <p:sp>
        <p:nvSpPr>
          <p:cNvPr id="8" name="content-text"/>
          <p:cNvSpPr txBox="1"/>
          <p:nvPr/>
        </p:nvSpPr>
        <p:spPr>
          <a:xfrm>
            <a:off x="594360" y="2662237"/>
            <a:ext cx="3749040" cy="38989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Separation_of_powers_under_the_United_States_Constitution。</a:t>
            </a:r>
            <a:br/>
            <a:endParaRPr sz="1250" lang="ja-JP">
              <a:latin typeface="Noto Sans"/>
              <a:ea typeface="Noto Sans CJK JP"/>
              <a:cs typeface="Noto Sans"/>
            </a:endParaRPr>
          </a:p>
        </p:txBody>
      </p:sp>
      <p:sp>
        <p:nvSpPr>
          <p:cNvPr id="9" name="content-text"/>
          <p:cNvSpPr txBox="1"/>
          <p:nvPr/>
        </p:nvSpPr>
        <p:spPr>
          <a:xfrm>
            <a:off x="594360" y="30775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Serbo-Croatian</a:t>
            </a:r>
            <a:endParaRPr sz="1250" lang="ja-JP">
              <a:latin typeface="Noto Sans"/>
              <a:ea typeface="Noto Sans CJK JP"/>
              <a:cs typeface="Noto Sans"/>
            </a:endParaRPr>
          </a:p>
        </p:txBody>
      </p:sp>
      <p:sp>
        <p:nvSpPr>
          <p:cNvPr id="10" name="content-text"/>
          <p:cNvSpPr txBox="1"/>
          <p:nvPr/>
        </p:nvSpPr>
        <p:spPr>
          <a:xfrm>
            <a:off x="594360" y="33137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Seven_Years%27_War</a:t>
            </a:r>
            <a:endParaRPr sz="1250" lang="ja-JP">
              <a:latin typeface="Noto Sans"/>
              <a:ea typeface="Noto Sans CJK JP"/>
              <a:cs typeface="Noto Sans"/>
            </a:endParaRPr>
          </a:p>
        </p:txBody>
      </p:sp>
      <p:sp>
        <p:nvSpPr>
          <p:cNvPr id="11" name="content-text"/>
          <p:cNvSpPr txBox="1"/>
          <p:nvPr/>
        </p:nvSpPr>
        <p:spPr>
          <a:xfrm>
            <a:off x="594360" y="35499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Sexual_orientation</a:t>
            </a:r>
            <a:endParaRPr sz="1250" lang="ja-JP">
              <a:latin typeface="Noto Sans"/>
              <a:ea typeface="Noto Sans CJK JP"/>
              <a:cs typeface="Noto Sans"/>
            </a:endParaRPr>
          </a:p>
        </p:txBody>
      </p:sp>
      <p:sp>
        <p:nvSpPr>
          <p:cNvPr id="12" name="content-text"/>
          <p:cNvSpPr txBox="1"/>
          <p:nvPr/>
        </p:nvSpPr>
        <p:spPr>
          <a:xfrm>
            <a:off x="594360" y="37861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Sichuan</a:t>
            </a:r>
            <a:endParaRPr sz="1250" lang="ja-JP">
              <a:latin typeface="Noto Sans"/>
              <a:ea typeface="Noto Sans CJK JP"/>
              <a:cs typeface="Noto Sans"/>
            </a:endParaRPr>
          </a:p>
        </p:txBody>
      </p:sp>
      <p:sp>
        <p:nvSpPr>
          <p:cNvPr id="13" name="content-text"/>
          <p:cNvSpPr txBox="1"/>
          <p:nvPr/>
        </p:nvSpPr>
        <p:spPr>
          <a:xfrm>
            <a:off x="594360" y="40224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Sino-Tibetan_relations_during_the_Ming_dynasty</a:t>
            </a:r>
            <a:endParaRPr sz="1250" lang="ja-JP">
              <a:latin typeface="Noto Sans"/>
              <a:ea typeface="Noto Sans CJK JP"/>
              <a:cs typeface="Noto Sans"/>
            </a:endParaRPr>
          </a:p>
        </p:txBody>
      </p:sp>
      <p:sp>
        <p:nvSpPr>
          <p:cNvPr id="14" name="content-text"/>
          <p:cNvSpPr txBox="1"/>
          <p:nvPr/>
        </p:nvSpPr>
        <p:spPr>
          <a:xfrm>
            <a:off x="594360" y="42586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Slavs</a:t>
            </a:r>
            <a:endParaRPr sz="1250" lang="ja-JP">
              <a:latin typeface="Noto Sans"/>
              <a:ea typeface="Noto Sans CJK JP"/>
              <a:cs typeface="Noto Sans"/>
            </a:endParaRPr>
          </a:p>
        </p:txBody>
      </p:sp>
      <p:sp>
        <p:nvSpPr>
          <p:cNvPr id="15"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Software_testing</a:t>
            </a:r>
            <a:endParaRPr sz="1250" lang="ja-JP">
              <a:latin typeface="Noto Sans"/>
              <a:ea typeface="Noto Sans CJK JP"/>
              <a:cs typeface="Noto Sans"/>
            </a:endParaRPr>
          </a:p>
        </p:txBody>
      </p:sp>
      <p:sp>
        <p:nvSpPr>
          <p:cNvPr id="16"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Solar_energy</a:t>
            </a:r>
            <a:endParaRPr sz="1250" lang="ja-JP">
              <a:latin typeface="Noto Sans"/>
              <a:ea typeface="Noto Sans CJK JP"/>
              <a:cs typeface="Noto Sans"/>
            </a:endParaRPr>
          </a:p>
        </p:txBody>
      </p:sp>
      <p:sp>
        <p:nvSpPr>
          <p:cNvPr id="17"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Somalis</a:t>
            </a:r>
            <a:endParaRPr sz="1250" lang="ja-JP">
              <a:latin typeface="Noto Sans"/>
              <a:ea typeface="Noto Sans CJK JP"/>
              <a:cs typeface="Noto Sans"/>
            </a:endParaRPr>
          </a:p>
        </p:txBody>
      </p:sp>
      <p:sp>
        <p:nvSpPr>
          <p:cNvPr id="18"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Somerset</a:t>
            </a:r>
            <a:endParaRPr sz="1250" lang="ja-JP">
              <a:latin typeface="Noto Sans"/>
              <a:ea typeface="Noto Sans CJK JP"/>
              <a:cs typeface="Noto Sans"/>
            </a:endParaRPr>
          </a:p>
        </p:txBody>
      </p:sp>
      <p:sp>
        <p:nvSpPr>
          <p:cNvPr id="19"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Sony_Music_Entertainment</a:t>
            </a:r>
            <a:endParaRPr sz="1250" lang="ja-JP">
              <a:latin typeface="Noto Sans"/>
              <a:ea typeface="Noto Sans CJK JP"/>
              <a:cs typeface="Noto Sans"/>
            </a:endParaRPr>
          </a:p>
        </p:txBody>
      </p:sp>
      <p:sp>
        <p:nvSpPr>
          <p:cNvPr id="20"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Southampton</a:t>
            </a:r>
            <a:endParaRPr sz="1250" lang="ja-JP">
              <a:latin typeface="Noto Sans"/>
              <a:ea typeface="Noto Sans CJK JP"/>
              <a:cs typeface="Noto Sans"/>
            </a:endParaRPr>
          </a:p>
        </p:txBody>
      </p:sp>
      <p:sp>
        <p:nvSpPr>
          <p:cNvPr id="21"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Southeast_Asia</a:t>
            </a:r>
            <a:endParaRPr sz="1250" lang="ja-JP">
              <a:latin typeface="Noto Sans"/>
              <a:ea typeface="Noto Sans CJK JP"/>
              <a:cs typeface="Noto Sans"/>
            </a:endParaRPr>
          </a:p>
        </p:txBody>
      </p:sp>
      <p:sp>
        <p:nvSpPr>
          <p:cNvPr id="22"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Southern_Europe</a:t>
            </a:r>
            <a:endParaRPr sz="1250" lang="ja-JP">
              <a:latin typeface="Noto Sans"/>
              <a:ea typeface="Noto Sans CJK JP"/>
              <a:cs typeface="Noto Sans"/>
            </a:endParaRPr>
          </a:p>
        </p:txBody>
      </p:sp>
      <p:sp>
        <p:nvSpPr>
          <p:cNvPr id="23"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Space_Race</a:t>
            </a:r>
            <a:endParaRPr sz="1250" lang="ja-JP">
              <a:latin typeface="Noto Sans"/>
              <a:ea typeface="Noto Sans CJK JP"/>
              <a:cs typeface="Noto Sans"/>
            </a:endParaRPr>
          </a:p>
        </p:txBody>
      </p:sp>
      <p:sp>
        <p:nvSpPr>
          <p:cNvPr id="24"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Spanish_language_in_the_United_States</a:t>
            </a:r>
            <a:endParaRPr sz="1250" lang="ja-JP">
              <a:latin typeface="Noto Sans"/>
              <a:ea typeface="Noto Sans CJK JP"/>
              <a:cs typeface="Noto Sans"/>
            </a:endParaRPr>
          </a:p>
        </p:txBody>
      </p:sp>
      <p:sp>
        <p:nvSpPr>
          <p:cNvPr id="25"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Spectre_(2015_film)</a:t>
            </a:r>
            <a:endParaRPr sz="1250" lang="ja-JP">
              <a:latin typeface="Noto Sans"/>
              <a:ea typeface="Noto Sans CJK JP"/>
              <a:cs typeface="Noto Sans"/>
            </a:endParaRPr>
          </a:p>
        </p:txBody>
      </p:sp>
      <p:sp>
        <p:nvSpPr>
          <p:cNvPr id="26"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St._John%27s,_Newfoundland_and_Labrador</a:t>
            </a:r>
            <a:endParaRPr sz="1250" lang="ja-JP">
              <a:latin typeface="Noto Sans"/>
              <a:ea typeface="Noto Sans CJK JP"/>
              <a:cs typeface="Noto Sans"/>
            </a:endParaRPr>
          </a:p>
        </p:txBody>
      </p:sp>
      <p:sp>
        <p:nvSpPr>
          <p:cNvPr id="27"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記事名は元JSONの title をそのまま記載。</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https://github.com/rajpurkar/SQuAD-explorer/tree/master/dataset</a:t>
            </a:r>
            <a:endParaRPr sz="850" lang="ja-JP">
              <a:latin typeface="Noto Sans"/>
              <a:ea typeface="Noto Sans CJK JP"/>
              <a:cs typeface="Noto Sans"/>
            </a:endParaRP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学習用 Wikipedia 記事一覧 17/19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5 Wikipedia記事一覧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States_of_Germany</a:t>
            </a:r>
            <a:endParaRPr sz="1250" lang="ja-JP">
              <a:latin typeface="Noto Sans"/>
              <a:ea typeface="Noto Sans CJK JP"/>
              <a:cs typeface="Noto Sans"/>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Steven_Spielberg</a:t>
            </a:r>
            <a:endParaRPr sz="1250" lang="ja-JP">
              <a:latin typeface="Noto Sans"/>
              <a:ea typeface="Noto Sans CJK JP"/>
              <a:cs typeface="Noto Sans"/>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Strasbourg</a:t>
            </a:r>
            <a:endParaRPr sz="1250" lang="ja-JP">
              <a:latin typeface="Noto Sans"/>
              <a:ea typeface="Noto Sans CJK JP"/>
              <a:cs typeface="Noto Sans"/>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Sumer</a:t>
            </a:r>
            <a:endParaRPr sz="1250" lang="ja-JP">
              <a:latin typeface="Noto Sans"/>
              <a:ea typeface="Noto Sans CJK JP"/>
              <a:cs typeface="Noto Sans"/>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Super_Nintendo_Entertainment_System</a:t>
            </a:r>
            <a:endParaRPr sz="1250" lang="ja-JP">
              <a:latin typeface="Noto Sans"/>
              <a:ea typeface="Noto Sans CJK JP"/>
              <a:cs typeface="Noto Sans"/>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Supreme_court</a:t>
            </a:r>
            <a:endParaRPr sz="1250" lang="ja-JP">
              <a:latin typeface="Noto Sans"/>
              <a:ea typeface="Noto Sans CJK JP"/>
              <a:cs typeface="Noto Sans"/>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Swaziland</a:t>
            </a:r>
            <a:endParaRPr sz="1250" lang="ja-JP">
              <a:latin typeface="Noto Sans"/>
              <a:ea typeface="Noto Sans CJK JP"/>
              <a:cs typeface="Noto Sans"/>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Switzerland</a:t>
            </a:r>
            <a:endParaRPr sz="1250" lang="ja-JP">
              <a:latin typeface="Noto Sans"/>
              <a:ea typeface="Noto Sans CJK JP"/>
              <a:cs typeface="Noto Sans"/>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Symbiosis</a:t>
            </a:r>
            <a:endParaRPr sz="1250" lang="ja-JP">
              <a:latin typeface="Noto Sans"/>
              <a:ea typeface="Noto Sans CJK JP"/>
              <a:cs typeface="Noto Sans"/>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Szlachta</a:t>
            </a:r>
            <a:endParaRPr sz="1250" lang="ja-JP">
              <a:latin typeface="Noto Sans"/>
              <a:ea typeface="Noto Sans CJK JP"/>
              <a:cs typeface="Noto Sans"/>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Tajikistan</a:t>
            </a:r>
            <a:endParaRPr sz="1250" lang="ja-JP">
              <a:latin typeface="Noto Sans"/>
              <a:ea typeface="Noto Sans CJK JP"/>
              <a:cs typeface="Noto Sans"/>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Tennessee</a:t>
            </a:r>
            <a:endParaRPr sz="1250" lang="ja-JP">
              <a:latin typeface="Noto Sans"/>
              <a:ea typeface="Noto Sans CJK JP"/>
              <a:cs typeface="Noto Sans"/>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Textual_criticism</a:t>
            </a:r>
            <a:endParaRPr sz="1250" lang="ja-JP">
              <a:latin typeface="Noto Sans"/>
              <a:ea typeface="Noto Sans CJK JP"/>
              <a:cs typeface="Noto Sans"/>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The_Blitz</a:t>
            </a:r>
            <a:endParaRPr sz="1250" lang="ja-JP">
              <a:latin typeface="Noto Sans"/>
              <a:ea typeface="Noto Sans CJK JP"/>
              <a:cs typeface="Noto Sans"/>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The_Bronx</a:t>
            </a:r>
            <a:endParaRPr sz="1250" lang="ja-JP">
              <a:latin typeface="Noto Sans"/>
              <a:ea typeface="Noto Sans CJK JP"/>
              <a:cs typeface="Noto Sans"/>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The_Legend_of_Zelda _Twilight_Princess</a:t>
            </a:r>
            <a:endParaRPr sz="1250" lang="ja-JP">
              <a:latin typeface="Noto Sans"/>
              <a:ea typeface="Noto Sans CJK JP"/>
              <a:cs typeface="Noto Sans"/>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The_Sun_(United_Kingdom)</a:t>
            </a:r>
            <a:endParaRPr sz="1250" lang="ja-JP">
              <a:latin typeface="Noto Sans"/>
              <a:ea typeface="Noto Sans CJK JP"/>
              <a:cs typeface="Noto Sans"/>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The_Times</a:t>
            </a:r>
            <a:endParaRPr sz="1250" lang="ja-JP">
              <a:latin typeface="Noto Sans"/>
              <a:ea typeface="Noto Sans CJK JP"/>
              <a:cs typeface="Noto Sans"/>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Thuringia</a:t>
            </a:r>
            <a:endParaRPr sz="1250" lang="ja-JP">
              <a:latin typeface="Noto Sans"/>
              <a:ea typeface="Noto Sans CJK JP"/>
              <a:cs typeface="Noto Sans"/>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Tibet</a:t>
            </a:r>
            <a:endParaRPr sz="1250" lang="ja-JP">
              <a:latin typeface="Noto Sans"/>
              <a:ea typeface="Noto Sans CJK JP"/>
              <a:cs typeface="Noto Sans"/>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Time</a:t>
            </a:r>
            <a:endParaRPr sz="1250" lang="ja-JP">
              <a:latin typeface="Noto Sans"/>
              <a:ea typeface="Noto Sans CJK JP"/>
              <a:cs typeface="Noto Sans"/>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To_Kill_a_Mockingbird</a:t>
            </a:r>
            <a:endParaRPr sz="1250" lang="ja-JP">
              <a:latin typeface="Noto Sans"/>
              <a:ea typeface="Noto Sans CJK JP"/>
              <a:cs typeface="Noto Sans"/>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Transistor</a:t>
            </a:r>
            <a:endParaRPr sz="1250" lang="ja-JP">
              <a:latin typeface="Noto Sans"/>
              <a:ea typeface="Noto Sans CJK JP"/>
              <a:cs typeface="Noto Sans"/>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Translation</a:t>
            </a:r>
            <a:endParaRPr sz="1250" lang="ja-JP">
              <a:latin typeface="Noto Sans"/>
              <a:ea typeface="Noto Sans CJK JP"/>
              <a:cs typeface="Noto Sans"/>
            </a:endParaRPr>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記事名は元JSONの title をそのまま記載。</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https://github.com/rajpurkar/SQuAD-explorer/tree/master/dataset</a:t>
            </a:r>
            <a:endParaRPr sz="850" lang="ja-JP">
              <a:latin typeface="Noto Sans"/>
              <a:ea typeface="Noto Sans CJK JP"/>
              <a:cs typeface="Noto Sans"/>
            </a:endParaRP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学習用 Wikipedia 記事一覧 18/19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5 Wikipedia記事一覧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Treaty</a:t>
            </a:r>
            <a:endParaRPr sz="1250" lang="ja-JP">
              <a:latin typeface="Noto Sans"/>
              <a:ea typeface="Noto Sans CJK JP"/>
              <a:cs typeface="Noto Sans"/>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Tristan_da_Cunha</a:t>
            </a:r>
            <a:endParaRPr sz="1250" lang="ja-JP">
              <a:latin typeface="Noto Sans"/>
              <a:ea typeface="Noto Sans CJK JP"/>
              <a:cs typeface="Noto Sans"/>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Tuberculosis</a:t>
            </a:r>
            <a:endParaRPr sz="1250" lang="ja-JP">
              <a:latin typeface="Noto Sans"/>
              <a:ea typeface="Noto Sans CJK JP"/>
              <a:cs typeface="Noto Sans"/>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Tucson,_Arizona</a:t>
            </a:r>
            <a:endParaRPr sz="1250" lang="ja-JP">
              <a:latin typeface="Noto Sans"/>
              <a:ea typeface="Noto Sans CJK JP"/>
              <a:cs typeface="Noto Sans"/>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Turner_Classic_Movies</a:t>
            </a:r>
            <a:endParaRPr sz="1250" lang="ja-JP">
              <a:latin typeface="Noto Sans"/>
              <a:ea typeface="Noto Sans CJK JP"/>
              <a:cs typeface="Noto Sans"/>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Tuvalu</a:t>
            </a:r>
            <a:endParaRPr sz="1250" lang="ja-JP">
              <a:latin typeface="Noto Sans"/>
              <a:ea typeface="Noto Sans CJK JP"/>
              <a:cs typeface="Noto Sans"/>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Umayyad_Caliphate</a:t>
            </a:r>
            <a:endParaRPr sz="1250" lang="ja-JP">
              <a:latin typeface="Noto Sans"/>
              <a:ea typeface="Noto Sans CJK JP"/>
              <a:cs typeface="Noto Sans"/>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Unicode</a:t>
            </a:r>
            <a:endParaRPr sz="1250" lang="ja-JP">
              <a:latin typeface="Noto Sans"/>
              <a:ea typeface="Noto Sans CJK JP"/>
              <a:cs typeface="Noto Sans"/>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United_Nations_Population_Fund</a:t>
            </a:r>
            <a:endParaRPr sz="1250" lang="ja-JP">
              <a:latin typeface="Noto Sans"/>
              <a:ea typeface="Noto Sans CJK JP"/>
              <a:cs typeface="Noto Sans"/>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United_States_Air_Force</a:t>
            </a:r>
            <a:endParaRPr sz="1250" lang="ja-JP">
              <a:latin typeface="Noto Sans"/>
              <a:ea typeface="Noto Sans CJK JP"/>
              <a:cs typeface="Noto Sans"/>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United_States_Army</a:t>
            </a:r>
            <a:endParaRPr sz="1250" lang="ja-JP">
              <a:latin typeface="Noto Sans"/>
              <a:ea typeface="Noto Sans CJK JP"/>
              <a:cs typeface="Noto Sans"/>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United_States_dollar</a:t>
            </a:r>
            <a:endParaRPr sz="1250" lang="ja-JP">
              <a:latin typeface="Noto Sans"/>
              <a:ea typeface="Noto Sans CJK JP"/>
              <a:cs typeface="Noto Sans"/>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United_States_presidential_election,_2004</a:t>
            </a:r>
            <a:endParaRPr sz="1250" lang="ja-JP">
              <a:latin typeface="Noto Sans"/>
              <a:ea typeface="Noto Sans CJK JP"/>
              <a:cs typeface="Noto Sans"/>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Universal_Studios</a:t>
            </a:r>
            <a:endParaRPr sz="1250" lang="ja-JP">
              <a:latin typeface="Noto Sans"/>
              <a:ea typeface="Noto Sans CJK JP"/>
              <a:cs typeface="Noto Sans"/>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University</a:t>
            </a:r>
            <a:endParaRPr sz="1250" lang="ja-JP">
              <a:latin typeface="Noto Sans"/>
              <a:ea typeface="Noto Sans CJK JP"/>
              <a:cs typeface="Noto Sans"/>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University_of_Kansas</a:t>
            </a:r>
            <a:endParaRPr sz="1250" lang="ja-JP">
              <a:latin typeface="Noto Sans"/>
              <a:ea typeface="Noto Sans CJK JP"/>
              <a:cs typeface="Noto Sans"/>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University_of_Notre_Dame</a:t>
            </a:r>
            <a:endParaRPr sz="1250" lang="ja-JP">
              <a:latin typeface="Noto Sans"/>
              <a:ea typeface="Noto Sans CJK JP"/>
              <a:cs typeface="Noto Sans"/>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Uranium</a:t>
            </a:r>
            <a:endParaRPr sz="1250" lang="ja-JP">
              <a:latin typeface="Noto Sans"/>
              <a:ea typeface="Noto Sans CJK JP"/>
              <a:cs typeface="Noto Sans"/>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USB</a:t>
            </a:r>
            <a:endParaRPr sz="1250" lang="ja-JP">
              <a:latin typeface="Noto Sans"/>
              <a:ea typeface="Noto Sans CJK JP"/>
              <a:cs typeface="Noto Sans"/>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Utrecht</a:t>
            </a:r>
            <a:endParaRPr sz="1250" lang="ja-JP">
              <a:latin typeface="Noto Sans"/>
              <a:ea typeface="Noto Sans CJK JP"/>
              <a:cs typeface="Noto Sans"/>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Vacuum</a:t>
            </a:r>
            <a:endParaRPr sz="1250" lang="ja-JP">
              <a:latin typeface="Noto Sans"/>
              <a:ea typeface="Noto Sans CJK JP"/>
              <a:cs typeface="Noto Sans"/>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Valencia</a:t>
            </a:r>
            <a:endParaRPr sz="1250" lang="ja-JP">
              <a:latin typeface="Noto Sans"/>
              <a:ea typeface="Noto Sans CJK JP"/>
              <a:cs typeface="Noto Sans"/>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Videoconferencing</a:t>
            </a:r>
            <a:endParaRPr sz="1250" lang="ja-JP">
              <a:latin typeface="Noto Sans"/>
              <a:ea typeface="Noto Sans CJK JP"/>
              <a:cs typeface="Noto Sans"/>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Virgil</a:t>
            </a:r>
            <a:endParaRPr sz="1250" lang="ja-JP">
              <a:latin typeface="Noto Sans"/>
              <a:ea typeface="Noto Sans CJK JP"/>
              <a:cs typeface="Noto Sans"/>
            </a:endParaRPr>
          </a:p>
        </p:txBody>
      </p:sp>
      <p:sp>
        <p:nvSpPr>
          <p:cNvPr id="29"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記事名は元JSONの title をそのまま記載。</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https://github.com/rajpurkar/SQuAD-explorer/tree/master/dataset</a:t>
            </a:r>
            <a:endParaRPr sz="850" lang="ja-JP">
              <a:latin typeface="Noto Sans"/>
              <a:ea typeface="Noto Sans CJK JP"/>
              <a:cs typeface="Noto Sans"/>
            </a:endParaRP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学習用 Wikipedia 記事一覧 19/19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5 Wikipedia記事一覧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War_on_Terror</a:t>
            </a:r>
            <a:endParaRPr sz="1250" lang="ja-JP">
              <a:latin typeface="Noto Sans"/>
              <a:ea typeface="Noto Sans CJK JP"/>
              <a:cs typeface="Noto Sans"/>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Warsaw_Pact</a:t>
            </a:r>
            <a:endParaRPr sz="1250" lang="ja-JP">
              <a:latin typeface="Noto Sans"/>
              <a:ea typeface="Noto Sans CJK JP"/>
              <a:cs typeface="Noto Sans"/>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Washington_University_in_St._Louis</a:t>
            </a:r>
            <a:endParaRPr sz="1250" lang="ja-JP">
              <a:latin typeface="Noto Sans"/>
              <a:ea typeface="Noto Sans CJK JP"/>
              <a:cs typeface="Noto Sans"/>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Wayback_Machine</a:t>
            </a:r>
            <a:endParaRPr sz="1250" lang="ja-JP">
              <a:latin typeface="Noto Sans"/>
              <a:ea typeface="Noto Sans CJK JP"/>
              <a:cs typeface="Noto Sans"/>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Web_browser</a:t>
            </a:r>
            <a:endParaRPr sz="1250" lang="ja-JP">
              <a:latin typeface="Noto Sans"/>
              <a:ea typeface="Noto Sans CJK JP"/>
              <a:cs typeface="Noto Sans"/>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Westminster_Abbey</a:t>
            </a:r>
            <a:endParaRPr sz="1250" lang="ja-JP">
              <a:latin typeface="Noto Sans"/>
              <a:ea typeface="Noto Sans CJK JP"/>
              <a:cs typeface="Noto Sans"/>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Windows_8</a:t>
            </a:r>
            <a:endParaRPr sz="1250" lang="ja-JP">
              <a:latin typeface="Noto Sans"/>
              <a:ea typeface="Noto Sans CJK JP"/>
              <a:cs typeface="Noto Sans"/>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Wood</a:t>
            </a:r>
            <a:endParaRPr sz="1250" lang="ja-JP">
              <a:latin typeface="Noto Sans"/>
              <a:ea typeface="Noto Sans CJK JP"/>
              <a:cs typeface="Noto Sans"/>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Xbox_360</a:t>
            </a:r>
            <a:endParaRPr sz="1250" lang="ja-JP">
              <a:latin typeface="Noto Sans"/>
              <a:ea typeface="Noto Sans CJK JP"/>
              <a:cs typeface="Noto Sans"/>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Yale_University</a:t>
            </a:r>
            <a:endParaRPr sz="1250" lang="ja-JP">
              <a:latin typeface="Noto Sans"/>
              <a:ea typeface="Noto Sans CJK JP"/>
              <a:cs typeface="Noto Sans"/>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YouTube</a:t>
            </a:r>
            <a:endParaRPr sz="1250" lang="ja-JP">
              <a:latin typeface="Noto Sans"/>
              <a:ea typeface="Noto Sans CJK JP"/>
              <a:cs typeface="Noto Sans"/>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Zhejiang</a:t>
            </a:r>
            <a:endParaRPr sz="1250" lang="ja-JP">
              <a:latin typeface="Noto Sans"/>
              <a:ea typeface="Noto Sans CJK JP"/>
              <a:cs typeface="Noto Sans"/>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Zinc</a:t>
            </a:r>
            <a:endParaRPr sz="1250" lang="ja-JP">
              <a:latin typeface="Noto Sans"/>
              <a:ea typeface="Noto Sans CJK JP"/>
              <a:cs typeface="Noto Sans"/>
            </a:endParaRPr>
          </a:p>
        </p:txBody>
      </p:sp>
      <p:sp>
        <p:nvSpPr>
          <p:cNvPr id="18"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記事名は元JSONの title をそのまま記載。</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https://github.com/rajpurkar/SQuAD-explorer/tree/master/dataset</a:t>
            </a:r>
            <a:endParaRPr sz="850" lang="ja-JP">
              <a:latin typeface="Noto Sans"/>
              <a:ea typeface="Noto Sans CJK JP"/>
              <a:cs typeface="Noto Sans"/>
            </a:endParaRP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anchor="t" lIns="0" rIns="0" tIns="0" bIns="0">
            <a:noAutofit/>
          </a:bodyPr>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データを取得する Python コード</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FFFEF8"/>
                </a:solidFill>
                <a:latin typeface="Noto Sans"/>
                <a:ea typeface="Noto Sans CJK JP"/>
                <a:cs typeface="Noto Sans"/>
              </a:rPr>
              <a:t>Appendix: 6 入手コードと参考文献</a:t>
            </a:r>
            <a:endParaRPr sz="1400" lang="ja-JP">
              <a:latin typeface="Noto Sans"/>
              <a:ea typeface="Noto Sans CJK JP"/>
              <a:cs typeface="Noto Sans"/>
            </a:endParaRPr>
          </a:p>
        </p:txBody>
      </p:sp>
      <p:sp>
        <p:nvSpPr>
          <p:cNvPr id="4" name="diagram-rect"/>
          <p:cNvSpPr/>
          <p:nvPr/>
        </p:nvSpPr>
        <p:spPr>
          <a:xfrm>
            <a:off x="502920" y="1465897"/>
            <a:ext cx="8138160" cy="247777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content-text"/>
          <p:cNvSpPr txBox="1"/>
          <p:nvPr/>
        </p:nvSpPr>
        <p:spPr>
          <a:xfrm>
            <a:off x="502920" y="1465897"/>
            <a:ext cx="8138160" cy="2477770"/>
          </a:xfrm>
          <a:prstGeom prst="rect">
            <a:avLst/>
          </a:prstGeom>
          <a:noFill/>
        </p:spPr>
        <p:txBody>
          <a:bodyPr wrap="none" anchor="t" lIns="152400" rIns="152400" tIns="114300" bIns="114300">
            <a:noAutofit/>
          </a:bodyPr>
          <a:lstStyle/>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import json</a:t>
            </a:r>
            <a:endParaRPr sz="1400" lang="ja-JP">
              <a:latin typeface="Noto Sans"/>
              <a:ea typeface="Noto Sans CJK JP"/>
              <a:cs typeface="Noto Sans"/>
            </a:endParaRP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from urllib.request import urlopen</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base = "https://rajpurkar.github.io/SQuAD-explorer/dataset/"</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for version in ("1.1", "2.0"):</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for split in ("train", "dev"):</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name = f"{split}-v{version}.json"</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with urlopen(base + name) as response:</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data = json.load(response)</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with open(name, "w", encoding="utf-8") as output:</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json.dump(data, output, ensure_ascii=False)</a:t>
            </a:r>
          </a:p>
        </p:txBody>
      </p:sp>
      <p:sp>
        <p:nvSpPr>
          <p:cNvPr id="6" name="lookup-sources"/>
          <p:cNvSpPr txBox="1"/>
          <p:nvPr/>
        </p:nvSpPr>
        <p:spPr>
          <a:xfrm>
            <a:off x="502920" y="4744720"/>
            <a:ext cx="8183879" cy="339343"/>
          </a:xfrm>
          <a:prstGeom prst="rect">
            <a:avLst/>
          </a:prstGeom>
          <a:noFill/>
        </p:spPr>
        <p:txBody>
          <a:bodyPr wrap="square" lIns="0" rIns="0" tIns="0" bIns="0" anchor="t">
            <a:spAutoFit/>
          </a:bodyPr>
          <a:lstStyle/>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配布元　https://rajpurkar.github.io/SQuAD-explorer/dataset/</a:t>
            </a:r>
            <a:endParaRPr sz="850" lang="ja-JP">
              <a:latin typeface="Noto Sans"/>
              <a:ea typeface="Noto Sans CJK JP"/>
              <a:cs typeface="Noto Sans"/>
            </a:endParaRPr>
          </a:p>
          <a:p>
            <a:pPr algn="l" marL="0" indent="0">
              <a:lnSpc>
                <a:spcPct val="100000"/>
              </a:lnSpc>
              <a:spcBef>
                <a:spcPts val="0"/>
              </a:spcBef>
              <a:spcAft>
                <a:spcPts val="0"/>
              </a:spcAft>
              <a:buNone/>
              <a:defRPr sz="850" lang="ja-JP">
                <a:latin typeface="Noto Sans"/>
                <a:ea typeface="Noto Sans CJK JP"/>
                <a:cs typeface="Noto Sans"/>
              </a:defRPr>
            </a:pPr>
            <a:r>
              <a:rPr sz="850" lang="ja-JP">
                <a:solidFill>
                  <a:srgbClr val="626669"/>
                </a:solidFill>
                <a:latin typeface="Noto Sans"/>
                <a:ea typeface="Noto Sans CJK JP"/>
                <a:cs typeface="Noto Sans"/>
              </a:rPr>
              <a:t>バージョン・分割ごとに公式JSONを取得。Python標準ライブラリのみ使用。</a:t>
            </a:r>
            <a:endParaRPr sz="850" lang="ja-JP">
              <a:latin typeface="Noto Sans"/>
              <a:ea typeface="Noto Sans CJK JP"/>
              <a:cs typeface="Noto Sans"/>
            </a:endParaRP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a:latin typeface="Noto Sans"/>
              </a:rPr>
              <a:t>参考文献</a:t>
            </a:r>
          </a:p>
        </p:txBody>
      </p:sp>
      <p:sp>
        <p:nvSpPr>
          <p:cNvPr id="3" name="Title 2"/>
          <p:cNvSpPr>
            <a:spLocks noGrp="1"/>
          </p:cNvSpPr>
          <p:nvPr>
            <p:ph type="title" idx="2"/>
          </p:nvPr>
        </p:nvSpPr>
        <p:spPr/>
        <p:txBody>
          <a:bodyPr/>
          <a:lstStyle/>
          <a:p>
            <a:r>
              <a:rPr sz="1400" b="1">
                <a:solidFill>
                  <a:srgbClr val="FFFEF8"/>
                </a:solidFill>
                <a:latin typeface="Noto Sans"/>
                <a:ea typeface="Noto Sans CJK JP"/>
              </a:rPr>
              <a:t>Appendix: 6 参考文献</a:t>
            </a:r>
          </a:p>
        </p:txBody>
      </p:sp>
      <p:sp>
        <p:nvSpPr>
          <p:cNvPr id="4" name="TextBox 3"/>
          <p:cNvSpPr txBox="1"/>
          <p:nvPr/>
        </p:nvSpPr>
        <p:spPr>
          <a:xfrm>
            <a:off x="594360" y="1325058"/>
            <a:ext cx="7955279" cy="455512"/>
          </a:xfrm>
          <a:prstGeom prst="rect">
            <a:avLst/>
          </a:prstGeom>
          <a:noFill/>
        </p:spPr>
        <p:txBody>
          <a:bodyPr wrap="square" anchor="t" lIns="0" rIns="0" tIns="0" bIns="0">
            <a:spAutoFit/>
          </a:bodyPr>
          <a:lstStyle/>
          <a:p>
            <a:pPr>
              <a:lnSpc>
                <a:spcPct val="100000"/>
              </a:lnSpc>
              <a:spcBef>
                <a:spcPts val="0"/>
              </a:spcBef>
              <a:spcAft>
                <a:spcPts val="0"/>
              </a:spcAft>
              <a:buNone/>
            </a:pPr>
            <a:r>
              <a:rPr sz="1900" b="1" lang="ja-JP">
                <a:solidFill>
                  <a:srgbClr val="303437"/>
                </a:solidFill>
                <a:latin typeface="Noto Sans"/>
                <a:ea typeface="Noto Sans CJK JP"/>
              </a:rPr>
              <a:t>SQuAD: 100,000+ Questions for Machine Comprehension of Text</a:t>
            </a:r>
          </a:p>
        </p:txBody>
      </p:sp>
      <p:sp>
        <p:nvSpPr>
          <p:cNvPr id="5" name="TextBox 4"/>
          <p:cNvSpPr txBox="1"/>
          <p:nvPr/>
        </p:nvSpPr>
        <p:spPr>
          <a:xfrm>
            <a:off x="594360" y="1711857"/>
            <a:ext cx="7955279" cy="360393"/>
          </a:xfrm>
          <a:prstGeom prst="rect">
            <a:avLst/>
          </a:prstGeom>
          <a:noFill/>
        </p:spPr>
        <p:txBody>
          <a:bodyPr wrap="square" anchor="t" lIns="0" rIns="0" tIns="0" bIns="0">
            <a:spAutoFit/>
          </a:bodyPr>
          <a:lstStyle/>
          <a:p>
            <a:pPr>
              <a:lnSpc>
                <a:spcPct val="100000"/>
              </a:lnSpc>
              <a:spcBef>
                <a:spcPts val="0"/>
              </a:spcBef>
              <a:spcAft>
                <a:spcPts val="0"/>
              </a:spcAft>
              <a:buNone/>
            </a:pPr>
            <a:r>
              <a:rPr sz="1350" b="0" lang="ja-JP">
                <a:solidFill>
                  <a:srgbClr val="303437"/>
                </a:solidFill>
                <a:latin typeface="Noto Sans"/>
                <a:ea typeface="Noto Sans CJK JP"/>
              </a:rPr>
              <a:t>Rajpurkar, P., Zhang, J., Lopyrev, K., &amp; Liang, P. (2016). EMNLP, pp. 2383–2392.</a:t>
            </a:r>
          </a:p>
        </p:txBody>
      </p:sp>
      <p:sp>
        <p:nvSpPr>
          <p:cNvPr id="6" name="TextBox 5"/>
          <p:cNvSpPr txBox="1"/>
          <p:nvPr/>
        </p:nvSpPr>
        <p:spPr>
          <a:xfrm>
            <a:off x="594360" y="2059475"/>
            <a:ext cx="7955279" cy="732332"/>
          </a:xfrm>
          <a:prstGeom prst="rect">
            <a:avLst/>
          </a:prstGeom>
          <a:noFill/>
        </p:spPr>
        <p:txBody>
          <a:bodyPr wrap="square" anchor="t" lIns="0" rIns="0" tIns="0" bIns="0">
            <a:spAutoFit/>
          </a:bodyPr>
          <a:lstStyle/>
          <a:p>
            <a:pPr>
              <a:lnSpc>
                <a:spcPct val="100000"/>
              </a:lnSpc>
              <a:spcBef>
                <a:spcPts val="0"/>
              </a:spcBef>
              <a:spcAft>
                <a:spcPts val="0"/>
              </a:spcAft>
              <a:buNone/>
            </a:pPr>
            <a:r>
              <a:rPr sz="1800" b="0" lang="ja-JP">
                <a:solidFill>
                  <a:srgbClr val="303437"/>
                </a:solidFill>
                <a:latin typeface="Noto Sans"/>
                <a:ea typeface="Noto Sans CJK JP"/>
              </a:rPr>
              <a:t>SQuADの原著論文。データセットの収集方法、回答範囲の注釈、EM・F1評価を記載する。</a:t>
            </a:r>
          </a:p>
        </p:txBody>
      </p:sp>
      <p:sp>
        <p:nvSpPr>
          <p:cNvPr id="7" name="TextBox 6"/>
          <p:cNvSpPr txBox="1"/>
          <p:nvPr/>
        </p:nvSpPr>
        <p:spPr>
          <a:xfrm>
            <a:off x="594360" y="2700922"/>
            <a:ext cx="7955279" cy="308415"/>
          </a:xfrm>
          <a:prstGeom prst="rect">
            <a:avLst/>
          </a:prstGeom>
          <a:noFill/>
        </p:spPr>
        <p:txBody>
          <a:bodyPr wrap="square" anchor="t" lIns="0" rIns="0" tIns="0" bIns="0">
            <a:spAutoFit/>
          </a:bodyPr>
          <a:lstStyle/>
          <a:p>
            <a:pPr>
              <a:lnSpc>
                <a:spcPct val="100000"/>
              </a:lnSpc>
              <a:spcBef>
                <a:spcPts val="0"/>
              </a:spcBef>
              <a:spcAft>
                <a:spcPts val="0"/>
              </a:spcAft>
              <a:buNone/>
            </a:pPr>
            <a:r>
              <a:rPr sz="1050" b="0" lang="ja-JP">
                <a:solidFill>
                  <a:srgbClr val="626669"/>
                </a:solidFill>
                <a:latin typeface="Noto Sans"/>
                <a:ea typeface="Noto Sans CJK JP"/>
                <a:hlinkClick r:id="rId2"/>
              </a:rPr>
              <a:t>https://aclanthology.org/D16-1264/</a:t>
            </a:r>
          </a:p>
        </p:txBody>
      </p:sp>
      <p:sp>
        <p:nvSpPr>
          <p:cNvPr id="8" name="TextBox 7"/>
          <p:cNvSpPr txBox="1"/>
          <p:nvPr/>
        </p:nvSpPr>
        <p:spPr>
          <a:xfrm>
            <a:off x="594360" y="3118211"/>
            <a:ext cx="7955279" cy="455512"/>
          </a:xfrm>
          <a:prstGeom prst="rect">
            <a:avLst/>
          </a:prstGeom>
          <a:noFill/>
        </p:spPr>
        <p:txBody>
          <a:bodyPr wrap="square" anchor="t" lIns="0" rIns="0" tIns="0" bIns="0">
            <a:spAutoFit/>
          </a:bodyPr>
          <a:lstStyle/>
          <a:p>
            <a:pPr>
              <a:lnSpc>
                <a:spcPct val="100000"/>
              </a:lnSpc>
              <a:spcBef>
                <a:spcPts val="0"/>
              </a:spcBef>
              <a:spcAft>
                <a:spcPts val="0"/>
              </a:spcAft>
              <a:buNone/>
            </a:pPr>
            <a:r>
              <a:rPr sz="1900" b="1" lang="ja-JP">
                <a:solidFill>
                  <a:srgbClr val="303437"/>
                </a:solidFill>
                <a:latin typeface="Noto Sans"/>
                <a:ea typeface="Noto Sans CJK JP"/>
              </a:rPr>
              <a:t>Know What You Don’t Know: Unanswerable Questions for SQuAD</a:t>
            </a:r>
          </a:p>
        </p:txBody>
      </p:sp>
      <p:sp>
        <p:nvSpPr>
          <p:cNvPr id="9" name="TextBox 8"/>
          <p:cNvSpPr txBox="1"/>
          <p:nvPr/>
        </p:nvSpPr>
        <p:spPr>
          <a:xfrm>
            <a:off x="594360" y="3505011"/>
            <a:ext cx="7955279" cy="360393"/>
          </a:xfrm>
          <a:prstGeom prst="rect">
            <a:avLst/>
          </a:prstGeom>
          <a:noFill/>
        </p:spPr>
        <p:txBody>
          <a:bodyPr wrap="square" anchor="t" lIns="0" rIns="0" tIns="0" bIns="0">
            <a:spAutoFit/>
          </a:bodyPr>
          <a:lstStyle/>
          <a:p>
            <a:pPr>
              <a:lnSpc>
                <a:spcPct val="100000"/>
              </a:lnSpc>
              <a:spcBef>
                <a:spcPts val="0"/>
              </a:spcBef>
              <a:spcAft>
                <a:spcPts val="0"/>
              </a:spcAft>
              <a:buNone/>
            </a:pPr>
            <a:r>
              <a:rPr sz="1350" b="0" lang="ja-JP">
                <a:solidFill>
                  <a:srgbClr val="303437"/>
                </a:solidFill>
                <a:latin typeface="Noto Sans"/>
                <a:ea typeface="Noto Sans CJK JP"/>
              </a:rPr>
              <a:t>Rajpurkar, P., Jia, R., &amp; Liang, P. (2018). ACL, pp. 784–789.</a:t>
            </a:r>
          </a:p>
        </p:txBody>
      </p:sp>
      <p:sp>
        <p:nvSpPr>
          <p:cNvPr id="10" name="TextBox 9"/>
          <p:cNvSpPr txBox="1"/>
          <p:nvPr/>
        </p:nvSpPr>
        <p:spPr>
          <a:xfrm>
            <a:off x="594360" y="3852629"/>
            <a:ext cx="7955279" cy="732332"/>
          </a:xfrm>
          <a:prstGeom prst="rect">
            <a:avLst/>
          </a:prstGeom>
          <a:noFill/>
        </p:spPr>
        <p:txBody>
          <a:bodyPr wrap="square" anchor="t" lIns="0" rIns="0" tIns="0" bIns="0">
            <a:spAutoFit/>
          </a:bodyPr>
          <a:lstStyle/>
          <a:p>
            <a:pPr>
              <a:lnSpc>
                <a:spcPct val="100000"/>
              </a:lnSpc>
              <a:spcBef>
                <a:spcPts val="0"/>
              </a:spcBef>
              <a:spcAft>
                <a:spcPts val="0"/>
              </a:spcAft>
              <a:buNone/>
            </a:pPr>
            <a:r>
              <a:rPr sz="1800" b="0" lang="ja-JP">
                <a:solidFill>
                  <a:srgbClr val="303437"/>
                </a:solidFill>
                <a:latin typeface="Noto Sans"/>
                <a:ea typeface="Noto Sans CJK JP"/>
              </a:rPr>
              <a:t>SQuAD 2.0の原著論文。回答不能な質問の作成方法と、回答保留を含む評価を報告する。</a:t>
            </a:r>
          </a:p>
        </p:txBody>
      </p:sp>
      <p:sp>
        <p:nvSpPr>
          <p:cNvPr id="11" name="TextBox 10"/>
          <p:cNvSpPr txBox="1"/>
          <p:nvPr/>
        </p:nvSpPr>
        <p:spPr>
          <a:xfrm>
            <a:off x="594360" y="4494076"/>
            <a:ext cx="7955279" cy="308415"/>
          </a:xfrm>
          <a:prstGeom prst="rect">
            <a:avLst/>
          </a:prstGeom>
          <a:noFill/>
        </p:spPr>
        <p:txBody>
          <a:bodyPr wrap="square" anchor="t" lIns="0" rIns="0" tIns="0" bIns="0">
            <a:spAutoFit/>
          </a:bodyPr>
          <a:lstStyle/>
          <a:p>
            <a:pPr>
              <a:lnSpc>
                <a:spcPct val="100000"/>
              </a:lnSpc>
              <a:spcBef>
                <a:spcPts val="0"/>
              </a:spcBef>
              <a:spcAft>
                <a:spcPts val="0"/>
              </a:spcAft>
              <a:buNone/>
            </a:pPr>
            <a:r>
              <a:rPr sz="1050" b="0" lang="ja-JP">
                <a:solidFill>
                  <a:srgbClr val="626669"/>
                </a:solidFill>
                <a:latin typeface="Noto Sans"/>
                <a:ea typeface="Noto Sans CJK JP"/>
                <a:hlinkClick r:id="rId3"/>
              </a:rPr>
              <a:t>https://aclanthology.org/P18-2124/</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a:latin typeface="Noto Sans"/>
              </a:rPr>
              <a:t>参考文献</a:t>
            </a:r>
          </a:p>
        </p:txBody>
      </p:sp>
      <p:sp>
        <p:nvSpPr>
          <p:cNvPr id="3" name="Title 2"/>
          <p:cNvSpPr>
            <a:spLocks noGrp="1"/>
          </p:cNvSpPr>
          <p:nvPr>
            <p:ph type="title" idx="2"/>
          </p:nvPr>
        </p:nvSpPr>
        <p:spPr/>
        <p:txBody>
          <a:bodyPr/>
          <a:lstStyle/>
          <a:p>
            <a:r>
              <a:rPr sz="1400" b="1">
                <a:solidFill>
                  <a:srgbClr val="FFFEF8"/>
                </a:solidFill>
                <a:latin typeface="Noto Sans"/>
                <a:ea typeface="Noto Sans CJK JP"/>
              </a:rPr>
              <a:t>Appendix: 6 参考文献</a:t>
            </a:r>
          </a:p>
        </p:txBody>
      </p:sp>
      <p:sp>
        <p:nvSpPr>
          <p:cNvPr id="4" name="TextBox 3"/>
          <p:cNvSpPr txBox="1"/>
          <p:nvPr/>
        </p:nvSpPr>
        <p:spPr>
          <a:xfrm>
            <a:off x="594360" y="1325058"/>
            <a:ext cx="7955279" cy="455512"/>
          </a:xfrm>
          <a:prstGeom prst="rect">
            <a:avLst/>
          </a:prstGeom>
          <a:noFill/>
        </p:spPr>
        <p:txBody>
          <a:bodyPr wrap="square" anchor="t" lIns="0" rIns="0" tIns="0" bIns="0">
            <a:spAutoFit/>
          </a:bodyPr>
          <a:lstStyle/>
          <a:p>
            <a:pPr>
              <a:lnSpc>
                <a:spcPct val="100000"/>
              </a:lnSpc>
              <a:spcBef>
                <a:spcPts val="0"/>
              </a:spcBef>
              <a:spcAft>
                <a:spcPts val="0"/>
              </a:spcAft>
              <a:buNone/>
            </a:pPr>
            <a:r>
              <a:rPr sz="1900" b="1" lang="ja-JP">
                <a:solidFill>
                  <a:srgbClr val="303437"/>
                </a:solidFill>
                <a:latin typeface="Noto Sans"/>
                <a:ea typeface="Noto Sans CJK JP"/>
              </a:rPr>
              <a:t>Question answering</a:t>
            </a:r>
          </a:p>
        </p:txBody>
      </p:sp>
      <p:sp>
        <p:nvSpPr>
          <p:cNvPr id="5" name="TextBox 4"/>
          <p:cNvSpPr txBox="1"/>
          <p:nvPr/>
        </p:nvSpPr>
        <p:spPr>
          <a:xfrm>
            <a:off x="594360" y="1727451"/>
            <a:ext cx="7955279" cy="375987"/>
          </a:xfrm>
          <a:prstGeom prst="rect">
            <a:avLst/>
          </a:prstGeom>
          <a:noFill/>
        </p:spPr>
        <p:txBody>
          <a:bodyPr wrap="square" anchor="t" lIns="0" rIns="0" tIns="0" bIns="0">
            <a:spAutoFit/>
          </a:bodyPr>
          <a:lstStyle/>
          <a:p>
            <a:pPr>
              <a:lnSpc>
                <a:spcPct val="100000"/>
              </a:lnSpc>
              <a:spcBef>
                <a:spcPts val="0"/>
              </a:spcBef>
              <a:spcAft>
                <a:spcPts val="0"/>
              </a:spcAft>
              <a:buNone/>
            </a:pPr>
            <a:r>
              <a:rPr sz="1350" b="0" lang="ja-JP">
                <a:solidFill>
                  <a:srgbClr val="303437"/>
                </a:solidFill>
                <a:latin typeface="Noto Sans"/>
                <a:ea typeface="Noto Sans CJK JP"/>
              </a:rPr>
              <a:t>Hugging Face (n.d.). Hugging Face Course, Chapter 7, Section 7. 参照 2026-10-15.</a:t>
            </a:r>
          </a:p>
        </p:txBody>
      </p:sp>
      <p:sp>
        <p:nvSpPr>
          <p:cNvPr id="6" name="TextBox 5"/>
          <p:cNvSpPr txBox="1"/>
          <p:nvPr/>
        </p:nvSpPr>
        <p:spPr>
          <a:xfrm>
            <a:off x="594360" y="2075069"/>
            <a:ext cx="7955279" cy="732332"/>
          </a:xfrm>
          <a:prstGeom prst="rect">
            <a:avLst/>
          </a:prstGeom>
          <a:noFill/>
        </p:spPr>
        <p:txBody>
          <a:bodyPr wrap="square" anchor="t" lIns="0" rIns="0" tIns="0" bIns="0">
            <a:spAutoFit/>
          </a:bodyPr>
          <a:lstStyle/>
          <a:p>
            <a:pPr>
              <a:lnSpc>
                <a:spcPct val="100000"/>
              </a:lnSpc>
              <a:spcBef>
                <a:spcPts val="0"/>
              </a:spcBef>
              <a:spcAft>
                <a:spcPts val="0"/>
              </a:spcAft>
              <a:buNone/>
            </a:pPr>
            <a:r>
              <a:rPr sz="1800" b="0" lang="ja-JP">
                <a:solidFill>
                  <a:srgbClr val="303437"/>
                </a:solidFill>
                <a:latin typeface="Noto Sans"/>
                <a:ea typeface="Noto Sans CJK JP"/>
              </a:rPr>
              <a:t>質問応答の公式教材。長い段落の分割、回答位置の変換、モデルの微調整と評価を扱う。</a:t>
            </a:r>
          </a:p>
        </p:txBody>
      </p:sp>
      <p:sp>
        <p:nvSpPr>
          <p:cNvPr id="7" name="TextBox 6"/>
          <p:cNvSpPr txBox="1"/>
          <p:nvPr/>
        </p:nvSpPr>
        <p:spPr>
          <a:xfrm>
            <a:off x="594360" y="2716516"/>
            <a:ext cx="7955279" cy="308415"/>
          </a:xfrm>
          <a:prstGeom prst="rect">
            <a:avLst/>
          </a:prstGeom>
          <a:noFill/>
        </p:spPr>
        <p:txBody>
          <a:bodyPr wrap="square" anchor="t" lIns="0" rIns="0" tIns="0" bIns="0">
            <a:spAutoFit/>
          </a:bodyPr>
          <a:lstStyle/>
          <a:p>
            <a:pPr>
              <a:lnSpc>
                <a:spcPct val="100000"/>
              </a:lnSpc>
              <a:spcBef>
                <a:spcPts val="0"/>
              </a:spcBef>
              <a:spcAft>
                <a:spcPts val="0"/>
              </a:spcAft>
              <a:buNone/>
            </a:pPr>
            <a:r>
              <a:rPr sz="1050" b="0" lang="ja-JP">
                <a:solidFill>
                  <a:srgbClr val="626669"/>
                </a:solidFill>
                <a:latin typeface="Noto Sans"/>
                <a:ea typeface="Noto Sans CJK JP"/>
                <a:hlinkClick r:id="rId2"/>
              </a:rPr>
              <a:t>https://github.com/huggingface/course/blob/main/chapters/en/chapter7/7.mdx</a:t>
            </a:r>
          </a:p>
        </p:txBody>
      </p:sp>
      <p:sp>
        <p:nvSpPr>
          <p:cNvPr id="8" name="TextBox 7"/>
          <p:cNvSpPr txBox="1"/>
          <p:nvPr/>
        </p:nvSpPr>
        <p:spPr>
          <a:xfrm>
            <a:off x="594360" y="3133806"/>
            <a:ext cx="7955279" cy="744945"/>
          </a:xfrm>
          <a:prstGeom prst="rect">
            <a:avLst/>
          </a:prstGeom>
          <a:noFill/>
        </p:spPr>
        <p:txBody>
          <a:bodyPr wrap="square" anchor="t" lIns="0" rIns="0" tIns="0" bIns="0">
            <a:spAutoFit/>
          </a:bodyPr>
          <a:lstStyle/>
          <a:p>
            <a:pPr>
              <a:lnSpc>
                <a:spcPct val="100000"/>
              </a:lnSpc>
              <a:spcBef>
                <a:spcPts val="0"/>
              </a:spcBef>
              <a:spcAft>
                <a:spcPts val="0"/>
              </a:spcAft>
              <a:buNone/>
            </a:pPr>
            <a:r>
              <a:rPr sz="1900" b="1" lang="ja-JP">
                <a:solidFill>
                  <a:srgbClr val="303437"/>
                </a:solidFill>
                <a:latin typeface="Noto Sans"/>
                <a:ea typeface="Noto Sans CJK JP"/>
              </a:rPr>
              <a:t>BERT: Pre-training of Deep Bidirectional Transformers for Language Understanding</a:t>
            </a:r>
          </a:p>
        </p:txBody>
      </p:sp>
      <p:sp>
        <p:nvSpPr>
          <p:cNvPr id="9" name="TextBox 8"/>
          <p:cNvSpPr txBox="1"/>
          <p:nvPr/>
        </p:nvSpPr>
        <p:spPr>
          <a:xfrm>
            <a:off x="594360" y="3810038"/>
            <a:ext cx="7955279" cy="360393"/>
          </a:xfrm>
          <a:prstGeom prst="rect">
            <a:avLst/>
          </a:prstGeom>
          <a:noFill/>
        </p:spPr>
        <p:txBody>
          <a:bodyPr wrap="square" anchor="t" lIns="0" rIns="0" tIns="0" bIns="0">
            <a:spAutoFit/>
          </a:bodyPr>
          <a:lstStyle/>
          <a:p>
            <a:pPr>
              <a:lnSpc>
                <a:spcPct val="100000"/>
              </a:lnSpc>
              <a:spcBef>
                <a:spcPts val="0"/>
              </a:spcBef>
              <a:spcAft>
                <a:spcPts val="0"/>
              </a:spcAft>
              <a:buNone/>
            </a:pPr>
            <a:r>
              <a:rPr sz="1350" b="0" lang="ja-JP">
                <a:solidFill>
                  <a:srgbClr val="303437"/>
                </a:solidFill>
                <a:latin typeface="Noto Sans"/>
                <a:ea typeface="Noto Sans CJK JP"/>
              </a:rPr>
              <a:t>Devlin, J., Chang, M.-W., Lee, K., &amp; Toutanova, K. (2019). NAACL-HLT, pp. 4171–4186.</a:t>
            </a:r>
          </a:p>
        </p:txBody>
      </p:sp>
      <p:sp>
        <p:nvSpPr>
          <p:cNvPr id="10" name="TextBox 9"/>
          <p:cNvSpPr txBox="1"/>
          <p:nvPr/>
        </p:nvSpPr>
        <p:spPr>
          <a:xfrm>
            <a:off x="594360" y="4157656"/>
            <a:ext cx="7955279" cy="732332"/>
          </a:xfrm>
          <a:prstGeom prst="rect">
            <a:avLst/>
          </a:prstGeom>
          <a:noFill/>
        </p:spPr>
        <p:txBody>
          <a:bodyPr wrap="square" anchor="t" lIns="0" rIns="0" tIns="0" bIns="0">
            <a:spAutoFit/>
          </a:bodyPr>
          <a:lstStyle/>
          <a:p>
            <a:pPr>
              <a:lnSpc>
                <a:spcPct val="100000"/>
              </a:lnSpc>
              <a:spcBef>
                <a:spcPts val="0"/>
              </a:spcBef>
              <a:spcAft>
                <a:spcPts val="0"/>
              </a:spcAft>
              <a:buNone/>
            </a:pPr>
            <a:r>
              <a:rPr sz="1800" b="0" lang="ja-JP">
                <a:solidFill>
                  <a:srgbClr val="303437"/>
                </a:solidFill>
                <a:latin typeface="Noto Sans"/>
                <a:ea typeface="Noto Sans CJK JP"/>
              </a:rPr>
              <a:t>BERTの原著論文。双方向の事前学習と微調整を提案し、SQuADなどで評価する。</a:t>
            </a:r>
          </a:p>
        </p:txBody>
      </p:sp>
      <p:sp>
        <p:nvSpPr>
          <p:cNvPr id="11" name="TextBox 10"/>
          <p:cNvSpPr txBox="1"/>
          <p:nvPr/>
        </p:nvSpPr>
        <p:spPr>
          <a:xfrm>
            <a:off x="594360" y="4799103"/>
            <a:ext cx="7955279" cy="308415"/>
          </a:xfrm>
          <a:prstGeom prst="rect">
            <a:avLst/>
          </a:prstGeom>
          <a:noFill/>
        </p:spPr>
        <p:txBody>
          <a:bodyPr wrap="square" anchor="t" lIns="0" rIns="0" tIns="0" bIns="0">
            <a:spAutoFit/>
          </a:bodyPr>
          <a:lstStyle/>
          <a:p>
            <a:pPr>
              <a:lnSpc>
                <a:spcPct val="100000"/>
              </a:lnSpc>
              <a:spcBef>
                <a:spcPts val="0"/>
              </a:spcBef>
              <a:spcAft>
                <a:spcPts val="0"/>
              </a:spcAft>
              <a:buNone/>
            </a:pPr>
            <a:r>
              <a:rPr sz="1050" b="0" lang="ja-JP">
                <a:solidFill>
                  <a:srgbClr val="626669"/>
                </a:solidFill>
                <a:latin typeface="Noto Sans"/>
                <a:ea typeface="Noto Sans CJK JP"/>
                <a:hlinkClick r:id="rId3"/>
              </a:rPr>
              <a:t>https://aclanthology.org/N19-1423/</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800">
                <a:latin typeface="Noto Sans"/>
              </a:rPr>
              <a:t>参考文献</a:t>
            </a:r>
          </a:p>
        </p:txBody>
      </p:sp>
      <p:sp>
        <p:nvSpPr>
          <p:cNvPr id="3" name="Title 2"/>
          <p:cNvSpPr>
            <a:spLocks noGrp="1"/>
          </p:cNvSpPr>
          <p:nvPr>
            <p:ph type="title" idx="2"/>
          </p:nvPr>
        </p:nvSpPr>
        <p:spPr/>
        <p:txBody>
          <a:bodyPr/>
          <a:lstStyle/>
          <a:p>
            <a:r>
              <a:rPr sz="1400" b="1">
                <a:solidFill>
                  <a:srgbClr val="FFFEF8"/>
                </a:solidFill>
                <a:latin typeface="Noto Sans"/>
                <a:ea typeface="Noto Sans CJK JP"/>
              </a:rPr>
              <a:t>Appendix: 6 参考文献</a:t>
            </a:r>
          </a:p>
        </p:txBody>
      </p:sp>
      <p:sp>
        <p:nvSpPr>
          <p:cNvPr id="4" name="TextBox 3"/>
          <p:cNvSpPr txBox="1"/>
          <p:nvPr/>
        </p:nvSpPr>
        <p:spPr>
          <a:xfrm>
            <a:off x="594360" y="1325058"/>
            <a:ext cx="7955279" cy="744945"/>
          </a:xfrm>
          <a:prstGeom prst="rect">
            <a:avLst/>
          </a:prstGeom>
          <a:noFill/>
        </p:spPr>
        <p:txBody>
          <a:bodyPr wrap="square" anchor="t" lIns="0" rIns="0" tIns="0" bIns="0">
            <a:spAutoFit/>
          </a:bodyPr>
          <a:lstStyle/>
          <a:p>
            <a:pPr>
              <a:lnSpc>
                <a:spcPct val="100000"/>
              </a:lnSpc>
              <a:spcBef>
                <a:spcPts val="0"/>
              </a:spcBef>
              <a:spcAft>
                <a:spcPts val="0"/>
              </a:spcAft>
              <a:buNone/>
            </a:pPr>
            <a:r>
              <a:rPr sz="1900" b="1" lang="ja-JP">
                <a:solidFill>
                  <a:srgbClr val="303437"/>
                </a:solidFill>
                <a:latin typeface="Noto Sans"/>
                <a:ea typeface="Noto Sans CJK JP"/>
              </a:rPr>
              <a:t>Adversarial Examples for Evaluating Reading Comprehension Systems</a:t>
            </a:r>
          </a:p>
        </p:txBody>
      </p:sp>
      <p:sp>
        <p:nvSpPr>
          <p:cNvPr id="5" name="TextBox 4"/>
          <p:cNvSpPr txBox="1"/>
          <p:nvPr/>
        </p:nvSpPr>
        <p:spPr>
          <a:xfrm>
            <a:off x="594360" y="2001290"/>
            <a:ext cx="7955279" cy="360393"/>
          </a:xfrm>
          <a:prstGeom prst="rect">
            <a:avLst/>
          </a:prstGeom>
          <a:noFill/>
        </p:spPr>
        <p:txBody>
          <a:bodyPr wrap="square" anchor="t" lIns="0" rIns="0" tIns="0" bIns="0">
            <a:spAutoFit/>
          </a:bodyPr>
          <a:lstStyle/>
          <a:p>
            <a:pPr>
              <a:lnSpc>
                <a:spcPct val="100000"/>
              </a:lnSpc>
              <a:spcBef>
                <a:spcPts val="0"/>
              </a:spcBef>
              <a:spcAft>
                <a:spcPts val="0"/>
              </a:spcAft>
              <a:buNone/>
            </a:pPr>
            <a:r>
              <a:rPr sz="1350" b="0" lang="ja-JP">
                <a:solidFill>
                  <a:srgbClr val="303437"/>
                </a:solidFill>
                <a:latin typeface="Noto Sans"/>
                <a:ea typeface="Noto Sans CJK JP"/>
              </a:rPr>
              <a:t>Jia, R., &amp; Liang, P. (2017). EMNLP, pp. 2021–2031.</a:t>
            </a:r>
          </a:p>
        </p:txBody>
      </p:sp>
      <p:sp>
        <p:nvSpPr>
          <p:cNvPr id="6" name="TextBox 5"/>
          <p:cNvSpPr txBox="1"/>
          <p:nvPr/>
        </p:nvSpPr>
        <p:spPr>
          <a:xfrm>
            <a:off x="594360" y="2348908"/>
            <a:ext cx="7955279" cy="732332"/>
          </a:xfrm>
          <a:prstGeom prst="rect">
            <a:avLst/>
          </a:prstGeom>
          <a:noFill/>
        </p:spPr>
        <p:txBody>
          <a:bodyPr wrap="square" anchor="t" lIns="0" rIns="0" tIns="0" bIns="0">
            <a:spAutoFit/>
          </a:bodyPr>
          <a:lstStyle/>
          <a:p>
            <a:pPr>
              <a:lnSpc>
                <a:spcPct val="100000"/>
              </a:lnSpc>
              <a:spcBef>
                <a:spcPts val="0"/>
              </a:spcBef>
              <a:spcAft>
                <a:spcPts val="0"/>
              </a:spcAft>
              <a:buNone/>
            </a:pPr>
            <a:r>
              <a:rPr sz="1800" b="0" lang="ja-JP">
                <a:solidFill>
                  <a:srgbClr val="303437"/>
                </a:solidFill>
                <a:latin typeface="Noto Sans"/>
                <a:ea typeface="Noto Sans CJK JP"/>
              </a:rPr>
              <a:t>読解モデルの頑健性を調べた研究。SQuADの段落に紛らわしい文を追加して性能を検証する。</a:t>
            </a:r>
          </a:p>
        </p:txBody>
      </p:sp>
      <p:sp>
        <p:nvSpPr>
          <p:cNvPr id="7" name="TextBox 6"/>
          <p:cNvSpPr txBox="1"/>
          <p:nvPr/>
        </p:nvSpPr>
        <p:spPr>
          <a:xfrm>
            <a:off x="594360" y="2990355"/>
            <a:ext cx="7955279" cy="308415"/>
          </a:xfrm>
          <a:prstGeom prst="rect">
            <a:avLst/>
          </a:prstGeom>
          <a:noFill/>
        </p:spPr>
        <p:txBody>
          <a:bodyPr wrap="square" anchor="t" lIns="0" rIns="0" tIns="0" bIns="0">
            <a:spAutoFit/>
          </a:bodyPr>
          <a:lstStyle/>
          <a:p>
            <a:pPr>
              <a:lnSpc>
                <a:spcPct val="100000"/>
              </a:lnSpc>
              <a:spcBef>
                <a:spcPts val="0"/>
              </a:spcBef>
              <a:spcAft>
                <a:spcPts val="0"/>
              </a:spcAft>
              <a:buNone/>
            </a:pPr>
            <a:r>
              <a:rPr sz="1050" b="0" lang="ja-JP">
                <a:solidFill>
                  <a:srgbClr val="626669"/>
                </a:solidFill>
                <a:latin typeface="Noto Sans"/>
                <a:ea typeface="Noto Sans CJK JP"/>
                <a:hlinkClick r:id="rId2"/>
              </a:rPr>
              <a:t>https://aclanthology.org/D17-1215/</a:t>
            </a:r>
          </a:p>
        </p:txBody>
      </p:sp>
      <p:sp>
        <p:nvSpPr>
          <p:cNvPr id="8" name="TextBox 7"/>
          <p:cNvSpPr txBox="1"/>
          <p:nvPr/>
        </p:nvSpPr>
        <p:spPr>
          <a:xfrm>
            <a:off x="594360" y="3407645"/>
            <a:ext cx="7955279" cy="455512"/>
          </a:xfrm>
          <a:prstGeom prst="rect">
            <a:avLst/>
          </a:prstGeom>
          <a:noFill/>
        </p:spPr>
        <p:txBody>
          <a:bodyPr wrap="square" anchor="t" lIns="0" rIns="0" tIns="0" bIns="0">
            <a:spAutoFit/>
          </a:bodyPr>
          <a:lstStyle/>
          <a:p>
            <a:pPr>
              <a:lnSpc>
                <a:spcPct val="100000"/>
              </a:lnSpc>
              <a:spcBef>
                <a:spcPts val="0"/>
              </a:spcBef>
              <a:spcAft>
                <a:spcPts val="0"/>
              </a:spcAft>
              <a:buNone/>
            </a:pPr>
            <a:r>
              <a:rPr sz="1900" b="1" lang="ja-JP">
                <a:solidFill>
                  <a:srgbClr val="303437"/>
                </a:solidFill>
                <a:latin typeface="Noto Sans"/>
                <a:ea typeface="Noto Sans CJK JP"/>
              </a:rPr>
              <a:t>SQuAD-explorer</a:t>
            </a:r>
          </a:p>
        </p:txBody>
      </p:sp>
      <p:sp>
        <p:nvSpPr>
          <p:cNvPr id="9" name="TextBox 8"/>
          <p:cNvSpPr txBox="1"/>
          <p:nvPr/>
        </p:nvSpPr>
        <p:spPr>
          <a:xfrm>
            <a:off x="594360" y="3810038"/>
            <a:ext cx="7955279" cy="375987"/>
          </a:xfrm>
          <a:prstGeom prst="rect">
            <a:avLst/>
          </a:prstGeom>
          <a:noFill/>
        </p:spPr>
        <p:txBody>
          <a:bodyPr wrap="square" anchor="t" lIns="0" rIns="0" tIns="0" bIns="0">
            <a:spAutoFit/>
          </a:bodyPr>
          <a:lstStyle/>
          <a:p>
            <a:pPr>
              <a:lnSpc>
                <a:spcPct val="100000"/>
              </a:lnSpc>
              <a:spcBef>
                <a:spcPts val="0"/>
              </a:spcBef>
              <a:spcAft>
                <a:spcPts val="0"/>
              </a:spcAft>
              <a:buNone/>
            </a:pPr>
            <a:r>
              <a:rPr sz="1350" b="0" lang="ja-JP">
                <a:solidFill>
                  <a:srgbClr val="303437"/>
                </a:solidFill>
                <a:latin typeface="Noto Sans"/>
                <a:ea typeface="Noto Sans CJK JP"/>
              </a:rPr>
              <a:t>Rajpurkar, P., et al. (n.d.). GitHub repository. 参照 2026-10-15.</a:t>
            </a:r>
          </a:p>
        </p:txBody>
      </p:sp>
      <p:sp>
        <p:nvSpPr>
          <p:cNvPr id="10" name="TextBox 9"/>
          <p:cNvSpPr txBox="1"/>
          <p:nvPr/>
        </p:nvSpPr>
        <p:spPr>
          <a:xfrm>
            <a:off x="594360" y="4157656"/>
            <a:ext cx="7955279" cy="732332"/>
          </a:xfrm>
          <a:prstGeom prst="rect">
            <a:avLst/>
          </a:prstGeom>
          <a:noFill/>
        </p:spPr>
        <p:txBody>
          <a:bodyPr wrap="square" anchor="t" lIns="0" rIns="0" tIns="0" bIns="0">
            <a:spAutoFit/>
          </a:bodyPr>
          <a:lstStyle/>
          <a:p>
            <a:pPr>
              <a:lnSpc>
                <a:spcPct val="100000"/>
              </a:lnSpc>
              <a:spcBef>
                <a:spcPts val="0"/>
              </a:spcBef>
              <a:spcAft>
                <a:spcPts val="0"/>
              </a:spcAft>
              <a:buNone/>
            </a:pPr>
            <a:r>
              <a:rPr sz="1800" b="0" lang="ja-JP">
                <a:solidFill>
                  <a:srgbClr val="303437"/>
                </a:solidFill>
                <a:latin typeface="Noto Sans"/>
                <a:ea typeface="Noto Sans CJK JP"/>
              </a:rPr>
              <a:t>SQuADの公式配布リポジトリ。公開JSON、EM・F1の評価スクリプトと提出形式を提供する。</a:t>
            </a:r>
          </a:p>
        </p:txBody>
      </p:sp>
      <p:sp>
        <p:nvSpPr>
          <p:cNvPr id="11" name="TextBox 10"/>
          <p:cNvSpPr txBox="1"/>
          <p:nvPr/>
        </p:nvSpPr>
        <p:spPr>
          <a:xfrm>
            <a:off x="594360" y="4799103"/>
            <a:ext cx="7955279" cy="308415"/>
          </a:xfrm>
          <a:prstGeom prst="rect">
            <a:avLst/>
          </a:prstGeom>
          <a:noFill/>
        </p:spPr>
        <p:txBody>
          <a:bodyPr wrap="square" anchor="t" lIns="0" rIns="0" tIns="0" bIns="0">
            <a:spAutoFit/>
          </a:bodyPr>
          <a:lstStyle/>
          <a:p>
            <a:pPr>
              <a:lnSpc>
                <a:spcPct val="100000"/>
              </a:lnSpc>
              <a:spcBef>
                <a:spcPts val="0"/>
              </a:spcBef>
              <a:spcAft>
                <a:spcPts val="0"/>
              </a:spcAft>
              <a:buNone/>
            </a:pPr>
            <a:r>
              <a:rPr sz="1050" b="0" lang="ja-JP">
                <a:solidFill>
                  <a:srgbClr val="626669"/>
                </a:solidFill>
                <a:latin typeface="Noto Sans"/>
                <a:ea typeface="Noto Sans CJK JP"/>
                <a:hlinkClick r:id="rId3"/>
              </a:rPr>
              <a:t>https://github.com/rajpurkar/SQuAD-explorer</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佐々木　悠太</cp:lastModifiedBy>
  <cp:revision>500</cp:revision>
  <dcterms:modified xsi:type="dcterms:W3CDTF">2026-10-13T12:49:59Z</dcterms:modified>
  <dc:title>読解型質問応答用データセット SQuAD</dc:title>
  <dc:subject>SQuAD introduction and appendix</dc:subject>
  <dc:creator/>
  <dc:language>ja-JP</dc:language>
</cp:coreProperties>
</file>