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7"/>
    <p:sldId id="348" r:id="rId99"/>
    <p:sldId id="349" r:id="rId100"/>
    <p:sldId id="257" r:id="rId8"/>
    <p:sldId id="258" r:id="rId9"/>
    <p:sldId id="263" r:id="rId2"/>
    <p:sldId id="264" r:id="rId15"/>
    <p:sldId id="265" r:id="rId16"/>
    <p:sldId id="266" r:id="rId17"/>
    <p:sldId id="267" r:id="rId18"/>
    <p:sldId id="350" r:id="rId101"/>
    <p:sldId id="261" r:id="rId4"/>
    <p:sldId id="262" r:id="rId3"/>
    <p:sldId id="268" r:id="rId19"/>
    <p:sldId id="269" r:id="rId20"/>
    <p:sldId id="270" r:id="rId21"/>
    <p:sldId id="271" r:id="rId22"/>
    <p:sldId id="272" r:id="rId23"/>
    <p:sldId id="273" r:id="rId24"/>
    <p:sldId id="351" r:id="rId102"/>
    <p:sldId id="274" r:id="rId25"/>
    <p:sldId id="352" r:id="rId103"/>
    <p:sldId id="276" r:id="rId27"/>
    <p:sldId id="278" r:id="rId29"/>
    <p:sldId id="277" r:id="rId28"/>
    <p:sldId id="353" r:id="rId104"/>
    <p:sldId id="259" r:id="rId6"/>
    <p:sldId id="260" r:id="rId5"/>
    <p:sldId id="279" r:id="rId30"/>
    <p:sldId id="354" r:id="rId105"/>
    <p:sldId id="280" r:id="rId31"/>
    <p:sldId id="281" r:id="rId32"/>
    <p:sldId id="355" r:id="rId106"/>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4" r:id="rId75"/>
    <p:sldId id="323" r:id="rId74"/>
    <p:sldId id="347" r:id="rId98"/>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6.xml"/><Relationship Id="rId3" Type="http://schemas.openxmlformats.org/officeDocument/2006/relationships/slide" Target="slides/slide13.xml"/><Relationship Id="rId4" Type="http://schemas.openxmlformats.org/officeDocument/2006/relationships/slide" Target="slides/slide12.xml"/><Relationship Id="rId5" Type="http://schemas.openxmlformats.org/officeDocument/2006/relationships/slide" Target="slides/slide28.xml"/><Relationship Id="rId6" Type="http://schemas.openxmlformats.org/officeDocument/2006/relationships/slide" Target="slides/slide27.xml"/><Relationship Id="rId7" Type="http://schemas.openxmlformats.org/officeDocument/2006/relationships/slide" Target="slides/slide1.xml"/><Relationship Id="rId8" Type="http://schemas.openxmlformats.org/officeDocument/2006/relationships/slide" Target="slides/slide4.xml"/><Relationship Id="rId9"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1.xml"/><Relationship Id="rId27" Type="http://schemas.openxmlformats.org/officeDocument/2006/relationships/slide" Target="slides/slide23.xml"/><Relationship Id="rId28" Type="http://schemas.openxmlformats.org/officeDocument/2006/relationships/slide" Target="slides/slide25.xml"/><Relationship Id="rId29" Type="http://schemas.openxmlformats.org/officeDocument/2006/relationships/slide" Target="slides/slide24.xml"/><Relationship Id="rId30" Type="http://schemas.openxmlformats.org/officeDocument/2006/relationships/slide" Target="slides/slide29.xml"/><Relationship Id="rId31" Type="http://schemas.openxmlformats.org/officeDocument/2006/relationships/slide" Target="slides/slide31.xml"/><Relationship Id="rId32" Type="http://schemas.openxmlformats.org/officeDocument/2006/relationships/slide" Target="slides/slide32.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36.xml"/><Relationship Id="rId37" Type="http://schemas.openxmlformats.org/officeDocument/2006/relationships/slide" Target="slides/slide37.xml"/><Relationship Id="rId38" Type="http://schemas.openxmlformats.org/officeDocument/2006/relationships/slide" Target="slides/slide38.xml"/><Relationship Id="rId39" Type="http://schemas.openxmlformats.org/officeDocument/2006/relationships/slide" Target="slides/slide39.xml"/><Relationship Id="rId40" Type="http://schemas.openxmlformats.org/officeDocument/2006/relationships/slide" Target="slides/slide40.xml"/><Relationship Id="rId41" Type="http://schemas.openxmlformats.org/officeDocument/2006/relationships/slide" Target="slides/slide41.xml"/><Relationship Id="rId42" Type="http://schemas.openxmlformats.org/officeDocument/2006/relationships/slide" Target="slides/slide42.xml"/><Relationship Id="rId43" Type="http://schemas.openxmlformats.org/officeDocument/2006/relationships/slide" Target="slides/slide43.xml"/><Relationship Id="rId44" Type="http://schemas.openxmlformats.org/officeDocument/2006/relationships/slide" Target="slides/slide44.xml"/><Relationship Id="rId45" Type="http://schemas.openxmlformats.org/officeDocument/2006/relationships/slide" Target="slides/slide45.xml"/><Relationship Id="rId46" Type="http://schemas.openxmlformats.org/officeDocument/2006/relationships/slide" Target="slides/slide46.xml"/><Relationship Id="rId47" Type="http://schemas.openxmlformats.org/officeDocument/2006/relationships/slide" Target="slides/slide47.xml"/><Relationship Id="rId48" Type="http://schemas.openxmlformats.org/officeDocument/2006/relationships/slide" Target="slides/slide48.xml"/><Relationship Id="rId49" Type="http://schemas.openxmlformats.org/officeDocument/2006/relationships/slide" Target="slides/slide49.xml"/><Relationship Id="rId50" Type="http://schemas.openxmlformats.org/officeDocument/2006/relationships/slide" Target="slides/slide50.xml"/><Relationship Id="rId51" Type="http://schemas.openxmlformats.org/officeDocument/2006/relationships/slide" Target="slides/slide51.xml"/><Relationship Id="rId52" Type="http://schemas.openxmlformats.org/officeDocument/2006/relationships/slide" Target="slides/slide74.xml"/><Relationship Id="rId53" Type="http://schemas.openxmlformats.org/officeDocument/2006/relationships/slide" Target="slides/slide75.xml"/><Relationship Id="rId54" Type="http://schemas.openxmlformats.org/officeDocument/2006/relationships/slide" Target="slides/slide76.xml"/><Relationship Id="rId55" Type="http://schemas.openxmlformats.org/officeDocument/2006/relationships/slide" Target="slides/slide77.xml"/><Relationship Id="rId56" Type="http://schemas.openxmlformats.org/officeDocument/2006/relationships/slide" Target="slides/slide78.xml"/><Relationship Id="rId57" Type="http://schemas.openxmlformats.org/officeDocument/2006/relationships/slide" Target="slides/slide79.xml"/><Relationship Id="rId58" Type="http://schemas.openxmlformats.org/officeDocument/2006/relationships/slide" Target="slides/slide80.xml"/><Relationship Id="rId59" Type="http://schemas.openxmlformats.org/officeDocument/2006/relationships/slide" Target="slides/slide81.xml"/><Relationship Id="rId60" Type="http://schemas.openxmlformats.org/officeDocument/2006/relationships/slide" Target="slides/slide82.xml"/><Relationship Id="rId61" Type="http://schemas.openxmlformats.org/officeDocument/2006/relationships/slide" Target="slides/slide83.xml"/><Relationship Id="rId62" Type="http://schemas.openxmlformats.org/officeDocument/2006/relationships/slide" Target="slides/slide84.xml"/><Relationship Id="rId63" Type="http://schemas.openxmlformats.org/officeDocument/2006/relationships/slide" Target="slides/slide85.xml"/><Relationship Id="rId64" Type="http://schemas.openxmlformats.org/officeDocument/2006/relationships/slide" Target="slides/slide86.xml"/><Relationship Id="rId65" Type="http://schemas.openxmlformats.org/officeDocument/2006/relationships/slide" Target="slides/slide87.xml"/><Relationship Id="rId66" Type="http://schemas.openxmlformats.org/officeDocument/2006/relationships/slide" Target="slides/slide88.xml"/><Relationship Id="rId67" Type="http://schemas.openxmlformats.org/officeDocument/2006/relationships/slide" Target="slides/slide89.xml"/><Relationship Id="rId68" Type="http://schemas.openxmlformats.org/officeDocument/2006/relationships/slide" Target="slides/slide90.xml"/><Relationship Id="rId69" Type="http://schemas.openxmlformats.org/officeDocument/2006/relationships/slide" Target="slides/slide91.xml"/><Relationship Id="rId70" Type="http://schemas.openxmlformats.org/officeDocument/2006/relationships/slide" Target="slides/slide92.xml"/><Relationship Id="rId71" Type="http://schemas.openxmlformats.org/officeDocument/2006/relationships/slide" Target="slides/slide93.xml"/><Relationship Id="rId72" Type="http://schemas.openxmlformats.org/officeDocument/2006/relationships/slide" Target="slides/slide94.xml"/><Relationship Id="rId73" Type="http://schemas.openxmlformats.org/officeDocument/2006/relationships/slide" Target="slides/slide95.xml"/><Relationship Id="rId74" Type="http://schemas.openxmlformats.org/officeDocument/2006/relationships/slide" Target="slides/slide97.xml"/><Relationship Id="rId75" Type="http://schemas.openxmlformats.org/officeDocument/2006/relationships/slide" Target="slides/slide96.xml"/><Relationship Id="rId76" Type="http://schemas.openxmlformats.org/officeDocument/2006/relationships/slide" Target="slides/slide52.xml"/><Relationship Id="rId77" Type="http://schemas.openxmlformats.org/officeDocument/2006/relationships/slide" Target="slides/slide53.xml"/><Relationship Id="rId78" Type="http://schemas.openxmlformats.org/officeDocument/2006/relationships/slide" Target="slides/slide54.xml"/><Relationship Id="rId79" Type="http://schemas.openxmlformats.org/officeDocument/2006/relationships/slide" Target="slides/slide55.xml"/><Relationship Id="rId80" Type="http://schemas.openxmlformats.org/officeDocument/2006/relationships/slide" Target="slides/slide56.xml"/><Relationship Id="rId81" Type="http://schemas.openxmlformats.org/officeDocument/2006/relationships/slide" Target="slides/slide57.xml"/><Relationship Id="rId82" Type="http://schemas.openxmlformats.org/officeDocument/2006/relationships/slide" Target="slides/slide58.xml"/><Relationship Id="rId83" Type="http://schemas.openxmlformats.org/officeDocument/2006/relationships/slide" Target="slides/slide59.xml"/><Relationship Id="rId84" Type="http://schemas.openxmlformats.org/officeDocument/2006/relationships/slide" Target="slides/slide60.xml"/><Relationship Id="rId85" Type="http://schemas.openxmlformats.org/officeDocument/2006/relationships/slide" Target="slides/slide61.xml"/><Relationship Id="rId86" Type="http://schemas.openxmlformats.org/officeDocument/2006/relationships/slide" Target="slides/slide62.xml"/><Relationship Id="rId87" Type="http://schemas.openxmlformats.org/officeDocument/2006/relationships/slide" Target="slides/slide63.xml"/><Relationship Id="rId88" Type="http://schemas.openxmlformats.org/officeDocument/2006/relationships/slide" Target="slides/slide64.xml"/><Relationship Id="rId89" Type="http://schemas.openxmlformats.org/officeDocument/2006/relationships/slide" Target="slides/slide65.xml"/><Relationship Id="rId90" Type="http://schemas.openxmlformats.org/officeDocument/2006/relationships/slide" Target="slides/slide66.xml"/><Relationship Id="rId91" Type="http://schemas.openxmlformats.org/officeDocument/2006/relationships/slide" Target="slides/slide67.xml"/><Relationship Id="rId92" Type="http://schemas.openxmlformats.org/officeDocument/2006/relationships/slide" Target="slides/slide68.xml"/><Relationship Id="rId93" Type="http://schemas.openxmlformats.org/officeDocument/2006/relationships/slide" Target="slides/slide69.xml"/><Relationship Id="rId94" Type="http://schemas.openxmlformats.org/officeDocument/2006/relationships/slide" Target="slides/slide70.xml"/><Relationship Id="rId95" Type="http://schemas.openxmlformats.org/officeDocument/2006/relationships/slide" Target="slides/slide71.xml"/><Relationship Id="rId96" Type="http://schemas.openxmlformats.org/officeDocument/2006/relationships/slide" Target="slides/slide72.xml"/><Relationship Id="rId97" Type="http://schemas.openxmlformats.org/officeDocument/2006/relationships/slide" Target="slides/slide73.xml"/><Relationship Id="rId98" Type="http://schemas.openxmlformats.org/officeDocument/2006/relationships/slide" Target="slides/slide98.xml"/><Relationship Id="rId99" Type="http://schemas.openxmlformats.org/officeDocument/2006/relationships/slide" Target="slides/slide2.xml"/><Relationship Id="rId100" Type="http://schemas.openxmlformats.org/officeDocument/2006/relationships/slide" Target="slides/slide3.xml"/><Relationship Id="rId101" Type="http://schemas.openxmlformats.org/officeDocument/2006/relationships/slide" Target="slides/slide11.xml"/><Relationship Id="rId102" Type="http://schemas.openxmlformats.org/officeDocument/2006/relationships/slide" Target="slides/slide20.xml"/><Relationship Id="rId103" Type="http://schemas.openxmlformats.org/officeDocument/2006/relationships/slide" Target="slides/slide22.xml"/><Relationship Id="rId104" Type="http://schemas.openxmlformats.org/officeDocument/2006/relationships/slide" Target="slides/slide26.xml"/><Relationship Id="rId105" Type="http://schemas.openxmlformats.org/officeDocument/2006/relationships/slide" Target="slides/slide30.xml"/><Relationship Id="rId106" Type="http://schemas.openxmlformats.org/officeDocument/2006/relationships/slide" Target="slides/slide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SzPts val="5200"/>
              <a:buNone/>
              <a:defRPr sz="5200" b="1">
                <a:solidFill>
                  <a:schemeClr val="dk1"/>
                </a:solidFill>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SzPts val="2800"/>
              <a:buNone/>
              <a:defRPr sz="2800">
                <a:solidFill>
                  <a:schemeClr val="dk1"/>
                </a:solidFill>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pPr>
              <a:defRPr sz="2200"/>
            </a:pPr>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607898" y="-10450"/>
            <a:ext cx="548701" cy="479700"/>
          </a:xfrm>
          <a:prstGeom prst="rect">
            <a:avLst/>
          </a:prstGeom>
          <a:noFill/>
          <a:ln>
            <a:noFill/>
          </a:ln>
        </p:spPr>
        <p:txBody>
          <a:bodyPr anchor="ctr"/>
          <a:lstStyle/>
          <a:p>
            <a:pPr algn="ctr"/>
            <a:fld id="{00000000-1234-1234-1234-000000000999}" type="slidenum">
              <a:rPr lang="en-US" sz="1800" b="1">
                <a:solidFill>
                  <a:schemeClr val="lt1"/>
                </a:solidFill>
              </a:rPr>
              <a:pPr algn="ctr"/>
              <a:t>‹#›</a:t>
            </a:fld>
            <a:endParaRPr lang="en-US" sz="1800" b="1" dirty="0"/>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0" tIns="0" rIns="0" bIns="0" anchor="ctr" anchorCtr="0">
            <a:normAutofit/>
          </a:bodyPr>
          <a:lstStyle>
            <a:lvl1pPr lvl="0" algn="ctr">
              <a:lnSpc>
                <a:spcPct val="100000"/>
              </a:lnSpc>
              <a:spcBef>
                <a:spcPts val="0"/>
              </a:spcBef>
              <a:spcAft>
                <a:spcPts val="0"/>
              </a:spcAft>
              <a:buClr>
                <a:schemeClr val="dk1"/>
              </a:buClr>
              <a:buSzPts val="2800"/>
              <a:buNone/>
              <a:defRPr sz="2800">
                <a:solidFill>
                  <a:schemeClr val="dk1"/>
                </a:solidFill>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pPr algn="l">
              <a:lnSpc>
                <a:spcPct val="100000"/>
              </a:lnSpc>
              <a:spcBef>
                <a:spcPts val="0"/>
              </a:spcBef>
              <a:spcAft>
                <a:spcPts val="0"/>
              </a:spcAft>
              <a:defRPr sz="1400" b="0">
                <a:solidFill>
                  <a:srgbClr val="626669"/>
                </a:solidFill>
                <a:latin typeface="Noto Sans CJK JP"/>
              </a:defRPr>
            </a:pPr>
            <a:r>
              <a:t>所属　［所属］</a:t>
            </a:r>
          </a:p>
        </p:txBody>
      </p:sp>
      <p:sp>
        <p:nvSpPr>
          <p:cNvPr id="111" name="Author name"/>
          <p:cNvSpPr txBox="1">
            <a:spLocks noGrp="1"/>
          </p:cNvSpPr>
          <p:nvPr>
            <p:ph type="body" idx="11"/>
          </p:nvPr>
        </p:nvSpPr>
        <p:spPr>
          <a:xfrm>
            <a:off x="5486400" y="4498848"/>
            <a:ext cx="3108960" cy="228600"/>
          </a:xfrm>
          <a:prstGeom prst="rect">
            <a:avLst/>
          </a:prstGeom>
        </p:spPr>
        <p:txBody>
          <a:bodyPr spcFirstLastPara="1" wrap="square" lIns="0" tIns="0" rIns="0" bIns="0" anchor="ctr" anchorCtr="0">
            <a:normAutofit/>
          </a:bodyPr>
          <a:lstStyle>
            <a:lvl1pPr lvl="0" algn="ctr">
              <a:lnSpc>
                <a:spcPct val="100000"/>
              </a:lnSpc>
              <a:spcBef>
                <a:spcPts val="0"/>
              </a:spcBef>
              <a:spcAft>
                <a:spcPts val="0"/>
              </a:spcAft>
              <a:buClr>
                <a:schemeClr val="dk1"/>
              </a:buClr>
              <a:buSzPts val="2800"/>
              <a:buNone/>
              <a:defRPr sz="2800">
                <a:solidFill>
                  <a:schemeClr val="dk1"/>
                </a:solidFill>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pPr algn="l">
              <a:lnSpc>
                <a:spcPct val="100000"/>
              </a:lnSpc>
              <a:spcBef>
                <a:spcPts val="0"/>
              </a:spcBef>
              <a:spcAft>
                <a:spcPts val="0"/>
              </a:spcAft>
              <a:defRPr sz="1400" b="0">
                <a:solidFill>
                  <a:srgbClr val="626669"/>
                </a:solidFill>
                <a:latin typeface="Noto Sans CJK JP"/>
              </a:defRPr>
            </a:pPr>
            <a:r>
              <a:t>氏名　［氏名］</a:t>
            </a:r>
          </a:p>
        </p:txBody>
      </p:sp>
      <p:sp>
        <p:nvSpPr>
          <p:cNvPr id="112" name="Creation date"/>
          <p:cNvSpPr txBox="1">
            <a:spLocks noGrp="1"/>
          </p:cNvSpPr>
          <p:nvPr>
            <p:ph type="body" idx="12"/>
          </p:nvPr>
        </p:nvSpPr>
        <p:spPr>
          <a:xfrm>
            <a:off x="5486400" y="4773168"/>
            <a:ext cx="3108960" cy="228600"/>
          </a:xfrm>
          <a:prstGeom prst="rect">
            <a:avLst/>
          </a:prstGeom>
        </p:spPr>
        <p:txBody>
          <a:bodyPr spcFirstLastPara="1" wrap="square" lIns="0" tIns="0" rIns="0" bIns="0" anchor="ctr" anchorCtr="0">
            <a:normAutofit/>
          </a:bodyPr>
          <a:lstStyle>
            <a:lvl1pPr lvl="0" algn="ctr">
              <a:lnSpc>
                <a:spcPct val="100000"/>
              </a:lnSpc>
              <a:spcBef>
                <a:spcPts val="0"/>
              </a:spcBef>
              <a:spcAft>
                <a:spcPts val="0"/>
              </a:spcAft>
              <a:buClr>
                <a:schemeClr val="dk1"/>
              </a:buClr>
              <a:buSzPts val="2800"/>
              <a:buNone/>
              <a:defRPr sz="2800">
                <a:solidFill>
                  <a:schemeClr val="dk1"/>
                </a:solidFill>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pPr algn="l">
              <a:lnSpc>
                <a:spcPct val="100000"/>
              </a:lnSpc>
              <a:spcBef>
                <a:spcPts val="0"/>
              </a:spcBef>
              <a:spcAft>
                <a:spcPts val="0"/>
              </a:spcAft>
              <a:defRPr sz="1400" b="0">
                <a:solidFill>
                  <a:srgbClr val="626669"/>
                </a:solidFill>
                <a:latin typeface="Noto Sans CJK JP"/>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pPr>
            <a:r>
              <a:rPr lang="en-US" altLang="ja" b="1" dirty="0">
                <a:solidFill>
                  <a:schemeClr val="lt1"/>
                </a:solidFill>
              </a:rPr>
              <a:t>T</a:t>
            </a:r>
            <a:r>
              <a:rPr lang="ja" b="1" dirty="0">
                <a:solidFill>
                  <a:schemeClr val="lt1"/>
                </a:solidFill>
              </a:rPr>
              <a:t>able of </a:t>
            </a:r>
            <a:r>
              <a:rPr lang="en-US" altLang="ja" b="1" dirty="0">
                <a:solidFill>
                  <a:schemeClr val="lt1"/>
                </a:solidFill>
              </a:rPr>
              <a:t>C</a:t>
            </a:r>
            <a:r>
              <a:rPr lang="ja" b="1" dirty="0">
                <a:solidFill>
                  <a:schemeClr val="lt1"/>
                </a:solidFill>
              </a:rPr>
              <a:t>ontents</a:t>
            </a:r>
            <a:endParaRPr b="1" dirty="0">
              <a:solidFill>
                <a:schemeClr val="lt1"/>
              </a:solidFill>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SzPts val="1018"/>
              <a:buFont typeface="Arial"/>
              <a:buNone/>
              <a:tabLst/>
              <a:defRPr/>
            </a:pPr>
            <a:r>
              <a:rPr lang="ja" sz="2800" b="1" dirty="0">
                <a:solidFill>
                  <a:schemeClr val="accent2"/>
                </a:solidFill>
              </a:rPr>
              <a:t>1.</a:t>
            </a:r>
            <a:r>
              <a:rPr lang="en-US" altLang="ja" sz="2800" b="1" dirty="0">
                <a:solidFill>
                  <a:schemeClr val="accent2"/>
                </a:solidFill>
              </a:rPr>
              <a:t> </a:t>
            </a:r>
            <a:r>
              <a:rPr lang="en" altLang="ja" sz="2800" b="1" dirty="0">
                <a:solidFill>
                  <a:schemeClr val="dk1"/>
                </a:solidFill>
              </a:rPr>
              <a:t>Background &amp; Purpose</a:t>
            </a:r>
            <a:endParaRPr lang="en" altLang="ja-JP" sz="2800" b="1" dirty="0">
              <a:solidFill>
                <a:schemeClr val="dk1"/>
              </a:solidFill>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SzPts val="1018"/>
              <a:buFont typeface="Arial"/>
              <a:buNone/>
              <a:tabLst/>
              <a:defRPr/>
            </a:pPr>
            <a:r>
              <a:rPr lang="ja" sz="2800" b="1" dirty="0">
                <a:solidFill>
                  <a:schemeClr val="accent2"/>
                </a:solidFill>
              </a:rPr>
              <a:t>2.</a:t>
            </a:r>
            <a:r>
              <a:rPr lang="en-US" altLang="ja" sz="2800" b="1" dirty="0">
                <a:solidFill>
                  <a:schemeClr val="accent2"/>
                </a:solidFill>
              </a:rPr>
              <a:t> </a:t>
            </a:r>
            <a:r>
              <a:rPr lang="en" altLang="ja" sz="2800" b="1" dirty="0">
                <a:solidFill>
                  <a:schemeClr val="dk1"/>
                </a:solidFill>
              </a:rPr>
              <a:t>Methodology</a:t>
            </a:r>
            <a:endParaRPr lang="en" altLang="ja-JP" sz="2800" b="1" dirty="0">
              <a:solidFill>
                <a:schemeClr val="dk1"/>
              </a:solidFill>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SzPts val="1018"/>
              <a:buFont typeface="Arial"/>
              <a:buNone/>
              <a:tabLst/>
              <a:defRPr/>
            </a:pPr>
            <a:r>
              <a:rPr lang="ja" sz="2800" b="1" dirty="0">
                <a:solidFill>
                  <a:schemeClr val="accent2"/>
                </a:solidFill>
              </a:rPr>
              <a:t>3.</a:t>
            </a:r>
            <a:r>
              <a:rPr lang="en-US" altLang="ja" sz="2800" b="1" dirty="0">
                <a:solidFill>
                  <a:schemeClr val="accent2"/>
                </a:solidFill>
              </a:rPr>
              <a:t> </a:t>
            </a:r>
            <a:r>
              <a:rPr lang="en" altLang="ja" sz="2800" b="1" dirty="0">
                <a:solidFill>
                  <a:schemeClr val="dk1"/>
                </a:solidFill>
              </a:rPr>
              <a:t>Classification Framework</a:t>
            </a:r>
            <a:endParaRPr lang="en" altLang="ja-JP" sz="2800" b="1" dirty="0">
              <a:solidFill>
                <a:schemeClr val="dk1"/>
              </a:solidFill>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SzPts val="1018"/>
              <a:buFont typeface="Arial"/>
              <a:buNone/>
              <a:tabLst/>
              <a:defRPr/>
            </a:pPr>
            <a:r>
              <a:rPr lang="ja" sz="2800" b="1" dirty="0">
                <a:solidFill>
                  <a:schemeClr val="accent2"/>
                </a:solidFill>
              </a:rPr>
              <a:t>4.</a:t>
            </a:r>
            <a:r>
              <a:rPr lang="en-US" altLang="ja" sz="2800" b="1" dirty="0">
                <a:solidFill>
                  <a:schemeClr val="accent2"/>
                </a:solidFill>
              </a:rPr>
              <a:t> </a:t>
            </a:r>
            <a:r>
              <a:rPr lang="en" altLang="ja" sz="2800" b="1" dirty="0">
                <a:solidFill>
                  <a:schemeClr val="dk1"/>
                </a:solidFill>
              </a:rPr>
              <a:t>Results &amp; Analysis</a:t>
            </a:r>
            <a:endParaRPr lang="en" altLang="ja-JP" sz="2800" b="1" dirty="0">
              <a:solidFill>
                <a:schemeClr val="dk1"/>
              </a:solidFill>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a:solidFill>
                <a:schemeClr val="dk1"/>
              </a:solidFill>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SzPts val="1018"/>
              <a:buFont typeface="Arial"/>
              <a:buNone/>
              <a:tabLst/>
              <a:defRPr/>
            </a:pPr>
            <a:r>
              <a:rPr lang="ja" sz="2800" b="1" dirty="0">
                <a:solidFill>
                  <a:schemeClr val="accent2"/>
                </a:solidFill>
              </a:rPr>
              <a:t>5.</a:t>
            </a:r>
            <a:r>
              <a:rPr lang="en-US" altLang="ja" sz="2800" b="1" dirty="0">
                <a:solidFill>
                  <a:schemeClr val="accent2"/>
                </a:solidFill>
              </a:rPr>
              <a:t> </a:t>
            </a:r>
            <a:r>
              <a:rPr lang="en" altLang="ja" sz="2800" b="1" dirty="0">
                <a:solidFill>
                  <a:schemeClr val="dk1"/>
                </a:solidFill>
              </a:rPr>
              <a:t>Conclusions and future work</a:t>
            </a:r>
            <a:endParaRPr lang="en" altLang="ja-JP" sz="2800" b="1" dirty="0">
              <a:solidFill>
                <a:schemeClr val="dk1"/>
              </a:solidFill>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en-US" sz="1800" b="1">
                <a:solidFill>
                  <a:schemeClr val="lt1"/>
                </a:solidFill>
              </a:rPr>
              <a:t>‹#›</a:t>
            </a:fld>
            <a:endParaRPr lang="en-US" sz="1800" b="1"/>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square" lIns="91425" tIns="91425" rIns="91425" bIns="91425" anchor="t" anchorCtr="0">
            <a:normAutofit/>
          </a:bodyPr>
          <a:lstStyle>
            <a:lvl1pPr lvl="0">
              <a:spcBef>
                <a:spcPts val="0"/>
              </a:spcBef>
              <a:spcAft>
                <a:spcPts val="0"/>
              </a:spcAft>
              <a:buClr>
                <a:schemeClr val="dk1"/>
              </a:buClr>
              <a:buSzPts val="3000"/>
              <a:buNone/>
              <a:defRPr sz="3000" b="1">
                <a:solidFill>
                  <a:schemeClr val="dk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chemeClr val="dk2"/>
              </a:buClr>
              <a:buSzPts val="2000"/>
              <a:buChar char="●"/>
              <a:defRPr sz="2000">
                <a:solidFill>
                  <a:schemeClr val="dk2"/>
                </a:solidFill>
              </a:defRPr>
            </a:lvl1pPr>
            <a:lvl2pPr marL="914400" lvl="1" indent="-355600">
              <a:spcBef>
                <a:spcPts val="0"/>
              </a:spcBef>
              <a:spcAft>
                <a:spcPts val="0"/>
              </a:spcAft>
              <a:buClr>
                <a:schemeClr val="dk2"/>
              </a:buClr>
              <a:buSzPts val="2000"/>
              <a:buChar char="○"/>
              <a:defRPr sz="2000">
                <a:solidFill>
                  <a:schemeClr val="dk2"/>
                </a:solidFill>
              </a:defRPr>
            </a:lvl2pPr>
            <a:lvl3pPr marL="1371600" lvl="2" indent="-355600">
              <a:spcBef>
                <a:spcPts val="0"/>
              </a:spcBef>
              <a:spcAft>
                <a:spcPts val="0"/>
              </a:spcAft>
              <a:buClr>
                <a:schemeClr val="dk2"/>
              </a:buClr>
              <a:buSzPts val="2000"/>
              <a:buChar char="■"/>
              <a:defRPr sz="2000">
                <a:solidFill>
                  <a:schemeClr val="dk2"/>
                </a:solidFill>
              </a:defRPr>
            </a:lvl3pPr>
            <a:lvl4pPr marL="1828800" lvl="3" indent="-368300">
              <a:spcBef>
                <a:spcPts val="0"/>
              </a:spcBef>
              <a:spcAft>
                <a:spcPts val="0"/>
              </a:spcAft>
              <a:buClr>
                <a:schemeClr val="dk2"/>
              </a:buClr>
              <a:buSzPts val="2200"/>
              <a:buChar char="●"/>
              <a:defRPr sz="2200">
                <a:solidFill>
                  <a:schemeClr val="dk2"/>
                </a:solidFill>
              </a:defRPr>
            </a:lvl4pPr>
            <a:lvl5pPr marL="2286000" lvl="4" indent="-355600">
              <a:spcBef>
                <a:spcPts val="0"/>
              </a:spcBef>
              <a:spcAft>
                <a:spcPts val="0"/>
              </a:spcAft>
              <a:buClr>
                <a:schemeClr val="dk2"/>
              </a:buClr>
              <a:buSzPts val="2000"/>
              <a:buChar char="○"/>
              <a:defRPr sz="2000">
                <a:solidFill>
                  <a:schemeClr val="dk2"/>
                </a:solidFill>
              </a:defRPr>
            </a:lvl5pPr>
            <a:lvl6pPr marL="2743200" lvl="5" indent="-355600">
              <a:spcBef>
                <a:spcPts val="0"/>
              </a:spcBef>
              <a:spcAft>
                <a:spcPts val="0"/>
              </a:spcAft>
              <a:buClr>
                <a:schemeClr val="dk2"/>
              </a:buClr>
              <a:buSzPts val="2000"/>
              <a:buChar char="■"/>
              <a:defRPr sz="2000">
                <a:solidFill>
                  <a:schemeClr val="dk2"/>
                </a:solidFill>
              </a:defRPr>
            </a:lvl6pPr>
            <a:lvl7pPr marL="3200400" lvl="6" indent="-355600">
              <a:spcBef>
                <a:spcPts val="0"/>
              </a:spcBef>
              <a:spcAft>
                <a:spcPts val="0"/>
              </a:spcAft>
              <a:buClr>
                <a:schemeClr val="dk2"/>
              </a:buClr>
              <a:buSzPts val="2000"/>
              <a:buChar char="●"/>
              <a:defRPr sz="2000">
                <a:solidFill>
                  <a:schemeClr val="dk2"/>
                </a:solidFill>
              </a:defRPr>
            </a:lvl7pPr>
            <a:lvl8pPr marL="3657600" lvl="7" indent="-355600">
              <a:spcBef>
                <a:spcPts val="0"/>
              </a:spcBef>
              <a:spcAft>
                <a:spcPts val="0"/>
              </a:spcAft>
              <a:buClr>
                <a:schemeClr val="dk2"/>
              </a:buClr>
              <a:buSzPts val="2000"/>
              <a:buChar char="○"/>
              <a:defRPr sz="2000">
                <a:solidFill>
                  <a:schemeClr val="dk2"/>
                </a:solidFill>
              </a:defRPr>
            </a:lvl8pPr>
            <a:lvl9pPr marL="4114800" lvl="8" indent="-355600">
              <a:spcBef>
                <a:spcPts val="0"/>
              </a:spcBef>
              <a:spcAft>
                <a:spcPts val="0"/>
              </a:spcAft>
              <a:buClr>
                <a:schemeClr val="dk2"/>
              </a:buClr>
              <a:buSzPts val="2000"/>
              <a:buChar char="■"/>
              <a:defRPr sz="2000">
                <a:solidFill>
                  <a:schemeClr val="dk2"/>
                </a:solidFill>
              </a:defRPr>
            </a:lvl9pPr>
          </a:lstStyle>
          <a:p>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SzPts val="1400"/>
              <a:buNone/>
              <a:defRPr sz="1400" b="1">
                <a:solidFill>
                  <a:schemeClr val="lt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pPr>
              <a:lnSpc>
                <a:spcPct val="100000"/>
              </a:lnSpc>
              <a:spcBef>
                <a:spcPts val="0"/>
              </a:spcBef>
              <a:spcAft>
                <a:spcPts val="0"/>
              </a:spcAft>
            </a:pPr>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en-US" sz="1800" b="1">
                <a:solidFill>
                  <a:schemeClr val="lt1"/>
                </a:solidFill>
              </a:rPr>
              <a:t>‹#›</a:t>
            </a:fld>
            <a:endParaRPr lang="en-US" sz="1800" b="1"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SzPts val="3000"/>
              <a:buNone/>
              <a:defRPr sz="3000" b="1">
                <a:solidFill>
                  <a:schemeClr val="dk1"/>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SzPts val="1400"/>
              <a:buNone/>
              <a:defRPr sz="1400" b="1">
                <a:solidFill>
                  <a:schemeClr val="lt1"/>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pPr>
              <a:lnSpc>
                <a:spcPct val="100000"/>
              </a:lnSpc>
              <a:spcBef>
                <a:spcPts val="0"/>
              </a:spcBef>
              <a:spcAft>
                <a:spcPts val="0"/>
              </a:spcAft>
            </a:pPr>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en-US" sz="1800" b="1">
                <a:solidFill>
                  <a:schemeClr val="lt1"/>
                </a:solidFill>
              </a:rPr>
              <a:t>‹#›</a:t>
            </a:fld>
            <a:endParaRPr lang="en-US" sz="1800" b="1"/>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a:p>
        </p:txBody>
      </p:sp>
      <p:sp>
        <p:nvSpPr>
          <p:cNvPr id="35" name="Google Shape;35;p7"/>
          <p:cNvSpPr txBox="1">
            <a:spLocks noGrp="1"/>
          </p:cNvSpPr>
          <p:nvPr>
            <p:ph type="title"/>
          </p:nvPr>
        </p:nvSpPr>
        <p:spPr>
          <a:xfrm>
            <a:off x="468600" y="2263650"/>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SzPts val="3000"/>
              <a:buNone/>
              <a:defRPr sz="3000" b="1">
                <a:solidFill>
                  <a:schemeClr val="dk1"/>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SzPts val="1400"/>
              <a:buNone/>
              <a:defRPr sz="1400" b="1">
                <a:solidFill>
                  <a:schemeClr val="lt1"/>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pPr>
              <a:lnSpc>
                <a:spcPct val="100000"/>
              </a:lnSpc>
              <a:spcBef>
                <a:spcPts val="0"/>
              </a:spcBef>
              <a:spcAft>
                <a:spcPts val="0"/>
              </a:spcAft>
            </a:pPr>
            <a:endParaRPr dirty="0"/>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en-US" sz="1800" b="1">
                <a:solidFill>
                  <a:schemeClr val="lt1"/>
                </a:solidFill>
              </a:rPr>
              <a:t>‹#›</a:t>
            </a:fld>
            <a:endParaRPr lang="en-US" sz="1800" b="1"/>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rtl="0">
              <a:spcBef>
                <a:spcPts val="0"/>
              </a:spcBef>
              <a:spcAft>
                <a:spcPts val="0"/>
              </a:spcAft>
              <a:buClr>
                <a:schemeClr val="dk2"/>
              </a:buClr>
              <a:buSzPts val="2000"/>
              <a:buChar char="●"/>
              <a:defRPr sz="2000">
                <a:solidFill>
                  <a:schemeClr val="dk2"/>
                </a:solidFill>
              </a:defRPr>
            </a:lvl1pPr>
            <a:lvl2pPr marL="914400" lvl="1" indent="-355600" rtl="0">
              <a:spcBef>
                <a:spcPts val="0"/>
              </a:spcBef>
              <a:spcAft>
                <a:spcPts val="0"/>
              </a:spcAft>
              <a:buClr>
                <a:schemeClr val="dk2"/>
              </a:buClr>
              <a:buSzPts val="2000"/>
              <a:buChar char="○"/>
              <a:defRPr sz="2000">
                <a:solidFill>
                  <a:schemeClr val="dk2"/>
                </a:solidFill>
              </a:defRPr>
            </a:lvl2pPr>
            <a:lvl3pPr marL="1371600" lvl="2" indent="-355600" rtl="0">
              <a:spcBef>
                <a:spcPts val="0"/>
              </a:spcBef>
              <a:spcAft>
                <a:spcPts val="0"/>
              </a:spcAft>
              <a:buClr>
                <a:schemeClr val="dk2"/>
              </a:buClr>
              <a:buSzPts val="2000"/>
              <a:buChar char="■"/>
              <a:defRPr sz="2000">
                <a:solidFill>
                  <a:schemeClr val="dk2"/>
                </a:solidFill>
              </a:defRPr>
            </a:lvl3pPr>
            <a:lvl4pPr marL="1828800" lvl="3" indent="-368300" rtl="0">
              <a:spcBef>
                <a:spcPts val="0"/>
              </a:spcBef>
              <a:spcAft>
                <a:spcPts val="0"/>
              </a:spcAft>
              <a:buClr>
                <a:schemeClr val="dk2"/>
              </a:buClr>
              <a:buSzPts val="2200"/>
              <a:buChar char="●"/>
              <a:defRPr sz="2200">
                <a:solidFill>
                  <a:schemeClr val="dk2"/>
                </a:solidFill>
              </a:defRPr>
            </a:lvl4pPr>
            <a:lvl5pPr marL="2286000" lvl="4" indent="-355600" rtl="0">
              <a:spcBef>
                <a:spcPts val="0"/>
              </a:spcBef>
              <a:spcAft>
                <a:spcPts val="0"/>
              </a:spcAft>
              <a:buClr>
                <a:schemeClr val="dk2"/>
              </a:buClr>
              <a:buSzPts val="2000"/>
              <a:buChar char="○"/>
              <a:defRPr sz="2000">
                <a:solidFill>
                  <a:schemeClr val="dk2"/>
                </a:solidFill>
              </a:defRPr>
            </a:lvl5pPr>
            <a:lvl6pPr marL="2743200" lvl="5" indent="-355600" rtl="0">
              <a:spcBef>
                <a:spcPts val="0"/>
              </a:spcBef>
              <a:spcAft>
                <a:spcPts val="0"/>
              </a:spcAft>
              <a:buClr>
                <a:schemeClr val="dk2"/>
              </a:buClr>
              <a:buSzPts val="2000"/>
              <a:buChar char="■"/>
              <a:defRPr sz="2000">
                <a:solidFill>
                  <a:schemeClr val="dk2"/>
                </a:solidFill>
              </a:defRPr>
            </a:lvl6pPr>
            <a:lvl7pPr marL="3200400" lvl="6" indent="-355600" rtl="0">
              <a:spcBef>
                <a:spcPts val="0"/>
              </a:spcBef>
              <a:spcAft>
                <a:spcPts val="0"/>
              </a:spcAft>
              <a:buClr>
                <a:schemeClr val="dk2"/>
              </a:buClr>
              <a:buSzPts val="2000"/>
              <a:buChar char="●"/>
              <a:defRPr sz="2000">
                <a:solidFill>
                  <a:schemeClr val="dk2"/>
                </a:solidFill>
              </a:defRPr>
            </a:lvl7pPr>
            <a:lvl8pPr marL="3657600" lvl="7" indent="-355600" rtl="0">
              <a:spcBef>
                <a:spcPts val="0"/>
              </a:spcBef>
              <a:spcAft>
                <a:spcPts val="0"/>
              </a:spcAft>
              <a:buClr>
                <a:schemeClr val="dk2"/>
              </a:buClr>
              <a:buSzPts val="2000"/>
              <a:buChar char="○"/>
              <a:defRPr sz="2000">
                <a:solidFill>
                  <a:schemeClr val="dk2"/>
                </a:solidFill>
              </a:defRPr>
            </a:lvl8pPr>
            <a:lvl9pPr marL="4114800" lvl="8" indent="-355600" rtl="0">
              <a:spcBef>
                <a:spcPts val="0"/>
              </a:spcBef>
              <a:spcAft>
                <a:spcPts val="0"/>
              </a:spcAft>
              <a:buClr>
                <a:schemeClr val="dk2"/>
              </a:buClr>
              <a:buSzPts val="2000"/>
              <a:buChar char="■"/>
              <a:defRPr sz="2000">
                <a:solidFill>
                  <a:schemeClr val="dk2"/>
                </a:solidFill>
              </a:defRPr>
            </a:lvl9pPr>
          </a:lstStyle>
          <a:p>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SzPts val="1400"/>
              <a:buNone/>
              <a:defRPr sz="1400" b="1">
                <a:solidFill>
                  <a:schemeClr val="lt1"/>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pPr>
              <a:lnSpc>
                <a:spcPct val="100000"/>
              </a:lnSpc>
              <a:spcBef>
                <a:spcPts val="0"/>
              </a:spcBef>
              <a:spcAft>
                <a:spcPts val="0"/>
              </a:spcAft>
            </a:pPr>
            <a:endParaRPr dirty="0"/>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en-US" sz="1800" b="1">
                <a:solidFill>
                  <a:schemeClr val="lt1"/>
                </a:solidFill>
              </a:rPr>
              <a:t>‹#›</a:t>
            </a:fld>
            <a:endParaRPr lang="en-US" sz="1800" b="1"/>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SzPts val="1400"/>
              <a:buNone/>
              <a:defRPr sz="1400" b="1">
                <a:solidFill>
                  <a:schemeClr val="lt1"/>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pPr>
              <a:lnSpc>
                <a:spcPct val="100000"/>
              </a:lnSpc>
              <a:spcBef>
                <a:spcPts val="0"/>
              </a:spcBef>
              <a:spcAft>
                <a:spcPts val="0"/>
              </a:spcAft>
            </a:pPr>
            <a:endParaRPr dirty="0"/>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en-US" sz="1800" b="1">
                <a:solidFill>
                  <a:schemeClr val="lt1"/>
                </a:solidFill>
              </a:rPr>
              <a:t>‹#›</a:t>
            </a:fld>
            <a:endParaRPr lang="en-US" sz="1800" b="1"/>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en-US" dirty="0"/>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en-US" sz="1800" b="0">
                <a:solidFill>
                  <a:schemeClr val="dk2"/>
                </a:solidFill>
              </a:rPr>
              <a:t>Insert chart</a:t>
            </a:r>
            <a:endParaRPr lang="en-US"/>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a:lstStyle>
            <a:lvl1pPr>
              <a:buNone/>
              <a:defRPr/>
            </a:lvl1pPr>
          </a:lstStyle>
          <a:p>
            <a:endParaRPr lang="en-US" dirty="0"/>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a:lstStyle>
            <a:lvl1pPr>
              <a:buNone/>
              <a:defRPr/>
            </a:lvl1pPr>
          </a:lstStyle>
          <a:p>
            <a:endParaRPr lang="en-US" dirty="0"/>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en-US" sz="1800" b="1">
                <a:solidFill>
                  <a:schemeClr val="lt1"/>
                </a:solidFill>
              </a:rPr>
              <a:t>‹#›</a:t>
            </a:fld>
            <a:endParaRPr lang="en-US" sz="1800" b="1"/>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SzPts val="2800"/>
              <a:buNone/>
              <a:defRPr b="1">
                <a:solidFill>
                  <a:schemeClr val="lt1"/>
                </a:solidFill>
              </a:defRPr>
            </a:lvl1pPr>
            <a:lvl2pPr lvl="1">
              <a:spcBef>
                <a:spcPts val="0"/>
              </a:spcBef>
              <a:spcAft>
                <a:spcPts val="0"/>
              </a:spcAft>
              <a:buClr>
                <a:schemeClr val="lt1"/>
              </a:buClr>
              <a:buSzPts val="3200"/>
              <a:buNone/>
              <a:defRPr sz="3200" b="1">
                <a:solidFill>
                  <a:schemeClr val="lt1"/>
                </a:solidFill>
              </a:defRPr>
            </a:lvl2pPr>
            <a:lvl3pPr lvl="2">
              <a:spcBef>
                <a:spcPts val="0"/>
              </a:spcBef>
              <a:spcAft>
                <a:spcPts val="0"/>
              </a:spcAft>
              <a:buClr>
                <a:schemeClr val="lt1"/>
              </a:buClr>
              <a:buSzPts val="3200"/>
              <a:buNone/>
              <a:defRPr sz="3200" b="1">
                <a:solidFill>
                  <a:schemeClr val="lt1"/>
                </a:solidFill>
              </a:defRPr>
            </a:lvl3pPr>
            <a:lvl4pPr lvl="3">
              <a:spcBef>
                <a:spcPts val="0"/>
              </a:spcBef>
              <a:spcAft>
                <a:spcPts val="0"/>
              </a:spcAft>
              <a:buClr>
                <a:schemeClr val="lt1"/>
              </a:buClr>
              <a:buSzPts val="3200"/>
              <a:buNone/>
              <a:defRPr sz="3200" b="1">
                <a:solidFill>
                  <a:schemeClr val="lt1"/>
                </a:solidFill>
              </a:defRPr>
            </a:lvl4pPr>
            <a:lvl5pPr lvl="4">
              <a:spcBef>
                <a:spcPts val="0"/>
              </a:spcBef>
              <a:spcAft>
                <a:spcPts val="0"/>
              </a:spcAft>
              <a:buClr>
                <a:schemeClr val="lt1"/>
              </a:buClr>
              <a:buSzPts val="3200"/>
              <a:buNone/>
              <a:defRPr sz="3200" b="1">
                <a:solidFill>
                  <a:schemeClr val="lt1"/>
                </a:solidFill>
              </a:defRPr>
            </a:lvl5pPr>
            <a:lvl6pPr lvl="5">
              <a:spcBef>
                <a:spcPts val="0"/>
              </a:spcBef>
              <a:spcAft>
                <a:spcPts val="0"/>
              </a:spcAft>
              <a:buClr>
                <a:schemeClr val="lt1"/>
              </a:buClr>
              <a:buSzPts val="3200"/>
              <a:buNone/>
              <a:defRPr sz="3200" b="1">
                <a:solidFill>
                  <a:schemeClr val="lt1"/>
                </a:solidFill>
              </a:defRPr>
            </a:lvl6pPr>
            <a:lvl7pPr lvl="6">
              <a:spcBef>
                <a:spcPts val="0"/>
              </a:spcBef>
              <a:spcAft>
                <a:spcPts val="0"/>
              </a:spcAft>
              <a:buClr>
                <a:schemeClr val="lt1"/>
              </a:buClr>
              <a:buSzPts val="3200"/>
              <a:buNone/>
              <a:defRPr sz="3200" b="1">
                <a:solidFill>
                  <a:schemeClr val="lt1"/>
                </a:solidFill>
              </a:defRPr>
            </a:lvl7pPr>
            <a:lvl8pPr lvl="7">
              <a:spcBef>
                <a:spcPts val="0"/>
              </a:spcBef>
              <a:spcAft>
                <a:spcPts val="0"/>
              </a:spcAft>
              <a:buClr>
                <a:schemeClr val="lt1"/>
              </a:buClr>
              <a:buSzPts val="3200"/>
              <a:buNone/>
              <a:defRPr sz="3200" b="1">
                <a:solidFill>
                  <a:schemeClr val="lt1"/>
                </a:solidFill>
              </a:defRPr>
            </a:lvl8pPr>
            <a:lvl9pPr lvl="8">
              <a:spcBef>
                <a:spcPts val="0"/>
              </a:spcBef>
              <a:spcAft>
                <a:spcPts val="0"/>
              </a:spcAft>
              <a:buClr>
                <a:schemeClr val="lt1"/>
              </a:buClr>
              <a:buSzPts val="3200"/>
              <a:buNone/>
              <a:defRPr sz="3200" b="1">
                <a:solidFill>
                  <a:schemeClr val="lt1"/>
                </a:solidFill>
              </a:defRPr>
            </a:lvl9pPr>
          </a:lstStyle>
          <a:p>
            <a:endParaRPr dirty="0"/>
          </a:p>
        </p:txBody>
      </p:sp>
      <p:sp>
        <p:nvSpPr>
          <p:cNvPr id="999" name="Slide Number"/>
          <p:cNvSpPr txBox="1"/>
          <p:nvPr/>
        </p:nvSpPr>
        <p:spPr>
          <a:xfrm>
            <a:off x="8472458" y="28683"/>
            <a:ext cx="548700" cy="393600"/>
          </a:xfrm>
          <a:prstGeom prst="rect">
            <a:avLst/>
          </a:prstGeom>
          <a:noFill/>
          <a:ln>
            <a:noFill/>
          </a:ln>
        </p:spPr>
        <p:txBody>
          <a:bodyPr anchor="ctr"/>
          <a:lstStyle/>
          <a:p>
            <a:pPr algn="r"/>
            <a:fld id="{00000000-1234-1234-1234-000000000999}" type="slidenum">
              <a:rPr lang="en-US" sz="1800" b="1">
                <a:solidFill>
                  <a:schemeClr val="dk2"/>
                </a:solidFill>
              </a:rPr>
              <a:t>‹#›</a:t>
            </a:fld>
            <a:endParaRPr lang="en-US" sz="1800" b="1"/>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ja"/>
              <a:t>‹#›</a:t>
            </a:fld>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1pPr>
      <a:lvl2pPr marR="0" lvl="1"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2pPr>
      <a:lvl3pPr marR="0" lvl="2"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3pPr>
      <a:lvl4pPr marR="0" lvl="3"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4pPr>
      <a:lvl5pPr marR="0" lvl="4"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5pPr>
      <a:lvl6pPr marR="0" lvl="5"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6pPr>
      <a:lvl7pPr marR="0" lvl="6"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7pPr>
      <a:lvl8pPr marR="0" lvl="7"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8pPr>
      <a:lvl9pPr marR="0" lvl="8"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1pPr>
      <a:lvl2pPr marR="0" lvl="1"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2pPr>
      <a:lvl3pPr marR="0" lvl="2"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3pPr>
      <a:lvl4pPr marR="0" lvl="3"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4pPr>
      <a:lvl5pPr marR="0" lvl="4"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5pPr>
      <a:lvl6pPr marR="0" lvl="5"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6pPr>
      <a:lvl7pPr marR="0" lvl="6"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7pPr>
      <a:lvl8pPr marR="0" lvl="7"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8pPr>
      <a:lvl9pPr marR="0" lvl="8"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1pPr>
      <a:lvl2pPr marR="0" lvl="1"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2pPr>
      <a:lvl3pPr marR="0" lvl="2"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3pPr>
      <a:lvl4pPr marR="0" lvl="3"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4pPr>
      <a:lvl5pPr marR="0" lvl="4"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5pPr>
      <a:lvl6pPr marR="0" lvl="5"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6pPr>
      <a:lvl7pPr marR="0" lvl="6"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7pPr>
      <a:lvl8pPr marR="0" lvl="7"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8pPr>
      <a:lvl9pPr marR="0" lvl="8" algn="l" rtl="0">
        <a:lnSpc>
          <a:spcPct val="100000"/>
        </a:lnSpc>
        <a:spcBef>
          <a:spcPts val="0"/>
        </a:spcBef>
        <a:spcAft>
          <a:spcPts val="0"/>
        </a:spcAft>
        <a:buClr>
          <a:schemeClr val="dk1"/>
        </a:buClr>
        <a:buFont typeface="Arial"/>
        <a:defRPr sz="1400" b="0" i="0" u="none" strike="noStrike" cap="none">
          <a:solidFill>
            <a:schemeClr val="dk1"/>
          </a:solidFill>
          <a:latin typeface="+mn-lt"/>
          <a:ea typeface="+mn-lt"/>
          <a:cs typeface="+mn-lt"/>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388745"/>
            <a:ext cx="8229600" cy="2005965"/>
          </a:xfrm>
        </p:spPr>
        <p:txBody>
          <a:bodyPr wrap="square" anchor="ctr" lIns="0" rIns="0" tIns="0" bIns="0">
            <a:noAutofit/>
          </a:bodyPr>
          <a:lstStyle/>
          <a:p>
            <a:pPr algn="ctr" marL="0" indent="0">
              <a:lnSpc>
                <a:spcPct val="110000"/>
              </a:lnSpc>
              <a:spcBef>
                <a:spcPts val="0"/>
              </a:spcBef>
              <a:spcAft>
                <a:spcPts val="1200"/>
              </a:spcAft>
              <a:defRPr sz="3400">
                <a:latin typeface="Noto Sans CJK JP"/>
              </a:defRPr>
              <a:buNone/>
            </a:pPr>
            <a:r>
              <a:rPr sz="3400" b="1" lang="ja-JP">
                <a:solidFill>
                  <a:srgbClr val="303437"/>
                </a:solidFill>
                <a:latin typeface="Noto Sans CJK JP"/>
                <a:ea typeface="Noto Sans CJK JP"/>
                <a:cs typeface="Noto Sans CJK JP"/>
              </a:rPr>
              <a:t>読解型質問応答用データセット</a:t>
            </a:r>
            <a:endParaRPr sz="3400" lang="ja-JP"/>
          </a:p>
          <a:p>
            <a:pPr algn="ctr" marL="0" indent="0">
              <a:lnSpc>
                <a:spcPct val="110000"/>
              </a:lnSpc>
              <a:spcBef>
                <a:spcPts val="0"/>
              </a:spcBef>
              <a:spcAft>
                <a:spcPts val="1200"/>
              </a:spcAft>
              <a:defRPr sz="5800">
                <a:latin typeface="Noto Sans CJK JP"/>
              </a:defRPr>
              <a:buNone/>
            </a:pPr>
            <a:r>
              <a:rPr sz="5800" b="1" lang="ja-JP">
                <a:solidFill>
                  <a:srgbClr val="303437"/>
                </a:solidFill>
                <a:latin typeface="Noto Sans CJK JP"/>
                <a:ea typeface="Noto Sans CJK JP"/>
                <a:cs typeface="Noto Sans CJK JP"/>
              </a:rPr>
              <a:t>SQuAD</a:t>
            </a:r>
            <a:endParaRPr sz="5800" lang="ja-JP"/>
          </a:p>
        </p:txBody>
      </p:sp>
      <p:sp>
        <p:nvSpPr>
          <p:cNvPr id="3" name="Subtitle 2"/>
          <p:cNvSpPr>
            <a:spLocks noGrp="1"/>
          </p:cNvSpPr>
          <p:nvPr>
            <p:ph type="subTitle" idx="1"/>
          </p:nvPr>
        </p:nvSpPr>
        <p:spPr>
          <a:xfrm>
            <a:off x="548640" y="3657600"/>
            <a:ext cx="8046720" cy="365760"/>
          </a:xfrm>
        </p:spPr>
        <p:txBody>
          <a:bodyPr wrap="square" anchor="ctr" lIns="0" rIns="0" tIns="0" bIns="0">
            <a:noAutofit/>
          </a:bodyPr>
          <a:lstStyle/>
          <a:p>
            <a:pPr algn="ctr" marL="0" indent="0">
              <a:lnSpc>
                <a:spcPct val="115000"/>
              </a:lnSpc>
              <a:spcBef>
                <a:spcPts val="0"/>
              </a:spcBef>
              <a:spcAft>
                <a:spcPts val="800"/>
              </a:spcAft>
              <a:defRPr sz="2200">
                <a:latin typeface="Noto Sans CJK JP"/>
              </a:defRPr>
              <a:buNone/>
            </a:pPr>
            <a:r>
              <a:rPr sz="2200" b="0" lang="ja-JP">
                <a:solidFill>
                  <a:srgbClr val="303437"/>
                </a:solidFill>
                <a:latin typeface="Noto Sans CJK JP"/>
                <a:ea typeface="Noto Sans CJK JP"/>
                <a:cs typeface="Noto Sans CJK JP"/>
              </a:rPr>
              <a:t>Stanford Question Answering Dataset</a:t>
            </a:r>
            <a:endParaRPr sz="2200" lang="ja-JP"/>
          </a:p>
        </p:txBody>
      </p:sp>
      <p:sp>
        <p:nvSpPr>
          <p:cNvPr id="5" name="Text Placeholder 4"/>
          <p:cNvSpPr>
            <a:spLocks noGrp="1"/>
          </p:cNvSpPr>
          <p:nvPr>
            <p:ph type="body" idx="11"/>
          </p:nvPr>
        </p:nvSpPr>
        <p:spPr>
          <a:xfrm>
            <a:off x="5486400" y="4498848"/>
            <a:ext cx="3108960" cy="22860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626669"/>
                </a:solidFill>
                <a:latin typeface="Noto Sans CJK JP"/>
                <a:ea typeface="Noto Sans CJK JP"/>
              </a:rPr>
              <a:t>sasakiy84</a:t>
            </a:r>
            <a:endParaRPr sz="1400" lang="ja-JP"/>
            <a:endParaRPr sz="1400"/>
          </a:p>
        </p:txBody>
      </p:sp>
      <p:sp>
        <p:nvSpPr>
          <p:cNvPr id="6" name="Text Placeholder 5"/>
          <p:cNvSpPr>
            <a:spLocks noGrp="1"/>
          </p:cNvSpPr>
          <p:nvPr>
            <p:ph type="body" idx="12"/>
          </p:nvPr>
        </p:nvSpPr>
        <p:spPr>
          <a:xfrm>
            <a:off x="457200" y="274320"/>
            <a:ext cx="8046720" cy="274320"/>
          </a:xfrm>
        </p:spPr>
        <p:txBody>
          <a:bodyPr wrap="square" anchor="ctr" lIns="0" rIns="0" tIns="0" bIns="0">
            <a:noAutofit/>
          </a:bodyPr>
          <a:lstStyle/>
          <a:p>
            <a:pPr algn="l" marL="0" indent="0">
              <a:defRPr sz="1400">
                <a:latin typeface="Noto Sans CJK JP"/>
              </a:defRPr>
              <a:lnSpc>
                <a:spcPct val="110000"/>
              </a:lnSpc>
              <a:spcBef>
                <a:spcPts val="0"/>
              </a:spcBef>
              <a:spcAft>
                <a:spcPts val="0"/>
              </a:spcAft>
              <a:buNone/>
            </a:pPr>
            <a:r>
              <a:rPr sz="1400" lang="ja-JP">
                <a:solidFill>
                  <a:srgbClr val="626669"/>
                </a:solidFill>
                <a:latin typeface="Noto Sans CJK JP"/>
                <a:ea typeface="Noto Sans CJK JP"/>
              </a:rPr>
              <a:t>datasets in 10 minutes (2026-10-15)</a:t>
            </a:r>
            <a:endParaRPr sz="1400" lang="ja-JP"/>
            <a:endParaRPr sz="1400"/>
            <a:endParaRPr sz="140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本編の構成</a:t>
            </a:r>
            <a:endParaRPr sz="2800"/>
            <a:endParaRPr sz="2800"/>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defRPr sz="1400">
                <a:latin typeface="Noto Sans CJK JP"/>
              </a:defRPr>
              <a:buNone/>
            </a:pPr>
            <a:r>
              <a:rPr sz="1400" lang="ja-JP">
                <a:solidFill>
                  <a:srgbClr val="FFFEF8"/>
                </a:solidFill>
                <a:latin typeface="Noto Sans CJK JP"/>
                <a:ea typeface="Noto Sans CJK JP"/>
              </a:rPr>
              <a:t>SQuADの構成</a:t>
            </a:r>
            <a:endParaRPr sz="1400"/>
          </a:p>
        </p:txBody>
      </p:sp>
      <p:sp>
        <p:nvSpPr>
          <p:cNvPr id="4" name="TextBox 3"/>
          <p:cNvSpPr txBox="1"/>
          <p:nvPr/>
        </p:nvSpPr>
        <p:spPr>
          <a:xfrm>
            <a:off x="594360" y="1463040"/>
            <a:ext cx="7955279" cy="3383280"/>
          </a:xfrm>
          <a:prstGeom prst="rect">
            <a:avLst/>
          </a:prstGeom>
          <a:noFill/>
        </p:spPr>
        <p:txBody>
          <a:bodyPr wrap="square" lIns="0" rIns="0" tIns="0" bIns="0" anchor="t">
            <a:spAutoFit/>
          </a:bodyPr>
          <a:lstStyle/>
          <a:p>
            <a:pPr algn="l" marL="533400" indent="-482600">
              <a:lnSpc>
                <a:spcPct val="110000"/>
              </a:lnSpc>
              <a:spcBef>
                <a:spcPts val="0"/>
              </a:spcBef>
              <a:spcAft>
                <a:spcPts val="1200"/>
              </a:spcAft>
              <a:defRPr sz="2400">
                <a:latin typeface="Noto Sans CJK JP"/>
              </a:defRPr>
              <a:buAutoNum type="arabicPeriod" startAt="1"/>
            </a:pPr>
            <a:r>
              <a:rPr sz="2400">
                <a:solidFill>
                  <a:srgbClr val="303437"/>
                </a:solidFill>
                <a:latin typeface="Noto Sans CJK JP"/>
              </a:rPr>
              <a:t>目的とタスク</a:t>
            </a:r>
            <a:endParaRPr sz="2400"/>
          </a:p>
          <a:p>
            <a:pPr algn="l" marL="533400" indent="-482600">
              <a:lnSpc>
                <a:spcPct val="110000"/>
              </a:lnSpc>
              <a:spcBef>
                <a:spcPts val="0"/>
              </a:spcBef>
              <a:spcAft>
                <a:spcPts val="1200"/>
              </a:spcAft>
              <a:defRPr sz="2400">
                <a:latin typeface="Noto Sans CJK JP"/>
              </a:defRPr>
              <a:buAutoNum type="arabicPeriod" startAt="2"/>
            </a:pPr>
            <a:r>
              <a:rPr sz="2400">
                <a:solidFill>
                  <a:srgbClr val="303437"/>
                </a:solidFill>
                <a:latin typeface="Noto Sans CJK JP"/>
              </a:rPr>
              <a:t>作成方法と規模</a:t>
            </a:r>
            <a:endParaRPr sz="2400"/>
          </a:p>
          <a:p>
            <a:pPr algn="l" marL="533400" indent="-482600">
              <a:lnSpc>
                <a:spcPct val="110000"/>
              </a:lnSpc>
              <a:spcBef>
                <a:spcPts val="0"/>
              </a:spcBef>
              <a:spcAft>
                <a:spcPts val="1200"/>
              </a:spcAft>
              <a:defRPr sz="2400">
                <a:latin typeface="Noto Sans CJK JP"/>
              </a:defRPr>
              <a:buAutoNum type="arabicPeriod" startAt="3"/>
            </a:pPr>
            <a:r>
              <a:rPr sz="2400">
                <a:solidFill>
                  <a:srgbClr val="303437"/>
                </a:solidFill>
                <a:latin typeface="Noto Sans CJK JP"/>
              </a:rPr>
              <a:t>評価と性能</a:t>
            </a:r>
            <a:endParaRPr sz="2400"/>
          </a:p>
          <a:p>
            <a:pPr algn="l" marL="533400" indent="-482600">
              <a:lnSpc>
                <a:spcPct val="110000"/>
              </a:lnSpc>
              <a:spcBef>
                <a:spcPts val="0"/>
              </a:spcBef>
              <a:spcAft>
                <a:spcPts val="1200"/>
              </a:spcAft>
              <a:defRPr sz="2400">
                <a:latin typeface="Noto Sans CJK JP"/>
              </a:defRPr>
              <a:buAutoNum type="arabicPeriod" startAt="4"/>
            </a:pPr>
            <a:r>
              <a:rPr sz="2400">
                <a:solidFill>
                  <a:srgbClr val="303437"/>
                </a:solidFill>
                <a:latin typeface="Noto Sans CJK JP"/>
              </a:rPr>
              <a:t>利用の変遷と現在</a:t>
            </a:r>
            <a:endParaRPr sz="2400"/>
          </a:p>
          <a:p>
            <a:pPr algn="l" marL="533400" indent="-482600">
              <a:lnSpc>
                <a:spcPct val="110000"/>
              </a:lnSpc>
              <a:spcBef>
                <a:spcPts val="0"/>
              </a:spcBef>
              <a:spcAft>
                <a:spcPts val="1200"/>
              </a:spcAft>
              <a:defRPr sz="2400">
                <a:latin typeface="Noto Sans CJK JP"/>
              </a:defRPr>
              <a:buAutoNum type="arabicPeriod" startAt="5"/>
            </a:pPr>
            <a:r>
              <a:rPr sz="2400">
                <a:solidFill>
                  <a:srgbClr val="303437"/>
                </a:solidFill>
                <a:latin typeface="Noto Sans CJK JP"/>
              </a:rPr>
              <a:t>入手方法とまとめ</a:t>
            </a:r>
            <a:endParaRPr sz="240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783080"/>
            <a:ext cx="8229600" cy="1417320"/>
          </a:xfrm>
        </p:spPr>
        <p:txBody>
          <a:bodyPr wrap="none" lIns="0" rIns="0" tIns="0" bIns="0" anchor="ctr"/>
          <a:lstStyle/>
          <a:p>
            <a:pPr algn="ctr" marL="0" indent="0">
              <a:defRPr sz="4000">
                <a:latin typeface="Noto Sans CJK JP"/>
              </a:defRPr>
              <a:lnSpc>
                <a:spcPct val="110000"/>
              </a:lnSpc>
              <a:spcBef>
                <a:spcPts val="0"/>
              </a:spcBef>
              <a:spcAft>
                <a:spcPts val="0"/>
              </a:spcAft>
              <a:buNone/>
            </a:pPr>
            <a:r>
              <a:rPr sz="4000" lang="ja-JP" b="1">
                <a:solidFill>
                  <a:srgbClr val="303437"/>
                </a:solidFill>
                <a:latin typeface="Noto Sans CJK JP"/>
                <a:ea typeface="Noto Sans CJK JP"/>
              </a:rPr>
              <a:t>1 目的とタスク</a:t>
            </a:r>
            <a:endParaRPr sz="4000"/>
            <a:endParaRPr sz="4000"/>
            <a:endParaRPr sz="4000"/>
          </a:p>
        </p:txBody>
      </p:sp>
      <p:sp>
        <p:nvSpPr>
          <p:cNvPr id="3" name="Title 2"/>
          <p:cNvSpPr>
            <a:spLocks noGrp="1"/>
          </p:cNvSpPr>
          <p:nvPr>
            <p:ph type="title" idx="2"/>
          </p:nvPr>
        </p:nvSpPr>
        <p:spPr/>
        <p:txBody>
          <a:bodyPr/>
          <a:lstStyle/>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SQuAD の公式サイト</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概要</a:t>
            </a:r>
            <a:endParaRPr sz="1400" lang="ja-JP"/>
          </a:p>
        </p:txBody>
      </p:sp>
      <p:pic>
        <p:nvPicPr>
          <p:cNvPr id="4" name="Picture 3" descr="official-homepage.png"/>
          <p:cNvPicPr>
            <a:picLocks noChangeAspect="1"/>
          </p:cNvPicPr>
          <p:nvPr/>
        </p:nvPicPr>
        <p:blipFill>
          <a:blip r:embed="rId2"/>
          <a:stretch>
            <a:fillRect/>
          </a:stretch>
        </p:blipFill>
        <p:spPr>
          <a:xfrm>
            <a:off x="2094754" y="1414462"/>
            <a:ext cx="4954491" cy="3163252"/>
          </a:xfrm>
          <a:prstGeom prst="rect">
            <a:avLst/>
          </a:prstGeom>
        </p:spPr>
      </p:pic>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https://rajpurkar.github.io/SQuAD-explorer/</a:t>
            </a:r>
            <a:endParaRPr sz="85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開発当時の課題と SQuAD の目的</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概要</a:t>
            </a:r>
            <a:endParaRPr sz="1400" lang="ja-JP"/>
          </a:p>
        </p:txBody>
      </p:sp>
      <p:sp>
        <p:nvSpPr>
          <p:cNvPr id="4" name="content-text"/>
          <p:cNvSpPr txBox="1"/>
          <p:nvPr/>
        </p:nvSpPr>
        <p:spPr>
          <a:xfrm>
            <a:off x="594360" y="1465897"/>
            <a:ext cx="8046720" cy="3086100"/>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2300">
                <a:latin typeface="Noto Sans CJK JP"/>
              </a:defRPr>
              <a:buChar char="•"/>
            </a:pPr>
            <a:r>
              <a:rPr sz="2300" b="0" lang="ja-JP">
                <a:solidFill>
                  <a:srgbClr val="303437"/>
                </a:solidFill>
                <a:latin typeface="Noto Sans CJK JP"/>
                <a:ea typeface="Noto Sans CJK JP"/>
                <a:cs typeface="Noto Sans CJK JP"/>
              </a:rPr>
              <a:t>人が書いた質問で、文章の読解を大規模に評価する </a:t>
            </a:r>
            <a:r>
              <a:rPr sz="950" b="0" lang="ja-JP">
                <a:solidFill>
                  <a:srgbClr val="626669"/>
                </a:solidFill>
                <a:latin typeface="Noto Sans CJK JP"/>
                <a:ea typeface="Noto Sans CJK JP"/>
                <a:cs typeface="Noto Sans CJK JP"/>
              </a:rPr>
              <a:t>[1]</a:t>
            </a:r>
            <a:r>
              <a:rPr sz="2300" b="0" lang="ja-JP">
                <a:solidFill>
                  <a:srgbClr val="303437"/>
                </a:solidFill>
                <a:latin typeface="Noto Sans CJK JP"/>
                <a:ea typeface="Noto Sans CJK JP"/>
                <a:cs typeface="Noto Sans CJK JP"/>
              </a:rPr>
              <a:t>。</a:t>
            </a:r>
            <a:endParaRPr sz="2300" lang="ja-JP"/>
          </a:p>
          <a:p>
            <a:pPr algn="l" marL="203200" indent="-152400">
              <a:lnSpc>
                <a:spcPct val="113000"/>
              </a:lnSpc>
              <a:spcBef>
                <a:spcPts val="0"/>
              </a:spcBef>
              <a:spcAft>
                <a:spcPts val="500"/>
              </a:spcAft>
              <a:defRPr sz="2200">
                <a:latin typeface="Noto Sans CJK JP"/>
              </a:defRPr>
              <a:buChar char="•"/>
            </a:pPr>
            <a:r>
              <a:rPr sz="2200" b="0" lang="ja-JP">
                <a:solidFill>
                  <a:srgbClr val="303437"/>
                </a:solidFill>
                <a:latin typeface="Noto Sans CJK JP"/>
                <a:ea typeface="Noto Sans CJK JP"/>
                <a:cs typeface="Noto Sans CJK JP"/>
              </a:rPr>
              <a:t>当時は、人手作成の読解データが小規模だった。</a:t>
            </a:r>
            <a:endParaRPr sz="2200" lang="ja-JP"/>
          </a:p>
          <a:p>
            <a:pPr lvl="1" algn="l" marL="482600" indent="-127000">
              <a:lnSpc>
                <a:spcPct val="113000"/>
              </a:lnSpc>
              <a:spcBef>
                <a:spcPts val="0"/>
              </a:spcBef>
              <a:spcAft>
                <a:spcPts val="400"/>
              </a:spcAft>
              <a:defRPr sz="2000">
                <a:latin typeface="Noto Sans CJK JP"/>
              </a:defRPr>
              <a:buChar char="○"/>
            </a:pPr>
            <a:r>
              <a:rPr sz="2000" b="0" lang="ja-JP">
                <a:solidFill>
                  <a:srgbClr val="303437"/>
                </a:solidFill>
                <a:latin typeface="Noto Sans CJK JP"/>
                <a:ea typeface="Noto Sans CJK JP"/>
                <a:cs typeface="Noto Sans CJK JP"/>
              </a:rPr>
              <a:t>大規模な自動作成データでは、質問・正解の形式が限定的。</a:t>
            </a:r>
            <a:endParaRPr sz="2000" lang="ja-JP"/>
          </a:p>
          <a:p>
            <a:pPr algn="l" marL="203200" indent="-152400">
              <a:lnSpc>
                <a:spcPct val="113000"/>
              </a:lnSpc>
              <a:spcBef>
                <a:spcPts val="0"/>
              </a:spcBef>
              <a:spcAft>
                <a:spcPts val="500"/>
              </a:spcAft>
              <a:defRPr sz="2200">
                <a:latin typeface="Noto Sans CJK JP"/>
              </a:defRPr>
              <a:buChar char="•"/>
            </a:pPr>
            <a:r>
              <a:rPr sz="2200" b="0" lang="ja-JP">
                <a:solidFill>
                  <a:srgbClr val="303437"/>
                </a:solidFill>
                <a:latin typeface="Noto Sans CJK JP"/>
                <a:ea typeface="Noto Sans CJK JP"/>
                <a:cs typeface="Noto Sans CJK JP"/>
              </a:rPr>
              <a:t>Wikipediaの段落に、人が質問と回答範囲を付ける。</a:t>
            </a:r>
            <a:endParaRPr sz="2200" lang="ja-JP"/>
          </a:p>
          <a:p>
            <a:pPr lvl="1" algn="l" marL="482600" indent="-127000">
              <a:lnSpc>
                <a:spcPct val="113000"/>
              </a:lnSpc>
              <a:spcBef>
                <a:spcPts val="0"/>
              </a:spcBef>
              <a:spcAft>
                <a:spcPts val="400"/>
              </a:spcAft>
              <a:defRPr sz="2000">
                <a:latin typeface="Noto Sans CJK JP"/>
              </a:defRPr>
              <a:buChar char="○"/>
            </a:pPr>
            <a:r>
              <a:rPr sz="2000" b="0" lang="ja-JP">
                <a:solidFill>
                  <a:srgbClr val="303437"/>
                </a:solidFill>
                <a:latin typeface="Noto Sans CJK JP"/>
                <a:ea typeface="Noto Sans CJK JP"/>
                <a:cs typeface="Noto Sans CJK JP"/>
              </a:rPr>
              <a:t>正解は単語1個や固有名詞に限らず、連続した語句を許す</a:t>
            </a:r>
            <a:endParaRPr sz="2000" lang="ja-JP"/>
          </a:p>
          <a:p>
            <a:pPr algn="l" marL="203200" indent="-152400">
              <a:lnSpc>
                <a:spcPct val="113000"/>
              </a:lnSpc>
              <a:spcBef>
                <a:spcPts val="0"/>
              </a:spcBef>
              <a:spcAft>
                <a:spcPts val="500"/>
              </a:spcAft>
              <a:defRPr sz="2200">
                <a:latin typeface="Noto Sans CJK JP"/>
              </a:defRPr>
              <a:buChar char="•"/>
            </a:pPr>
            <a:r>
              <a:rPr sz="2200" b="0" lang="ja-JP">
                <a:solidFill>
                  <a:srgbClr val="303437"/>
                </a:solidFill>
                <a:latin typeface="Noto Sans CJK JP"/>
                <a:ea typeface="Noto Sans CJK JP"/>
                <a:cs typeface="Noto Sans CJK JP"/>
              </a:rPr>
              <a:t>論文では10万問以上・500以上の記事を報告。</a:t>
            </a:r>
            <a:endParaRPr sz="2200" lang="ja-JP"/>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Rajpurkar et al. (2016), §1–3　https://aclanthology.org/D16-1264/</a:t>
            </a:r>
            <a:endParaRPr sz="85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SQuAD のタスク</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概要</a:t>
            </a:r>
            <a:endParaRPr sz="1400" lang="ja-JP"/>
          </a:p>
        </p:txBody>
      </p:sp>
      <p:sp>
        <p:nvSpPr>
          <p:cNvPr id="4" name="content-text"/>
          <p:cNvSpPr txBox="1"/>
          <p:nvPr/>
        </p:nvSpPr>
        <p:spPr>
          <a:xfrm>
            <a:off x="594360" y="1543050"/>
            <a:ext cx="8046720" cy="2674620"/>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2300">
                <a:latin typeface="Noto Sans CJK JP"/>
              </a:defRPr>
              <a:buChar char="•"/>
            </a:pPr>
            <a:r>
              <a:rPr sz="2300" b="0" lang="ja-JP">
                <a:solidFill>
                  <a:srgbClr val="303437"/>
                </a:solidFill>
                <a:latin typeface="Noto Sans CJK JP"/>
                <a:ea typeface="Noto Sans CJK JP"/>
                <a:cs typeface="Noto Sans CJK JP"/>
              </a:rPr>
              <a:t>入力にはWikipedia記事の1段落と、その段落への質問を使う </a:t>
            </a:r>
            <a:r>
              <a:rPr sz="950" b="0" lang="ja-JP">
                <a:solidFill>
                  <a:srgbClr val="626669"/>
                </a:solidFill>
                <a:latin typeface="Noto Sans CJK JP"/>
                <a:ea typeface="Noto Sans CJK JP"/>
                <a:cs typeface="Noto Sans CJK JP"/>
              </a:rPr>
              <a:t>[1]</a:t>
            </a:r>
            <a:r>
              <a:rPr sz="2300" b="0" lang="ja-JP">
                <a:solidFill>
                  <a:srgbClr val="303437"/>
                </a:solidFill>
                <a:latin typeface="Noto Sans CJK JP"/>
                <a:ea typeface="Noto Sans CJK JP"/>
                <a:cs typeface="Noto Sans CJK JP"/>
              </a:rPr>
              <a:t>。</a:t>
            </a:r>
            <a:endParaRPr sz="2300" lang="ja-JP"/>
          </a:p>
          <a:p>
            <a:pPr algn="l" marL="203200" indent="-152400">
              <a:lnSpc>
                <a:spcPct val="113000"/>
              </a:lnSpc>
              <a:spcBef>
                <a:spcPts val="0"/>
              </a:spcBef>
              <a:spcAft>
                <a:spcPts val="500"/>
              </a:spcAft>
              <a:defRPr sz="2300">
                <a:latin typeface="Noto Sans CJK JP"/>
              </a:defRPr>
              <a:buChar char="•"/>
            </a:pPr>
            <a:r>
              <a:rPr sz="2300" b="0" lang="ja-JP">
                <a:solidFill>
                  <a:srgbClr val="303437"/>
                </a:solidFill>
                <a:latin typeface="Noto Sans CJK JP"/>
                <a:ea typeface="Noto Sans CJK JP"/>
                <a:cs typeface="Noto Sans CJK JP"/>
              </a:rPr>
              <a:t>質問に対応する原文の表現を回答する</a:t>
            </a:r>
            <a:endParaRPr sz="2300" lang="ja-JP"/>
          </a:p>
          <a:p>
            <a:pPr lvl="1" algn="l" marL="482600" indent="-127000">
              <a:lnSpc>
                <a:spcPct val="113000"/>
              </a:lnSpc>
              <a:spcBef>
                <a:spcPts val="0"/>
              </a:spcBef>
              <a:spcAft>
                <a:spcPts val="400"/>
              </a:spcAft>
              <a:defRPr sz="2100">
                <a:latin typeface="Noto Sans CJK JP"/>
              </a:defRPr>
              <a:buChar char="○"/>
            </a:pPr>
            <a:r>
              <a:rPr sz="2100" b="0" lang="ja-JP">
                <a:solidFill>
                  <a:srgbClr val="303437"/>
                </a:solidFill>
                <a:latin typeface="Noto Sans CJK JP"/>
                <a:ea typeface="Noto Sans CJK JP"/>
                <a:cs typeface="Noto Sans CJK JP"/>
              </a:rPr>
              <a:t>本文中の連続した範囲を正解として指定する。</a:t>
            </a:r>
            <a:endParaRPr sz="2100" lang="ja-JP"/>
          </a:p>
          <a:p>
            <a:pPr algn="l" marL="203200" indent="-152400">
              <a:lnSpc>
                <a:spcPct val="113000"/>
              </a:lnSpc>
              <a:spcBef>
                <a:spcPts val="0"/>
              </a:spcBef>
              <a:spcAft>
                <a:spcPts val="500"/>
              </a:spcAft>
              <a:defRPr sz="2300">
                <a:latin typeface="Noto Sans CJK JP"/>
              </a:defRPr>
              <a:buChar char="•"/>
            </a:pPr>
            <a:r>
              <a:rPr sz="2300" b="0" lang="ja-JP">
                <a:solidFill>
                  <a:srgbClr val="303437"/>
                </a:solidFill>
                <a:latin typeface="Noto Sans CJK JP"/>
                <a:ea typeface="Noto Sans CJK JP"/>
                <a:cs typeface="Noto Sans CJK JP"/>
              </a:rPr>
              <a:t>答えは固有名詞・年・数量・語句など。</a:t>
            </a:r>
            <a:endParaRPr sz="2300" lang="ja-JP"/>
          </a:p>
          <a:p>
            <a:pPr algn="l" marL="203200" indent="-152400">
              <a:lnSpc>
                <a:spcPct val="113000"/>
              </a:lnSpc>
              <a:spcBef>
                <a:spcPts val="0"/>
              </a:spcBef>
              <a:spcAft>
                <a:spcPts val="500"/>
              </a:spcAft>
              <a:defRPr sz="2300">
                <a:latin typeface="Noto Sans CJK JP"/>
              </a:defRPr>
              <a:buChar char="•"/>
            </a:pPr>
            <a:r>
              <a:rPr sz="2300" b="0" lang="ja-JP">
                <a:solidFill>
                  <a:srgbClr val="303437"/>
                </a:solidFill>
                <a:latin typeface="Noto Sans CJK JP"/>
                <a:ea typeface="Noto Sans CJK JP"/>
                <a:cs typeface="Noto Sans CJK JP"/>
              </a:rPr>
              <a:t>元データの文章・質問・正解は英語。</a:t>
            </a:r>
            <a:endParaRPr sz="2300" lang="ja-JP"/>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タスク・入力単位　https://aclanthology.org/D16-1264/</a:t>
            </a:r>
            <a:endParaRPr sz="85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実例1 スポーツ記事の質問</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タスクの実例</a:t>
            </a:r>
            <a:endParaRPr sz="1400" lang="ja-JP"/>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626669"/>
                </a:solidFill>
                <a:latin typeface="Noto Sans CJK JP"/>
                <a:ea typeface="Noto Sans CJK JP"/>
              </a:rPr>
              <a:t>Wikipedia記事の段落（抜粋）</a:t>
            </a:r>
            <a:endParaRPr sz="1400" lang="ja-JP"/>
            <a:endParaRPr sz="1400"/>
          </a:p>
        </p:txBody>
      </p:sp>
      <p:sp>
        <p:nvSpPr>
          <p:cNvPr id="5" name="quote-frame"/>
          <p:cNvSpPr/>
          <p:nvPr/>
        </p:nvSpPr>
        <p:spPr>
          <a:xfrm>
            <a:off x="548640" y="1715797"/>
            <a:ext cx="8046720" cy="164199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defRPr sz="1800">
                <a:latin typeface="Liberation Sans"/>
              </a:defRPr>
              <a:buNone/>
            </a:pPr>
            <a:r>
              <a:rPr sz="1800" b="0" lang="ja-JP">
                <a:solidFill>
                  <a:srgbClr val="303437"/>
                </a:solidFill>
                <a:latin typeface="Liberation Sans"/>
                <a:ea typeface="Liberation Sans"/>
                <a:cs typeface="Liberation Sans"/>
              </a:rPr>
              <a:t>The American Football Conference (AFC) champion </a:t>
            </a:r>
            <a:r>
              <a:rPr sz="1800" b="1" lang="ja-JP">
                <a:solidFill>
                  <a:srgbClr val="B13731"/>
                </a:solidFill>
                <a:latin typeface="Liberation Sans"/>
                <a:ea typeface="Liberation Sans"/>
                <a:cs typeface="Liberation Sans"/>
              </a:rPr>
              <a:t>Denver Broncos</a:t>
            </a:r>
            <a:r>
              <a:rPr sz="1800" b="0" lang="ja-JP">
                <a:solidFill>
                  <a:srgbClr val="303437"/>
                </a:solidFill>
                <a:latin typeface="Liberation Sans"/>
                <a:ea typeface="Liberation Sans"/>
                <a:cs typeface="Liberation Sans"/>
              </a:rPr>
              <a:t> defeated the National Football Conference (NFC) champion Carolina Panthers 24–10 to earn their third Super Bowl title. The game was played on February 7, 2016, at Levi's Stadium in the San Francisco Bay Area at Santa Clara, California.</a:t>
            </a:r>
            <a:endParaRPr sz="1800" lang="ja-JP"/>
          </a:p>
        </p:txBody>
      </p:sp>
      <p:sp>
        <p:nvSpPr>
          <p:cNvPr id="7" name="example-question"/>
          <p:cNvSpPr txBox="1"/>
          <p:nvPr/>
        </p:nvSpPr>
        <p:spPr>
          <a:xfrm>
            <a:off x="548640" y="3560993"/>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defRPr sz="1900">
                <a:latin typeface="Noto Sans CJK JP"/>
              </a:defRPr>
              <a:buNone/>
            </a:pPr>
            <a:r>
              <a:rPr sz="1900" b="1" lang="ja-JP">
                <a:solidFill>
                  <a:srgbClr val="303437"/>
                </a:solidFill>
                <a:latin typeface="Noto Sans CJK JP"/>
                <a:ea typeface="Noto Sans CJK JP"/>
                <a:cs typeface="Noto Sans CJK JP"/>
              </a:rPr>
              <a:t>質問 </a:t>
            </a:r>
            <a:r>
              <a:rPr sz="1900" b="0" lang="ja-JP">
                <a:solidFill>
                  <a:srgbClr val="303437"/>
                </a:solidFill>
                <a:latin typeface="Liberation Sans"/>
                <a:ea typeface="Liberation Sans"/>
                <a:cs typeface="Liberation Sans"/>
              </a:rPr>
              <a:t>Which NFL team represented the AFC at Super Bowl 50?</a:t>
            </a:r>
            <a:endParaRPr sz="1900" lang="ja-JP"/>
          </a:p>
          <a:p>
            <a:pPr algn="l" marL="0" indent="0">
              <a:lnSpc>
                <a:spcPct val="110000"/>
              </a:lnSpc>
              <a:spcBef>
                <a:spcPts val="0"/>
              </a:spcBef>
              <a:spcAft>
                <a:spcPts val="600"/>
              </a:spcAft>
              <a:defRPr sz="1700">
                <a:latin typeface="Noto Sans CJK JP"/>
              </a:defRPr>
              <a:buNone/>
            </a:pPr>
            <a:r>
              <a:rPr sz="1700" b="0" lang="ja-JP">
                <a:solidFill>
                  <a:srgbClr val="626669"/>
                </a:solidFill>
                <a:latin typeface="Noto Sans CJK JP"/>
                <a:ea typeface="Noto Sans CJK JP"/>
                <a:cs typeface="Noto Sans CJK JP"/>
              </a:rPr>
              <a:t>質問の日本語訳 第50回スーパーボウルで AFC を代表したチームは？</a:t>
            </a:r>
            <a:endParaRPr sz="1700" lang="ja-JP"/>
          </a:p>
        </p:txBody>
      </p:sp>
      <p:sp>
        <p:nvSpPr>
          <p:cNvPr id="8" name="example-answer"/>
          <p:cNvSpPr txBox="1"/>
          <p:nvPr/>
        </p:nvSpPr>
        <p:spPr>
          <a:xfrm>
            <a:off x="548640" y="4208693"/>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defRPr sz="2200">
                <a:latin typeface="Noto Sans CJK JP"/>
              </a:defRPr>
              <a:buNone/>
            </a:pPr>
            <a:r>
              <a:rPr sz="2200" b="1" lang="ja-JP">
                <a:solidFill>
                  <a:srgbClr val="B13731"/>
                </a:solidFill>
                <a:latin typeface="Noto Sans CJK JP"/>
                <a:ea typeface="Noto Sans CJK JP"/>
                <a:cs typeface="Noto Sans CJK JP"/>
              </a:rPr>
              <a:t>正解は Denver Broncos</a:t>
            </a:r>
            <a:endParaRPr sz="2200" lang="ja-JP"/>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SQuAD バージョン1.1 / dev / 記事名 Super_Bowl_50　https://rajpurkar.github.io/SQuAD-explorer/dataset/dev-v1.1.json（CC BY-SA 4.0／抜粋・強調・質問訳を追加）　ID 56be4db0acb8001400a502ec</a:t>
            </a:r>
            <a:endParaRPr sz="85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実例2 人物記事の質問</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タスクの実例</a:t>
            </a:r>
            <a:endParaRPr sz="1400" lang="ja-JP"/>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626669"/>
                </a:solidFill>
                <a:latin typeface="Noto Sans CJK JP"/>
                <a:ea typeface="Noto Sans CJK JP"/>
              </a:rPr>
              <a:t>Wikipedia記事の段落（抜粋）</a:t>
            </a:r>
            <a:endParaRPr sz="1400" lang="ja-JP"/>
            <a:endParaRPr sz="1400"/>
          </a:p>
        </p:txBody>
      </p:sp>
      <p:sp>
        <p:nvSpPr>
          <p:cNvPr id="5" name="quote-frame"/>
          <p:cNvSpPr/>
          <p:nvPr/>
        </p:nvSpPr>
        <p:spPr>
          <a:xfrm>
            <a:off x="548640" y="1715797"/>
            <a:ext cx="8046720" cy="134607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defRPr sz="1800">
                <a:latin typeface="Liberation Sans"/>
              </a:defRPr>
              <a:buNone/>
            </a:pPr>
            <a:r>
              <a:rPr sz="1800" b="0" lang="ja-JP">
                <a:solidFill>
                  <a:srgbClr val="303437"/>
                </a:solidFill>
                <a:latin typeface="Liberation Sans"/>
                <a:ea typeface="Liberation Sans"/>
                <a:cs typeface="Liberation Sans"/>
              </a:rPr>
              <a:t>Tesla gained experience in telephony and electrical engineering before emigrating to the United States in </a:t>
            </a:r>
            <a:r>
              <a:rPr sz="1800" b="1" lang="ja-JP">
                <a:solidFill>
                  <a:srgbClr val="B13731"/>
                </a:solidFill>
                <a:latin typeface="Liberation Sans"/>
                <a:ea typeface="Liberation Sans"/>
                <a:cs typeface="Liberation Sans"/>
              </a:rPr>
              <a:t>1884</a:t>
            </a:r>
            <a:r>
              <a:rPr sz="1800" b="0" lang="ja-JP">
                <a:solidFill>
                  <a:srgbClr val="303437"/>
                </a:solidFill>
                <a:latin typeface="Liberation Sans"/>
                <a:ea typeface="Liberation Sans"/>
                <a:cs typeface="Liberation Sans"/>
              </a:rPr>
              <a:t> to work for Thomas Edison in New York City. He soon struck out on his own with financial backers, setting up laboratories and companies to develop a range of electrical devices.</a:t>
            </a:r>
            <a:endParaRPr sz="1800" lang="ja-JP"/>
          </a:p>
        </p:txBody>
      </p:sp>
      <p:sp>
        <p:nvSpPr>
          <p:cNvPr id="7" name="example-question"/>
          <p:cNvSpPr txBox="1"/>
          <p:nvPr/>
        </p:nvSpPr>
        <p:spPr>
          <a:xfrm>
            <a:off x="548640" y="326507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defRPr sz="1900">
                <a:latin typeface="Noto Sans CJK JP"/>
              </a:defRPr>
              <a:buNone/>
            </a:pPr>
            <a:r>
              <a:rPr sz="1900" b="1" lang="ja-JP">
                <a:solidFill>
                  <a:srgbClr val="303437"/>
                </a:solidFill>
                <a:latin typeface="Noto Sans CJK JP"/>
                <a:ea typeface="Noto Sans CJK JP"/>
                <a:cs typeface="Noto Sans CJK JP"/>
              </a:rPr>
              <a:t>質問 </a:t>
            </a:r>
            <a:r>
              <a:rPr sz="1900" b="0" lang="ja-JP">
                <a:solidFill>
                  <a:srgbClr val="303437"/>
                </a:solidFill>
                <a:latin typeface="Liberation Sans"/>
                <a:ea typeface="Liberation Sans"/>
                <a:cs typeface="Liberation Sans"/>
              </a:rPr>
              <a:t>In what year did Nikola Tesla emigrate to the United States?</a:t>
            </a:r>
            <a:endParaRPr sz="1900" lang="ja-JP"/>
          </a:p>
          <a:p>
            <a:pPr algn="l" marL="0" indent="0">
              <a:lnSpc>
                <a:spcPct val="110000"/>
              </a:lnSpc>
              <a:spcBef>
                <a:spcPts val="0"/>
              </a:spcBef>
              <a:spcAft>
                <a:spcPts val="600"/>
              </a:spcAft>
              <a:defRPr sz="1700">
                <a:latin typeface="Noto Sans CJK JP"/>
              </a:defRPr>
              <a:buNone/>
            </a:pPr>
            <a:r>
              <a:rPr sz="1700" b="0" lang="ja-JP">
                <a:solidFill>
                  <a:srgbClr val="626669"/>
                </a:solidFill>
                <a:latin typeface="Noto Sans CJK JP"/>
                <a:ea typeface="Noto Sans CJK JP"/>
                <a:cs typeface="Noto Sans CJK JP"/>
              </a:rPr>
              <a:t>質問の日本語訳 ニコラ・テスラがアメリカへ移住したのは何年か？</a:t>
            </a:r>
            <a:endParaRPr sz="1700" lang="ja-JP"/>
          </a:p>
        </p:txBody>
      </p:sp>
      <p:sp>
        <p:nvSpPr>
          <p:cNvPr id="8" name="example-answer"/>
          <p:cNvSpPr txBox="1"/>
          <p:nvPr/>
        </p:nvSpPr>
        <p:spPr>
          <a:xfrm>
            <a:off x="548640" y="391277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defRPr sz="2200">
                <a:latin typeface="Noto Sans CJK JP"/>
              </a:defRPr>
              <a:buNone/>
            </a:pPr>
            <a:r>
              <a:rPr sz="2200" b="1" lang="ja-JP">
                <a:solidFill>
                  <a:srgbClr val="B13731"/>
                </a:solidFill>
                <a:latin typeface="Noto Sans CJK JP"/>
                <a:ea typeface="Noto Sans CJK JP"/>
                <a:cs typeface="Noto Sans CJK JP"/>
              </a:rPr>
              <a:t>正解は 1884</a:t>
            </a:r>
            <a:endParaRPr sz="2200" lang="ja-JP"/>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SQuAD バージョン1.1 / dev / 記事名 Nikola_Tesla　https://rajpurkar.github.io/SQuAD-explorer/dataset/dev-v1.1.json（CC BY-SA 4.0／抜粋・強調・質問訳を追加）　ID 56df9ee138dc421700152108</a:t>
            </a:r>
            <a:endParaRPr sz="85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実例3 技術記事の質問</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タスクの実例</a:t>
            </a:r>
            <a:endParaRPr sz="1400" lang="ja-JP"/>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626669"/>
                </a:solidFill>
                <a:latin typeface="Noto Sans CJK JP"/>
                <a:ea typeface="Noto Sans CJK JP"/>
              </a:rPr>
              <a:t>Wikipedia記事の段落（抜粋）</a:t>
            </a:r>
            <a:endParaRPr sz="1400" lang="ja-JP"/>
            <a:endParaRPr sz="1400"/>
          </a:p>
        </p:txBody>
      </p:sp>
      <p:sp>
        <p:nvSpPr>
          <p:cNvPr id="5" name="quote-frame"/>
          <p:cNvSpPr/>
          <p:nvPr/>
        </p:nvSpPr>
        <p:spPr>
          <a:xfrm>
            <a:off x="548640" y="1715797"/>
            <a:ext cx="8046720" cy="105016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defRPr sz="1800">
                <a:latin typeface="Liberation Sans"/>
              </a:defRPr>
              <a:buNone/>
            </a:pPr>
            <a:r>
              <a:rPr sz="1800" b="0" lang="ja-JP">
                <a:solidFill>
                  <a:srgbClr val="303437"/>
                </a:solidFill>
                <a:latin typeface="Liberation Sans"/>
                <a:ea typeface="Liberation Sans"/>
                <a:cs typeface="Liberation Sans"/>
              </a:rPr>
              <a:t>Steam engines are </a:t>
            </a:r>
            <a:r>
              <a:rPr sz="1800" b="1" lang="ja-JP">
                <a:solidFill>
                  <a:srgbClr val="B13731"/>
                </a:solidFill>
                <a:latin typeface="Liberation Sans"/>
                <a:ea typeface="Liberation Sans"/>
                <a:cs typeface="Liberation Sans"/>
              </a:rPr>
              <a:t>external combustion</a:t>
            </a:r>
            <a:r>
              <a:rPr sz="1800" b="0" lang="ja-JP">
                <a:solidFill>
                  <a:srgbClr val="303437"/>
                </a:solidFill>
                <a:latin typeface="Liberation Sans"/>
                <a:ea typeface="Liberation Sans"/>
                <a:cs typeface="Liberation Sans"/>
              </a:rPr>
              <a:t> engines, where the working fluid is separate from the combustion products. Non-combustion heat sources such as solar power, nuclear power or geothermal energy may be used.</a:t>
            </a:r>
            <a:endParaRPr sz="1800" lang="ja-JP"/>
          </a:p>
        </p:txBody>
      </p:sp>
      <p:sp>
        <p:nvSpPr>
          <p:cNvPr id="7" name="example-question"/>
          <p:cNvSpPr txBox="1"/>
          <p:nvPr/>
        </p:nvSpPr>
        <p:spPr>
          <a:xfrm>
            <a:off x="548640" y="296916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defRPr sz="1900">
                <a:latin typeface="Noto Sans CJK JP"/>
              </a:defRPr>
              <a:buNone/>
            </a:pPr>
            <a:r>
              <a:rPr sz="1900" b="1" lang="ja-JP">
                <a:solidFill>
                  <a:srgbClr val="303437"/>
                </a:solidFill>
                <a:latin typeface="Noto Sans CJK JP"/>
                <a:ea typeface="Noto Sans CJK JP"/>
                <a:cs typeface="Noto Sans CJK JP"/>
              </a:rPr>
              <a:t>質問 </a:t>
            </a:r>
            <a:r>
              <a:rPr sz="1900" b="0" lang="ja-JP">
                <a:solidFill>
                  <a:srgbClr val="303437"/>
                </a:solidFill>
                <a:latin typeface="Liberation Sans"/>
                <a:ea typeface="Liberation Sans"/>
                <a:cs typeface="Liberation Sans"/>
              </a:rPr>
              <a:t>What types of engines are steam engines?</a:t>
            </a:r>
            <a:endParaRPr sz="1900" lang="ja-JP"/>
          </a:p>
          <a:p>
            <a:pPr algn="l" marL="0" indent="0">
              <a:lnSpc>
                <a:spcPct val="110000"/>
              </a:lnSpc>
              <a:spcBef>
                <a:spcPts val="0"/>
              </a:spcBef>
              <a:spcAft>
                <a:spcPts val="600"/>
              </a:spcAft>
              <a:defRPr sz="1700">
                <a:latin typeface="Noto Sans CJK JP"/>
              </a:defRPr>
              <a:buNone/>
            </a:pPr>
            <a:r>
              <a:rPr sz="1700" b="0" lang="ja-JP">
                <a:solidFill>
                  <a:srgbClr val="626669"/>
                </a:solidFill>
                <a:latin typeface="Noto Sans CJK JP"/>
                <a:ea typeface="Noto Sans CJK JP"/>
                <a:cs typeface="Noto Sans CJK JP"/>
              </a:rPr>
              <a:t>質問の日本語訳 蒸気機関はどのような種類の機関か？</a:t>
            </a:r>
            <a:endParaRPr sz="1700" lang="ja-JP"/>
          </a:p>
        </p:txBody>
      </p:sp>
      <p:sp>
        <p:nvSpPr>
          <p:cNvPr id="8" name="example-answer"/>
          <p:cNvSpPr txBox="1"/>
          <p:nvPr/>
        </p:nvSpPr>
        <p:spPr>
          <a:xfrm>
            <a:off x="548640" y="361686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defRPr sz="2200">
                <a:latin typeface="Noto Sans CJK JP"/>
              </a:defRPr>
              <a:buNone/>
            </a:pPr>
            <a:r>
              <a:rPr sz="2200" b="1" lang="ja-JP">
                <a:solidFill>
                  <a:srgbClr val="B13731"/>
                </a:solidFill>
                <a:latin typeface="Noto Sans CJK JP"/>
                <a:ea typeface="Noto Sans CJK JP"/>
                <a:cs typeface="Noto Sans CJK JP"/>
              </a:rPr>
              <a:t>正解は external combustion</a:t>
            </a:r>
            <a:endParaRPr sz="2200" lang="ja-JP"/>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SQuAD バージョン1.1 / dev / 記事名 Steam_engine　https://rajpurkar.github.io/SQuAD-explorer/dataset/dev-v1.1.json（CC BY-SA 4.0／抜粋・強調・質問訳を追加）　ID 57112686b654c5140001fbd7</a:t>
            </a:r>
            <a:endParaRPr sz="85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実例4 文章から回答できない質問</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タスクの実例</a:t>
            </a:r>
            <a:endParaRPr sz="1400" lang="ja-JP"/>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626669"/>
                </a:solidFill>
                <a:latin typeface="Noto Sans CJK JP"/>
                <a:ea typeface="Noto Sans CJK JP"/>
              </a:rPr>
              <a:t>Wikipedia記事の段落（抜粋）</a:t>
            </a:r>
            <a:endParaRPr sz="1400" lang="ja-JP"/>
            <a:endParaRPr sz="1400"/>
          </a:p>
        </p:txBody>
      </p:sp>
      <p:sp>
        <p:nvSpPr>
          <p:cNvPr id="5" name="quote-frame"/>
          <p:cNvSpPr/>
          <p:nvPr/>
        </p:nvSpPr>
        <p:spPr>
          <a:xfrm>
            <a:off x="548640" y="1715797"/>
            <a:ext cx="8046720" cy="105016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defRPr sz="1800">
                <a:latin typeface="Liberation Sans"/>
              </a:defRPr>
              <a:buNone/>
            </a:pPr>
            <a:r>
              <a:rPr sz="1800" b="0" lang="ja-JP">
                <a:solidFill>
                  <a:srgbClr val="303437"/>
                </a:solidFill>
                <a:latin typeface="Liberation Sans"/>
                <a:ea typeface="Liberation Sans"/>
                <a:cs typeface="Liberation Sans"/>
              </a:rPr>
              <a:t>They were descended from Norse ("Norman" comes from "Norseman") raiders and pirates from Denmark, Iceland and Norway who, under their leader Rollo, agreed to swear fealty to King Charles III of West Francia.</a:t>
            </a:r>
            <a:endParaRPr sz="1800" lang="ja-JP"/>
          </a:p>
        </p:txBody>
      </p:sp>
      <p:sp>
        <p:nvSpPr>
          <p:cNvPr id="7" name="example-question"/>
          <p:cNvSpPr txBox="1"/>
          <p:nvPr/>
        </p:nvSpPr>
        <p:spPr>
          <a:xfrm>
            <a:off x="548640" y="296916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defRPr sz="1900">
                <a:latin typeface="Noto Sans CJK JP"/>
              </a:defRPr>
              <a:buNone/>
            </a:pPr>
            <a:r>
              <a:rPr sz="1900" b="1" lang="ja-JP">
                <a:solidFill>
                  <a:srgbClr val="303437"/>
                </a:solidFill>
                <a:latin typeface="Noto Sans CJK JP"/>
                <a:ea typeface="Noto Sans CJK JP"/>
                <a:cs typeface="Noto Sans CJK JP"/>
              </a:rPr>
              <a:t>質問 </a:t>
            </a:r>
            <a:r>
              <a:rPr sz="1900" b="0" lang="ja-JP">
                <a:solidFill>
                  <a:srgbClr val="303437"/>
                </a:solidFill>
                <a:latin typeface="Liberation Sans"/>
                <a:ea typeface="Liberation Sans"/>
                <a:cs typeface="Liberation Sans"/>
              </a:rPr>
              <a:t>Who did King Charles III swear fealty to?</a:t>
            </a:r>
            <a:endParaRPr sz="1900" lang="ja-JP"/>
          </a:p>
          <a:p>
            <a:pPr algn="l" marL="0" indent="0">
              <a:lnSpc>
                <a:spcPct val="110000"/>
              </a:lnSpc>
              <a:spcBef>
                <a:spcPts val="0"/>
              </a:spcBef>
              <a:spcAft>
                <a:spcPts val="600"/>
              </a:spcAft>
              <a:defRPr sz="1700">
                <a:latin typeface="Noto Sans CJK JP"/>
              </a:defRPr>
              <a:buNone/>
            </a:pPr>
            <a:r>
              <a:rPr sz="1700" b="0" lang="ja-JP">
                <a:solidFill>
                  <a:srgbClr val="626669"/>
                </a:solidFill>
                <a:latin typeface="Noto Sans CJK JP"/>
                <a:ea typeface="Noto Sans CJK JP"/>
                <a:cs typeface="Noto Sans CJK JP"/>
              </a:rPr>
              <a:t>質問の日本語訳 シャルル3世は誰に忠誠を誓ったか？</a:t>
            </a:r>
            <a:endParaRPr sz="1700" lang="ja-JP"/>
          </a:p>
        </p:txBody>
      </p:sp>
      <p:sp>
        <p:nvSpPr>
          <p:cNvPr id="8" name="example-answer"/>
          <p:cNvSpPr txBox="1"/>
          <p:nvPr/>
        </p:nvSpPr>
        <p:spPr>
          <a:xfrm>
            <a:off x="548640" y="361686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defRPr sz="2200">
                <a:latin typeface="Noto Sans CJK JP"/>
              </a:defRPr>
              <a:buNone/>
            </a:pPr>
            <a:r>
              <a:rPr sz="2200" b="1" lang="ja-JP">
                <a:solidFill>
                  <a:srgbClr val="B13731"/>
                </a:solidFill>
                <a:latin typeface="Noto Sans CJK JP"/>
                <a:ea typeface="Noto Sans CJK JP"/>
                <a:cs typeface="Noto Sans CJK JP"/>
              </a:rPr>
              <a:t>正解は 回答不能（文章に根拠がない）</a:t>
            </a:r>
            <a:endParaRPr sz="2200" lang="ja-JP"/>
          </a:p>
        </p:txBody>
      </p:sp>
      <p:sp>
        <p:nvSpPr>
          <p:cNvPr id="9" name="content-text"/>
          <p:cNvSpPr txBox="1"/>
          <p:nvPr/>
        </p:nvSpPr>
        <p:spPr>
          <a:xfrm>
            <a:off x="548640" y="4061360"/>
            <a:ext cx="8046720" cy="231457"/>
          </a:xfrm>
          <a:prstGeom prst="rect">
            <a:avLst/>
          </a:prstGeom>
          <a:noFill/>
        </p:spPr>
        <p:txBody>
          <a:bodyPr wrap="square" anchor="t"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Rollo の側が王に忠誠を誓う。王が誰に誓ったかは記載されていない。</a:t>
            </a:r>
            <a:endParaRPr sz="1400" lang="ja-JP"/>
          </a:p>
        </p:txBody>
      </p:sp>
      <p:sp>
        <p:nvSpPr>
          <p:cNvPr id="10"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SQuAD バージョン2.0 / dev / 記事名 Normans　https://rajpurkar.github.io/SQuAD-explorer/dataset/dev-v2.0.json（CC BY-SA 4.0／抜粋・強調・質問訳を追加）　ID 5ad39d53604f3c001a3fe8d3</a:t>
            </a:r>
            <a:endParaRPr sz="85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783080"/>
            <a:ext cx="8229600" cy="1417320"/>
          </a:xfrm>
        </p:spPr>
        <p:txBody>
          <a:bodyPr wrap="none" lIns="0" rIns="0" tIns="0" bIns="0" anchor="ctr"/>
          <a:lstStyle/>
          <a:p>
            <a:pPr algn="ctr" marL="0" indent="0">
              <a:defRPr sz="4000">
                <a:latin typeface="Noto Sans CJK JP"/>
              </a:defRPr>
              <a:lnSpc>
                <a:spcPct val="110000"/>
              </a:lnSpc>
              <a:spcBef>
                <a:spcPts val="0"/>
              </a:spcBef>
              <a:spcAft>
                <a:spcPts val="0"/>
              </a:spcAft>
              <a:buNone/>
            </a:pPr>
            <a:r>
              <a:rPr sz="4000" lang="ja-JP" b="1">
                <a:solidFill>
                  <a:srgbClr val="303437"/>
                </a:solidFill>
                <a:latin typeface="Noto Sans CJK JP"/>
                <a:ea typeface="Noto Sans CJK JP"/>
              </a:rPr>
              <a:t>2 作成方法と規模</a:t>
            </a:r>
            <a:endParaRPr sz="4000"/>
            <a:endParaRPr sz="4000"/>
            <a:endParaRPr sz="4000"/>
          </a:p>
        </p:txBody>
      </p:sp>
      <p:sp>
        <p:nvSpPr>
          <p:cNvPr id="3" name="Title 2"/>
          <p:cNvSpPr>
            <a:spLocks noGrp="1"/>
          </p:cNvSpPr>
          <p:nvPr>
            <p:ph type="title" idx="2"/>
          </p:nvPr>
        </p:nvSpPr>
        <p:spPr/>
        <p:txBody>
          <a:bodyPr/>
          <a:lstStyle/>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Wikipediaの記事と段落の選定方法</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概要</a:t>
            </a:r>
            <a:endParaRPr sz="1400" lang="ja-JP"/>
          </a:p>
        </p:txBody>
      </p:sp>
      <p:sp>
        <p:nvSpPr>
          <p:cNvPr id="4" name="content-text"/>
          <p:cNvSpPr txBox="1"/>
          <p:nvPr/>
        </p:nvSpPr>
        <p:spPr>
          <a:xfrm>
            <a:off x="594360" y="1465897"/>
            <a:ext cx="8046720" cy="3086100"/>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2300">
                <a:latin typeface="Noto Sans CJK JP"/>
              </a:defRPr>
              <a:buChar char="•"/>
            </a:pPr>
            <a:r>
              <a:rPr sz="2300" b="0" lang="ja-JP">
                <a:solidFill>
                  <a:srgbClr val="303437"/>
                </a:solidFill>
                <a:latin typeface="Noto Sans CJK JP"/>
                <a:ea typeface="Noto Sans CJK JP"/>
                <a:cs typeface="Noto Sans CJK JP"/>
              </a:rPr>
              <a:t>2016年論文で報告された収集設計 </a:t>
            </a:r>
            <a:r>
              <a:rPr sz="950" b="0" lang="ja-JP">
                <a:solidFill>
                  <a:srgbClr val="626669"/>
                </a:solidFill>
                <a:latin typeface="Noto Sans CJK JP"/>
                <a:ea typeface="Noto Sans CJK JP"/>
                <a:cs typeface="Noto Sans CJK JP"/>
              </a:rPr>
              <a:t>[1]</a:t>
            </a:r>
            <a:r>
              <a:rPr sz="2300" b="0" lang="ja-JP">
                <a:solidFill>
                  <a:srgbClr val="303437"/>
                </a:solidFill>
                <a:latin typeface="Noto Sans CJK JP"/>
                <a:ea typeface="Noto Sans CJK JP"/>
                <a:cs typeface="Noto Sans CJK JP"/>
              </a:rPr>
              <a:t>。</a:t>
            </a:r>
            <a:endParaRPr sz="2300" lang="ja-JP"/>
          </a:p>
          <a:p>
            <a:pPr algn="l" marL="203200" indent="-152400">
              <a:lnSpc>
                <a:spcPct val="113000"/>
              </a:lnSpc>
              <a:spcBef>
                <a:spcPts val="0"/>
              </a:spcBef>
              <a:spcAft>
                <a:spcPts val="500"/>
              </a:spcAft>
              <a:defRPr sz="2200">
                <a:latin typeface="Noto Sans CJK JP"/>
              </a:defRPr>
              <a:buChar char="•"/>
            </a:pPr>
            <a:r>
              <a:rPr sz="2200" b="0" lang="ja-JP">
                <a:solidFill>
                  <a:srgbClr val="303437"/>
                </a:solidFill>
                <a:latin typeface="Noto Sans CJK JP"/>
                <a:ea typeface="Noto Sans CJK JP"/>
                <a:cs typeface="Noto Sans CJK JP"/>
              </a:rPr>
              <a:t>英語Wikipediaの記事を、PageRankを用いて順位付け。</a:t>
            </a:r>
            <a:endParaRPr sz="2200" lang="ja-JP"/>
          </a:p>
          <a:p>
            <a:pPr lvl="1" algn="l" marL="482600" indent="-127000">
              <a:lnSpc>
                <a:spcPct val="113000"/>
              </a:lnSpc>
              <a:spcBef>
                <a:spcPts val="0"/>
              </a:spcBef>
              <a:spcAft>
                <a:spcPts val="400"/>
              </a:spcAft>
              <a:defRPr sz="2100">
                <a:latin typeface="Noto Sans CJK JP"/>
              </a:defRPr>
              <a:buChar char="○"/>
            </a:pPr>
            <a:r>
              <a:rPr sz="2100" b="0" lang="ja-JP">
                <a:solidFill>
                  <a:srgbClr val="303437"/>
                </a:solidFill>
                <a:latin typeface="Noto Sans CJK JP"/>
                <a:ea typeface="Noto Sans CJK JP"/>
                <a:cs typeface="Noto Sans CJK JP"/>
              </a:rPr>
              <a:t>上位10,000記事から536記事を無作為に選ぶ。</a:t>
            </a:r>
            <a:endParaRPr sz="2100" lang="ja-JP"/>
          </a:p>
          <a:p>
            <a:pPr algn="l" marL="203200" indent="-152400">
              <a:lnSpc>
                <a:spcPct val="113000"/>
              </a:lnSpc>
              <a:spcBef>
                <a:spcPts val="0"/>
              </a:spcBef>
              <a:spcAft>
                <a:spcPts val="500"/>
              </a:spcAft>
              <a:defRPr sz="2200">
                <a:latin typeface="Noto Sans CJK JP"/>
              </a:defRPr>
              <a:buChar char="•"/>
            </a:pPr>
            <a:r>
              <a:rPr sz="2200" b="0" lang="ja-JP">
                <a:solidFill>
                  <a:srgbClr val="303437"/>
                </a:solidFill>
                <a:latin typeface="Noto Sans CJK JP"/>
                <a:ea typeface="Noto Sans CJK JP"/>
                <a:cs typeface="Noto Sans CJK JP"/>
              </a:rPr>
              <a:t>各記事から段落を取り出し、500文字未満の段落を除く。</a:t>
            </a:r>
            <a:endParaRPr sz="2200" lang="ja-JP"/>
          </a:p>
          <a:p>
            <a:pPr algn="l" marL="203200" indent="-152400">
              <a:lnSpc>
                <a:spcPct val="113000"/>
              </a:lnSpc>
              <a:spcBef>
                <a:spcPts val="0"/>
              </a:spcBef>
              <a:spcAft>
                <a:spcPts val="500"/>
              </a:spcAft>
              <a:defRPr sz="2200">
                <a:latin typeface="Noto Sans CJK JP"/>
              </a:defRPr>
              <a:buChar char="•"/>
            </a:pPr>
            <a:r>
              <a:rPr sz="2200" b="0" lang="ja-JP">
                <a:solidFill>
                  <a:srgbClr val="303437"/>
                </a:solidFill>
                <a:latin typeface="Noto Sans CJK JP"/>
                <a:ea typeface="Noto Sans CJK JP"/>
                <a:cs typeface="Noto Sans CJK JP"/>
              </a:rPr>
              <a:t>学習・開発・テストを記事単位で分ける。</a:t>
            </a:r>
            <a:endParaRPr sz="2200" lang="ja-JP"/>
          </a:p>
          <a:p>
            <a:pPr algn="l" marL="203200" indent="-152400">
              <a:lnSpc>
                <a:spcPct val="113000"/>
              </a:lnSpc>
              <a:spcBef>
                <a:spcPts val="0"/>
              </a:spcBef>
              <a:spcAft>
                <a:spcPts val="500"/>
              </a:spcAft>
              <a:defRPr sz="2200">
                <a:latin typeface="Noto Sans CJK JP"/>
              </a:defRPr>
              <a:buChar char="•"/>
            </a:pPr>
            <a:r>
              <a:rPr sz="2200" b="0" lang="ja-JP">
                <a:solidFill>
                  <a:srgbClr val="303437"/>
                </a:solidFill>
                <a:latin typeface="Noto Sans CJK JP"/>
                <a:ea typeface="Noto Sans CJK JP"/>
                <a:cs typeface="Noto Sans CJK JP"/>
              </a:rPr>
              <a:t>入力 context は記事全文ではなく、選ばれた段落。</a:t>
            </a:r>
            <a:endParaRPr sz="2200" lang="ja-JP"/>
          </a:p>
          <a:p>
            <a:pPr lvl="1" algn="l" marL="482600" indent="-127000">
              <a:lnSpc>
                <a:spcPct val="113000"/>
              </a:lnSpc>
              <a:spcBef>
                <a:spcPts val="0"/>
              </a:spcBef>
              <a:spcAft>
                <a:spcPts val="400"/>
              </a:spcAft>
              <a:defRPr sz="1800">
                <a:latin typeface="Noto Sans CJK JP"/>
              </a:defRPr>
              <a:buChar char="○"/>
            </a:pPr>
            <a:r>
              <a:rPr sz="1800" b="0" lang="ja-JP">
                <a:solidFill>
                  <a:srgbClr val="303437"/>
                </a:solidFill>
                <a:latin typeface="Noto Sans CJK JP"/>
                <a:ea typeface="Noto Sans CJK JP"/>
                <a:cs typeface="Noto Sans CJK JP"/>
              </a:rPr>
              <a:t>この選定条件は初版論文の設計。現在の公開JSONの長さとは区別する。</a:t>
            </a:r>
            <a:endParaRPr sz="1800" lang="ja-JP"/>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Rajpurkar et al. (2016), §3 Dataset collection　https://aclanthology.org/D16-1264/</a:t>
            </a:r>
            <a:endParaRPr sz="85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質問と回答の作成方法</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概要</a:t>
            </a:r>
            <a:endParaRPr sz="1400" lang="ja-JP"/>
          </a:p>
        </p:txBody>
      </p:sp>
      <p:sp>
        <p:nvSpPr>
          <p:cNvPr id="4" name="content-text"/>
          <p:cNvSpPr txBox="1"/>
          <p:nvPr/>
        </p:nvSpPr>
        <p:spPr>
          <a:xfrm>
            <a:off x="594360" y="1465897"/>
            <a:ext cx="8046720" cy="3086100"/>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2200">
                <a:latin typeface="Noto Sans CJK JP"/>
              </a:defRPr>
              <a:buChar char="•"/>
            </a:pPr>
            <a:r>
              <a:rPr sz="2200" b="0" lang="ja-JP">
                <a:solidFill>
                  <a:srgbClr val="303437"/>
                </a:solidFill>
                <a:latin typeface="Noto Sans CJK JP"/>
                <a:ea typeface="Noto Sans CJK JP"/>
                <a:cs typeface="Noto Sans CJK JP"/>
              </a:rPr>
              <a:t>Amazon Mechanical Turk の作業者が質問と回答を作成 </a:t>
            </a:r>
            <a:r>
              <a:rPr sz="950" b="0" lang="ja-JP">
                <a:solidFill>
                  <a:srgbClr val="626669"/>
                </a:solidFill>
                <a:latin typeface="Noto Sans CJK JP"/>
                <a:ea typeface="Noto Sans CJK JP"/>
                <a:cs typeface="Noto Sans CJK JP"/>
              </a:rPr>
              <a:t>[1]</a:t>
            </a:r>
            <a:r>
              <a:rPr sz="2200" b="0" lang="ja-JP">
                <a:solidFill>
                  <a:srgbClr val="303437"/>
                </a:solidFill>
                <a:latin typeface="Noto Sans CJK JP"/>
                <a:ea typeface="Noto Sans CJK JP"/>
                <a:cs typeface="Noto Sans CJK JP"/>
              </a:rPr>
              <a:t>。</a:t>
            </a:r>
            <a:endParaRPr sz="2200" lang="ja-JP"/>
          </a:p>
          <a:p>
            <a:pPr algn="l" marL="203200" indent="-152400">
              <a:lnSpc>
                <a:spcPct val="113000"/>
              </a:lnSpc>
              <a:spcBef>
                <a:spcPts val="0"/>
              </a:spcBef>
              <a:spcAft>
                <a:spcPts val="500"/>
              </a:spcAft>
              <a:defRPr sz="2200">
                <a:latin typeface="Noto Sans CJK JP"/>
              </a:defRPr>
              <a:buChar char="•"/>
            </a:pPr>
            <a:r>
              <a:rPr sz="2200" b="0" lang="ja-JP">
                <a:solidFill>
                  <a:srgbClr val="303437"/>
                </a:solidFill>
                <a:latin typeface="Noto Sans CJK JP"/>
                <a:ea typeface="Noto Sans CJK JP"/>
                <a:cs typeface="Noto Sans CJK JP"/>
              </a:rPr>
              <a:t>提示した段落について、最大5問を作るよう指示。</a:t>
            </a:r>
            <a:endParaRPr sz="2200" lang="ja-JP"/>
          </a:p>
          <a:p>
            <a:pPr lvl="1" algn="l" marL="482600" indent="-127000">
              <a:lnSpc>
                <a:spcPct val="113000"/>
              </a:lnSpc>
              <a:spcBef>
                <a:spcPts val="0"/>
              </a:spcBef>
              <a:spcAft>
                <a:spcPts val="400"/>
              </a:spcAft>
              <a:defRPr sz="2100">
                <a:latin typeface="Noto Sans CJK JP"/>
              </a:defRPr>
              <a:buChar char="○"/>
            </a:pPr>
            <a:r>
              <a:rPr sz="2100" b="0" lang="ja-JP">
                <a:solidFill>
                  <a:srgbClr val="303437"/>
                </a:solidFill>
                <a:latin typeface="Noto Sans CJK JP"/>
                <a:ea typeface="Noto Sans CJK JP"/>
                <a:cs typeface="Noto Sans CJK JP"/>
              </a:rPr>
              <a:t>段落だけから回答できる質問にする。</a:t>
            </a:r>
            <a:endParaRPr sz="2100" lang="ja-JP"/>
          </a:p>
          <a:p>
            <a:pPr lvl="1" algn="l" marL="482600" indent="-127000">
              <a:lnSpc>
                <a:spcPct val="113000"/>
              </a:lnSpc>
              <a:spcBef>
                <a:spcPts val="0"/>
              </a:spcBef>
              <a:spcAft>
                <a:spcPts val="400"/>
              </a:spcAft>
              <a:defRPr sz="2100">
                <a:latin typeface="Noto Sans CJK JP"/>
              </a:defRPr>
              <a:buChar char="○"/>
            </a:pPr>
            <a:r>
              <a:rPr sz="2100" b="0" lang="ja-JP">
                <a:solidFill>
                  <a:srgbClr val="303437"/>
                </a:solidFill>
                <a:latin typeface="Noto Sans CJK JP"/>
                <a:ea typeface="Noto Sans CJK JP"/>
                <a:cs typeface="Noto Sans CJK JP"/>
              </a:rPr>
              <a:t>本文のコピーではなく、自分の言葉で質問を書く。</a:t>
            </a:r>
            <a:endParaRPr sz="2100" lang="ja-JP"/>
          </a:p>
          <a:p>
            <a:pPr lvl="1" algn="l" marL="482600" indent="-127000">
              <a:lnSpc>
                <a:spcPct val="113000"/>
              </a:lnSpc>
              <a:spcBef>
                <a:spcPts val="0"/>
              </a:spcBef>
              <a:spcAft>
                <a:spcPts val="400"/>
              </a:spcAft>
              <a:defRPr sz="2100">
                <a:latin typeface="Noto Sans CJK JP"/>
              </a:defRPr>
              <a:buChar char="○"/>
            </a:pPr>
            <a:r>
              <a:rPr sz="2100" b="0" lang="ja-JP">
                <a:solidFill>
                  <a:srgbClr val="303437"/>
                </a:solidFill>
                <a:latin typeface="Noto Sans CJK JP"/>
                <a:ea typeface="Noto Sans CJK JP"/>
                <a:cs typeface="Noto Sans CJK JP"/>
              </a:rPr>
              <a:t>答えとなる最小限の連続した範囲を、段落内で選択する。</a:t>
            </a:r>
            <a:endParaRPr sz="2100" lang="ja-JP"/>
          </a:p>
          <a:p>
            <a:pPr algn="l" marL="203200" indent="-152400">
              <a:lnSpc>
                <a:spcPct val="113000"/>
              </a:lnSpc>
              <a:spcBef>
                <a:spcPts val="0"/>
              </a:spcBef>
              <a:spcAft>
                <a:spcPts val="500"/>
              </a:spcAft>
              <a:defRPr sz="2200">
                <a:latin typeface="Noto Sans CJK JP"/>
              </a:defRPr>
              <a:buChar char="•"/>
            </a:pPr>
            <a:r>
              <a:rPr sz="2200" b="0" lang="ja-JP">
                <a:solidFill>
                  <a:srgbClr val="303437"/>
                </a:solidFill>
                <a:latin typeface="Noto Sans CJK JP"/>
                <a:ea typeface="Noto Sans CJK JP"/>
                <a:cs typeface="Noto Sans CJK JP"/>
              </a:rPr>
              <a:t>開発・テストでは、別の作業者による追加回答も収集。</a:t>
            </a:r>
            <a:endParaRPr sz="2200" lang="ja-JP"/>
          </a:p>
          <a:p>
            <a:pPr lvl="1" algn="l" marL="482600" indent="-127000">
              <a:lnSpc>
                <a:spcPct val="113000"/>
              </a:lnSpc>
              <a:spcBef>
                <a:spcPts val="0"/>
              </a:spcBef>
              <a:spcAft>
                <a:spcPts val="400"/>
              </a:spcAft>
              <a:defRPr sz="2000">
                <a:latin typeface="Noto Sans CJK JP"/>
              </a:defRPr>
              <a:buChar char="○"/>
            </a:pPr>
            <a:r>
              <a:rPr sz="2000" b="0" lang="ja-JP">
                <a:solidFill>
                  <a:srgbClr val="303437"/>
                </a:solidFill>
                <a:latin typeface="Noto Sans CJK JP"/>
                <a:ea typeface="Noto Sans CJK JP"/>
                <a:cs typeface="Noto Sans CJK JP"/>
              </a:rPr>
              <a:t>表現の違う正解を認め、複数正解のうち最良の一致で評価する。</a:t>
            </a:r>
            <a:endParaRPr sz="2000" lang="ja-JP"/>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Rajpurkar et al. (2016), §3 Dataset collection　https://aclanthology.org/D16-1264/</a:t>
            </a:r>
            <a:endParaRPr sz="85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バージョン2.0を作った理由と作成方法</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概要</a:t>
            </a:r>
            <a:endParaRPr sz="1400" lang="ja-JP"/>
          </a:p>
        </p:txBody>
      </p:sp>
      <p:sp>
        <p:nvSpPr>
          <p:cNvPr id="4" name="content-text"/>
          <p:cNvSpPr txBox="1"/>
          <p:nvPr/>
        </p:nvSpPr>
        <p:spPr>
          <a:xfrm>
            <a:off x="594360" y="1465897"/>
            <a:ext cx="8046720" cy="3086100"/>
          </a:xfrm>
          <a:prstGeom prst="rect">
            <a:avLst/>
          </a:prstGeom>
          <a:noFill/>
        </p:spPr>
        <p:txBody>
          <a:bodyPr wrap="square" anchor="t" lIns="0" rIns="0" tIns="0" bIns="0">
            <a:noAutofit/>
          </a:bodyPr>
          <a:lstStyle/>
          <a:p>
            <a:pPr algn="l" marL="203200" indent="-152400">
              <a:lnSpc>
                <a:spcPct val="113000"/>
              </a:lnSpc>
              <a:spcBef>
                <a:spcPts val="0"/>
              </a:spcBef>
              <a:spcAft>
                <a:spcPts val="700"/>
              </a:spcAft>
              <a:defRPr sz="2200">
                <a:latin typeface="Noto Sans CJK JP"/>
              </a:defRPr>
              <a:buChar char="•"/>
            </a:pPr>
            <a:r>
              <a:rPr sz="2200" b="0" lang="ja-JP">
                <a:solidFill>
                  <a:srgbClr val="303437"/>
                </a:solidFill>
                <a:latin typeface="Noto Sans CJK JP"/>
                <a:ea typeface="Noto Sans CJK JP"/>
                <a:cs typeface="Noto Sans CJK JP"/>
              </a:rPr>
              <a:t>初版では、どの質問にも段落内に答えがあった </a:t>
            </a:r>
            <a:r>
              <a:rPr sz="950" b="0" lang="ja-JP">
                <a:solidFill>
                  <a:srgbClr val="626669"/>
                </a:solidFill>
                <a:latin typeface="Noto Sans CJK JP"/>
                <a:ea typeface="Noto Sans CJK JP"/>
                <a:cs typeface="Noto Sans CJK JP"/>
              </a:rPr>
              <a:t>[1]</a:t>
            </a:r>
            <a:r>
              <a:rPr sz="2200" b="0" lang="ja-JP">
                <a:solidFill>
                  <a:srgbClr val="303437"/>
                </a:solidFill>
                <a:latin typeface="Noto Sans CJK JP"/>
                <a:ea typeface="Noto Sans CJK JP"/>
                <a:cs typeface="Noto Sans CJK JP"/>
              </a:rPr>
              <a:t>。</a:t>
            </a:r>
            <a:endParaRPr sz="2200" lang="ja-JP"/>
          </a:p>
          <a:p>
            <a:pPr algn="l" marL="203200" indent="-152400">
              <a:lnSpc>
                <a:spcPct val="113000"/>
              </a:lnSpc>
              <a:spcBef>
                <a:spcPts val="0"/>
              </a:spcBef>
              <a:spcAft>
                <a:spcPts val="600"/>
              </a:spcAft>
              <a:defRPr sz="2100">
                <a:latin typeface="Noto Sans CJK JP"/>
              </a:defRPr>
              <a:buChar char="•"/>
            </a:pPr>
            <a:r>
              <a:rPr sz="2100" b="0" lang="ja-JP">
                <a:solidFill>
                  <a:srgbClr val="303437"/>
                </a:solidFill>
                <a:latin typeface="Noto Sans CJK JP"/>
                <a:ea typeface="Noto Sans CJK JP"/>
                <a:cs typeface="Noto Sans CJK JP"/>
              </a:rPr>
              <a:t>作業者が各段落に対し、回答不能な質問を最大5問作成した。</a:t>
            </a:r>
            <a:endParaRPr sz="2100" lang="ja-JP"/>
          </a:p>
          <a:p>
            <a:pPr lvl="1" algn="l" marL="482600" indent="-127000">
              <a:lnSpc>
                <a:spcPct val="113000"/>
              </a:lnSpc>
              <a:spcBef>
                <a:spcPts val="0"/>
              </a:spcBef>
              <a:spcAft>
                <a:spcPts val="500"/>
              </a:spcAft>
              <a:defRPr sz="2000">
                <a:latin typeface="Noto Sans CJK JP"/>
              </a:defRPr>
              <a:buChar char="○"/>
            </a:pPr>
            <a:r>
              <a:rPr sz="2000" b="0" lang="ja-JP">
                <a:solidFill>
                  <a:srgbClr val="303437"/>
                </a:solidFill>
                <a:latin typeface="Noto Sans CJK JP"/>
                <a:ea typeface="Noto Sans CJK JP"/>
                <a:cs typeface="Noto Sans CJK JP"/>
              </a:rPr>
              <a:t>段落の話題に関連し、回答可能な質問に見えるようにする。</a:t>
            </a:r>
            <a:endParaRPr sz="2000" lang="ja-JP"/>
          </a:p>
          <a:p>
            <a:pPr lvl="1" algn="l" marL="482600" indent="-127000">
              <a:lnSpc>
                <a:spcPct val="113000"/>
              </a:lnSpc>
              <a:spcBef>
                <a:spcPts val="0"/>
              </a:spcBef>
              <a:spcAft>
                <a:spcPts val="700"/>
              </a:spcAft>
              <a:defRPr sz="2000">
                <a:latin typeface="Noto Sans CJK JP"/>
              </a:defRPr>
              <a:buChar char="○"/>
            </a:pPr>
            <a:r>
              <a:rPr sz="2000" b="0" lang="ja-JP">
                <a:solidFill>
                  <a:srgbClr val="303437"/>
                </a:solidFill>
                <a:latin typeface="Noto Sans CJK JP"/>
                <a:ea typeface="Noto Sans CJK JP"/>
                <a:cs typeface="Noto Sans CJK JP"/>
              </a:rPr>
              <a:t>段落内に、答えに見える候補がある質問にする。</a:t>
            </a:r>
            <a:endParaRPr sz="2000" lang="ja-JP"/>
          </a:p>
          <a:p>
            <a:pPr algn="l" marL="203200" indent="-152400">
              <a:lnSpc>
                <a:spcPct val="113000"/>
              </a:lnSpc>
              <a:spcBef>
                <a:spcPts val="0"/>
              </a:spcBef>
              <a:spcAft>
                <a:spcPts val="700"/>
              </a:spcAft>
              <a:defRPr sz="2100">
                <a:latin typeface="Noto Sans CJK JP"/>
              </a:defRPr>
              <a:buChar char="•"/>
            </a:pPr>
            <a:r>
              <a:rPr sz="2100" b="0" lang="ja-JP">
                <a:solidFill>
                  <a:srgbClr val="303437"/>
                </a:solidFill>
                <a:latin typeface="Noto Sans CJK JP"/>
                <a:ea typeface="Noto Sans CJK JP"/>
                <a:cs typeface="Noto Sans CJK JP"/>
              </a:rPr>
              <a:t>記事・段落ごとの作業を分配し、人手で50,000問以上を追加。</a:t>
            </a:r>
            <a:endParaRPr sz="2100" lang="ja-JP"/>
          </a:p>
          <a:p>
            <a:pPr algn="l" marL="203200" indent="-152400">
              <a:lnSpc>
                <a:spcPct val="113000"/>
              </a:lnSpc>
              <a:spcBef>
                <a:spcPts val="0"/>
              </a:spcBef>
              <a:spcAft>
                <a:spcPts val="600"/>
              </a:spcAft>
              <a:defRPr sz="2100">
                <a:latin typeface="Noto Sans CJK JP"/>
              </a:defRPr>
              <a:buChar char="•"/>
            </a:pPr>
            <a:r>
              <a:rPr sz="2100" b="0" lang="ja-JP">
                <a:solidFill>
                  <a:srgbClr val="303437"/>
                </a:solidFill>
                <a:latin typeface="Noto Sans CJK JP"/>
                <a:ea typeface="Noto Sans CJK JP"/>
                <a:cs typeface="Noto Sans CJK JP"/>
              </a:rPr>
              <a:t>回答範囲の抽出と、回答保留の判断を評価する。</a:t>
            </a:r>
            <a:endParaRPr sz="2100" lang="ja-JP"/>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Rajpurkar, Jia &amp; Liang (2018), §1・§3　https://aclanthology.org/P18-2124/</a:t>
            </a:r>
            <a:endParaRPr sz="85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SQuAD のバージョン1.1と2.0</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バージョンと規模</a:t>
            </a:r>
            <a:endParaRPr sz="1400" lang="ja-JP"/>
          </a:p>
        </p:txBody>
      </p:sp>
      <p:sp>
        <p:nvSpPr>
          <p:cNvPr id="4" name="content-text"/>
          <p:cNvSpPr txBox="1"/>
          <p:nvPr/>
        </p:nvSpPr>
        <p:spPr>
          <a:xfrm>
            <a:off x="594360" y="1543050"/>
            <a:ext cx="8046720" cy="2674620"/>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2300">
                <a:latin typeface="Noto Sans CJK JP"/>
              </a:defRPr>
              <a:buChar char="•"/>
            </a:pPr>
            <a:r>
              <a:rPr sz="2300" b="0" lang="ja-JP">
                <a:solidFill>
                  <a:srgbClr val="303437"/>
                </a:solidFill>
                <a:latin typeface="Noto Sans CJK JP"/>
                <a:ea typeface="Noto Sans CJK JP"/>
                <a:cs typeface="Noto Sans CJK JP"/>
              </a:rPr>
              <a:t>バージョン1.1では、文章中に答えがある質問を扱う </a:t>
            </a:r>
            <a:r>
              <a:rPr sz="950" b="0" lang="ja-JP">
                <a:solidFill>
                  <a:srgbClr val="626669"/>
                </a:solidFill>
                <a:latin typeface="Noto Sans CJK JP"/>
                <a:ea typeface="Noto Sans CJK JP"/>
                <a:cs typeface="Noto Sans CJK JP"/>
              </a:rPr>
              <a:t>[1]</a:t>
            </a:r>
            <a:r>
              <a:rPr sz="2300" b="0" lang="ja-JP">
                <a:solidFill>
                  <a:srgbClr val="303437"/>
                </a:solidFill>
                <a:latin typeface="Noto Sans CJK JP"/>
                <a:ea typeface="Noto Sans CJK JP"/>
                <a:cs typeface="Noto Sans CJK JP"/>
              </a:rPr>
              <a:t>。</a:t>
            </a:r>
            <a:endParaRPr sz="2300" lang="ja-JP"/>
          </a:p>
          <a:p>
            <a:pPr lvl="1" algn="l" marL="482600" indent="-127000">
              <a:lnSpc>
                <a:spcPct val="113000"/>
              </a:lnSpc>
              <a:spcBef>
                <a:spcPts val="0"/>
              </a:spcBef>
              <a:spcAft>
                <a:spcPts val="400"/>
              </a:spcAft>
              <a:defRPr sz="2100">
                <a:latin typeface="Noto Sans CJK JP"/>
              </a:defRPr>
              <a:buChar char="○"/>
            </a:pPr>
            <a:r>
              <a:rPr sz="2100" b="0" lang="ja-JP">
                <a:solidFill>
                  <a:srgbClr val="303437"/>
                </a:solidFill>
                <a:latin typeface="Noto Sans CJK JP"/>
                <a:ea typeface="Noto Sans CJK JP"/>
                <a:cs typeface="Noto Sans CJK JP"/>
              </a:rPr>
              <a:t>質問に対応する本文中の範囲を回答する</a:t>
            </a:r>
            <a:endParaRPr sz="2100" lang="ja-JP"/>
          </a:p>
          <a:p>
            <a:pPr algn="l" marL="203200" indent="-152400">
              <a:lnSpc>
                <a:spcPct val="113000"/>
              </a:lnSpc>
              <a:spcBef>
                <a:spcPts val="0"/>
              </a:spcBef>
              <a:spcAft>
                <a:spcPts val="500"/>
              </a:spcAft>
              <a:defRPr sz="2300">
                <a:latin typeface="Noto Sans CJK JP"/>
              </a:defRPr>
              <a:buChar char="•"/>
            </a:pPr>
            <a:r>
              <a:rPr sz="2300" b="0" lang="ja-JP">
                <a:solidFill>
                  <a:srgbClr val="303437"/>
                </a:solidFill>
                <a:latin typeface="Noto Sans CJK JP"/>
                <a:ea typeface="Noto Sans CJK JP"/>
                <a:cs typeface="Noto Sans CJK JP"/>
              </a:rPr>
              <a:t>バージョン2.0では、回答不能な質問を追加する </a:t>
            </a:r>
            <a:r>
              <a:rPr sz="950" b="0" lang="ja-JP">
                <a:solidFill>
                  <a:srgbClr val="626669"/>
                </a:solidFill>
                <a:latin typeface="Noto Sans CJK JP"/>
                <a:ea typeface="Noto Sans CJK JP"/>
                <a:cs typeface="Noto Sans CJK JP"/>
              </a:rPr>
              <a:t>[2]</a:t>
            </a:r>
            <a:r>
              <a:rPr sz="2300" b="0" lang="ja-JP">
                <a:solidFill>
                  <a:srgbClr val="303437"/>
                </a:solidFill>
                <a:latin typeface="Noto Sans CJK JP"/>
                <a:ea typeface="Noto Sans CJK JP"/>
                <a:cs typeface="Noto Sans CJK JP"/>
              </a:rPr>
              <a:t>。</a:t>
            </a:r>
            <a:endParaRPr sz="2300" lang="ja-JP"/>
          </a:p>
          <a:p>
            <a:pPr lvl="1" algn="l" marL="482600" indent="-127000">
              <a:lnSpc>
                <a:spcPct val="113000"/>
              </a:lnSpc>
              <a:spcBef>
                <a:spcPts val="0"/>
              </a:spcBef>
              <a:spcAft>
                <a:spcPts val="400"/>
              </a:spcAft>
              <a:defRPr sz="2100">
                <a:latin typeface="Noto Sans CJK JP"/>
              </a:defRPr>
              <a:buChar char="○"/>
            </a:pPr>
            <a:r>
              <a:rPr sz="2100" b="0" lang="ja-JP">
                <a:solidFill>
                  <a:srgbClr val="303437"/>
                </a:solidFill>
                <a:latin typeface="Noto Sans CJK JP"/>
                <a:ea typeface="Noto Sans CJK JP"/>
                <a:cs typeface="Noto Sans CJK JP"/>
              </a:rPr>
              <a:t>既存の質問に似た、答えられない質問を人が作成。</a:t>
            </a:r>
            <a:endParaRPr sz="2100" lang="ja-JP"/>
          </a:p>
          <a:p>
            <a:pPr lvl="1" algn="l" marL="482600" indent="-127000">
              <a:lnSpc>
                <a:spcPct val="113000"/>
              </a:lnSpc>
              <a:spcBef>
                <a:spcPts val="0"/>
              </a:spcBef>
              <a:spcAft>
                <a:spcPts val="400"/>
              </a:spcAft>
              <a:defRPr sz="2100">
                <a:latin typeface="Noto Sans CJK JP"/>
              </a:defRPr>
              <a:buChar char="○"/>
            </a:pPr>
            <a:r>
              <a:rPr sz="2100" b="0" lang="ja-JP">
                <a:solidFill>
                  <a:srgbClr val="303437"/>
                </a:solidFill>
                <a:latin typeface="Noto Sans CJK JP"/>
                <a:ea typeface="Noto Sans CJK JP"/>
                <a:cs typeface="Noto Sans CJK JP"/>
              </a:rPr>
              <a:t>答えられるかを判定し、答えがなければ回答を控える。</a:t>
            </a:r>
            <a:endParaRPr sz="2100" lang="ja-JP"/>
          </a:p>
          <a:p>
            <a:pPr algn="l" marL="203200" indent="-152400">
              <a:lnSpc>
                <a:spcPct val="113000"/>
              </a:lnSpc>
              <a:spcBef>
                <a:spcPts val="0"/>
              </a:spcBef>
              <a:spcAft>
                <a:spcPts val="500"/>
              </a:spcAft>
              <a:defRPr sz="2300">
                <a:latin typeface="Noto Sans CJK JP"/>
              </a:defRPr>
              <a:buChar char="•"/>
            </a:pPr>
            <a:r>
              <a:rPr sz="2300" b="0" lang="ja-JP">
                <a:solidFill>
                  <a:srgbClr val="303437"/>
                </a:solidFill>
                <a:latin typeface="Noto Sans CJK JP"/>
                <a:ea typeface="Noto Sans CJK JP"/>
                <a:cs typeface="Noto Sans CJK JP"/>
              </a:rPr>
              <a:t>異なるバージョンの得点は、そのまま比較できない。</a:t>
            </a:r>
            <a:endParaRPr sz="2300" lang="ja-JP"/>
          </a:p>
        </p:txBody>
      </p:sp>
      <p:sp>
        <p:nvSpPr>
          <p:cNvPr id="5"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https://aclanthology.org/D16-1264/</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[2]</a:t>
            </a:r>
            <a:r>
              <a:rPr sz="850" lang="ja-JP">
                <a:solidFill>
                  <a:srgbClr val="626669"/>
                </a:solidFill>
                <a:latin typeface="Noto Sans CJK JP"/>
                <a:ea typeface="Noto Sans CJK JP"/>
              </a:rPr>
              <a:t> https://aclanthology.org/P18-2124/</a:t>
            </a:r>
            <a:endParaRPr sz="85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公開データの規模</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バージョンと規模</a:t>
            </a:r>
            <a:endParaRPr sz="1400" lang="ja-JP"/>
          </a:p>
        </p:txBody>
      </p:sp>
      <p:graphicFrame>
        <p:nvGraphicFramePr>
          <p:cNvPr id="4" name="Table 3"/>
          <p:cNvGraphicFramePr>
            <a:graphicFrameLocks noGrp="1"/>
          </p:cNvGraphicFramePr>
          <p:nvPr/>
        </p:nvGraphicFramePr>
        <p:xfrm>
          <a:off x="548640" y="1568767"/>
          <a:ext cx="8046719" cy="1903095"/>
        </p:xfrm>
        <a:graphic>
          <a:graphicData uri="http://schemas.openxmlformats.org/drawingml/2006/table">
            <a:tbl>
              <a:tblPr firstRow="1" bandRow="1">
                <a:tableStyleId>{5C22544A-7EE6-4342-B048-85BDC9FD1C3A}</a:tableStyleId>
              </a:tblPr>
              <a:tblGrid>
                <a:gridCol w="2574950"/>
                <a:gridCol w="1609344"/>
                <a:gridCol w="1609344"/>
                <a:gridCol w="2253081"/>
              </a:tblGrid>
              <a:tr h="380619">
                <a:tc>
                  <a:txBody>
                    <a:bodyPr wrap="square" anchor="ctr" lIns="0" rIns="0" tIns="0" bIns="0">
                      <a:noAutofit/>
                    </a:bodyPr>
                    <a:lstStyle/>
                    <a:p>
                      <a:pPr algn="l"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版・分割 [1]</a:t>
                      </a:r>
                      <a:endParaRPr sz="19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質問数</a:t>
                      </a:r>
                      <a:endParaRPr sz="19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回答不能</a:t>
                      </a:r>
                      <a:endParaRPr sz="19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Wikipedia記事数</a:t>
                      </a:r>
                      <a:endParaRPr sz="19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1.1・学習用</a:t>
                      </a:r>
                      <a:endParaRPr sz="19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87,599</a:t>
                      </a:r>
                      <a:endParaRPr sz="19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0</a:t>
                      </a:r>
                      <a:endParaRPr sz="19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442</a:t>
                      </a:r>
                      <a:endParaRPr sz="1900" lang="ja-JP"/>
                    </a:p>
                  </a:txBody>
                  <a:tcPr marL="38100" marR="38100" marT="38100" marB="38100">
                    <a:lnL w="0">
                      <a:noFill/>
                    </a:lnL>
                    <a:lnR w="0">
                      <a:noFill/>
                    </a:lnR>
                    <a:lnT w="0">
                      <a:noFill/>
                    </a:lnT>
                    <a:lnB w="0">
                      <a:no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1.1・開発用</a:t>
                      </a:r>
                      <a:endParaRPr sz="19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10,570</a:t>
                      </a:r>
                      <a:endParaRPr sz="19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0</a:t>
                      </a:r>
                      <a:endParaRPr sz="19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48</a:t>
                      </a:r>
                      <a:endParaRPr sz="1900" lang="ja-JP"/>
                    </a:p>
                  </a:txBody>
                  <a:tcPr marL="38100" marR="38100" marT="38100" marB="38100">
                    <a:lnL w="0">
                      <a:noFill/>
                    </a:lnL>
                    <a:lnR w="0">
                      <a:noFill/>
                    </a:lnR>
                    <a:lnT w="0">
                      <a:noFill/>
                    </a:lnT>
                    <a:lnB w="0">
                      <a:no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2.0・学習用</a:t>
                      </a:r>
                      <a:endParaRPr sz="19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130,319</a:t>
                      </a:r>
                      <a:endParaRPr sz="19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43,498</a:t>
                      </a:r>
                      <a:endParaRPr sz="19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442</a:t>
                      </a:r>
                      <a:endParaRPr sz="1900" lang="ja-JP"/>
                    </a:p>
                  </a:txBody>
                  <a:tcPr marL="38100" marR="38100" marT="38100" marB="38100">
                    <a:lnL w="0">
                      <a:noFill/>
                    </a:lnL>
                    <a:lnR w="0">
                      <a:noFill/>
                    </a:lnR>
                    <a:lnT w="0">
                      <a:noFill/>
                    </a:lnT>
                    <a:lnB w="0">
                      <a:no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2.0・開発用</a:t>
                      </a:r>
                      <a:endParaRPr sz="19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11,873</a:t>
                      </a:r>
                      <a:endParaRPr sz="19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5,945</a:t>
                      </a:r>
                      <a:endParaRPr sz="19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35</a:t>
                      </a:r>
                      <a:endParaRPr sz="1900" lang="ja-JP"/>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nvSpPr>
        <p:spPr>
          <a:xfrm>
            <a:off x="594360" y="4133483"/>
            <a:ext cx="8046720" cy="629016"/>
          </a:xfrm>
          <a:prstGeom prst="rect">
            <a:avLst/>
          </a:prstGeom>
          <a:noFill/>
        </p:spPr>
        <p:txBody>
          <a:bodyPr wrap="square" anchor="t" lIns="0" rIns="0" tIns="0" bIns="0">
            <a:noAutofit/>
          </a:bodyPr>
          <a:lstStyle/>
          <a:p>
            <a:pPr algn="l" marL="151129" indent="-140335">
              <a:lnSpc>
                <a:spcPct val="110000"/>
              </a:lnSpc>
              <a:spcBef>
                <a:spcPts val="0"/>
              </a:spcBef>
              <a:defRPr sz="1700">
                <a:latin typeface="Noto Sans CJK JP"/>
              </a:defRPr>
              <a:spcAft>
                <a:spcPts val="200"/>
              </a:spcAft>
              <a:buChar char="•"/>
            </a:pPr>
            <a:r>
              <a:rPr sz="1700" lang="ja-JP">
                <a:solidFill>
                  <a:srgbClr val="303437"/>
                </a:solidFill>
                <a:latin typeface="Noto Sans CJK JP"/>
                <a:ea typeface="Noto Sans CJK JP"/>
              </a:rPr>
              <a:t>記事数は、質問の元となったWikipedia記事の数。</a:t>
            </a:r>
            <a:endParaRPr sz="2100" lang="ja-JP"/>
            <a:endParaRPr sz="1700"/>
          </a:p>
          <a:p>
            <a:pPr algn="l" marL="151129" indent="-140335">
              <a:lnSpc>
                <a:spcPct val="110000"/>
              </a:lnSpc>
              <a:spcBef>
                <a:spcPts val="0"/>
              </a:spcBef>
              <a:defRPr sz="1700">
                <a:latin typeface="Noto Sans CJK JP"/>
              </a:defRPr>
              <a:spcAft>
                <a:spcPts val="200"/>
              </a:spcAft>
              <a:buChar char="•"/>
            </a:pPr>
            <a:r>
              <a:rPr sz="1700" lang="ja-JP">
                <a:solidFill>
                  <a:srgbClr val="303437"/>
                </a:solidFill>
                <a:latin typeface="Noto Sans CJK JP"/>
                <a:ea typeface="Noto Sans CJK JP"/>
              </a:rPr>
              <a:t>バージョン2.0は同じ記事に回答不能な質問を追加。</a:t>
            </a:r>
            <a:endParaRPr sz="1700"/>
          </a:p>
        </p:txBody>
      </p:sp>
      <p:sp>
        <p:nvSpPr>
          <p:cNvPr id="6"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公式 train / dev JSON の全件集計　https://github.com/rajpurkar/SQuAD-explorer/tree/master/dataset</a:t>
            </a:r>
            <a:endParaRPr sz="85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質問と回答の長さ</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データの特徴</a:t>
            </a:r>
            <a:endParaRPr sz="1400" lang="ja-JP"/>
          </a:p>
        </p:txBody>
      </p:sp>
      <p:graphicFrame>
        <p:nvGraphicFramePr>
          <p:cNvPr id="4" name="Table 3"/>
          <p:cNvGraphicFramePr>
            <a:graphicFrameLocks noGrp="1"/>
          </p:cNvGraphicFramePr>
          <p:nvPr/>
        </p:nvGraphicFramePr>
        <p:xfrm>
          <a:off x="548640" y="1543050"/>
          <a:ext cx="8046716" cy="1954530"/>
        </p:xfrm>
        <a:graphic>
          <a:graphicData uri="http://schemas.openxmlformats.org/drawingml/2006/table">
            <a:tbl>
              <a:tblPr firstRow="1" bandRow="1">
                <a:tableStyleId>{5C22544A-7EE6-4342-B048-85BDC9FD1C3A}</a:tableStyleId>
              </a:tblPr>
              <a:tblGrid>
                <a:gridCol w="2735884"/>
                <a:gridCol w="1327708"/>
                <a:gridCol w="1327708"/>
                <a:gridCol w="1327708"/>
                <a:gridCol w="1327708"/>
              </a:tblGrid>
              <a:tr h="390906">
                <a:tc>
                  <a:txBody>
                    <a:bodyPr wrap="square" anchor="ctr"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長さ [1]</a:t>
                      </a:r>
                      <a:endParaRPr sz="18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平均</a:t>
                      </a:r>
                      <a:endParaRPr sz="18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中央値</a:t>
                      </a:r>
                      <a:endParaRPr sz="18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95%点</a:t>
                      </a:r>
                      <a:endParaRPr sz="18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最大</a:t>
                      </a:r>
                      <a:endParaRPr sz="18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質問の文字数</a:t>
                      </a:r>
                      <a:endParaRPr sz="18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59.3</a:t>
                      </a:r>
                      <a:endParaRPr sz="18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56.0</a:t>
                      </a:r>
                      <a:endParaRPr sz="18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98.0</a:t>
                      </a:r>
                      <a:endParaRPr sz="18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270</a:t>
                      </a:r>
                      <a:endParaRPr sz="1800" lang="ja-JP"/>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質問の単語数</a:t>
                      </a:r>
                      <a:endParaRPr sz="18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10.1</a:t>
                      </a:r>
                      <a:endParaRPr sz="18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10.0</a:t>
                      </a:r>
                      <a:endParaRPr sz="18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17.0</a:t>
                      </a:r>
                      <a:endParaRPr sz="18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40</a:t>
                      </a:r>
                      <a:endParaRPr sz="1800" lang="ja-JP"/>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回答の文字数</a:t>
                      </a:r>
                      <a:endParaRPr sz="18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20.1</a:t>
                      </a:r>
                      <a:endParaRPr sz="18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14.0</a:t>
                      </a:r>
                      <a:endParaRPr sz="18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63.0</a:t>
                      </a:r>
                      <a:endParaRPr sz="18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239</a:t>
                      </a:r>
                      <a:endParaRPr sz="1800" lang="ja-JP"/>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回答の単語数</a:t>
                      </a:r>
                      <a:endParaRPr sz="18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3.1</a:t>
                      </a:r>
                      <a:endParaRPr sz="18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2.0</a:t>
                      </a:r>
                      <a:endParaRPr sz="18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10.0</a:t>
                      </a:r>
                      <a:endParaRPr sz="18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43</a:t>
                      </a:r>
                      <a:endParaRPr sz="1800" lang="ja-JP"/>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nvSpPr>
        <p:spPr>
          <a:xfrm>
            <a:off x="594360" y="4001365"/>
            <a:ext cx="8046720" cy="761134"/>
          </a:xfrm>
          <a:prstGeom prst="rect">
            <a:avLst/>
          </a:prstGeom>
          <a:noFill/>
        </p:spPr>
        <p:txBody>
          <a:bodyPr wrap="square" anchor="t" lIns="0" rIns="0" tIns="0" bIns="0">
            <a:noAutofit/>
          </a:bodyPr>
          <a:lstStyle/>
          <a:p>
            <a:pPr algn="l" marL="151129" indent="-140335">
              <a:lnSpc>
                <a:spcPct val="110000"/>
              </a:lnSpc>
              <a:spcBef>
                <a:spcPts val="0"/>
              </a:spcBef>
              <a:defRPr sz="1700">
                <a:latin typeface="Noto Sans CJK JP"/>
              </a:defRPr>
              <a:spcAft>
                <a:spcPts val="200"/>
              </a:spcAft>
              <a:buChar char="•"/>
            </a:pPr>
            <a:r>
              <a:rPr sz="1700" lang="ja-JP">
                <a:solidFill>
                  <a:srgbClr val="303437"/>
                </a:solidFill>
                <a:latin typeface="Noto Sans CJK JP"/>
                <a:ea typeface="Noto Sans CJK JP"/>
              </a:rPr>
              <a:t>公開データ98,169問の先頭正解を1問1件で集計。</a:t>
            </a:r>
            <a:endParaRPr sz="1900" lang="ja-JP"/>
            <a:endParaRPr sz="1700"/>
          </a:p>
          <a:p>
            <a:pPr algn="l" marL="151129" indent="-140335">
              <a:lnSpc>
                <a:spcPct val="110000"/>
              </a:lnSpc>
              <a:spcBef>
                <a:spcPts val="0"/>
              </a:spcBef>
              <a:defRPr sz="1700">
                <a:latin typeface="Noto Sans CJK JP"/>
              </a:defRPr>
              <a:spcAft>
                <a:spcPts val="200"/>
              </a:spcAft>
              <a:buChar char="•"/>
            </a:pPr>
            <a:r>
              <a:rPr sz="1700" lang="ja-JP">
                <a:solidFill>
                  <a:srgbClr val="303437"/>
                </a:solidFill>
                <a:latin typeface="Noto Sans CJK JP"/>
                <a:ea typeface="Noto Sans CJK JP"/>
              </a:rPr>
              <a:t>最大の回答は43単語・239文字。</a:t>
            </a:r>
            <a:endParaRPr sz="1700"/>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バージョン1.1のtrainとdevを集計。文字数は前後空白を除去し、単語数は空白で分割。</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入力段落（context）の長さ</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データの特徴</a:t>
            </a:r>
            <a:endParaRPr sz="1400" lang="ja-JP"/>
          </a:p>
        </p:txBody>
      </p:sp>
      <p:graphicFrame>
        <p:nvGraphicFramePr>
          <p:cNvPr id="4" name="Table 3"/>
          <p:cNvGraphicFramePr>
            <a:graphicFrameLocks noGrp="1"/>
          </p:cNvGraphicFramePr>
          <p:nvPr/>
        </p:nvGraphicFramePr>
        <p:xfrm>
          <a:off x="548640" y="1620202"/>
          <a:ext cx="8046716" cy="1388745"/>
        </p:xfrm>
        <a:graphic>
          <a:graphicData uri="http://schemas.openxmlformats.org/drawingml/2006/table">
            <a:tbl>
              <a:tblPr firstRow="1" bandRow="1">
                <a:tableStyleId>{5C22544A-7EE6-4342-B048-85BDC9FD1C3A}</a:tableStyleId>
              </a:tblPr>
              <a:tblGrid>
                <a:gridCol w="2735884"/>
                <a:gridCol w="1327708"/>
                <a:gridCol w="1327708"/>
                <a:gridCol w="1327708"/>
                <a:gridCol w="1327708"/>
              </a:tblGrid>
              <a:tr h="462915">
                <a:tc>
                  <a:txBody>
                    <a:bodyPr wrap="square" anchor="ctr" lIns="0" rIns="0" tIns="0" bIns="0">
                      <a:noAutofit/>
                    </a:bodyPr>
                    <a:lstStyle/>
                    <a:p>
                      <a:pPr algn="l"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context の長さ [1]</a:t>
                      </a:r>
                      <a:endParaRPr sz="19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平均</a:t>
                      </a:r>
                      <a:endParaRPr sz="19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中央値</a:t>
                      </a:r>
                      <a:endParaRPr sz="19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95%点</a:t>
                      </a:r>
                      <a:endParaRPr sz="19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最大</a:t>
                      </a:r>
                      <a:endParaRPr sz="19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r>
              <a:tr h="462915">
                <a:tc>
                  <a:txBody>
                    <a:bodyPr wrap="square" anchor="ctr" lIns="0" rIns="0" tIns="0" bIns="0">
                      <a:noAutofit/>
                    </a:bodyPr>
                    <a:lstStyle/>
                    <a:p>
                      <a:pPr algn="l"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文字数</a:t>
                      </a:r>
                      <a:endParaRPr sz="19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739.6</a:t>
                      </a:r>
                      <a:endParaRPr sz="19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679.0</a:t>
                      </a:r>
                      <a:endParaRPr sz="19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1312.0</a:t>
                      </a:r>
                      <a:endParaRPr sz="19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4063</a:t>
                      </a:r>
                      <a:endParaRPr sz="1900" lang="ja-JP"/>
                    </a:p>
                  </a:txBody>
                  <a:tcPr marL="38100" marR="38100" marT="38100" marB="38100">
                    <a:lnL w="0">
                      <a:noFill/>
                    </a:lnL>
                    <a:lnR w="0">
                      <a:noFill/>
                    </a:lnR>
                    <a:lnT w="0">
                      <a:noFill/>
                    </a:lnT>
                    <a:lnB w="0">
                      <a:noFill/>
                    </a:lnB>
                    <a:solidFill>
                      <a:srgbClr val="FFFEF8"/>
                    </a:solidFill>
                  </a:tcPr>
                </a:tc>
              </a:tr>
              <a:tr h="462915">
                <a:tc>
                  <a:txBody>
                    <a:bodyPr wrap="square" anchor="ctr" lIns="0" rIns="0" tIns="0" bIns="0">
                      <a:noAutofit/>
                    </a:bodyPr>
                    <a:lstStyle/>
                    <a:p>
                      <a:pPr algn="l"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単語数</a:t>
                      </a:r>
                      <a:endParaRPr sz="19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117.2</a:t>
                      </a:r>
                      <a:endParaRPr sz="19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108.0</a:t>
                      </a:r>
                      <a:endParaRPr sz="19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210.0</a:t>
                      </a:r>
                      <a:endParaRPr sz="19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900">
                          <a:latin typeface="Noto Sans CJK JP"/>
                        </a:defRPr>
                        <a:buNone/>
                      </a:pPr>
                      <a:r>
                        <a:rPr sz="1900" b="0" lang="ja-JP">
                          <a:solidFill>
                            <a:srgbClr val="303437"/>
                          </a:solidFill>
                          <a:latin typeface="Noto Sans CJK JP"/>
                          <a:ea typeface="Noto Sans CJK JP"/>
                          <a:cs typeface="Noto Sans CJK JP"/>
                        </a:rPr>
                        <a:t>653</a:t>
                      </a:r>
                      <a:endParaRPr sz="1900" lang="ja-JP"/>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nvSpPr>
        <p:spPr>
          <a:xfrm>
            <a:off x="594360" y="3343275"/>
            <a:ext cx="8046720" cy="1183005"/>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2100">
                <a:latin typeface="Noto Sans CJK JP"/>
              </a:defRPr>
              <a:buChar char="•"/>
            </a:pPr>
            <a:r>
              <a:rPr sz="2100" b="0" lang="ja-JP">
                <a:solidFill>
                  <a:srgbClr val="303437"/>
                </a:solidFill>
                <a:latin typeface="Noto Sans CJK JP"/>
                <a:ea typeface="Noto Sans CJK JP"/>
                <a:cs typeface="Noto Sans CJK JP"/>
              </a:rPr>
              <a:t>バージョン1.1 train＋dev、20,963段落を各1回集計。</a:t>
            </a:r>
            <a:endParaRPr sz="2100" lang="ja-JP"/>
          </a:p>
          <a:p>
            <a:pPr algn="l" marL="203200" indent="-152400">
              <a:lnSpc>
                <a:spcPct val="113000"/>
              </a:lnSpc>
              <a:spcBef>
                <a:spcPts val="0"/>
              </a:spcBef>
              <a:spcAft>
                <a:spcPts val="500"/>
              </a:spcAft>
              <a:defRPr sz="2100">
                <a:latin typeface="Noto Sans CJK JP"/>
              </a:defRPr>
              <a:buChar char="•"/>
            </a:pPr>
            <a:r>
              <a:rPr sz="2100" b="0" lang="ja-JP">
                <a:solidFill>
                  <a:srgbClr val="303437"/>
                </a:solidFill>
                <a:latin typeface="Noto Sans CJK JP"/>
                <a:ea typeface="Noto Sans CJK JP"/>
                <a:cs typeface="Noto Sans CJK JP"/>
              </a:rPr>
              <a:t>同じ段落への複数質問による重複カウントはしない。</a:t>
            </a:r>
            <a:endParaRPr sz="2100" lang="ja-JP"/>
          </a:p>
          <a:p>
            <a:pPr algn="l" marL="203200" indent="-152400">
              <a:lnSpc>
                <a:spcPct val="113000"/>
              </a:lnSpc>
              <a:spcBef>
                <a:spcPts val="0"/>
              </a:spcBef>
              <a:spcAft>
                <a:spcPts val="500"/>
              </a:spcAft>
              <a:defRPr sz="2100">
                <a:latin typeface="Noto Sans CJK JP"/>
              </a:defRPr>
              <a:buChar char="•"/>
            </a:pPr>
            <a:r>
              <a:rPr sz="2100" b="0" lang="ja-JP">
                <a:solidFill>
                  <a:srgbClr val="303437"/>
                </a:solidFill>
                <a:latin typeface="Noto Sans CJK JP"/>
                <a:ea typeface="Noto Sans CJK JP"/>
                <a:cs typeface="Noto Sans CJK JP"/>
              </a:rPr>
              <a:t>最長は4,063文字／653単語。</a:t>
            </a:r>
            <a:endParaRPr sz="2100" lang="ja-JP"/>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文字数は前後空白を除去／単語数は空白分割。</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質問に大量の空白が含まれる実例</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データの特徴</a:t>
            </a:r>
            <a:endParaRPr sz="1400" lang="ja-JP"/>
          </a:p>
        </p:txBody>
      </p:sp>
      <p:sp>
        <p:nvSpPr>
          <p:cNvPr id="4" name="content-text"/>
          <p:cNvSpPr txBox="1"/>
          <p:nvPr/>
        </p:nvSpPr>
        <p:spPr>
          <a:xfrm>
            <a:off x="594360" y="1543050"/>
            <a:ext cx="8046720" cy="2674620"/>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2200">
                <a:latin typeface="Noto Sans CJK JP"/>
              </a:defRPr>
              <a:buChar char="•"/>
            </a:pPr>
            <a:r>
              <a:rPr sz="2200" b="0" lang="ja-JP">
                <a:solidFill>
                  <a:srgbClr val="303437"/>
                </a:solidFill>
                <a:latin typeface="Noto Sans CJK JP"/>
                <a:ea typeface="Noto Sans CJK JP"/>
                <a:cs typeface="Noto Sans CJK JP"/>
              </a:rPr>
              <a:t>前後に大量の空白が含まれる質問を1件確認 </a:t>
            </a:r>
            <a:r>
              <a:rPr sz="950" b="0" lang="ja-JP">
                <a:solidFill>
                  <a:srgbClr val="626669"/>
                </a:solidFill>
                <a:latin typeface="Noto Sans CJK JP"/>
                <a:ea typeface="Noto Sans CJK JP"/>
                <a:cs typeface="Noto Sans CJK JP"/>
              </a:rPr>
              <a:t>[1]</a:t>
            </a:r>
            <a:r>
              <a:rPr sz="2200" b="0" lang="ja-JP">
                <a:solidFill>
                  <a:srgbClr val="303437"/>
                </a:solidFill>
                <a:latin typeface="Noto Sans CJK JP"/>
                <a:ea typeface="Noto Sans CJK JP"/>
                <a:cs typeface="Noto Sans CJK JP"/>
              </a:rPr>
              <a:t>。</a:t>
            </a:r>
            <a:endParaRPr sz="2200" lang="ja-JP"/>
          </a:p>
          <a:p>
            <a:pPr lvl="1" algn="l" marL="482600" indent="-127000">
              <a:lnSpc>
                <a:spcPct val="113000"/>
              </a:lnSpc>
              <a:spcBef>
                <a:spcPts val="0"/>
              </a:spcBef>
              <a:spcAft>
                <a:spcPts val="400"/>
              </a:spcAft>
              <a:defRPr sz="2100">
                <a:latin typeface="Noto Sans CJK JP"/>
              </a:defRPr>
              <a:buChar char="○"/>
            </a:pPr>
            <a:r>
              <a:rPr sz="2100" b="0" lang="ja-JP">
                <a:solidFill>
                  <a:srgbClr val="303437"/>
                </a:solidFill>
                <a:latin typeface="Noto Sans CJK JP"/>
                <a:ea typeface="Noto Sans CJK JP"/>
                <a:cs typeface="Noto Sans CJK JP"/>
              </a:rPr>
              <a:t>元文字列 25,651文字 → 前後空白を除去 59文字。</a:t>
            </a:r>
            <a:endParaRPr sz="2100" lang="ja-JP"/>
          </a:p>
          <a:p>
            <a:pPr algn="l" marL="203200" indent="-152400">
              <a:lnSpc>
                <a:spcPct val="113000"/>
              </a:lnSpc>
              <a:spcBef>
                <a:spcPts val="0"/>
              </a:spcBef>
              <a:spcAft>
                <a:spcPts val="500"/>
              </a:spcAft>
              <a:defRPr sz="1800">
                <a:latin typeface="Noto Sans CJK JP"/>
              </a:defRPr>
              <a:buChar char="•"/>
            </a:pPr>
            <a:r>
              <a:rPr sz="1800" b="0" lang="ja-JP">
                <a:solidFill>
                  <a:srgbClr val="303437"/>
                </a:solidFill>
                <a:latin typeface="Noto Sans CJK JP"/>
                <a:ea typeface="Noto Sans CJK JP"/>
                <a:cs typeface="Noto Sans CJK JP"/>
              </a:rPr>
              <a:t>What radiates two lobes perpendicular to the antennas axis?</a:t>
            </a:r>
            <a:endParaRPr sz="1800" lang="ja-JP"/>
          </a:p>
          <a:p>
            <a:pPr lvl="1" algn="l" marL="482600" indent="-127000">
              <a:lnSpc>
                <a:spcPct val="113000"/>
              </a:lnSpc>
              <a:spcBef>
                <a:spcPts val="0"/>
              </a:spcBef>
              <a:spcAft>
                <a:spcPts val="400"/>
              </a:spcAft>
              <a:defRPr sz="1900">
                <a:latin typeface="Noto Sans CJK JP"/>
              </a:defRPr>
              <a:buChar char="○"/>
            </a:pPr>
            <a:r>
              <a:rPr sz="1900" b="0" lang="ja-JP">
                <a:solidFill>
                  <a:srgbClr val="303437"/>
                </a:solidFill>
                <a:latin typeface="Noto Sans CJK JP"/>
                <a:ea typeface="Noto Sans CJK JP"/>
                <a:cs typeface="Noto Sans CJK JP"/>
              </a:rPr>
              <a:t>アンテナの軸に垂直な2つのローブを放射するものは何か。</a:t>
            </a:r>
            <a:endParaRPr sz="1900" lang="ja-JP"/>
          </a:p>
          <a:p>
            <a:pPr algn="l" marL="203200" indent="-152400">
              <a:lnSpc>
                <a:spcPct val="113000"/>
              </a:lnSpc>
              <a:spcBef>
                <a:spcPts val="0"/>
              </a:spcBef>
              <a:spcAft>
                <a:spcPts val="500"/>
              </a:spcAft>
              <a:defRPr sz="2200">
                <a:latin typeface="Noto Sans CJK JP"/>
              </a:defRPr>
              <a:buChar char="•"/>
            </a:pPr>
            <a:r>
              <a:rPr sz="2200" b="0" lang="ja-JP">
                <a:solidFill>
                  <a:srgbClr val="303437"/>
                </a:solidFill>
                <a:latin typeface="Noto Sans CJK JP"/>
                <a:ea typeface="Noto Sans CJK JP"/>
                <a:cs typeface="Noto Sans CJK JP"/>
              </a:rPr>
              <a:t>主要統計は前後空白だけを除去し、本文の文字は保持。</a:t>
            </a:r>
            <a:endParaRPr sz="2200" lang="ja-JP"/>
          </a:p>
          <a:p>
            <a:pPr algn="l" marL="203200" indent="-152400">
              <a:lnSpc>
                <a:spcPct val="113000"/>
              </a:lnSpc>
              <a:spcBef>
                <a:spcPts val="0"/>
              </a:spcBef>
              <a:spcAft>
                <a:spcPts val="500"/>
              </a:spcAft>
              <a:defRPr sz="2100">
                <a:latin typeface="Noto Sans CJK JP"/>
              </a:defRPr>
              <a:buChar char="•"/>
            </a:pPr>
            <a:r>
              <a:rPr sz="2100" b="0" lang="ja-JP">
                <a:solidFill>
                  <a:srgbClr val="303437"/>
                </a:solidFill>
                <a:latin typeface="Noto Sans CJK JP"/>
                <a:ea typeface="Noto Sans CJK JP"/>
                <a:cs typeface="Noto Sans CJK JP"/>
              </a:rPr>
              <a:t>長さの比較では、空白を含めるかで結果が大きく変わる。</a:t>
            </a:r>
            <a:endParaRPr sz="2100" lang="ja-JP"/>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https://github.com/rajpurkar/SQuAD-explorer/tree/master/dataset　ID 572fdefb947a6a140053cd8d</a:t>
            </a:r>
            <a:endParaRPr sz="85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783080"/>
            <a:ext cx="8229600" cy="1417320"/>
          </a:xfrm>
        </p:spPr>
        <p:txBody>
          <a:bodyPr wrap="none" lIns="0" rIns="0" tIns="0" bIns="0" anchor="ctr"/>
          <a:lstStyle/>
          <a:p>
            <a:pPr algn="ctr" marL="0" indent="0">
              <a:defRPr sz="4000">
                <a:latin typeface="Noto Sans CJK JP"/>
              </a:defRPr>
              <a:lnSpc>
                <a:spcPct val="110000"/>
              </a:lnSpc>
              <a:spcBef>
                <a:spcPts val="0"/>
              </a:spcBef>
              <a:spcAft>
                <a:spcPts val="0"/>
              </a:spcAft>
              <a:buNone/>
            </a:pPr>
            <a:r>
              <a:rPr sz="4000" lang="ja-JP" b="1">
                <a:solidFill>
                  <a:srgbClr val="303437"/>
                </a:solidFill>
                <a:latin typeface="Noto Sans CJK JP"/>
                <a:ea typeface="Noto Sans CJK JP"/>
              </a:rPr>
              <a:t>3 評価と性能</a:t>
            </a:r>
            <a:endParaRPr sz="4000"/>
            <a:endParaRPr sz="4000"/>
            <a:endParaRPr sz="4000"/>
          </a:p>
        </p:txBody>
      </p:sp>
      <p:sp>
        <p:nvSpPr>
          <p:cNvPr id="3" name="Title 2"/>
          <p:cNvSpPr>
            <a:spLocks noGrp="1"/>
          </p:cNvSpPr>
          <p:nvPr>
            <p:ph type="title" idx="2"/>
          </p:nvPr>
        </p:nvSpPr>
        <p:spPr/>
        <p:txBody>
          <a:bodyPr/>
          <a:lstStyle/>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評価手法は EM と F1 の2種類</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評価と位置付け</a:t>
            </a:r>
            <a:endParaRPr sz="1400" lang="ja-JP"/>
          </a:p>
        </p:txBody>
      </p:sp>
      <p:sp>
        <p:nvSpPr>
          <p:cNvPr id="4" name="content-text"/>
          <p:cNvSpPr txBox="1"/>
          <p:nvPr/>
        </p:nvSpPr>
        <p:spPr>
          <a:xfrm>
            <a:off x="594360" y="1465897"/>
            <a:ext cx="8046720" cy="3086100"/>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2200">
                <a:latin typeface="Noto Sans CJK JP"/>
              </a:defRPr>
              <a:buChar char="•"/>
            </a:pPr>
            <a:r>
              <a:rPr sz="2200" b="0" lang="ja-JP">
                <a:solidFill>
                  <a:srgbClr val="303437"/>
                </a:solidFill>
                <a:latin typeface="Noto Sans CJK JP"/>
                <a:ea typeface="Noto Sans CJK JP"/>
                <a:cs typeface="Noto Sans CJK JP"/>
              </a:rPr>
              <a:t>EMは、1問では完全一致なら1、不一致なら0 </a:t>
            </a:r>
            <a:r>
              <a:rPr sz="950" b="0" lang="ja-JP">
                <a:solidFill>
                  <a:srgbClr val="626669"/>
                </a:solidFill>
                <a:latin typeface="Noto Sans CJK JP"/>
                <a:ea typeface="Noto Sans CJK JP"/>
                <a:cs typeface="Noto Sans CJK JP"/>
              </a:rPr>
              <a:t>[1]</a:t>
            </a:r>
            <a:r>
              <a:rPr sz="2200" b="0" lang="ja-JP">
                <a:solidFill>
                  <a:srgbClr val="303437"/>
                </a:solidFill>
                <a:latin typeface="Noto Sans CJK JP"/>
                <a:ea typeface="Noto Sans CJK JP"/>
                <a:cs typeface="Noto Sans CJK JP"/>
              </a:rPr>
              <a:t>。</a:t>
            </a:r>
            <a:endParaRPr sz="2200" lang="ja-JP"/>
          </a:p>
          <a:p>
            <a:pPr lvl="1" algn="l" marL="482600" indent="-127000">
              <a:lnSpc>
                <a:spcPct val="113000"/>
              </a:lnSpc>
              <a:spcBef>
                <a:spcPts val="0"/>
              </a:spcBef>
              <a:spcAft>
                <a:spcPts val="400"/>
              </a:spcAft>
              <a:defRPr sz="2000">
                <a:latin typeface="Noto Sans CJK JP"/>
              </a:defRPr>
              <a:buChar char="○"/>
            </a:pPr>
            <a:r>
              <a:rPr sz="2000" b="0" lang="ja-JP">
                <a:solidFill>
                  <a:srgbClr val="303437"/>
                </a:solidFill>
                <a:latin typeface="Noto Sans CJK JP"/>
                <a:ea typeface="Noto Sans CJK JP"/>
                <a:cs typeface="Noto Sans CJK JP"/>
              </a:rPr>
              <a:t>正解がDenver Broncosなら、一致は1、Denverは0。</a:t>
            </a:r>
            <a:endParaRPr sz="2000" lang="ja-JP"/>
          </a:p>
          <a:p>
            <a:pPr algn="l" marL="203200" indent="-152400">
              <a:lnSpc>
                <a:spcPct val="113000"/>
              </a:lnSpc>
              <a:spcBef>
                <a:spcPts val="0"/>
              </a:spcBef>
              <a:spcAft>
                <a:spcPts val="500"/>
              </a:spcAft>
              <a:defRPr sz="2200">
                <a:latin typeface="Noto Sans CJK JP"/>
              </a:defRPr>
              <a:buChar char="•"/>
            </a:pPr>
            <a:r>
              <a:rPr sz="2200" b="0" lang="ja-JP">
                <a:solidFill>
                  <a:srgbClr val="303437"/>
                </a:solidFill>
                <a:latin typeface="Noto Sans CJK JP"/>
                <a:ea typeface="Noto Sans CJK JP"/>
                <a:cs typeface="Noto Sans CJK JP"/>
              </a:rPr>
              <a:t>F1は、共通する単語の適合率・再現率の調和平均。</a:t>
            </a:r>
            <a:endParaRPr sz="2200" lang="ja-JP"/>
          </a:p>
          <a:p>
            <a:pPr lvl="1" algn="l" marL="482600" indent="-127000">
              <a:lnSpc>
                <a:spcPct val="113000"/>
              </a:lnSpc>
              <a:spcBef>
                <a:spcPts val="0"/>
              </a:spcBef>
              <a:spcAft>
                <a:spcPts val="400"/>
              </a:spcAft>
              <a:defRPr sz="2000">
                <a:latin typeface="Noto Sans CJK JP"/>
              </a:defRPr>
              <a:buChar char="○"/>
            </a:pPr>
            <a:r>
              <a:rPr sz="2000" b="0" lang="ja-JP">
                <a:solidFill>
                  <a:srgbClr val="303437"/>
                </a:solidFill>
                <a:latin typeface="Noto Sans CJK JP"/>
                <a:ea typeface="Noto Sans CJK JP"/>
                <a:cs typeface="Noto Sans CJK JP"/>
              </a:rPr>
              <a:t>上の例では、完全一致なら1、Denverだけなら2/3。</a:t>
            </a:r>
            <a:endParaRPr sz="2000" lang="ja-JP"/>
          </a:p>
          <a:p>
            <a:pPr algn="l" marL="203200" indent="-152400">
              <a:lnSpc>
                <a:spcPct val="113000"/>
              </a:lnSpc>
              <a:spcBef>
                <a:spcPts val="0"/>
              </a:spcBef>
              <a:spcAft>
                <a:spcPts val="500"/>
              </a:spcAft>
              <a:defRPr sz="2200">
                <a:latin typeface="Noto Sans CJK JP"/>
              </a:defRPr>
              <a:buChar char="•"/>
            </a:pPr>
            <a:r>
              <a:rPr sz="2200" b="0" lang="ja-JP">
                <a:solidFill>
                  <a:srgbClr val="303437"/>
                </a:solidFill>
                <a:latin typeface="Noto Sans CJK JP"/>
                <a:ea typeface="Noto Sans CJK JP"/>
                <a:cs typeface="Noto Sans CJK JP"/>
              </a:rPr>
              <a:t>報告値は、全問の得点の平均 × 100（%）。</a:t>
            </a:r>
            <a:endParaRPr sz="2200" lang="ja-JP"/>
          </a:p>
          <a:p>
            <a:pPr lvl="1" algn="l" marL="482600" indent="-127000">
              <a:lnSpc>
                <a:spcPct val="113000"/>
              </a:lnSpc>
              <a:spcBef>
                <a:spcPts val="0"/>
              </a:spcBef>
              <a:spcAft>
                <a:spcPts val="400"/>
              </a:spcAft>
              <a:defRPr sz="2000">
                <a:latin typeface="Noto Sans CJK JP"/>
              </a:defRPr>
              <a:buChar char="○"/>
            </a:pPr>
            <a:r>
              <a:rPr sz="2000" b="0" lang="ja-JP">
                <a:solidFill>
                  <a:srgbClr val="303437"/>
                </a:solidFill>
                <a:latin typeface="Noto Sans CJK JP"/>
                <a:ea typeface="Noto Sans CJK JP"/>
                <a:cs typeface="Noto Sans CJK JP"/>
              </a:rPr>
              <a:t>2問中1問が完全一致なら、集合のEMは50%。</a:t>
            </a:r>
            <a:endParaRPr sz="2000" lang="ja-JP"/>
          </a:p>
          <a:p>
            <a:pPr algn="l" marL="203200" indent="-152400">
              <a:lnSpc>
                <a:spcPct val="113000"/>
              </a:lnSpc>
              <a:spcBef>
                <a:spcPts val="0"/>
              </a:spcBef>
              <a:spcAft>
                <a:spcPts val="500"/>
              </a:spcAft>
              <a:defRPr sz="1900">
                <a:latin typeface="Noto Sans CJK JP"/>
              </a:defRPr>
              <a:buChar char="•"/>
            </a:pPr>
            <a:r>
              <a:rPr sz="1900" b="0" lang="ja-JP">
                <a:solidFill>
                  <a:srgbClr val="303437"/>
                </a:solidFill>
                <a:latin typeface="Noto Sans CJK JP"/>
                <a:ea typeface="Noto Sans CJK JP"/>
                <a:cs typeface="Noto Sans CJK JP"/>
              </a:rPr>
              <a:t>小文字化・句読点・冠詞除去・空白正規化。複数正解の最良値。</a:t>
            </a:r>
            <a:endParaRPr sz="1900" lang="ja-JP"/>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評価実装　https://github.com/huggingface/evaluate/blob/main/metrics/squad/compute_score.py</a:t>
            </a:r>
            <a:endParaRPr sz="85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2016年の原著のモデルはF1が51.0%だった</a:t>
            </a:r>
            <a:endParaRPr sz="2800"/>
            <a:endParaRPr sz="2800"/>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10000"/>
              </a:lnSpc>
              <a:spcBef>
                <a:spcPts val="0"/>
              </a:spcBef>
              <a:spcAft>
                <a:spcPts val="0"/>
              </a:spcAft>
              <a:defRPr sz="1400">
                <a:latin typeface="Noto Sans CJK JP"/>
              </a:defRPr>
              <a:buNone/>
            </a:pPr>
            <a:r>
              <a:rPr sz="1400" lang="ja-JP">
                <a:solidFill>
                  <a:srgbClr val="FFFEF8"/>
                </a:solidFill>
                <a:latin typeface="Noto Sans CJK JP"/>
                <a:ea typeface="Noto Sans CJK JP"/>
              </a:rPr>
              <a:t>SQuADの登場時の性能</a:t>
            </a:r>
            <a:endParaRPr sz="1400"/>
          </a:p>
        </p:txBody>
      </p:sp>
      <p:graphicFrame>
        <p:nvGraphicFramePr>
          <p:cNvPr id="4" name="data-table"/>
          <p:cNvGraphicFramePr>
            <a:graphicFrameLocks noGrp="1"/>
          </p:cNvGraphicFramePr>
          <p:nvPr/>
        </p:nvGraphicFramePr>
        <p:xfrm>
          <a:off x="548640" y="1554480"/>
          <a:ext cx="8046720" cy="2103120"/>
        </p:xfrm>
        <a:graphic>
          <a:graphicData uri="http://schemas.openxmlformats.org/drawingml/2006/table">
            <a:tbl>
              <a:tblPr firstRow="1" bandRow="1">
                <a:tableStyleId>{5C22544A-7EE6-4342-B048-85BDC9FD1C3A}</a:tableStyleId>
              </a:tblPr>
              <a:tblGrid>
                <a:gridCol w="4572000"/>
                <a:gridCol w="1737360"/>
                <a:gridCol w="1737360"/>
              </a:tblGrid>
              <a:tr h="525780">
                <a:tc>
                  <a:txBody>
                    <a:bodyPr wrap="square" lIns="38100" rIns="38100" tIns="38100" bIns="38100" anchor="ctr"/>
                    <a:lstStyle/>
                    <a:p>
                      <a:pPr algn="l" marL="0" indent="0">
                        <a:lnSpc>
                          <a:spcPct val="110000"/>
                        </a:lnSpc>
                        <a:spcBef>
                          <a:spcPts val="0"/>
                        </a:spcBef>
                        <a:spcAft>
                          <a:spcPts val="0"/>
                        </a:spcAft>
                        <a:defRPr sz="2200">
                          <a:latin typeface="Noto Sans CJK JP"/>
                        </a:defRPr>
                        <a:buNone/>
                      </a:pPr>
                      <a:r>
                        <a:rPr sz="2200" lang="ja-JP">
                          <a:solidFill>
                            <a:srgbClr val="303437"/>
                          </a:solidFill>
                          <a:latin typeface="Noto Sans CJK JP"/>
                          <a:ea typeface="Noto Sans CJK JP"/>
                        </a:rPr>
                        <a:t>原著のモデル・人の回答</a:t>
                      </a:r>
                      <a:endParaRPr sz="2200"/>
                    </a:p>
                  </a:txBody>
                  <a:tcPr>
                    <a:solidFill>
                      <a:srgbClr val="FFFEF8"/>
                    </a:solidFill>
                    <a:lnL w="0">
                      <a:noFill/>
                    </a:lnL>
                    <a:lnR w="0">
                      <a:noFill/>
                    </a:lnR>
                    <a:lnT w="10160">
                      <a:solidFill>
                        <a:srgbClr val="626669"/>
                      </a:solidFill>
                    </a:lnT>
                    <a:lnB w="10160">
                      <a:solidFill>
                        <a:srgbClr val="626669"/>
                      </a:solidFill>
                    </a:lnB>
                  </a:tcPr>
                </a:tc>
                <a:tc>
                  <a:txBody>
                    <a:bodyPr wrap="square" lIns="38100" rIns="38100" tIns="38100" bIns="38100" anchor="ctr"/>
                    <a:lstStyle/>
                    <a:p>
                      <a:pPr algn="r" marL="0" indent="0">
                        <a:lnSpc>
                          <a:spcPct val="110000"/>
                        </a:lnSpc>
                        <a:spcBef>
                          <a:spcPts val="0"/>
                        </a:spcBef>
                        <a:spcAft>
                          <a:spcPts val="0"/>
                        </a:spcAft>
                        <a:defRPr sz="2200">
                          <a:latin typeface="Noto Sans CJK JP"/>
                        </a:defRPr>
                        <a:buNone/>
                      </a:pPr>
                      <a:r>
                        <a:rPr sz="2200" lang="ja-JP">
                          <a:solidFill>
                            <a:srgbClr val="303437"/>
                          </a:solidFill>
                          <a:latin typeface="Noto Sans CJK JP"/>
                          <a:ea typeface="Noto Sans CJK JP"/>
                        </a:rPr>
                        <a:t>EM（%）</a:t>
                      </a:r>
                      <a:endParaRPr sz="2200"/>
                    </a:p>
                  </a:txBody>
                  <a:tcPr>
                    <a:solidFill>
                      <a:srgbClr val="FFFEF8"/>
                    </a:solidFill>
                    <a:lnL w="0">
                      <a:noFill/>
                    </a:lnL>
                    <a:lnR w="0">
                      <a:noFill/>
                    </a:lnR>
                    <a:lnT w="10160">
                      <a:solidFill>
                        <a:srgbClr val="626669"/>
                      </a:solidFill>
                    </a:lnT>
                    <a:lnB w="10160">
                      <a:solidFill>
                        <a:srgbClr val="626669"/>
                      </a:solidFill>
                    </a:lnB>
                  </a:tcPr>
                </a:tc>
                <a:tc>
                  <a:txBody>
                    <a:bodyPr wrap="square" lIns="38100" rIns="38100" tIns="38100" bIns="38100" anchor="ctr"/>
                    <a:lstStyle/>
                    <a:p>
                      <a:pPr algn="r" marL="0" indent="0">
                        <a:lnSpc>
                          <a:spcPct val="110000"/>
                        </a:lnSpc>
                        <a:spcBef>
                          <a:spcPts val="0"/>
                        </a:spcBef>
                        <a:spcAft>
                          <a:spcPts val="0"/>
                        </a:spcAft>
                        <a:defRPr sz="2200">
                          <a:latin typeface="Noto Sans CJK JP"/>
                        </a:defRPr>
                        <a:buNone/>
                      </a:pPr>
                      <a:r>
                        <a:rPr sz="2200" lang="ja-JP">
                          <a:solidFill>
                            <a:srgbClr val="303437"/>
                          </a:solidFill>
                          <a:latin typeface="Noto Sans CJK JP"/>
                          <a:ea typeface="Noto Sans CJK JP"/>
                        </a:rPr>
                        <a:t>F1（%）</a:t>
                      </a:r>
                      <a:endParaRPr sz="2200"/>
                    </a:p>
                  </a:txBody>
                  <a:tcPr>
                    <a:solidFill>
                      <a:srgbClr val="FFFEF8"/>
                    </a:solidFill>
                    <a:lnL w="0">
                      <a:noFill/>
                    </a:lnL>
                    <a:lnR w="0">
                      <a:noFill/>
                    </a:lnR>
                    <a:lnT w="10160">
                      <a:solidFill>
                        <a:srgbClr val="626669"/>
                      </a:solidFill>
                    </a:lnT>
                    <a:lnB w="10160">
                      <a:solidFill>
                        <a:srgbClr val="626669"/>
                      </a:solidFill>
                    </a:lnB>
                  </a:tcPr>
                </a:tc>
              </a:tr>
              <a:tr h="525780">
                <a:tc>
                  <a:txBody>
                    <a:bodyPr wrap="square" lIns="38100" rIns="38100" tIns="38100" bIns="38100" anchor="ctr"/>
                    <a:lstStyle/>
                    <a:p>
                      <a:pPr algn="l" marL="0" indent="0">
                        <a:lnSpc>
                          <a:spcPct val="110000"/>
                        </a:lnSpc>
                        <a:spcBef>
                          <a:spcPts val="0"/>
                        </a:spcBef>
                        <a:spcAft>
                          <a:spcPts val="0"/>
                        </a:spcAft>
                        <a:defRPr sz="2200">
                          <a:latin typeface="Noto Sans CJK JP"/>
                        </a:defRPr>
                        <a:buNone/>
                      </a:pPr>
                      <a:r>
                        <a:rPr sz="2200" lang="ja-JP">
                          <a:solidFill>
                            <a:srgbClr val="303437"/>
                          </a:solidFill>
                          <a:latin typeface="Noto Sans CJK JP"/>
                          <a:ea typeface="Noto Sans CJK JP"/>
                        </a:rPr>
                        <a:t>単語一致を使うSliding Window</a:t>
                      </a:r>
                      <a:endParaRPr sz="2200"/>
                    </a:p>
                  </a:txBody>
                  <a:tcPr>
                    <a:solidFill>
                      <a:srgbClr val="FFFEF8"/>
                    </a:solidFill>
                    <a:lnL w="0">
                      <a:noFill/>
                    </a:lnL>
                    <a:lnR w="0">
                      <a:noFill/>
                    </a:lnR>
                    <a:lnT w="0">
                      <a:noFill/>
                    </a:lnT>
                    <a:lnB w="0">
                      <a:noFill/>
                    </a:lnB>
                  </a:tcPr>
                </a:tc>
                <a:tc>
                  <a:txBody>
                    <a:bodyPr wrap="square" lIns="38100" rIns="38100" tIns="38100" bIns="38100" anchor="ctr"/>
                    <a:lstStyle/>
                    <a:p>
                      <a:pPr algn="r" marL="0" indent="0">
                        <a:lnSpc>
                          <a:spcPct val="110000"/>
                        </a:lnSpc>
                        <a:spcBef>
                          <a:spcPts val="0"/>
                        </a:spcBef>
                        <a:spcAft>
                          <a:spcPts val="0"/>
                        </a:spcAft>
                        <a:defRPr sz="2200">
                          <a:latin typeface="Noto Sans CJK JP"/>
                        </a:defRPr>
                        <a:buNone/>
                      </a:pPr>
                      <a:r>
                        <a:rPr sz="2200" lang="ja-JP">
                          <a:solidFill>
                            <a:srgbClr val="303437"/>
                          </a:solidFill>
                          <a:latin typeface="Noto Sans CJK JP"/>
                          <a:ea typeface="Noto Sans CJK JP"/>
                        </a:rPr>
                        <a:t>12.5</a:t>
                      </a:r>
                      <a:endParaRPr sz="2200"/>
                    </a:p>
                  </a:txBody>
                  <a:tcPr>
                    <a:solidFill>
                      <a:srgbClr val="FFFEF8"/>
                    </a:solidFill>
                    <a:lnL w="0">
                      <a:noFill/>
                    </a:lnL>
                    <a:lnR w="0">
                      <a:noFill/>
                    </a:lnR>
                    <a:lnT w="0">
                      <a:noFill/>
                    </a:lnT>
                    <a:lnB w="0">
                      <a:noFill/>
                    </a:lnB>
                  </a:tcPr>
                </a:tc>
                <a:tc>
                  <a:txBody>
                    <a:bodyPr wrap="square" lIns="38100" rIns="38100" tIns="38100" bIns="38100" anchor="ctr"/>
                    <a:lstStyle/>
                    <a:p>
                      <a:pPr algn="r" marL="0" indent="0">
                        <a:lnSpc>
                          <a:spcPct val="110000"/>
                        </a:lnSpc>
                        <a:spcBef>
                          <a:spcPts val="0"/>
                        </a:spcBef>
                        <a:spcAft>
                          <a:spcPts val="0"/>
                        </a:spcAft>
                        <a:defRPr sz="2200">
                          <a:latin typeface="Noto Sans CJK JP"/>
                        </a:defRPr>
                        <a:buNone/>
                      </a:pPr>
                      <a:r>
                        <a:rPr sz="2200" lang="ja-JP">
                          <a:solidFill>
                            <a:srgbClr val="303437"/>
                          </a:solidFill>
                          <a:latin typeface="Noto Sans CJK JP"/>
                          <a:ea typeface="Noto Sans CJK JP"/>
                        </a:rPr>
                        <a:t>19.7</a:t>
                      </a:r>
                      <a:endParaRPr sz="2200"/>
                    </a:p>
                  </a:txBody>
                  <a:tcPr>
                    <a:solidFill>
                      <a:srgbClr val="FFFEF8"/>
                    </a:solidFill>
                    <a:lnL w="0">
                      <a:noFill/>
                    </a:lnL>
                    <a:lnR w="0">
                      <a:noFill/>
                    </a:lnR>
                    <a:lnT w="0">
                      <a:noFill/>
                    </a:lnT>
                    <a:lnB w="0">
                      <a:noFill/>
                    </a:lnB>
                  </a:tcPr>
                </a:tc>
              </a:tr>
              <a:tr h="525780">
                <a:tc>
                  <a:txBody>
                    <a:bodyPr wrap="square" lIns="38100" rIns="38100" tIns="38100" bIns="38100" anchor="ctr"/>
                    <a:lstStyle/>
                    <a:p>
                      <a:pPr algn="l" marL="0" indent="0">
                        <a:lnSpc>
                          <a:spcPct val="110000"/>
                        </a:lnSpc>
                        <a:spcBef>
                          <a:spcPts val="0"/>
                        </a:spcBef>
                        <a:spcAft>
                          <a:spcPts val="0"/>
                        </a:spcAft>
                        <a:defRPr sz="2200">
                          <a:latin typeface="Noto Sans CJK JP"/>
                        </a:defRPr>
                        <a:buNone/>
                      </a:pPr>
                      <a:r>
                        <a:rPr sz="2200" lang="ja-JP">
                          <a:solidFill>
                            <a:srgbClr val="303437"/>
                          </a:solidFill>
                          <a:latin typeface="Noto Sans CJK JP"/>
                          <a:ea typeface="Noto Sans CJK JP"/>
                        </a:rPr>
                        <a:t>ロジスティック回帰</a:t>
                      </a:r>
                      <a:endParaRPr sz="2200"/>
                    </a:p>
                  </a:txBody>
                  <a:tcPr>
                    <a:solidFill>
                      <a:srgbClr val="FFFEF8"/>
                    </a:solidFill>
                    <a:lnL w="0">
                      <a:noFill/>
                    </a:lnL>
                    <a:lnR w="0">
                      <a:noFill/>
                    </a:lnR>
                    <a:lnT w="0">
                      <a:noFill/>
                    </a:lnT>
                    <a:lnB w="0">
                      <a:noFill/>
                    </a:lnB>
                  </a:tcPr>
                </a:tc>
                <a:tc>
                  <a:txBody>
                    <a:bodyPr wrap="square" lIns="38100" rIns="38100" tIns="38100" bIns="38100" anchor="ctr"/>
                    <a:lstStyle/>
                    <a:p>
                      <a:pPr algn="r" marL="0" indent="0">
                        <a:lnSpc>
                          <a:spcPct val="110000"/>
                        </a:lnSpc>
                        <a:spcBef>
                          <a:spcPts val="0"/>
                        </a:spcBef>
                        <a:spcAft>
                          <a:spcPts val="0"/>
                        </a:spcAft>
                        <a:defRPr sz="2200">
                          <a:latin typeface="Noto Sans CJK JP"/>
                        </a:defRPr>
                        <a:buNone/>
                      </a:pPr>
                      <a:r>
                        <a:rPr sz="2200" lang="ja-JP">
                          <a:solidFill>
                            <a:srgbClr val="303437"/>
                          </a:solidFill>
                          <a:latin typeface="Noto Sans CJK JP"/>
                          <a:ea typeface="Noto Sans CJK JP"/>
                        </a:rPr>
                        <a:t>40.4</a:t>
                      </a:r>
                      <a:endParaRPr sz="2200"/>
                    </a:p>
                  </a:txBody>
                  <a:tcPr>
                    <a:solidFill>
                      <a:srgbClr val="FFFEF8"/>
                    </a:solidFill>
                    <a:lnL w="0">
                      <a:noFill/>
                    </a:lnL>
                    <a:lnR w="0">
                      <a:noFill/>
                    </a:lnR>
                    <a:lnT w="0">
                      <a:noFill/>
                    </a:lnT>
                    <a:lnB w="0">
                      <a:noFill/>
                    </a:lnB>
                  </a:tcPr>
                </a:tc>
                <a:tc>
                  <a:txBody>
                    <a:bodyPr wrap="square" lIns="38100" rIns="38100" tIns="38100" bIns="38100" anchor="ctr"/>
                    <a:lstStyle/>
                    <a:p>
                      <a:pPr algn="r" marL="0" indent="0">
                        <a:lnSpc>
                          <a:spcPct val="110000"/>
                        </a:lnSpc>
                        <a:spcBef>
                          <a:spcPts val="0"/>
                        </a:spcBef>
                        <a:spcAft>
                          <a:spcPts val="0"/>
                        </a:spcAft>
                        <a:defRPr sz="2200">
                          <a:latin typeface="Noto Sans CJK JP"/>
                        </a:defRPr>
                        <a:buNone/>
                      </a:pPr>
                      <a:r>
                        <a:rPr sz="2200" lang="ja-JP">
                          <a:solidFill>
                            <a:srgbClr val="303437"/>
                          </a:solidFill>
                          <a:latin typeface="Noto Sans CJK JP"/>
                          <a:ea typeface="Noto Sans CJK JP"/>
                        </a:rPr>
                        <a:t>51.0</a:t>
                      </a:r>
                      <a:endParaRPr sz="2200"/>
                    </a:p>
                  </a:txBody>
                  <a:tcPr>
                    <a:solidFill>
                      <a:srgbClr val="FFFEF8"/>
                    </a:solidFill>
                    <a:lnL w="0">
                      <a:noFill/>
                    </a:lnL>
                    <a:lnR w="0">
                      <a:noFill/>
                    </a:lnR>
                    <a:lnT w="0">
                      <a:noFill/>
                    </a:lnT>
                    <a:lnB w="0">
                      <a:noFill/>
                    </a:lnB>
                  </a:tcPr>
                </a:tc>
              </a:tr>
              <a:tr h="525780">
                <a:tc>
                  <a:txBody>
                    <a:bodyPr wrap="square" lIns="38100" rIns="38100" tIns="38100" bIns="38100" anchor="ctr"/>
                    <a:lstStyle/>
                    <a:p>
                      <a:pPr algn="l" marL="0" indent="0">
                        <a:lnSpc>
                          <a:spcPct val="110000"/>
                        </a:lnSpc>
                        <a:spcBef>
                          <a:spcPts val="0"/>
                        </a:spcBef>
                        <a:spcAft>
                          <a:spcPts val="0"/>
                        </a:spcAft>
                        <a:defRPr sz="2200">
                          <a:latin typeface="Noto Sans CJK JP"/>
                        </a:defRPr>
                        <a:buNone/>
                      </a:pPr>
                      <a:r>
                        <a:rPr sz="2200" lang="ja-JP">
                          <a:solidFill>
                            <a:srgbClr val="303437"/>
                          </a:solidFill>
                          <a:latin typeface="Noto Sans CJK JP"/>
                          <a:ea typeface="Noto Sans CJK JP"/>
                        </a:rPr>
                        <a:t>人の回答</a:t>
                      </a:r>
                      <a:endParaRPr sz="2200"/>
                    </a:p>
                  </a:txBody>
                  <a:tcPr>
                    <a:solidFill>
                      <a:srgbClr val="FFFEF8"/>
                    </a:solidFill>
                    <a:lnL w="0">
                      <a:noFill/>
                    </a:lnL>
                    <a:lnR w="0">
                      <a:noFill/>
                    </a:lnR>
                    <a:lnT w="0">
                      <a:noFill/>
                    </a:lnT>
                    <a:lnB w="10160">
                      <a:solidFill>
                        <a:srgbClr val="626669"/>
                      </a:solidFill>
                    </a:lnB>
                  </a:tcPr>
                </a:tc>
                <a:tc>
                  <a:txBody>
                    <a:bodyPr wrap="square" lIns="38100" rIns="38100" tIns="38100" bIns="38100" anchor="ctr"/>
                    <a:lstStyle/>
                    <a:p>
                      <a:pPr algn="r" marL="0" indent="0">
                        <a:lnSpc>
                          <a:spcPct val="110000"/>
                        </a:lnSpc>
                        <a:spcBef>
                          <a:spcPts val="0"/>
                        </a:spcBef>
                        <a:spcAft>
                          <a:spcPts val="0"/>
                        </a:spcAft>
                        <a:defRPr sz="2200">
                          <a:latin typeface="Noto Sans CJK JP"/>
                        </a:defRPr>
                        <a:buNone/>
                      </a:pPr>
                      <a:r>
                        <a:rPr sz="2200" lang="ja-JP">
                          <a:solidFill>
                            <a:srgbClr val="303437"/>
                          </a:solidFill>
                          <a:latin typeface="Noto Sans CJK JP"/>
                          <a:ea typeface="Noto Sans CJK JP"/>
                        </a:rPr>
                        <a:t>77.0</a:t>
                      </a:r>
                      <a:endParaRPr sz="2200"/>
                    </a:p>
                  </a:txBody>
                  <a:tcPr>
                    <a:solidFill>
                      <a:srgbClr val="FFFEF8"/>
                    </a:solidFill>
                    <a:lnL w="0">
                      <a:noFill/>
                    </a:lnL>
                    <a:lnR w="0">
                      <a:noFill/>
                    </a:lnR>
                    <a:lnT w="0">
                      <a:noFill/>
                    </a:lnT>
                    <a:lnB w="10160">
                      <a:solidFill>
                        <a:srgbClr val="626669"/>
                      </a:solidFill>
                    </a:lnB>
                  </a:tcPr>
                </a:tc>
                <a:tc>
                  <a:txBody>
                    <a:bodyPr wrap="square" lIns="38100" rIns="38100" tIns="38100" bIns="38100" anchor="ctr"/>
                    <a:lstStyle/>
                    <a:p>
                      <a:pPr algn="r" marL="0" indent="0">
                        <a:lnSpc>
                          <a:spcPct val="110000"/>
                        </a:lnSpc>
                        <a:spcBef>
                          <a:spcPts val="0"/>
                        </a:spcBef>
                        <a:spcAft>
                          <a:spcPts val="0"/>
                        </a:spcAft>
                        <a:defRPr sz="2200">
                          <a:latin typeface="Noto Sans CJK JP"/>
                        </a:defRPr>
                        <a:buNone/>
                      </a:pPr>
                      <a:r>
                        <a:rPr sz="2200" lang="ja-JP">
                          <a:solidFill>
                            <a:srgbClr val="303437"/>
                          </a:solidFill>
                          <a:latin typeface="Noto Sans CJK JP"/>
                          <a:ea typeface="Noto Sans CJK JP"/>
                        </a:rPr>
                        <a:t>86.8</a:t>
                      </a:r>
                      <a:endParaRPr sz="2200"/>
                    </a:p>
                  </a:txBody>
                  <a:tcPr>
                    <a:solidFill>
                      <a:srgbClr val="FFFEF8"/>
                    </a:solidFill>
                    <a:lnL w="0">
                      <a:noFill/>
                    </a:lnL>
                    <a:lnR w="0">
                      <a:noFill/>
                    </a:lnR>
                    <a:lnT w="0">
                      <a:noFill/>
                    </a:lnT>
                    <a:lnB w="10160">
                      <a:solidFill>
                        <a:srgbClr val="626669"/>
                      </a:solidFill>
                    </a:lnB>
                  </a:tcPr>
                </a:tc>
              </a:tr>
            </a:tbl>
          </a:graphicData>
        </a:graphic>
      </p:graphicFrame>
      <p:sp>
        <p:nvSpPr>
          <p:cNvPr id="5" name="TextBox 4"/>
          <p:cNvSpPr txBox="1"/>
          <p:nvPr/>
        </p:nvSpPr>
        <p:spPr>
          <a:xfrm>
            <a:off x="594360" y="3858768"/>
            <a:ext cx="7955279" cy="640080"/>
          </a:xfrm>
          <a:prstGeom prst="rect">
            <a:avLst/>
          </a:prstGeom>
          <a:noFill/>
        </p:spPr>
        <p:txBody>
          <a:bodyPr wrap="square" lIns="0" rIns="0" tIns="0" bIns="0" anchor="t">
            <a:spAutoFit/>
          </a:bodyPr>
          <a:lstStyle/>
          <a:p>
            <a:pPr algn="l" marL="0" indent="0">
              <a:lnSpc>
                <a:spcPct val="110000"/>
              </a:lnSpc>
              <a:spcBef>
                <a:spcPts val="0"/>
              </a:spcBef>
              <a:spcAft>
                <a:spcPts val="500"/>
              </a:spcAft>
              <a:defRPr sz="1800">
                <a:latin typeface="Noto Sans CJK JP"/>
              </a:defRPr>
              <a:buNone/>
            </a:pPr>
            <a:r>
              <a:rPr sz="1800" lang="ja-JP">
                <a:solidFill>
                  <a:srgbClr val="303437"/>
                </a:solidFill>
                <a:latin typeface="Noto Sans CJK JP"/>
                <a:ea typeface="Noto Sans CJK JP"/>
              </a:rPr>
              <a:t>SQuADバージョン1.0のテスト用で評価した </a:t>
            </a:r>
            <a:r>
              <a:rPr sz="950" lang="ja-JP">
                <a:solidFill>
                  <a:srgbClr val="626669"/>
                </a:solidFill>
                <a:latin typeface="Noto Sans CJK JP"/>
                <a:ea typeface="Noto Sans CJK JP"/>
              </a:rPr>
              <a:t>[1]</a:t>
            </a:r>
            <a:r>
              <a:rPr sz="1800" lang="ja-JP">
                <a:solidFill>
                  <a:srgbClr val="303437"/>
                </a:solidFill>
                <a:latin typeface="Noto Sans CJK JP"/>
                <a:ea typeface="Noto Sans CJK JP"/>
              </a:rPr>
              <a:t>。人の得点は、追加の正解回答を予測として採点した。</a:t>
            </a:r>
            <a:endParaRPr sz="1800"/>
          </a:p>
        </p:txBody>
      </p:sp>
      <p:sp>
        <p:nvSpPr>
          <p:cNvPr id="6"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Rajpurkar et al. (2016), Table 5・§6.2. https://aclanthology.org/D16-1264/</a:t>
            </a:r>
            <a:endParaRPr sz="85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バージョン1.1のベンチマーク結果</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評価と位置付け</a:t>
            </a:r>
            <a:endParaRPr sz="1400" lang="ja-JP"/>
          </a:p>
        </p:txBody>
      </p:sp>
      <p:graphicFrame>
        <p:nvGraphicFramePr>
          <p:cNvPr id="4" name="Table 3"/>
          <p:cNvGraphicFramePr>
            <a:graphicFrameLocks noGrp="1"/>
          </p:cNvGraphicFramePr>
          <p:nvPr/>
        </p:nvGraphicFramePr>
        <p:xfrm>
          <a:off x="548640" y="1594485"/>
          <a:ext cx="8046717" cy="1800225"/>
        </p:xfrm>
        <a:graphic>
          <a:graphicData uri="http://schemas.openxmlformats.org/drawingml/2006/table">
            <a:tbl>
              <a:tblPr firstRow="1" bandRow="1">
                <a:tableStyleId>{5C22544A-7EE6-4342-B048-85BDC9FD1C3A}</a:tableStyleId>
              </a:tblPr>
              <a:tblGrid>
                <a:gridCol w="2333548"/>
                <a:gridCol w="2655417"/>
                <a:gridCol w="1528876"/>
                <a:gridCol w="1528876"/>
              </a:tblGrid>
              <a:tr h="450056">
                <a:tc>
                  <a:txBody>
                    <a:bodyPr wrap="square" anchor="ctr"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モデル [1]</a:t>
                      </a:r>
                      <a:endParaRPr sz="20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提出日</a:t>
                      </a:r>
                      <a:endParaRPr sz="20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EM</a:t>
                      </a:r>
                      <a:endParaRPr sz="20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F1</a:t>
                      </a:r>
                      <a:endParaRPr sz="20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BiDAF</a:t>
                      </a:r>
                      <a:endParaRPr sz="20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2016-11-28</a:t>
                      </a:r>
                      <a:endParaRPr sz="20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68.0</a:t>
                      </a:r>
                      <a:endParaRPr sz="20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77.3</a:t>
                      </a:r>
                      <a:endParaRPr sz="2000" lang="ja-JP"/>
                    </a:p>
                  </a:txBody>
                  <a:tcPr marL="38100" marR="38100" marT="38100" marB="38100">
                    <a:lnL w="0">
                      <a:noFill/>
                    </a:lnL>
                    <a:lnR w="0">
                      <a:noFill/>
                    </a:lnR>
                    <a:lnT w="0">
                      <a:noFill/>
                    </a:lnT>
                    <a:lnB w="0">
                      <a:noFill/>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BERT</a:t>
                      </a:r>
                      <a:endParaRPr sz="20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2018-10-05</a:t>
                      </a:r>
                      <a:endParaRPr sz="20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85.1</a:t>
                      </a:r>
                      <a:endParaRPr sz="20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91.8</a:t>
                      </a:r>
                      <a:endParaRPr sz="2000" lang="ja-JP"/>
                    </a:p>
                  </a:txBody>
                  <a:tcPr marL="38100" marR="38100" marT="38100" marB="38100">
                    <a:lnL w="0">
                      <a:noFill/>
                    </a:lnL>
                    <a:lnR w="0">
                      <a:noFill/>
                    </a:lnR>
                    <a:lnT w="0">
                      <a:noFill/>
                    </a:lnT>
                    <a:lnB w="0">
                      <a:noFill/>
                    </a:lnB>
                    <a:solidFill>
                      <a:srgbClr val="FFFEF8"/>
                    </a:solidFill>
                  </a:tcPr>
                </a:tc>
              </a:tr>
              <a:tr h="450057">
                <a:tc>
                  <a:txBody>
                    <a:bodyPr wrap="square" anchor="ctr"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XLNet</a:t>
                      </a:r>
                      <a:endParaRPr sz="20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2019-05-21</a:t>
                      </a:r>
                      <a:endParaRPr sz="20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89.9</a:t>
                      </a:r>
                      <a:endParaRPr sz="20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95.1</a:t>
                      </a:r>
                      <a:endParaRPr sz="2000" lang="ja-JP"/>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nvSpPr>
        <p:spPr>
          <a:xfrm>
            <a:off x="594360" y="3770962"/>
            <a:ext cx="8046720" cy="991537"/>
          </a:xfrm>
          <a:prstGeom prst="rect">
            <a:avLst/>
          </a:prstGeom>
          <a:noFill/>
        </p:spPr>
        <p:txBody>
          <a:bodyPr wrap="square" anchor="t" lIns="0" rIns="0" tIns="0" bIns="0">
            <a:noAutofit/>
          </a:bodyPr>
          <a:lstStyle/>
          <a:p>
            <a:pPr algn="l" marL="151129" indent="-140335">
              <a:lnSpc>
                <a:spcPct val="110000"/>
              </a:lnSpc>
              <a:spcBef>
                <a:spcPts val="0"/>
              </a:spcBef>
              <a:defRPr sz="1700">
                <a:latin typeface="Noto Sans CJK JP"/>
              </a:defRPr>
              <a:spcAft>
                <a:spcPts val="400"/>
              </a:spcAft>
              <a:buChar char="•"/>
            </a:pPr>
            <a:r>
              <a:rPr sz="1700" lang="ja-JP">
                <a:solidFill>
                  <a:srgbClr val="303437"/>
                </a:solidFill>
                <a:latin typeface="Noto Sans CJK JP"/>
                <a:ea typeface="Noto Sans CJK JP"/>
              </a:rPr>
              <a:t>SQuAD運営者の非公開テストで採点。</a:t>
            </a:r>
            <a:endParaRPr sz="2100" lang="ja-JP"/>
            <a:endParaRPr sz="1700"/>
          </a:p>
          <a:p>
            <a:pPr algn="l" marL="151129" indent="-140335">
              <a:lnSpc>
                <a:spcPct val="110000"/>
              </a:lnSpc>
              <a:spcBef>
                <a:spcPts val="0"/>
              </a:spcBef>
              <a:spcAft>
                <a:spcPts val="400"/>
              </a:spcAft>
              <a:defRPr sz="1700">
                <a:latin typeface="Noto Sans CJK JP"/>
              </a:defRPr>
              <a:buChar char="•"/>
            </a:pPr>
            <a:r>
              <a:rPr sz="1700" lang="ja-JP">
                <a:solidFill>
                  <a:srgbClr val="303437"/>
                </a:solidFill>
                <a:latin typeface="Noto Sans CJK JP"/>
                <a:ea typeface="Noto Sans CJK JP"/>
              </a:rPr>
              <a:t>開発用とは別のデータ。各行は単一モデルの提出結果。</a:t>
            </a:r>
            <a:endParaRPr sz="1700"/>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掲載された提出結果（EM・F1は%）。</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https://rajpurkar.github.io/SQuAD-explorer/</a:t>
            </a:r>
            <a:endParaRPr sz="85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SQuAD 2.0では抽出型モデルも比較されている</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評価と位置付け</a:t>
            </a:r>
            <a:endParaRPr sz="1400" lang="ja-JP"/>
          </a:p>
        </p:txBody>
      </p:sp>
      <p:graphicFrame>
        <p:nvGraphicFramePr>
          <p:cNvPr id="4" name="Table 3"/>
          <p:cNvGraphicFramePr>
            <a:graphicFrameLocks noGrp="1"/>
          </p:cNvGraphicFramePr>
          <p:nvPr/>
        </p:nvGraphicFramePr>
        <p:xfrm>
          <a:off x="548640" y="1543050"/>
          <a:ext cx="8046718" cy="1825942"/>
        </p:xfrm>
        <a:graphic>
          <a:graphicData uri="http://schemas.openxmlformats.org/drawingml/2006/table">
            <a:tbl>
              <a:tblPr firstRow="1" bandRow="1">
                <a:tableStyleId>{5C22544A-7EE6-4342-B048-85BDC9FD1C3A}</a:tableStyleId>
              </a:tblPr>
              <a:tblGrid>
                <a:gridCol w="4345228"/>
                <a:gridCol w="1850745"/>
                <a:gridCol w="1850745"/>
              </a:tblGrid>
              <a:tr h="456485">
                <a:tc>
                  <a:txBody>
                    <a:bodyPr wrap="square" anchor="ctr"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モデル [1]</a:t>
                      </a:r>
                      <a:endParaRPr sz="20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EM（%）</a:t>
                      </a:r>
                      <a:endParaRPr sz="20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F1（%）</a:t>
                      </a:r>
                      <a:endParaRPr sz="20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BERT-Large</a:t>
                      </a:r>
                      <a:endParaRPr sz="20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79.0</a:t>
                      </a:r>
                      <a:endParaRPr sz="20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81.8</a:t>
                      </a:r>
                      <a:endParaRPr sz="2000" lang="ja-JP"/>
                    </a:p>
                  </a:txBody>
                  <a:tcPr marL="38100" marR="38100" marT="38100" marB="38100">
                    <a:lnL w="0">
                      <a:noFill/>
                    </a:lnL>
                    <a:lnR w="0">
                      <a:noFill/>
                    </a:lnR>
                    <a:lnT w="0">
                      <a:noFill/>
                    </a:lnT>
                    <a:lnB w="0">
                      <a:noFill/>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RoBERTa-Large</a:t>
                      </a:r>
                      <a:endParaRPr sz="20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86.5</a:t>
                      </a:r>
                      <a:endParaRPr sz="20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89.4</a:t>
                      </a:r>
                      <a:endParaRPr sz="2000" lang="ja-JP"/>
                    </a:p>
                  </a:txBody>
                  <a:tcPr marL="38100" marR="38100" marT="38100" marB="38100">
                    <a:lnL w="0">
                      <a:noFill/>
                    </a:lnL>
                    <a:lnR w="0">
                      <a:noFill/>
                    </a:lnR>
                    <a:lnT w="0">
                      <a:noFill/>
                    </a:lnT>
                    <a:lnB w="0">
                      <a:noFill/>
                    </a:lnB>
                    <a:solidFill>
                      <a:srgbClr val="FFFEF8"/>
                    </a:solidFill>
                  </a:tcPr>
                </a:tc>
              </a:tr>
              <a:tr h="456487">
                <a:tc>
                  <a:txBody>
                    <a:bodyPr wrap="square" anchor="ctr"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DeBERTa-V3-Large</a:t>
                      </a:r>
                      <a:endParaRPr sz="20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89.0</a:t>
                      </a:r>
                      <a:endParaRPr sz="20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91.5</a:t>
                      </a:r>
                      <a:endParaRPr sz="2000" lang="ja-JP"/>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nvSpPr>
        <p:spPr>
          <a:xfrm>
            <a:off x="594360" y="3719476"/>
            <a:ext cx="8046720" cy="1043023"/>
          </a:xfrm>
          <a:prstGeom prst="rect">
            <a:avLst/>
          </a:prstGeom>
          <a:noFill/>
        </p:spPr>
        <p:txBody>
          <a:bodyPr wrap="square" anchor="t" lIns="0" rIns="0" tIns="0" bIns="0">
            <a:noAutofit/>
          </a:bodyPr>
          <a:lstStyle/>
          <a:p>
            <a:pPr algn="l" marL="151129" indent="-140335">
              <a:lnSpc>
                <a:spcPct val="110000"/>
              </a:lnSpc>
              <a:spcBef>
                <a:spcPts val="0"/>
              </a:spcBef>
              <a:defRPr sz="1700">
                <a:latin typeface="Noto Sans CJK JP"/>
              </a:defRPr>
              <a:spcAft>
                <a:spcPts val="400"/>
              </a:spcAft>
              <a:buChar char="•"/>
            </a:pPr>
            <a:r>
              <a:rPr sz="1700" lang="ja-JP">
                <a:solidFill>
                  <a:srgbClr val="303437"/>
                </a:solidFill>
                <a:latin typeface="Noto Sans CJK JP"/>
                <a:ea typeface="Noto Sans CJK JP"/>
              </a:rPr>
              <a:t>SQuAD 2.0の学習用で微調整し、開発用で評価した公表値。</a:t>
            </a:r>
            <a:endParaRPr sz="1900" lang="ja-JP"/>
            <a:endParaRPr sz="1700"/>
          </a:p>
          <a:p>
            <a:pPr algn="l" marL="151129" indent="-140335">
              <a:lnSpc>
                <a:spcPct val="110000"/>
              </a:lnSpc>
              <a:spcBef>
                <a:spcPts val="0"/>
              </a:spcBef>
              <a:spcAft>
                <a:spcPts val="400"/>
              </a:spcAft>
              <a:defRPr sz="1700">
                <a:latin typeface="Noto Sans CJK JP"/>
              </a:defRPr>
              <a:buChar char="•"/>
            </a:pPr>
            <a:r>
              <a:rPr sz="1700" lang="ja-JP">
                <a:solidFill>
                  <a:srgbClr val="303437"/>
                </a:solidFill>
                <a:latin typeface="Noto Sans CJK JP"/>
                <a:ea typeface="Noto Sans CJK JP"/>
              </a:rPr>
              <a:t>Llamaの生成評価や、運営者の非公開テストとは条件が異なる。</a:t>
            </a:r>
            <a:endParaRPr sz="1700"/>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Microsoftの公開結果で、SQuAD 2.0開発用のEM・F1を掲載。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https://github.com/microsoft/DeBERTa</a:t>
            </a:r>
            <a:endParaRPr sz="85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Llama 3.1でもSQuAD 2を評価している</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評価と位置付け</a:t>
            </a:r>
            <a:endParaRPr sz="1400" lang="ja-JP"/>
          </a:p>
        </p:txBody>
      </p:sp>
      <p:graphicFrame>
        <p:nvGraphicFramePr>
          <p:cNvPr id="4" name="Table 3"/>
          <p:cNvGraphicFramePr>
            <a:graphicFrameLocks noGrp="1"/>
          </p:cNvGraphicFramePr>
          <p:nvPr/>
        </p:nvGraphicFramePr>
        <p:xfrm>
          <a:off x="548640" y="1543050"/>
          <a:ext cx="8046720" cy="1825942"/>
        </p:xfrm>
        <a:graphic>
          <a:graphicData uri="http://schemas.openxmlformats.org/drawingml/2006/table">
            <a:tbl>
              <a:tblPr firstRow="1" bandRow="1">
                <a:tableStyleId>{5C22544A-7EE6-4342-B048-85BDC9FD1C3A}</a:tableStyleId>
              </a:tblPr>
              <a:tblGrid>
                <a:gridCol w="5230368"/>
                <a:gridCol w="2816352"/>
              </a:tblGrid>
              <a:tr h="456485">
                <a:tc>
                  <a:txBody>
                    <a:bodyPr wrap="square" anchor="ctr"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事前学習モデル [1]</a:t>
                      </a:r>
                      <a:endParaRPr sz="20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EM（%）</a:t>
                      </a:r>
                      <a:endParaRPr sz="20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Llama 3.1 8B</a:t>
                      </a:r>
                      <a:endParaRPr sz="20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77.0</a:t>
                      </a:r>
                      <a:endParaRPr sz="2000" lang="ja-JP"/>
                    </a:p>
                  </a:txBody>
                  <a:tcPr marL="38100" marR="38100" marT="38100" marB="38100">
                    <a:lnL w="0">
                      <a:noFill/>
                    </a:lnL>
                    <a:lnR w="0">
                      <a:noFill/>
                    </a:lnR>
                    <a:lnT w="0">
                      <a:noFill/>
                    </a:lnT>
                    <a:lnB w="0">
                      <a:noFill/>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Llama 3.1 70B</a:t>
                      </a:r>
                      <a:endParaRPr sz="20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81.8</a:t>
                      </a:r>
                      <a:endParaRPr sz="2000" lang="ja-JP"/>
                    </a:p>
                  </a:txBody>
                  <a:tcPr marL="38100" marR="38100" marT="38100" marB="38100">
                    <a:lnL w="0">
                      <a:noFill/>
                    </a:lnL>
                    <a:lnR w="0">
                      <a:noFill/>
                    </a:lnR>
                    <a:lnT w="0">
                      <a:noFill/>
                    </a:lnT>
                    <a:lnB w="0">
                      <a:noFill/>
                    </a:lnB>
                    <a:solidFill>
                      <a:srgbClr val="FFFEF8"/>
                    </a:solidFill>
                  </a:tcPr>
                </a:tc>
              </a:tr>
              <a:tr h="456487">
                <a:tc>
                  <a:txBody>
                    <a:bodyPr wrap="square" anchor="ctr"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Llama 3.1 405B</a:t>
                      </a:r>
                      <a:endParaRPr sz="20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89.3</a:t>
                      </a:r>
                      <a:endParaRPr sz="2000" lang="ja-JP"/>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nvSpPr>
        <p:spPr>
          <a:xfrm>
            <a:off x="594360" y="3719476"/>
            <a:ext cx="8046720" cy="1043023"/>
          </a:xfrm>
          <a:prstGeom prst="rect">
            <a:avLst/>
          </a:prstGeom>
          <a:noFill/>
        </p:spPr>
        <p:txBody>
          <a:bodyPr wrap="square" anchor="t" lIns="0" rIns="0" tIns="0" bIns="0">
            <a:noAutofit/>
          </a:bodyPr>
          <a:lstStyle/>
          <a:p>
            <a:pPr algn="l" marL="151129" indent="-140335">
              <a:lnSpc>
                <a:spcPct val="110000"/>
              </a:lnSpc>
              <a:spcBef>
                <a:spcPts val="0"/>
              </a:spcBef>
              <a:defRPr sz="1700">
                <a:latin typeface="Noto Sans CJK JP"/>
              </a:defRPr>
              <a:spcAft>
                <a:spcPts val="400"/>
              </a:spcAft>
              <a:buChar char="•"/>
            </a:pPr>
            <a:r>
              <a:rPr sz="1700" lang="ja-JP">
                <a:solidFill>
                  <a:srgbClr val="303437"/>
                </a:solidFill>
                <a:latin typeface="Noto Sans CJK JP"/>
                <a:ea typeface="Noto Sans CJK JP"/>
              </a:rPr>
              <a:t>2024-07-23公開、事前学習モデルを1-shotで生成評価。</a:t>
            </a:r>
            <a:endParaRPr sz="1900" lang="ja-JP"/>
            <a:endParaRPr sz="1700"/>
          </a:p>
          <a:p>
            <a:pPr algn="l" marL="151129" indent="-140335">
              <a:lnSpc>
                <a:spcPct val="110000"/>
              </a:lnSpc>
              <a:spcBef>
                <a:spcPts val="0"/>
              </a:spcBef>
              <a:spcAft>
                <a:spcPts val="400"/>
              </a:spcAft>
              <a:defRPr sz="1700">
                <a:latin typeface="Noto Sans CJK JP"/>
              </a:defRPr>
              <a:buChar char="•"/>
            </a:pPr>
            <a:r>
              <a:rPr sz="1700" lang="ja-JP">
                <a:solidFill>
                  <a:srgbClr val="303437"/>
                </a:solidFill>
                <a:latin typeface="Noto Sans CJK JP"/>
                <a:ea typeface="Noto Sans CJK JP"/>
              </a:rPr>
              <a:t>先行QAの正解を含むため、運営者のテストとは条件が異なる </a:t>
            </a:r>
            <a:r>
              <a:rPr sz="950" lang="ja-JP">
                <a:solidFill>
                  <a:srgbClr val="626669"/>
                </a:solidFill>
                <a:latin typeface="Noto Sans CJK JP"/>
                <a:ea typeface="Noto Sans CJK JP"/>
              </a:rPr>
              <a:t>[2]</a:t>
            </a:r>
            <a:r>
              <a:rPr sz="1700" lang="ja-JP">
                <a:solidFill>
                  <a:srgbClr val="303437"/>
                </a:solidFill>
                <a:latin typeface="Noto Sans CJK JP"/>
                <a:ea typeface="Noto Sans CJK JP"/>
              </a:rPr>
              <a:t>。</a:t>
            </a:r>
            <a:endParaRPr sz="1700"/>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https://github.com/meta-llama/llama-models/blob/main/models/llama3_1/MODEL_CARD.md</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[2]</a:t>
            </a:r>
            <a:r>
              <a:rPr sz="850" lang="ja-JP">
                <a:solidFill>
                  <a:srgbClr val="626669"/>
                </a:solidFill>
                <a:latin typeface="Noto Sans CJK JP"/>
                <a:ea typeface="Noto Sans CJK JP"/>
              </a:rPr>
              <a:t> https://github.com/meta-llama/llama-models/blob/main/models/llama3_1/eval_details.md</a:t>
            </a:r>
            <a:endParaRPr sz="85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783080"/>
            <a:ext cx="8229600" cy="1417320"/>
          </a:xfrm>
        </p:spPr>
        <p:txBody>
          <a:bodyPr wrap="none" lIns="0" rIns="0" tIns="0" bIns="0" anchor="ctr"/>
          <a:lstStyle/>
          <a:p>
            <a:pPr algn="ctr" marL="0" indent="0">
              <a:defRPr sz="4000">
                <a:latin typeface="Noto Sans CJK JP"/>
              </a:defRPr>
              <a:lnSpc>
                <a:spcPct val="110000"/>
              </a:lnSpc>
              <a:spcBef>
                <a:spcPts val="0"/>
              </a:spcBef>
              <a:spcAft>
                <a:spcPts val="0"/>
              </a:spcAft>
              <a:buNone/>
            </a:pPr>
            <a:r>
              <a:rPr sz="4000" lang="ja-JP" b="1">
                <a:solidFill>
                  <a:srgbClr val="303437"/>
                </a:solidFill>
                <a:latin typeface="Noto Sans CJK JP"/>
                <a:ea typeface="Noto Sans CJK JP"/>
              </a:rPr>
              <a:t>4 利用の変遷と現在</a:t>
            </a:r>
            <a:endParaRPr sz="4000"/>
            <a:endParaRPr sz="4000"/>
            <a:endParaRPr sz="4000"/>
          </a:p>
        </p:txBody>
      </p:sp>
      <p:sp>
        <p:nvSpPr>
          <p:cNvPr id="3" name="Title 2"/>
          <p:cNvSpPr>
            <a:spLocks noGrp="1"/>
          </p:cNvSpPr>
          <p:nvPr>
            <p:ph type="title" idx="2"/>
          </p:nvPr>
        </p:nvSpPr>
        <p:spPr/>
        <p:txBody>
          <a:bodyPr/>
          <a:lstStyle/>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SQuAD以前にも読解用データセットがあった</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周辺データセット</a:t>
            </a:r>
            <a:endParaRPr sz="1400" lang="ja-JP"/>
          </a:p>
        </p:txBody>
      </p:sp>
      <p:sp>
        <p:nvSpPr>
          <p:cNvPr id="4" name="content-text"/>
          <p:cNvSpPr txBox="1"/>
          <p:nvPr/>
        </p:nvSpPr>
        <p:spPr>
          <a:xfrm>
            <a:off x="594360" y="1491615"/>
            <a:ext cx="8046720" cy="2983230"/>
          </a:xfrm>
          <a:prstGeom prst="rect">
            <a:avLst/>
          </a:prstGeom>
          <a:noFill/>
        </p:spPr>
        <p:txBody>
          <a:bodyPr wrap="square" anchor="t" lIns="0" rIns="0" tIns="0" bIns="0">
            <a:noAutofit/>
          </a:bodyPr>
          <a:lstStyle/>
          <a:p>
            <a:pPr algn="l" marL="203200" indent="-152400">
              <a:lnSpc>
                <a:spcPct val="113000"/>
              </a:lnSpc>
              <a:spcBef>
                <a:spcPts val="0"/>
              </a:spcBef>
              <a:spcAft>
                <a:spcPts val="700"/>
              </a:spcAft>
              <a:defRPr sz="2200">
                <a:latin typeface="Noto Sans CJK JP"/>
              </a:defRPr>
              <a:buChar char="•"/>
            </a:pPr>
            <a:r>
              <a:rPr sz="2200" b="0" lang="ja-JP">
                <a:solidFill>
                  <a:srgbClr val="303437"/>
                </a:solidFill>
                <a:latin typeface="Noto Sans CJK JP"/>
                <a:ea typeface="Noto Sans CJK JP"/>
                <a:cs typeface="Noto Sans CJK JP"/>
              </a:rPr>
              <a:t>MCTestは2013年に公開された。</a:t>
            </a:r>
            <a:endParaRPr sz="2200" lang="ja-JP"/>
          </a:p>
          <a:p>
            <a:pPr lvl="1" algn="l" marL="482600" indent="-127000">
              <a:lnSpc>
                <a:spcPct val="113000"/>
              </a:lnSpc>
              <a:spcBef>
                <a:spcPts val="0"/>
              </a:spcBef>
              <a:spcAft>
                <a:spcPts val="1200"/>
              </a:spcAft>
              <a:defRPr sz="2000">
                <a:latin typeface="Noto Sans CJK JP"/>
              </a:defRPr>
              <a:buChar char="○"/>
            </a:pPr>
            <a:r>
              <a:rPr sz="2000" b="0" lang="ja-JP">
                <a:solidFill>
                  <a:srgbClr val="303437"/>
                </a:solidFill>
                <a:latin typeface="Noto Sans CJK JP"/>
                <a:ea typeface="Noto Sans CJK JP"/>
                <a:cs typeface="Noto Sans CJK JP"/>
              </a:rPr>
              <a:t>短い物語を読んで4択質問に答える。SQuADはWikipediaの段落から回答範囲を選ぶ </a:t>
            </a:r>
            <a:r>
              <a:rPr sz="950" b="0" lang="ja-JP">
                <a:solidFill>
                  <a:srgbClr val="626669"/>
                </a:solidFill>
                <a:latin typeface="Noto Sans CJK JP"/>
                <a:ea typeface="Noto Sans CJK JP"/>
                <a:cs typeface="Noto Sans CJK JP"/>
              </a:rPr>
              <a:t>[1]</a:t>
            </a:r>
            <a:r>
              <a:rPr sz="2000" b="0" lang="ja-JP">
                <a:solidFill>
                  <a:srgbClr val="303437"/>
                </a:solidFill>
                <a:latin typeface="Noto Sans CJK JP"/>
                <a:ea typeface="Noto Sans CJK JP"/>
                <a:cs typeface="Noto Sans CJK JP"/>
              </a:rPr>
              <a:t>。</a:t>
            </a:r>
            <a:endParaRPr sz="2000" lang="ja-JP"/>
          </a:p>
          <a:p>
            <a:pPr algn="l" marL="203200" indent="-152400">
              <a:lnSpc>
                <a:spcPct val="113000"/>
              </a:lnSpc>
              <a:spcBef>
                <a:spcPts val="0"/>
              </a:spcBef>
              <a:spcAft>
                <a:spcPts val="700"/>
              </a:spcAft>
              <a:defRPr sz="2200">
                <a:latin typeface="Noto Sans CJK JP"/>
              </a:defRPr>
              <a:buChar char="•"/>
            </a:pPr>
            <a:r>
              <a:rPr sz="2200" b="0" lang="ja-JP">
                <a:solidFill>
                  <a:srgbClr val="303437"/>
                </a:solidFill>
                <a:latin typeface="Noto Sans CJK JP"/>
                <a:ea typeface="Noto Sans CJK JP"/>
                <a:cs typeface="Noto Sans CJK JP"/>
              </a:rPr>
              <a:t>CNN / Daily Mailは2015年に公開された。</a:t>
            </a:r>
            <a:endParaRPr sz="2200" lang="ja-JP"/>
          </a:p>
          <a:p>
            <a:pPr lvl="1" algn="l" marL="482600" indent="-127000">
              <a:lnSpc>
                <a:spcPct val="113000"/>
              </a:lnSpc>
              <a:spcBef>
                <a:spcPts val="0"/>
              </a:spcBef>
              <a:spcAft>
                <a:spcPts val="600"/>
              </a:spcAft>
              <a:defRPr sz="2000">
                <a:latin typeface="Noto Sans CJK JP"/>
              </a:defRPr>
              <a:buChar char="○"/>
            </a:pPr>
            <a:r>
              <a:rPr sz="2000" b="0" lang="ja-JP">
                <a:solidFill>
                  <a:srgbClr val="303437"/>
                </a:solidFill>
                <a:latin typeface="Noto Sans CJK JP"/>
                <a:ea typeface="Noto Sans CJK JP"/>
                <a:cs typeface="Noto Sans CJK JP"/>
              </a:rPr>
              <a:t>ニュースの要約の固有表現を伏せて質問を自動生成する。SQuADでは人が質問を書き、回答は任意の連続範囲を認める </a:t>
            </a:r>
            <a:r>
              <a:rPr sz="950" b="0" lang="ja-JP">
                <a:solidFill>
                  <a:srgbClr val="626669"/>
                </a:solidFill>
                <a:latin typeface="Noto Sans CJK JP"/>
                <a:ea typeface="Noto Sans CJK JP"/>
                <a:cs typeface="Noto Sans CJK JP"/>
              </a:rPr>
              <a:t>[2]</a:t>
            </a:r>
            <a:r>
              <a:rPr sz="2000" b="0" lang="ja-JP">
                <a:solidFill>
                  <a:srgbClr val="303437"/>
                </a:solidFill>
                <a:latin typeface="Noto Sans CJK JP"/>
                <a:ea typeface="Noto Sans CJK JP"/>
                <a:cs typeface="Noto Sans CJK JP"/>
              </a:rPr>
              <a:t>。</a:t>
            </a:r>
            <a:endParaRPr sz="2000" lang="ja-JP"/>
          </a:p>
        </p:txBody>
      </p:sp>
      <p:sp>
        <p:nvSpPr>
          <p:cNvPr id="5"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Richardson et al. (2013) https://aclanthology.org/D13-1020/</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[2]</a:t>
            </a:r>
            <a:r>
              <a:rPr sz="850" lang="ja-JP">
                <a:solidFill>
                  <a:srgbClr val="626669"/>
                </a:solidFill>
                <a:latin typeface="Noto Sans CJK JP"/>
                <a:ea typeface="Noto Sans CJK JP"/>
              </a:rPr>
              <a:t> Hermann et al. (2015) https://github.com/deepmind/rc-data</a:t>
            </a:r>
            <a:endParaRPr sz="85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後続データセットでは入力と質問が広がった</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周辺データセット</a:t>
            </a:r>
            <a:endParaRPr sz="1400" lang="ja-JP"/>
          </a:p>
        </p:txBody>
      </p:sp>
      <p:sp>
        <p:nvSpPr>
          <p:cNvPr id="4" name="content-text"/>
          <p:cNvSpPr txBox="1"/>
          <p:nvPr/>
        </p:nvSpPr>
        <p:spPr>
          <a:xfrm>
            <a:off x="594360" y="1491615"/>
            <a:ext cx="8046720" cy="2983230"/>
          </a:xfrm>
          <a:prstGeom prst="rect">
            <a:avLst/>
          </a:prstGeom>
          <a:noFill/>
        </p:spPr>
        <p:txBody>
          <a:bodyPr wrap="square" anchor="t" lIns="0" rIns="0" tIns="0" bIns="0">
            <a:noAutofit/>
          </a:bodyPr>
          <a:lstStyle/>
          <a:p>
            <a:pPr algn="l" marL="203200" indent="-152400">
              <a:lnSpc>
                <a:spcPct val="113000"/>
              </a:lnSpc>
              <a:spcBef>
                <a:spcPts val="0"/>
              </a:spcBef>
              <a:spcAft>
                <a:spcPts val="700"/>
              </a:spcAft>
              <a:defRPr sz="2200">
                <a:latin typeface="Noto Sans CJK JP"/>
              </a:defRPr>
              <a:buChar char="•"/>
            </a:pPr>
            <a:r>
              <a:rPr sz="2200" b="0" lang="ja-JP">
                <a:solidFill>
                  <a:srgbClr val="303437"/>
                </a:solidFill>
                <a:latin typeface="Noto Sans CJK JP"/>
                <a:ea typeface="Noto Sans CJK JP"/>
                <a:cs typeface="Noto Sans CJK JP"/>
              </a:rPr>
              <a:t>HotpotQAは2018年に公開された。</a:t>
            </a:r>
            <a:endParaRPr sz="2200" lang="ja-JP"/>
          </a:p>
          <a:p>
            <a:pPr lvl="1" algn="l" marL="482600" indent="-127000">
              <a:lnSpc>
                <a:spcPct val="113000"/>
              </a:lnSpc>
              <a:spcBef>
                <a:spcPts val="0"/>
              </a:spcBef>
              <a:spcAft>
                <a:spcPts val="1200"/>
              </a:spcAft>
              <a:defRPr sz="2000">
                <a:latin typeface="Noto Sans CJK JP"/>
              </a:defRPr>
              <a:buChar char="○"/>
            </a:pPr>
            <a:r>
              <a:rPr sz="2000" b="0" lang="ja-JP">
                <a:solidFill>
                  <a:srgbClr val="303437"/>
                </a:solidFill>
                <a:latin typeface="Noto Sans CJK JP"/>
                <a:ea typeface="Noto Sans CJK JP"/>
                <a:cs typeface="Noto Sans CJK JP"/>
              </a:rPr>
              <a:t>複数のWikipedia記事にまたがる推論と、根拠文の特定を扱う。SQuADの1段落の読解より、文書間の情報を組み合わせる </a:t>
            </a:r>
            <a:r>
              <a:rPr sz="950" b="0" lang="ja-JP">
                <a:solidFill>
                  <a:srgbClr val="626669"/>
                </a:solidFill>
                <a:latin typeface="Noto Sans CJK JP"/>
                <a:ea typeface="Noto Sans CJK JP"/>
                <a:cs typeface="Noto Sans CJK JP"/>
              </a:rPr>
              <a:t>[1]</a:t>
            </a:r>
            <a:r>
              <a:rPr sz="2000" b="0" lang="ja-JP">
                <a:solidFill>
                  <a:srgbClr val="303437"/>
                </a:solidFill>
                <a:latin typeface="Noto Sans CJK JP"/>
                <a:ea typeface="Noto Sans CJK JP"/>
                <a:cs typeface="Noto Sans CJK JP"/>
              </a:rPr>
              <a:t>。</a:t>
            </a:r>
            <a:endParaRPr sz="2000" lang="ja-JP"/>
          </a:p>
          <a:p>
            <a:pPr algn="l" marL="203200" indent="-152400">
              <a:lnSpc>
                <a:spcPct val="113000"/>
              </a:lnSpc>
              <a:spcBef>
                <a:spcPts val="0"/>
              </a:spcBef>
              <a:spcAft>
                <a:spcPts val="700"/>
              </a:spcAft>
              <a:defRPr sz="2200">
                <a:latin typeface="Noto Sans CJK JP"/>
              </a:defRPr>
              <a:buChar char="•"/>
            </a:pPr>
            <a:r>
              <a:rPr sz="2200" b="0" lang="ja-JP">
                <a:solidFill>
                  <a:srgbClr val="303437"/>
                </a:solidFill>
                <a:latin typeface="Noto Sans CJK JP"/>
                <a:ea typeface="Noto Sans CJK JP"/>
                <a:cs typeface="Noto Sans CJK JP"/>
              </a:rPr>
              <a:t>Natural Questionsは2019年に公開された。</a:t>
            </a:r>
            <a:endParaRPr sz="2200" lang="ja-JP"/>
          </a:p>
          <a:p>
            <a:pPr lvl="1" algn="l" marL="482600" indent="-127000">
              <a:lnSpc>
                <a:spcPct val="113000"/>
              </a:lnSpc>
              <a:spcBef>
                <a:spcPts val="0"/>
              </a:spcBef>
              <a:spcAft>
                <a:spcPts val="600"/>
              </a:spcAft>
              <a:defRPr sz="2000">
                <a:latin typeface="Noto Sans CJK JP"/>
              </a:defRPr>
              <a:buChar char="○"/>
            </a:pPr>
            <a:r>
              <a:rPr sz="2000" b="0" lang="ja-JP">
                <a:solidFill>
                  <a:srgbClr val="303437"/>
                </a:solidFill>
                <a:latin typeface="Noto Sans CJK JP"/>
                <a:ea typeface="Noto Sans CJK JP"/>
                <a:cs typeface="Noto Sans CJK JP"/>
              </a:rPr>
              <a:t>Googleの検索質問とWikipediaページを使う。SQuADと異なり、長い回答と短い回答を指定する </a:t>
            </a:r>
            <a:r>
              <a:rPr sz="950" b="0" lang="ja-JP">
                <a:solidFill>
                  <a:srgbClr val="626669"/>
                </a:solidFill>
                <a:latin typeface="Noto Sans CJK JP"/>
                <a:ea typeface="Noto Sans CJK JP"/>
                <a:cs typeface="Noto Sans CJK JP"/>
              </a:rPr>
              <a:t>[2]</a:t>
            </a:r>
            <a:r>
              <a:rPr sz="2000" b="0" lang="ja-JP">
                <a:solidFill>
                  <a:srgbClr val="303437"/>
                </a:solidFill>
                <a:latin typeface="Noto Sans CJK JP"/>
                <a:ea typeface="Noto Sans CJK JP"/>
                <a:cs typeface="Noto Sans CJK JP"/>
              </a:rPr>
              <a:t>。</a:t>
            </a:r>
            <a:endParaRPr sz="2000" lang="ja-JP"/>
          </a:p>
        </p:txBody>
      </p:sp>
      <p:sp>
        <p:nvSpPr>
          <p:cNvPr id="5"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Yang et al. (2018) https://github.com/hotpotqa/hotpot</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[2]</a:t>
            </a:r>
            <a:r>
              <a:rPr sz="850" lang="ja-JP">
                <a:solidFill>
                  <a:srgbClr val="626669"/>
                </a:solidFill>
                <a:latin typeface="Noto Sans CJK JP"/>
                <a:ea typeface="Noto Sans CJK JP"/>
              </a:rPr>
              <a:t> Kwiatkowski et al. (2019) https://github.com/google-research-datasets/natural-questions</a:t>
            </a:r>
            <a:endParaRPr sz="85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発表当時と2026年時点の位置付け</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評価と位置付け</a:t>
            </a:r>
            <a:endParaRPr sz="1400" lang="ja-JP"/>
          </a:p>
        </p:txBody>
      </p:sp>
      <p:sp>
        <p:nvSpPr>
          <p:cNvPr id="4" name="content-text"/>
          <p:cNvSpPr txBox="1"/>
          <p:nvPr/>
        </p:nvSpPr>
        <p:spPr>
          <a:xfrm>
            <a:off x="594360" y="1465897"/>
            <a:ext cx="8046720" cy="3137535"/>
          </a:xfrm>
          <a:prstGeom prst="rect">
            <a:avLst/>
          </a:prstGeom>
          <a:noFill/>
        </p:spPr>
        <p:txBody>
          <a:bodyPr wrap="square" anchor="t" lIns="0" rIns="0" tIns="0" bIns="0">
            <a:noAutofit/>
          </a:bodyPr>
          <a:lstStyle/>
          <a:p>
            <a:pPr algn="l" marL="186690" indent="-173355">
              <a:lnSpc>
                <a:spcPct val="110000"/>
              </a:lnSpc>
              <a:spcBef>
                <a:spcPts val="0"/>
              </a:spcBef>
              <a:defRPr sz="2100">
                <a:latin typeface="Noto Sans CJK JP"/>
              </a:defRPr>
              <a:spcAft>
                <a:spcPts val="600"/>
              </a:spcAft>
              <a:buChar char="•"/>
            </a:pPr>
            <a:r>
              <a:rPr sz="2100" lang="ja-JP">
                <a:solidFill>
                  <a:srgbClr val="303437"/>
                </a:solidFill>
                <a:latin typeface="Noto Sans CJK JP"/>
                <a:ea typeface="Noto Sans CJK JP"/>
              </a:rPr>
              <a:t>SQuADは、生成型言語モデルの読解評価にも使われている。</a:t>
            </a:r>
            <a:endParaRPr sz="2200" lang="ja-JP"/>
            <a:endParaRPr sz="2100"/>
          </a:p>
          <a:p>
            <a:pPr algn="l" marL="186690" indent="-173355">
              <a:lnSpc>
                <a:spcPct val="110000"/>
              </a:lnSpc>
              <a:spcBef>
                <a:spcPts val="0"/>
              </a:spcBef>
              <a:spcAft>
                <a:spcPts val="600"/>
              </a:spcAft>
              <a:defRPr sz="2100">
                <a:latin typeface="Noto Sans CJK JP"/>
              </a:defRPr>
              <a:buChar char="•"/>
            </a:pPr>
            <a:r>
              <a:rPr sz="2100" lang="ja-JP">
                <a:solidFill>
                  <a:srgbClr val="303437"/>
                </a:solidFill>
                <a:latin typeface="Noto Sans CJK JP"/>
                <a:ea typeface="Noto Sans CJK JP"/>
              </a:rPr>
              <a:t>2026年も、SQuAD 2.0の評価実装が公開されている </a:t>
            </a:r>
            <a:r>
              <a:rPr sz="950" lang="ja-JP">
                <a:solidFill>
                  <a:srgbClr val="626669"/>
                </a:solidFill>
                <a:latin typeface="Noto Sans CJK JP"/>
                <a:ea typeface="Noto Sans CJK JP"/>
              </a:rPr>
              <a:t>[1]</a:t>
            </a:r>
            <a:r>
              <a:rPr sz="2100" lang="ja-JP">
                <a:solidFill>
                  <a:srgbClr val="303437"/>
                </a:solidFill>
                <a:latin typeface="Noto Sans CJK JP"/>
                <a:ea typeface="Noto Sans CJK JP"/>
              </a:rPr>
              <a:t>。</a:t>
            </a:r>
            <a:endParaRPr sz="2100"/>
          </a:p>
          <a:p>
            <a:pPr algn="l" marL="186690" indent="-173355">
              <a:lnSpc>
                <a:spcPct val="110000"/>
              </a:lnSpc>
              <a:spcBef>
                <a:spcPts val="0"/>
              </a:spcBef>
              <a:spcAft>
                <a:spcPts val="600"/>
              </a:spcAft>
              <a:defRPr sz="2100">
                <a:latin typeface="Noto Sans CJK JP"/>
              </a:defRPr>
              <a:buChar char="•"/>
            </a:pPr>
            <a:r>
              <a:rPr sz="2100" lang="ja-JP">
                <a:solidFill>
                  <a:srgbClr val="303437"/>
                </a:solidFill>
                <a:latin typeface="Noto Sans CJK JP"/>
                <a:ea typeface="Noto Sans CJK JP"/>
              </a:rPr>
              <a:t>一方、長い文脈を扱うLongBench v2が2024年に登場した </a:t>
            </a:r>
            <a:r>
              <a:rPr sz="950" lang="ja-JP">
                <a:solidFill>
                  <a:srgbClr val="626669"/>
                </a:solidFill>
                <a:latin typeface="Noto Sans CJK JP"/>
                <a:ea typeface="Noto Sans CJK JP"/>
              </a:rPr>
              <a:t>[2]</a:t>
            </a:r>
            <a:r>
              <a:rPr sz="2100" lang="ja-JP">
                <a:solidFill>
                  <a:srgbClr val="303437"/>
                </a:solidFill>
                <a:latin typeface="Noto Sans CJK JP"/>
                <a:ea typeface="Noto Sans CJK JP"/>
              </a:rPr>
              <a:t>。</a:t>
            </a:r>
            <a:endParaRPr sz="2100"/>
          </a:p>
          <a:p>
            <a:pPr algn="l" lvl="1" marL="426720" indent="-173355">
              <a:lnSpc>
                <a:spcPct val="110000"/>
              </a:lnSpc>
              <a:spcBef>
                <a:spcPts val="0"/>
              </a:spcBef>
              <a:spcAft>
                <a:spcPts val="600"/>
              </a:spcAft>
              <a:defRPr sz="2100">
                <a:latin typeface="Noto Sans CJK JP"/>
              </a:defRPr>
              <a:buChar char="–"/>
            </a:pPr>
            <a:r>
              <a:rPr sz="2100" lang="ja-JP">
                <a:solidFill>
                  <a:srgbClr val="303437"/>
                </a:solidFill>
                <a:latin typeface="Noto Sans CJK JP"/>
                <a:ea typeface="Noto Sans CJK JP"/>
              </a:rPr>
              <a:t>8千〜200万語の文脈から選択肢を選ぶ。短い段落から回答範囲を抽出するSQuADとは、文脈長と回答形式が異なる。</a:t>
            </a:r>
            <a:endParaRPr sz="2100"/>
          </a:p>
        </p:txBody>
      </p:sp>
      <p:sp>
        <p:nvSpPr>
          <p:cNvPr id="5"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Hugging Face Evaluate, SQuAD 2.0. https://github.com/huggingface/evaluate/blob/main/metrics/squad_v2/squad_v2.py</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[2]</a:t>
            </a:r>
            <a:r>
              <a:rPr sz="850" lang="ja-JP">
                <a:solidFill>
                  <a:srgbClr val="626669"/>
                </a:solidFill>
                <a:latin typeface="Noto Sans CJK JP"/>
                <a:ea typeface="Noto Sans CJK JP"/>
              </a:rPr>
              <a:t> LongBench v2. https://github.com/THUDM/LongBench</a:t>
            </a:r>
            <a:endParaRPr sz="85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783080"/>
            <a:ext cx="8229600" cy="1417320"/>
          </a:xfrm>
        </p:spPr>
        <p:txBody>
          <a:bodyPr wrap="none" lIns="0" rIns="0" tIns="0" bIns="0" anchor="ctr"/>
          <a:lstStyle/>
          <a:p>
            <a:pPr algn="ctr" marL="0" indent="0">
              <a:defRPr sz="4000">
                <a:latin typeface="Noto Sans CJK JP"/>
              </a:defRPr>
              <a:lnSpc>
                <a:spcPct val="110000"/>
              </a:lnSpc>
              <a:spcBef>
                <a:spcPts val="0"/>
              </a:spcBef>
              <a:spcAft>
                <a:spcPts val="0"/>
              </a:spcAft>
              <a:buNone/>
            </a:pPr>
            <a:r>
              <a:rPr sz="4000" lang="ja-JP" b="1">
                <a:solidFill>
                  <a:srgbClr val="303437"/>
                </a:solidFill>
                <a:latin typeface="Noto Sans CJK JP"/>
                <a:ea typeface="Noto Sans CJK JP"/>
              </a:rPr>
              <a:t>5 入手方法とまとめ</a:t>
            </a:r>
            <a:endParaRPr sz="4000"/>
            <a:endParaRPr sz="4000"/>
            <a:endParaRPr sz="4000"/>
          </a:p>
        </p:txBody>
      </p:sp>
      <p:sp>
        <p:nvSpPr>
          <p:cNvPr id="3" name="Title 2"/>
          <p:cNvSpPr>
            <a:spLocks noGrp="1"/>
          </p:cNvSpPr>
          <p:nvPr>
            <p:ph type="title" idx="2"/>
          </p:nvPr>
        </p:nvSpPr>
        <p:spPr/>
        <p:txBody>
          <a:bodyPr/>
          <a:lstStyle/>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SQuAD の入手方法</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利用と入手</a:t>
            </a:r>
            <a:endParaRPr sz="1400" lang="ja-JP"/>
          </a:p>
        </p:txBody>
      </p:sp>
      <p:sp>
        <p:nvSpPr>
          <p:cNvPr id="4" name="content-text"/>
          <p:cNvSpPr txBox="1"/>
          <p:nvPr/>
        </p:nvSpPr>
        <p:spPr>
          <a:xfrm>
            <a:off x="594360" y="1543050"/>
            <a:ext cx="8046720" cy="2674620"/>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2300">
                <a:latin typeface="Noto Sans CJK JP"/>
              </a:defRPr>
              <a:buChar char="•"/>
            </a:pPr>
            <a:r>
              <a:rPr sz="2300" b="0" lang="ja-JP">
                <a:solidFill>
                  <a:srgbClr val="303437"/>
                </a:solidFill>
                <a:latin typeface="Noto Sans CJK JP"/>
                <a:ea typeface="Noto Sans CJK JP"/>
                <a:cs typeface="Noto Sans CJK JP"/>
              </a:rPr>
              <a:t>公式サイトからJSONをダウンロードできる </a:t>
            </a:r>
            <a:r>
              <a:rPr sz="950" b="0" lang="ja-JP">
                <a:solidFill>
                  <a:srgbClr val="626669"/>
                </a:solidFill>
                <a:latin typeface="Noto Sans CJK JP"/>
                <a:ea typeface="Noto Sans CJK JP"/>
                <a:cs typeface="Noto Sans CJK JP"/>
              </a:rPr>
              <a:t>[1]</a:t>
            </a:r>
            <a:r>
              <a:rPr sz="2300" b="0" lang="ja-JP">
                <a:solidFill>
                  <a:srgbClr val="303437"/>
                </a:solidFill>
                <a:latin typeface="Noto Sans CJK JP"/>
                <a:ea typeface="Noto Sans CJK JP"/>
                <a:cs typeface="Noto Sans CJK JP"/>
              </a:rPr>
              <a:t>。</a:t>
            </a:r>
            <a:endParaRPr sz="2300" lang="ja-JP"/>
          </a:p>
          <a:p>
            <a:pPr lvl="1" algn="l" marL="482600" indent="-127000">
              <a:lnSpc>
                <a:spcPct val="113000"/>
              </a:lnSpc>
              <a:spcBef>
                <a:spcPts val="0"/>
              </a:spcBef>
              <a:spcAft>
                <a:spcPts val="400"/>
              </a:spcAft>
              <a:defRPr sz="2100">
                <a:latin typeface="Noto Sans CJK JP"/>
              </a:defRPr>
              <a:buChar char="○"/>
            </a:pPr>
            <a:r>
              <a:rPr sz="2100" b="0" lang="ja-JP">
                <a:solidFill>
                  <a:srgbClr val="303437"/>
                </a:solidFill>
                <a:latin typeface="Noto Sans CJK JP"/>
                <a:ea typeface="Noto Sans CJK JP"/>
                <a:cs typeface="Noto Sans CJK JP"/>
              </a:rPr>
              <a:t>学習用 train と開発用 dev をバージョンごとに配布。</a:t>
            </a:r>
            <a:endParaRPr sz="2100" lang="ja-JP"/>
          </a:p>
          <a:p>
            <a:pPr algn="l" marL="203200" indent="-152400">
              <a:lnSpc>
                <a:spcPct val="113000"/>
              </a:lnSpc>
              <a:spcBef>
                <a:spcPts val="0"/>
              </a:spcBef>
              <a:spcAft>
                <a:spcPts val="500"/>
              </a:spcAft>
              <a:defRPr sz="2300">
                <a:latin typeface="Noto Sans CJK JP"/>
              </a:defRPr>
              <a:buChar char="•"/>
            </a:pPr>
            <a:r>
              <a:rPr sz="2300" b="0" lang="ja-JP">
                <a:solidFill>
                  <a:srgbClr val="303437"/>
                </a:solidFill>
                <a:latin typeface="Noto Sans CJK JP"/>
                <a:ea typeface="Noto Sans CJK JP"/>
                <a:cs typeface="Noto Sans CJK JP"/>
              </a:rPr>
              <a:t>Hugging Face Datasetsからも取得できる </a:t>
            </a:r>
            <a:r>
              <a:rPr sz="950" b="0" lang="ja-JP">
                <a:solidFill>
                  <a:srgbClr val="626669"/>
                </a:solidFill>
                <a:latin typeface="Noto Sans CJK JP"/>
                <a:ea typeface="Noto Sans CJK JP"/>
                <a:cs typeface="Noto Sans CJK JP"/>
              </a:rPr>
              <a:t>[2]</a:t>
            </a:r>
            <a:r>
              <a:rPr sz="2300" b="0" lang="ja-JP">
                <a:solidFill>
                  <a:srgbClr val="303437"/>
                </a:solidFill>
                <a:latin typeface="Noto Sans CJK JP"/>
                <a:ea typeface="Noto Sans CJK JP"/>
                <a:cs typeface="Noto Sans CJK JP"/>
              </a:rPr>
              <a:t>。</a:t>
            </a:r>
            <a:endParaRPr sz="2300" lang="ja-JP"/>
          </a:p>
          <a:p>
            <a:pPr lvl="1" algn="l" marL="482600" indent="-127000">
              <a:lnSpc>
                <a:spcPct val="113000"/>
              </a:lnSpc>
              <a:spcBef>
                <a:spcPts val="0"/>
              </a:spcBef>
              <a:spcAft>
                <a:spcPts val="400"/>
              </a:spcAft>
              <a:defRPr sz="2100">
                <a:latin typeface="Noto Sans CJK JP"/>
              </a:defRPr>
              <a:buChar char="○"/>
            </a:pPr>
            <a:r>
              <a:rPr sz="2100" b="0" lang="ja-JP">
                <a:solidFill>
                  <a:srgbClr val="303437"/>
                </a:solidFill>
                <a:latin typeface="Noto Sans CJK JP"/>
                <a:ea typeface="Noto Sans CJK JP"/>
                <a:cs typeface="Noto Sans CJK JP"/>
              </a:rPr>
              <a:t>バージョン1.1では、rajpurkar/squadを使う。</a:t>
            </a:r>
            <a:endParaRPr sz="2100" lang="ja-JP"/>
          </a:p>
          <a:p>
            <a:pPr lvl="1" algn="l" marL="482600" indent="-127000">
              <a:lnSpc>
                <a:spcPct val="113000"/>
              </a:lnSpc>
              <a:spcBef>
                <a:spcPts val="0"/>
              </a:spcBef>
              <a:spcAft>
                <a:spcPts val="400"/>
              </a:spcAft>
              <a:defRPr sz="2100">
                <a:latin typeface="Noto Sans CJK JP"/>
              </a:defRPr>
              <a:buChar char="○"/>
            </a:pPr>
            <a:r>
              <a:rPr sz="2100" b="0" lang="ja-JP">
                <a:solidFill>
                  <a:srgbClr val="303437"/>
                </a:solidFill>
                <a:latin typeface="Noto Sans CJK JP"/>
                <a:ea typeface="Noto Sans CJK JP"/>
                <a:cs typeface="Noto Sans CJK JP"/>
              </a:rPr>
              <a:t>バージョン2.0では、rajpurkar/squad_v2を使う。</a:t>
            </a:r>
            <a:endParaRPr sz="2100" lang="ja-JP"/>
          </a:p>
          <a:p>
            <a:pPr algn="l" marL="203200" indent="-152400">
              <a:lnSpc>
                <a:spcPct val="113000"/>
              </a:lnSpc>
              <a:spcBef>
                <a:spcPts val="0"/>
              </a:spcBef>
              <a:spcAft>
                <a:spcPts val="500"/>
              </a:spcAft>
              <a:defRPr sz="2100">
                <a:latin typeface="Noto Sans CJK JP"/>
              </a:defRPr>
              <a:buChar char="•"/>
            </a:pPr>
            <a:r>
              <a:rPr sz="2100" b="0" lang="ja-JP">
                <a:solidFill>
                  <a:srgbClr val="303437"/>
                </a:solidFill>
                <a:latin typeface="Noto Sans CJK JP"/>
                <a:ea typeface="Noto Sans CJK JP"/>
                <a:cs typeface="Noto Sans CJK JP"/>
              </a:rPr>
              <a:t>データの利用条件はCC BY-SA 4.0。</a:t>
            </a:r>
            <a:endParaRPr sz="2100" lang="ja-JP"/>
          </a:p>
        </p:txBody>
      </p:sp>
      <p:sp>
        <p:nvSpPr>
          <p:cNvPr id="5" name="lookup-sources"/>
          <p:cNvSpPr txBox="1"/>
          <p:nvPr/>
        </p:nvSpPr>
        <p:spPr>
          <a:xfrm>
            <a:off x="502920" y="4612640"/>
            <a:ext cx="8183879" cy="47142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https://rajpurkar.github.io/SQuAD-explorer/</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[2]</a:t>
            </a:r>
            <a:r>
              <a:rPr sz="850" lang="ja-JP">
                <a:solidFill>
                  <a:srgbClr val="626669"/>
                </a:solidFill>
                <a:latin typeface="Noto Sans CJK JP"/>
                <a:ea typeface="Noto Sans CJK JP"/>
              </a:rPr>
              <a:t> https://huggingface.co/datasets/rajpurkar/squad / https://huggingface.co/datasets/rajpurkar/squad_v2</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[3]</a:t>
            </a:r>
            <a:r>
              <a:rPr sz="850" lang="ja-JP">
                <a:solidFill>
                  <a:srgbClr val="626669"/>
                </a:solidFill>
                <a:latin typeface="Noto Sans CJK JP"/>
                <a:ea typeface="Noto Sans CJK JP"/>
              </a:rPr>
              <a:t> https://creativecommons.org/licenses/by-sa/4.0/</a:t>
            </a:r>
            <a:endParaRPr sz="85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まとめ</a:t>
            </a:r>
            <a:endParaRPr sz="2800" lang="ja-JP"/>
            <a:endParaRPr sz="2800"/>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defRPr sz="1400">
                <a:latin typeface="Noto Sans CJK JP"/>
              </a:defRPr>
              <a:buNone/>
            </a:pPr>
            <a:r>
              <a:rPr sz="1400" b="1" lang="ja-JP">
                <a:solidFill>
                  <a:srgbClr val="FFFEF8"/>
                </a:solidFill>
                <a:latin typeface="Noto Sans CJK JP"/>
                <a:ea typeface="Noto Sans CJK JP"/>
                <a:cs typeface="Noto Sans CJK JP"/>
              </a:rPr>
              <a:t>まとめ</a:t>
            </a:r>
            <a:endParaRPr sz="1400" lang="ja-JP"/>
          </a:p>
        </p:txBody>
      </p:sp>
      <p:sp>
        <p:nvSpPr>
          <p:cNvPr id="4" name="content-text"/>
          <p:cNvSpPr txBox="1"/>
          <p:nvPr/>
        </p:nvSpPr>
        <p:spPr>
          <a:xfrm>
            <a:off x="594360" y="1465897"/>
            <a:ext cx="8046720" cy="3086100"/>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2200">
                <a:latin typeface="Noto Sans CJK JP"/>
              </a:defRPr>
              <a:buChar char="•"/>
            </a:pPr>
            <a:r>
              <a:rPr sz="2200" b="0" lang="ja-JP">
                <a:solidFill>
                  <a:srgbClr val="303437"/>
                </a:solidFill>
                <a:latin typeface="Noto Sans CJK JP"/>
                <a:ea typeface="Noto Sans CJK JP"/>
                <a:cs typeface="Noto Sans CJK JP"/>
              </a:rPr>
              <a:t>SQuADは、英語の読解型質問応答データセット </a:t>
            </a:r>
            <a:r>
              <a:rPr sz="950" b="0" lang="ja-JP">
                <a:solidFill>
                  <a:srgbClr val="626669"/>
                </a:solidFill>
                <a:latin typeface="Noto Sans CJK JP"/>
                <a:ea typeface="Noto Sans CJK JP"/>
                <a:cs typeface="Noto Sans CJK JP"/>
              </a:rPr>
              <a:t>[1]</a:t>
            </a:r>
            <a:r>
              <a:rPr sz="2200" b="0" lang="ja-JP">
                <a:solidFill>
                  <a:srgbClr val="303437"/>
                </a:solidFill>
                <a:latin typeface="Noto Sans CJK JP"/>
                <a:ea typeface="Noto Sans CJK JP"/>
                <a:cs typeface="Noto Sans CJK JP"/>
              </a:rPr>
              <a:t>。</a:t>
            </a:r>
            <a:endParaRPr sz="2200" lang="ja-JP"/>
          </a:p>
          <a:p>
            <a:pPr lvl="1" algn="l" marL="482600" indent="-127000">
              <a:lnSpc>
                <a:spcPct val="113000"/>
              </a:lnSpc>
              <a:spcBef>
                <a:spcPts val="0"/>
              </a:spcBef>
              <a:spcAft>
                <a:spcPts val="400"/>
              </a:spcAft>
              <a:defRPr sz="2100">
                <a:latin typeface="Noto Sans CJK JP"/>
              </a:defRPr>
              <a:buChar char="○"/>
            </a:pPr>
            <a:r>
              <a:rPr sz="2100" b="0" lang="ja-JP">
                <a:solidFill>
                  <a:srgbClr val="303437"/>
                </a:solidFill>
                <a:latin typeface="Noto Sans CJK JP"/>
                <a:ea typeface="Noto Sans CJK JP"/>
                <a:cs typeface="Noto Sans CJK JP"/>
              </a:rPr>
              <a:t>Wikipediaの段落から、質問の答えとなる範囲を選ぶ。</a:t>
            </a:r>
            <a:endParaRPr sz="2100" lang="ja-JP"/>
          </a:p>
          <a:p>
            <a:pPr algn="l" marL="203200" indent="-152400">
              <a:lnSpc>
                <a:spcPct val="113000"/>
              </a:lnSpc>
              <a:spcBef>
                <a:spcPts val="0"/>
              </a:spcBef>
              <a:spcAft>
                <a:spcPts val="500"/>
              </a:spcAft>
              <a:defRPr sz="2200">
                <a:latin typeface="Noto Sans CJK JP"/>
              </a:defRPr>
              <a:buChar char="•"/>
            </a:pPr>
            <a:r>
              <a:rPr sz="2200" b="0" lang="ja-JP">
                <a:solidFill>
                  <a:srgbClr val="303437"/>
                </a:solidFill>
                <a:latin typeface="Noto Sans CJK JP"/>
                <a:ea typeface="Noto Sans CJK JP"/>
                <a:cs typeface="Noto Sans CJK JP"/>
              </a:rPr>
              <a:t>人手作成の質問を大規模に評価するため、2016年に発表。</a:t>
            </a:r>
            <a:endParaRPr sz="2200" lang="ja-JP"/>
          </a:p>
          <a:p>
            <a:pPr algn="l" marL="203200" indent="-152400">
              <a:lnSpc>
                <a:spcPct val="113000"/>
              </a:lnSpc>
              <a:spcBef>
                <a:spcPts val="0"/>
              </a:spcBef>
              <a:spcAft>
                <a:spcPts val="500"/>
              </a:spcAft>
              <a:defRPr sz="2200">
                <a:latin typeface="Noto Sans CJK JP"/>
              </a:defRPr>
              <a:buChar char="•"/>
            </a:pPr>
            <a:r>
              <a:rPr sz="2200" b="0" lang="ja-JP">
                <a:solidFill>
                  <a:srgbClr val="303437"/>
                </a:solidFill>
                <a:latin typeface="Noto Sans CJK JP"/>
                <a:ea typeface="Noto Sans CJK JP"/>
                <a:cs typeface="Noto Sans CJK JP"/>
              </a:rPr>
              <a:t>バージョン1.1では、回答可能な質問の答えを抽出。</a:t>
            </a:r>
            <a:endParaRPr sz="2200" lang="ja-JP"/>
          </a:p>
          <a:p>
            <a:pPr algn="l" marL="203200" indent="-152400">
              <a:lnSpc>
                <a:spcPct val="113000"/>
              </a:lnSpc>
              <a:spcBef>
                <a:spcPts val="0"/>
              </a:spcBef>
              <a:spcAft>
                <a:spcPts val="500"/>
              </a:spcAft>
              <a:defRPr sz="2200">
                <a:latin typeface="Noto Sans CJK JP"/>
              </a:defRPr>
              <a:buChar char="•"/>
            </a:pPr>
            <a:r>
              <a:rPr sz="2200" b="0" lang="ja-JP">
                <a:solidFill>
                  <a:srgbClr val="303437"/>
                </a:solidFill>
                <a:latin typeface="Noto Sans CJK JP"/>
                <a:ea typeface="Noto Sans CJK JP"/>
                <a:cs typeface="Noto Sans CJK JP"/>
              </a:rPr>
              <a:t>バージョン2.0では、回答不能な質問と回答保留を追加 </a:t>
            </a:r>
            <a:r>
              <a:rPr sz="950" b="0" lang="ja-JP">
                <a:solidFill>
                  <a:srgbClr val="626669"/>
                </a:solidFill>
                <a:latin typeface="Noto Sans CJK JP"/>
                <a:ea typeface="Noto Sans CJK JP"/>
                <a:cs typeface="Noto Sans CJK JP"/>
              </a:rPr>
              <a:t>[2]</a:t>
            </a:r>
            <a:r>
              <a:rPr sz="2200" b="0" lang="ja-JP">
                <a:solidFill>
                  <a:srgbClr val="303437"/>
                </a:solidFill>
                <a:latin typeface="Noto Sans CJK JP"/>
                <a:ea typeface="Noto Sans CJK JP"/>
                <a:cs typeface="Noto Sans CJK JP"/>
              </a:rPr>
              <a:t>。</a:t>
            </a:r>
            <a:endParaRPr sz="2200" lang="ja-JP"/>
          </a:p>
          <a:p>
            <a:pPr algn="l" marL="203200" indent="-152400">
              <a:lnSpc>
                <a:spcPct val="113000"/>
              </a:lnSpc>
              <a:spcBef>
                <a:spcPts val="0"/>
              </a:spcBef>
              <a:spcAft>
                <a:spcPts val="500"/>
              </a:spcAft>
              <a:defRPr sz="2100">
                <a:latin typeface="Noto Sans CJK JP"/>
              </a:defRPr>
              <a:buChar char="•"/>
            </a:pPr>
            <a:r>
              <a:rPr sz="2100" b="0" lang="ja-JP">
                <a:solidFill>
                  <a:srgbClr val="303437"/>
                </a:solidFill>
                <a:latin typeface="Noto Sans CJK JP"/>
                <a:ea typeface="Noto Sans CJK JP"/>
                <a:cs typeface="Noto Sans CJK JP"/>
              </a:rPr>
              <a:t>EM・F1で評価。LLMにも利用され、評価条件の確認が必要。</a:t>
            </a:r>
            <a:endParaRPr sz="2100" lang="ja-JP"/>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初版は https://aclanthology.org/D16-1264/  バージョン2 https://aclanthology.org/P18-2124/</a:t>
            </a:r>
            <a:endParaRPr sz="85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Appendixの目次</a:t>
            </a:r>
            <a:endParaRPr sz="2800"/>
            <a:endParaRPr sz="2800"/>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defRPr sz="1400">
                <a:latin typeface="Noto Sans CJK JP"/>
              </a:defRPr>
              <a:buNone/>
            </a:pPr>
            <a:r>
              <a:rPr sz="1400" lang="ja-JP">
                <a:solidFill>
                  <a:srgbClr val="FFFEF8"/>
                </a:solidFill>
                <a:latin typeface="Noto Sans CJK JP"/>
                <a:ea typeface="Noto Sans CJK JP"/>
              </a:rPr>
              <a:t>Appendix: 補足資料の構成</a:t>
            </a:r>
            <a:endParaRPr sz="1400"/>
          </a:p>
        </p:txBody>
      </p:sp>
      <p:sp>
        <p:nvSpPr>
          <p:cNvPr id="4" name="TextBox 3"/>
          <p:cNvSpPr txBox="1"/>
          <p:nvPr/>
        </p:nvSpPr>
        <p:spPr>
          <a:xfrm>
            <a:off x="594360" y="1463040"/>
            <a:ext cx="7955279" cy="3383280"/>
          </a:xfrm>
          <a:prstGeom prst="rect">
            <a:avLst/>
          </a:prstGeom>
          <a:noFill/>
        </p:spPr>
        <p:txBody>
          <a:bodyPr wrap="square" lIns="0" rIns="0" tIns="0" bIns="0" anchor="t">
            <a:spAutoFit/>
          </a:bodyPr>
          <a:lstStyle/>
          <a:p>
            <a:pPr algn="l" marL="533400" indent="-482600">
              <a:lnSpc>
                <a:spcPct val="110000"/>
              </a:lnSpc>
              <a:spcBef>
                <a:spcPts val="0"/>
              </a:spcBef>
              <a:spcAft>
                <a:spcPts val="1200"/>
              </a:spcAft>
              <a:defRPr sz="2400">
                <a:latin typeface="Noto Sans CJK JP"/>
              </a:defRPr>
              <a:buAutoNum type="arabicPeriod" startAt="1"/>
            </a:pPr>
            <a:r>
              <a:rPr sz="2400">
                <a:solidFill>
                  <a:srgbClr val="303437"/>
                </a:solidFill>
                <a:latin typeface="Noto Sans CJK JP"/>
              </a:rPr>
              <a:t>著者と発表先</a:t>
            </a:r>
            <a:endParaRPr sz="2400"/>
          </a:p>
          <a:p>
            <a:pPr algn="l" marL="533400" indent="-482600">
              <a:lnSpc>
                <a:spcPct val="110000"/>
              </a:lnSpc>
              <a:spcBef>
                <a:spcPts val="0"/>
              </a:spcBef>
              <a:spcAft>
                <a:spcPts val="1200"/>
              </a:spcAft>
              <a:defRPr sz="2400">
                <a:latin typeface="Noto Sans CJK JP"/>
              </a:defRPr>
              <a:buAutoNum type="arabicPeriod" startAt="2"/>
            </a:pPr>
            <a:r>
              <a:rPr sz="2400">
                <a:solidFill>
                  <a:srgbClr val="303437"/>
                </a:solidFill>
                <a:latin typeface="Noto Sans CJK JP"/>
              </a:rPr>
              <a:t>追加の実例</a:t>
            </a:r>
            <a:endParaRPr sz="2400"/>
          </a:p>
          <a:p>
            <a:pPr algn="l" marL="533400" indent="-482600">
              <a:lnSpc>
                <a:spcPct val="110000"/>
              </a:lnSpc>
              <a:spcBef>
                <a:spcPts val="0"/>
              </a:spcBef>
              <a:spcAft>
                <a:spcPts val="1200"/>
              </a:spcAft>
              <a:defRPr sz="2400">
                <a:latin typeface="Noto Sans CJK JP"/>
              </a:defRPr>
              <a:buAutoNum type="arabicPeriod" startAt="3"/>
            </a:pPr>
            <a:r>
              <a:rPr sz="2400">
                <a:solidFill>
                  <a:srgbClr val="303437"/>
                </a:solidFill>
                <a:latin typeface="Noto Sans CJK JP"/>
              </a:rPr>
              <a:t>詳細統計と極値</a:t>
            </a:r>
            <a:endParaRPr sz="2400"/>
          </a:p>
          <a:p>
            <a:pPr algn="l" marL="533400" indent="-482600">
              <a:lnSpc>
                <a:spcPct val="110000"/>
              </a:lnSpc>
              <a:spcBef>
                <a:spcPts val="0"/>
              </a:spcBef>
              <a:spcAft>
                <a:spcPts val="1200"/>
              </a:spcAft>
              <a:defRPr sz="2400">
                <a:latin typeface="Noto Sans CJK JP"/>
              </a:defRPr>
              <a:buAutoNum type="arabicPeriod" startAt="4"/>
            </a:pPr>
            <a:r>
              <a:rPr sz="2400">
                <a:solidFill>
                  <a:srgbClr val="303437"/>
                </a:solidFill>
                <a:latin typeface="Noto Sans CJK JP"/>
              </a:rPr>
              <a:t>追加の評価結果</a:t>
            </a:r>
            <a:endParaRPr sz="2400"/>
          </a:p>
          <a:p>
            <a:pPr algn="l" marL="533400" indent="-482600">
              <a:lnSpc>
                <a:spcPct val="110000"/>
              </a:lnSpc>
              <a:spcBef>
                <a:spcPts val="0"/>
              </a:spcBef>
              <a:spcAft>
                <a:spcPts val="1200"/>
              </a:spcAft>
              <a:defRPr sz="2400">
                <a:latin typeface="Noto Sans CJK JP"/>
              </a:defRPr>
              <a:buAutoNum type="arabicPeriod" startAt="5"/>
            </a:pPr>
            <a:r>
              <a:rPr sz="2400">
                <a:solidFill>
                  <a:srgbClr val="303437"/>
                </a:solidFill>
                <a:latin typeface="Noto Sans CJK JP"/>
              </a:rPr>
              <a:t>Wikipedia記事一覧</a:t>
            </a:r>
            <a:endParaRPr sz="2400"/>
          </a:p>
          <a:p>
            <a:pPr algn="l" marL="533400" indent="-482600">
              <a:lnSpc>
                <a:spcPct val="110000"/>
              </a:lnSpc>
              <a:spcBef>
                <a:spcPts val="0"/>
              </a:spcBef>
              <a:spcAft>
                <a:spcPts val="1200"/>
              </a:spcAft>
              <a:defRPr sz="2400">
                <a:latin typeface="Noto Sans CJK JP"/>
              </a:defRPr>
              <a:buAutoNum type="arabicPeriod" startAt="6"/>
            </a:pPr>
            <a:r>
              <a:rPr sz="2400">
                <a:solidFill>
                  <a:srgbClr val="303437"/>
                </a:solidFill>
                <a:latin typeface="Noto Sans CJK JP"/>
              </a:rPr>
              <a:t>入手コードと参考文献</a:t>
            </a:r>
            <a:endParaRPr sz="240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発表先と著者</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1 著者と発表先</a:t>
            </a:r>
            <a:endParaRPr sz="1400" lang="ja-JP"/>
            <a:endParaRPr sz="1400"/>
          </a:p>
        </p:txBody>
      </p:sp>
      <p:sp>
        <p:nvSpPr>
          <p:cNvPr id="4" name="content-text"/>
          <p:cNvSpPr txBox="1"/>
          <p:nvPr/>
        </p:nvSpPr>
        <p:spPr>
          <a:xfrm>
            <a:off x="594360" y="1465897"/>
            <a:ext cx="8046720" cy="3086100"/>
          </a:xfrm>
          <a:prstGeom prst="rect">
            <a:avLst/>
          </a:prstGeom>
          <a:noFill/>
        </p:spPr>
        <p:txBody>
          <a:bodyPr wrap="square" anchor="t" lIns="0" rIns="0" tIns="0" bIns="0">
            <a:noAutofit/>
          </a:bodyPr>
          <a:lstStyle/>
          <a:p>
            <a:pPr algn="l" marL="186690" indent="-173355">
              <a:defRPr sz="2100">
                <a:latin typeface="Noto Sans CJK JP"/>
              </a:defRPr>
              <a:lnSpc>
                <a:spcPct val="110000"/>
              </a:lnSpc>
              <a:spcBef>
                <a:spcPts val="0"/>
              </a:spcBef>
              <a:spcAft>
                <a:spcPts val="500"/>
              </a:spcAft>
              <a:buChar char="•"/>
            </a:pPr>
            <a:r>
              <a:rPr sz="2100" lang="ja-JP">
                <a:solidFill>
                  <a:srgbClr val="303437"/>
                </a:solidFill>
                <a:latin typeface="Noto Sans CJK JP"/>
                <a:ea typeface="Noto Sans CJK JP"/>
              </a:rPr>
              <a:t>初版はPranav RajpurkarらがEMNLP 2016で発表した </a:t>
            </a:r>
            <a:r>
              <a:rPr sz="950" lang="ja-JP">
                <a:solidFill>
                  <a:srgbClr val="626669"/>
                </a:solidFill>
                <a:latin typeface="Noto Sans CJK JP"/>
                <a:ea typeface="Noto Sans CJK JP"/>
              </a:rPr>
              <a:t>[1]</a:t>
            </a:r>
            <a:r>
              <a:rPr sz="2100" lang="ja-JP">
                <a:solidFill>
                  <a:srgbClr val="303437"/>
                </a:solidFill>
                <a:latin typeface="Noto Sans CJK JP"/>
                <a:ea typeface="Noto Sans CJK JP"/>
              </a:rPr>
              <a:t>。</a:t>
            </a:r>
            <a:endParaRPr sz="2200" lang="ja-JP"/>
            <a:endParaRPr sz="2100"/>
            <a:endParaRPr sz="2100"/>
          </a:p>
          <a:p>
            <a:pPr algn="l" marL="186690" indent="-173355">
              <a:lnSpc>
                <a:spcPct val="110000"/>
              </a:lnSpc>
              <a:spcBef>
                <a:spcPts val="0"/>
              </a:spcBef>
              <a:spcAft>
                <a:spcPts val="500"/>
              </a:spcAft>
              <a:defRPr sz="2100">
                <a:latin typeface="Noto Sans CJK JP"/>
              </a:defRPr>
              <a:buChar char="•"/>
            </a:pPr>
            <a:r>
              <a:rPr sz="2100" lang="ja-JP">
                <a:solidFill>
                  <a:srgbClr val="303437"/>
                </a:solidFill>
                <a:latin typeface="Noto Sans CJK JP"/>
                <a:ea typeface="Noto Sans CJK JP"/>
              </a:rPr>
              <a:t>バージョン2は、2018年のACLで発表された </a:t>
            </a:r>
            <a:r>
              <a:rPr sz="950" lang="ja-JP">
                <a:solidFill>
                  <a:srgbClr val="626669"/>
                </a:solidFill>
                <a:latin typeface="Noto Sans CJK JP"/>
                <a:ea typeface="Noto Sans CJK JP"/>
              </a:rPr>
              <a:t>[2]</a:t>
            </a:r>
            <a:r>
              <a:rPr sz="2100" lang="ja-JP">
                <a:solidFill>
                  <a:srgbClr val="303437"/>
                </a:solidFill>
                <a:latin typeface="Noto Sans CJK JP"/>
                <a:ea typeface="Noto Sans CJK JP"/>
              </a:rPr>
              <a:t>。</a:t>
            </a:r>
            <a:endParaRPr sz="2100"/>
          </a:p>
          <a:p>
            <a:pPr algn="l" marL="186690" indent="-173355">
              <a:lnSpc>
                <a:spcPct val="110000"/>
              </a:lnSpc>
              <a:spcBef>
                <a:spcPts val="0"/>
              </a:spcBef>
              <a:spcAft>
                <a:spcPts val="500"/>
              </a:spcAft>
              <a:defRPr sz="2100">
                <a:latin typeface="Noto Sans CJK JP"/>
              </a:defRPr>
              <a:buChar char="•"/>
            </a:pPr>
            <a:r>
              <a:rPr sz="2100" lang="ja-JP">
                <a:solidFill>
                  <a:srgbClr val="303437"/>
                </a:solidFill>
                <a:latin typeface="Noto Sans CJK JP"/>
                <a:ea typeface="Noto Sans CJK JP"/>
              </a:rPr>
              <a:t>両論文の第一著者はPranav Rajpurkar、最終著者はPercy Liangである。</a:t>
            </a:r>
            <a:endParaRPr sz="2100"/>
          </a:p>
          <a:p>
            <a:pPr algn="l" marL="186690" indent="-173355">
              <a:lnSpc>
                <a:spcPct val="110000"/>
              </a:lnSpc>
              <a:spcBef>
                <a:spcPts val="0"/>
              </a:spcBef>
              <a:spcAft>
                <a:spcPts val="500"/>
              </a:spcAft>
              <a:defRPr sz="2100">
                <a:latin typeface="Noto Sans CJK JP"/>
              </a:defRPr>
              <a:buChar char="•"/>
            </a:pPr>
            <a:r>
              <a:rPr sz="2100" lang="ja-JP">
                <a:solidFill>
                  <a:srgbClr val="303437"/>
                </a:solidFill>
                <a:latin typeface="Noto Sans CJK JP"/>
                <a:ea typeface="Noto Sans CJK JP"/>
              </a:rPr>
              <a:t>2026年に初版がACL Test of Time Awardを受賞した </a:t>
            </a:r>
            <a:r>
              <a:rPr sz="950" lang="ja-JP">
                <a:solidFill>
                  <a:srgbClr val="626669"/>
                </a:solidFill>
                <a:latin typeface="Noto Sans CJK JP"/>
                <a:ea typeface="Noto Sans CJK JP"/>
              </a:rPr>
              <a:t>[1]</a:t>
            </a:r>
            <a:r>
              <a:rPr sz="2100" lang="ja-JP">
                <a:solidFill>
                  <a:srgbClr val="303437"/>
                </a:solidFill>
                <a:latin typeface="Noto Sans CJK JP"/>
                <a:ea typeface="Noto Sans CJK JP"/>
              </a:rPr>
              <a:t>。</a:t>
            </a:r>
            <a:endParaRPr sz="2100"/>
          </a:p>
        </p:txBody>
      </p:sp>
      <p:sp>
        <p:nvSpPr>
          <p:cNvPr id="5"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EMNLP 2016　https://aclanthology.org/D16-1264/</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[2]</a:t>
            </a:r>
            <a:r>
              <a:rPr sz="850" lang="ja-JP">
                <a:solidFill>
                  <a:srgbClr val="626669"/>
                </a:solidFill>
                <a:latin typeface="Noto Sans CJK JP"/>
                <a:ea typeface="Noto Sans CJK JP"/>
              </a:rPr>
              <a:t> ACL 2018 Short Papers　https://aclanthology.org/P18-2124/</a:t>
            </a:r>
            <a:endParaRPr sz="85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主な著者の研究分野と実績</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1 著者と発表先</a:t>
            </a:r>
            <a:endParaRPr sz="1400" lang="ja-JP"/>
            <a:endParaRPr sz="1400"/>
          </a:p>
        </p:txBody>
      </p:sp>
      <p:sp>
        <p:nvSpPr>
          <p:cNvPr id="4" name="content-text"/>
          <p:cNvSpPr txBox="1"/>
          <p:nvPr/>
        </p:nvSpPr>
        <p:spPr>
          <a:xfrm>
            <a:off x="594360" y="1543050"/>
            <a:ext cx="8046720" cy="2674620"/>
          </a:xfrm>
          <a:prstGeom prst="rect">
            <a:avLst/>
          </a:prstGeom>
          <a:noFill/>
        </p:spPr>
        <p:txBody>
          <a:bodyPr wrap="square" anchor="t" lIns="0" rIns="0" tIns="0" bIns="0">
            <a:noAutofit/>
          </a:bodyPr>
          <a:lstStyle/>
          <a:p>
            <a:pPr algn="l" marL="177800" indent="-165100">
              <a:lnSpc>
                <a:spcPct val="110000"/>
              </a:lnSpc>
              <a:spcBef>
                <a:spcPts val="0"/>
              </a:spcBef>
              <a:defRPr sz="2000">
                <a:latin typeface="Noto Sans CJK JP"/>
              </a:defRPr>
              <a:spcAft>
                <a:spcPts val="500"/>
              </a:spcAft>
              <a:buChar char="•"/>
            </a:pPr>
            <a:r>
              <a:rPr sz="2000" lang="ja-JP">
                <a:solidFill>
                  <a:srgbClr val="303437"/>
                </a:solidFill>
                <a:latin typeface="Noto Sans CJK JP"/>
                <a:ea typeface="Noto Sans CJK JP"/>
              </a:rPr>
              <a:t>第一著者のPranav Rajpurkarは、読解型QAと医療AIを研究している </a:t>
            </a:r>
            <a:r>
              <a:rPr sz="950" lang="ja-JP">
                <a:solidFill>
                  <a:srgbClr val="626669"/>
                </a:solidFill>
                <a:latin typeface="Noto Sans CJK JP"/>
                <a:ea typeface="Noto Sans CJK JP"/>
              </a:rPr>
              <a:t>[1,2]</a:t>
            </a:r>
            <a:r>
              <a:rPr sz="2000" lang="ja-JP">
                <a:solidFill>
                  <a:srgbClr val="303437"/>
                </a:solidFill>
                <a:latin typeface="Noto Sans CJK JP"/>
                <a:ea typeface="Noto Sans CJK JP"/>
              </a:rPr>
              <a:t>。</a:t>
            </a:r>
            <a:endParaRPr sz="2200" lang="ja-JP"/>
            <a:endParaRPr sz="2000"/>
          </a:p>
          <a:p>
            <a:pPr algn="l" marL="177800" indent="-165100">
              <a:lnSpc>
                <a:spcPct val="110000"/>
              </a:lnSpc>
              <a:spcBef>
                <a:spcPts val="0"/>
              </a:spcBef>
              <a:spcAft>
                <a:spcPts val="500"/>
              </a:spcAft>
              <a:defRPr sz="2000">
                <a:latin typeface="Noto Sans CJK JP"/>
              </a:defRPr>
              <a:buChar char="•"/>
            </a:pPr>
            <a:r>
              <a:rPr sz="2000" lang="ja-JP">
                <a:solidFill>
                  <a:srgbClr val="303437"/>
                </a:solidFill>
                <a:latin typeface="Noto Sans CJK JP"/>
                <a:ea typeface="Noto Sans CJK JP"/>
              </a:rPr>
              <a:t>SQuADと、胸部X線のデータセットCheXpertに貢献した（2019年） </a:t>
            </a:r>
            <a:r>
              <a:rPr sz="950" lang="ja-JP">
                <a:solidFill>
                  <a:srgbClr val="626669"/>
                </a:solidFill>
                <a:latin typeface="Noto Sans CJK JP"/>
                <a:ea typeface="Noto Sans CJK JP"/>
              </a:rPr>
              <a:t>[5]</a:t>
            </a:r>
            <a:r>
              <a:rPr sz="2000" lang="ja-JP">
                <a:solidFill>
                  <a:srgbClr val="303437"/>
                </a:solidFill>
                <a:latin typeface="Noto Sans CJK JP"/>
                <a:ea typeface="Noto Sans CJK JP"/>
              </a:rPr>
              <a:t>。</a:t>
            </a:r>
            <a:endParaRPr sz="2000"/>
          </a:p>
          <a:p>
            <a:pPr algn="l" marL="177800" indent="-165100">
              <a:lnSpc>
                <a:spcPct val="110000"/>
              </a:lnSpc>
              <a:spcBef>
                <a:spcPts val="0"/>
              </a:spcBef>
              <a:spcAft>
                <a:spcPts val="500"/>
              </a:spcAft>
              <a:defRPr sz="2000">
                <a:latin typeface="Noto Sans CJK JP"/>
              </a:defRPr>
              <a:buChar char="•"/>
            </a:pPr>
            <a:r>
              <a:rPr sz="2000" lang="ja-JP">
                <a:solidFill>
                  <a:srgbClr val="303437"/>
                </a:solidFill>
                <a:latin typeface="Noto Sans CJK JP"/>
                <a:ea typeface="Noto Sans CJK JP"/>
              </a:rPr>
              <a:t>最終著者のPercy Liangは、自然言語処理・機械学習を研究している。</a:t>
            </a:r>
            <a:endParaRPr sz="2000"/>
          </a:p>
          <a:p>
            <a:pPr algn="l" marL="177800" indent="-165100">
              <a:lnSpc>
                <a:spcPct val="110000"/>
              </a:lnSpc>
              <a:spcBef>
                <a:spcPts val="0"/>
              </a:spcBef>
              <a:spcAft>
                <a:spcPts val="500"/>
              </a:spcAft>
              <a:defRPr sz="2000">
                <a:latin typeface="Noto Sans CJK JP"/>
              </a:defRPr>
              <a:buChar char="•"/>
            </a:pPr>
            <a:r>
              <a:rPr sz="2000" lang="ja-JP">
                <a:solidFill>
                  <a:srgbClr val="303437"/>
                </a:solidFill>
                <a:latin typeface="Noto Sans CJK JP"/>
                <a:ea typeface="Noto Sans CJK JP"/>
              </a:rPr>
              <a:t>SQuADと、言語モデルを幅広く評価するHELMに取り組んだ </a:t>
            </a:r>
            <a:r>
              <a:rPr sz="950" lang="ja-JP">
                <a:solidFill>
                  <a:srgbClr val="626669"/>
                </a:solidFill>
                <a:latin typeface="Noto Sans CJK JP"/>
                <a:ea typeface="Noto Sans CJK JP"/>
              </a:rPr>
              <a:t>[3]</a:t>
            </a:r>
            <a:r>
              <a:rPr sz="2000" lang="ja-JP">
                <a:solidFill>
                  <a:srgbClr val="303437"/>
                </a:solidFill>
                <a:latin typeface="Noto Sans CJK JP"/>
                <a:ea typeface="Noto Sans CJK JP"/>
              </a:rPr>
              <a:t>。</a:t>
            </a:r>
            <a:endParaRPr sz="2000"/>
          </a:p>
        </p:txBody>
      </p:sp>
      <p:sp>
        <p:nvSpPr>
          <p:cNvPr id="5" name="lookup-sources"/>
          <p:cNvSpPr txBox="1"/>
          <p:nvPr/>
        </p:nvSpPr>
        <p:spPr>
          <a:xfrm>
            <a:off x="502920" y="4612640"/>
            <a:ext cx="8183879" cy="47142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https://aclanthology.org/D16-1264/  </a:t>
            </a:r>
            <a:r>
              <a:rPr sz="850" lang="ja-JP">
                <a:solidFill>
                  <a:srgbClr val="626669"/>
                </a:solidFill>
                <a:latin typeface="Noto Sans CJK JP"/>
                <a:ea typeface="Noto Sans CJK JP"/>
              </a:rPr>
              <a:t>[2]</a:t>
            </a:r>
            <a:r>
              <a:rPr sz="850" lang="ja-JP">
                <a:solidFill>
                  <a:srgbClr val="626669"/>
                </a:solidFill>
                <a:latin typeface="Noto Sans CJK JP"/>
                <a:ea typeface="Noto Sans CJK JP"/>
              </a:rPr>
              <a:t> https://aclanthology.org/P18-2124/</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[3]</a:t>
            </a:r>
            <a:r>
              <a:rPr sz="850" lang="ja-JP">
                <a:solidFill>
                  <a:srgbClr val="626669"/>
                </a:solidFill>
                <a:latin typeface="Noto Sans CJK JP"/>
                <a:ea typeface="Noto Sans CJK JP"/>
              </a:rPr>
              <a:t> https://github.com/stanford-crfm/helm</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[5]</a:t>
            </a:r>
            <a:r>
              <a:rPr sz="850" lang="ja-JP">
                <a:solidFill>
                  <a:srgbClr val="626669"/>
                </a:solidFill>
                <a:latin typeface="Noto Sans CJK JP"/>
                <a:ea typeface="Noto Sans CJK JP"/>
              </a:rPr>
              <a:t> https://github.com/stanfordmlgroup/chexpert-labeler</a:t>
            </a:r>
            <a:endParaRPr sz="85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補足実例1 Apollo program</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2 追加の実例</a:t>
            </a:r>
            <a:endParaRPr sz="1400" lang="ja-JP"/>
            <a:endParaRPr sz="1400"/>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626669"/>
                </a:solidFill>
                <a:latin typeface="Noto Sans CJK JP"/>
                <a:ea typeface="Noto Sans CJK JP"/>
              </a:rPr>
              <a:t>Wikipedia記事の段落（抜粋）</a:t>
            </a:r>
            <a:endParaRPr sz="1400" lang="ja-JP"/>
            <a:endParaRPr sz="1400"/>
          </a:p>
        </p:txBody>
      </p:sp>
      <p:sp>
        <p:nvSpPr>
          <p:cNvPr id="5" name="quote-frame"/>
          <p:cNvSpPr/>
          <p:nvPr/>
        </p:nvSpPr>
        <p:spPr>
          <a:xfrm>
            <a:off x="548640" y="1715797"/>
            <a:ext cx="8046720" cy="45831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defRPr sz="1800">
                <a:latin typeface="Liberation Sans"/>
              </a:defRPr>
              <a:buNone/>
            </a:pPr>
            <a:r>
              <a:rPr sz="1800" b="0" lang="ja-JP">
                <a:solidFill>
                  <a:srgbClr val="303437"/>
                </a:solidFill>
                <a:latin typeface="Liberation Sans"/>
                <a:ea typeface="Liberation Sans"/>
                <a:cs typeface="Liberation Sans"/>
              </a:rPr>
              <a:t>The first manned flight of Apollo was in </a:t>
            </a:r>
            <a:r>
              <a:rPr sz="1800" b="1" lang="ja-JP">
                <a:solidFill>
                  <a:srgbClr val="B13731"/>
                </a:solidFill>
                <a:latin typeface="Liberation Sans"/>
                <a:ea typeface="Liberation Sans"/>
                <a:cs typeface="Liberation Sans"/>
              </a:rPr>
              <a:t>1968</a:t>
            </a:r>
            <a:r>
              <a:rPr sz="1800" b="0" lang="ja-JP">
                <a:solidFill>
                  <a:srgbClr val="303437"/>
                </a:solidFill>
                <a:latin typeface="Liberation Sans"/>
                <a:ea typeface="Liberation Sans"/>
                <a:cs typeface="Liberation Sans"/>
              </a:rPr>
              <a:t>.</a:t>
            </a:r>
            <a:endParaRPr sz="1800" lang="ja-JP"/>
          </a:p>
        </p:txBody>
      </p:sp>
      <p:sp>
        <p:nvSpPr>
          <p:cNvPr id="7" name="example-question"/>
          <p:cNvSpPr txBox="1"/>
          <p:nvPr/>
        </p:nvSpPr>
        <p:spPr>
          <a:xfrm>
            <a:off x="548640" y="23773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defRPr sz="1900">
                <a:latin typeface="Noto Sans CJK JP"/>
              </a:defRPr>
              <a:buNone/>
            </a:pPr>
            <a:r>
              <a:rPr sz="1900" b="1" lang="ja-JP">
                <a:solidFill>
                  <a:srgbClr val="303437"/>
                </a:solidFill>
                <a:latin typeface="Noto Sans CJK JP"/>
                <a:ea typeface="Noto Sans CJK JP"/>
                <a:cs typeface="Noto Sans CJK JP"/>
              </a:rPr>
              <a:t>質問 </a:t>
            </a:r>
            <a:r>
              <a:rPr sz="1900" b="0" lang="ja-JP">
                <a:solidFill>
                  <a:srgbClr val="303437"/>
                </a:solidFill>
                <a:latin typeface="Liberation Sans"/>
                <a:ea typeface="Liberation Sans"/>
                <a:cs typeface="Liberation Sans"/>
              </a:rPr>
              <a:t>What year did the first manned Apollo flight occur?</a:t>
            </a:r>
            <a:endParaRPr sz="1900" lang="ja-JP"/>
          </a:p>
          <a:p>
            <a:pPr algn="l" marL="0" indent="0">
              <a:lnSpc>
                <a:spcPct val="110000"/>
              </a:lnSpc>
              <a:spcBef>
                <a:spcPts val="0"/>
              </a:spcBef>
              <a:spcAft>
                <a:spcPts val="600"/>
              </a:spcAft>
              <a:defRPr sz="1700">
                <a:latin typeface="Noto Sans CJK JP"/>
              </a:defRPr>
              <a:buNone/>
            </a:pPr>
            <a:r>
              <a:rPr sz="1700" b="0" lang="ja-JP">
                <a:solidFill>
                  <a:srgbClr val="626669"/>
                </a:solidFill>
                <a:latin typeface="Noto Sans CJK JP"/>
                <a:ea typeface="Noto Sans CJK JP"/>
                <a:cs typeface="Noto Sans CJK JP"/>
              </a:rPr>
              <a:t>質問の日本語訳 アポロ計画の最初の有人飛行が行われたのは何年か？</a:t>
            </a:r>
            <a:endParaRPr sz="1700" lang="ja-JP"/>
          </a:p>
        </p:txBody>
      </p:sp>
      <p:sp>
        <p:nvSpPr>
          <p:cNvPr id="8" name="example-answer"/>
          <p:cNvSpPr txBox="1"/>
          <p:nvPr/>
        </p:nvSpPr>
        <p:spPr>
          <a:xfrm>
            <a:off x="548640" y="30250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defRPr sz="2200">
                <a:latin typeface="Noto Sans CJK JP"/>
              </a:defRPr>
              <a:buNone/>
            </a:pPr>
            <a:r>
              <a:rPr sz="2200" b="1" lang="ja-JP">
                <a:solidFill>
                  <a:srgbClr val="B13731"/>
                </a:solidFill>
                <a:latin typeface="Noto Sans CJK JP"/>
                <a:ea typeface="Noto Sans CJK JP"/>
                <a:cs typeface="Noto Sans CJK JP"/>
              </a:rPr>
              <a:t>正解は 1968</a:t>
            </a:r>
            <a:endParaRPr sz="2200" lang="ja-JP"/>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SQuAD バージョン1.1 / dev / 記事名 Apollo_program　https://rajpurkar.github.io/SQuAD-explorer/dataset/dev-v1.1.json（CC BY-SA 4.0／抜粋・強調・質問訳を追加）　ID 5725b41838643c19005acb81</a:t>
            </a:r>
            <a:endParaRPr sz="85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補足実例2 Amazon rainforest</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2 追加の実例</a:t>
            </a:r>
            <a:endParaRPr sz="1400" lang="ja-JP"/>
            <a:endParaRPr sz="1400"/>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626669"/>
                </a:solidFill>
                <a:latin typeface="Noto Sans CJK JP"/>
                <a:ea typeface="Noto Sans CJK JP"/>
              </a:rPr>
              <a:t>Wikipedia記事の段落（抜粋）</a:t>
            </a:r>
            <a:endParaRPr sz="1400" lang="ja-JP"/>
            <a:endParaRPr sz="1400"/>
          </a:p>
        </p:txBody>
      </p:sp>
      <p:sp>
        <p:nvSpPr>
          <p:cNvPr id="5" name="quote-frame"/>
          <p:cNvSpPr/>
          <p:nvPr/>
        </p:nvSpPr>
        <p:spPr>
          <a:xfrm>
            <a:off x="548640" y="1715797"/>
            <a:ext cx="8046720" cy="134607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defRPr sz="1800">
                <a:latin typeface="Liberation Sans"/>
              </a:defRPr>
              <a:buNone/>
            </a:pPr>
            <a:r>
              <a:rPr sz="1800" b="0" lang="ja-JP">
                <a:solidFill>
                  <a:srgbClr val="303437"/>
                </a:solidFill>
                <a:latin typeface="Liberation Sans"/>
                <a:ea typeface="Liberation Sans"/>
                <a:cs typeface="Liberation Sans"/>
              </a:rPr>
              <a:t>This region includes territory belonging to </a:t>
            </a:r>
            <a:r>
              <a:rPr sz="1800" b="1" lang="ja-JP">
                <a:solidFill>
                  <a:srgbClr val="B13731"/>
                </a:solidFill>
                <a:latin typeface="Liberation Sans"/>
                <a:ea typeface="Liberation Sans"/>
                <a:cs typeface="Liberation Sans"/>
              </a:rPr>
              <a:t>nine nations</a:t>
            </a:r>
            <a:r>
              <a:rPr sz="1800" b="0" lang="ja-JP">
                <a:solidFill>
                  <a:srgbClr val="303437"/>
                </a:solidFill>
                <a:latin typeface="Liberation Sans"/>
                <a:ea typeface="Liberation Sans"/>
                <a:cs typeface="Liberation Sans"/>
              </a:rPr>
              <a:t>. The majority of the forest is contained within Brazil, with 60% of the rainforest, followed by Peru with 13%, Colombia with 10%, and with minor amounts in Venezuela, Ecuador, Bolivia, Guyana, Suriname and French Guiana.</a:t>
            </a:r>
            <a:endParaRPr sz="1800" lang="ja-JP"/>
          </a:p>
        </p:txBody>
      </p:sp>
      <p:sp>
        <p:nvSpPr>
          <p:cNvPr id="7" name="example-question"/>
          <p:cNvSpPr txBox="1"/>
          <p:nvPr/>
        </p:nvSpPr>
        <p:spPr>
          <a:xfrm>
            <a:off x="548640" y="326507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defRPr sz="1900">
                <a:latin typeface="Noto Sans CJK JP"/>
              </a:defRPr>
              <a:buNone/>
            </a:pPr>
            <a:r>
              <a:rPr sz="1900" b="1" lang="ja-JP">
                <a:solidFill>
                  <a:srgbClr val="303437"/>
                </a:solidFill>
                <a:latin typeface="Noto Sans CJK JP"/>
                <a:ea typeface="Noto Sans CJK JP"/>
                <a:cs typeface="Noto Sans CJK JP"/>
              </a:rPr>
              <a:t>質問 </a:t>
            </a:r>
            <a:r>
              <a:rPr sz="1900" b="0" lang="ja-JP">
                <a:solidFill>
                  <a:srgbClr val="303437"/>
                </a:solidFill>
                <a:latin typeface="Liberation Sans"/>
                <a:ea typeface="Liberation Sans"/>
                <a:cs typeface="Liberation Sans"/>
              </a:rPr>
              <a:t>How many nations are within the Amazon Basin?</a:t>
            </a:r>
            <a:endParaRPr sz="1900" lang="ja-JP"/>
          </a:p>
          <a:p>
            <a:pPr algn="l" marL="0" indent="0">
              <a:lnSpc>
                <a:spcPct val="110000"/>
              </a:lnSpc>
              <a:spcBef>
                <a:spcPts val="0"/>
              </a:spcBef>
              <a:spcAft>
                <a:spcPts val="600"/>
              </a:spcAft>
              <a:defRPr sz="1700">
                <a:latin typeface="Noto Sans CJK JP"/>
              </a:defRPr>
              <a:buNone/>
            </a:pPr>
            <a:r>
              <a:rPr sz="1700" b="0" lang="ja-JP">
                <a:solidFill>
                  <a:srgbClr val="626669"/>
                </a:solidFill>
                <a:latin typeface="Noto Sans CJK JP"/>
                <a:ea typeface="Noto Sans CJK JP"/>
                <a:cs typeface="Noto Sans CJK JP"/>
              </a:rPr>
              <a:t>質問の日本語訳 アマゾン盆地には何か国が含まれるか？</a:t>
            </a:r>
            <a:endParaRPr sz="1700" lang="ja-JP"/>
          </a:p>
        </p:txBody>
      </p:sp>
      <p:sp>
        <p:nvSpPr>
          <p:cNvPr id="8" name="example-answer"/>
          <p:cNvSpPr txBox="1"/>
          <p:nvPr/>
        </p:nvSpPr>
        <p:spPr>
          <a:xfrm>
            <a:off x="548640" y="391277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defRPr sz="2200">
                <a:latin typeface="Noto Sans CJK JP"/>
              </a:defRPr>
              <a:buNone/>
            </a:pPr>
            <a:r>
              <a:rPr sz="2200" b="1" lang="ja-JP">
                <a:solidFill>
                  <a:srgbClr val="B13731"/>
                </a:solidFill>
                <a:latin typeface="Noto Sans CJK JP"/>
                <a:ea typeface="Noto Sans CJK JP"/>
                <a:cs typeface="Noto Sans CJK JP"/>
              </a:rPr>
              <a:t>正解は nine nations</a:t>
            </a:r>
            <a:endParaRPr sz="2200" lang="ja-JP"/>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SQuAD バージョン1.1 / dev / 記事名 Amazon_rainforest　https://rajpurkar.github.io/SQuAD-explorer/dataset/dev-v1.1.json（CC BY-SA 4.0／抜粋・強調・質問訳を追加）　ID 5729e2316aef0514001550c6</a:t>
            </a:r>
            <a:endParaRPr sz="85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補足実例3 Prime number</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2 追加の実例</a:t>
            </a:r>
            <a:endParaRPr sz="1400" lang="ja-JP"/>
            <a:endParaRPr sz="1400"/>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626669"/>
                </a:solidFill>
                <a:latin typeface="Noto Sans CJK JP"/>
                <a:ea typeface="Noto Sans CJK JP"/>
              </a:rPr>
              <a:t>Wikipedia記事の段落（抜粋）</a:t>
            </a:r>
            <a:endParaRPr sz="1400" lang="ja-JP"/>
            <a:endParaRPr sz="1400"/>
          </a:p>
        </p:txBody>
      </p:sp>
      <p:sp>
        <p:nvSpPr>
          <p:cNvPr id="5" name="quote-frame"/>
          <p:cNvSpPr/>
          <p:nvPr/>
        </p:nvSpPr>
        <p:spPr>
          <a:xfrm>
            <a:off x="548640" y="1715797"/>
            <a:ext cx="8046720" cy="105016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defRPr sz="1800">
                <a:latin typeface="Liberation Sans"/>
              </a:defRPr>
              <a:buNone/>
            </a:pPr>
            <a:r>
              <a:rPr sz="1800" b="0" lang="ja-JP">
                <a:solidFill>
                  <a:srgbClr val="303437"/>
                </a:solidFill>
                <a:latin typeface="Liberation Sans"/>
                <a:ea typeface="Liberation Sans"/>
                <a:cs typeface="Liberation Sans"/>
              </a:rPr>
              <a:t>A prime number (or a prime) is a natural number greater than 1 that has no positive divisors other than 1 and </a:t>
            </a:r>
            <a:r>
              <a:rPr sz="1800" b="1" lang="ja-JP">
                <a:solidFill>
                  <a:srgbClr val="B13731"/>
                </a:solidFill>
                <a:latin typeface="Liberation Sans"/>
                <a:ea typeface="Liberation Sans"/>
                <a:cs typeface="Liberation Sans"/>
              </a:rPr>
              <a:t>itself</a:t>
            </a:r>
            <a:r>
              <a:rPr sz="1800" b="0" lang="ja-JP">
                <a:solidFill>
                  <a:srgbClr val="303437"/>
                </a:solidFill>
                <a:latin typeface="Liberation Sans"/>
                <a:ea typeface="Liberation Sans"/>
                <a:cs typeface="Liberation Sans"/>
              </a:rPr>
              <a:t>. A natural number greater than 1 that is not a prime number is called a composite number.</a:t>
            </a:r>
            <a:endParaRPr sz="1800" lang="ja-JP"/>
          </a:p>
        </p:txBody>
      </p:sp>
      <p:sp>
        <p:nvSpPr>
          <p:cNvPr id="7" name="example-question"/>
          <p:cNvSpPr txBox="1"/>
          <p:nvPr/>
        </p:nvSpPr>
        <p:spPr>
          <a:xfrm>
            <a:off x="548640" y="296916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defRPr sz="1900">
                <a:latin typeface="Noto Sans CJK JP"/>
              </a:defRPr>
              <a:buNone/>
            </a:pPr>
            <a:r>
              <a:rPr sz="1900" b="1" lang="ja-JP">
                <a:solidFill>
                  <a:srgbClr val="303437"/>
                </a:solidFill>
                <a:latin typeface="Noto Sans CJK JP"/>
                <a:ea typeface="Noto Sans CJK JP"/>
                <a:cs typeface="Noto Sans CJK JP"/>
              </a:rPr>
              <a:t>質問 </a:t>
            </a:r>
            <a:r>
              <a:rPr sz="1900" b="0" lang="ja-JP">
                <a:solidFill>
                  <a:srgbClr val="303437"/>
                </a:solidFill>
                <a:latin typeface="Liberation Sans"/>
                <a:ea typeface="Liberation Sans"/>
                <a:cs typeface="Liberation Sans"/>
              </a:rPr>
              <a:t>What is the only divisor besides 1 that a prime number can have?</a:t>
            </a:r>
            <a:endParaRPr sz="1900" lang="ja-JP"/>
          </a:p>
          <a:p>
            <a:pPr algn="l" marL="0" indent="0">
              <a:lnSpc>
                <a:spcPct val="110000"/>
              </a:lnSpc>
              <a:spcBef>
                <a:spcPts val="0"/>
              </a:spcBef>
              <a:spcAft>
                <a:spcPts val="600"/>
              </a:spcAft>
              <a:defRPr sz="1700">
                <a:latin typeface="Noto Sans CJK JP"/>
              </a:defRPr>
              <a:buNone/>
            </a:pPr>
            <a:r>
              <a:rPr sz="1700" b="0" lang="ja-JP">
                <a:solidFill>
                  <a:srgbClr val="626669"/>
                </a:solidFill>
                <a:latin typeface="Noto Sans CJK JP"/>
                <a:ea typeface="Noto Sans CJK JP"/>
                <a:cs typeface="Noto Sans CJK JP"/>
              </a:rPr>
              <a:t>質問の日本語訳 素数が1以外に持つことのできる約数は何か？</a:t>
            </a:r>
            <a:endParaRPr sz="1700" lang="ja-JP"/>
          </a:p>
        </p:txBody>
      </p:sp>
      <p:sp>
        <p:nvSpPr>
          <p:cNvPr id="8" name="example-answer"/>
          <p:cNvSpPr txBox="1"/>
          <p:nvPr/>
        </p:nvSpPr>
        <p:spPr>
          <a:xfrm>
            <a:off x="548640" y="361686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defRPr sz="2200">
                <a:latin typeface="Noto Sans CJK JP"/>
              </a:defRPr>
              <a:buNone/>
            </a:pPr>
            <a:r>
              <a:rPr sz="2200" b="1" lang="ja-JP">
                <a:solidFill>
                  <a:srgbClr val="B13731"/>
                </a:solidFill>
                <a:latin typeface="Noto Sans CJK JP"/>
                <a:ea typeface="Noto Sans CJK JP"/>
                <a:cs typeface="Noto Sans CJK JP"/>
              </a:rPr>
              <a:t>正解は itself</a:t>
            </a:r>
            <a:endParaRPr sz="2200" lang="ja-JP"/>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SQuAD バージョン1.1 / dev / 記事名 Prime_number　https://rajpurkar.github.io/SQuAD-explorer/dataset/dev-v1.1.json（CC BY-SA 4.0／抜粋・強調・質問訳を追加）　ID 57296d571d04691400779413</a:t>
            </a:r>
            <a:endParaRPr sz="85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補足実例4 Black Death</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2 追加の実例</a:t>
            </a:r>
            <a:endParaRPr sz="1400" lang="ja-JP"/>
            <a:endParaRPr sz="1400"/>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626669"/>
                </a:solidFill>
                <a:latin typeface="Noto Sans CJK JP"/>
                <a:ea typeface="Noto Sans CJK JP"/>
              </a:rPr>
              <a:t>Wikipedia記事の段落（抜粋）</a:t>
            </a:r>
            <a:endParaRPr sz="1400" lang="ja-JP"/>
            <a:endParaRPr sz="1400"/>
          </a:p>
        </p:txBody>
      </p:sp>
      <p:sp>
        <p:nvSpPr>
          <p:cNvPr id="5" name="quote-frame"/>
          <p:cNvSpPr/>
          <p:nvPr/>
        </p:nvSpPr>
        <p:spPr>
          <a:xfrm>
            <a:off x="548640" y="1715797"/>
            <a:ext cx="8046720" cy="134607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defRPr sz="1800">
                <a:latin typeface="Liberation Sans"/>
              </a:defRPr>
              <a:buNone/>
            </a:pPr>
            <a:r>
              <a:rPr sz="1800" b="0" lang="ja-JP">
                <a:solidFill>
                  <a:srgbClr val="303437"/>
                </a:solidFill>
                <a:latin typeface="Liberation Sans"/>
                <a:ea typeface="Liberation Sans"/>
                <a:cs typeface="Liberation Sans"/>
              </a:rPr>
              <a:t>Spreading throughout the Mediterranean and Europe, the Black Death is estimated to have killed </a:t>
            </a:r>
            <a:r>
              <a:rPr sz="1800" b="1" lang="ja-JP">
                <a:solidFill>
                  <a:srgbClr val="B13731"/>
                </a:solidFill>
                <a:latin typeface="Liberation Sans"/>
                <a:ea typeface="Liberation Sans"/>
                <a:cs typeface="Liberation Sans"/>
              </a:rPr>
              <a:t>30–60% of Europe's total population</a:t>
            </a:r>
            <a:r>
              <a:rPr sz="1800" b="0" lang="ja-JP">
                <a:solidFill>
                  <a:srgbClr val="303437"/>
                </a:solidFill>
                <a:latin typeface="Liberation Sans"/>
                <a:ea typeface="Liberation Sans"/>
                <a:cs typeface="Liberation Sans"/>
              </a:rPr>
              <a:t>. In total, the plague reduced the world population from an estimated 450 million down to 350–375 million in the 14th century.</a:t>
            </a:r>
            <a:endParaRPr sz="1800" lang="ja-JP"/>
          </a:p>
        </p:txBody>
      </p:sp>
      <p:sp>
        <p:nvSpPr>
          <p:cNvPr id="7" name="example-question"/>
          <p:cNvSpPr txBox="1"/>
          <p:nvPr/>
        </p:nvSpPr>
        <p:spPr>
          <a:xfrm>
            <a:off x="548640" y="326507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defRPr sz="1900">
                <a:latin typeface="Noto Sans CJK JP"/>
              </a:defRPr>
              <a:buNone/>
            </a:pPr>
            <a:r>
              <a:rPr sz="1900" b="1" lang="ja-JP">
                <a:solidFill>
                  <a:srgbClr val="303437"/>
                </a:solidFill>
                <a:latin typeface="Noto Sans CJK JP"/>
                <a:ea typeface="Noto Sans CJK JP"/>
                <a:cs typeface="Noto Sans CJK JP"/>
              </a:rPr>
              <a:t>質問 </a:t>
            </a:r>
            <a:r>
              <a:rPr sz="1900" b="0" lang="ja-JP">
                <a:solidFill>
                  <a:srgbClr val="303437"/>
                </a:solidFill>
                <a:latin typeface="Liberation Sans"/>
                <a:ea typeface="Liberation Sans"/>
                <a:cs typeface="Liberation Sans"/>
              </a:rPr>
              <a:t>How much of the European population did the black death kill?</a:t>
            </a:r>
            <a:endParaRPr sz="1900" lang="ja-JP"/>
          </a:p>
          <a:p>
            <a:pPr algn="l" marL="0" indent="0">
              <a:lnSpc>
                <a:spcPct val="110000"/>
              </a:lnSpc>
              <a:spcBef>
                <a:spcPts val="0"/>
              </a:spcBef>
              <a:spcAft>
                <a:spcPts val="600"/>
              </a:spcAft>
              <a:defRPr sz="1700">
                <a:latin typeface="Noto Sans CJK JP"/>
              </a:defRPr>
              <a:buNone/>
            </a:pPr>
            <a:r>
              <a:rPr sz="1700" b="0" lang="ja-JP">
                <a:solidFill>
                  <a:srgbClr val="626669"/>
                </a:solidFill>
                <a:latin typeface="Noto Sans CJK JP"/>
                <a:ea typeface="Noto Sans CJK JP"/>
                <a:cs typeface="Noto Sans CJK JP"/>
              </a:rPr>
              <a:t>質問の日本語訳 黒死病でヨーロッパ人口のどのくらいが死亡したか？</a:t>
            </a:r>
            <a:endParaRPr sz="1700" lang="ja-JP"/>
          </a:p>
        </p:txBody>
      </p:sp>
      <p:sp>
        <p:nvSpPr>
          <p:cNvPr id="8" name="example-answer"/>
          <p:cNvSpPr txBox="1"/>
          <p:nvPr/>
        </p:nvSpPr>
        <p:spPr>
          <a:xfrm>
            <a:off x="548640" y="391277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defRPr sz="2200">
                <a:latin typeface="Noto Sans CJK JP"/>
              </a:defRPr>
              <a:buNone/>
            </a:pPr>
            <a:r>
              <a:rPr sz="2200" b="1" lang="ja-JP">
                <a:solidFill>
                  <a:srgbClr val="B13731"/>
                </a:solidFill>
                <a:latin typeface="Noto Sans CJK JP"/>
                <a:ea typeface="Noto Sans CJK JP"/>
                <a:cs typeface="Noto Sans CJK JP"/>
              </a:rPr>
              <a:t>正解は 30–60% of Europe's total population</a:t>
            </a:r>
            <a:endParaRPr sz="2200" lang="ja-JP"/>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SQuAD バージョン1.1 / dev / 記事名 Black_Death　https://rajpurkar.github.io/SQuAD-explorer/dataset/dev-v1.1.json（CC BY-SA 4.0／抜粋・強調・質問訳を追加）　ID 57264684708984140094c125</a:t>
            </a:r>
            <a:endParaRPr sz="85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補足実例5 Warsaw</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2 追加の実例</a:t>
            </a:r>
            <a:endParaRPr sz="1400" lang="ja-JP"/>
            <a:endParaRPr sz="1400"/>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626669"/>
                </a:solidFill>
                <a:latin typeface="Noto Sans CJK JP"/>
                <a:ea typeface="Noto Sans CJK JP"/>
              </a:rPr>
              <a:t>Wikipedia記事の段落（抜粋）</a:t>
            </a:r>
            <a:endParaRPr sz="1400" lang="ja-JP"/>
            <a:endParaRPr sz="1400"/>
          </a:p>
        </p:txBody>
      </p:sp>
      <p:sp>
        <p:nvSpPr>
          <p:cNvPr id="5" name="quote-frame"/>
          <p:cNvSpPr/>
          <p:nvPr/>
        </p:nvSpPr>
        <p:spPr>
          <a:xfrm>
            <a:off x="548640" y="1715797"/>
            <a:ext cx="8046720" cy="134607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defRPr sz="1800">
                <a:latin typeface="Liberation Sans"/>
              </a:defRPr>
              <a:buNone/>
            </a:pPr>
            <a:r>
              <a:rPr sz="1800" b="0" lang="ja-JP">
                <a:solidFill>
                  <a:srgbClr val="303437"/>
                </a:solidFill>
                <a:latin typeface="Liberation Sans"/>
                <a:ea typeface="Liberation Sans"/>
                <a:cs typeface="Liberation Sans"/>
              </a:rPr>
              <a:t>One of the most famous people born in Warsaw was Maria Skłodowska-Curie, who achieved international recognition for her research on radioactivity and was the first female recipient of the </a:t>
            </a:r>
            <a:r>
              <a:rPr sz="1800" b="1" lang="ja-JP">
                <a:solidFill>
                  <a:srgbClr val="B13731"/>
                </a:solidFill>
                <a:latin typeface="Liberation Sans"/>
                <a:ea typeface="Liberation Sans"/>
                <a:cs typeface="Liberation Sans"/>
              </a:rPr>
              <a:t>Nobel Prize</a:t>
            </a:r>
            <a:r>
              <a:rPr sz="1800" b="0" lang="ja-JP">
                <a:solidFill>
                  <a:srgbClr val="303437"/>
                </a:solidFill>
                <a:latin typeface="Liberation Sans"/>
                <a:ea typeface="Liberation Sans"/>
                <a:cs typeface="Liberation Sans"/>
              </a:rPr>
              <a:t>. Famous musicians include Władysław Szpilman and Frédéric Chopin.</a:t>
            </a:r>
            <a:endParaRPr sz="1800" lang="ja-JP"/>
          </a:p>
        </p:txBody>
      </p:sp>
      <p:sp>
        <p:nvSpPr>
          <p:cNvPr id="7" name="example-question"/>
          <p:cNvSpPr txBox="1"/>
          <p:nvPr/>
        </p:nvSpPr>
        <p:spPr>
          <a:xfrm>
            <a:off x="548640" y="326507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defRPr sz="1900">
                <a:latin typeface="Noto Sans CJK JP"/>
              </a:defRPr>
              <a:buNone/>
            </a:pPr>
            <a:r>
              <a:rPr sz="1900" b="1" lang="ja-JP">
                <a:solidFill>
                  <a:srgbClr val="303437"/>
                </a:solidFill>
                <a:latin typeface="Noto Sans CJK JP"/>
                <a:ea typeface="Noto Sans CJK JP"/>
                <a:cs typeface="Noto Sans CJK JP"/>
              </a:rPr>
              <a:t>質問 </a:t>
            </a:r>
            <a:r>
              <a:rPr sz="1900" b="0" lang="ja-JP">
                <a:solidFill>
                  <a:srgbClr val="303437"/>
                </a:solidFill>
                <a:latin typeface="Liberation Sans"/>
                <a:ea typeface="Liberation Sans"/>
                <a:cs typeface="Liberation Sans"/>
              </a:rPr>
              <a:t>What was Maria Curie the first female recipient of?</a:t>
            </a:r>
            <a:endParaRPr sz="1900" lang="ja-JP"/>
          </a:p>
          <a:p>
            <a:pPr algn="l" marL="0" indent="0">
              <a:lnSpc>
                <a:spcPct val="110000"/>
              </a:lnSpc>
              <a:spcBef>
                <a:spcPts val="0"/>
              </a:spcBef>
              <a:spcAft>
                <a:spcPts val="600"/>
              </a:spcAft>
              <a:defRPr sz="1700">
                <a:latin typeface="Noto Sans CJK JP"/>
              </a:defRPr>
              <a:buNone/>
            </a:pPr>
            <a:r>
              <a:rPr sz="1700" b="0" lang="ja-JP">
                <a:solidFill>
                  <a:srgbClr val="626669"/>
                </a:solidFill>
                <a:latin typeface="Noto Sans CJK JP"/>
                <a:ea typeface="Noto Sans CJK JP"/>
                <a:cs typeface="Noto Sans CJK JP"/>
              </a:rPr>
              <a:t>質問の日本語訳 マリ・キュリーが女性として初めて受賞した賞は何か？</a:t>
            </a:r>
            <a:endParaRPr sz="1700" lang="ja-JP"/>
          </a:p>
        </p:txBody>
      </p:sp>
      <p:sp>
        <p:nvSpPr>
          <p:cNvPr id="8" name="example-answer"/>
          <p:cNvSpPr txBox="1"/>
          <p:nvPr/>
        </p:nvSpPr>
        <p:spPr>
          <a:xfrm>
            <a:off x="548640" y="391277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defRPr sz="2200">
                <a:latin typeface="Noto Sans CJK JP"/>
              </a:defRPr>
              <a:buNone/>
            </a:pPr>
            <a:r>
              <a:rPr sz="2200" b="1" lang="ja-JP">
                <a:solidFill>
                  <a:srgbClr val="B13731"/>
                </a:solidFill>
                <a:latin typeface="Noto Sans CJK JP"/>
                <a:ea typeface="Noto Sans CJK JP"/>
                <a:cs typeface="Noto Sans CJK JP"/>
              </a:rPr>
              <a:t>正解は Nobel Prize</a:t>
            </a:r>
            <a:endParaRPr sz="2200" lang="ja-JP"/>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SQuAD バージョン1.1 / dev / 記事名 Warsaw　https://rajpurkar.github.io/SQuAD-explorer/dataset/dev-v1.1.json（CC BY-SA 4.0／抜粋・強調・質問訳を追加）　ID 5733a5f54776f41900660f45</a:t>
            </a:r>
            <a:endParaRPr sz="85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補足実例6 Genghis Khan</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2 追加の実例</a:t>
            </a:r>
            <a:endParaRPr sz="1400" lang="ja-JP"/>
            <a:endParaRPr sz="1400"/>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626669"/>
                </a:solidFill>
                <a:latin typeface="Noto Sans CJK JP"/>
                <a:ea typeface="Noto Sans CJK JP"/>
              </a:rPr>
              <a:t>Wikipedia記事の段落（抜粋）</a:t>
            </a:r>
            <a:endParaRPr sz="1400" lang="ja-JP"/>
            <a:endParaRPr sz="1400"/>
          </a:p>
        </p:txBody>
      </p:sp>
      <p:sp>
        <p:nvSpPr>
          <p:cNvPr id="5" name="quote-frame"/>
          <p:cNvSpPr/>
          <p:nvPr/>
        </p:nvSpPr>
        <p:spPr>
          <a:xfrm>
            <a:off x="548640" y="1715797"/>
            <a:ext cx="8046720" cy="134607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defRPr sz="1800">
                <a:latin typeface="Liberation Sans"/>
              </a:defRPr>
              <a:buNone/>
            </a:pPr>
            <a:r>
              <a:rPr sz="1800" b="0" lang="ja-JP">
                <a:solidFill>
                  <a:srgbClr val="303437"/>
                </a:solidFill>
                <a:latin typeface="Liberation Sans"/>
                <a:ea typeface="Liberation Sans"/>
                <a:cs typeface="Liberation Sans"/>
              </a:rPr>
              <a:t>After founding </a:t>
            </a:r>
            <a:r>
              <a:rPr sz="1800" b="1" lang="ja-JP">
                <a:solidFill>
                  <a:srgbClr val="B13731"/>
                </a:solidFill>
                <a:latin typeface="Liberation Sans"/>
                <a:ea typeface="Liberation Sans"/>
                <a:cs typeface="Liberation Sans"/>
              </a:rPr>
              <a:t>the Mongol Empire</a:t>
            </a:r>
            <a:r>
              <a:rPr sz="1800" b="0" lang="ja-JP">
                <a:solidFill>
                  <a:srgbClr val="303437"/>
                </a:solidFill>
                <a:latin typeface="Liberation Sans"/>
                <a:ea typeface="Liberation Sans"/>
                <a:cs typeface="Liberation Sans"/>
              </a:rPr>
              <a:t> and being proclaimed "Genghis Khan", he started the Mongol invasions that resulted in the conquest of most of Eurasia. These included raids or invasions of the Qara Khitai, Caucasus, Khwarezmid Empire, Western Xia and Jin dynasties.</a:t>
            </a:r>
            <a:endParaRPr sz="1800" lang="ja-JP"/>
          </a:p>
        </p:txBody>
      </p:sp>
      <p:sp>
        <p:nvSpPr>
          <p:cNvPr id="7" name="example-question"/>
          <p:cNvSpPr txBox="1"/>
          <p:nvPr/>
        </p:nvSpPr>
        <p:spPr>
          <a:xfrm>
            <a:off x="548640" y="326507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defRPr sz="1900">
                <a:latin typeface="Noto Sans CJK JP"/>
              </a:defRPr>
              <a:buNone/>
            </a:pPr>
            <a:r>
              <a:rPr sz="1900" b="1" lang="ja-JP">
                <a:solidFill>
                  <a:srgbClr val="303437"/>
                </a:solidFill>
                <a:latin typeface="Noto Sans CJK JP"/>
                <a:ea typeface="Noto Sans CJK JP"/>
                <a:cs typeface="Noto Sans CJK JP"/>
              </a:rPr>
              <a:t>質問 </a:t>
            </a:r>
            <a:r>
              <a:rPr sz="1900" b="0" lang="ja-JP">
                <a:solidFill>
                  <a:srgbClr val="303437"/>
                </a:solidFill>
                <a:latin typeface="Liberation Sans"/>
                <a:ea typeface="Liberation Sans"/>
                <a:cs typeface="Liberation Sans"/>
              </a:rPr>
              <a:t>What do we call the empire that Genghis Khan founded?</a:t>
            </a:r>
            <a:endParaRPr sz="1900" lang="ja-JP"/>
          </a:p>
          <a:p>
            <a:pPr algn="l" marL="0" indent="0">
              <a:lnSpc>
                <a:spcPct val="110000"/>
              </a:lnSpc>
              <a:spcBef>
                <a:spcPts val="0"/>
              </a:spcBef>
              <a:spcAft>
                <a:spcPts val="600"/>
              </a:spcAft>
              <a:defRPr sz="1700">
                <a:latin typeface="Noto Sans CJK JP"/>
              </a:defRPr>
              <a:buNone/>
            </a:pPr>
            <a:r>
              <a:rPr sz="1700" b="0" lang="ja-JP">
                <a:solidFill>
                  <a:srgbClr val="626669"/>
                </a:solidFill>
                <a:latin typeface="Noto Sans CJK JP"/>
                <a:ea typeface="Noto Sans CJK JP"/>
                <a:cs typeface="Noto Sans CJK JP"/>
              </a:rPr>
              <a:t>質問の日本語訳 チンギス・ハンが建てた帝国を何と呼ぶか？</a:t>
            </a:r>
            <a:endParaRPr sz="1700" lang="ja-JP"/>
          </a:p>
        </p:txBody>
      </p:sp>
      <p:sp>
        <p:nvSpPr>
          <p:cNvPr id="8" name="example-answer"/>
          <p:cNvSpPr txBox="1"/>
          <p:nvPr/>
        </p:nvSpPr>
        <p:spPr>
          <a:xfrm>
            <a:off x="548640" y="391277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defRPr sz="2200">
                <a:latin typeface="Noto Sans CJK JP"/>
              </a:defRPr>
              <a:buNone/>
            </a:pPr>
            <a:r>
              <a:rPr sz="2200" b="1" lang="ja-JP">
                <a:solidFill>
                  <a:srgbClr val="B13731"/>
                </a:solidFill>
                <a:latin typeface="Noto Sans CJK JP"/>
                <a:ea typeface="Noto Sans CJK JP"/>
                <a:cs typeface="Noto Sans CJK JP"/>
              </a:rPr>
              <a:t>正解は the Mongol Empire</a:t>
            </a:r>
            <a:endParaRPr sz="2200" lang="ja-JP"/>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SQuAD バージョン1.1 / dev / 記事名 Genghis_Khan　https://rajpurkar.github.io/SQuAD-explorer/dataset/dev-v1.1.json（CC BY-SA 4.0／抜粋・強調・質問訳を追加）　ID 57269e8a5951b619008f77f5</a:t>
            </a:r>
            <a:endParaRPr sz="85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補足実例7 Chloroplast</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2 追加の実例</a:t>
            </a:r>
            <a:endParaRPr sz="1400" lang="ja-JP"/>
            <a:endParaRPr sz="1400"/>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626669"/>
                </a:solidFill>
                <a:latin typeface="Noto Sans CJK JP"/>
                <a:ea typeface="Noto Sans CJK JP"/>
              </a:rPr>
              <a:t>Wikipedia記事の段落（抜粋）</a:t>
            </a:r>
            <a:endParaRPr sz="1400" lang="ja-JP"/>
            <a:endParaRPr sz="1400"/>
          </a:p>
        </p:txBody>
      </p:sp>
      <p:sp>
        <p:nvSpPr>
          <p:cNvPr id="5" name="quote-frame"/>
          <p:cNvSpPr/>
          <p:nvPr/>
        </p:nvSpPr>
        <p:spPr>
          <a:xfrm>
            <a:off x="548640" y="1715797"/>
            <a:ext cx="8046720" cy="134607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defRPr sz="1800">
                <a:latin typeface="Liberation Sans"/>
              </a:defRPr>
              <a:buNone/>
            </a:pPr>
            <a:r>
              <a:rPr sz="1800" b="0" lang="ja-JP">
                <a:solidFill>
                  <a:srgbClr val="303437"/>
                </a:solidFill>
                <a:latin typeface="Liberation Sans"/>
                <a:ea typeface="Liberation Sans"/>
                <a:cs typeface="Liberation Sans"/>
              </a:rPr>
              <a:t>Chloroplasts' main role is </a:t>
            </a:r>
            <a:r>
              <a:rPr sz="1800" b="1" lang="ja-JP">
                <a:solidFill>
                  <a:srgbClr val="B13731"/>
                </a:solidFill>
                <a:latin typeface="Liberation Sans"/>
                <a:ea typeface="Liberation Sans"/>
                <a:cs typeface="Liberation Sans"/>
              </a:rPr>
              <a:t>to conduct photosynthesis</a:t>
            </a:r>
            <a:r>
              <a:rPr sz="1800" b="0" lang="ja-JP">
                <a:solidFill>
                  <a:srgbClr val="303437"/>
                </a:solidFill>
                <a:latin typeface="Liberation Sans"/>
                <a:ea typeface="Liberation Sans"/>
                <a:cs typeface="Liberation Sans"/>
              </a:rPr>
              <a:t>, where the photosynthetic pigment chlorophyll captures the energy from sunlight and converts it and stores it in the energy-storage molecules ATP and NADPH while freeing oxygen from water.</a:t>
            </a:r>
            <a:endParaRPr sz="1800" lang="ja-JP"/>
          </a:p>
        </p:txBody>
      </p:sp>
      <p:sp>
        <p:nvSpPr>
          <p:cNvPr id="7" name="example-question"/>
          <p:cNvSpPr txBox="1"/>
          <p:nvPr/>
        </p:nvSpPr>
        <p:spPr>
          <a:xfrm>
            <a:off x="548640" y="326507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defRPr sz="1900">
                <a:latin typeface="Noto Sans CJK JP"/>
              </a:defRPr>
              <a:buNone/>
            </a:pPr>
            <a:r>
              <a:rPr sz="1900" b="1" lang="ja-JP">
                <a:solidFill>
                  <a:srgbClr val="303437"/>
                </a:solidFill>
                <a:latin typeface="Noto Sans CJK JP"/>
                <a:ea typeface="Noto Sans CJK JP"/>
                <a:cs typeface="Noto Sans CJK JP"/>
              </a:rPr>
              <a:t>質問 </a:t>
            </a:r>
            <a:r>
              <a:rPr sz="1900" b="0" lang="ja-JP">
                <a:solidFill>
                  <a:srgbClr val="303437"/>
                </a:solidFill>
                <a:latin typeface="Liberation Sans"/>
                <a:ea typeface="Liberation Sans"/>
                <a:cs typeface="Liberation Sans"/>
              </a:rPr>
              <a:t>What is the primary purpose of chloroplasts?</a:t>
            </a:r>
            <a:endParaRPr sz="1900" lang="ja-JP"/>
          </a:p>
          <a:p>
            <a:pPr algn="l" marL="0" indent="0">
              <a:lnSpc>
                <a:spcPct val="110000"/>
              </a:lnSpc>
              <a:spcBef>
                <a:spcPts val="0"/>
              </a:spcBef>
              <a:spcAft>
                <a:spcPts val="600"/>
              </a:spcAft>
              <a:defRPr sz="1700">
                <a:latin typeface="Noto Sans CJK JP"/>
              </a:defRPr>
              <a:buNone/>
            </a:pPr>
            <a:r>
              <a:rPr sz="1700" b="0" lang="ja-JP">
                <a:solidFill>
                  <a:srgbClr val="626669"/>
                </a:solidFill>
                <a:latin typeface="Noto Sans CJK JP"/>
                <a:ea typeface="Noto Sans CJK JP"/>
                <a:cs typeface="Noto Sans CJK JP"/>
              </a:rPr>
              <a:t>質問の日本語訳 葉緑体の主な役割は何か？</a:t>
            </a:r>
            <a:endParaRPr sz="1700" lang="ja-JP"/>
          </a:p>
        </p:txBody>
      </p:sp>
      <p:sp>
        <p:nvSpPr>
          <p:cNvPr id="8" name="example-answer"/>
          <p:cNvSpPr txBox="1"/>
          <p:nvPr/>
        </p:nvSpPr>
        <p:spPr>
          <a:xfrm>
            <a:off x="548640" y="391277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defRPr sz="2200">
                <a:latin typeface="Noto Sans CJK JP"/>
              </a:defRPr>
              <a:buNone/>
            </a:pPr>
            <a:r>
              <a:rPr sz="2200" b="1" lang="ja-JP">
                <a:solidFill>
                  <a:srgbClr val="B13731"/>
                </a:solidFill>
                <a:latin typeface="Noto Sans CJK JP"/>
                <a:ea typeface="Noto Sans CJK JP"/>
                <a:cs typeface="Noto Sans CJK JP"/>
              </a:rPr>
              <a:t>正解は to conduct photosynthesis</a:t>
            </a:r>
            <a:endParaRPr sz="2200" lang="ja-JP"/>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SQuAD バージョン1.1 / dev / 記事名 Chloroplast　https://rajpurkar.github.io/SQuAD-explorer/dataset/dev-v1.1.json（CC BY-SA 4.0／抜粋・強調・質問訳を追加）　ID 572953013f37b3190047824d</a:t>
            </a:r>
            <a:endParaRPr sz="85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補足実例8 University of Chicago</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2 追加の実例</a:t>
            </a:r>
            <a:endParaRPr sz="1400" lang="ja-JP"/>
            <a:endParaRPr sz="1400"/>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626669"/>
                </a:solidFill>
                <a:latin typeface="Noto Sans CJK JP"/>
                <a:ea typeface="Noto Sans CJK JP"/>
              </a:rPr>
              <a:t>Wikipedia記事の段落（抜粋）</a:t>
            </a:r>
            <a:endParaRPr sz="1400" lang="ja-JP"/>
            <a:endParaRPr sz="1400"/>
          </a:p>
        </p:txBody>
      </p:sp>
      <p:sp>
        <p:nvSpPr>
          <p:cNvPr id="5" name="quote-frame"/>
          <p:cNvSpPr/>
          <p:nvPr/>
        </p:nvSpPr>
        <p:spPr>
          <a:xfrm>
            <a:off x="548640" y="1715797"/>
            <a:ext cx="8046720" cy="164199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defRPr sz="1800">
                <a:latin typeface="Liberation Sans"/>
              </a:defRPr>
              <a:buNone/>
            </a:pPr>
            <a:r>
              <a:rPr sz="1800" b="0" lang="ja-JP">
                <a:solidFill>
                  <a:srgbClr val="303437"/>
                </a:solidFill>
                <a:latin typeface="Liberation Sans"/>
                <a:ea typeface="Liberation Sans"/>
                <a:cs typeface="Liberation Sans"/>
              </a:rPr>
              <a:t>The University of Chicago (UChicago, Chicago, or U of C) is </a:t>
            </a:r>
            <a:r>
              <a:rPr sz="1800" b="1" lang="ja-JP">
                <a:solidFill>
                  <a:srgbClr val="B13731"/>
                </a:solidFill>
                <a:latin typeface="Liberation Sans"/>
                <a:ea typeface="Liberation Sans"/>
                <a:cs typeface="Liberation Sans"/>
              </a:rPr>
              <a:t>a private research university</a:t>
            </a:r>
            <a:r>
              <a:rPr sz="1800" b="0" lang="ja-JP">
                <a:solidFill>
                  <a:srgbClr val="303437"/>
                </a:solidFill>
                <a:latin typeface="Liberation Sans"/>
                <a:ea typeface="Liberation Sans"/>
                <a:cs typeface="Liberation Sans"/>
              </a:rPr>
              <a:t> in Chicago. The university, established in 1890, consists of The College, various graduate programs, interdisciplinary committees organized into four academic research divisions and seven professional schools.</a:t>
            </a:r>
            <a:endParaRPr sz="1800" lang="ja-JP"/>
          </a:p>
        </p:txBody>
      </p:sp>
      <p:sp>
        <p:nvSpPr>
          <p:cNvPr id="7" name="example-question"/>
          <p:cNvSpPr txBox="1"/>
          <p:nvPr/>
        </p:nvSpPr>
        <p:spPr>
          <a:xfrm>
            <a:off x="548640" y="3560993"/>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defRPr sz="1900">
                <a:latin typeface="Noto Sans CJK JP"/>
              </a:defRPr>
              <a:buNone/>
            </a:pPr>
            <a:r>
              <a:rPr sz="1900" b="1" lang="ja-JP">
                <a:solidFill>
                  <a:srgbClr val="303437"/>
                </a:solidFill>
                <a:latin typeface="Noto Sans CJK JP"/>
                <a:ea typeface="Noto Sans CJK JP"/>
                <a:cs typeface="Noto Sans CJK JP"/>
              </a:rPr>
              <a:t>質問 </a:t>
            </a:r>
            <a:r>
              <a:rPr sz="1900" b="0" lang="ja-JP">
                <a:solidFill>
                  <a:srgbClr val="303437"/>
                </a:solidFill>
                <a:latin typeface="Liberation Sans"/>
                <a:ea typeface="Liberation Sans"/>
                <a:cs typeface="Liberation Sans"/>
              </a:rPr>
              <a:t>What kind of university is the University of Chicago?</a:t>
            </a:r>
            <a:endParaRPr sz="1900" lang="ja-JP"/>
          </a:p>
          <a:p>
            <a:pPr algn="l" marL="0" indent="0">
              <a:lnSpc>
                <a:spcPct val="110000"/>
              </a:lnSpc>
              <a:spcBef>
                <a:spcPts val="0"/>
              </a:spcBef>
              <a:spcAft>
                <a:spcPts val="600"/>
              </a:spcAft>
              <a:defRPr sz="1700">
                <a:latin typeface="Noto Sans CJK JP"/>
              </a:defRPr>
              <a:buNone/>
            </a:pPr>
            <a:r>
              <a:rPr sz="1700" b="0" lang="ja-JP">
                <a:solidFill>
                  <a:srgbClr val="626669"/>
                </a:solidFill>
                <a:latin typeface="Noto Sans CJK JP"/>
                <a:ea typeface="Noto Sans CJK JP"/>
                <a:cs typeface="Noto Sans CJK JP"/>
              </a:rPr>
              <a:t>質問の日本語訳 シカゴ大学はどのような種類の大学か？</a:t>
            </a:r>
            <a:endParaRPr sz="1700" lang="ja-JP"/>
          </a:p>
        </p:txBody>
      </p:sp>
      <p:sp>
        <p:nvSpPr>
          <p:cNvPr id="8" name="example-answer"/>
          <p:cNvSpPr txBox="1"/>
          <p:nvPr/>
        </p:nvSpPr>
        <p:spPr>
          <a:xfrm>
            <a:off x="548640" y="4208693"/>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defRPr sz="2200">
                <a:latin typeface="Noto Sans CJK JP"/>
              </a:defRPr>
              <a:buNone/>
            </a:pPr>
            <a:r>
              <a:rPr sz="2200" b="1" lang="ja-JP">
                <a:solidFill>
                  <a:srgbClr val="B13731"/>
                </a:solidFill>
                <a:latin typeface="Noto Sans CJK JP"/>
                <a:ea typeface="Noto Sans CJK JP"/>
                <a:cs typeface="Noto Sans CJK JP"/>
              </a:rPr>
              <a:t>正解は a private research university</a:t>
            </a:r>
            <a:endParaRPr sz="2200" lang="ja-JP"/>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SQuAD バージョン1.1 / dev / 記事名 University_of_Chicago　https://rajpurkar.github.io/SQuAD-explorer/dataset/dev-v1.1.json（CC BY-SA 4.0／抜粋・強調・質問訳を追加）　ID 57283c464b864d19001647c8</a:t>
            </a:r>
            <a:endParaRPr sz="85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補足実例9 Steam engine</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2 追加の実例</a:t>
            </a:r>
            <a:endParaRPr sz="1400" lang="ja-JP"/>
            <a:endParaRPr sz="1400"/>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626669"/>
                </a:solidFill>
                <a:latin typeface="Noto Sans CJK JP"/>
                <a:ea typeface="Noto Sans CJK JP"/>
              </a:rPr>
              <a:t>Wikipedia記事の段落（抜粋）</a:t>
            </a:r>
            <a:endParaRPr sz="1400" lang="ja-JP"/>
            <a:endParaRPr sz="1400"/>
          </a:p>
        </p:txBody>
      </p:sp>
      <p:sp>
        <p:nvSpPr>
          <p:cNvPr id="5" name="quote-frame"/>
          <p:cNvSpPr/>
          <p:nvPr/>
        </p:nvSpPr>
        <p:spPr>
          <a:xfrm>
            <a:off x="548640" y="1715797"/>
            <a:ext cx="8046720" cy="75424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defRPr sz="1800">
                <a:latin typeface="Liberation Sans"/>
              </a:defRPr>
              <a:buNone/>
            </a:pPr>
            <a:r>
              <a:rPr sz="1800" b="0" lang="ja-JP">
                <a:solidFill>
                  <a:srgbClr val="303437"/>
                </a:solidFill>
                <a:latin typeface="Liberation Sans"/>
                <a:ea typeface="Liberation Sans"/>
                <a:cs typeface="Liberation Sans"/>
              </a:rPr>
              <a:t>Steam engines are external combustion engines, where the working fluid is separate from the combustion products.</a:t>
            </a:r>
            <a:endParaRPr sz="1800" lang="ja-JP"/>
          </a:p>
        </p:txBody>
      </p:sp>
      <p:sp>
        <p:nvSpPr>
          <p:cNvPr id="7" name="example-question"/>
          <p:cNvSpPr txBox="1"/>
          <p:nvPr/>
        </p:nvSpPr>
        <p:spPr>
          <a:xfrm>
            <a:off x="548640" y="2673237"/>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defRPr sz="1900">
                <a:latin typeface="Noto Sans CJK JP"/>
              </a:defRPr>
              <a:buNone/>
            </a:pPr>
            <a:r>
              <a:rPr sz="1900" b="1" lang="ja-JP">
                <a:solidFill>
                  <a:srgbClr val="303437"/>
                </a:solidFill>
                <a:latin typeface="Noto Sans CJK JP"/>
                <a:ea typeface="Noto Sans CJK JP"/>
                <a:cs typeface="Noto Sans CJK JP"/>
              </a:rPr>
              <a:t>質問 </a:t>
            </a:r>
            <a:r>
              <a:rPr sz="1900" b="0" lang="ja-JP">
                <a:solidFill>
                  <a:srgbClr val="303437"/>
                </a:solidFill>
                <a:latin typeface="Liberation Sans"/>
                <a:ea typeface="Liberation Sans"/>
                <a:cs typeface="Liberation Sans"/>
              </a:rPr>
              <a:t>What types of engines are solar engines?</a:t>
            </a:r>
            <a:endParaRPr sz="1900" lang="ja-JP"/>
          </a:p>
          <a:p>
            <a:pPr algn="l" marL="0" indent="0">
              <a:lnSpc>
                <a:spcPct val="110000"/>
              </a:lnSpc>
              <a:spcBef>
                <a:spcPts val="0"/>
              </a:spcBef>
              <a:spcAft>
                <a:spcPts val="600"/>
              </a:spcAft>
              <a:defRPr sz="1700">
                <a:latin typeface="Noto Sans CJK JP"/>
              </a:defRPr>
              <a:buNone/>
            </a:pPr>
            <a:r>
              <a:rPr sz="1700" b="0" lang="ja-JP">
                <a:solidFill>
                  <a:srgbClr val="626669"/>
                </a:solidFill>
                <a:latin typeface="Noto Sans CJK JP"/>
                <a:ea typeface="Noto Sans CJK JP"/>
                <a:cs typeface="Noto Sans CJK JP"/>
              </a:rPr>
              <a:t>質問の日本語訳 太陽熱機関はどのような種類の機関か？</a:t>
            </a:r>
            <a:endParaRPr sz="1700" lang="ja-JP"/>
          </a:p>
        </p:txBody>
      </p:sp>
      <p:sp>
        <p:nvSpPr>
          <p:cNvPr id="8" name="example-answer"/>
          <p:cNvSpPr txBox="1"/>
          <p:nvPr/>
        </p:nvSpPr>
        <p:spPr>
          <a:xfrm>
            <a:off x="548640" y="3320937"/>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defRPr sz="2200">
                <a:latin typeface="Noto Sans CJK JP"/>
              </a:defRPr>
              <a:buNone/>
            </a:pPr>
            <a:r>
              <a:rPr sz="2200" b="1" lang="ja-JP">
                <a:solidFill>
                  <a:srgbClr val="B13731"/>
                </a:solidFill>
                <a:latin typeface="Noto Sans CJK JP"/>
                <a:ea typeface="Noto Sans CJK JP"/>
                <a:cs typeface="Noto Sans CJK JP"/>
              </a:rPr>
              <a:t>正解は 回答不能（文章に根拠がない）</a:t>
            </a:r>
            <a:endParaRPr sz="2200" lang="ja-JP"/>
          </a:p>
        </p:txBody>
      </p:sp>
      <p:sp>
        <p:nvSpPr>
          <p:cNvPr id="9" name="content-text"/>
          <p:cNvSpPr txBox="1"/>
          <p:nvPr/>
        </p:nvSpPr>
        <p:spPr>
          <a:xfrm>
            <a:off x="548640" y="3892437"/>
            <a:ext cx="8046720" cy="231457"/>
          </a:xfrm>
          <a:prstGeom prst="rect">
            <a:avLst/>
          </a:prstGeom>
          <a:noFill/>
        </p:spPr>
        <p:txBody>
          <a:bodyPr wrap="square" anchor="t"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原文は蒸気機関を説明する。太陽熱機関の種類は書かれていない。</a:t>
            </a:r>
            <a:endParaRPr sz="1400" lang="ja-JP"/>
          </a:p>
        </p:txBody>
      </p:sp>
      <p:sp>
        <p:nvSpPr>
          <p:cNvPr id="10"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SQuAD バージョン2.0 / dev / 記事名 Steam_engine　https://rajpurkar.github.io/SQuAD-explorer/dataset/dev-v2.0.json（CC BY-SA 4.0／抜粋・強調・質問訳を追加）　ID 5ad3bd8f604f3c001a3fef31</a:t>
            </a:r>
            <a:endParaRPr sz="85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補足実例10 Oxygen</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2 追加の実例</a:t>
            </a:r>
            <a:endParaRPr sz="1400" lang="ja-JP"/>
            <a:endParaRPr sz="1400"/>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626669"/>
                </a:solidFill>
                <a:latin typeface="Noto Sans CJK JP"/>
                <a:ea typeface="Noto Sans CJK JP"/>
              </a:rPr>
              <a:t>Wikipedia記事の段落（抜粋）</a:t>
            </a:r>
            <a:endParaRPr sz="1400" lang="ja-JP"/>
            <a:endParaRPr sz="1400"/>
          </a:p>
        </p:txBody>
      </p:sp>
      <p:sp>
        <p:nvSpPr>
          <p:cNvPr id="5" name="quote-frame"/>
          <p:cNvSpPr/>
          <p:nvPr/>
        </p:nvSpPr>
        <p:spPr>
          <a:xfrm>
            <a:off x="548640" y="1715797"/>
            <a:ext cx="8046720" cy="45831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defRPr sz="1800">
                <a:latin typeface="Liberation Sans"/>
              </a:defRPr>
              <a:buNone/>
            </a:pPr>
            <a:r>
              <a:rPr sz="1800" b="0" lang="ja-JP">
                <a:solidFill>
                  <a:srgbClr val="303437"/>
                </a:solidFill>
                <a:latin typeface="Liberation Sans"/>
                <a:ea typeface="Liberation Sans"/>
                <a:cs typeface="Liberation Sans"/>
              </a:rPr>
              <a:t>Diatomic oxygen gas constitutes 20.8% of the Earth's atmosphere.</a:t>
            </a:r>
            <a:endParaRPr sz="1800" lang="ja-JP"/>
          </a:p>
        </p:txBody>
      </p:sp>
      <p:sp>
        <p:nvSpPr>
          <p:cNvPr id="7" name="example-question"/>
          <p:cNvSpPr txBox="1"/>
          <p:nvPr/>
        </p:nvSpPr>
        <p:spPr>
          <a:xfrm>
            <a:off x="548640" y="23773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defRPr sz="1900">
                <a:latin typeface="Noto Sans CJK JP"/>
              </a:defRPr>
              <a:buNone/>
            </a:pPr>
            <a:r>
              <a:rPr sz="1900" b="1" lang="ja-JP">
                <a:solidFill>
                  <a:srgbClr val="303437"/>
                </a:solidFill>
                <a:latin typeface="Noto Sans CJK JP"/>
                <a:ea typeface="Noto Sans CJK JP"/>
                <a:cs typeface="Noto Sans CJK JP"/>
              </a:rPr>
              <a:t>質問 </a:t>
            </a:r>
            <a:r>
              <a:rPr sz="1900" b="0" lang="ja-JP">
                <a:solidFill>
                  <a:srgbClr val="303437"/>
                </a:solidFill>
                <a:latin typeface="Liberation Sans"/>
                <a:ea typeface="Liberation Sans"/>
                <a:cs typeface="Liberation Sans"/>
              </a:rPr>
              <a:t>What constitutes 28.0% of the Earth's atmosphere?</a:t>
            </a:r>
            <a:endParaRPr sz="1900" lang="ja-JP"/>
          </a:p>
          <a:p>
            <a:pPr algn="l" marL="0" indent="0">
              <a:lnSpc>
                <a:spcPct val="110000"/>
              </a:lnSpc>
              <a:spcBef>
                <a:spcPts val="0"/>
              </a:spcBef>
              <a:spcAft>
                <a:spcPts val="600"/>
              </a:spcAft>
              <a:defRPr sz="1700">
                <a:latin typeface="Noto Sans CJK JP"/>
              </a:defRPr>
              <a:buNone/>
            </a:pPr>
            <a:r>
              <a:rPr sz="1700" b="0" lang="ja-JP">
                <a:solidFill>
                  <a:srgbClr val="626669"/>
                </a:solidFill>
                <a:latin typeface="Noto Sans CJK JP"/>
                <a:ea typeface="Noto Sans CJK JP"/>
                <a:cs typeface="Noto Sans CJK JP"/>
              </a:rPr>
              <a:t>質問の日本語訳 地球の大気の28.0%を占めるものは何か？</a:t>
            </a:r>
            <a:endParaRPr sz="1700" lang="ja-JP"/>
          </a:p>
        </p:txBody>
      </p:sp>
      <p:sp>
        <p:nvSpPr>
          <p:cNvPr id="8" name="example-answer"/>
          <p:cNvSpPr txBox="1"/>
          <p:nvPr/>
        </p:nvSpPr>
        <p:spPr>
          <a:xfrm>
            <a:off x="548640" y="30250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defRPr sz="2200">
                <a:latin typeface="Noto Sans CJK JP"/>
              </a:defRPr>
              <a:buNone/>
            </a:pPr>
            <a:r>
              <a:rPr sz="2200" b="1" lang="ja-JP">
                <a:solidFill>
                  <a:srgbClr val="B13731"/>
                </a:solidFill>
                <a:latin typeface="Noto Sans CJK JP"/>
                <a:ea typeface="Noto Sans CJK JP"/>
                <a:cs typeface="Noto Sans CJK JP"/>
              </a:rPr>
              <a:t>正解は 回答不能（文章に根拠がない）</a:t>
            </a:r>
            <a:endParaRPr sz="2200" lang="ja-JP"/>
          </a:p>
        </p:txBody>
      </p:sp>
      <p:sp>
        <p:nvSpPr>
          <p:cNvPr id="9" name="content-text"/>
          <p:cNvSpPr txBox="1"/>
          <p:nvPr/>
        </p:nvSpPr>
        <p:spPr>
          <a:xfrm>
            <a:off x="548640" y="3596515"/>
            <a:ext cx="8046720" cy="231457"/>
          </a:xfrm>
          <a:prstGeom prst="rect">
            <a:avLst/>
          </a:prstGeom>
          <a:noFill/>
        </p:spPr>
        <p:txBody>
          <a:bodyPr wrap="square" anchor="t"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原文の割合は20.8%。28.0%に対応する記述はない。</a:t>
            </a:r>
            <a:endParaRPr sz="1400" lang="ja-JP"/>
          </a:p>
        </p:txBody>
      </p:sp>
      <p:sp>
        <p:nvSpPr>
          <p:cNvPr id="10"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SQuAD バージョン2.0 / dev / 記事名 Oxygen　https://rajpurkar.github.io/SQuAD-explorer/dataset/dev-v2.0.json（CC BY-SA 4.0／抜粋・強調・質問訳を追加）　ID 5ad21646d7d075001a4283c7</a:t>
            </a:r>
            <a:endParaRPr sz="85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記述統計 バージョン1.1・学習用</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質問 87,599件／回答あり 87,599件／回答不能 0件</a:t>
            </a:r>
            <a:endParaRPr sz="2000" lang="ja-JP"/>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指標 [1]</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平均</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標準偏差</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最小</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25%点</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中央値</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75%点</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95%点</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最大</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質問文字</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59.2</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21.2</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44.0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56.0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71.0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98.0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270</a:t>
                      </a:r>
                      <a:endParaRPr sz="1400" lang="ja-JP"/>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質問単語</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10.1</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3.6</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8.0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10.0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12.0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17.0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40</a:t>
                      </a:r>
                      <a:endParaRPr sz="1400" lang="ja-JP"/>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回答文字</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20.1</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21.6</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7.0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14.0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23.0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63.0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239</a:t>
                      </a:r>
                      <a:endParaRPr sz="1400" lang="ja-JP"/>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回答単語</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3.2</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3.4</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1.0</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2.0</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3.0</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10.0</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43</a:t>
                      </a:r>
                      <a:endParaRPr sz="1400" lang="ja-JP"/>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6" name="content-text"/>
          <p:cNvSpPr txBox="1"/>
          <p:nvPr/>
        </p:nvSpPr>
        <p:spPr>
          <a:xfrm>
            <a:off x="594360" y="4078048"/>
            <a:ext cx="8046720" cy="684451"/>
          </a:xfrm>
          <a:prstGeom prst="rect">
            <a:avLst/>
          </a:prstGeom>
          <a:noFill/>
        </p:spPr>
        <p:txBody>
          <a:bodyPr wrap="square" anchor="t" lIns="0" rIns="0" tIns="0" bIns="0">
            <a:noAutofit/>
          </a:bodyPr>
          <a:lstStyle/>
          <a:p>
            <a:pPr algn="l" marL="151129" indent="-140335">
              <a:lnSpc>
                <a:spcPct val="110000"/>
              </a:lnSpc>
              <a:spcBef>
                <a:spcPts val="0"/>
              </a:spcBef>
              <a:defRPr sz="1700">
                <a:latin typeface="Noto Sans CJK JP"/>
              </a:defRPr>
              <a:spcAft>
                <a:spcPts val="400"/>
              </a:spcAft>
              <a:buChar char="•"/>
            </a:pPr>
            <a:r>
              <a:rPr sz="1700" lang="ja-JP">
                <a:solidFill>
                  <a:srgbClr val="303437"/>
                </a:solidFill>
                <a:latin typeface="Noto Sans CJK JP"/>
                <a:ea typeface="Noto Sans CJK JP"/>
              </a:rPr>
              <a:t>文字数は前後の空白だけを除いた文字列の長さ。</a:t>
            </a:r>
            <a:endParaRPr sz="1900" lang="ja-JP"/>
            <a:endParaRPr sz="1700"/>
          </a:p>
          <a:p>
            <a:pPr algn="l" marL="151129" indent="-140335">
              <a:lnSpc>
                <a:spcPct val="110000"/>
              </a:lnSpc>
              <a:spcBef>
                <a:spcPts val="0"/>
              </a:spcBef>
              <a:spcAft>
                <a:spcPts val="400"/>
              </a:spcAft>
              <a:defRPr sz="1700">
                <a:latin typeface="Noto Sans CJK JP"/>
              </a:defRPr>
              <a:buChar char="•"/>
            </a:pPr>
            <a:r>
              <a:rPr sz="1700" lang="ja-JP">
                <a:solidFill>
                  <a:srgbClr val="303437"/>
                </a:solidFill>
                <a:latin typeface="Noto Sans CJK JP"/>
                <a:ea typeface="Noto Sans CJK JP"/>
              </a:rPr>
              <a:t>単語数は空白区切り。回答は先頭の正解を1問1件、回答不能は除外。</a:t>
            </a:r>
            <a:endParaRPr sz="1700"/>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公式JSONを全件集計　https://github.com/rajpurkar/SQuAD-explorer/tree/master/dataset</a:t>
            </a:r>
            <a:endParaRPr sz="85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記述統計 バージョン1.1・開発用</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質問 10,570件／回答あり 10,570件／回答不能 0件</a:t>
            </a:r>
            <a:endParaRPr sz="2000" lang="ja-JP"/>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指標 [1]</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平均</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標準偏差</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最小</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25%点</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中央値</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75%点</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95%点</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最大</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質問文字</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60.0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21.2</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12</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45.0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57.0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72.0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99.0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197</a:t>
                      </a:r>
                      <a:endParaRPr sz="1400" lang="ja-JP"/>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質問単語</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10.2</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3.6</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3</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8.0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10.0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12.0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17.0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33</a:t>
                      </a:r>
                      <a:endParaRPr sz="1400" lang="ja-JP"/>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回答文字</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19.4</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19.3</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8.0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14.0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23.0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57.0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160</a:t>
                      </a:r>
                      <a:endParaRPr sz="1400" lang="ja-JP"/>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回答単語</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3.0</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3.0</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1.0</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2.0</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3.0</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9.0</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29</a:t>
                      </a:r>
                      <a:endParaRPr sz="1400" lang="ja-JP"/>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6" name="content-text"/>
          <p:cNvSpPr txBox="1"/>
          <p:nvPr/>
        </p:nvSpPr>
        <p:spPr>
          <a:xfrm>
            <a:off x="594360" y="4078048"/>
            <a:ext cx="8046720" cy="684451"/>
          </a:xfrm>
          <a:prstGeom prst="rect">
            <a:avLst/>
          </a:prstGeom>
          <a:noFill/>
        </p:spPr>
        <p:txBody>
          <a:bodyPr wrap="square" anchor="t" lIns="0" rIns="0" tIns="0" bIns="0">
            <a:noAutofit/>
          </a:bodyPr>
          <a:lstStyle/>
          <a:p>
            <a:pPr algn="l" marL="151129" indent="-140335">
              <a:lnSpc>
                <a:spcPct val="110000"/>
              </a:lnSpc>
              <a:spcBef>
                <a:spcPts val="0"/>
              </a:spcBef>
              <a:defRPr sz="1700">
                <a:latin typeface="Noto Sans CJK JP"/>
              </a:defRPr>
              <a:spcAft>
                <a:spcPts val="400"/>
              </a:spcAft>
              <a:buChar char="•"/>
            </a:pPr>
            <a:r>
              <a:rPr sz="1700" lang="ja-JP">
                <a:solidFill>
                  <a:srgbClr val="303437"/>
                </a:solidFill>
                <a:latin typeface="Noto Sans CJK JP"/>
                <a:ea typeface="Noto Sans CJK JP"/>
              </a:rPr>
              <a:t>文字数は前後の空白だけを除いた文字列の長さ。</a:t>
            </a:r>
            <a:endParaRPr sz="1900" lang="ja-JP"/>
            <a:endParaRPr sz="1700"/>
          </a:p>
          <a:p>
            <a:pPr algn="l" marL="151129" indent="-140335">
              <a:lnSpc>
                <a:spcPct val="110000"/>
              </a:lnSpc>
              <a:spcBef>
                <a:spcPts val="0"/>
              </a:spcBef>
              <a:spcAft>
                <a:spcPts val="400"/>
              </a:spcAft>
              <a:defRPr sz="1700">
                <a:latin typeface="Noto Sans CJK JP"/>
              </a:defRPr>
              <a:buChar char="•"/>
            </a:pPr>
            <a:r>
              <a:rPr sz="1700" lang="ja-JP">
                <a:solidFill>
                  <a:srgbClr val="303437"/>
                </a:solidFill>
                <a:latin typeface="Noto Sans CJK JP"/>
                <a:ea typeface="Noto Sans CJK JP"/>
              </a:rPr>
              <a:t>単語数は空白区切り。回答は先頭の正解を1問1件、回答不能は除外。</a:t>
            </a:r>
            <a:endParaRPr sz="1700"/>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公式JSONを全件集計　https://github.com/rajpurkar/SQuAD-explorer/tree/master/dataset</a:t>
            </a:r>
            <a:endParaRPr sz="85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記述統計 バージョン2.0・学習用</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質問 130,319件／回答あり 86,821件／回答不能 43,498件</a:t>
            </a:r>
            <a:endParaRPr sz="2000" lang="ja-JP"/>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指標 [1]</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平均</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標準偏差</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最小</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25%点</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中央値</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75%点</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95%点</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最大</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質問文字</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58.3</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20.4</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44.0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55.0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69.0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96.0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270</a:t>
                      </a:r>
                      <a:endParaRPr sz="1400" lang="ja-JP"/>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質問単語</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9.9</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3.4</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7.0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9.0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12.0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16.0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40</a:t>
                      </a:r>
                      <a:endParaRPr sz="1400" lang="ja-JP"/>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回答文字</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20.1</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21.6</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7.0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14.0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23.0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63.0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239</a:t>
                      </a:r>
                      <a:endParaRPr sz="1400" lang="ja-JP"/>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回答単語</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3.2</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3.4</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1.0</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2.0</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4.0</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10.0</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43</a:t>
                      </a:r>
                      <a:endParaRPr sz="1400" lang="ja-JP"/>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6" name="content-text"/>
          <p:cNvSpPr txBox="1"/>
          <p:nvPr/>
        </p:nvSpPr>
        <p:spPr>
          <a:xfrm>
            <a:off x="594360" y="4078048"/>
            <a:ext cx="8046720" cy="684451"/>
          </a:xfrm>
          <a:prstGeom prst="rect">
            <a:avLst/>
          </a:prstGeom>
          <a:noFill/>
        </p:spPr>
        <p:txBody>
          <a:bodyPr wrap="square" anchor="t" lIns="0" rIns="0" tIns="0" bIns="0">
            <a:noAutofit/>
          </a:bodyPr>
          <a:lstStyle/>
          <a:p>
            <a:pPr algn="l" marL="151129" indent="-140335">
              <a:lnSpc>
                <a:spcPct val="110000"/>
              </a:lnSpc>
              <a:spcBef>
                <a:spcPts val="0"/>
              </a:spcBef>
              <a:defRPr sz="1700">
                <a:latin typeface="Noto Sans CJK JP"/>
              </a:defRPr>
              <a:spcAft>
                <a:spcPts val="400"/>
              </a:spcAft>
              <a:buChar char="•"/>
            </a:pPr>
            <a:r>
              <a:rPr sz="1700" lang="ja-JP">
                <a:solidFill>
                  <a:srgbClr val="303437"/>
                </a:solidFill>
                <a:latin typeface="Noto Sans CJK JP"/>
                <a:ea typeface="Noto Sans CJK JP"/>
              </a:rPr>
              <a:t>文字数は前後の空白だけを除いた文字列の長さ。</a:t>
            </a:r>
            <a:endParaRPr sz="1900" lang="ja-JP"/>
            <a:endParaRPr sz="1700"/>
          </a:p>
          <a:p>
            <a:pPr algn="l" marL="151129" indent="-140335">
              <a:lnSpc>
                <a:spcPct val="110000"/>
              </a:lnSpc>
              <a:spcBef>
                <a:spcPts val="0"/>
              </a:spcBef>
              <a:spcAft>
                <a:spcPts val="400"/>
              </a:spcAft>
              <a:defRPr sz="1700">
                <a:latin typeface="Noto Sans CJK JP"/>
              </a:defRPr>
              <a:buChar char="•"/>
            </a:pPr>
            <a:r>
              <a:rPr sz="1700" lang="ja-JP">
                <a:solidFill>
                  <a:srgbClr val="303437"/>
                </a:solidFill>
                <a:latin typeface="Noto Sans CJK JP"/>
                <a:ea typeface="Noto Sans CJK JP"/>
              </a:rPr>
              <a:t>単語数は空白区切り。回答は先頭の正解を1問1件、回答不能は除外。</a:t>
            </a:r>
            <a:endParaRPr sz="1700"/>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公式JSONを全件集計　https://github.com/rajpurkar/SQuAD-explorer/tree/master/dataset</a:t>
            </a:r>
            <a:endParaRPr sz="85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記述統計 バージョン2.0・開発用</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質問 11,873件／回答あり 5,928件／回答不能 5,945件</a:t>
            </a:r>
            <a:endParaRPr sz="2000" lang="ja-JP"/>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指標 [1]</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平均</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標準偏差</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最小</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25%点</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中央値</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75%点</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95%点</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最大</a:t>
                      </a:r>
                      <a:endParaRPr sz="14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質問文字</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59.4</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20.8</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11</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45.0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57.0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71.0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98.0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197</a:t>
                      </a:r>
                      <a:endParaRPr sz="1400" lang="ja-JP"/>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質問単語</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10.0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3.5</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3</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8.0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10.0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12.0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16.0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31</a:t>
                      </a:r>
                      <a:endParaRPr sz="1400" lang="ja-JP"/>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回答文字</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20.9</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21.4</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8.0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14.0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24.0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64.0</a:t>
                      </a:r>
                      <a:endParaRPr sz="14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160</a:t>
                      </a:r>
                      <a:endParaRPr sz="1400" lang="ja-JP"/>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回答単語</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3.2</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3.3</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1.0</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2.0</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4.0</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10.0</a:t>
                      </a:r>
                      <a:endParaRPr sz="14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400">
                          <a:latin typeface="Noto Sans CJK JP"/>
                        </a:defRPr>
                        <a:buNone/>
                      </a:pPr>
                      <a:r>
                        <a:rPr sz="1400" b="0" lang="ja-JP">
                          <a:solidFill>
                            <a:srgbClr val="303437"/>
                          </a:solidFill>
                          <a:latin typeface="Noto Sans CJK JP"/>
                          <a:ea typeface="Noto Sans CJK JP"/>
                          <a:cs typeface="Noto Sans CJK JP"/>
                        </a:rPr>
                        <a:t>29</a:t>
                      </a:r>
                      <a:endParaRPr sz="1400" lang="ja-JP"/>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6" name="content-text"/>
          <p:cNvSpPr txBox="1"/>
          <p:nvPr/>
        </p:nvSpPr>
        <p:spPr>
          <a:xfrm>
            <a:off x="594360" y="4078048"/>
            <a:ext cx="8046720" cy="684451"/>
          </a:xfrm>
          <a:prstGeom prst="rect">
            <a:avLst/>
          </a:prstGeom>
          <a:noFill/>
        </p:spPr>
        <p:txBody>
          <a:bodyPr wrap="square" anchor="t" lIns="0" rIns="0" tIns="0" bIns="0">
            <a:noAutofit/>
          </a:bodyPr>
          <a:lstStyle/>
          <a:p>
            <a:pPr algn="l" marL="151129" indent="-140335">
              <a:lnSpc>
                <a:spcPct val="110000"/>
              </a:lnSpc>
              <a:spcBef>
                <a:spcPts val="0"/>
              </a:spcBef>
              <a:defRPr sz="1700">
                <a:latin typeface="Noto Sans CJK JP"/>
              </a:defRPr>
              <a:spcAft>
                <a:spcPts val="400"/>
              </a:spcAft>
              <a:buChar char="•"/>
            </a:pPr>
            <a:r>
              <a:rPr sz="1700" lang="ja-JP">
                <a:solidFill>
                  <a:srgbClr val="303437"/>
                </a:solidFill>
                <a:latin typeface="Noto Sans CJK JP"/>
                <a:ea typeface="Noto Sans CJK JP"/>
              </a:rPr>
              <a:t>文字数は前後の空白だけを除いた文字列の長さ。</a:t>
            </a:r>
            <a:endParaRPr sz="1900" lang="ja-JP"/>
            <a:endParaRPr sz="1700"/>
          </a:p>
          <a:p>
            <a:pPr algn="l" marL="151129" indent="-140335">
              <a:lnSpc>
                <a:spcPct val="110000"/>
              </a:lnSpc>
              <a:spcBef>
                <a:spcPts val="0"/>
              </a:spcBef>
              <a:spcAft>
                <a:spcPts val="400"/>
              </a:spcAft>
              <a:defRPr sz="1700">
                <a:latin typeface="Noto Sans CJK JP"/>
              </a:defRPr>
              <a:buChar char="•"/>
            </a:pPr>
            <a:r>
              <a:rPr sz="1700" lang="ja-JP">
                <a:solidFill>
                  <a:srgbClr val="303437"/>
                </a:solidFill>
                <a:latin typeface="Noto Sans CJK JP"/>
                <a:ea typeface="Noto Sans CJK JP"/>
              </a:rPr>
              <a:t>単語数は空白区切り。回答は先頭の正解を1問1件、回答不能は除外。</a:t>
            </a:r>
            <a:endParaRPr sz="1700"/>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公式JSONを全件集計　https://github.com/rajpurkar/SQuAD-explorer/tree/master/dataset</a:t>
            </a:r>
            <a:endParaRPr sz="85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回答長の集計単位 バージョン1.1</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graphicFrame>
        <p:nvGraphicFramePr>
          <p:cNvPr id="4" name="Table 3"/>
          <p:cNvGraphicFramePr>
            <a:graphicFrameLocks noGrp="1"/>
          </p:cNvGraphicFramePr>
          <p:nvPr/>
        </p:nvGraphicFramePr>
        <p:xfrm>
          <a:off x="548640" y="1594485"/>
          <a:ext cx="8046718" cy="1954530"/>
        </p:xfrm>
        <a:graphic>
          <a:graphicData uri="http://schemas.openxmlformats.org/drawingml/2006/table">
            <a:tbl>
              <a:tblPr firstRow="1" bandRow="1">
                <a:tableStyleId>{5C22544A-7EE6-4342-B048-85BDC9FD1C3A}</a:tableStyleId>
              </a:tblPr>
              <a:tblGrid>
                <a:gridCol w="2574950"/>
                <a:gridCol w="1528876"/>
                <a:gridCol w="985723"/>
                <a:gridCol w="985723"/>
                <a:gridCol w="985723"/>
                <a:gridCol w="985723"/>
              </a:tblGrid>
              <a:tr h="390906">
                <a:tc>
                  <a:txBody>
                    <a:bodyPr wrap="square" anchor="ctr" lIns="0" rIns="0" tIns="0" bIns="0">
                      <a:noAutofit/>
                    </a:bodyPr>
                    <a:lstStyle/>
                    <a:p>
                      <a:pPr algn="l"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対象・指標 [1]</a:t>
                      </a:r>
                      <a:endParaRPr sz="16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件数</a:t>
                      </a:r>
                      <a:endParaRPr sz="16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平均</a:t>
                      </a:r>
                      <a:endParaRPr sz="16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中央値</a:t>
                      </a:r>
                      <a:endParaRPr sz="16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95%点</a:t>
                      </a:r>
                      <a:endParaRPr sz="16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最大</a:t>
                      </a:r>
                      <a:endParaRPr sz="16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1問1件・文字</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98,169</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20.1</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14.0</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63.0</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239</a:t>
                      </a:r>
                      <a:endParaRPr sz="1600" lang="ja-JP"/>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1問1件・単語</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98,169</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3.1</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2.0</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10.0</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43</a:t>
                      </a:r>
                      <a:endParaRPr sz="1600" lang="ja-JP"/>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全正解注釈・文字</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122,325</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19.7</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14.0</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61.0</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239</a:t>
                      </a:r>
                      <a:endParaRPr sz="1600" lang="ja-JP"/>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全正解注釈・単語</a:t>
                      </a:r>
                      <a:endParaRPr sz="16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122,325</a:t>
                      </a:r>
                      <a:endParaRPr sz="16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3.1</a:t>
                      </a:r>
                      <a:endParaRPr sz="16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2.0</a:t>
                      </a:r>
                      <a:endParaRPr sz="16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9.0</a:t>
                      </a:r>
                      <a:endParaRPr sz="16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43</a:t>
                      </a:r>
                      <a:endParaRPr sz="1600" lang="ja-JP"/>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nvSpPr>
        <p:spPr>
          <a:xfrm>
            <a:off x="594360" y="3833243"/>
            <a:ext cx="8046720" cy="929256"/>
          </a:xfrm>
          <a:prstGeom prst="rect">
            <a:avLst/>
          </a:prstGeom>
          <a:noFill/>
        </p:spPr>
        <p:txBody>
          <a:bodyPr wrap="square" anchor="t" lIns="0" rIns="0" tIns="0" bIns="0">
            <a:noAutofit/>
          </a:bodyPr>
          <a:lstStyle/>
          <a:p>
            <a:pPr algn="l" marL="151129" indent="-140335">
              <a:lnSpc>
                <a:spcPct val="110000"/>
              </a:lnSpc>
              <a:spcBef>
                <a:spcPts val="0"/>
              </a:spcBef>
              <a:defRPr sz="1700">
                <a:latin typeface="Noto Sans CJK JP"/>
              </a:defRPr>
              <a:spcAft>
                <a:spcPts val="400"/>
              </a:spcAft>
              <a:buChar char="•"/>
            </a:pPr>
            <a:r>
              <a:rPr sz="1700" lang="ja-JP">
                <a:solidFill>
                  <a:srgbClr val="303437"/>
                </a:solidFill>
                <a:latin typeface="Noto Sans CJK JP"/>
                <a:ea typeface="Noto Sans CJK JP"/>
              </a:rPr>
              <a:t>学習用＋開発用を集計。回答不能の質問は除外。</a:t>
            </a:r>
            <a:endParaRPr sz="2000" lang="ja-JP"/>
            <a:endParaRPr sz="1700"/>
          </a:p>
          <a:p>
            <a:pPr algn="l" marL="151129" indent="-140335">
              <a:lnSpc>
                <a:spcPct val="110000"/>
              </a:lnSpc>
              <a:spcBef>
                <a:spcPts val="0"/>
              </a:spcBef>
              <a:spcAft>
                <a:spcPts val="400"/>
              </a:spcAft>
              <a:defRPr sz="1700">
                <a:latin typeface="Noto Sans CJK JP"/>
              </a:defRPr>
              <a:buChar char="•"/>
            </a:pPr>
            <a:r>
              <a:rPr sz="1700" lang="ja-JP">
                <a:solidFill>
                  <a:srgbClr val="303437"/>
                </a:solidFill>
                <a:latin typeface="Noto Sans CJK JP"/>
                <a:ea typeface="Noto Sans CJK JP"/>
              </a:rPr>
              <a:t>全正解注釈では、同じ質問の複数正解・重複注釈も数える。</a:t>
            </a:r>
            <a:endParaRPr sz="1700"/>
          </a:p>
        </p:txBody>
      </p:sp>
      <p:sp>
        <p:nvSpPr>
          <p:cNvPr id="6"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回答長の集計単位 バージョン2.0</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graphicFrame>
        <p:nvGraphicFramePr>
          <p:cNvPr id="4" name="Table 3"/>
          <p:cNvGraphicFramePr>
            <a:graphicFrameLocks noGrp="1"/>
          </p:cNvGraphicFramePr>
          <p:nvPr/>
        </p:nvGraphicFramePr>
        <p:xfrm>
          <a:off x="548640" y="1594485"/>
          <a:ext cx="8046718" cy="1954530"/>
        </p:xfrm>
        <a:graphic>
          <a:graphicData uri="http://schemas.openxmlformats.org/drawingml/2006/table">
            <a:tbl>
              <a:tblPr firstRow="1" bandRow="1">
                <a:tableStyleId>{5C22544A-7EE6-4342-B048-85BDC9FD1C3A}</a:tableStyleId>
              </a:tblPr>
              <a:tblGrid>
                <a:gridCol w="2574950"/>
                <a:gridCol w="1528876"/>
                <a:gridCol w="985723"/>
                <a:gridCol w="985723"/>
                <a:gridCol w="985723"/>
                <a:gridCol w="985723"/>
              </a:tblGrid>
              <a:tr h="390906">
                <a:tc>
                  <a:txBody>
                    <a:bodyPr wrap="square" anchor="ctr" lIns="0" rIns="0" tIns="0" bIns="0">
                      <a:noAutofit/>
                    </a:bodyPr>
                    <a:lstStyle/>
                    <a:p>
                      <a:pPr algn="l"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対象・指標 [1]</a:t>
                      </a:r>
                      <a:endParaRPr sz="16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件数</a:t>
                      </a:r>
                      <a:endParaRPr sz="16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平均</a:t>
                      </a:r>
                      <a:endParaRPr sz="16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中央値</a:t>
                      </a:r>
                      <a:endParaRPr sz="16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95%点</a:t>
                      </a:r>
                      <a:endParaRPr sz="16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最大</a:t>
                      </a:r>
                      <a:endParaRPr sz="16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1問1件・文字</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92,749</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20.2</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14.0</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63.0</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239</a:t>
                      </a:r>
                      <a:endParaRPr sz="1600" lang="ja-JP"/>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1問1件・単語</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92,749</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3.2</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2.0</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10.0</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43</a:t>
                      </a:r>
                      <a:endParaRPr sz="1600" lang="ja-JP"/>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全正解注釈・文字</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107,123</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20.1</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14.0</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63.0</a:t>
                      </a:r>
                      <a:endParaRPr sz="16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239</a:t>
                      </a:r>
                      <a:endParaRPr sz="1600" lang="ja-JP"/>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全正解注釈・単語</a:t>
                      </a:r>
                      <a:endParaRPr sz="16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107,123</a:t>
                      </a:r>
                      <a:endParaRPr sz="16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3.1</a:t>
                      </a:r>
                      <a:endParaRPr sz="16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2.0</a:t>
                      </a:r>
                      <a:endParaRPr sz="16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10.0</a:t>
                      </a:r>
                      <a:endParaRPr sz="16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600">
                          <a:latin typeface="Noto Sans CJK JP"/>
                        </a:defRPr>
                        <a:buNone/>
                      </a:pPr>
                      <a:r>
                        <a:rPr sz="1600" b="0" lang="ja-JP">
                          <a:solidFill>
                            <a:srgbClr val="303437"/>
                          </a:solidFill>
                          <a:latin typeface="Noto Sans CJK JP"/>
                          <a:ea typeface="Noto Sans CJK JP"/>
                          <a:cs typeface="Noto Sans CJK JP"/>
                        </a:rPr>
                        <a:t>43</a:t>
                      </a:r>
                      <a:endParaRPr sz="1600" lang="ja-JP"/>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nvSpPr>
        <p:spPr>
          <a:xfrm>
            <a:off x="594360" y="3833243"/>
            <a:ext cx="8046720" cy="929256"/>
          </a:xfrm>
          <a:prstGeom prst="rect">
            <a:avLst/>
          </a:prstGeom>
          <a:noFill/>
        </p:spPr>
        <p:txBody>
          <a:bodyPr wrap="square" anchor="t" lIns="0" rIns="0" tIns="0" bIns="0">
            <a:noAutofit/>
          </a:bodyPr>
          <a:lstStyle/>
          <a:p>
            <a:pPr algn="l" marL="151129" indent="-140335">
              <a:lnSpc>
                <a:spcPct val="110000"/>
              </a:lnSpc>
              <a:spcBef>
                <a:spcPts val="0"/>
              </a:spcBef>
              <a:defRPr sz="1700">
                <a:latin typeface="Noto Sans CJK JP"/>
              </a:defRPr>
              <a:spcAft>
                <a:spcPts val="400"/>
              </a:spcAft>
              <a:buChar char="•"/>
            </a:pPr>
            <a:r>
              <a:rPr sz="1700" lang="ja-JP">
                <a:solidFill>
                  <a:srgbClr val="303437"/>
                </a:solidFill>
                <a:latin typeface="Noto Sans CJK JP"/>
                <a:ea typeface="Noto Sans CJK JP"/>
              </a:rPr>
              <a:t>学習用＋開発用を集計。回答不能の質問は除外。</a:t>
            </a:r>
            <a:endParaRPr sz="2000" lang="ja-JP"/>
            <a:endParaRPr sz="1700"/>
          </a:p>
          <a:p>
            <a:pPr algn="l" marL="151129" indent="-140335">
              <a:lnSpc>
                <a:spcPct val="110000"/>
              </a:lnSpc>
              <a:spcBef>
                <a:spcPts val="0"/>
              </a:spcBef>
              <a:spcAft>
                <a:spcPts val="400"/>
              </a:spcAft>
              <a:defRPr sz="1700">
                <a:latin typeface="Noto Sans CJK JP"/>
              </a:defRPr>
              <a:buChar char="•"/>
            </a:pPr>
            <a:r>
              <a:rPr sz="1700" lang="ja-JP">
                <a:solidFill>
                  <a:srgbClr val="303437"/>
                </a:solidFill>
                <a:latin typeface="Noto Sans CJK JP"/>
                <a:ea typeface="Noto Sans CJK JP"/>
              </a:rPr>
              <a:t>全正解注釈では、同じ質問の複数正解・重複注釈も数える。</a:t>
            </a:r>
            <a:endParaRPr sz="1700"/>
          </a:p>
        </p:txBody>
      </p:sp>
      <p:sp>
        <p:nvSpPr>
          <p:cNvPr id="6"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入力段落の記述統計 バージョン1.1・train</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context [1]</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件数</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平均</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SD</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中央値</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95%点</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最大</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文字数</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18896</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735.8</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310.0</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678.0</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1311.0</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3706</a:t>
                      </a:r>
                      <a:endParaRPr sz="1700" lang="ja-JP"/>
                    </a:p>
                  </a:txBody>
                  <a:tcPr marL="38100" marR="38100" marT="38100" marB="38100">
                    <a:lnL w="0">
                      <a:noFill/>
                    </a:lnL>
                    <a:lnR w="0">
                      <a:noFill/>
                    </a:lnR>
                    <a:lnT w="0">
                      <a:noFill/>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単語数</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18896</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116.6</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49.7</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107.0</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210.0</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653</a:t>
                      </a:r>
                      <a:endParaRPr sz="1700" lang="ja-JP"/>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nvSpPr>
        <p:spPr>
          <a:xfrm>
            <a:off x="594360" y="3703320"/>
            <a:ext cx="8046720" cy="771525"/>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2000">
                <a:latin typeface="Noto Sans CJK JP"/>
              </a:defRPr>
              <a:buChar char="•"/>
            </a:pPr>
            <a:r>
              <a:rPr sz="2000" b="0" lang="ja-JP">
                <a:solidFill>
                  <a:srgbClr val="303437"/>
                </a:solidFill>
                <a:latin typeface="Noto Sans CJK JP"/>
                <a:ea typeface="Noto Sans CJK JP"/>
                <a:cs typeface="Noto Sans CJK JP"/>
              </a:rPr>
              <a:t>各段落を1回ずつ集計（質問数による重複は含めない）。</a:t>
            </a:r>
            <a:endParaRPr sz="2000" lang="ja-JP"/>
          </a:p>
          <a:p>
            <a:pPr algn="l" marL="203200" indent="-152400">
              <a:lnSpc>
                <a:spcPct val="113000"/>
              </a:lnSpc>
              <a:spcBef>
                <a:spcPts val="0"/>
              </a:spcBef>
              <a:spcAft>
                <a:spcPts val="500"/>
              </a:spcAft>
              <a:defRPr sz="2000">
                <a:latin typeface="Noto Sans CJK JP"/>
              </a:defRPr>
              <a:buChar char="•"/>
            </a:pPr>
            <a:r>
              <a:rPr sz="2000" b="0" lang="ja-JP">
                <a:solidFill>
                  <a:srgbClr val="303437"/>
                </a:solidFill>
                <a:latin typeface="Noto Sans CJK JP"/>
                <a:ea typeface="Noto Sans CJK JP"/>
                <a:cs typeface="Noto Sans CJK JP"/>
              </a:rPr>
              <a:t>文字数は前後空白除去／単語数は空白分割。</a:t>
            </a:r>
            <a:endParaRPr sz="2000" lang="ja-JP"/>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各行の最大値に対応するIDと具体例は、以降の「最大値の実例」に掲載。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入力段落の記述統計 バージョン1.1・dev</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context [1]</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件数</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平均</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SD</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中央値</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95%点</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最大</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文字数</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2067</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774.3</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342.9</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700.0</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1338.0</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4063</a:t>
                      </a:r>
                      <a:endParaRPr sz="1700" lang="ja-JP"/>
                    </a:p>
                  </a:txBody>
                  <a:tcPr marL="38100" marR="38100" marT="38100" marB="38100">
                    <a:lnL w="0">
                      <a:noFill/>
                    </a:lnL>
                    <a:lnR w="0">
                      <a:noFill/>
                    </a:lnR>
                    <a:lnT w="0">
                      <a:noFill/>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単語数</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2067</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122.8</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54.8</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111.0</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213.0</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629</a:t>
                      </a:r>
                      <a:endParaRPr sz="1700" lang="ja-JP"/>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nvSpPr>
        <p:spPr>
          <a:xfrm>
            <a:off x="594360" y="3703320"/>
            <a:ext cx="8046720" cy="771525"/>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2000">
                <a:latin typeface="Noto Sans CJK JP"/>
              </a:defRPr>
              <a:buChar char="•"/>
            </a:pPr>
            <a:r>
              <a:rPr sz="2000" b="0" lang="ja-JP">
                <a:solidFill>
                  <a:srgbClr val="303437"/>
                </a:solidFill>
                <a:latin typeface="Noto Sans CJK JP"/>
                <a:ea typeface="Noto Sans CJK JP"/>
                <a:cs typeface="Noto Sans CJK JP"/>
              </a:rPr>
              <a:t>各段落を1回ずつ集計（質問数による重複は含めない）。</a:t>
            </a:r>
            <a:endParaRPr sz="2000" lang="ja-JP"/>
          </a:p>
          <a:p>
            <a:pPr algn="l" marL="203200" indent="-152400">
              <a:lnSpc>
                <a:spcPct val="113000"/>
              </a:lnSpc>
              <a:spcBef>
                <a:spcPts val="0"/>
              </a:spcBef>
              <a:spcAft>
                <a:spcPts val="500"/>
              </a:spcAft>
              <a:defRPr sz="2000">
                <a:latin typeface="Noto Sans CJK JP"/>
              </a:defRPr>
              <a:buChar char="•"/>
            </a:pPr>
            <a:r>
              <a:rPr sz="2000" b="0" lang="ja-JP">
                <a:solidFill>
                  <a:srgbClr val="303437"/>
                </a:solidFill>
                <a:latin typeface="Noto Sans CJK JP"/>
                <a:ea typeface="Noto Sans CJK JP"/>
                <a:cs typeface="Noto Sans CJK JP"/>
              </a:rPr>
              <a:t>文字数は前後空白除去／単語数は空白分割。</a:t>
            </a:r>
            <a:endParaRPr sz="2000" lang="ja-JP"/>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各行の最大値に対応するIDと具体例は、以降の「最大値の実例」に掲載。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入力段落の記述統計 バージョン2.0・train</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context [1]</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件数</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平均</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SD</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中央値</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95%点</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最大</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文字数</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19035</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735.5</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309.8</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677.0</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1310.3</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3706</a:t>
                      </a:r>
                      <a:endParaRPr sz="1700" lang="ja-JP"/>
                    </a:p>
                  </a:txBody>
                  <a:tcPr marL="38100" marR="38100" marT="38100" marB="38100">
                    <a:lnL w="0">
                      <a:noFill/>
                    </a:lnL>
                    <a:lnR w="0">
                      <a:noFill/>
                    </a:lnR>
                    <a:lnT w="0">
                      <a:noFill/>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単語数</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19035</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116.6</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49.7</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107.0</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209.0</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653</a:t>
                      </a:r>
                      <a:endParaRPr sz="1700" lang="ja-JP"/>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nvSpPr>
        <p:spPr>
          <a:xfrm>
            <a:off x="594360" y="3703320"/>
            <a:ext cx="8046720" cy="771525"/>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2000">
                <a:latin typeface="Noto Sans CJK JP"/>
              </a:defRPr>
              <a:buChar char="•"/>
            </a:pPr>
            <a:r>
              <a:rPr sz="2000" b="0" lang="ja-JP">
                <a:solidFill>
                  <a:srgbClr val="303437"/>
                </a:solidFill>
                <a:latin typeface="Noto Sans CJK JP"/>
                <a:ea typeface="Noto Sans CJK JP"/>
                <a:cs typeface="Noto Sans CJK JP"/>
              </a:rPr>
              <a:t>各段落を1回ずつ集計（質問数による重複は含めない）。</a:t>
            </a:r>
            <a:endParaRPr sz="2000" lang="ja-JP"/>
          </a:p>
          <a:p>
            <a:pPr algn="l" marL="203200" indent="-152400">
              <a:lnSpc>
                <a:spcPct val="113000"/>
              </a:lnSpc>
              <a:spcBef>
                <a:spcPts val="0"/>
              </a:spcBef>
              <a:spcAft>
                <a:spcPts val="500"/>
              </a:spcAft>
              <a:defRPr sz="2000">
                <a:latin typeface="Noto Sans CJK JP"/>
              </a:defRPr>
              <a:buChar char="•"/>
            </a:pPr>
            <a:r>
              <a:rPr sz="2000" b="0" lang="ja-JP">
                <a:solidFill>
                  <a:srgbClr val="303437"/>
                </a:solidFill>
                <a:latin typeface="Noto Sans CJK JP"/>
                <a:ea typeface="Noto Sans CJK JP"/>
                <a:cs typeface="Noto Sans CJK JP"/>
              </a:rPr>
              <a:t>文字数は前後空白除去／単語数は空白分割。</a:t>
            </a:r>
            <a:endParaRPr sz="2000" lang="ja-JP"/>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各行の最大値に対応するIDと具体例は、以降の「最大値の実例」に掲載。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入力段落の記述統計 バージョン2.0・dev</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context [1]</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件数</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平均</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SD</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中央値</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95%点</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最大</a:t>
                      </a:r>
                      <a:endParaRPr sz="17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文字数</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1204</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802.6</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359.6</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711.5</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1425.9</a:t>
                      </a:r>
                      <a:endParaRPr sz="17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4063</a:t>
                      </a:r>
                      <a:endParaRPr sz="1700" lang="ja-JP"/>
                    </a:p>
                  </a:txBody>
                  <a:tcPr marL="38100" marR="38100" marT="38100" marB="38100">
                    <a:lnL w="0">
                      <a:noFill/>
                    </a:lnL>
                    <a:lnR w="0">
                      <a:noFill/>
                    </a:lnR>
                    <a:lnT w="0">
                      <a:noFill/>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単語数</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1204</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126.6</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57.4</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113.0</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223.8</a:t>
                      </a:r>
                      <a:endParaRPr sz="17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629</a:t>
                      </a:r>
                      <a:endParaRPr sz="1700" lang="ja-JP"/>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nvSpPr>
        <p:spPr>
          <a:xfrm>
            <a:off x="594360" y="3703320"/>
            <a:ext cx="8046720" cy="771525"/>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2000">
                <a:latin typeface="Noto Sans CJK JP"/>
              </a:defRPr>
              <a:buChar char="•"/>
            </a:pPr>
            <a:r>
              <a:rPr sz="2000" b="0" lang="ja-JP">
                <a:solidFill>
                  <a:srgbClr val="303437"/>
                </a:solidFill>
                <a:latin typeface="Noto Sans CJK JP"/>
                <a:ea typeface="Noto Sans CJK JP"/>
                <a:cs typeface="Noto Sans CJK JP"/>
              </a:rPr>
              <a:t>各段落を1回ずつ集計（質問数による重複は含めない）。</a:t>
            </a:r>
            <a:endParaRPr sz="2000" lang="ja-JP"/>
          </a:p>
          <a:p>
            <a:pPr algn="l" marL="203200" indent="-152400">
              <a:lnSpc>
                <a:spcPct val="113000"/>
              </a:lnSpc>
              <a:spcBef>
                <a:spcPts val="0"/>
              </a:spcBef>
              <a:spcAft>
                <a:spcPts val="500"/>
              </a:spcAft>
              <a:defRPr sz="2000">
                <a:latin typeface="Noto Sans CJK JP"/>
              </a:defRPr>
              <a:buChar char="•"/>
            </a:pPr>
            <a:r>
              <a:rPr sz="2000" b="0" lang="ja-JP">
                <a:solidFill>
                  <a:srgbClr val="303437"/>
                </a:solidFill>
                <a:latin typeface="Noto Sans CJK JP"/>
                <a:ea typeface="Noto Sans CJK JP"/>
                <a:cs typeface="Noto Sans CJK JP"/>
              </a:rPr>
              <a:t>文字数は前後空白除去／単語数は空白分割。</a:t>
            </a:r>
            <a:endParaRPr sz="2000" lang="ja-JP"/>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各行の最大値に対応するIDと具体例は、以降の「最大値の実例」に掲載。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最大値の実例 1 Age of Enlightenment</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94360" y="1465897"/>
            <a:ext cx="8046720" cy="3086100"/>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1900">
                <a:latin typeface="Noto Sans CJK JP"/>
              </a:defRPr>
              <a:buChar char="•"/>
            </a:pPr>
            <a:r>
              <a:rPr sz="1900" b="0" lang="ja-JP">
                <a:solidFill>
                  <a:srgbClr val="303437"/>
                </a:solidFill>
                <a:latin typeface="Noto Sans CJK JP"/>
                <a:ea typeface="Noto Sans CJK JP"/>
                <a:cs typeface="Noto Sans CJK JP"/>
              </a:rPr>
              <a:t>質問文字数 270／質問単語数 40 [1]</a:t>
            </a:r>
            <a:endParaRPr sz="1900" lang="ja-JP"/>
          </a:p>
          <a:p>
            <a:pPr algn="l" marL="203200" indent="-152400">
              <a:lnSpc>
                <a:spcPct val="113000"/>
              </a:lnSpc>
              <a:spcBef>
                <a:spcPts val="0"/>
              </a:spcBef>
              <a:spcAft>
                <a:spcPts val="500"/>
              </a:spcAft>
              <a:defRPr sz="1800">
                <a:latin typeface="Noto Sans CJK JP"/>
              </a:defRPr>
              <a:buChar char="•"/>
            </a:pPr>
            <a:r>
              <a:rPr sz="1800" b="0" lang="ja-JP">
                <a:solidFill>
                  <a:srgbClr val="303437"/>
                </a:solidFill>
                <a:latin typeface="Noto Sans CJK JP"/>
                <a:ea typeface="Noto Sans CJK JP"/>
                <a:cs typeface="Noto Sans CJK JP"/>
              </a:rPr>
              <a:t>質問 Which century is considered by some as a "drab" period, however saw significant advancements in the practice of medicine, mathematics, and physics, the development of biological taxonomy, a new understanding of magnetism, and the maturation of chemistry as a discipline?</a:t>
            </a:r>
            <a:endParaRPr sz="1800" lang="ja-JP"/>
          </a:p>
          <a:p>
            <a:pPr algn="l" marL="203200" indent="-152400">
              <a:lnSpc>
                <a:spcPct val="113000"/>
              </a:lnSpc>
              <a:spcBef>
                <a:spcPts val="0"/>
              </a:spcBef>
              <a:spcAft>
                <a:spcPts val="500"/>
              </a:spcAft>
              <a:defRPr sz="1800">
                <a:latin typeface="Noto Sans CJK JP"/>
              </a:defRPr>
              <a:buChar char="•"/>
            </a:pPr>
            <a:r>
              <a:rPr sz="1800" b="0" lang="ja-JP">
                <a:solidFill>
                  <a:srgbClr val="303437"/>
                </a:solidFill>
                <a:latin typeface="Noto Sans CJK JP"/>
                <a:ea typeface="Noto Sans CJK JP"/>
                <a:cs typeface="Noto Sans CJK JP"/>
              </a:rPr>
              <a:t>正解は the 18th century</a:t>
            </a:r>
            <a:endParaRPr sz="1800" lang="ja-JP"/>
          </a:p>
          <a:p>
            <a:pPr algn="l" marL="203200" indent="-152400">
              <a:lnSpc>
                <a:spcPct val="113000"/>
              </a:lnSpc>
              <a:spcBef>
                <a:spcPts val="0"/>
              </a:spcBef>
              <a:spcAft>
                <a:spcPts val="500"/>
              </a:spcAft>
              <a:defRPr sz="1600">
                <a:latin typeface="Noto Sans CJK JP"/>
              </a:defRPr>
              <a:buChar char="•"/>
            </a:pPr>
            <a:r>
              <a:rPr sz="1600" b="0" lang="ja-JP">
                <a:solidFill>
                  <a:srgbClr val="303437"/>
                </a:solidFill>
                <a:latin typeface="Noto Sans CJK JP"/>
                <a:ea typeface="Noto Sans CJK JP"/>
                <a:cs typeface="Noto Sans CJK JP"/>
              </a:rPr>
              <a:t>対象の版と分割は 1.1/train、2.0/train。</a:t>
            </a:r>
            <a:endParaRPr sz="1600" lang="ja-JP"/>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記事名 Age_of_Enlightenment　https://github.com/rajpurkar/SQuAD-explorer/tree/master/dataset　ID 5710dcb5b654c5140001fa10</a:t>
            </a:r>
            <a:endParaRPr sz="85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最大値の原文 1 Age of Enlightenment</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Wikipedia記事の段落から再抜粋（段落全体の長さとは異なる）。</a:t>
            </a:r>
            <a:endParaRPr sz="1700" lang="ja-JP"/>
          </a:p>
        </p:txBody>
      </p:sp>
      <p:sp>
        <p:nvSpPr>
          <p:cNvPr id="5" name="quote-frame"/>
          <p:cNvSpPr/>
          <p:nvPr/>
        </p:nvSpPr>
        <p:spPr>
          <a:xfrm>
            <a:off x="548640" y="1906484"/>
            <a:ext cx="8046720" cy="249300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defRPr sz="1700">
                <a:latin typeface="Liberation Sans"/>
              </a:defRPr>
              <a:buNone/>
            </a:pPr>
            <a:r>
              <a:rPr sz="1700" b="0" lang="ja-JP">
                <a:solidFill>
                  <a:srgbClr val="303437"/>
                </a:solidFill>
                <a:latin typeface="Liberation Sans"/>
                <a:ea typeface="Liberation Sans"/>
                <a:cs typeface="Liberation Sans"/>
              </a:rPr>
              <a:t>Philosophes introduced the public to many scientific theories, most notably through the Encyclopédie and the popularization of Newtonianism by Voltaire and Émilie du Châtelet. Some historians have marked the 18th century as a drab period in the history of science; however, the century saw significant advancements in the practice of medicine, mathematics, and physics; the development of biological taxonomy; a new understanding of magnetism and electricity; and the maturation of chemistry as a discipline, which established the foundations of modern chemistry.</a:t>
            </a:r>
            <a:endParaRPr sz="1700" lang="ja-JP"/>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https://github.com/rajpurkar/SQuAD-explorer/tree/master/dataset　ID 5710dcb5b654c5140001fa10</a:t>
            </a:r>
            <a:endParaRPr sz="85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最大値の実例 2 Sahara</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94360" y="1465897"/>
            <a:ext cx="8046720" cy="3086100"/>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1900">
                <a:latin typeface="Noto Sans CJK JP"/>
              </a:defRPr>
              <a:buChar char="•"/>
            </a:pPr>
            <a:r>
              <a:rPr sz="1900" b="0" lang="ja-JP">
                <a:solidFill>
                  <a:srgbClr val="303437"/>
                </a:solidFill>
                <a:latin typeface="Noto Sans CJK JP"/>
                <a:ea typeface="Noto Sans CJK JP"/>
                <a:cs typeface="Noto Sans CJK JP"/>
              </a:rPr>
              <a:t>段落文字数 3706／段落単語数 653 </a:t>
            </a:r>
            <a:r>
              <a:rPr sz="950" b="0" lang="ja-JP">
                <a:solidFill>
                  <a:srgbClr val="626669"/>
                </a:solidFill>
                <a:latin typeface="Noto Sans CJK JP"/>
                <a:ea typeface="Noto Sans CJK JP"/>
                <a:cs typeface="Noto Sans CJK JP"/>
              </a:rPr>
              <a:t>[1]</a:t>
            </a:r>
            <a:r>
              <a:rPr sz="1900" b="0" lang="ja-JP">
                <a:solidFill>
                  <a:srgbClr val="303437"/>
                </a:solidFill>
                <a:latin typeface="Noto Sans CJK JP"/>
                <a:ea typeface="Noto Sans CJK JP"/>
                <a:cs typeface="Noto Sans CJK JP"/>
              </a:rPr>
              <a:t>。</a:t>
            </a:r>
            <a:endParaRPr sz="1900" lang="ja-JP"/>
          </a:p>
          <a:p>
            <a:pPr algn="l" marL="203200" indent="-152400">
              <a:lnSpc>
                <a:spcPct val="113000"/>
              </a:lnSpc>
              <a:spcBef>
                <a:spcPts val="0"/>
              </a:spcBef>
              <a:spcAft>
                <a:spcPts val="500"/>
              </a:spcAft>
              <a:defRPr sz="1800">
                <a:latin typeface="Noto Sans CJK JP"/>
              </a:defRPr>
              <a:buChar char="•"/>
            </a:pPr>
            <a:r>
              <a:rPr sz="1800" b="0" lang="ja-JP">
                <a:solidFill>
                  <a:srgbClr val="303437"/>
                </a:solidFill>
                <a:latin typeface="Noto Sans CJK JP"/>
                <a:ea typeface="Noto Sans CJK JP"/>
                <a:cs typeface="Noto Sans CJK JP"/>
              </a:rPr>
              <a:t>質問 What is the largest hottest continuously large area worldwide?</a:t>
            </a:r>
            <a:endParaRPr sz="1800" lang="ja-JP"/>
          </a:p>
          <a:p>
            <a:pPr algn="l" marL="203200" indent="-152400">
              <a:lnSpc>
                <a:spcPct val="113000"/>
              </a:lnSpc>
              <a:spcBef>
                <a:spcPts val="0"/>
              </a:spcBef>
              <a:spcAft>
                <a:spcPts val="500"/>
              </a:spcAft>
              <a:defRPr sz="1800">
                <a:latin typeface="Noto Sans CJK JP"/>
              </a:defRPr>
              <a:buChar char="•"/>
            </a:pPr>
            <a:r>
              <a:rPr sz="1800" b="0" lang="ja-JP">
                <a:solidFill>
                  <a:srgbClr val="303437"/>
                </a:solidFill>
                <a:latin typeface="Noto Sans CJK JP"/>
                <a:ea typeface="Noto Sans CJK JP"/>
                <a:cs typeface="Noto Sans CJK JP"/>
              </a:rPr>
              <a:t>正解は the Great Desert</a:t>
            </a:r>
            <a:endParaRPr sz="1800" lang="ja-JP"/>
          </a:p>
          <a:p>
            <a:pPr algn="l" marL="203200" indent="-152400">
              <a:lnSpc>
                <a:spcPct val="113000"/>
              </a:lnSpc>
              <a:spcBef>
                <a:spcPts val="0"/>
              </a:spcBef>
              <a:spcAft>
                <a:spcPts val="500"/>
              </a:spcAft>
              <a:defRPr sz="1600">
                <a:latin typeface="Noto Sans CJK JP"/>
              </a:defRPr>
              <a:buChar char="•"/>
            </a:pPr>
            <a:r>
              <a:rPr sz="1600" b="0" lang="ja-JP">
                <a:solidFill>
                  <a:srgbClr val="303437"/>
                </a:solidFill>
                <a:latin typeface="Noto Sans CJK JP"/>
                <a:ea typeface="Noto Sans CJK JP"/>
                <a:cs typeface="Noto Sans CJK JP"/>
              </a:rPr>
              <a:t>対象の版と分割は 1.1/train、2.0/train。</a:t>
            </a:r>
            <a:endParaRPr sz="1600" lang="ja-JP"/>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記事名 Sahara　https://github.com/rajpurkar/SQuAD-explorer/tree/master/dataset　ID 5728c4163acd2414000dfddf</a:t>
            </a:r>
            <a:endParaRPr sz="85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最大値の原文 2 Sahara</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Wikipedia記事の段落から再抜粋（段落全体の長さとは異なる）。</a:t>
            </a:r>
            <a:endParaRPr sz="1700" lang="ja-JP"/>
          </a:p>
        </p:txBody>
      </p:sp>
      <p:sp>
        <p:nvSpPr>
          <p:cNvPr id="5" name="quote-frame"/>
          <p:cNvSpPr/>
          <p:nvPr/>
        </p:nvSpPr>
        <p:spPr>
          <a:xfrm>
            <a:off x="548640" y="1906484"/>
            <a:ext cx="8046720" cy="249300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defRPr sz="1700">
                <a:latin typeface="Liberation Sans"/>
              </a:defRPr>
              <a:buNone/>
            </a:pPr>
            <a:r>
              <a:rPr sz="1700" b="0" lang="ja-JP">
                <a:solidFill>
                  <a:srgbClr val="303437"/>
                </a:solidFill>
                <a:latin typeface="Liberation Sans"/>
                <a:ea typeface="Liberation Sans"/>
                <a:cs typeface="Liberation Sans"/>
              </a:rPr>
              <a:t>A value of 4,300 h or 98% of the time would be recorded in Upper Egypt (Aswan, Luxor) and in the Nubian Desert (Wadi Halfa). The annual average direct solar irradiation is around 2,800 kWh/(m2 year) in the Great Desert. The Sahara has a huge potential for solar energy production. The constantly high position of the sun, the extremely low relative humidity, the lack of vegetation and rainfall make the Great Desert the hottest continuously large area worldwide and certainly the hottest place on Earth during summertime in some spots.</a:t>
            </a:r>
            <a:endParaRPr sz="1700" lang="ja-JP"/>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https://github.com/rajpurkar/SQuAD-explorer/tree/master/dataset　ID 5728c4163acd2414000dfddf</a:t>
            </a:r>
            <a:endParaRPr sz="85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最大値の実例 3 2008 Sichuan earthquake</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94360" y="1465897"/>
            <a:ext cx="8046720" cy="3086100"/>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1900">
                <a:latin typeface="Noto Sans CJK JP"/>
              </a:defRPr>
              <a:buChar char="•"/>
            </a:pPr>
            <a:r>
              <a:rPr sz="1900" b="0" lang="ja-JP">
                <a:solidFill>
                  <a:srgbClr val="303437"/>
                </a:solidFill>
                <a:latin typeface="Noto Sans CJK JP"/>
                <a:ea typeface="Noto Sans CJK JP"/>
                <a:cs typeface="Noto Sans CJK JP"/>
              </a:rPr>
              <a:t>回答文字数 239／回答単語数 43 </a:t>
            </a:r>
            <a:r>
              <a:rPr sz="950" b="0" lang="ja-JP">
                <a:solidFill>
                  <a:srgbClr val="626669"/>
                </a:solidFill>
                <a:latin typeface="Noto Sans CJK JP"/>
                <a:ea typeface="Noto Sans CJK JP"/>
                <a:cs typeface="Noto Sans CJK JP"/>
              </a:rPr>
              <a:t>[1]</a:t>
            </a:r>
            <a:r>
              <a:rPr sz="1900" b="0" lang="ja-JP">
                <a:solidFill>
                  <a:srgbClr val="303437"/>
                </a:solidFill>
                <a:latin typeface="Noto Sans CJK JP"/>
                <a:ea typeface="Noto Sans CJK JP"/>
                <a:cs typeface="Noto Sans CJK JP"/>
              </a:rPr>
              <a:t>。</a:t>
            </a:r>
            <a:endParaRPr sz="1900" lang="ja-JP"/>
          </a:p>
          <a:p>
            <a:pPr algn="l" marL="203200" indent="-152400">
              <a:lnSpc>
                <a:spcPct val="113000"/>
              </a:lnSpc>
              <a:spcBef>
                <a:spcPts val="0"/>
              </a:spcBef>
              <a:spcAft>
                <a:spcPts val="500"/>
              </a:spcAft>
              <a:defRPr sz="1800">
                <a:latin typeface="Noto Sans CJK JP"/>
              </a:defRPr>
              <a:buChar char="•"/>
            </a:pPr>
            <a:r>
              <a:rPr sz="1800" b="0" lang="ja-JP">
                <a:solidFill>
                  <a:srgbClr val="303437"/>
                </a:solidFill>
                <a:latin typeface="Noto Sans CJK JP"/>
                <a:ea typeface="Noto Sans CJK JP"/>
                <a:cs typeface="Noto Sans CJK JP"/>
              </a:rPr>
              <a:t>質問 What was concluded about the construction?</a:t>
            </a:r>
            <a:endParaRPr sz="1800" lang="ja-JP"/>
          </a:p>
          <a:p>
            <a:pPr algn="l" marL="203200" indent="-152400">
              <a:lnSpc>
                <a:spcPct val="113000"/>
              </a:lnSpc>
              <a:spcBef>
                <a:spcPts val="0"/>
              </a:spcBef>
              <a:spcAft>
                <a:spcPts val="500"/>
              </a:spcAft>
              <a:defRPr sz="1800">
                <a:latin typeface="Noto Sans CJK JP"/>
              </a:defRPr>
              <a:buChar char="•"/>
            </a:pPr>
            <a:r>
              <a:rPr sz="1800" b="0" lang="ja-JP">
                <a:solidFill>
                  <a:srgbClr val="303437"/>
                </a:solidFill>
                <a:latin typeface="Noto Sans CJK JP"/>
                <a:ea typeface="Noto Sans CJK JP"/>
                <a:cs typeface="Noto Sans CJK JP"/>
              </a:rPr>
              <a:t>正解は that the sudden shift of a huge quantity of water into the region could have relaxed the tension between the two sides of the fault, allowing them to move apart, and could have increased the direct pressure on it, causing a violent rupture</a:t>
            </a:r>
            <a:endParaRPr sz="1800" lang="ja-JP"/>
          </a:p>
          <a:p>
            <a:pPr algn="l" marL="203200" indent="-152400">
              <a:lnSpc>
                <a:spcPct val="113000"/>
              </a:lnSpc>
              <a:spcBef>
                <a:spcPts val="0"/>
              </a:spcBef>
              <a:spcAft>
                <a:spcPts val="500"/>
              </a:spcAft>
              <a:defRPr sz="1600">
                <a:latin typeface="Noto Sans CJK JP"/>
              </a:defRPr>
              <a:buChar char="•"/>
            </a:pPr>
            <a:r>
              <a:rPr sz="1600" b="0" lang="ja-JP">
                <a:solidFill>
                  <a:srgbClr val="303437"/>
                </a:solidFill>
                <a:latin typeface="Noto Sans CJK JP"/>
                <a:ea typeface="Noto Sans CJK JP"/>
                <a:cs typeface="Noto Sans CJK JP"/>
              </a:rPr>
              <a:t>対象の版と分割は 1.1/train、2.0/train。</a:t>
            </a:r>
            <a:endParaRPr sz="1600" lang="ja-JP"/>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記事名 2008_Sichuan_earthquake　https://github.com/rajpurkar/SQuAD-explorer/tree/master/dataset　ID 56cec3e8aab44d1400b88a02</a:t>
            </a:r>
            <a:endParaRPr sz="85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最大値の原文 3 2008 Sichuan earthquake</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Wikipedia記事の段落から再抜粋（段落全体の長さとは異なる）。</a:t>
            </a:r>
            <a:endParaRPr sz="1700" lang="ja-JP"/>
          </a:p>
        </p:txBody>
      </p:sp>
      <p:sp>
        <p:nvSpPr>
          <p:cNvPr id="5" name="quote-frame"/>
          <p:cNvSpPr/>
          <p:nvPr/>
        </p:nvSpPr>
        <p:spPr>
          <a:xfrm>
            <a:off x="548640" y="1906484"/>
            <a:ext cx="8046720" cy="220033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defRPr sz="1700">
                <a:latin typeface="Liberation Sans"/>
              </a:defRPr>
              <a:buNone/>
            </a:pPr>
            <a:r>
              <a:rPr sz="1700" b="0" lang="ja-JP">
                <a:solidFill>
                  <a:srgbClr val="303437"/>
                </a:solidFill>
                <a:latin typeface="Liberation Sans"/>
                <a:ea typeface="Liberation Sans"/>
                <a:cs typeface="Liberation Sans"/>
              </a:rPr>
              <a:t>An article in Science suggested that the construction and filling of the Zipingpu Dam may have triggered the earthquake. The chief engineer of the Sichuan Geology and Mineral Bureau said that the sudden shift of a huge quantity of water into the region could have relaxed the tension between the two sides of the fault, allowing them to move apart, and could have increased the direct pressure on it, causing a violent rupture. The effect was "25 times more" than a year's worth of natural stress from tectonic movement.</a:t>
            </a:r>
            <a:endParaRPr sz="1700" lang="ja-JP"/>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https://github.com/rajpurkar/SQuAD-explorer/tree/master/dataset　ID 56cec3e8aab44d1400b88a02</a:t>
            </a:r>
            <a:endParaRPr sz="85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最大値の実例 4 Construction</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94360" y="1465897"/>
            <a:ext cx="8046720" cy="3086100"/>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1900">
                <a:latin typeface="Noto Sans CJK JP"/>
              </a:defRPr>
              <a:buChar char="•"/>
            </a:pPr>
            <a:r>
              <a:rPr sz="1900" b="0" lang="ja-JP">
                <a:solidFill>
                  <a:srgbClr val="303437"/>
                </a:solidFill>
                <a:latin typeface="Noto Sans CJK JP"/>
                <a:ea typeface="Noto Sans CJK JP"/>
                <a:cs typeface="Noto Sans CJK JP"/>
              </a:rPr>
              <a:t>質問文字数 197 [1]</a:t>
            </a:r>
            <a:endParaRPr sz="1900" lang="ja-JP"/>
          </a:p>
          <a:p>
            <a:pPr algn="l" marL="203200" indent="-152400">
              <a:lnSpc>
                <a:spcPct val="113000"/>
              </a:lnSpc>
              <a:spcBef>
                <a:spcPts val="0"/>
              </a:spcBef>
              <a:spcAft>
                <a:spcPts val="500"/>
              </a:spcAft>
              <a:defRPr sz="1800">
                <a:latin typeface="Noto Sans CJK JP"/>
              </a:defRPr>
              <a:buChar char="•"/>
            </a:pPr>
            <a:r>
              <a:rPr sz="1800" b="0" lang="ja-JP">
                <a:solidFill>
                  <a:srgbClr val="303437"/>
                </a:solidFill>
                <a:latin typeface="Noto Sans CJK JP"/>
                <a:ea typeface="Noto Sans CJK JP"/>
                <a:cs typeface="Noto Sans CJK JP"/>
              </a:rPr>
              <a:t>質問 What kind of contract is given when the contractor is given a performance specification and must undertake the project from design to construction, while adhering to the performance specifications?</a:t>
            </a:r>
            <a:endParaRPr sz="1800" lang="ja-JP"/>
          </a:p>
          <a:p>
            <a:pPr algn="l" marL="203200" indent="-152400">
              <a:lnSpc>
                <a:spcPct val="113000"/>
              </a:lnSpc>
              <a:spcBef>
                <a:spcPts val="0"/>
              </a:spcBef>
              <a:spcAft>
                <a:spcPts val="500"/>
              </a:spcAft>
              <a:defRPr sz="1800">
                <a:latin typeface="Noto Sans CJK JP"/>
              </a:defRPr>
              <a:buChar char="•"/>
            </a:pPr>
            <a:r>
              <a:rPr sz="1800" b="0" lang="ja-JP">
                <a:solidFill>
                  <a:srgbClr val="303437"/>
                </a:solidFill>
                <a:latin typeface="Noto Sans CJK JP"/>
                <a:ea typeface="Noto Sans CJK JP"/>
                <a:cs typeface="Noto Sans CJK JP"/>
              </a:rPr>
              <a:t>正解は "design build" contract</a:t>
            </a:r>
            <a:endParaRPr sz="1800" lang="ja-JP"/>
          </a:p>
          <a:p>
            <a:pPr algn="l" marL="203200" indent="-152400">
              <a:lnSpc>
                <a:spcPct val="113000"/>
              </a:lnSpc>
              <a:spcBef>
                <a:spcPts val="0"/>
              </a:spcBef>
              <a:spcAft>
                <a:spcPts val="500"/>
              </a:spcAft>
              <a:defRPr sz="1600">
                <a:latin typeface="Noto Sans CJK JP"/>
              </a:defRPr>
              <a:buChar char="•"/>
            </a:pPr>
            <a:r>
              <a:rPr sz="1600" b="0" lang="ja-JP">
                <a:solidFill>
                  <a:srgbClr val="303437"/>
                </a:solidFill>
                <a:latin typeface="Noto Sans CJK JP"/>
                <a:ea typeface="Noto Sans CJK JP"/>
                <a:cs typeface="Noto Sans CJK JP"/>
              </a:rPr>
              <a:t>対象の版と分割は 1.1/dev、2.0/dev。</a:t>
            </a:r>
            <a:endParaRPr sz="1600" lang="ja-JP"/>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記事名 Construction　https://github.com/rajpurkar/SQuAD-explorer/tree/master/dataset　ID 57274e0d708984140094dbe8</a:t>
            </a:r>
            <a:endParaRPr sz="85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最大値の原文 4 Construction</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Wikipedia記事の段落から再抜粋（段落全体の長さとは異なる）。</a:t>
            </a:r>
            <a:endParaRPr sz="1700" lang="ja-JP"/>
          </a:p>
        </p:txBody>
      </p:sp>
      <p:sp>
        <p:nvSpPr>
          <p:cNvPr id="5" name="quote-frame"/>
          <p:cNvSpPr/>
          <p:nvPr/>
        </p:nvSpPr>
        <p:spPr>
          <a:xfrm>
            <a:off x="548640" y="1906484"/>
            <a:ext cx="8046720" cy="220033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defRPr sz="1700">
                <a:latin typeface="Liberation Sans"/>
              </a:defRPr>
              <a:buNone/>
            </a:pPr>
            <a:r>
              <a:rPr sz="1700" b="0" lang="ja-JP">
                <a:solidFill>
                  <a:srgbClr val="303437"/>
                </a:solidFill>
                <a:latin typeface="Liberation Sans"/>
                <a:ea typeface="Liberation Sans"/>
                <a:cs typeface="Liberation Sans"/>
              </a:rPr>
              <a:t>Presently, a firm that is nominally an "architecture" or "construction management" firm may have experts from all related fields as employees, or to have an associated company that provides each necessary skill. Thus, each such firm may offer itself as "one-stop shopping" for a construction project, from beginning to end. This is designated as a "design build" contract where the contractor is given a performance specification and must undertake the project from design to construction, while adhering to the performance specifications.</a:t>
            </a:r>
            <a:endParaRPr sz="1700" lang="ja-JP"/>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https://github.com/rajpurkar/SQuAD-explorer/tree/master/dataset　ID 57274e0d708984140094dbe8</a:t>
            </a:r>
            <a:endParaRPr sz="85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最大値の実例 5 Super Bowl 50</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94360" y="1465897"/>
            <a:ext cx="8046720" cy="3086100"/>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1900">
                <a:latin typeface="Noto Sans CJK JP"/>
              </a:defRPr>
              <a:buChar char="•"/>
            </a:pPr>
            <a:r>
              <a:rPr sz="1900" b="0" lang="ja-JP">
                <a:solidFill>
                  <a:srgbClr val="303437"/>
                </a:solidFill>
                <a:latin typeface="Noto Sans CJK JP"/>
                <a:ea typeface="Noto Sans CJK JP"/>
                <a:cs typeface="Noto Sans CJK JP"/>
              </a:rPr>
              <a:t>質問単語数 33 [1]</a:t>
            </a:r>
            <a:endParaRPr sz="1900" lang="ja-JP"/>
          </a:p>
          <a:p>
            <a:pPr algn="l" marL="203200" indent="-152400">
              <a:lnSpc>
                <a:spcPct val="113000"/>
              </a:lnSpc>
              <a:spcBef>
                <a:spcPts val="0"/>
              </a:spcBef>
              <a:spcAft>
                <a:spcPts val="500"/>
              </a:spcAft>
              <a:defRPr sz="1800">
                <a:latin typeface="Noto Sans CJK JP"/>
              </a:defRPr>
              <a:buChar char="•"/>
            </a:pPr>
            <a:r>
              <a:rPr sz="1800" b="0" lang="ja-JP">
                <a:solidFill>
                  <a:srgbClr val="303437"/>
                </a:solidFill>
                <a:latin typeface="Noto Sans CJK JP"/>
                <a:ea typeface="Noto Sans CJK JP"/>
                <a:cs typeface="Noto Sans CJK JP"/>
              </a:rPr>
              <a:t>質問 What was the name of the event at the The Embarcadero that was held prior to Super Bowl 50 to help show off some of the things that San Francisco has to offer?</a:t>
            </a:r>
            <a:endParaRPr sz="1800" lang="ja-JP"/>
          </a:p>
          <a:p>
            <a:pPr algn="l" marL="203200" indent="-152400">
              <a:lnSpc>
                <a:spcPct val="113000"/>
              </a:lnSpc>
              <a:spcBef>
                <a:spcPts val="0"/>
              </a:spcBef>
              <a:spcAft>
                <a:spcPts val="500"/>
              </a:spcAft>
              <a:defRPr sz="1800">
                <a:latin typeface="Noto Sans CJK JP"/>
              </a:defRPr>
              <a:buChar char="•"/>
            </a:pPr>
            <a:r>
              <a:rPr sz="1800" b="0" lang="ja-JP">
                <a:solidFill>
                  <a:srgbClr val="303437"/>
                </a:solidFill>
                <a:latin typeface="Noto Sans CJK JP"/>
                <a:ea typeface="Noto Sans CJK JP"/>
                <a:cs typeface="Noto Sans CJK JP"/>
              </a:rPr>
              <a:t>正解は Super Bowl City</a:t>
            </a:r>
            <a:endParaRPr sz="1800" lang="ja-JP"/>
          </a:p>
          <a:p>
            <a:pPr algn="l" marL="203200" indent="-152400">
              <a:lnSpc>
                <a:spcPct val="113000"/>
              </a:lnSpc>
              <a:spcBef>
                <a:spcPts val="0"/>
              </a:spcBef>
              <a:spcAft>
                <a:spcPts val="500"/>
              </a:spcAft>
              <a:defRPr sz="1600">
                <a:latin typeface="Noto Sans CJK JP"/>
              </a:defRPr>
              <a:buChar char="•"/>
            </a:pPr>
            <a:r>
              <a:rPr sz="1600" b="0" lang="ja-JP">
                <a:solidFill>
                  <a:srgbClr val="303437"/>
                </a:solidFill>
                <a:latin typeface="Noto Sans CJK JP"/>
                <a:ea typeface="Noto Sans CJK JP"/>
                <a:cs typeface="Noto Sans CJK JP"/>
              </a:rPr>
              <a:t>対象の版と分割は 1.1/dev。</a:t>
            </a:r>
            <a:endParaRPr sz="1600" lang="ja-JP"/>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記事名 Super_Bowl_50　https://github.com/rajpurkar/SQuAD-explorer/tree/master/dataset　ID 56bf53e73aeaaa14008c95ce</a:t>
            </a:r>
            <a:endParaRPr sz="85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最大値の原文 5 Super Bowl 50</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Wikipedia記事の段落から再抜粋（段落全体の長さとは異なる）。</a:t>
            </a:r>
            <a:endParaRPr sz="1700" lang="ja-JP"/>
          </a:p>
        </p:txBody>
      </p:sp>
      <p:sp>
        <p:nvSpPr>
          <p:cNvPr id="5" name="quote-frame"/>
          <p:cNvSpPr/>
          <p:nvPr/>
        </p:nvSpPr>
        <p:spPr>
          <a:xfrm>
            <a:off x="548640" y="1906484"/>
            <a:ext cx="8046720" cy="220033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defRPr sz="1700">
                <a:latin typeface="Liberation Sans"/>
              </a:defRPr>
              <a:buNone/>
            </a:pPr>
            <a:r>
              <a:rPr sz="1700" b="0" lang="ja-JP">
                <a:solidFill>
                  <a:srgbClr val="303437"/>
                </a:solidFill>
                <a:latin typeface="Liberation Sans"/>
                <a:ea typeface="Liberation Sans"/>
                <a:cs typeface="Liberation Sans"/>
              </a:rPr>
              <a:t>The annual NFL Experience was held at the Moscone Center in San Francisco. In addition, "Super Bowl City" opened on January 30 at Justin Herman Plaza on The Embarcadero, featuring games and activities that will highlight the Bay Area's technology, culinary creations, and cultural diversity. More than 1 million people are expected to attend the festivities in San Francisco during Super Bowl Week. San Francisco mayor Ed Lee said of the highly visible homeless presence in this area "they are going to have to leave".</a:t>
            </a:r>
            <a:endParaRPr sz="1700" lang="ja-JP"/>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https://github.com/rajpurkar/SQuAD-explorer/tree/master/dataset　ID 56bf53e73aeaaa14008c95ce</a:t>
            </a:r>
            <a:endParaRPr sz="85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最大値の実例 6 European Union law</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94360" y="1465897"/>
            <a:ext cx="8046720" cy="3086100"/>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1900">
                <a:latin typeface="Noto Sans CJK JP"/>
              </a:defRPr>
              <a:buChar char="•"/>
            </a:pPr>
            <a:r>
              <a:rPr sz="1900" b="0" lang="ja-JP">
                <a:solidFill>
                  <a:srgbClr val="303437"/>
                </a:solidFill>
                <a:latin typeface="Noto Sans CJK JP"/>
                <a:ea typeface="Noto Sans CJK JP"/>
                <a:cs typeface="Noto Sans CJK JP"/>
              </a:rPr>
              <a:t>段落文字数 4063／段落単語数 629 </a:t>
            </a:r>
            <a:r>
              <a:rPr sz="950" b="0" lang="ja-JP">
                <a:solidFill>
                  <a:srgbClr val="626669"/>
                </a:solidFill>
                <a:latin typeface="Noto Sans CJK JP"/>
                <a:ea typeface="Noto Sans CJK JP"/>
                <a:cs typeface="Noto Sans CJK JP"/>
              </a:rPr>
              <a:t>[1]</a:t>
            </a:r>
            <a:r>
              <a:rPr sz="1900" b="0" lang="ja-JP">
                <a:solidFill>
                  <a:srgbClr val="303437"/>
                </a:solidFill>
                <a:latin typeface="Noto Sans CJK JP"/>
                <a:ea typeface="Noto Sans CJK JP"/>
                <a:cs typeface="Noto Sans CJK JP"/>
              </a:rPr>
              <a:t>。</a:t>
            </a:r>
            <a:endParaRPr sz="1900" lang="ja-JP"/>
          </a:p>
          <a:p>
            <a:pPr algn="l" marL="203200" indent="-152400">
              <a:lnSpc>
                <a:spcPct val="113000"/>
              </a:lnSpc>
              <a:spcBef>
                <a:spcPts val="0"/>
              </a:spcBef>
              <a:spcAft>
                <a:spcPts val="500"/>
              </a:spcAft>
              <a:defRPr sz="1800">
                <a:latin typeface="Noto Sans CJK JP"/>
              </a:defRPr>
              <a:buChar char="•"/>
            </a:pPr>
            <a:r>
              <a:rPr sz="1800" b="0" lang="ja-JP">
                <a:solidFill>
                  <a:srgbClr val="303437"/>
                </a:solidFill>
                <a:latin typeface="Noto Sans CJK JP"/>
                <a:ea typeface="Noto Sans CJK JP"/>
                <a:cs typeface="Noto Sans CJK JP"/>
              </a:rPr>
              <a:t>質問 The freedom to provide services under TFEU article 56 applies to who?</a:t>
            </a:r>
            <a:endParaRPr sz="1800" lang="ja-JP"/>
          </a:p>
          <a:p>
            <a:pPr algn="l" marL="203200" indent="-152400">
              <a:lnSpc>
                <a:spcPct val="113000"/>
              </a:lnSpc>
              <a:spcBef>
                <a:spcPts val="0"/>
              </a:spcBef>
              <a:spcAft>
                <a:spcPts val="500"/>
              </a:spcAft>
              <a:defRPr sz="1800">
                <a:latin typeface="Noto Sans CJK JP"/>
              </a:defRPr>
              <a:buChar char="•"/>
            </a:pPr>
            <a:r>
              <a:rPr sz="1800" b="0" lang="ja-JP">
                <a:solidFill>
                  <a:srgbClr val="303437"/>
                </a:solidFill>
                <a:latin typeface="Noto Sans CJK JP"/>
                <a:ea typeface="Noto Sans CJK JP"/>
                <a:cs typeface="Noto Sans CJK JP"/>
              </a:rPr>
              <a:t>正解は to people who give services "for remuneration"</a:t>
            </a:r>
            <a:endParaRPr sz="1800" lang="ja-JP"/>
          </a:p>
          <a:p>
            <a:pPr algn="l" marL="203200" indent="-152400">
              <a:lnSpc>
                <a:spcPct val="113000"/>
              </a:lnSpc>
              <a:spcBef>
                <a:spcPts val="0"/>
              </a:spcBef>
              <a:spcAft>
                <a:spcPts val="500"/>
              </a:spcAft>
              <a:defRPr sz="1600">
                <a:latin typeface="Noto Sans CJK JP"/>
              </a:defRPr>
              <a:buChar char="•"/>
            </a:pPr>
            <a:r>
              <a:rPr sz="1600" b="0" lang="ja-JP">
                <a:solidFill>
                  <a:srgbClr val="303437"/>
                </a:solidFill>
                <a:latin typeface="Noto Sans CJK JP"/>
                <a:ea typeface="Noto Sans CJK JP"/>
                <a:cs typeface="Noto Sans CJK JP"/>
              </a:rPr>
              <a:t>対象の版と分割は 1.1/dev、2.0/dev。</a:t>
            </a:r>
            <a:endParaRPr sz="1600" lang="ja-JP"/>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記事名 European_Union_law　https://github.com/rajpurkar/SQuAD-explorer/tree/master/dataset　ID 5726c3da708984140094d0d9</a:t>
            </a:r>
            <a:endParaRPr sz="85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最大値の原文 6 European Union law</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Wikipedia記事の段落から再抜粋（段落全体の長さとは異なる）。</a:t>
            </a:r>
            <a:endParaRPr sz="1700" lang="ja-JP"/>
          </a:p>
        </p:txBody>
      </p:sp>
      <p:sp>
        <p:nvSpPr>
          <p:cNvPr id="5" name="quote-frame"/>
          <p:cNvSpPr/>
          <p:nvPr/>
        </p:nvSpPr>
        <p:spPr>
          <a:xfrm>
            <a:off x="548640" y="1906484"/>
            <a:ext cx="8046720" cy="190765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defRPr sz="1700">
                <a:latin typeface="Liberation Sans"/>
              </a:defRPr>
              <a:buNone/>
            </a:pPr>
            <a:r>
              <a:rPr sz="1700" b="0" lang="ja-JP">
                <a:solidFill>
                  <a:srgbClr val="303437"/>
                </a:solidFill>
                <a:latin typeface="Liberation Sans"/>
                <a:ea typeface="Liberation Sans"/>
                <a:cs typeface="Liberation Sans"/>
              </a:rPr>
              <a:t>The "freedom to provide services" under TFEU article 56 applies to people who give services "for remuneration", especially commercial or professional activity. For example, in Van Binsbergen v Bestuur van de Bedrijfvereniging voor de Metaalnijverheid a Dutch lawyer moved to Belgium while advising a client in a social security case, and was told he could not continue because Dutch law said only people established in the Netherlands could give legal advice.</a:t>
            </a:r>
            <a:endParaRPr sz="1700" lang="ja-JP"/>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https://github.com/rajpurkar/SQuAD-explorer/tree/master/dataset　ID 5726c3da708984140094d0d9</a:t>
            </a:r>
            <a:endParaRPr sz="85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最大値の実例 7 French and Indian War</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94360" y="1465897"/>
            <a:ext cx="8046720" cy="3086100"/>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1900">
                <a:latin typeface="Noto Sans CJK JP"/>
              </a:defRPr>
              <a:buChar char="•"/>
            </a:pPr>
            <a:r>
              <a:rPr sz="1900" b="0" lang="ja-JP">
                <a:solidFill>
                  <a:srgbClr val="303437"/>
                </a:solidFill>
                <a:latin typeface="Noto Sans CJK JP"/>
                <a:ea typeface="Noto Sans CJK JP"/>
                <a:cs typeface="Noto Sans CJK JP"/>
              </a:rPr>
              <a:t>回答文字数 160 </a:t>
            </a:r>
            <a:r>
              <a:rPr sz="950" b="0" lang="ja-JP">
                <a:solidFill>
                  <a:srgbClr val="626669"/>
                </a:solidFill>
                <a:latin typeface="Noto Sans CJK JP"/>
                <a:ea typeface="Noto Sans CJK JP"/>
                <a:cs typeface="Noto Sans CJK JP"/>
              </a:rPr>
              <a:t>[1]</a:t>
            </a:r>
            <a:r>
              <a:rPr sz="1900" b="0" lang="ja-JP">
                <a:solidFill>
                  <a:srgbClr val="303437"/>
                </a:solidFill>
                <a:latin typeface="Noto Sans CJK JP"/>
                <a:ea typeface="Noto Sans CJK JP"/>
                <a:cs typeface="Noto Sans CJK JP"/>
              </a:rPr>
              <a:t>。</a:t>
            </a:r>
            <a:endParaRPr sz="1900" lang="ja-JP"/>
          </a:p>
          <a:p>
            <a:pPr algn="l" marL="203200" indent="-152400">
              <a:lnSpc>
                <a:spcPct val="113000"/>
              </a:lnSpc>
              <a:spcBef>
                <a:spcPts val="0"/>
              </a:spcBef>
              <a:spcAft>
                <a:spcPts val="500"/>
              </a:spcAft>
              <a:defRPr sz="1800">
                <a:latin typeface="Noto Sans CJK JP"/>
              </a:defRPr>
              <a:buChar char="•"/>
            </a:pPr>
            <a:r>
              <a:rPr sz="1800" b="0" lang="ja-JP">
                <a:solidFill>
                  <a:srgbClr val="303437"/>
                </a:solidFill>
                <a:latin typeface="Noto Sans CJK JP"/>
                <a:ea typeface="Noto Sans CJK JP"/>
                <a:cs typeface="Noto Sans CJK JP"/>
              </a:rPr>
              <a:t>質問 What was normal British defense?</a:t>
            </a:r>
            <a:endParaRPr sz="1800" lang="ja-JP"/>
          </a:p>
          <a:p>
            <a:pPr algn="l" marL="203200" indent="-152400">
              <a:lnSpc>
                <a:spcPct val="113000"/>
              </a:lnSpc>
              <a:spcBef>
                <a:spcPts val="0"/>
              </a:spcBef>
              <a:spcAft>
                <a:spcPts val="500"/>
              </a:spcAft>
              <a:defRPr sz="1800">
                <a:latin typeface="Noto Sans CJK JP"/>
              </a:defRPr>
              <a:buChar char="•"/>
            </a:pPr>
            <a:r>
              <a:rPr sz="1800" b="0" lang="ja-JP">
                <a:solidFill>
                  <a:srgbClr val="303437"/>
                </a:solidFill>
                <a:latin typeface="Noto Sans CJK JP"/>
                <a:ea typeface="Noto Sans CJK JP"/>
                <a:cs typeface="Noto Sans CJK JP"/>
              </a:rPr>
              <a:t>正解は mustered local militia companies, generally ill trained and available only for short periods, to deal with native threats, but did not have any standing forces.</a:t>
            </a:r>
            <a:endParaRPr sz="1800" lang="ja-JP"/>
          </a:p>
          <a:p>
            <a:pPr algn="l" marL="203200" indent="-152400">
              <a:lnSpc>
                <a:spcPct val="113000"/>
              </a:lnSpc>
              <a:spcBef>
                <a:spcPts val="0"/>
              </a:spcBef>
              <a:spcAft>
                <a:spcPts val="500"/>
              </a:spcAft>
              <a:defRPr sz="1600">
                <a:latin typeface="Noto Sans CJK JP"/>
              </a:defRPr>
              <a:buChar char="•"/>
            </a:pPr>
            <a:r>
              <a:rPr sz="1600" b="0" lang="ja-JP">
                <a:solidFill>
                  <a:srgbClr val="303437"/>
                </a:solidFill>
                <a:latin typeface="Noto Sans CJK JP"/>
                <a:ea typeface="Noto Sans CJK JP"/>
                <a:cs typeface="Noto Sans CJK JP"/>
              </a:rPr>
              <a:t>対象の版と分割は 1.1/dev、2.0/dev。</a:t>
            </a:r>
            <a:endParaRPr sz="1600" lang="ja-JP"/>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記事名 French_and_Indian_War　https://github.com/rajpurkar/SQuAD-explorer/tree/master/dataset　ID 5733dab4d058e614000b640b</a:t>
            </a:r>
            <a:endParaRPr sz="85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最大値の原文 7 French and Indian War</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Wikipedia記事の段落から再抜粋（段落全体の長さとは異なる）。</a:t>
            </a:r>
            <a:endParaRPr sz="1700" lang="ja-JP"/>
          </a:p>
        </p:txBody>
      </p:sp>
      <p:sp>
        <p:nvSpPr>
          <p:cNvPr id="5" name="quote-frame"/>
          <p:cNvSpPr/>
          <p:nvPr/>
        </p:nvSpPr>
        <p:spPr>
          <a:xfrm>
            <a:off x="548640" y="1906484"/>
            <a:ext cx="8046720" cy="190765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defRPr sz="1700">
                <a:latin typeface="Liberation Sans"/>
              </a:defRPr>
              <a:buNone/>
            </a:pPr>
            <a:r>
              <a:rPr sz="1700" b="0" lang="ja-JP">
                <a:solidFill>
                  <a:srgbClr val="303437"/>
                </a:solidFill>
                <a:latin typeface="Liberation Sans"/>
                <a:ea typeface="Liberation Sans"/>
                <a:cs typeface="Liberation Sans"/>
              </a:rPr>
              <a:t>New France was defended by about 3,000 troupes de la marine, companies of colonial regulars (some of whom had significant woodland combat experience). The colonial government recruited militia support when needed. Most British colonies mustered local militia companies, generally ill trained and available only for short periods, to deal with native threats, but did not have any standing forces.</a:t>
            </a:r>
            <a:endParaRPr sz="1700" lang="ja-JP"/>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https://github.com/rajpurkar/SQuAD-explorer/tree/master/dataset　ID 5733dab4d058e614000b640b</a:t>
            </a:r>
            <a:endParaRPr sz="85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最大値の実例 8 Ctenophora</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94360" y="1465897"/>
            <a:ext cx="8046720" cy="3086100"/>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1900">
                <a:latin typeface="Noto Sans CJK JP"/>
              </a:defRPr>
              <a:buChar char="•"/>
            </a:pPr>
            <a:r>
              <a:rPr sz="1900" b="0" lang="ja-JP">
                <a:solidFill>
                  <a:srgbClr val="303437"/>
                </a:solidFill>
                <a:latin typeface="Noto Sans CJK JP"/>
                <a:ea typeface="Noto Sans CJK JP"/>
                <a:cs typeface="Noto Sans CJK JP"/>
              </a:rPr>
              <a:t>回答単語数 29 </a:t>
            </a:r>
            <a:r>
              <a:rPr sz="950" b="0" lang="ja-JP">
                <a:solidFill>
                  <a:srgbClr val="626669"/>
                </a:solidFill>
                <a:latin typeface="Noto Sans CJK JP"/>
                <a:ea typeface="Noto Sans CJK JP"/>
                <a:cs typeface="Noto Sans CJK JP"/>
              </a:rPr>
              <a:t>[1]</a:t>
            </a:r>
            <a:r>
              <a:rPr sz="1900" b="0" lang="ja-JP">
                <a:solidFill>
                  <a:srgbClr val="303437"/>
                </a:solidFill>
                <a:latin typeface="Noto Sans CJK JP"/>
                <a:ea typeface="Noto Sans CJK JP"/>
                <a:cs typeface="Noto Sans CJK JP"/>
              </a:rPr>
              <a:t>。</a:t>
            </a:r>
            <a:endParaRPr sz="1900" lang="ja-JP"/>
          </a:p>
          <a:p>
            <a:pPr algn="l" marL="203200" indent="-152400">
              <a:lnSpc>
                <a:spcPct val="113000"/>
              </a:lnSpc>
              <a:spcBef>
                <a:spcPts val="0"/>
              </a:spcBef>
              <a:spcAft>
                <a:spcPts val="500"/>
              </a:spcAft>
              <a:defRPr sz="1800">
                <a:latin typeface="Noto Sans CJK JP"/>
              </a:defRPr>
              <a:buChar char="•"/>
            </a:pPr>
            <a:r>
              <a:rPr sz="1800" b="0" lang="ja-JP">
                <a:solidFill>
                  <a:srgbClr val="303437"/>
                </a:solidFill>
                <a:latin typeface="Noto Sans CJK JP"/>
                <a:ea typeface="Noto Sans CJK JP"/>
                <a:cs typeface="Noto Sans CJK JP"/>
              </a:rPr>
              <a:t>質問 What does the internal cavity contain?</a:t>
            </a:r>
            <a:endParaRPr sz="1800" lang="ja-JP"/>
          </a:p>
          <a:p>
            <a:pPr algn="l" marL="203200" indent="-152400">
              <a:lnSpc>
                <a:spcPct val="113000"/>
              </a:lnSpc>
              <a:spcBef>
                <a:spcPts val="0"/>
              </a:spcBef>
              <a:spcAft>
                <a:spcPts val="500"/>
              </a:spcAft>
              <a:defRPr sz="1800">
                <a:latin typeface="Noto Sans CJK JP"/>
              </a:defRPr>
              <a:buChar char="•"/>
            </a:pPr>
            <a:r>
              <a:rPr sz="1800" b="0" lang="ja-JP">
                <a:solidFill>
                  <a:srgbClr val="303437"/>
                </a:solidFill>
                <a:latin typeface="Noto Sans CJK JP"/>
                <a:ea typeface="Noto Sans CJK JP"/>
                <a:cs typeface="Noto Sans CJK JP"/>
              </a:rPr>
              <a:t>正解は a mouth that can usually be closed by muscles; a pharynx ("throat"); a wider area in the center that acts as a stomach; and a system of internal canals.</a:t>
            </a:r>
            <a:endParaRPr sz="1800" lang="ja-JP"/>
          </a:p>
          <a:p>
            <a:pPr algn="l" marL="203200" indent="-152400">
              <a:lnSpc>
                <a:spcPct val="113000"/>
              </a:lnSpc>
              <a:spcBef>
                <a:spcPts val="0"/>
              </a:spcBef>
              <a:spcAft>
                <a:spcPts val="500"/>
              </a:spcAft>
              <a:defRPr sz="1600">
                <a:latin typeface="Noto Sans CJK JP"/>
              </a:defRPr>
              <a:buChar char="•"/>
            </a:pPr>
            <a:r>
              <a:rPr sz="1600" b="0" lang="ja-JP">
                <a:solidFill>
                  <a:srgbClr val="303437"/>
                </a:solidFill>
                <a:latin typeface="Noto Sans CJK JP"/>
                <a:ea typeface="Noto Sans CJK JP"/>
                <a:cs typeface="Noto Sans CJK JP"/>
              </a:rPr>
              <a:t>対象の版と分割は 1.1/dev、2.0/dev。</a:t>
            </a:r>
            <a:endParaRPr sz="1600" lang="ja-JP"/>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記事名 Ctenophora　https://github.com/rajpurkar/SQuAD-explorer/tree/master/dataset　ID 57264b1ddd62a815002e80a3</a:t>
            </a:r>
            <a:endParaRPr sz="85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最大値の原文 8 Ctenophora</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Wikipedia記事の段落から再抜粋（段落全体の長さとは異なる）。</a:t>
            </a:r>
            <a:endParaRPr sz="1700" lang="ja-JP"/>
          </a:p>
        </p:txBody>
      </p:sp>
      <p:sp>
        <p:nvSpPr>
          <p:cNvPr id="5" name="quote-frame"/>
          <p:cNvSpPr/>
          <p:nvPr/>
        </p:nvSpPr>
        <p:spPr>
          <a:xfrm>
            <a:off x="548640" y="1906484"/>
            <a:ext cx="8046720" cy="220033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defRPr sz="1700">
                <a:latin typeface="Liberation Sans"/>
              </a:defRPr>
              <a:buNone/>
            </a:pPr>
            <a:r>
              <a:rPr sz="1700" b="0" lang="ja-JP">
                <a:solidFill>
                  <a:srgbClr val="303437"/>
                </a:solidFill>
                <a:latin typeface="Liberation Sans"/>
                <a:ea typeface="Liberation Sans"/>
                <a:cs typeface="Liberation Sans"/>
              </a:rPr>
              <a:t>The internal cavity forms: a mouth that can usually be closed by muscles; a pharynx ("throat"); a wider area in the center that acts as a stomach; and a system of internal canals. These branch through the mesoglea to the most active parts of the animal: the mouth and pharynx; the roots of the tentacles, if present; all along the underside of each comb row; and four branches round the sensory complex at the far end from the mouth – two of these four branches terminate in anal pores.</a:t>
            </a:r>
            <a:endParaRPr sz="1700" lang="ja-JP"/>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https://github.com/rajpurkar/SQuAD-explorer/tree/master/dataset　ID 57264b1ddd62a815002e80a3</a:t>
            </a:r>
            <a:endParaRPr sz="85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最大値の実例 9 European Union law</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94360" y="1465897"/>
            <a:ext cx="8046720" cy="3086100"/>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1900">
                <a:latin typeface="Noto Sans CJK JP"/>
              </a:defRPr>
              <a:buChar char="•"/>
            </a:pPr>
            <a:r>
              <a:rPr sz="1900" b="0" lang="ja-JP">
                <a:solidFill>
                  <a:srgbClr val="303437"/>
                </a:solidFill>
                <a:latin typeface="Noto Sans CJK JP"/>
                <a:ea typeface="Noto Sans CJK JP"/>
                <a:cs typeface="Noto Sans CJK JP"/>
              </a:rPr>
              <a:t>質問単語数 31 [1]</a:t>
            </a:r>
            <a:endParaRPr sz="1900" lang="ja-JP"/>
          </a:p>
          <a:p>
            <a:pPr algn="l" marL="203200" indent="-152400">
              <a:lnSpc>
                <a:spcPct val="113000"/>
              </a:lnSpc>
              <a:spcBef>
                <a:spcPts val="0"/>
              </a:spcBef>
              <a:spcAft>
                <a:spcPts val="500"/>
              </a:spcAft>
              <a:defRPr sz="1800">
                <a:latin typeface="Noto Sans CJK JP"/>
              </a:defRPr>
              <a:buChar char="•"/>
            </a:pPr>
            <a:r>
              <a:rPr sz="1800" b="0" lang="ja-JP">
                <a:solidFill>
                  <a:srgbClr val="303437"/>
                </a:solidFill>
                <a:latin typeface="Noto Sans CJK JP"/>
                <a:ea typeface="Noto Sans CJK JP"/>
                <a:cs typeface="Noto Sans CJK JP"/>
              </a:rPr>
              <a:t>質問 In which case did the Court of Justice state that refusal to admit a lawyer to the Belgian bar because he did not have Belgian heritage wasn't able to be justified?</a:t>
            </a:r>
            <a:endParaRPr sz="1800" lang="ja-JP"/>
          </a:p>
          <a:p>
            <a:pPr algn="l" marL="203200" indent="-152400">
              <a:lnSpc>
                <a:spcPct val="113000"/>
              </a:lnSpc>
              <a:spcBef>
                <a:spcPts val="0"/>
              </a:spcBef>
              <a:spcAft>
                <a:spcPts val="500"/>
              </a:spcAft>
              <a:defRPr sz="1800">
                <a:latin typeface="Noto Sans CJK JP"/>
              </a:defRPr>
              <a:buChar char="•"/>
            </a:pPr>
            <a:r>
              <a:rPr sz="1800" b="0" lang="ja-JP">
                <a:solidFill>
                  <a:srgbClr val="303437"/>
                </a:solidFill>
                <a:latin typeface="Noto Sans CJK JP"/>
                <a:ea typeface="Noto Sans CJK JP"/>
                <a:cs typeface="Noto Sans CJK JP"/>
              </a:rPr>
              <a:t>正解は Reyners v Belgium</a:t>
            </a:r>
            <a:endParaRPr sz="1800" lang="ja-JP"/>
          </a:p>
          <a:p>
            <a:pPr algn="l" marL="203200" indent="-152400">
              <a:lnSpc>
                <a:spcPct val="113000"/>
              </a:lnSpc>
              <a:spcBef>
                <a:spcPts val="0"/>
              </a:spcBef>
              <a:spcAft>
                <a:spcPts val="500"/>
              </a:spcAft>
              <a:defRPr sz="1600">
                <a:latin typeface="Noto Sans CJK JP"/>
              </a:defRPr>
              <a:buChar char="•"/>
            </a:pPr>
            <a:r>
              <a:rPr sz="1600" b="0" lang="ja-JP">
                <a:solidFill>
                  <a:srgbClr val="303437"/>
                </a:solidFill>
                <a:latin typeface="Noto Sans CJK JP"/>
                <a:ea typeface="Noto Sans CJK JP"/>
                <a:cs typeface="Noto Sans CJK JP"/>
              </a:rPr>
              <a:t>対象の版と分割は 2.0/dev。</a:t>
            </a:r>
            <a:endParaRPr sz="1600" lang="ja-JP"/>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記事名 European_Union_law　https://github.com/rajpurkar/SQuAD-explorer/tree/master/dataset　ID 5726c002708984140094d075</a:t>
            </a:r>
            <a:endParaRPr sz="85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最大値の原文 9 European Union law</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3 詳細統計と極値</a:t>
            </a:r>
            <a:endParaRPr sz="1400" lang="ja-JP"/>
            <a:endParaRPr sz="1400"/>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defRPr sz="1700">
                <a:latin typeface="Noto Sans CJK JP"/>
              </a:defRPr>
              <a:buNone/>
            </a:pPr>
            <a:r>
              <a:rPr sz="1700" b="0" lang="ja-JP">
                <a:solidFill>
                  <a:srgbClr val="303437"/>
                </a:solidFill>
                <a:latin typeface="Noto Sans CJK JP"/>
                <a:ea typeface="Noto Sans CJK JP"/>
                <a:cs typeface="Noto Sans CJK JP"/>
              </a:rPr>
              <a:t>Wikipedia記事の段落から再抜粋（段落全体の長さとは異なる）。</a:t>
            </a:r>
            <a:endParaRPr sz="1700" lang="ja-JP"/>
          </a:p>
        </p:txBody>
      </p:sp>
      <p:sp>
        <p:nvSpPr>
          <p:cNvPr id="5" name="quote-frame"/>
          <p:cNvSpPr/>
          <p:nvPr/>
        </p:nvSpPr>
        <p:spPr>
          <a:xfrm>
            <a:off x="548640" y="1906484"/>
            <a:ext cx="8046720" cy="249300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defRPr sz="1700">
                <a:latin typeface="Liberation Sans"/>
              </a:defRPr>
              <a:buNone/>
            </a:pPr>
            <a:r>
              <a:rPr sz="1700" b="0" lang="ja-JP">
                <a:solidFill>
                  <a:srgbClr val="303437"/>
                </a:solidFill>
                <a:latin typeface="Liberation Sans"/>
                <a:ea typeface="Liberation Sans"/>
                <a:cs typeface="Liberation Sans"/>
              </a:rPr>
              <a:t>The Court of Justice has held that both a member state government and a private party can hinder freedom of establishment, so article 49 has both "vertical" and "horizontal" direct effect. In Reyners v Belgium the Court of Justice held that a refusal to admit a lawyer to the Belgian bar because he lacked Belgian nationality was unjustified. TFEU article 49 says states are exempt from infringing others' freedom of establishment when they exercise "official authority", but this did an advocate's work (as opposed to a court's) was not official.</a:t>
            </a:r>
            <a:endParaRPr sz="1700" lang="ja-JP"/>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https://github.com/rajpurkar/SQuAD-explorer/tree/master/dataset　ID 5726c002708984140094d075</a:t>
            </a:r>
            <a:endParaRPr sz="85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バージョン2.0のベンチマーク結果</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4 追加の評価結果</a:t>
            </a:r>
            <a:endParaRPr sz="1400" lang="ja-JP"/>
            <a:endParaRPr sz="1400"/>
          </a:p>
        </p:txBody>
      </p:sp>
      <p:graphicFrame>
        <p:nvGraphicFramePr>
          <p:cNvPr id="4" name="Table 3"/>
          <p:cNvGraphicFramePr>
            <a:graphicFrameLocks noGrp="1"/>
          </p:cNvGraphicFramePr>
          <p:nvPr/>
        </p:nvGraphicFramePr>
        <p:xfrm>
          <a:off x="548640" y="1594485"/>
          <a:ext cx="8046717" cy="1800225"/>
        </p:xfrm>
        <a:graphic>
          <a:graphicData uri="http://schemas.openxmlformats.org/drawingml/2006/table">
            <a:tbl>
              <a:tblPr firstRow="1" bandRow="1">
                <a:tableStyleId>{5C22544A-7EE6-4342-B048-85BDC9FD1C3A}</a:tableStyleId>
              </a:tblPr>
              <a:tblGrid>
                <a:gridCol w="2333548"/>
                <a:gridCol w="2655417"/>
                <a:gridCol w="1528876"/>
                <a:gridCol w="1528876"/>
              </a:tblGrid>
              <a:tr h="450056">
                <a:tc>
                  <a:txBody>
                    <a:bodyPr wrap="square" anchor="ctr"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モデル [1]</a:t>
                      </a:r>
                      <a:endParaRPr sz="20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提出日</a:t>
                      </a:r>
                      <a:endParaRPr sz="20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EM</a:t>
                      </a:r>
                      <a:endParaRPr sz="20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F1</a:t>
                      </a:r>
                      <a:endParaRPr sz="2000" lang="ja-JP"/>
                    </a:p>
                  </a:txBody>
                  <a:tcPr marL="38100" marR="38100" marT="38100" marB="38100">
                    <a:lnL w="0">
                      <a:noFill/>
                    </a:lnL>
                    <a:lnR w="0">
                      <a:noFill/>
                    </a:lnR>
                    <a:lnT w="10160">
                      <a:solidFill>
                        <a:srgbClr val="626669"/>
                      </a:solidFill>
                    </a:lnT>
                    <a:lnB w="10160">
                      <a:solidFill>
                        <a:srgbClr val="626669"/>
                      </a:solidFill>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BERT</a:t>
                      </a:r>
                      <a:endParaRPr sz="20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2018-11-08</a:t>
                      </a:r>
                      <a:endParaRPr sz="20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80.0</a:t>
                      </a:r>
                      <a:endParaRPr sz="20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83.1</a:t>
                      </a:r>
                      <a:endParaRPr sz="2000" lang="ja-JP"/>
                    </a:p>
                  </a:txBody>
                  <a:tcPr marL="38100" marR="38100" marT="38100" marB="38100">
                    <a:lnL w="0">
                      <a:noFill/>
                    </a:lnL>
                    <a:lnR w="0">
                      <a:noFill/>
                    </a:lnR>
                    <a:lnT w="0">
                      <a:noFill/>
                    </a:lnT>
                    <a:lnB w="0">
                      <a:noFill/>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RoBERTa</a:t>
                      </a:r>
                      <a:endParaRPr sz="20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2019-07-20</a:t>
                      </a:r>
                      <a:endParaRPr sz="20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86.8</a:t>
                      </a:r>
                      <a:endParaRPr sz="2000" lang="ja-JP"/>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89.8</a:t>
                      </a:r>
                      <a:endParaRPr sz="2000" lang="ja-JP"/>
                    </a:p>
                  </a:txBody>
                  <a:tcPr marL="38100" marR="38100" marT="38100" marB="38100">
                    <a:lnL w="0">
                      <a:noFill/>
                    </a:lnL>
                    <a:lnR w="0">
                      <a:noFill/>
                    </a:lnR>
                    <a:lnT w="0">
                      <a:noFill/>
                    </a:lnT>
                    <a:lnB w="0">
                      <a:noFill/>
                    </a:lnB>
                    <a:solidFill>
                      <a:srgbClr val="FFFEF8"/>
                    </a:solidFill>
                  </a:tcPr>
                </a:tc>
              </a:tr>
              <a:tr h="450057">
                <a:tc>
                  <a:txBody>
                    <a:bodyPr wrap="square" anchor="ctr" lIns="0" rIns="0" tIns="0" bIns="0">
                      <a:noAutofit/>
                    </a:bodyPr>
                    <a:lstStyle/>
                    <a:p>
                      <a:pPr algn="l"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XLNet</a:t>
                      </a:r>
                      <a:endParaRPr sz="20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2019-11-15</a:t>
                      </a:r>
                      <a:endParaRPr sz="20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87.9</a:t>
                      </a:r>
                      <a:endParaRPr sz="2000" lang="ja-JP"/>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defRPr sz="2000">
                          <a:latin typeface="Noto Sans CJK JP"/>
                        </a:defRPr>
                        <a:buNone/>
                      </a:pPr>
                      <a:r>
                        <a:rPr sz="2000" b="0" lang="ja-JP">
                          <a:solidFill>
                            <a:srgbClr val="303437"/>
                          </a:solidFill>
                          <a:latin typeface="Noto Sans CJK JP"/>
                          <a:ea typeface="Noto Sans CJK JP"/>
                          <a:cs typeface="Noto Sans CJK JP"/>
                        </a:rPr>
                        <a:t>90.7</a:t>
                      </a:r>
                      <a:endParaRPr sz="2000" lang="ja-JP"/>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nvSpPr>
        <p:spPr>
          <a:xfrm>
            <a:off x="594360" y="3770962"/>
            <a:ext cx="8046720" cy="991537"/>
          </a:xfrm>
          <a:prstGeom prst="rect">
            <a:avLst/>
          </a:prstGeom>
          <a:noFill/>
        </p:spPr>
        <p:txBody>
          <a:bodyPr wrap="square" anchor="t" lIns="0" rIns="0" tIns="0" bIns="0">
            <a:noAutofit/>
          </a:bodyPr>
          <a:lstStyle/>
          <a:p>
            <a:pPr algn="l" marL="151129" indent="-140335">
              <a:lnSpc>
                <a:spcPct val="110000"/>
              </a:lnSpc>
              <a:spcBef>
                <a:spcPts val="0"/>
              </a:spcBef>
              <a:defRPr sz="1700">
                <a:latin typeface="Noto Sans CJK JP"/>
              </a:defRPr>
              <a:spcAft>
                <a:spcPts val="400"/>
              </a:spcAft>
              <a:buChar char="•"/>
            </a:pPr>
            <a:r>
              <a:rPr sz="1700" lang="ja-JP">
                <a:solidFill>
                  <a:srgbClr val="303437"/>
                </a:solidFill>
                <a:latin typeface="Noto Sans CJK JP"/>
                <a:ea typeface="Noto Sans CJK JP"/>
              </a:rPr>
              <a:t>SQuAD運営者の非公開テストで採点。</a:t>
            </a:r>
            <a:endParaRPr sz="2100" lang="ja-JP"/>
            <a:endParaRPr sz="1700"/>
          </a:p>
          <a:p>
            <a:pPr algn="l" marL="151129" indent="-140335">
              <a:lnSpc>
                <a:spcPct val="110000"/>
              </a:lnSpc>
              <a:spcBef>
                <a:spcPts val="0"/>
              </a:spcBef>
              <a:spcAft>
                <a:spcPts val="400"/>
              </a:spcAft>
              <a:defRPr sz="1700">
                <a:latin typeface="Noto Sans CJK JP"/>
              </a:defRPr>
              <a:buChar char="•"/>
            </a:pPr>
            <a:r>
              <a:rPr sz="1700" lang="ja-JP">
                <a:solidFill>
                  <a:srgbClr val="303437"/>
                </a:solidFill>
                <a:latin typeface="Noto Sans CJK JP"/>
                <a:ea typeface="Noto Sans CJK JP"/>
              </a:rPr>
              <a:t>開発用とは別のデータ。各行は単一モデルの提出結果。</a:t>
            </a:r>
            <a:endParaRPr sz="1700"/>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[1]</a:t>
            </a:r>
            <a:r>
              <a:rPr sz="850" lang="ja-JP">
                <a:solidFill>
                  <a:srgbClr val="626669"/>
                </a:solidFill>
                <a:latin typeface="Noto Sans CJK JP"/>
                <a:ea typeface="Noto Sans CJK JP"/>
              </a:rPr>
              <a:t> 掲載された提出結果（EM・F1は%）。</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https://rajpurkar.github.io/SQuAD-explorer/</a:t>
            </a:r>
            <a:endParaRPr sz="85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開発用 Wikipedia 記事一覧 1/2</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バージョン1.1では、48記事／2.0 このうち35記事。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1973_oil_crisis</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Amazon_rainforest</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American_Broadcasting_Company *</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Apollo_program *</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Black_Death</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Chloroplast *</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Civil_disobedience</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Computational_complexity_theory</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Construction</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Ctenophora</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Doctor_Who *</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Economic_inequality</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European_Union_law</a:t>
            </a:r>
            <a:endParaRPr sz="1250" lang="ja-JP"/>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Force</a:t>
            </a:r>
            <a:endParaRPr sz="1250" lang="ja-JP"/>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French_and_Indian_War</a:t>
            </a:r>
            <a:endParaRPr sz="1250" lang="ja-JP"/>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Fresno,_California</a:t>
            </a:r>
            <a:endParaRPr sz="1250" lang="ja-JP"/>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Genghis_Khan *</a:t>
            </a:r>
            <a:endParaRPr sz="1250" lang="ja-JP"/>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Geology</a:t>
            </a:r>
            <a:endParaRPr sz="1250" lang="ja-JP"/>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Harvard_University</a:t>
            </a:r>
            <a:endParaRPr sz="1250" lang="ja-JP"/>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Huguenot</a:t>
            </a:r>
            <a:endParaRPr sz="1250" lang="ja-JP"/>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Immune_system</a:t>
            </a:r>
            <a:endParaRPr sz="1250" lang="ja-JP"/>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Imperialism</a:t>
            </a:r>
            <a:endParaRPr sz="1250" lang="ja-JP"/>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Intergovernmental_Panel_on_Climate_Change</a:t>
            </a:r>
            <a:endParaRPr sz="1250" lang="ja-JP"/>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Islamism</a:t>
            </a:r>
            <a:endParaRPr sz="1250" lang="ja-JP"/>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 はバージョン1.1のみに含まれる開発用記事。</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開発用 Wikipedia 記事一覧 2/2</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バージョン1.1では、48記事／2.0 このうち35記事。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Jacksonville,_Florida</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Kenya *</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Martin_Luther *</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Newcastle_upon_Tyne *</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Nikola_Tesla *</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Normans</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Oxygen</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Packet_switching</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Pharmacy</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Prime_number</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Private_school</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Rhine</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Scottish_Parliament</a:t>
            </a:r>
            <a:endParaRPr sz="1250" lang="ja-JP"/>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Sky_(United_Kingdom)</a:t>
            </a:r>
            <a:endParaRPr sz="1250" lang="ja-JP"/>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Southern_California</a:t>
            </a:r>
            <a:endParaRPr sz="1250" lang="ja-JP"/>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Steam_engine</a:t>
            </a:r>
            <a:endParaRPr sz="1250" lang="ja-JP"/>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Super_Bowl_50 *</a:t>
            </a:r>
            <a:endParaRPr sz="1250" lang="ja-JP"/>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Teacher *</a:t>
            </a:r>
            <a:endParaRPr sz="1250" lang="ja-JP"/>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United_Methodist_Church *</a:t>
            </a:r>
            <a:endParaRPr sz="1250" lang="ja-JP"/>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University_of_Chicago</a:t>
            </a:r>
            <a:endParaRPr sz="1250" lang="ja-JP"/>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Victoria_(Australia)</a:t>
            </a:r>
            <a:endParaRPr sz="1250" lang="ja-JP"/>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Victoria_and_Albert_Museum *</a:t>
            </a:r>
            <a:endParaRPr sz="1250" lang="ja-JP"/>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Warsaw</a:t>
            </a:r>
            <a:endParaRPr sz="1250" lang="ja-JP"/>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Yuan_dynasty</a:t>
            </a:r>
            <a:endParaRPr sz="1250" lang="ja-JP"/>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 はバージョン1.1のみに含まれる開発用記事。</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学習用 Wikipedia 記事一覧 1/19</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バージョン1.1と2.0に共通する442記事。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2008_Sichuan_earthquake</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2008_Summer_Olympics_torch_relay</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51st_state</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A_cappella</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Adolescence</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Adult_contemporary_music</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Affirmative_action_in_the_United_States</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Age_of_Enlightenment</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Aircraft_carrier</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Airport</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Alaska</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Alexander_Graham_Bell</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Alfred_North_Whitehead</a:t>
            </a:r>
            <a:endParaRPr sz="1250" lang="ja-JP"/>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Alloy</a:t>
            </a:r>
            <a:endParaRPr sz="1250" lang="ja-JP"/>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Alps</a:t>
            </a:r>
            <a:endParaRPr sz="1250" lang="ja-JP"/>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Alsace</a:t>
            </a:r>
            <a:endParaRPr sz="1250" lang="ja-JP"/>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American_Idol</a:t>
            </a:r>
            <a:endParaRPr sz="1250" lang="ja-JP"/>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Animal</a:t>
            </a:r>
            <a:endParaRPr sz="1250" lang="ja-JP"/>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Ann_Arbor,_Michigan</a:t>
            </a:r>
            <a:endParaRPr sz="1250" lang="ja-JP"/>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Annelid</a:t>
            </a:r>
            <a:endParaRPr sz="1250" lang="ja-JP"/>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Antarctica</a:t>
            </a:r>
            <a:endParaRPr sz="1250" lang="ja-JP"/>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Antenna_(radio)</a:t>
            </a:r>
            <a:endParaRPr sz="1250" lang="ja-JP"/>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Anthropology</a:t>
            </a:r>
            <a:endParaRPr sz="1250" lang="ja-JP"/>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Anti-aircraft_warfare</a:t>
            </a:r>
            <a:endParaRPr sz="1250" lang="ja-JP"/>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記事名は元JSONの title をそのまま記載。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学習用 Wikipedia 記事一覧 2/19</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バージョン1.1と2.0に共通する442記事。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Antibiotics</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Apollo</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Appalachian_Mountains</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Architecture</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Arena_Football_League</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Armenia</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Armenians</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Arnold_Schwarzenegger</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Arsenal_F.C.</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ASCII</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Ashkenazi_Jews</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Asphalt</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Aspirated_consonant</a:t>
            </a:r>
            <a:endParaRPr sz="1250" lang="ja-JP"/>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Association_football</a:t>
            </a:r>
            <a:endParaRPr sz="1250" lang="ja-JP"/>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Asthma</a:t>
            </a:r>
            <a:endParaRPr sz="1250" lang="ja-JP"/>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Athanasius_of_Alexandria</a:t>
            </a:r>
            <a:endParaRPr sz="1250" lang="ja-JP"/>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Atlantic_City,_New_Jersey</a:t>
            </a:r>
            <a:endParaRPr sz="1250" lang="ja-JP"/>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Avicenna</a:t>
            </a:r>
            <a:endParaRPr sz="1250" lang="ja-JP"/>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Bacteria</a:t>
            </a:r>
            <a:endParaRPr sz="1250" lang="ja-JP"/>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Baptists</a:t>
            </a:r>
            <a:endParaRPr sz="1250" lang="ja-JP"/>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BBC_Television</a:t>
            </a:r>
            <a:endParaRPr sz="1250" lang="ja-JP"/>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Beer</a:t>
            </a:r>
            <a:endParaRPr sz="1250" lang="ja-JP"/>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BeiDou_Navigation_Satellite_System</a:t>
            </a:r>
            <a:endParaRPr sz="1250" lang="ja-JP"/>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Bermuda</a:t>
            </a:r>
            <a:endParaRPr sz="1250" lang="ja-JP"/>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記事名は元JSONの title をそのまま記載。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学習用 Wikipedia 記事一覧 3/19</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バージョン1.1と2.0に共通する442記事。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Bern</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Beyoncé</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Bill_%26_Melinda_Gates_Foundation</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Biodiversity</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Bird</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Bird_migration</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Black_people</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Boston</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Botany</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Brain</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Bras%C3%ADlia</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Brigham_Young_University</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British_Empire</a:t>
            </a:r>
            <a:endParaRPr sz="1250" lang="ja-JP"/>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British_Isles</a:t>
            </a:r>
            <a:endParaRPr sz="1250" lang="ja-JP"/>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Buckingham_Palace</a:t>
            </a:r>
            <a:endParaRPr sz="1250" lang="ja-JP"/>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Buddhism</a:t>
            </a:r>
            <a:endParaRPr sz="1250" lang="ja-JP"/>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Canadian_Armed_Forces</a:t>
            </a:r>
            <a:endParaRPr sz="1250" lang="ja-JP"/>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Canadian_football</a:t>
            </a:r>
            <a:endParaRPr sz="1250" lang="ja-JP"/>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Canon_law</a:t>
            </a:r>
            <a:endParaRPr sz="1250" lang="ja-JP"/>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Capacitor</a:t>
            </a:r>
            <a:endParaRPr sz="1250" lang="ja-JP"/>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Capital_punishment_in_the_United_States</a:t>
            </a:r>
            <a:endParaRPr sz="1250" lang="ja-JP"/>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Cardinal_(Catholicism)</a:t>
            </a:r>
            <a:endParaRPr sz="1250" lang="ja-JP"/>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Carnival</a:t>
            </a:r>
            <a:endParaRPr sz="1250" lang="ja-JP"/>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Catalan_language</a:t>
            </a:r>
            <a:endParaRPr sz="1250" lang="ja-JP"/>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記事名は元JSONの title をそのまま記載。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学習用 Wikipedia 記事一覧 4/19</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バージョン1.1と2.0に共通する442記事。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CBC_Television</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Central_African_Republic</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Central_Intelligence_Agency</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Charleston,_South_Carolina</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Chicago_Cubs</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Chihuahua_(state)</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Child_labour</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Chinese_characters</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Christian</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Circadian_rhythm</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Classical_music</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Clothing</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Comcast</a:t>
            </a:r>
            <a:endParaRPr sz="1250" lang="ja-JP"/>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Comics</a:t>
            </a:r>
            <a:endParaRPr sz="1250" lang="ja-JP"/>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Communication</a:t>
            </a:r>
            <a:endParaRPr sz="1250" lang="ja-JP"/>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Communications_in_Somalia</a:t>
            </a:r>
            <a:endParaRPr sz="1250" lang="ja-JP"/>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Compact_disc</a:t>
            </a:r>
            <a:endParaRPr sz="1250" lang="ja-JP"/>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Comprehensive_school</a:t>
            </a:r>
            <a:endParaRPr sz="1250" lang="ja-JP"/>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Computer</a:t>
            </a:r>
            <a:endParaRPr sz="1250" lang="ja-JP"/>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Computer_security</a:t>
            </a:r>
            <a:endParaRPr sz="1250" lang="ja-JP"/>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Copper</a:t>
            </a:r>
            <a:endParaRPr sz="1250" lang="ja-JP"/>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Copyright_infringement</a:t>
            </a:r>
            <a:endParaRPr sz="1250" lang="ja-JP"/>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Cork_(city)</a:t>
            </a:r>
            <a:endParaRPr sz="1250" lang="ja-JP"/>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Cotton</a:t>
            </a:r>
            <a:endParaRPr sz="1250" lang="ja-JP"/>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記事名は元JSONの title をそのまま記載。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学習用 Wikipedia 記事一覧 5/19</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バージョン1.1と2.0に共通する442記事。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Crimean_War</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Crucifixion_of_Jesus</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Cubism</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Culture</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Cyprus</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Czech_language</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Data_compression</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Database</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Daylight_saving_time</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Dell</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Department_store</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Detroit</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Dialect</a:t>
            </a:r>
            <a:endParaRPr sz="1250" lang="ja-JP"/>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Diarrhea</a:t>
            </a:r>
            <a:endParaRPr sz="1250" lang="ja-JP"/>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Digestion</a:t>
            </a:r>
            <a:endParaRPr sz="1250" lang="ja-JP"/>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Digimon</a:t>
            </a:r>
            <a:endParaRPr sz="1250" lang="ja-JP"/>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Dissolution_of_the_Soviet_Union</a:t>
            </a:r>
            <a:endParaRPr sz="1250" lang="ja-JP"/>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Dog</a:t>
            </a:r>
            <a:endParaRPr sz="1250" lang="ja-JP"/>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Dominican_Order</a:t>
            </a:r>
            <a:endParaRPr sz="1250" lang="ja-JP"/>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Dutch_language</a:t>
            </a:r>
            <a:endParaRPr sz="1250" lang="ja-JP"/>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Dutch_Republic</a:t>
            </a:r>
            <a:endParaRPr sz="1250" lang="ja-JP"/>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Dwight_D._Eisenhower</a:t>
            </a:r>
            <a:endParaRPr sz="1250" lang="ja-JP"/>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East_India_Company</a:t>
            </a:r>
            <a:endParaRPr sz="1250" lang="ja-JP"/>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East_Prussia</a:t>
            </a:r>
            <a:endParaRPr sz="1250" lang="ja-JP"/>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記事名は元JSONの title をそのまま記載。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学習用 Wikipedia 記事一覧 6/19</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バージョン1.1と2.0に共通する442記事。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Economy_of_Greece</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Edmund_Burke</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Education</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Egypt</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Electric_motor</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Elevator</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Elizabeth_II</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Emotion</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Empiricism</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Endangered_Species_Act</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Energy</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England_national_football_team</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Eritrea</a:t>
            </a:r>
            <a:endParaRPr sz="1250" lang="ja-JP"/>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Estonia</a:t>
            </a:r>
            <a:endParaRPr sz="1250" lang="ja-JP"/>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Estonian_language</a:t>
            </a:r>
            <a:endParaRPr sz="1250" lang="ja-JP"/>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Eton_College</a:t>
            </a:r>
            <a:endParaRPr sz="1250" lang="ja-JP"/>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European_Central_Bank</a:t>
            </a:r>
            <a:endParaRPr sz="1250" lang="ja-JP"/>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Everton_F.C.</a:t>
            </a:r>
            <a:endParaRPr sz="1250" lang="ja-JP"/>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Exhibition_game</a:t>
            </a:r>
            <a:endParaRPr sz="1250" lang="ja-JP"/>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FA_Cup</a:t>
            </a:r>
            <a:endParaRPr sz="1250" lang="ja-JP"/>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FC_Barcelona</a:t>
            </a:r>
            <a:endParaRPr sz="1250" lang="ja-JP"/>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Federal_Aviation_Administration</a:t>
            </a:r>
            <a:endParaRPr sz="1250" lang="ja-JP"/>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Federal_Bureau_of_Investigation</a:t>
            </a:r>
            <a:endParaRPr sz="1250" lang="ja-JP"/>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Federalism</a:t>
            </a:r>
            <a:endParaRPr sz="1250" lang="ja-JP"/>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記事名は元JSONの title をそのまま記載。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学習用 Wikipedia 記事一覧 7/19</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バージョン1.1と2.0に共通する442記事。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Film_speed</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Financial_crisis_of_2007%E2%80%9308</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Florida</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Flowering_plant</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Franco-Prussian_War</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Freemasonry</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Friedrich_Hayek</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Frédéric_Chopin</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Galicia_(Spain)</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Gamal_Abdel_Nasser</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Gene</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General_Electric</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Genocide</a:t>
            </a:r>
            <a:endParaRPr sz="1250" lang="ja-JP"/>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Genome</a:t>
            </a:r>
            <a:endParaRPr sz="1250" lang="ja-JP"/>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Geography_of_the_United_States</a:t>
            </a:r>
            <a:endParaRPr sz="1250" lang="ja-JP"/>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Geological_history_of_Earth</a:t>
            </a:r>
            <a:endParaRPr sz="1250" lang="ja-JP"/>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George_VI</a:t>
            </a:r>
            <a:endParaRPr sz="1250" lang="ja-JP"/>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Georgian_architecture</a:t>
            </a:r>
            <a:endParaRPr sz="1250" lang="ja-JP"/>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Germans</a:t>
            </a:r>
            <a:endParaRPr sz="1250" lang="ja-JP"/>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Glacier</a:t>
            </a:r>
            <a:endParaRPr sz="1250" lang="ja-JP"/>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Glass</a:t>
            </a:r>
            <a:endParaRPr sz="1250" lang="ja-JP"/>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God</a:t>
            </a:r>
            <a:endParaRPr sz="1250" lang="ja-JP"/>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Gothic_architecture</a:t>
            </a:r>
            <a:endParaRPr sz="1250" lang="ja-JP"/>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Gramophone_record</a:t>
            </a:r>
            <a:endParaRPr sz="1250" lang="ja-JP"/>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記事名は元JSONの title をそのまま記載。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学習用 Wikipedia 記事一覧 8/19</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バージョン1.1と2.0に共通する442記事。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Grape</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Great_Plains</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Great_power</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Greece</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Greeks</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Green</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Gregorian_calendar</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Group_(mathematics)</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Guam</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Guinea-Bissau</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Gymnastics</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Han_dynasty</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Hanover</a:t>
            </a:r>
            <a:endParaRPr sz="1250" lang="ja-JP"/>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Hard_rock</a:t>
            </a:r>
            <a:endParaRPr sz="1250" lang="ja-JP"/>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Heian_period</a:t>
            </a:r>
            <a:endParaRPr sz="1250" lang="ja-JP"/>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Hellenistic_period</a:t>
            </a:r>
            <a:endParaRPr sz="1250" lang="ja-JP"/>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Heresy</a:t>
            </a:r>
            <a:endParaRPr sz="1250" lang="ja-JP"/>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High-definition_television</a:t>
            </a:r>
            <a:endParaRPr sz="1250" lang="ja-JP"/>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Himachal_Pradesh</a:t>
            </a:r>
            <a:endParaRPr sz="1250" lang="ja-JP"/>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Hindu_philosophy</a:t>
            </a:r>
            <a:endParaRPr sz="1250" lang="ja-JP"/>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History_of_India</a:t>
            </a:r>
            <a:endParaRPr sz="1250" lang="ja-JP"/>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History_of_science</a:t>
            </a:r>
            <a:endParaRPr sz="1250" lang="ja-JP"/>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Hokkien</a:t>
            </a:r>
            <a:endParaRPr sz="1250" lang="ja-JP"/>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House_music</a:t>
            </a:r>
            <a:endParaRPr sz="1250" lang="ja-JP"/>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記事名は元JSONの title をそのまま記載。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学習用 Wikipedia 記事一覧 9/19</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バージョン1.1と2.0に共通する442記事。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Houston</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Human_Development_Index</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Humanism</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Hunter-gatherer</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Hunting</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Hyderabad</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Hydrogen</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IBM</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Idealism</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Identity_(social_science)</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Imamah_(Shia_doctrine)</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Immaculate_Conception</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Immunology</a:t>
            </a:r>
            <a:endParaRPr sz="1250" lang="ja-JP"/>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Imperial_College_London</a:t>
            </a:r>
            <a:endParaRPr sz="1250" lang="ja-JP"/>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Incandescent_light_bulb</a:t>
            </a:r>
            <a:endParaRPr sz="1250" lang="ja-JP"/>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Indigenous_peoples_of_the_Americas</a:t>
            </a:r>
            <a:endParaRPr sz="1250" lang="ja-JP"/>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Infection</a:t>
            </a:r>
            <a:endParaRPr sz="1250" lang="ja-JP"/>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Infrared</a:t>
            </a:r>
            <a:endParaRPr sz="1250" lang="ja-JP"/>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Insect</a:t>
            </a:r>
            <a:endParaRPr sz="1250" lang="ja-JP"/>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Institute_of_technology</a:t>
            </a:r>
            <a:endParaRPr sz="1250" lang="ja-JP"/>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Intellectual_property</a:t>
            </a:r>
            <a:endParaRPr sz="1250" lang="ja-JP"/>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Internet_service_provider</a:t>
            </a:r>
            <a:endParaRPr sz="1250" lang="ja-JP"/>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IPod</a:t>
            </a:r>
            <a:endParaRPr sz="1250" lang="ja-JP"/>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Iran</a:t>
            </a:r>
            <a:endParaRPr sz="1250" lang="ja-JP"/>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記事名は元JSONの title をそのまま記載。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学習用 Wikipedia 記事一覧 10/19</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バージョン1.1と2.0に共通する442記事。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Iranian_languages</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Israel</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Jehovah%27s_Witnesses</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Jews</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John,_King_of_England</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John_Kerry</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John_von_Neumann</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Josip_Broz_Tito</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Kanye_West</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Karl_Popper</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Kathmandu</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Kievan_Rus%27</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Korean_War</a:t>
            </a:r>
            <a:endParaRPr sz="1250" lang="ja-JP"/>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Labour_Party_(UK)</a:t>
            </a:r>
            <a:endParaRPr sz="1250" lang="ja-JP"/>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Lancashire</a:t>
            </a:r>
            <a:endParaRPr sz="1250" lang="ja-JP"/>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LaserDisc</a:t>
            </a:r>
            <a:endParaRPr sz="1250" lang="ja-JP"/>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Late_Middle_Ages</a:t>
            </a:r>
            <a:endParaRPr sz="1250" lang="ja-JP"/>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Law_of_the_United_States</a:t>
            </a:r>
            <a:endParaRPr sz="1250" lang="ja-JP"/>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Letter_case</a:t>
            </a:r>
            <a:endParaRPr sz="1250" lang="ja-JP"/>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Liberal_Party_of_Australia</a:t>
            </a:r>
            <a:endParaRPr sz="1250" lang="ja-JP"/>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Liberia</a:t>
            </a:r>
            <a:endParaRPr sz="1250" lang="ja-JP"/>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Light-emitting_diode</a:t>
            </a:r>
            <a:endParaRPr sz="1250" lang="ja-JP"/>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Lighting</a:t>
            </a:r>
            <a:endParaRPr sz="1250" lang="ja-JP"/>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List_of_numbered_streets_in_Manhattan</a:t>
            </a:r>
            <a:endParaRPr sz="1250" lang="ja-JP"/>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記事名は元JSONの title をそのまま記載。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学習用 Wikipedia 記事一覧 11/19</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バージョン1.1と2.0に共通する442記事。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Literature</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London</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Macintosh</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Madonna_(entertainer)</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Madrasa</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Mali</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Mammal</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Mandolin</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Marshall_Islands</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Marvel_Comics</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Mary_(mother_of_Jesus)</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Materialism</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Matter</a:t>
            </a:r>
            <a:endParaRPr sz="1250" lang="ja-JP"/>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Melbourne</a:t>
            </a:r>
            <a:endParaRPr sz="1250" lang="ja-JP"/>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Memory</a:t>
            </a:r>
            <a:endParaRPr sz="1250" lang="ja-JP"/>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Mesozoic</a:t>
            </a:r>
            <a:endParaRPr sz="1250" lang="ja-JP"/>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Mexico_City</a:t>
            </a:r>
            <a:endParaRPr sz="1250" lang="ja-JP"/>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Miami</a:t>
            </a:r>
            <a:endParaRPr sz="1250" lang="ja-JP"/>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Middle_Ages</a:t>
            </a:r>
            <a:endParaRPr sz="1250" lang="ja-JP"/>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Military_history_of_the_United_States</a:t>
            </a:r>
            <a:endParaRPr sz="1250" lang="ja-JP"/>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Ministry_of_Defence_(United_Kingdom)</a:t>
            </a:r>
            <a:endParaRPr sz="1250" lang="ja-JP"/>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Modern_history</a:t>
            </a:r>
            <a:endParaRPr sz="1250" lang="ja-JP"/>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Molotov%E2%80%93Ribbentrop_Pact</a:t>
            </a:r>
            <a:endParaRPr sz="1250" lang="ja-JP"/>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Montana</a:t>
            </a:r>
            <a:endParaRPr sz="1250" lang="ja-JP"/>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記事名は元JSONの title をそのまま記載。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学習用 Wikipedia 記事一覧 12/19</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バージョン1.1と2.0に共通する442記事。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Montevideo</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Mosaic</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MP3</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Muammar_Gaddafi</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Multiracial_American</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Muslim_world</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Myanmar</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Myocardial_infarction</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Namibia</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Nanjing</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Napoleon</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National_Archives_and_Records_Administration</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Near_East</a:t>
            </a:r>
            <a:endParaRPr sz="1250" lang="ja-JP"/>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Neoclassical_architecture</a:t>
            </a:r>
            <a:endParaRPr sz="1250" lang="ja-JP"/>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Neolithic</a:t>
            </a:r>
            <a:endParaRPr sz="1250" lang="ja-JP"/>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Neptune</a:t>
            </a:r>
            <a:endParaRPr sz="1250" lang="ja-JP"/>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New_Delhi</a:t>
            </a:r>
            <a:endParaRPr sz="1250" lang="ja-JP"/>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New_Haven,_Connecticut</a:t>
            </a:r>
            <a:endParaRPr sz="1250" lang="ja-JP"/>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New_York_City</a:t>
            </a:r>
            <a:endParaRPr sz="1250" lang="ja-JP"/>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Nigeria</a:t>
            </a:r>
            <a:endParaRPr sz="1250" lang="ja-JP"/>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Nintendo_Entertainment_System</a:t>
            </a:r>
            <a:endParaRPr sz="1250" lang="ja-JP"/>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Nonprofit_organization</a:t>
            </a:r>
            <a:endParaRPr sz="1250" lang="ja-JP"/>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Norfolk_Island</a:t>
            </a:r>
            <a:endParaRPr sz="1250" lang="ja-JP"/>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North_Carolina</a:t>
            </a:r>
            <a:endParaRPr sz="1250" lang="ja-JP"/>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記事名は元JSONの title をそのまま記載。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学習用 Wikipedia 記事一覧 13/19</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バージョン1.1と2.0に共通する442記事。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Northwestern_University</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Nutrition</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Oklahoma</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Oklahoma_City</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Old_English</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On_the_Origin_of_Species</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Order_of_the_British_Empire</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Orthodox_Judaism</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Ottoman_Empire</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Pacific_War</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Pain</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Palermo</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Paper</a:t>
            </a:r>
            <a:endParaRPr sz="1250" lang="ja-JP"/>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Paris</a:t>
            </a:r>
            <a:endParaRPr sz="1250" lang="ja-JP"/>
          </a:p>
        </p:txBody>
      </p:sp>
      <p:sp>
        <p:nvSpPr>
          <p:cNvPr id="19" name="content-text"/>
          <p:cNvSpPr txBox="1"/>
          <p:nvPr/>
        </p:nvSpPr>
        <p:spPr>
          <a:xfrm>
            <a:off x="4846320" y="2246947"/>
            <a:ext cx="3749040" cy="38989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Party_leaders_of_the_United_States_House_of_Representatives。</a:t>
            </a:r>
            <a:br/>
            <a:endParaRPr sz="1250" lang="ja-JP"/>
          </a:p>
        </p:txBody>
      </p:sp>
      <p:sp>
        <p:nvSpPr>
          <p:cNvPr id="20" name="content-text"/>
          <p:cNvSpPr txBox="1"/>
          <p:nvPr/>
        </p:nvSpPr>
        <p:spPr>
          <a:xfrm>
            <a:off x="4846320" y="266223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Pesticide</a:t>
            </a:r>
            <a:endParaRPr sz="1250" lang="ja-JP"/>
          </a:p>
        </p:txBody>
      </p:sp>
      <p:sp>
        <p:nvSpPr>
          <p:cNvPr id="21" name="content-text"/>
          <p:cNvSpPr txBox="1"/>
          <p:nvPr/>
        </p:nvSpPr>
        <p:spPr>
          <a:xfrm>
            <a:off x="4846320" y="289845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Pharmaceutical_industry</a:t>
            </a:r>
            <a:endParaRPr sz="1250" lang="ja-JP"/>
          </a:p>
        </p:txBody>
      </p:sp>
      <p:sp>
        <p:nvSpPr>
          <p:cNvPr id="22" name="content-text"/>
          <p:cNvSpPr txBox="1"/>
          <p:nvPr/>
        </p:nvSpPr>
        <p:spPr>
          <a:xfrm>
            <a:off x="4846320" y="313467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Philadelphia</a:t>
            </a:r>
            <a:endParaRPr sz="1250" lang="ja-JP"/>
          </a:p>
        </p:txBody>
      </p:sp>
      <p:sp>
        <p:nvSpPr>
          <p:cNvPr id="23" name="content-text"/>
          <p:cNvSpPr txBox="1"/>
          <p:nvPr/>
        </p:nvSpPr>
        <p:spPr>
          <a:xfrm>
            <a:off x="4846320" y="337089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Philosophy_of_space_and_time</a:t>
            </a:r>
            <a:endParaRPr sz="1250" lang="ja-JP"/>
          </a:p>
        </p:txBody>
      </p:sp>
      <p:sp>
        <p:nvSpPr>
          <p:cNvPr id="24" name="content-text"/>
          <p:cNvSpPr txBox="1"/>
          <p:nvPr/>
        </p:nvSpPr>
        <p:spPr>
          <a:xfrm>
            <a:off x="4846320" y="360711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Phonology</a:t>
            </a:r>
            <a:endParaRPr sz="1250" lang="ja-JP"/>
          </a:p>
        </p:txBody>
      </p:sp>
      <p:sp>
        <p:nvSpPr>
          <p:cNvPr id="25" name="content-text"/>
          <p:cNvSpPr txBox="1"/>
          <p:nvPr/>
        </p:nvSpPr>
        <p:spPr>
          <a:xfrm>
            <a:off x="4846320" y="384333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Pitch_(music)</a:t>
            </a:r>
            <a:endParaRPr sz="1250" lang="ja-JP"/>
          </a:p>
        </p:txBody>
      </p:sp>
      <p:sp>
        <p:nvSpPr>
          <p:cNvPr id="26" name="content-text"/>
          <p:cNvSpPr txBox="1"/>
          <p:nvPr/>
        </p:nvSpPr>
        <p:spPr>
          <a:xfrm>
            <a:off x="4846320" y="407955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Planck_constant</a:t>
            </a:r>
            <a:endParaRPr sz="1250" lang="ja-JP"/>
          </a:p>
        </p:txBody>
      </p:sp>
      <p:sp>
        <p:nvSpPr>
          <p:cNvPr id="27" name="content-text"/>
          <p:cNvSpPr txBox="1"/>
          <p:nvPr/>
        </p:nvSpPr>
        <p:spPr>
          <a:xfrm>
            <a:off x="4846320" y="431577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PlayStation_3</a:t>
            </a:r>
            <a:endParaRPr sz="1250" lang="ja-JP"/>
          </a:p>
        </p:txBody>
      </p:sp>
      <p:sp>
        <p:nvSpPr>
          <p:cNvPr id="28"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記事名は元JSONの title をそのまま記載。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学習用 Wikipedia 記事一覧 14/19</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バージョン1.1と2.0に共通する442記事。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Plymouth</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Police</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Political_corruption</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Political_party</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Political_philosophy</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Pope_John_XXIII</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Pope_Paul_VI</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Portugal</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Post-punk</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Poultry</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Predation</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Premier_League</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Presbyterianism</a:t>
            </a:r>
            <a:endParaRPr sz="1250" lang="ja-JP"/>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Prime_minister</a:t>
            </a:r>
            <a:endParaRPr sz="1250" lang="ja-JP"/>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Printed_circuit_board</a:t>
            </a:r>
            <a:endParaRPr sz="1250" lang="ja-JP"/>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Professional_wrestling</a:t>
            </a:r>
            <a:endParaRPr sz="1250" lang="ja-JP"/>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Protestantism</a:t>
            </a:r>
            <a:endParaRPr sz="1250" lang="ja-JP"/>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Pub</a:t>
            </a:r>
            <a:endParaRPr sz="1250" lang="ja-JP"/>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Punjab,_Pakistan</a:t>
            </a:r>
            <a:endParaRPr sz="1250" lang="ja-JP"/>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Qing_dynasty</a:t>
            </a:r>
            <a:endParaRPr sz="1250" lang="ja-JP"/>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Queen_(band)</a:t>
            </a:r>
            <a:endParaRPr sz="1250" lang="ja-JP"/>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Queen_Victoria</a:t>
            </a:r>
            <a:endParaRPr sz="1250" lang="ja-JP"/>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Quran</a:t>
            </a:r>
            <a:endParaRPr sz="1250" lang="ja-JP"/>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Race_(human_categorization)</a:t>
            </a:r>
            <a:endParaRPr sz="1250" lang="ja-JP"/>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記事名は元JSONの title をそのまま記載。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学習用 Wikipedia 記事一覧 15/19</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バージョン1.1と2.0に共通する442記事。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Race_and_ethnicity_in_the_United_States_Census</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Railway_electrification_system</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Rajasthan</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Raleigh,_North_Carolina</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Red</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Religion_in_ancient_Rome</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Renewable_energy_commercialization</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Republic_of_the_Congo</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Richard_Feynman</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Richmond,_Virginia</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Roman_Republic</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Royal_assent</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Royal_Dutch_Shell</a:t>
            </a:r>
            <a:endParaRPr sz="1250" lang="ja-JP"/>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Royal_Institute_of_British_Architects</a:t>
            </a:r>
            <a:endParaRPr sz="1250" lang="ja-JP"/>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Rule_of_law</a:t>
            </a:r>
            <a:endParaRPr sz="1250" lang="ja-JP"/>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Russian_language</a:t>
            </a:r>
            <a:endParaRPr sz="1250" lang="ja-JP"/>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Russian_Soviet_Federative_Socialist_Republic</a:t>
            </a:r>
            <a:endParaRPr sz="1250" lang="ja-JP"/>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Sahara</a:t>
            </a:r>
            <a:endParaRPr sz="1250" lang="ja-JP"/>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Saint_Barth%C3%A9lemy</a:t>
            </a:r>
            <a:endParaRPr sz="1250" lang="ja-JP"/>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Saint_Helena</a:t>
            </a:r>
            <a:endParaRPr sz="1250" lang="ja-JP"/>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Samoa</a:t>
            </a:r>
            <a:endParaRPr sz="1250" lang="ja-JP"/>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Samurai</a:t>
            </a:r>
            <a:endParaRPr sz="1250" lang="ja-JP"/>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San_Diego</a:t>
            </a:r>
            <a:endParaRPr sz="1250" lang="ja-JP"/>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Sanskrit</a:t>
            </a:r>
            <a:endParaRPr sz="1250" lang="ja-JP"/>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記事名は元JSONの title をそのまま記載。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学習用 Wikipedia 記事一覧 16/19</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バージョン1.1と2.0に共通する442記事。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Santa_Monica,_California</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Seattle</a:t>
            </a:r>
            <a:endParaRPr sz="1250" lang="ja-JP"/>
          </a:p>
        </p:txBody>
      </p:sp>
      <p:sp>
        <p:nvSpPr>
          <p:cNvPr id="7" name="content-text"/>
          <p:cNvSpPr txBox="1"/>
          <p:nvPr/>
        </p:nvSpPr>
        <p:spPr>
          <a:xfrm>
            <a:off x="594360" y="2246947"/>
            <a:ext cx="3749040" cy="38989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Separation_of_church_and_state_in_the_United_States。</a:t>
            </a:r>
            <a:br/>
            <a:endParaRPr sz="1250" lang="ja-JP"/>
          </a:p>
        </p:txBody>
      </p:sp>
      <p:sp>
        <p:nvSpPr>
          <p:cNvPr id="8" name="content-text"/>
          <p:cNvSpPr txBox="1"/>
          <p:nvPr/>
        </p:nvSpPr>
        <p:spPr>
          <a:xfrm>
            <a:off x="594360" y="2662237"/>
            <a:ext cx="3749040" cy="38989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Separation_of_powers_under_the_United_States_Constitution。</a:t>
            </a:r>
            <a:br/>
            <a:endParaRPr sz="1250" lang="ja-JP"/>
          </a:p>
        </p:txBody>
      </p:sp>
      <p:sp>
        <p:nvSpPr>
          <p:cNvPr id="9" name="content-text"/>
          <p:cNvSpPr txBox="1"/>
          <p:nvPr/>
        </p:nvSpPr>
        <p:spPr>
          <a:xfrm>
            <a:off x="594360" y="30775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Serbo-Croatian</a:t>
            </a:r>
            <a:endParaRPr sz="1250" lang="ja-JP"/>
          </a:p>
        </p:txBody>
      </p:sp>
      <p:sp>
        <p:nvSpPr>
          <p:cNvPr id="10" name="content-text"/>
          <p:cNvSpPr txBox="1"/>
          <p:nvPr/>
        </p:nvSpPr>
        <p:spPr>
          <a:xfrm>
            <a:off x="594360" y="33137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Seven_Years%27_War</a:t>
            </a:r>
            <a:endParaRPr sz="1250" lang="ja-JP"/>
          </a:p>
        </p:txBody>
      </p:sp>
      <p:sp>
        <p:nvSpPr>
          <p:cNvPr id="11" name="content-text"/>
          <p:cNvSpPr txBox="1"/>
          <p:nvPr/>
        </p:nvSpPr>
        <p:spPr>
          <a:xfrm>
            <a:off x="594360" y="35499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Sexual_orientation</a:t>
            </a:r>
            <a:endParaRPr sz="1250" lang="ja-JP"/>
          </a:p>
        </p:txBody>
      </p:sp>
      <p:sp>
        <p:nvSpPr>
          <p:cNvPr id="12" name="content-text"/>
          <p:cNvSpPr txBox="1"/>
          <p:nvPr/>
        </p:nvSpPr>
        <p:spPr>
          <a:xfrm>
            <a:off x="594360" y="37861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Sichuan</a:t>
            </a:r>
            <a:endParaRPr sz="1250" lang="ja-JP"/>
          </a:p>
        </p:txBody>
      </p:sp>
      <p:sp>
        <p:nvSpPr>
          <p:cNvPr id="13" name="content-text"/>
          <p:cNvSpPr txBox="1"/>
          <p:nvPr/>
        </p:nvSpPr>
        <p:spPr>
          <a:xfrm>
            <a:off x="594360" y="40224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Sino-Tibetan_relations_during_the_Ming_dynasty</a:t>
            </a:r>
            <a:endParaRPr sz="1250" lang="ja-JP"/>
          </a:p>
        </p:txBody>
      </p:sp>
      <p:sp>
        <p:nvSpPr>
          <p:cNvPr id="14" name="content-text"/>
          <p:cNvSpPr txBox="1"/>
          <p:nvPr/>
        </p:nvSpPr>
        <p:spPr>
          <a:xfrm>
            <a:off x="594360" y="42586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Slavs</a:t>
            </a:r>
            <a:endParaRPr sz="1250" lang="ja-JP"/>
          </a:p>
        </p:txBody>
      </p:sp>
      <p:sp>
        <p:nvSpPr>
          <p:cNvPr id="15"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Software_testing</a:t>
            </a:r>
            <a:endParaRPr sz="1250" lang="ja-JP"/>
          </a:p>
        </p:txBody>
      </p:sp>
      <p:sp>
        <p:nvSpPr>
          <p:cNvPr id="16"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Solar_energy</a:t>
            </a:r>
            <a:endParaRPr sz="1250" lang="ja-JP"/>
          </a:p>
        </p:txBody>
      </p:sp>
      <p:sp>
        <p:nvSpPr>
          <p:cNvPr id="17"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Somalis</a:t>
            </a:r>
            <a:endParaRPr sz="1250" lang="ja-JP"/>
          </a:p>
        </p:txBody>
      </p:sp>
      <p:sp>
        <p:nvSpPr>
          <p:cNvPr id="18"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Somerset</a:t>
            </a:r>
            <a:endParaRPr sz="1250" lang="ja-JP"/>
          </a:p>
        </p:txBody>
      </p:sp>
      <p:sp>
        <p:nvSpPr>
          <p:cNvPr id="19"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Sony_Music_Entertainment</a:t>
            </a:r>
            <a:endParaRPr sz="1250" lang="ja-JP"/>
          </a:p>
        </p:txBody>
      </p:sp>
      <p:sp>
        <p:nvSpPr>
          <p:cNvPr id="20"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Southampton</a:t>
            </a:r>
            <a:endParaRPr sz="1250" lang="ja-JP"/>
          </a:p>
        </p:txBody>
      </p:sp>
      <p:sp>
        <p:nvSpPr>
          <p:cNvPr id="21"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Southeast_Asia</a:t>
            </a:r>
            <a:endParaRPr sz="1250" lang="ja-JP"/>
          </a:p>
        </p:txBody>
      </p:sp>
      <p:sp>
        <p:nvSpPr>
          <p:cNvPr id="22"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Southern_Europe</a:t>
            </a:r>
            <a:endParaRPr sz="1250" lang="ja-JP"/>
          </a:p>
        </p:txBody>
      </p:sp>
      <p:sp>
        <p:nvSpPr>
          <p:cNvPr id="23"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Space_Race</a:t>
            </a:r>
            <a:endParaRPr sz="1250" lang="ja-JP"/>
          </a:p>
        </p:txBody>
      </p:sp>
      <p:sp>
        <p:nvSpPr>
          <p:cNvPr id="24"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Spanish_language_in_the_United_States</a:t>
            </a:r>
            <a:endParaRPr sz="1250" lang="ja-JP"/>
          </a:p>
        </p:txBody>
      </p:sp>
      <p:sp>
        <p:nvSpPr>
          <p:cNvPr id="25"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Spectre_(2015_film)</a:t>
            </a:r>
            <a:endParaRPr sz="1250" lang="ja-JP"/>
          </a:p>
        </p:txBody>
      </p:sp>
      <p:sp>
        <p:nvSpPr>
          <p:cNvPr id="26"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St._John%27s,_Newfoundland_and_Labrador</a:t>
            </a:r>
            <a:endParaRPr sz="1250" lang="ja-JP"/>
          </a:p>
        </p:txBody>
      </p:sp>
      <p:sp>
        <p:nvSpPr>
          <p:cNvPr id="27"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記事名は元JSONの title をそのまま記載。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学習用 Wikipedia 記事一覧 17/19</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バージョン1.1と2.0に共通する442記事。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States_of_Germany</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Steven_Spielberg</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Strasbourg</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Sumer</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Super_Nintendo_Entertainment_System</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Supreme_court</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Swaziland</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Switzerland</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Symbiosis</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Szlachta</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Tajikistan</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Tennessee</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Textual_criticism</a:t>
            </a:r>
            <a:endParaRPr sz="1250" lang="ja-JP"/>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The_Blitz</a:t>
            </a:r>
            <a:endParaRPr sz="1250" lang="ja-JP"/>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The_Bronx</a:t>
            </a:r>
            <a:endParaRPr sz="1250" lang="ja-JP"/>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The_Legend_of_Zelda _Twilight_Princess</a:t>
            </a:r>
            <a:endParaRPr sz="1250" lang="ja-JP"/>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The_Sun_(United_Kingdom)</a:t>
            </a:r>
            <a:endParaRPr sz="1250" lang="ja-JP"/>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The_Times</a:t>
            </a:r>
            <a:endParaRPr sz="1250" lang="ja-JP"/>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Thuringia</a:t>
            </a:r>
            <a:endParaRPr sz="1250" lang="ja-JP"/>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Tibet</a:t>
            </a:r>
            <a:endParaRPr sz="1250" lang="ja-JP"/>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Time</a:t>
            </a:r>
            <a:endParaRPr sz="1250" lang="ja-JP"/>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To_Kill_a_Mockingbird</a:t>
            </a:r>
            <a:endParaRPr sz="1250" lang="ja-JP"/>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Transistor</a:t>
            </a:r>
            <a:endParaRPr sz="1250" lang="ja-JP"/>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Translation</a:t>
            </a:r>
            <a:endParaRPr sz="1250" lang="ja-JP"/>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記事名は元JSONの title をそのまま記載。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学習用 Wikipedia 記事一覧 18/19</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バージョン1.1と2.0に共通する442記事。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Treaty</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Tristan_da_Cunha</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Tuberculosis</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Tucson,_Arizona</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Turner_Classic_Movies</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Tuvalu</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Umayyad_Caliphate</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Unicode</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United_Nations_Population_Fund</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United_States_Air_Force</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United_States_Army</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United_States_dollar</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United_States_presidential_election,_2004</a:t>
            </a:r>
            <a:endParaRPr sz="1250" lang="ja-JP"/>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Universal_Studios</a:t>
            </a:r>
            <a:endParaRPr sz="1250" lang="ja-JP"/>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University</a:t>
            </a:r>
            <a:endParaRPr sz="1250" lang="ja-JP"/>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University_of_Kansas</a:t>
            </a:r>
            <a:endParaRPr sz="1250" lang="ja-JP"/>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University_of_Notre_Dame</a:t>
            </a:r>
            <a:endParaRPr sz="1250" lang="ja-JP"/>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Uranium</a:t>
            </a:r>
            <a:endParaRPr sz="1250" lang="ja-JP"/>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USB</a:t>
            </a:r>
            <a:endParaRPr sz="1250" lang="ja-JP"/>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Utrecht</a:t>
            </a:r>
            <a:endParaRPr sz="1250" lang="ja-JP"/>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Vacuum</a:t>
            </a:r>
            <a:endParaRPr sz="1250" lang="ja-JP"/>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Valencia</a:t>
            </a:r>
            <a:endParaRPr sz="1250" lang="ja-JP"/>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Videoconferencing</a:t>
            </a:r>
            <a:endParaRPr sz="1250" lang="ja-JP"/>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Virgil</a:t>
            </a:r>
            <a:endParaRPr sz="1250" lang="ja-JP"/>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記事名は元JSONの title をそのまま記載。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学習用 Wikipedia 記事一覧 19/19</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5 Wikipedia記事一覧</a:t>
            </a:r>
            <a:endParaRPr sz="1400" lang="ja-JP"/>
            <a:endParaRPr sz="1400"/>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defRPr sz="1800">
                <a:latin typeface="Noto Sans CJK JP"/>
              </a:defRPr>
              <a:buNone/>
            </a:pPr>
            <a:r>
              <a:rPr sz="1800" b="0" lang="ja-JP">
                <a:solidFill>
                  <a:srgbClr val="303437"/>
                </a:solidFill>
                <a:latin typeface="Noto Sans CJK JP"/>
                <a:ea typeface="Noto Sans CJK JP"/>
                <a:cs typeface="Noto Sans CJK JP"/>
              </a:rPr>
              <a:t>バージョン1.1と2.0に共通する442記事。</a:t>
            </a:r>
            <a:endParaRPr sz="1800" lang="ja-JP"/>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War_on_Terror</a:t>
            </a:r>
            <a:endParaRPr sz="1250" lang="ja-JP"/>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Warsaw_Pact</a:t>
            </a:r>
            <a:endParaRPr sz="1250" lang="ja-JP"/>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Washington_University_in_St._Louis</a:t>
            </a:r>
            <a:endParaRPr sz="1250" lang="ja-JP"/>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Wayback_Machine</a:t>
            </a:r>
            <a:endParaRPr sz="1250" lang="ja-JP"/>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Web_browser</a:t>
            </a:r>
            <a:endParaRPr sz="1250" lang="ja-JP"/>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Westminster_Abbey</a:t>
            </a:r>
            <a:endParaRPr sz="1250" lang="ja-JP"/>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Windows_8</a:t>
            </a:r>
            <a:endParaRPr sz="1250" lang="ja-JP"/>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Wood</a:t>
            </a:r>
            <a:endParaRPr sz="1250" lang="ja-JP"/>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Xbox_360</a:t>
            </a:r>
            <a:endParaRPr sz="1250" lang="ja-JP"/>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Yale_University</a:t>
            </a:r>
            <a:endParaRPr sz="1250" lang="ja-JP"/>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YouTube</a:t>
            </a:r>
            <a:endParaRPr sz="1250" lang="ja-JP"/>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Zhejiang</a:t>
            </a:r>
            <a:endParaRPr sz="1250" lang="ja-JP"/>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defRPr sz="1250">
                <a:latin typeface="Liberation Sans"/>
              </a:defRPr>
              <a:buNone/>
            </a:pPr>
            <a:r>
              <a:rPr sz="1250" b="0" lang="ja-JP">
                <a:solidFill>
                  <a:srgbClr val="303437"/>
                </a:solidFill>
                <a:latin typeface="Liberation Sans"/>
                <a:ea typeface="Liberation Sans"/>
                <a:cs typeface="Liberation Sans"/>
              </a:rPr>
              <a:t>Zinc</a:t>
            </a:r>
            <a:endParaRPr sz="1250" lang="ja-JP"/>
          </a:p>
        </p:txBody>
      </p:sp>
      <p:sp>
        <p:nvSpPr>
          <p:cNvPr id="18"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記事名は元JSONの title をそのまま記載。</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https://github.com/rajpurkar/SQuAD-explorer/tree/master/dataset</a:t>
            </a:r>
            <a:endParaRPr sz="85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データを取得する Python コード</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6 入手コードと参考文献</a:t>
            </a:r>
            <a:endParaRPr sz="1400" lang="ja-JP"/>
            <a:endParaRPr sz="1400"/>
          </a:p>
        </p:txBody>
      </p:sp>
      <p:sp>
        <p:nvSpPr>
          <p:cNvPr id="4" name="diagram-rect"/>
          <p:cNvSpPr/>
          <p:nvPr/>
        </p:nvSpPr>
        <p:spPr>
          <a:xfrm>
            <a:off x="502920" y="1465897"/>
            <a:ext cx="8138160" cy="30861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content-text"/>
          <p:cNvSpPr txBox="1"/>
          <p:nvPr/>
        </p:nvSpPr>
        <p:spPr>
          <a:xfrm>
            <a:off x="685800" y="1568767"/>
            <a:ext cx="7772400" cy="2880360"/>
          </a:xfrm>
          <a:prstGeom prst="rect">
            <a:avLst/>
          </a:prstGeom>
          <a:noFill/>
        </p:spPr>
        <p:txBody>
          <a:bodyPr wrap="square" anchor="t" lIns="0" rIns="0" tIns="0" bIns="0">
            <a:noAutofit/>
          </a:bodyPr>
          <a:lstStyle/>
          <a:p>
            <a:pPr algn="l" marL="0" indent="0">
              <a:lnSpc>
                <a:spcPct val="115000"/>
              </a:lnSpc>
              <a:spcBef>
                <a:spcPts val="0"/>
              </a:spcBef>
              <a:spcAft>
                <a:spcPts val="0"/>
              </a:spcAft>
              <a:defRPr sz="1400">
                <a:latin typeface="Liberation Mono"/>
              </a:defRPr>
              <a:buNone/>
            </a:pPr>
            <a:r>
              <a:rPr sz="1400" b="0" lang="ja-JP">
                <a:solidFill>
                  <a:srgbClr val="303437"/>
                </a:solidFill>
                <a:latin typeface="Liberation Mono"/>
                <a:ea typeface="Liberation Mono"/>
                <a:cs typeface="Liberation Mono"/>
              </a:rPr>
              <a:t>import json</a:t>
            </a:r>
            <a:br/>
            <a:r>
              <a:rPr sz="1400" b="0" lang="ja-JP">
                <a:solidFill>
                  <a:srgbClr val="303437"/>
                </a:solidFill>
                <a:latin typeface="Liberation Mono"/>
                <a:ea typeface="Liberation Mono"/>
                <a:cs typeface="Liberation Mono"/>
              </a:rPr>
              <a:t>from urllib.request import urlopen</a:t>
            </a:r>
            <a:br/>
            <a:r>
              <a:rPr sz="1400" b="0" lang="ja-JP">
                <a:solidFill>
                  <a:srgbClr val="303437"/>
                </a:solidFill>
                <a:latin typeface="Liberation Mono"/>
                <a:ea typeface="Liberation Mono"/>
                <a:cs typeface="Liberation Mono"/>
              </a:rPr>
              <a:t/>
            </a:r>
            <a:br/>
            <a:r>
              <a:rPr sz="1400" b="0" lang="ja-JP">
                <a:solidFill>
                  <a:srgbClr val="303437"/>
                </a:solidFill>
                <a:latin typeface="Liberation Mono"/>
                <a:ea typeface="Liberation Mono"/>
                <a:cs typeface="Liberation Mono"/>
              </a:rPr>
              <a:t>base = "https://rajpurkar.github.io/SQuAD-explorer/dataset/"</a:t>
            </a:r>
            <a:br/>
            <a:r>
              <a:rPr sz="1400" b="0" lang="ja-JP">
                <a:solidFill>
                  <a:srgbClr val="303437"/>
                </a:solidFill>
                <a:latin typeface="Liberation Mono"/>
                <a:ea typeface="Liberation Mono"/>
                <a:cs typeface="Liberation Mono"/>
              </a:rPr>
              <a:t>for version in ("1.1", "2.0"):</a:t>
            </a:r>
            <a:br/>
            <a:r>
              <a:rPr sz="1400" b="0" lang="ja-JP">
                <a:solidFill>
                  <a:srgbClr val="303437"/>
                </a:solidFill>
                <a:latin typeface="Liberation Mono"/>
                <a:ea typeface="Liberation Mono"/>
                <a:cs typeface="Liberation Mono"/>
              </a:rPr>
              <a:t>    for split in ("train", "dev"):</a:t>
            </a:r>
            <a:br/>
            <a:r>
              <a:rPr sz="1400" b="0" lang="ja-JP">
                <a:solidFill>
                  <a:srgbClr val="303437"/>
                </a:solidFill>
                <a:latin typeface="Liberation Mono"/>
                <a:ea typeface="Liberation Mono"/>
                <a:cs typeface="Liberation Mono"/>
              </a:rPr>
              <a:t>        name = f"{split}-v{version}.json"</a:t>
            </a:r>
            <a:br/>
            <a:r>
              <a:rPr sz="1400" b="0" lang="ja-JP">
                <a:solidFill>
                  <a:srgbClr val="303437"/>
                </a:solidFill>
                <a:latin typeface="Liberation Mono"/>
                <a:ea typeface="Liberation Mono"/>
                <a:cs typeface="Liberation Mono"/>
              </a:rPr>
              <a:t>        with urlopen(base + name) as response:</a:t>
            </a:r>
            <a:br/>
            <a:r>
              <a:rPr sz="1400" b="0" lang="ja-JP">
                <a:solidFill>
                  <a:srgbClr val="303437"/>
                </a:solidFill>
                <a:latin typeface="Liberation Mono"/>
                <a:ea typeface="Liberation Mono"/>
                <a:cs typeface="Liberation Mono"/>
              </a:rPr>
              <a:t>            data = json.load(response)</a:t>
            </a:r>
            <a:br/>
            <a:r>
              <a:rPr sz="1400" b="0" lang="ja-JP">
                <a:solidFill>
                  <a:srgbClr val="303437"/>
                </a:solidFill>
                <a:latin typeface="Liberation Mono"/>
                <a:ea typeface="Liberation Mono"/>
                <a:cs typeface="Liberation Mono"/>
              </a:rPr>
              <a:t>        with open(name, "w", encoding="utf-8") as output:</a:t>
            </a:r>
            <a:br/>
            <a:r>
              <a:rPr sz="1400" b="0" lang="ja-JP">
                <a:solidFill>
                  <a:srgbClr val="303437"/>
                </a:solidFill>
                <a:latin typeface="Liberation Mono"/>
                <a:ea typeface="Liberation Mono"/>
                <a:cs typeface="Liberation Mono"/>
              </a:rPr>
              <a:t>            json.dump(data, output, ensure_ascii=False)</a:t>
            </a:r>
            <a:endParaRPr sz="1400" lang="ja-JP"/>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配布元　https://rajpurkar.github.io/SQuAD-explorer/dataset/</a:t>
            </a:r>
            <a:endParaRPr sz="850"/>
          </a:p>
          <a:p>
            <a:pPr algn="l" marL="0" indent="0">
              <a:lnSpc>
                <a:spcPct val="100000"/>
              </a:lnSpc>
              <a:spcBef>
                <a:spcPts val="0"/>
              </a:spcBef>
              <a:spcAft>
                <a:spcPts val="0"/>
              </a:spcAft>
              <a:defRPr sz="850">
                <a:latin typeface="Noto Sans CJK JP"/>
              </a:defRPr>
              <a:buNone/>
            </a:pPr>
            <a:r>
              <a:rPr sz="850" lang="ja-JP">
                <a:solidFill>
                  <a:srgbClr val="626669"/>
                </a:solidFill>
                <a:latin typeface="Noto Sans CJK JP"/>
                <a:ea typeface="Noto Sans CJK JP"/>
              </a:rPr>
              <a:t>バージョン・分割ごとに公式JSONを取得。Python標準ライブラリのみ使用。</a:t>
            </a:r>
            <a:endParaRPr sz="85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参考文献・公式資料</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6 入手コードと参考文献</a:t>
            </a:r>
            <a:endParaRPr sz="1400" lang="ja-JP"/>
            <a:endParaRPr sz="1400"/>
          </a:p>
        </p:txBody>
      </p:sp>
      <p:sp>
        <p:nvSpPr>
          <p:cNvPr id="4" name="content-text"/>
          <p:cNvSpPr txBox="1"/>
          <p:nvPr/>
        </p:nvSpPr>
        <p:spPr>
          <a:xfrm>
            <a:off x="594360" y="1440180"/>
            <a:ext cx="8046720" cy="3086100"/>
          </a:xfrm>
          <a:prstGeom prst="rect">
            <a:avLst/>
          </a:prstGeom>
          <a:noFill/>
        </p:spPr>
        <p:txBody>
          <a:bodyPr wrap="square" anchor="t" lIns="0" rIns="0" tIns="0" bIns="0">
            <a:noAutofit/>
          </a:bodyPr>
          <a:lstStyle/>
          <a:p>
            <a:pPr algn="l" marL="203200" indent="-152400">
              <a:lnSpc>
                <a:spcPct val="113000"/>
              </a:lnSpc>
              <a:spcBef>
                <a:spcPts val="0"/>
              </a:spcBef>
              <a:spcAft>
                <a:spcPts val="500"/>
              </a:spcAft>
              <a:defRPr sz="2100">
                <a:latin typeface="Noto Sans CJK JP"/>
              </a:defRPr>
              <a:buChar char="•"/>
            </a:pPr>
            <a:r>
              <a:rPr sz="2100" b="0" lang="ja-JP">
                <a:solidFill>
                  <a:srgbClr val="303437"/>
                </a:solidFill>
                <a:latin typeface="Noto Sans CJK JP"/>
                <a:ea typeface="Noto Sans CJK JP"/>
                <a:cs typeface="Noto Sans CJK JP"/>
              </a:rPr>
              <a:t>Rajpurkar et al. (2016), SQuAD</a:t>
            </a:r>
            <a:endParaRPr sz="2100" lang="ja-JP"/>
          </a:p>
          <a:p>
            <a:pPr lvl="1" algn="l" marL="482600" indent="-127000">
              <a:lnSpc>
                <a:spcPct val="113000"/>
              </a:lnSpc>
              <a:spcBef>
                <a:spcPts val="0"/>
              </a:spcBef>
              <a:spcAft>
                <a:spcPts val="400"/>
              </a:spcAft>
              <a:defRPr sz="1800">
                <a:latin typeface="Noto Sans CJK JP"/>
              </a:defRPr>
              <a:buChar char="○"/>
            </a:pPr>
            <a:r>
              <a:rPr sz="1800" b="0" lang="ja-JP">
                <a:solidFill>
                  <a:srgbClr val="303437"/>
                </a:solidFill>
                <a:latin typeface="Noto Sans CJK JP"/>
                <a:ea typeface="Noto Sans CJK JP"/>
                <a:cs typeface="Noto Sans CJK JP"/>
              </a:rPr>
              <a:t>https://aclanthology.org/D16-1264/</a:t>
            </a:r>
            <a:endParaRPr sz="1800" lang="ja-JP"/>
          </a:p>
          <a:p>
            <a:pPr algn="l" marL="203200" indent="-152400">
              <a:lnSpc>
                <a:spcPct val="113000"/>
              </a:lnSpc>
              <a:spcBef>
                <a:spcPts val="0"/>
              </a:spcBef>
              <a:spcAft>
                <a:spcPts val="500"/>
              </a:spcAft>
              <a:defRPr sz="2100">
                <a:latin typeface="Noto Sans CJK JP"/>
              </a:defRPr>
              <a:buChar char="•"/>
            </a:pPr>
            <a:r>
              <a:rPr sz="2100" b="0" lang="ja-JP">
                <a:solidFill>
                  <a:srgbClr val="303437"/>
                </a:solidFill>
                <a:latin typeface="Noto Sans CJK JP"/>
                <a:ea typeface="Noto Sans CJK JP"/>
                <a:cs typeface="Noto Sans CJK JP"/>
              </a:rPr>
              <a:t>Rajpurkar, Jia &amp; Liang (2018), Know What You Don’t Know</a:t>
            </a:r>
            <a:endParaRPr sz="2100" lang="ja-JP"/>
          </a:p>
          <a:p>
            <a:pPr lvl="1" algn="l" marL="482600" indent="-127000">
              <a:lnSpc>
                <a:spcPct val="113000"/>
              </a:lnSpc>
              <a:spcBef>
                <a:spcPts val="0"/>
              </a:spcBef>
              <a:spcAft>
                <a:spcPts val="400"/>
              </a:spcAft>
              <a:defRPr sz="1800">
                <a:latin typeface="Noto Sans CJK JP"/>
              </a:defRPr>
              <a:buChar char="○"/>
            </a:pPr>
            <a:r>
              <a:rPr sz="1800" b="0" lang="ja-JP">
                <a:solidFill>
                  <a:srgbClr val="303437"/>
                </a:solidFill>
                <a:latin typeface="Noto Sans CJK JP"/>
                <a:ea typeface="Noto Sans CJK JP"/>
                <a:cs typeface="Noto Sans CJK JP"/>
              </a:rPr>
              <a:t>https://aclanthology.org/P18-2124/</a:t>
            </a:r>
            <a:endParaRPr sz="1800" lang="ja-JP"/>
          </a:p>
          <a:p>
            <a:pPr algn="l" marL="203200" indent="-152400">
              <a:lnSpc>
                <a:spcPct val="113000"/>
              </a:lnSpc>
              <a:spcBef>
                <a:spcPts val="0"/>
              </a:spcBef>
              <a:spcAft>
                <a:spcPts val="500"/>
              </a:spcAft>
              <a:defRPr sz="2100">
                <a:latin typeface="Noto Sans CJK JP"/>
              </a:defRPr>
              <a:buChar char="•"/>
            </a:pPr>
            <a:r>
              <a:rPr sz="2100" b="0" lang="ja-JP">
                <a:solidFill>
                  <a:srgbClr val="303437"/>
                </a:solidFill>
                <a:latin typeface="Noto Sans CJK JP"/>
                <a:ea typeface="Noto Sans CJK JP"/>
                <a:cs typeface="Noto Sans CJK JP"/>
              </a:rPr>
              <a:t>SQuAD 公式サイト・配布データ・リーダーボード</a:t>
            </a:r>
            <a:endParaRPr sz="2100" lang="ja-JP"/>
          </a:p>
          <a:p>
            <a:pPr lvl="1" algn="l" marL="482600" indent="-127000">
              <a:lnSpc>
                <a:spcPct val="113000"/>
              </a:lnSpc>
              <a:spcBef>
                <a:spcPts val="0"/>
              </a:spcBef>
              <a:spcAft>
                <a:spcPts val="400"/>
              </a:spcAft>
              <a:defRPr sz="1800">
                <a:latin typeface="Noto Sans CJK JP"/>
              </a:defRPr>
              <a:buChar char="○"/>
            </a:pPr>
            <a:r>
              <a:rPr sz="1800" b="0" lang="ja-JP">
                <a:solidFill>
                  <a:srgbClr val="303437"/>
                </a:solidFill>
                <a:latin typeface="Noto Sans CJK JP"/>
                <a:ea typeface="Noto Sans CJK JP"/>
                <a:cs typeface="Noto Sans CJK JP"/>
              </a:rPr>
              <a:t>https://rajpurkar.github.io/SQuAD-explorer/</a:t>
            </a:r>
            <a:endParaRPr sz="1800" lang="ja-JP"/>
          </a:p>
          <a:p>
            <a:pPr algn="l" marL="203200" indent="-152400">
              <a:lnSpc>
                <a:spcPct val="113000"/>
              </a:lnSpc>
              <a:spcBef>
                <a:spcPts val="0"/>
              </a:spcBef>
              <a:spcAft>
                <a:spcPts val="500"/>
              </a:spcAft>
              <a:defRPr sz="2100">
                <a:latin typeface="Noto Sans CJK JP"/>
              </a:defRPr>
              <a:buChar char="•"/>
            </a:pPr>
            <a:r>
              <a:rPr sz="2100" b="0" lang="ja-JP">
                <a:solidFill>
                  <a:srgbClr val="303437"/>
                </a:solidFill>
                <a:latin typeface="Noto Sans CJK JP"/>
                <a:ea typeface="Noto Sans CJK JP"/>
                <a:cs typeface="Noto Sans CJK JP"/>
              </a:rPr>
              <a:t>データのライセンス CC BY-SA 4.0</a:t>
            </a:r>
            <a:endParaRPr sz="2100" lang="ja-JP"/>
          </a:p>
          <a:p>
            <a:pPr lvl="1" algn="l" marL="482600" indent="-127000">
              <a:lnSpc>
                <a:spcPct val="113000"/>
              </a:lnSpc>
              <a:spcBef>
                <a:spcPts val="0"/>
              </a:spcBef>
              <a:spcAft>
                <a:spcPts val="400"/>
              </a:spcAft>
              <a:defRPr sz="1800">
                <a:latin typeface="Noto Sans CJK JP"/>
              </a:defRPr>
              <a:buChar char="○"/>
            </a:pPr>
            <a:r>
              <a:rPr sz="1800" b="0" lang="ja-JP">
                <a:solidFill>
                  <a:srgbClr val="303437"/>
                </a:solidFill>
                <a:latin typeface="Noto Sans CJK JP"/>
                <a:ea typeface="Noto Sans CJK JP"/>
                <a:cs typeface="Noto Sans CJK JP"/>
              </a:rPr>
              <a:t>https://creativecommons.org/licenses/by-sa/4.0/</a:t>
            </a:r>
            <a:endParaRPr sz="1800" lang="ja-JP"/>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defRPr sz="2800">
                <a:latin typeface="Noto Sans CJK JP"/>
              </a:defRPr>
              <a:spcAft>
                <a:spcPts val="0"/>
              </a:spcAft>
              <a:buNone/>
            </a:pPr>
            <a:r>
              <a:rPr sz="2800" lang="ja-JP" b="1">
                <a:solidFill>
                  <a:srgbClr val="303437"/>
                </a:solidFill>
                <a:latin typeface="Noto Sans CJK JP"/>
                <a:ea typeface="Noto Sans CJK JP"/>
              </a:rPr>
              <a:t>参考資料 近年の評価と著者の関連研究</a:t>
            </a:r>
            <a:endParaRPr sz="2800" lang="ja-JP"/>
            <a:endParaRPr sz="2800"/>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defRPr sz="1400">
                <a:latin typeface="Noto Sans CJK JP"/>
              </a:defRPr>
              <a:spcAft>
                <a:spcPts val="0"/>
              </a:spcAft>
              <a:buNone/>
            </a:pPr>
            <a:r>
              <a:rPr sz="1400" lang="ja-JP">
                <a:solidFill>
                  <a:srgbClr val="FFFEF8"/>
                </a:solidFill>
                <a:latin typeface="Noto Sans CJK JP"/>
                <a:ea typeface="Noto Sans CJK JP"/>
              </a:rPr>
              <a:t>Appendix: 6 入手コードと参考文献</a:t>
            </a:r>
            <a:endParaRPr sz="1400" lang="ja-JP"/>
            <a:endParaRPr sz="1400"/>
          </a:p>
        </p:txBody>
      </p:sp>
      <p:sp>
        <p:nvSpPr>
          <p:cNvPr id="4" name="content-text"/>
          <p:cNvSpPr txBox="1"/>
          <p:nvPr/>
        </p:nvSpPr>
        <p:spPr>
          <a:xfrm>
            <a:off x="594360" y="1465897"/>
            <a:ext cx="8046720" cy="3086100"/>
          </a:xfrm>
          <a:prstGeom prst="rect">
            <a:avLst/>
          </a:prstGeom>
          <a:noFill/>
        </p:spPr>
        <p:txBody>
          <a:bodyPr wrap="square" anchor="t" lIns="0" rIns="0" tIns="0" bIns="0">
            <a:noAutofit/>
          </a:bodyPr>
          <a:lstStyle/>
          <a:p>
            <a:pPr algn="l" marL="203200" indent="-152400">
              <a:lnSpc>
                <a:spcPct val="113000"/>
              </a:lnSpc>
              <a:spcBef>
                <a:spcPts val="0"/>
              </a:spcBef>
              <a:spcAft>
                <a:spcPts val="400"/>
              </a:spcAft>
              <a:defRPr sz="1800">
                <a:latin typeface="Noto Sans CJK JP"/>
              </a:defRPr>
              <a:buChar char="•"/>
            </a:pPr>
            <a:r>
              <a:rPr sz="1800" b="0" lang="ja-JP">
                <a:solidFill>
                  <a:srgbClr val="303437"/>
                </a:solidFill>
                <a:latin typeface="Noto Sans CJK JP"/>
                <a:ea typeface="Noto Sans CJK JP"/>
                <a:cs typeface="Noto Sans CJK JP"/>
              </a:rPr>
              <a:t>Llama 3.1 モデルカード・評価条件</a:t>
            </a:r>
            <a:endParaRPr sz="1800" lang="ja-JP"/>
          </a:p>
          <a:p>
            <a:pPr lvl="1" algn="l" marL="482600" indent="-127000">
              <a:lnSpc>
                <a:spcPct val="113000"/>
              </a:lnSpc>
              <a:spcBef>
                <a:spcPts val="0"/>
              </a:spcBef>
              <a:spcAft>
                <a:spcPts val="400"/>
              </a:spcAft>
              <a:defRPr sz="1500">
                <a:latin typeface="Noto Sans CJK JP"/>
              </a:defRPr>
              <a:buChar char="○"/>
            </a:pPr>
            <a:r>
              <a:rPr sz="1500" b="0" lang="ja-JP">
                <a:solidFill>
                  <a:srgbClr val="303437"/>
                </a:solidFill>
                <a:latin typeface="Noto Sans CJK JP"/>
                <a:ea typeface="Noto Sans CJK JP"/>
                <a:cs typeface="Noto Sans CJK JP"/>
              </a:rPr>
              <a:t>https://github.com/meta-llama/llama-models/blob/main/models/llama3_1/MODEL_CARD.md</a:t>
            </a:r>
            <a:endParaRPr sz="1500" lang="ja-JP"/>
          </a:p>
          <a:p>
            <a:pPr lvl="1" algn="l" marL="482600" indent="-127000">
              <a:lnSpc>
                <a:spcPct val="113000"/>
              </a:lnSpc>
              <a:spcBef>
                <a:spcPts val="0"/>
              </a:spcBef>
              <a:spcAft>
                <a:spcPts val="400"/>
              </a:spcAft>
              <a:defRPr sz="1500">
                <a:latin typeface="Noto Sans CJK JP"/>
              </a:defRPr>
              <a:buChar char="○"/>
            </a:pPr>
            <a:r>
              <a:rPr sz="1500" b="0" lang="ja-JP">
                <a:solidFill>
                  <a:srgbClr val="303437"/>
                </a:solidFill>
                <a:latin typeface="Noto Sans CJK JP"/>
                <a:ea typeface="Noto Sans CJK JP"/>
                <a:cs typeface="Noto Sans CJK JP"/>
              </a:rPr>
              <a:t>https://github.com/meta-llama/llama-models/blob/main/models/llama3_1/eval_details.md</a:t>
            </a:r>
            <a:endParaRPr sz="1500" lang="ja-JP"/>
          </a:p>
          <a:p>
            <a:pPr algn="l" marL="203200" indent="-152400">
              <a:lnSpc>
                <a:spcPct val="113000"/>
              </a:lnSpc>
              <a:spcBef>
                <a:spcPts val="0"/>
              </a:spcBef>
              <a:spcAft>
                <a:spcPts val="400"/>
              </a:spcAft>
              <a:defRPr sz="1800">
                <a:latin typeface="Noto Sans CJK JP"/>
              </a:defRPr>
              <a:buChar char="•"/>
            </a:pPr>
            <a:r>
              <a:rPr sz="1800" b="0" lang="ja-JP">
                <a:solidFill>
                  <a:srgbClr val="303437"/>
                </a:solidFill>
                <a:latin typeface="Noto Sans CJK JP"/>
                <a:ea typeface="Noto Sans CJK JP"/>
                <a:cs typeface="Noto Sans CJK JP"/>
              </a:rPr>
              <a:t>LongBench v2 長い文脈の理解・推論評価</a:t>
            </a:r>
            <a:endParaRPr sz="1800" lang="ja-JP"/>
          </a:p>
          <a:p>
            <a:pPr lvl="1" algn="l" marL="482600" indent="-127000">
              <a:lnSpc>
                <a:spcPct val="113000"/>
              </a:lnSpc>
              <a:spcBef>
                <a:spcPts val="0"/>
              </a:spcBef>
              <a:spcAft>
                <a:spcPts val="400"/>
              </a:spcAft>
              <a:defRPr sz="1500">
                <a:latin typeface="Noto Sans CJK JP"/>
              </a:defRPr>
              <a:buChar char="○"/>
            </a:pPr>
            <a:r>
              <a:rPr sz="1500" b="0" lang="ja-JP">
                <a:solidFill>
                  <a:srgbClr val="303437"/>
                </a:solidFill>
                <a:latin typeface="Noto Sans CJK JP"/>
                <a:ea typeface="Noto Sans CJK JP"/>
                <a:cs typeface="Noto Sans CJK JP"/>
              </a:rPr>
              <a:t>https://github.com/THUDM/LongBench</a:t>
            </a:r>
            <a:endParaRPr sz="1500" lang="ja-JP"/>
          </a:p>
          <a:p>
            <a:pPr algn="l" marL="203200" indent="-152400">
              <a:lnSpc>
                <a:spcPct val="113000"/>
              </a:lnSpc>
              <a:spcBef>
                <a:spcPts val="0"/>
              </a:spcBef>
              <a:spcAft>
                <a:spcPts val="400"/>
              </a:spcAft>
              <a:defRPr sz="1800">
                <a:latin typeface="Noto Sans CJK JP"/>
              </a:defRPr>
              <a:buChar char="•"/>
            </a:pPr>
            <a:r>
              <a:rPr sz="1800" b="0" lang="ja-JP">
                <a:solidFill>
                  <a:srgbClr val="303437"/>
                </a:solidFill>
                <a:latin typeface="Noto Sans CJK JP"/>
                <a:ea typeface="Noto Sans CJK JP"/>
                <a:cs typeface="Noto Sans CJK JP"/>
              </a:rPr>
              <a:t>Jia &amp; Liang (2017) 敵対的な読解評価</a:t>
            </a:r>
            <a:endParaRPr sz="1800" lang="ja-JP"/>
          </a:p>
          <a:p>
            <a:pPr lvl="1" algn="l" marL="482600" indent="-127000">
              <a:lnSpc>
                <a:spcPct val="113000"/>
              </a:lnSpc>
              <a:spcBef>
                <a:spcPts val="0"/>
              </a:spcBef>
              <a:spcAft>
                <a:spcPts val="400"/>
              </a:spcAft>
              <a:defRPr sz="1500">
                <a:latin typeface="Noto Sans CJK JP"/>
              </a:defRPr>
              <a:buChar char="○"/>
            </a:pPr>
            <a:r>
              <a:rPr sz="1500" b="0" lang="ja-JP">
                <a:solidFill>
                  <a:srgbClr val="303437"/>
                </a:solidFill>
                <a:latin typeface="Noto Sans CJK JP"/>
                <a:ea typeface="Noto Sans CJK JP"/>
                <a:cs typeface="Noto Sans CJK JP"/>
              </a:rPr>
              <a:t>https://github.com/robinjia/adversarial-squad</a:t>
            </a:r>
            <a:endParaRPr sz="1500" lang="ja-JP"/>
          </a:p>
          <a:p>
            <a:pPr algn="l" marL="203200" indent="-152400">
              <a:lnSpc>
                <a:spcPct val="113000"/>
              </a:lnSpc>
              <a:spcBef>
                <a:spcPts val="0"/>
              </a:spcBef>
              <a:spcAft>
                <a:spcPts val="400"/>
              </a:spcAft>
              <a:defRPr sz="1800">
                <a:latin typeface="Noto Sans CJK JP"/>
              </a:defRPr>
              <a:buChar char="•"/>
            </a:pPr>
            <a:r>
              <a:rPr sz="1800" b="0" lang="ja-JP">
                <a:solidFill>
                  <a:srgbClr val="303437"/>
                </a:solidFill>
                <a:latin typeface="Noto Sans CJK JP"/>
                <a:ea typeface="Noto Sans CJK JP"/>
                <a:cs typeface="Noto Sans CJK JP"/>
              </a:rPr>
              <a:t>Liang et al. HELM による言語モデル評価</a:t>
            </a:r>
            <a:endParaRPr sz="1800" lang="ja-JP"/>
          </a:p>
          <a:p>
            <a:pPr lvl="1" algn="l" marL="482600" indent="-127000">
              <a:lnSpc>
                <a:spcPct val="113000"/>
              </a:lnSpc>
              <a:spcBef>
                <a:spcPts val="0"/>
              </a:spcBef>
              <a:spcAft>
                <a:spcPts val="400"/>
              </a:spcAft>
              <a:defRPr sz="1500">
                <a:latin typeface="Noto Sans CJK JP"/>
              </a:defRPr>
              <a:buChar char="○"/>
            </a:pPr>
            <a:r>
              <a:rPr sz="1500" b="0" lang="ja-JP">
                <a:solidFill>
                  <a:srgbClr val="303437"/>
                </a:solidFill>
                <a:latin typeface="Noto Sans CJK JP"/>
                <a:ea typeface="Noto Sans CJK JP"/>
                <a:cs typeface="Noto Sans CJK JP"/>
              </a:rPr>
              <a:t>https://github.com/stanford-crfm/helm</a:t>
            </a:r>
            <a:endParaRPr sz="1500" lang="ja-JP"/>
          </a:p>
        </p:txBody>
      </p:sp>
      <p:sp>
        <p:nvSpPr>
          <p:cNvPr id="5" name="content-text"/>
          <p:cNvSpPr txBox="1"/>
          <p:nvPr/>
        </p:nvSpPr>
        <p:spPr>
          <a:xfrm>
            <a:off x="502920" y="4747450"/>
            <a:ext cx="8183880" cy="396049"/>
          </a:xfrm>
          <a:prstGeom prst="rect">
            <a:avLst/>
          </a:prstGeom>
          <a:noFill/>
        </p:spPr>
        <p:txBody>
          <a:bodyPr wrap="square" anchor="t" lIns="0" rIns="0" tIns="0" bIns="0">
            <a:noAutofit/>
          </a:bodyPr>
          <a:lstStyle/>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Arial"/>
        <a:ea typeface="Arial"/>
        <a:cs typeface="Arial"/>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Arial"/>
        <a:cs typeface="Arial"/>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dc:title>読解型質問応答用データセット SQuAD</dc:title>
  <dc:subject>SQuAD introduction and appendix</dc:subject>
  <dc:creator/>
  <dc:language>ja-JP</dc:language>
</cp:coreProperties>
</file>