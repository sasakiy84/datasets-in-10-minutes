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artificialanalysis.ai/evaluations/omniscience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511.13029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ArtificialAnalysis/AA-Omniscience-Public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rtificialAnalysis/AA-Omniscience-Public" TargetMode="External"/><Relationship Id="rId3" Type="http://schemas.openxmlformats.org/officeDocument/2006/relationships/hyperlink" Target="https://peps.python.org/pep-0371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rtificialAnalysis/AA-Omniscience-Public" TargetMode="External"/><Relationship Id="rId3" Type="http://schemas.openxmlformats.org/officeDocument/2006/relationships/hyperlink" Target="https://www.nobelprize.org/prizes/economic-sciences/1997/scholes/facts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rtificialAnalysis/AA-Omniscience-Public" TargetMode="External"/><Relationship Id="rId3" Type="http://schemas.openxmlformats.org/officeDocument/2006/relationships/hyperlink" Target="https://law.justia.com/cases/arkansas/supreme-court/1963/5-2841-0.html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ArtificialAnalysis/AA-Omniscience-Public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511.13029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511.13029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511.13029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511.13029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tificialanalysis.ai/evaluations/omniscience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tificialanalysis.ai/methodology/intelligence-benchmarking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511.13029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511.13029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511.13029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ArtificialAnalysis/AA-Omniscience-Public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tificialanalysis.ai/methodology/intelligence-benchmarking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ArtificialAnalysis/AA-Omniscience-Public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rtificialAnalysis/AA-Omniscience-Public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511.13029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rtificialAnalysis/AA-Omniscience-Public" TargetMode="External"/><Relationship Id="rId3" Type="http://schemas.openxmlformats.org/officeDocument/2006/relationships/hyperlink" Target="https://docs.python.org/3/library/zoneinfo.html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rtificialAnalysis/AA-Omniscience-Public" TargetMode="External"/><Relationship Id="rId3" Type="http://schemas.openxmlformats.org/officeDocument/2006/relationships/hyperlink" Target="https://requests.readthedocs.io/en/stable/community/faq/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rtificialAnalysis/AA-Omniscience-Public" TargetMode="External"/><Relationship Id="rId3" Type="http://schemas.openxmlformats.org/officeDocument/2006/relationships/hyperlink" Target="https://digitallibrary.un.org/record/481736/files/A_57_532_Add-1-EN.pdf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rtificialAnalysis/AA-Omniscience-Public" TargetMode="External"/><Relationship Id="rId3" Type="http://schemas.openxmlformats.org/officeDocument/2006/relationships/hyperlink" Target="https://doi.org/10.1080/00396339508442814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rtificialAnalysis/AA-Omniscience-Public" TargetMode="External"/><Relationship Id="rId3" Type="http://schemas.openxmlformats.org/officeDocument/2006/relationships/hyperlink" Target="https://www.nature.com/articles/129576a0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rtificialAnalysis/AA-Omniscience-Public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perio.org/for-members/aap-organizational-information/academy-awards/award-recipients/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rtificialAnalysis/AA-Omniscience-Public" TargetMode="External"/><Relationship Id="rId3" Type="http://schemas.openxmlformats.org/officeDocument/2006/relationships/hyperlink" Target="https://pmc.ncbi.nlm.nih.gov/articles/PMC1559985/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rtificialAnalysis/AA-Omniscience-Public" TargetMode="External"/><Relationship Id="rId3" Type="http://schemas.openxmlformats.org/officeDocument/2006/relationships/hyperlink" Target="https://openstax.org/books/biology-2e/pages/30-3-roots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rtificialAnalysis/AA-Omniscience-Public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report.adidas-group.com/2019/en/consolidated-financial-statements/consolidated-statement-of-financial-position.html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ArtificialAnalysis/AA-Omniscience-Public" TargetMode="External"/><Relationship Id="rId3" Type="http://schemas.openxmlformats.org/officeDocument/2006/relationships/hyperlink" Target="https://law.justia.com/cases/oregon/supreme-court/1939/163-or-233.html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511.13029" TargetMode="External"/><Relationship Id="rId3" Type="http://schemas.openxmlformats.org/officeDocument/2006/relationships/hyperlink" Target="https://huggingface.co/datasets/ArtificialAnalysis/AA-Omniscience-Public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tificialanalysis.ai/evaluations/omniscience" TargetMode="External"/><Relationship Id="rId3" Type="http://schemas.openxmlformats.org/officeDocument/2006/relationships/hyperlink" Target="https://artificialanalysis.ai/methodology/intelligence-benchmarking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637627"/>
            <a:ext cx="8046720" cy="90297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AA-Omniscience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647277"/>
            <a:ext cx="8046720" cy="104076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120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Artificial Analysis Omniscience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正確な知識と、分からないときの回答保留を評価する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AA-Omniscienceの公式評価ページ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公式評価ページ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464" y="1481328"/>
            <a:ext cx="4579070" cy="3063240"/>
          </a:xfrm>
          <a:prstGeom prst="rect">
            <a:avLst/>
          </a:prstGeom>
        </p:spPr>
      </p:pic>
      <p:sp>
        <p:nvSpPr>
          <p:cNvPr id="5" name="source-bibliography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Artificial Analysis (2026-10-25参照), AA-Omniscience: Knowledge and Hallucination Benchmark.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https://artificialanalysis.ai/evaluations/omniscience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知識の正確さと公開例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採点とモデルの到達水準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問題の構築と分野の広がり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評価での利用と公開データ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知識の正確さと公開例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知識の正確さと公開例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024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7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知っている事実と、分からない問題への応答を測る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AA-Omniscienceは、専門分野の短い事実質問に答える評価データである。モデルは検索や補助資料を使わず、内部に持つ知識から答える。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確信がなければ回答を保留してよい。正しい答えを増やす力と、誤った推測を控える力の両方を評価する。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知識の正確さと公開例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Jackson et al. (2025), AA-Omniscience.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https://arxiv.org/abs/2511.13029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評価用6,000問のうち、600問を公開している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公式のモデル比較には6,000問を使う。公開版AA-Omniscience-Publicは、その10%に当たる600問を含む。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ここで示す13例は公開600問から選んだ。質問、参照回答、日本語訳を対応させ、ソフトウェア、金融、法律、健康、人文・社会、自然科学を扱う。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知識の正確さと公開例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Artificial Analysis (2025), AA-Omniscience-Public.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https://huggingface.co/datasets/ArtificialAnalysis/AA-Omniscience-Public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 Pythonの標準パッケージ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知識の正確さと公開例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14627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問題の原文（全文）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915795"/>
            <a:ext cx="8046720" cy="4318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What is the exact package name introduced by PEP 371?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39035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40203"/>
            <a:ext cx="7955279" cy="3131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PEP 371で追加されたパッケージの正確な名前は何か。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23743"/>
            <a:ext cx="7955279" cy="3660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正解：multiprocessing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545459"/>
            <a:ext cx="7955279" cy="61544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PEPはPythonの機能提案をまとめる文書である。PEP 371は、multiprocessingを標準ライブラリへ追加する提案だった。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38040"/>
            <a:ext cx="8183879" cy="199136"/>
          </a:xfrm>
          <a:prstGeom prst="rect">
            <a:avLst/>
          </a:prstGeom>
          <a:noFill/>
        </p:spPr>
        <p:txBody>
          <a:bodyPr wrap="none" lIns="0" rIns="0" tIns="2540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Artificial Analysis (2025), AA-Omniscience-Public.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https://huggingface.co/datasets/ArtificialAnalysis/AA-Omniscience-Public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11776"/>
            <a:ext cx="8183879" cy="199136"/>
          </a:xfrm>
          <a:prstGeom prst="rect">
            <a:avLst/>
          </a:prstGeom>
          <a:noFill/>
        </p:spPr>
        <p:txBody>
          <a:bodyPr wrap="none" lIns="0" rIns="0" tIns="2540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Noller and Oudkerk (2008), PEP 371.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https://peps.python.org/pep-0371/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例2 オプション価格理論の受賞者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知識の正確さと公開例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2593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問題の原文（全文）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43761"/>
            <a:ext cx="8046720" cy="70383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Among the original co-authors of the 1973 Black and Scholes option pricing paper, who received the 1997 Nobel Prize in Economic Sciences?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39035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40203"/>
            <a:ext cx="7955279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1973年のBlackとScholesによるオプション価格理論の論文の共著者のうち、1997年のノーベル経済学賞を受賞したのは誰か。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95777"/>
            <a:ext cx="7955279" cy="3660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正解：Myron Scholes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817493"/>
            <a:ext cx="7955279" cy="61544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1997年の受賞者はScholesとMertonである。1973年のBlack–Scholes論文の共著者という条件に合うのは、Myron Scholesとなる。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38040"/>
            <a:ext cx="8183879" cy="199136"/>
          </a:xfrm>
          <a:prstGeom prst="rect">
            <a:avLst/>
          </a:prstGeom>
          <a:noFill/>
        </p:spPr>
        <p:txBody>
          <a:bodyPr wrap="none" lIns="0" rIns="0" tIns="2540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Artificial Analysis (2025), AA-Omniscience-Public.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https://huggingface.co/datasets/ArtificialAnalysis/AA-Omniscience-Public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11776"/>
            <a:ext cx="8183879" cy="199136"/>
          </a:xfrm>
          <a:prstGeom prst="rect">
            <a:avLst/>
          </a:prstGeom>
          <a:noFill/>
        </p:spPr>
        <p:txBody>
          <a:bodyPr wrap="none" lIns="0" rIns="0" tIns="2540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Nobel Prize Outreach (n.d.), Myron Scholes – Facts.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https://www.nobelprize.org/prizes/economic-sciences/1997/scholes/facts/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例3 判例に登場する農場の所在地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知識の正確さと公開例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2593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問題の原文（全文）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43761"/>
            <a:ext cx="8046720" cy="70383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 the Arkansas Supreme Court case Loveless v. Diehl (1963 decision), which county contained the 79-acre farm at issue?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39035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40203"/>
            <a:ext cx="7955279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アーカンソー州最高裁判所のLoveless v. Diehl事件（1963年の判決）で、争いの対象となった79エーカーの農場はどの郡にあったか。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95777"/>
            <a:ext cx="7955279" cy="3660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正解：Faulkner County（フォークナー郡）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817493"/>
            <a:ext cx="7955279" cy="61544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判決本文は、79エーカーの農場の所在地をFaulkner Countyと記す。判例に含まれる具体的な事実を、郡の名前で答える問題である。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38040"/>
            <a:ext cx="8183879" cy="199136"/>
          </a:xfrm>
          <a:prstGeom prst="rect">
            <a:avLst/>
          </a:prstGeom>
          <a:noFill/>
        </p:spPr>
        <p:txBody>
          <a:bodyPr wrap="none" lIns="0" rIns="0" tIns="2540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Artificial Analysis (2025), AA-Omniscience-Public.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https://huggingface.co/datasets/ArtificialAnalysis/AA-Omniscience-Public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11776"/>
            <a:ext cx="8183879" cy="199136"/>
          </a:xfrm>
          <a:prstGeom prst="rect">
            <a:avLst/>
          </a:prstGeom>
          <a:noFill/>
        </p:spPr>
        <p:txBody>
          <a:bodyPr wrap="none" lIns="0" rIns="0" tIns="2540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Arkansas Supreme Court (1962/1963), Loveless v. Diehl.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https://law.justia.com/cases/arkansas/supreme-court/1963/5-2841-0.html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採点とモデルの到達水準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採点とモデルの到達水準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確信があるときだけ、答えを簡潔に返す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回答指示では、分野と小分野を示し、説明を付けずに答えだけを返すよう求める。分からない場合や、文脈・ツールが必要な場合は、その旨を明示する。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採点では、回答を参照回答と意味で比較する。表記が同じかだけでなく、求められた情報がそろっているかを判定する。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採点とモデルの到達水準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Artificial Analysis (2025), AA-Omniscience-Public.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https://huggingface.co/datasets/ArtificialAnalysis/AA-Omniscience-Public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回答を四つの状態に分類する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採点とモデルの到達水準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22460"/>
        </p:xfrm>
        <a:graphic>
          <a:graphicData uri="http://schemas.openxmlformats.org/drawingml/2006/table">
            <a:tbl>
              <a:tblPr firstRow="0" bandRow="0"/>
              <a:tblGrid>
                <a:gridCol w="2011680"/>
                <a:gridCol w="4937760"/>
                <a:gridCol w="1097280"/>
              </a:tblGrid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判定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内容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得点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正解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求められた情報が完全に正しい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+1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部分的な回答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正確だが、求める詳しさと合わない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誤答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参照回答と意味が異なる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−1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4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回答保留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答えず、知識や情報の不足を示す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-bibliography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Jackson et al. (2025), AA-Omniscience.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https://arxiv.org/abs/2511.13029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正解を加点し、誤答を同じ大きさで減点する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Omniscience Index = 100 ×（正解数 − 誤答数）÷ 全問題数。正解は+1、誤答は−1、部分的な回答と回答保留は0として平均する。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値は−100から100の範囲を取る。正解数と誤答数が等しければ0、正解が誤答より多ければ正になる。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採点とモデルの到達水準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Jackson et al. (2025), AA-Omniscience.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https://arxiv.org/abs/2511.13029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正解率と幻覚率を併せて読む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正解率は、全問題のうち完全に正しく答えた割合である。部分的な回答は正解に含めない。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ここでの幻覚率は、誤答数を「部分的な回答・誤答・回答保留の合計」で割った値である。完全正解でなかった問題で、どれほど誤った答えを返したかを示す。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採点とモデルの到達水準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Jackson et al. (2025), AA-Omniscience.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https://arxiv.org/abs/2511.13029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2025年の公開時、最高の指数は4.8だった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2025年11月の論文では36モデルを評価し、Claude 4.1 Opusの指数4.8が最高だった。正の指数を得たのは3モデルだった。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当時のClaude 4.1 Opusの正解率は36%だった。正解率だけでなく、誤答と回答保留の違いがモデルの評価を左右した。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採点とモデルの到達水準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Jackson et al. (2025), AA-Omniscience.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https://arxiv.org/abs/2511.13029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公式ページは、指数46に達したモデルを報告する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採点とモデルの到達水準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567180"/>
        </p:xfrm>
        <a:graphic>
          <a:graphicData uri="http://schemas.openxmlformats.org/drawingml/2006/table">
            <a:tbl>
              <a:tblPr firstRow="0" bandRow="0"/>
              <a:tblGrid>
                <a:gridCol w="6492240"/>
                <a:gridCol w="1554480"/>
              </a:tblGrid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モデル・推論設定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指数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Opus 5.5 / Max, Default Fallback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GPT-6 Astra / High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Fable 5.1 / Max, Default Fallback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20395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2026-10-25参照。公式ページの代表値。全6,000問を対象とする。</a:t>
            </a:r>
          </a:p>
        </p:txBody>
      </p:sp>
      <p:sp>
        <p:nvSpPr>
          <p:cNvPr id="6" name="source-bibliography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Artificial Analysis (2026-10-25参照), AA-Omniscience: Knowledge and Hallucination Benchmark.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https://artificialanalysis.ai/evaluations/omniscience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採点モデルは、公開後に更新されている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2026年10月25日の公式ページは、Opus、GPT、Fableなどの新しいモデルの成績を掲載している。単独の指数に加え、正解率と幻覚率も公開する。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2025年の評価ではGemini 2.5 Flash Previewが採点を担当した。現行の公式手順ではGPT-5.6 Luna（medium）を使い、6,000問を1回ずつ評価する。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採点とモデルの到達水準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Artificial Analysis (2026-10-25参照), Intelligence Benchmarking Methodology.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https://artificialanalysis.ai/methodology/intelligence-benchmarking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問題の構築と分野の広がり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問題の構築と分野の広がり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権威ある資料から、事実を問う質問を作る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学術・産業の資料を基に、質問生成エージェントが設問と答えを作る。重複、曖昧さ、難しさを検査し、質問を修正・除外する。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2025年の構築では、生成・選別・改訂にGPT-5を用いた。人はレビューと検証に関わる。対象は名前、日付、数値、場所など、短く正確に答えられる事実である。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問題の構築と分野の広がり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Jackson et al. (2025), AA-Omniscience.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https://arxiv.org/abs/2511.13029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時点やバージョンを含め、答えを一つに定める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曖昧な質問は、時期や対象を補って修正する。例えば、特定の判例を問うなら裁判所や判決年を、ソフトウェアなら必要なバージョンを設問に含める。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資料の更新日そのものを覚えているか、といった出典への依存が強い候補は除く。一方、法律の条文番号など、分野の理解に必要な識別子は扱う。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問題の構築と分野の広がり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Jackson et al. (2025), AA-Omniscience.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https://arxiv.org/abs/2511.13029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6分野・42トピックの専門知識を扱う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問題の構築と分野の広がり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640330"/>
        </p:xfrm>
        <a:graphic>
          <a:graphicData uri="http://schemas.openxmlformats.org/drawingml/2006/table">
            <a:tbl>
              <a:tblPr firstRow="0" bandRow="0"/>
              <a:tblGrid>
                <a:gridCol w="2926080"/>
                <a:gridCol w="5120640"/>
              </a:tblGrid>
              <a:tr h="3771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分野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内容の例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771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ビジネス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会計、経済、金融、経営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71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人文・社会科学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歴史、文学、哲学、社会科学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71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健康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医学、歯学、公衆衛生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71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法律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判例、法律・規制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71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自然科学・工学・数学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生物、化学、工学、数学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771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ソフトウェア工学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プログラミング言語とライブラリ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-bibliography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Jackson et al. (2025), AA-Omniscience.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https://arxiv.org/abs/2511.13029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912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公開600問は、全体の成績を近似するために選ばれた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公開版は、公開時点でモデルの総合成績が全6,000問と近くなるように抽出された。自分のモデルで知識と回答保留の傾向を調べられる。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分野・小分野ごとの公開問題数は少ない。詳細な分野別比較を行う場合は、公式の全体集合の結果や、必要な対象分野の追加評価も参照する。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問題の構築と分野の広がり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Artificial Analysis (2025), AA-Omniscience-Public.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https://huggingface.co/datasets/ArtificialAnalysis/AA-Omniscience-Public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評価での利用と公開データ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評価での利用と公開データ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内部知識の信頼性を、分野ごとに比較する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AA-Omniscienceは、検索や入力文書の内容に基づく回答とは別に、モデルが既に持つ知識を評価する。分野ごとの成績から、業務で必要な知識との対応を調べる。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現在のArtificial Analysis Intelligence Indexでは、正解率と非幻覚率を別の成分として組み込む。AA-Omniscience単独の指数とは集約の仕方が異なる。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評価での利用と公開データ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Artificial Analysis (2026-10-25参照), Intelligence Benchmarking Methodology.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https://artificialanalysis.ai/methodology/intelligence-benchmarking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公開CSVから、質問と参照回答を読み取れる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公式のHugging Face配布に、600問のCSVとデータカードがある。domain、topic、subtopicで分野を、questionとanswerで設問と参照回答を確認できる。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公開版はApache License 2.0で配布される。再配布ではライセンスと必要な帰属情報を保持する。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評価での利用と公開データ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Artificial Analysis (2025), AA-Omniscience-Public.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https://huggingface.co/datasets/ArtificialAnalysis/AA-Omniscience-Public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一問の分野・設問・参照回答を読む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評価での利用と公開データ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23495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from datasets import load_dataset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/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ds = load_dataset(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"ArtificialAnalysis/AA-Omniscience-Public",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split="train"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)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row = ds[0]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print(row["domain"], row["question"], row["answer"])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059428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公開CSVを読み込む。questionが設問、answerが参照回答を持つ。</a:t>
            </a:r>
          </a:p>
        </p:txBody>
      </p:sp>
      <p:sp>
        <p:nvSpPr>
          <p:cNvPr id="6" name="source-bibliography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Artificial Analysis (2025), AA-Omniscience-Public.</a:t>
            </a:r>
          </a:p>
        </p:txBody>
      </p:sp>
      <p:sp>
        <p:nvSpPr>
          <p:cNvPr id="7" name="source-url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https://huggingface.co/datasets/ArtificialAnalysis/AA-Omniscience-Public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事実の知識と、分からないときの応答を評価する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AA-Omniscienceは、6分野・42トピックの6,000問から、短く正確な事実回答を評価する。誤った推測を減点し、回答保留との違いを可視化する。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公開600問で質問と答えを確認し、指数・正解率・幻覚率を併せて読む。公式成績を利用するときは、対象モデルの設定と採点手順の時点を確かめる。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評価での利用と公開データ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Jackson et al. (2025), AA-Omniscience.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https://arxiv.org/abs/2511.13029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315"/>
            <a:ext cx="8046720" cy="77825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4200" b="0">
                <a:solidFill>
                  <a:srgbClr val="303437"/>
                </a:solidFill>
                <a:latin typeface="Noto Sans"/>
              </a:defRPr>
            </a:pPr>
            <a:r>
              <a:rPr sz="4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2281121"/>
            <a:ext cx="7863840" cy="112776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分野の異なる追加例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分野の異なる追加例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例4 タイムゾーンの検索パス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14627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問題の原文（全文）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915795"/>
            <a:ext cx="8046720" cy="4318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What type of paths may zoneinfo.TZPATH contain?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39035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40203"/>
            <a:ext cx="7955279" cy="3131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zoneinfo.TZPATHに含められるのは、どの種類のパスか。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23743"/>
            <a:ext cx="7955279" cy="3660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正解：absolute（絶対パス）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545459"/>
            <a:ext cx="7955279" cy="61544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Pythonのzoneinfoは、TZPATHからタイムゾーン情報を探す。公式文書は、TZPATHには絶対パスだけを含められると定めている。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38040"/>
            <a:ext cx="8183879" cy="199136"/>
          </a:xfrm>
          <a:prstGeom prst="rect">
            <a:avLst/>
          </a:prstGeom>
          <a:noFill/>
        </p:spPr>
        <p:txBody>
          <a:bodyPr wrap="none" lIns="0" rIns="0" tIns="2540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Artificial Analysis (2025), AA-Omniscience-Public.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https://huggingface.co/datasets/ArtificialAnalysis/AA-Omniscience-Public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11776"/>
            <a:ext cx="8183879" cy="199136"/>
          </a:xfrm>
          <a:prstGeom prst="rect">
            <a:avLst/>
          </a:prstGeom>
          <a:noFill/>
        </p:spPr>
        <p:txBody>
          <a:bodyPr wrap="none" lIns="0" rIns="0" tIns="2540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Python Software Foundation (n.d.), zoneinfo — IANA time zone support.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https://docs.python.org/3/library/zoneinfo.html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例5 Python 2.7のサポート終了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2593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問題の原文（全文）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43761"/>
            <a:ext cx="8046720" cy="70383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What Requests version (major.minor.patch) removed support for Python 2.7?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39035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40203"/>
            <a:ext cx="7955279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RequestsがPython 2.7のサポートを終了したバージョンは何か。major.minor.patchの形式で答えよ。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95777"/>
            <a:ext cx="7955279" cy="3660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正解：2.28.0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817493"/>
            <a:ext cx="7955279" cy="61544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RequestsはHTTP通信を行うPythonライブラリである。設問が指定するmajor.minor.patchの3つの番号をそろえて答える。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38040"/>
            <a:ext cx="8183879" cy="199136"/>
          </a:xfrm>
          <a:prstGeom prst="rect">
            <a:avLst/>
          </a:prstGeom>
          <a:noFill/>
        </p:spPr>
        <p:txBody>
          <a:bodyPr wrap="none" lIns="0" rIns="0" tIns="2540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Artificial Analysis (2025), AA-Omniscience-Public.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https://huggingface.co/datasets/ArtificialAnalysis/AA-Omniscience-Public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11776"/>
            <a:ext cx="8183879" cy="199136"/>
          </a:xfrm>
          <a:prstGeom prst="rect">
            <a:avLst/>
          </a:prstGeom>
          <a:noFill/>
        </p:spPr>
        <p:txBody>
          <a:bodyPr wrap="none" lIns="0" rIns="0" tIns="2540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Requests (n.d.), Frequently Asked Questions.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https://requests.readthedocs.io/en/stable/community/faq/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例6 国連文書の発行日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2593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問題の原文（全文）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43761"/>
            <a:ext cx="8046720" cy="70383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What was the exact date (month, day, year) on which the General Assembly document A/57/532/Add.1 was issued?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39035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40203"/>
            <a:ext cx="7955279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国連総会文書A/57/532/Add.1が発行された正確な日付はいつか。月・日・年で答えよ。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95777"/>
            <a:ext cx="7955279" cy="3660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正解：December 12, 2002（2002年12月12日）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817493"/>
            <a:ext cx="7955279" cy="61544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文書の表紙に、発行日として12 December 2002と記されている。文書番号と、発行日という日付の種類を対応させて答える。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38040"/>
            <a:ext cx="8183879" cy="199136"/>
          </a:xfrm>
          <a:prstGeom prst="rect">
            <a:avLst/>
          </a:prstGeom>
          <a:noFill/>
        </p:spPr>
        <p:txBody>
          <a:bodyPr wrap="none" lIns="0" rIns="0" tIns="2540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Artificial Analysis (2025), AA-Omniscience-Public.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https://huggingface.co/datasets/ArtificialAnalysis/AA-Omniscience-Public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11776"/>
            <a:ext cx="8183879" cy="199136"/>
          </a:xfrm>
          <a:prstGeom prst="rect">
            <a:avLst/>
          </a:prstGeom>
          <a:noFill/>
        </p:spPr>
        <p:txBody>
          <a:bodyPr wrap="none" lIns="0" rIns="0" tIns="2540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United Nations (2002), A/57/532/Add.1.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https://digitallibrary.un.org/record/481736/files/A_57_532_Add-1-EN.pdf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例7 軍事介入を論じた著者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2593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問題の原文（全文）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43761"/>
            <a:ext cx="8046720" cy="70383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Who authored the 1995–6 Survival article titled “The Politics and Ethics of Military Intervention”?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39035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40203"/>
            <a:ext cx="7955279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1995～1996年のSurvival誌に掲載された論文「The Politics and Ethics of Military Intervention」の著者は誰か。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95777"/>
            <a:ext cx="7955279" cy="3660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正解：Hoffmann（Stanley Hoffmann）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817493"/>
            <a:ext cx="7955279" cy="61544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出版社の書誌情報は、Stanley Hoffmannの論文として掲載する。題名と掲載時期から著者を特定する問題である。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38040"/>
            <a:ext cx="8183879" cy="199136"/>
          </a:xfrm>
          <a:prstGeom prst="rect">
            <a:avLst/>
          </a:prstGeom>
          <a:noFill/>
        </p:spPr>
        <p:txBody>
          <a:bodyPr wrap="none" lIns="0" rIns="0" tIns="2540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Artificial Analysis (2025), AA-Omniscience-Public.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https://huggingface.co/datasets/ArtificialAnalysis/AA-Omniscience-Public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11776"/>
            <a:ext cx="8183879" cy="199136"/>
          </a:xfrm>
          <a:prstGeom prst="rect">
            <a:avLst/>
          </a:prstGeom>
          <a:noFill/>
        </p:spPr>
        <p:txBody>
          <a:bodyPr wrap="none" lIns="0" rIns="0" tIns="2540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Stanley Hoffmann (1995), The Politics and Ethics of Military Intervention.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https://doi.org/10.1080/00396339508442814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例8 抗壊血病因子の同定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2593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問題の原文（全文）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43761"/>
            <a:ext cx="8046720" cy="70383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 what year was vitamin C (ascorbic acid) first identified as the antiscorbutic factor?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39035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40203"/>
            <a:ext cx="7955279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ビタミンC（アスコルビン酸）が、壊血病を防ぐ因子として初めて同定されたのは何年か。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95777"/>
            <a:ext cx="7955279" cy="3660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正解：1932年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817493"/>
            <a:ext cx="7955279" cy="61544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1932年のSvirbelyとSzent-Györgyiの報告は、hexuronic acidが壊血病を防ぐ因子であることを扱っている。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38040"/>
            <a:ext cx="8183879" cy="199136"/>
          </a:xfrm>
          <a:prstGeom prst="rect">
            <a:avLst/>
          </a:prstGeom>
          <a:noFill/>
        </p:spPr>
        <p:txBody>
          <a:bodyPr wrap="none" lIns="0" rIns="0" tIns="2540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Artificial Analysis (2025), AA-Omniscience-Public.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https://huggingface.co/datasets/ArtificialAnalysis/AA-Omniscience-Public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11776"/>
            <a:ext cx="8183879" cy="199136"/>
          </a:xfrm>
          <a:prstGeom prst="rect">
            <a:avLst/>
          </a:prstGeom>
          <a:noFill/>
        </p:spPr>
        <p:txBody>
          <a:bodyPr wrap="none" lIns="0" rIns="0" tIns="2540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Svirbely and Szent-Györgyi (1932), Hexuronic Acid as the Antiscorbutic Factor.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https://www.nature.com/articles/129576a0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例9 歯周病学の研究者の受賞年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26031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問題の原文（全文）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727199"/>
            <a:ext cx="8046720" cy="975868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 what year did Yvonne L. Hernandez‑Kapila (also known as Yvonne Kapila) receive the American Academy of Periodontology (AAP) Distinguished Scientist Award?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94508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95676"/>
            <a:ext cx="7955279" cy="85724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Yvonne L. Hernandez-Kapila（Yvonne Kapilaとしても知られる）が、米国歯周病学会（AAP）のDistinguished Scientist Awardを受賞したのは何年か。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923284"/>
            <a:ext cx="7955279" cy="3660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正解：2019年</a:t>
            </a:r>
          </a:p>
        </p:txBody>
      </p:sp>
      <p:sp>
        <p:nvSpPr>
          <p:cNvPr id="9" name="source-bibliography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Artificial Analysis (2025), AA-Omniscience-Public.</a:t>
            </a:r>
          </a:p>
        </p:txBody>
      </p:sp>
      <p:sp>
        <p:nvSpPr>
          <p:cNvPr id="10" name="source-url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https://huggingface.co/datasets/ArtificialAnalysis/AA-Omniscience-Public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例9 歯周病学の研究者の受賞年：解説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83080"/>
            <a:ext cx="7955279" cy="108394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学会のDistinguished Scientist Award受賞者一覧は、2019年欄にYvonne Kapilaを挙げている。設問では氏名の別表記も示される。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American Academy of Periodontology (n.d.), Award Recipients.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https://www.perio.org/for-members/aap-organizational-information/academy-awards/award-recipients/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例10 野生のダイオウイカの写真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2593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問題の原文（全文）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43761"/>
            <a:ext cx="8046720" cy="70383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 what year were the first photographs of a live Architeuthis dux in its natural habitat published?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39035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40203"/>
            <a:ext cx="7955279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自然の生息環境にいる、生きたArchiteuthis dux（ダイオウイカ）の最初の写真が公表されたのは何年か。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95777"/>
            <a:ext cx="7955279" cy="3660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正解：2005年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817493"/>
            <a:ext cx="7955279" cy="61544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KuboderaとMoriの報告は2005年に公表された。写真は2004年9月30日に撮影されており、設問は公表年を求めている。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38040"/>
            <a:ext cx="8183879" cy="199136"/>
          </a:xfrm>
          <a:prstGeom prst="rect">
            <a:avLst/>
          </a:prstGeom>
          <a:noFill/>
        </p:spPr>
        <p:txBody>
          <a:bodyPr wrap="none" lIns="0" rIns="0" tIns="2540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Artificial Analysis (2025), AA-Omniscience-Public.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https://huggingface.co/datasets/ArtificialAnalysis/AA-Omniscience-Public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11776"/>
            <a:ext cx="8183879" cy="199136"/>
          </a:xfrm>
          <a:prstGeom prst="rect">
            <a:avLst/>
          </a:prstGeom>
          <a:noFill/>
        </p:spPr>
        <p:txBody>
          <a:bodyPr wrap="none" lIns="0" rIns="0" tIns="2540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Kubodera and Mori (2005), First-ever observations of a live giant squid in the wild.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https://pmc.ncbi.nlm.nih.gov/articles/PMC1559985/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例11 単子葉植物の根の中心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2593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問題の原文（全文）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43761"/>
            <a:ext cx="8046720" cy="70383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 monocot roots, which simple tissue type composes the central region of the vascular cylinder (stele)?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39035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40203"/>
            <a:ext cx="7955279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単子葉植物の根では、中心柱（stele）の中心部はどの種類の単純組織でできているか。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95777"/>
            <a:ext cx="7955279" cy="3660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正解：parenchyma（柔組織）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817493"/>
            <a:ext cx="7955279" cy="61544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単子葉植物の根の中央には髄があり、柔組織がその部分を構成する。設問は、中心部を作る組織の種類を求めている。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38040"/>
            <a:ext cx="8183879" cy="199136"/>
          </a:xfrm>
          <a:prstGeom prst="rect">
            <a:avLst/>
          </a:prstGeom>
          <a:noFill/>
        </p:spPr>
        <p:txBody>
          <a:bodyPr wrap="none" lIns="0" rIns="0" tIns="2540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Artificial Analysis (2025), AA-Omniscience-Public.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https://huggingface.co/datasets/ArtificialAnalysis/AA-Omniscience-Public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11776"/>
            <a:ext cx="8183879" cy="199136"/>
          </a:xfrm>
          <a:prstGeom prst="rect">
            <a:avLst/>
          </a:prstGeom>
          <a:noFill/>
        </p:spPr>
        <p:txBody>
          <a:bodyPr wrap="none" lIns="0" rIns="0" tIns="2540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OpenStax (2018), Biology 2e: Roots.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https://openstax.org/books/biology-2e/pages/30-3-roots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例12 企業の連結財務諸表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62049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問題の原文（全文）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863217"/>
            <a:ext cx="8046720" cy="975868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What was the cash and cash equivalents balance (in € millions) in adidas’s consolidated IFRS financial statements as of December 31, 2018?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930525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31693"/>
            <a:ext cx="7955279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2018年12月31日時点で、adidasのIFRS連結財務諸表における現金及び現金同等物の残高は何百万ユーロだったか。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787267"/>
            <a:ext cx="7955279" cy="3660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正解：2,629（百万ユーロ）</a:t>
            </a:r>
          </a:p>
        </p:txBody>
      </p:sp>
      <p:sp>
        <p:nvSpPr>
          <p:cNvPr id="9" name="source-bibliography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Artificial Analysis (2025), AA-Omniscience-Public.</a:t>
            </a:r>
          </a:p>
        </p:txBody>
      </p:sp>
      <p:sp>
        <p:nvSpPr>
          <p:cNvPr id="10" name="source-url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https://huggingface.co/datasets/ArtificialAnalysis/AA-Omniscience-Public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例12 企業の連結財務諸表：解説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83080"/>
            <a:ext cx="7955279" cy="108394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adidasの2019年連結財務諸表にも、比較対象の2018年残高として2,629が掲載されている。残高の時点と百万ユーロという単位を対応させる。</a:t>
            </a:r>
          </a:p>
        </p:txBody>
      </p:sp>
      <p:sp>
        <p:nvSpPr>
          <p:cNvPr id="5" name="source-bibliography"/>
          <p:cNvSpPr txBox="1"/>
          <p:nvPr/>
        </p:nvSpPr>
        <p:spPr>
          <a:xfrm>
            <a:off x="502920" y="4690872"/>
            <a:ext cx="8183879" cy="1737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adidas (2020), Consolidated Statement of Financial Position.</a:t>
            </a:r>
          </a:p>
        </p:txBody>
      </p:sp>
      <p:sp>
        <p:nvSpPr>
          <p:cNvPr id="6" name="source-url"/>
          <p:cNvSpPr txBox="1"/>
          <p:nvPr/>
        </p:nvSpPr>
        <p:spPr>
          <a:xfrm>
            <a:off x="502920" y="4855464"/>
            <a:ext cx="8183879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https://report.adidas-group.com/2019/en/consolidated-financial-statements/consolidated-statement-of-financial-position.html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例13 州最高裁判決の年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2593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問題の原文（全文）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43761"/>
            <a:ext cx="8046720" cy="70383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 what year was the Oregon Supreme Court case State v. Mellenberger decided?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39035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40203"/>
            <a:ext cx="7955279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オレゴン州最高裁判所のState v. Mellenberger事件の判決は何年に下されたか。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95777"/>
            <a:ext cx="7955279" cy="3660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58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正解：1939年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817493"/>
            <a:ext cx="7955279" cy="61544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公開された判決記録は、1939年のオレゴン州最高裁判決として収録されている。事件名と裁判所から、判決年を特定する問題である。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38040"/>
            <a:ext cx="8183879" cy="199136"/>
          </a:xfrm>
          <a:prstGeom prst="rect">
            <a:avLst/>
          </a:prstGeom>
          <a:noFill/>
        </p:spPr>
        <p:txBody>
          <a:bodyPr wrap="none" lIns="0" rIns="0" tIns="2540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Artificial Analysis (2025), AA-Omniscience-Public.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https://huggingface.co/datasets/ArtificialAnalysis/AA-Omniscience-Public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11776"/>
            <a:ext cx="8183879" cy="199136"/>
          </a:xfrm>
          <a:prstGeom prst="rect">
            <a:avLst/>
          </a:prstGeom>
          <a:noFill/>
        </p:spPr>
        <p:txBody>
          <a:bodyPr wrap="none" lIns="0" rIns="0" tIns="25400" bIns="0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Oregon Supreme Court (1939), State v. Mellenberger.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https://law.justia.com/cases/oregon/supreme-court/1939/163-or-233.html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参考文献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参考文献</a:t>
            </a:r>
          </a:p>
        </p:txBody>
      </p:sp>
      <p:sp>
        <p:nvSpPr>
          <p:cNvPr id="4" name="文献 1: AA-Omniscience: Evaluating Cross-Domain Knowledge Reliability in Large Language Models"/>
          <p:cNvSpPr txBox="1"/>
          <p:nvPr/>
        </p:nvSpPr>
        <p:spPr>
          <a:xfrm>
            <a:off x="523240" y="1389888"/>
            <a:ext cx="8072120" cy="1526540"/>
          </a:xfrm>
          <a:prstGeom prst="rect">
            <a:avLst/>
          </a:prstGeom>
          <a:noFill/>
        </p:spPr>
        <p:txBody>
          <a:bodyPr wrap="square" lIns="2540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AA-Omniscience: Evaluating Cross-Domain Knowledge Reliability in Large Language Models</a:t>
            </a:r>
          </a:p>
          <a:p>
            <a:pPr>
              <a:lnSpc>
                <a:spcPts val="1560"/>
              </a:lnSpc>
              <a:spcAft>
                <a:spcPts val="5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Declan Jackson et al. (2025). arXiv:2511.13029.</a:t>
            </a:r>
          </a:p>
          <a:p>
            <a:pPr>
              <a:lnSpc>
                <a:spcPts val="2160"/>
              </a:lnSpc>
              <a:spcAft>
                <a:spcPts val="40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6,000問の構築と、回答保留を含む採点・初期評価を報告する。</a:t>
            </a:r>
          </a:p>
          <a:p>
            <a:pPr>
              <a:lnSpc>
                <a:spcPts val="1200"/>
              </a:lnSpc>
              <a:spcAft>
                <a:spcPts val="0"/>
              </a:spcAft>
              <a:buNone/>
              <a:defRPr sz="1000" b="0">
                <a:solidFill>
                  <a:srgbClr val="303437"/>
                </a:solidFill>
                <a:latin typeface="Noto Sans"/>
              </a:defRPr>
            </a:pPr>
            <a:r>
              <a:rPr sz="10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https://arxiv.org/abs/2511.13029</a:t>
            </a:r>
          </a:p>
        </p:txBody>
      </p:sp>
      <p:sp>
        <p:nvSpPr>
          <p:cNvPr id="5" name="文献 2: Public Dataset for AA-Omniscience: Evaluating Cross-Domain Knowledge Reliability in Large Language Models"/>
          <p:cNvSpPr txBox="1"/>
          <p:nvPr/>
        </p:nvSpPr>
        <p:spPr>
          <a:xfrm>
            <a:off x="523240" y="3233928"/>
            <a:ext cx="8072120" cy="1526540"/>
          </a:xfrm>
          <a:prstGeom prst="rect">
            <a:avLst/>
          </a:prstGeom>
          <a:noFill/>
        </p:spPr>
        <p:txBody>
          <a:bodyPr wrap="square" lIns="2540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Public Dataset for AA-Omniscience: Evaluating Cross-Domain Knowledge Reliability in Large Language Models</a:t>
            </a:r>
          </a:p>
          <a:p>
            <a:pPr>
              <a:lnSpc>
                <a:spcPts val="1560"/>
              </a:lnSpc>
              <a:spcAft>
                <a:spcPts val="5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Artificial Analysis Team (2025). Hugging Face, Apache License 2.0.</a:t>
            </a:r>
          </a:p>
          <a:p>
            <a:pPr>
              <a:lnSpc>
                <a:spcPts val="2160"/>
              </a:lnSpc>
              <a:spcAft>
                <a:spcPts val="40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公開600問の設問・参照回答と、回答・採点の指示を示す。</a:t>
            </a:r>
          </a:p>
          <a:p>
            <a:pPr>
              <a:lnSpc>
                <a:spcPts val="1200"/>
              </a:lnSpc>
              <a:spcAft>
                <a:spcPts val="0"/>
              </a:spcAft>
              <a:buNone/>
              <a:defRPr sz="1000" b="0">
                <a:solidFill>
                  <a:srgbClr val="303437"/>
                </a:solidFill>
                <a:latin typeface="Noto Sans"/>
              </a:defRPr>
            </a:pPr>
            <a:r>
              <a:rPr sz="10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https://huggingface.co/datasets/ArtificialAnalysis/AA-Omniscience-Public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136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参考文献</a:t>
            </a:r>
          </a:p>
        </p:txBody>
      </p:sp>
      <p:sp>
        <p:nvSpPr>
          <p:cNvPr id="4" name="文献 1: AA-Omniscience: Knowledge and Hallucination Benchmark"/>
          <p:cNvSpPr txBox="1"/>
          <p:nvPr/>
        </p:nvSpPr>
        <p:spPr>
          <a:xfrm>
            <a:off x="523240" y="1389888"/>
            <a:ext cx="8072120" cy="1221740"/>
          </a:xfrm>
          <a:prstGeom prst="rect">
            <a:avLst/>
          </a:prstGeom>
          <a:noFill/>
        </p:spPr>
        <p:txBody>
          <a:bodyPr wrap="square" lIns="2540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AA-Omniscience: Knowledge and Hallucination Benchmark</a:t>
            </a:r>
          </a:p>
          <a:p>
            <a:pPr>
              <a:lnSpc>
                <a:spcPts val="1560"/>
              </a:lnSpc>
              <a:spcAft>
                <a:spcPts val="5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Artificial Analysis (n.d.). 2026-10-25参照.</a:t>
            </a:r>
          </a:p>
          <a:p>
            <a:pPr>
              <a:lnSpc>
                <a:spcPts val="2160"/>
              </a:lnSpc>
              <a:spcAft>
                <a:spcPts val="40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新しいモデルの指数、正解率、幻覚率と分野別の比較を継続して公開する。</a:t>
            </a:r>
          </a:p>
          <a:p>
            <a:pPr>
              <a:lnSpc>
                <a:spcPts val="1200"/>
              </a:lnSpc>
              <a:spcAft>
                <a:spcPts val="0"/>
              </a:spcAft>
              <a:buNone/>
              <a:defRPr sz="1000" b="0">
                <a:solidFill>
                  <a:srgbClr val="303437"/>
                </a:solidFill>
                <a:latin typeface="Noto Sans"/>
              </a:defRPr>
            </a:pPr>
            <a:r>
              <a:rPr sz="10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https://artificialanalysis.ai/evaluations/omniscience</a:t>
            </a:r>
          </a:p>
        </p:txBody>
      </p:sp>
      <p:sp>
        <p:nvSpPr>
          <p:cNvPr id="5" name="文献 2: Artificial Analysis Intelligence Benchmarking Methodology"/>
          <p:cNvSpPr txBox="1"/>
          <p:nvPr/>
        </p:nvSpPr>
        <p:spPr>
          <a:xfrm>
            <a:off x="523240" y="2929128"/>
            <a:ext cx="8072120" cy="1496060"/>
          </a:xfrm>
          <a:prstGeom prst="rect">
            <a:avLst/>
          </a:prstGeom>
          <a:noFill/>
        </p:spPr>
        <p:txBody>
          <a:bodyPr wrap="square" lIns="2540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Artificial Analysis Intelligence Benchmarking Methodology</a:t>
            </a:r>
          </a:p>
          <a:p>
            <a:pPr>
              <a:lnSpc>
                <a:spcPts val="1560"/>
              </a:lnSpc>
              <a:spcAft>
                <a:spcPts val="5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Artificial Analysis (n.d.). 2026-10-25参照.</a:t>
            </a:r>
          </a:p>
          <a:p>
            <a:pPr>
              <a:lnSpc>
                <a:spcPts val="2160"/>
              </a:lnSpc>
              <a:spcAft>
                <a:spcPts val="40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各評価の対象と設定をまとめ、採点モデルの変更と総合指標への組み込み方を記す。</a:t>
            </a:r>
          </a:p>
          <a:p>
            <a:pPr>
              <a:lnSpc>
                <a:spcPts val="1200"/>
              </a:lnSpc>
              <a:spcAft>
                <a:spcPts val="0"/>
              </a:spcAft>
              <a:buNone/>
              <a:defRPr sz="1000" b="0">
                <a:solidFill>
                  <a:srgbClr val="303437"/>
                </a:solidFill>
                <a:latin typeface="Noto Sans"/>
              </a:defRPr>
            </a:pPr>
            <a:r>
              <a:rPr sz="10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https://artificialanalysis.ai/methodology/intelligence-benchmarking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2026-10-25T06:31:20Z</dcterms:modified>
  <dc:title>aa-omniscience</dc:title>
  <dc:creator>sasakiy84</dc:creator>
  <dcterms:created xsi:type="dcterms:W3CDTF">2026-10-25T06:31:20Z</dcterms:created>
  <dc:language>ja-JP</dc:language>
</cp:coreProperties>
</file>