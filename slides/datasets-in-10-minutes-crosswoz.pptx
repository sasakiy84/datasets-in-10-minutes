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2" r:id="rId1"/>
  </p:sldMasterIdLst>
  <p:sldIdLst>
    <p:sldId id="256" r:id="rId6"/>
    <p:sldId id="257" r:id="rId7"/>
    <p:sldId id="258" r:id="rId8"/>
    <p:sldId id="259" r:id="rId9"/>
    <p:sldId id="260" r:id="rId10"/>
    <p:sldId id="261" r:id="rId5"/>
    <p:sldId id="262" r:id="rId4"/>
    <p:sldId id="263" r:id="rId3"/>
    <p:sldId id="264" r:id="rId2"/>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1pPr>
    <a:lvl2pPr marR="0" lvl="1"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2pPr>
    <a:lvl3pPr marR="0" lvl="2"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3pPr>
    <a:lvl4pPr marR="0" lvl="3"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4pPr>
    <a:lvl5pPr marR="0" lvl="4"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5pPr>
    <a:lvl6pPr marR="0" lvl="5"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6pPr>
    <a:lvl7pPr marR="0" lvl="6"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7pPr>
    <a:lvl8pPr marR="0" lvl="7"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8pPr>
    <a:lvl9pPr marR="0" lvl="8"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9pPr>
  </p:defaultTextStyle>
  <p:extLst>
    <p:ext uri="{EFAFB233-063F-42B5-8137-9DF3F51BA10A}">
      <p15:sldGuideLst xmlns:p15="http://schemas.microsoft.com/office/powerpoint/2012/main">
        <p15:guide id="1" orient="horz" pos="590">
          <p15:clr>
            <a:srgbClr val="747775"/>
          </p15:clr>
        </p15:guide>
        <p15:guide id="2" pos="1271">
          <p15:clr>
            <a:srgbClr val="747775"/>
          </p15:clr>
        </p15:guide>
        <p15:guide id="3" orient="horz" pos="1584">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E77B4"/>
    <a:srgbClr val="7A81FF"/>
    <a:srgbClr val="0096FF"/>
    <a:srgbClr val="011893"/>
    <a:srgbClr val="B13731"/>
    <a:srgbClr val="EF8600"/>
    <a:srgbClr val="FFCD8C"/>
    <a:srgbClr val="0036FF"/>
    <a:srgbClr val="00D989"/>
    <a:srgbClr val="01D8A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D8A3C8B-3693-4FF3-BE57-18EF887A9C23}">
  <a:tblStyle styleId="{FD8A3C8B-3693-4FF3-BE57-18EF887A9C23}" styleName="Table_0">
    <a:wholeTbl>
      <a:tcTxStyle>
        <a:font>
          <a:latin typeface="Noto Sans"/>
          <a:ea typeface="Noto Sans CJK JP"/>
          <a:cs typeface="Noto Sans"/>
        </a:font>
        <a:srgbClr val="000000"/>
      </a:tcTxStyle>
      <a:tcStyle>
        <a:tcBdr>
          <a:left>
            <a:ln>
              <a:noFill/>
            </a:ln>
          </a:left>
          <a:right>
            <a:ln>
              <a:noFill/>
            </a:ln>
          </a:right>
          <a:top>
            <a:ln w="15240" cap="flat">
              <a:solidFill>
                <a:srgbClr val="626669"/>
              </a:solidFill>
              <a:prstDash val="solid"/>
            </a:ln>
          </a:top>
          <a:bottom>
            <a:ln w="15240" cap="flat">
              <a:solidFill>
                <a:srgbClr val="626669"/>
              </a:solidFill>
              <a:prstDash val="solid"/>
            </a:ln>
          </a:bottom>
          <a:insideH>
            <a:ln>
              <a:noFill/>
            </a:ln>
          </a:insideH>
          <a:insideV>
            <a:ln>
              <a:noFill/>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bottom>
            <a:ln w="15240" cap="flat">
              <a:solidFill>
                <a:srgbClr val="626669"/>
              </a:solidFill>
              <a:prstDash val="solid"/>
            </a:ln>
          </a:bottom>
        </a:tcBdr>
      </a:tcStyle>
    </a:lastRow>
    <a:seCell>
      <a:tcTxStyle/>
      <a:tcStyle>
        <a:tcBdr/>
      </a:tcStyle>
    </a:seCell>
    <a:swCell>
      <a:tcTxStyle/>
      <a:tcStyle>
        <a:tcBdr/>
      </a:tcStyle>
    </a:swCell>
    <a:firstRow>
      <a:tcTxStyle/>
      <a:tcStyle>
        <a:tcBdr>
          <a:top>
            <a:ln w="15240" cap="flat">
              <a:solidFill>
                <a:srgbClr val="626669"/>
              </a:solidFill>
              <a:prstDash val="solid"/>
            </a:ln>
          </a:top>
          <a:bottom>
            <a:ln w="7620" cap="flat">
              <a:solidFill>
                <a:srgbClr val="626669"/>
              </a:solidFill>
              <a:prstDash val="solid"/>
            </a:ln>
          </a:bottom>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082"/>
    <p:restoredTop sz="87828"/>
  </p:normalViewPr>
  <p:slideViewPr>
    <p:cSldViewPr snapToGrid="0">
      <p:cViewPr varScale="1">
        <p:scale>
          <a:sx n="169" d="100"/>
          <a:sy n="169" d="100"/>
        </p:scale>
        <p:origin x="520" y="192"/>
      </p:cViewPr>
      <p:guideLst>
        <p:guide orient="horz" pos="590"/>
        <p:guide pos="1271"/>
        <p:guide orient="horz" pos="1584"/>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9.xml"/><Relationship Id="rId3" Type="http://schemas.openxmlformats.org/officeDocument/2006/relationships/slide" Target="slides/slide8.xml"/><Relationship Id="rId4" Type="http://schemas.openxmlformats.org/officeDocument/2006/relationships/slide" Target="slides/slide7.xml"/><Relationship Id="rId5" Type="http://schemas.openxmlformats.org/officeDocument/2006/relationships/slide" Target="slides/slide6.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0.xml"/><Relationship Id="rId36" Type="http://schemas.openxmlformats.org/officeDocument/2006/relationships/slide" Target="slides/slide31.xml"/><Relationship Id="rId37" Type="http://schemas.openxmlformats.org/officeDocument/2006/relationships/slide" Target="slides/slide32.xml"/><Relationship Id="rId38" Type="http://schemas.openxmlformats.org/officeDocument/2006/relationships/slide" Target="slides/slide33.xml"/><Relationship Id="rId39" Type="http://schemas.openxmlformats.org/officeDocument/2006/relationships/slide" Target="slides/slide34.xml"/><Relationship Id="rId40" Type="http://schemas.openxmlformats.org/officeDocument/2006/relationships/slide" Target="slides/slide35.xml"/><Relationship Id="rId41" Type="http://schemas.openxmlformats.org/officeDocument/2006/relationships/slide" Target="slides/slide36.xml"/><Relationship Id="rId42" Type="http://schemas.openxmlformats.org/officeDocument/2006/relationships/slide" Target="slides/slide37.xml"/><Relationship Id="rId43" Type="http://schemas.openxmlformats.org/officeDocument/2006/relationships/slide" Target="slides/slide38.xml"/><Relationship Id="rId44" Type="http://schemas.openxmlformats.org/officeDocument/2006/relationships/slide" Target="slides/slide39.xml"/><Relationship Id="rId45" Type="http://schemas.openxmlformats.org/officeDocument/2006/relationships/slide" Target="slides/slide40.xml"/><Relationship Id="rId46" Type="http://schemas.openxmlformats.org/officeDocument/2006/relationships/slide" Target="slides/slide41.xml"/><Relationship Id="rId47" Type="http://schemas.openxmlformats.org/officeDocument/2006/relationships/slide" Target="slides/slide42.xml"/><Relationship Id="rId48" Type="http://schemas.openxmlformats.org/officeDocument/2006/relationships/slide" Target="slides/slide43.xml"/><Relationship Id="rId49" Type="http://schemas.openxmlformats.org/officeDocument/2006/relationships/slide" Target="slides/slide44.xml"/><Relationship Id="rId50" Type="http://schemas.openxmlformats.org/officeDocument/2006/relationships/slide" Target="slides/slide45.xml"/><Relationship Id="rId51" Type="http://schemas.openxmlformats.org/officeDocument/2006/relationships/slide" Target="slides/slide46.xml"/><Relationship Id="rId52" Type="http://schemas.openxmlformats.org/officeDocument/2006/relationships/slide" Target="slides/slide47.xml"/><Relationship Id="rId53" Type="http://schemas.openxmlformats.org/officeDocument/2006/relationships/slide" Target="slides/slide48.xml"/><Relationship Id="rId54" Type="http://schemas.openxmlformats.org/officeDocument/2006/relationships/slide" Target="slides/slide49.xml"/><Relationship Id="rId55" Type="http://schemas.openxmlformats.org/officeDocument/2006/relationships/slide" Target="slides/slide50.xml"/><Relationship Id="rId56" Type="http://schemas.openxmlformats.org/officeDocument/2006/relationships/slide" Target="slides/slide51.xml"/><Relationship Id="rId57" Type="http://schemas.openxmlformats.org/officeDocument/2006/relationships/slide" Target="slides/slide52.xml"/><Relationship Id="rId58" Type="http://schemas.openxmlformats.org/officeDocument/2006/relationships/slide" Target="slides/slide53.xml"/><Relationship Id="rId59" Type="http://schemas.openxmlformats.org/officeDocument/2006/relationships/slide" Target="slides/slide54.xml"/><Relationship Id="rId60" Type="http://schemas.openxmlformats.org/officeDocument/2006/relationships/slide" Target="slides/slide55.xml"/><Relationship Id="rId61" Type="http://schemas.openxmlformats.org/officeDocument/2006/relationships/slide" Target="slides/slide56.xml"/><Relationship Id="rId62" Type="http://schemas.openxmlformats.org/officeDocument/2006/relationships/slide" Target="slides/slide57.xml"/><Relationship Id="rId63" Type="http://schemas.openxmlformats.org/officeDocument/2006/relationships/slide" Target="slides/slide58.xml"/><Relationship Id="rId64" Type="http://schemas.openxmlformats.org/officeDocument/2006/relationships/slide" Target="slides/slide59.xml"/><Relationship Id="rId65" Type="http://schemas.openxmlformats.org/officeDocument/2006/relationships/slide" Target="slides/slide60.xml"/><Relationship Id="rId66" Type="http://schemas.openxmlformats.org/officeDocument/2006/relationships/slide" Target="slides/slide6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style val="10"/>
  <c:chart>
    <c:autoTitleDeleted val="1"/>
    <c:plotArea>
      <c:barChart>
        <c:barDir val="col"/>
        <c:grouping val="clustered"/>
        <c:ser>
          <c:idx val="0"/>
          <c:order val="0"/>
          <c:tx>
            <c:strRef>
              <c:f>Sheet1!$B$1</c:f>
              <c:strCache>
                <c:ptCount val="1"/>
                <c:pt idx="0">
                  <c:v>状態完全一致率（%）</c:v>
                </c:pt>
              </c:strCache>
            </c:strRef>
          </c:tx>
          <c:spPr>
            <a:solidFill>
              <a:srgbClr val="2C9100"/>
            </a:solidFill>
            <a:ln>
              <a:noFill/>
            </a:ln>
          </c:spPr>
          <c:cat>
            <c:strRef>
              <c:f>Sheet1!$A$2:$A$6</c:f>
              <c:strCache>
                <c:ptCount val="5"/>
                <c:pt idx="0">
                  <c:v>S</c:v>
                </c:pt>
                <c:pt idx="1">
                  <c:v>M</c:v>
                </c:pt>
                <c:pt idx="2">
                  <c:v>M+T</c:v>
                </c:pt>
                <c:pt idx="3">
                  <c:v>CM</c:v>
                </c:pt>
                <c:pt idx="4">
                  <c:v>CM+T</c:v>
                </c:pt>
              </c:strCache>
            </c:strRef>
          </c:cat>
          <c:val>
            <c:numRef>
              <c:f>Sheet1!$B$2:$B$6</c:f>
              <c:numCache>
                <c:formatCode>General</c:formatCode>
                <c:ptCount val="5"/>
                <c:pt idx="0">
                  <c:v>84.17</c:v>
                </c:pt>
                <c:pt idx="1">
                  <c:v>78.17</c:v>
                </c:pt>
                <c:pt idx="2">
                  <c:v>81.93</c:v>
                </c:pt>
                <c:pt idx="3">
                  <c:v>63.38</c:v>
                </c:pt>
                <c:pt idx="4">
                  <c:v>67.86</c:v>
                </c:pt>
              </c:numCache>
            </c:numRef>
          </c:val>
        </c:ser>
        <c:dLbls>
          <c:txPr>
            <a:bodyPr/>
            <a:lstStyle/>
            <a:p>
              <a:pPr>
                <a:defRPr sz="1500">
                  <a:latin typeface="Noto Sans CJK JP"/>
                </a:defRPr>
              </a:pPr>
            </a:p>
          </c:txPr>
          <c:dLblPos val="outEnd"/>
          <c:showLegendKey val="0"/>
          <c:showVal val="1"/>
          <c:showCatName val="0"/>
          <c:showSerName val="0"/>
          <c:showPercent val="0"/>
          <c:showBubbleSize val="0"/>
          <c:showLeaderLines val="1"/>
        </c:dLbls>
        <c:gapWidth val="60"/>
        <c:axId val="2226939960"/>
        <c:axId val="2180972856"/>
      </c:barChart>
      <c:catAx>
        <c:axId val="2226939960"/>
        <c:scaling>
          <c:orientation val="minMax"/>
        </c:scaling>
        <c:delete val="0"/>
        <c:axPos val="b"/>
        <c:majorTickMark val="none"/>
        <c:minorTickMark val="none"/>
        <c:tickLblPos val="nextTo"/>
        <c:spPr>
          <a:ln>
            <a:noFill/>
          </a:ln>
        </c:spPr>
        <c:txPr>
          <a:bodyPr/>
          <a:lstStyle/>
          <a:p>
            <a:pPr>
              <a:defRPr sz="1300">
                <a:latin typeface="Noto Sans CJK JP"/>
              </a:defRPr>
            </a:pPr>
          </a:p>
        </c:txPr>
        <c:crossAx val="2180972856"/>
        <c:crosses val="autoZero"/>
        <c:auto val="1"/>
        <c:lblAlgn val="ctr"/>
        <c:lblOffset val="100"/>
        <c:tickLblSkip val="1"/>
        <c:noMultiLvlLbl val="0"/>
      </c:catAx>
      <c:valAx>
        <c:axId val="2180972856"/>
        <c:scaling>
          <c:min val="0.0"/>
        </c:scaling>
        <c:delete val="0"/>
        <c:axPos val="l"/>
        <c:majorGridlines>
          <c:spPr>
            <a:ln>
              <a:solidFill>
                <a:srgbClr val="DADDD7"/>
              </a:solidFill>
            </a:ln>
          </c:spPr>
        </c:majorGridlines>
        <c:majorTickMark val="none"/>
        <c:minorTickMark val="none"/>
        <c:tickLblPos val="nextTo"/>
        <c:spPr>
          <a:ln>
            <a:noFill/>
          </a:ln>
        </c:spPr>
        <c:txPr>
          <a:bodyPr/>
          <a:lstStyle/>
          <a:p>
            <a:pPr>
              <a:defRPr sz="1300">
                <a:latin typeface="Noto Sans CJK JP"/>
              </a:defRPr>
            </a:pPr>
          </a:p>
        </c:txPr>
        <c:crossAx val="2226939960"/>
        <c:crosses val="autoZero"/>
      </c:valAx>
      <c:spPr>
        <a:solidFill>
          <a:srgbClr val="FFFEF8"/>
        </a:solidFill>
        <a:ln>
          <a:noFill/>
        </a:ln>
      </c:spPr>
    </c:plotArea>
    <c:dispBlanksAs val="gap"/>
  </c:chart>
  <c:spPr>
    <a:solidFill>
      <a:srgbClr val="FFFEF8"/>
    </a:solidFill>
    <a:ln>
      <a:noFill/>
    </a:ln>
  </c:spPr>
  <c:txPr>
    <a:bodyPr/>
    <a:lstStyle/>
    <a:p>
      <a:pPr>
        <a:defRPr sz="1400">
          <a:latin typeface="Noto Sans CJK JP"/>
        </a:defRPr>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12471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Clr>
                <a:schemeClr val="dk1"/>
              </a:buClr>
              <a:buNone/>
              <a:defRPr sz="5200" b="1" lang="ja-JP">
                <a:solidFill>
                  <a:schemeClr val="dk1"/>
                </a:solidFill>
                <a:latin typeface="Noto Sans"/>
                <a:ea typeface="Noto Sans CJK JP"/>
                <a:cs typeface="Noto Sans"/>
              </a:defRPr>
            </a:lvl1pPr>
            <a:lvl2pPr lvl="1" algn="ctr">
              <a:spcBef>
                <a:spcPts val="0"/>
              </a:spcBef>
              <a:spcAft>
                <a:spcPts val="0"/>
              </a:spcAft>
              <a:buNone/>
              <a:defRPr sz="5200" lang="ja-JP">
                <a:latin typeface="Noto Sans"/>
                <a:ea typeface="Noto Sans CJK JP"/>
                <a:cs typeface="Noto Sans"/>
              </a:defRPr>
            </a:lvl2pPr>
            <a:lvl3pPr lvl="2" algn="ctr">
              <a:spcBef>
                <a:spcPts val="0"/>
              </a:spcBef>
              <a:spcAft>
                <a:spcPts val="0"/>
              </a:spcAft>
              <a:buNone/>
              <a:defRPr sz="5200" lang="ja-JP">
                <a:latin typeface="Noto Sans"/>
                <a:ea typeface="Noto Sans CJK JP"/>
                <a:cs typeface="Noto Sans"/>
              </a:defRPr>
            </a:lvl3pPr>
            <a:lvl4pPr lvl="3" algn="ctr">
              <a:spcBef>
                <a:spcPts val="0"/>
              </a:spcBef>
              <a:spcAft>
                <a:spcPts val="0"/>
              </a:spcAft>
              <a:buNone/>
              <a:defRPr sz="5200" lang="ja-JP">
                <a:latin typeface="Noto Sans"/>
                <a:ea typeface="Noto Sans CJK JP"/>
                <a:cs typeface="Noto Sans"/>
              </a:defRPr>
            </a:lvl4pPr>
            <a:lvl5pPr lvl="4" algn="ctr">
              <a:spcBef>
                <a:spcPts val="0"/>
              </a:spcBef>
              <a:spcAft>
                <a:spcPts val="0"/>
              </a:spcAft>
              <a:buNone/>
              <a:defRPr sz="5200" lang="ja-JP">
                <a:latin typeface="Noto Sans"/>
                <a:ea typeface="Noto Sans CJK JP"/>
                <a:cs typeface="Noto Sans"/>
              </a:defRPr>
            </a:lvl5pPr>
            <a:lvl6pPr lvl="5" algn="ctr">
              <a:spcBef>
                <a:spcPts val="0"/>
              </a:spcBef>
              <a:spcAft>
                <a:spcPts val="0"/>
              </a:spcAft>
              <a:buNone/>
              <a:defRPr sz="5200" lang="ja-JP">
                <a:latin typeface="Noto Sans"/>
                <a:ea typeface="Noto Sans CJK JP"/>
                <a:cs typeface="Noto Sans"/>
              </a:defRPr>
            </a:lvl6pPr>
            <a:lvl7pPr lvl="6" algn="ctr">
              <a:spcBef>
                <a:spcPts val="0"/>
              </a:spcBef>
              <a:spcAft>
                <a:spcPts val="0"/>
              </a:spcAft>
              <a:buNone/>
              <a:defRPr sz="5200" lang="ja-JP">
                <a:latin typeface="Noto Sans"/>
                <a:ea typeface="Noto Sans CJK JP"/>
                <a:cs typeface="Noto Sans"/>
              </a:defRPr>
            </a:lvl7pPr>
            <a:lvl8pPr lvl="7" algn="ctr">
              <a:spcBef>
                <a:spcPts val="0"/>
              </a:spcBef>
              <a:spcAft>
                <a:spcPts val="0"/>
              </a:spcAft>
              <a:buNone/>
              <a:defRPr sz="5200" lang="ja-JP">
                <a:latin typeface="Noto Sans"/>
                <a:ea typeface="Noto Sans CJK JP"/>
                <a:cs typeface="Noto Sans"/>
              </a:defRPr>
            </a:lvl8pPr>
            <a:lvl9pPr lvl="8" algn="ctr">
              <a:spcBef>
                <a:spcPts val="0"/>
              </a:spcBef>
              <a:spcAft>
                <a:spcPts val="0"/>
              </a:spcAft>
              <a:buNone/>
              <a:defRPr sz="5200" lang="ja-JP">
                <a:latin typeface="Noto Sans"/>
                <a:ea typeface="Noto Sans CJK JP"/>
                <a:cs typeface="Noto Sans"/>
              </a:defRPr>
            </a:lvl9pPr>
          </a:lstStyle>
          <a:p>
            <a:endParaRPr lang="ja-JP">
              <a:latin typeface="Noto Sans"/>
              <a:ea typeface="Noto Sans CJK JP"/>
              <a:cs typeface="Noto Sans"/>
            </a:endParaRPr>
          </a:p>
        </p:txBody>
      </p:sp>
      <p:sp>
        <p:nvSpPr>
          <p:cNvPr id="11" name="Google Shape;11;p2"/>
          <p:cNvSpPr txBox="1">
            <a:spLocks noGrp="1"/>
          </p:cNvSpPr>
          <p:nvPr>
            <p:ph type="subTitle" idx="1"/>
          </p:nvPr>
        </p:nvSpPr>
        <p:spPr>
          <a:xfrm>
            <a:off x="311700" y="3657600"/>
            <a:ext cx="8520600" cy="36576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Clr>
                <a:schemeClr val="dk1"/>
              </a:buClr>
              <a:buNone/>
              <a:defRPr sz="2800" lang="ja-JP">
                <a:solidFill>
                  <a:schemeClr val="dk1"/>
                </a:solidFill>
                <a:latin typeface="Noto Sans"/>
                <a:ea typeface="Noto Sans CJK JP"/>
                <a:cs typeface="Noto Sans"/>
              </a:defRPr>
            </a:lvl1pPr>
            <a:lvl2pPr lvl="1" algn="ctr">
              <a:lnSpc>
                <a:spcPct val="100000"/>
              </a:lnSpc>
              <a:spcBef>
                <a:spcPts val="0"/>
              </a:spcBef>
              <a:spcAft>
                <a:spcPts val="0"/>
              </a:spcAft>
              <a:buNone/>
              <a:defRPr sz="2800" lang="ja-JP">
                <a:latin typeface="Noto Sans"/>
                <a:ea typeface="Noto Sans CJK JP"/>
                <a:cs typeface="Noto Sans"/>
              </a:defRPr>
            </a:lvl2pPr>
            <a:lvl3pPr lvl="2" algn="ctr">
              <a:lnSpc>
                <a:spcPct val="100000"/>
              </a:lnSpc>
              <a:spcBef>
                <a:spcPts val="0"/>
              </a:spcBef>
              <a:spcAft>
                <a:spcPts val="0"/>
              </a:spcAft>
              <a:buNone/>
              <a:defRPr sz="2800" lang="ja-JP">
                <a:latin typeface="Noto Sans"/>
                <a:ea typeface="Noto Sans CJK JP"/>
                <a:cs typeface="Noto Sans"/>
              </a:defRPr>
            </a:lvl3pPr>
            <a:lvl4pPr lvl="3" algn="ctr">
              <a:lnSpc>
                <a:spcPct val="100000"/>
              </a:lnSpc>
              <a:spcBef>
                <a:spcPts val="0"/>
              </a:spcBef>
              <a:spcAft>
                <a:spcPts val="0"/>
              </a:spcAft>
              <a:buNone/>
              <a:defRPr sz="2800" lang="ja-JP">
                <a:latin typeface="Noto Sans"/>
                <a:ea typeface="Noto Sans CJK JP"/>
                <a:cs typeface="Noto Sans"/>
              </a:defRPr>
            </a:lvl4pPr>
            <a:lvl5pPr lvl="4" algn="ctr">
              <a:lnSpc>
                <a:spcPct val="100000"/>
              </a:lnSpc>
              <a:spcBef>
                <a:spcPts val="0"/>
              </a:spcBef>
              <a:spcAft>
                <a:spcPts val="0"/>
              </a:spcAft>
              <a:buNone/>
              <a:defRPr sz="2800" lang="ja-JP">
                <a:latin typeface="Noto Sans"/>
                <a:ea typeface="Noto Sans CJK JP"/>
                <a:cs typeface="Noto Sans"/>
              </a:defRPr>
            </a:lvl5pPr>
            <a:lvl6pPr lvl="5" algn="ctr">
              <a:lnSpc>
                <a:spcPct val="100000"/>
              </a:lnSpc>
              <a:spcBef>
                <a:spcPts val="0"/>
              </a:spcBef>
              <a:spcAft>
                <a:spcPts val="0"/>
              </a:spcAft>
              <a:buNone/>
              <a:defRPr sz="2800" lang="ja-JP">
                <a:latin typeface="Noto Sans"/>
                <a:ea typeface="Noto Sans CJK JP"/>
                <a:cs typeface="Noto Sans"/>
              </a:defRPr>
            </a:lvl6pPr>
            <a:lvl7pPr lvl="6" algn="ctr">
              <a:lnSpc>
                <a:spcPct val="100000"/>
              </a:lnSpc>
              <a:spcBef>
                <a:spcPts val="0"/>
              </a:spcBef>
              <a:spcAft>
                <a:spcPts val="0"/>
              </a:spcAft>
              <a:buNone/>
              <a:defRPr sz="2800" lang="ja-JP">
                <a:latin typeface="Noto Sans"/>
                <a:ea typeface="Noto Sans CJK JP"/>
                <a:cs typeface="Noto Sans"/>
              </a:defRPr>
            </a:lvl7pPr>
            <a:lvl8pPr lvl="7" algn="ctr">
              <a:lnSpc>
                <a:spcPct val="100000"/>
              </a:lnSpc>
              <a:spcBef>
                <a:spcPts val="0"/>
              </a:spcBef>
              <a:spcAft>
                <a:spcPts val="0"/>
              </a:spcAft>
              <a:buNone/>
              <a:defRPr sz="2800" lang="ja-JP">
                <a:latin typeface="Noto Sans"/>
                <a:ea typeface="Noto Sans CJK JP"/>
                <a:cs typeface="Noto Sans"/>
              </a:defRPr>
            </a:lvl8pPr>
            <a:lvl9pPr lvl="8" algn="ctr">
              <a:lnSpc>
                <a:spcPct val="100000"/>
              </a:lnSpc>
              <a:spcBef>
                <a:spcPts val="0"/>
              </a:spcBef>
              <a:spcAft>
                <a:spcPts val="0"/>
              </a:spcAft>
              <a:buNone/>
              <a:defRPr sz="2800" lang="ja-JP">
                <a:latin typeface="Noto Sans"/>
                <a:ea typeface="Noto Sans CJK JP"/>
                <a:cs typeface="Noto Sans"/>
              </a:defRPr>
            </a:lvl9pPr>
          </a:lstStyle>
          <a:p>
            <a:pPr>
              <a:defRPr sz="2200" lang="ja-JP">
                <a:latin typeface="Noto Sans"/>
                <a:ea typeface="Noto Sans CJK JP"/>
                <a:cs typeface="Noto Sans"/>
              </a:defRPr>
            </a:pPr>
            <a:endParaRPr lang="ja-JP">
              <a:latin typeface="Noto Sans"/>
              <a:ea typeface="Noto Sans CJK JP"/>
              <a:cs typeface="Noto Sans"/>
            </a:endParaRPr>
          </a:p>
        </p:txBody>
      </p:sp>
      <p:sp>
        <p:nvSpPr>
          <p:cNvPr id="2" name="Google Shape;22;p5">
            <a:extLst>
              <a:ext uri="{FF2B5EF4-FFF2-40B4-BE49-F238E27FC236}">
                <a16:creationId xmlns:a16="http://schemas.microsoft.com/office/drawing/2014/main" id="{97A17C7E-5073-6B99-C91A-19299DA839DE}"/>
              </a:ext>
            </a:extLst>
          </p:cNvPr>
          <p:cNvSpPr/>
          <p:nvPr userDrawn="1"/>
        </p:nvSpPr>
        <p:spPr>
          <a:xfrm>
            <a:off x="8607898" y="-10450"/>
            <a:ext cx="548701" cy="4797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lang="ja-JP">
              <a:latin typeface="Noto Sans"/>
              <a:ea typeface="Noto Sans CJK JP"/>
              <a:cs typeface="Noto Sans"/>
            </a:endParaRPr>
          </a:p>
        </p:txBody>
      </p:sp>
      <p:sp>
        <p:nvSpPr>
          <p:cNvPr id="7" name="Slide Number">
            <a:extLst>
              <a:ext uri="{FF2B5EF4-FFF2-40B4-BE49-F238E27FC236}">
                <a16:creationId xmlns:a16="http://schemas.microsoft.com/office/drawing/2014/main" id="{2BE9CD3C-2632-D40F-DBD2-47ACED4F9A3C}"/>
              </a:ext>
            </a:extLst>
          </p:cNvPr>
          <p:cNvSpPr txBox="1"/>
          <p:nvPr userDrawn="1"/>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pPr algn="ctr"/>
              <a:t>‹#›</a:t>
            </a:fld>
            <a:endParaRPr lang="ja-JP" sz="1800" b="1" dirty="0">
              <a:latin typeface="Noto Sans"/>
              <a:ea typeface="Noto Sans CJK JP"/>
              <a:cs typeface="Noto Sans"/>
            </a:endParaRPr>
          </a:p>
        </p:txBody>
      </p:sp>
      <p:sp>
        <p:nvSpPr>
          <p:cNvPr id="110" name="Author affiliation"/>
          <p:cNvSpPr txBox="1">
            <a:spLocks noGrp="1"/>
          </p:cNvSpPr>
          <p:nvPr>
            <p:ph type="body" idx="10"/>
          </p:nvPr>
        </p:nvSpPr>
        <p:spPr>
          <a:xfrm>
            <a:off x="5486400" y="4224528"/>
            <a:ext cx="3108960" cy="228600"/>
          </a:xfrm>
          <a:prstGeom prst="rect">
            <a:avLst/>
          </a:prstGeom>
        </p:spPr>
        <p:txBody>
          <a:bodyPr spcFirstLastPara="1" wrap="square" lIns="91425" tIns="91425" rIns="91425" bIns="91425" anchor="ctr"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pPr algn="r">
              <a:lnSpc>
                <a:spcPct val="100000"/>
              </a:lnSpc>
              <a:spcBef>
                <a:spcPts val="0"/>
              </a:spcBef>
              <a:spcAft>
                <a:spcPts val="0"/>
              </a:spcAft>
              <a:defRPr sz="1400" b="0" lang="ja-JP">
                <a:solidFill>
                  <a:srgbClr val="626669"/>
                </a:solidFill>
                <a:latin typeface="Noto Sans"/>
                <a:ea typeface="Noto Sans CJK JP"/>
                <a:cs typeface="Noto Sans"/>
              </a:defRPr>
            </a:pPr>
            <a:r>
              <a:t>所属　［所属］</a:t>
            </a:r>
          </a:p>
        </p:txBody>
      </p:sp>
      <p:sp>
        <p:nvSpPr>
          <p:cNvPr id="111" name="Author name"/>
          <p:cNvSpPr txBox="1">
            <a:spLocks noGrp="1"/>
          </p:cNvSpPr>
          <p:nvPr>
            <p:ph type="body" idx="11"/>
          </p:nvPr>
        </p:nvSpPr>
        <p:spPr>
          <a:xfrm>
            <a:off x="5486400" y="4416552"/>
            <a:ext cx="3108960" cy="402336"/>
          </a:xfrm>
          <a:prstGeom prst="rect">
            <a:avLst/>
          </a:prstGeom>
        </p:spPr>
        <p:txBody>
          <a:bodyPr spcFirstLastPara="1" wrap="square" lIns="91425" tIns="91425" rIns="91425" bIns="91425" anchor="ctr"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pPr algn="r">
              <a:lnSpc>
                <a:spcPct val="100000"/>
              </a:lnSpc>
              <a:spcBef>
                <a:spcPts val="0"/>
              </a:spcBef>
              <a:spcAft>
                <a:spcPts val="0"/>
              </a:spcAft>
              <a:defRPr sz="2000" b="0" lang="ja-JP">
                <a:solidFill>
                  <a:srgbClr val="626669"/>
                </a:solidFill>
                <a:latin typeface="Noto Sans"/>
                <a:ea typeface="Noto Sans CJK JP"/>
                <a:cs typeface="Noto Sans"/>
              </a:defRPr>
            </a:pPr>
            <a:r>
              <a:rPr sz="2000" lang="ja-JP">
                <a:solidFill>
                  <a:srgbClr val="303437"/>
                </a:solidFill>
                <a:latin typeface="Noto Sans"/>
                <a:ea typeface="Noto Sans CJK JP"/>
                <a:cs typeface="Noto Sans"/>
              </a:rPr>
              <a:t>氏名　［氏名］</a:t>
            </a:r>
          </a:p>
        </p:txBody>
      </p:sp>
      <p:sp>
        <p:nvSpPr>
          <p:cNvPr id="112" name="Creation date"/>
          <p:cNvSpPr txBox="1">
            <a:spLocks noGrp="1"/>
          </p:cNvSpPr>
          <p:nvPr>
            <p:ph type="body" idx="12"/>
          </p:nvPr>
        </p:nvSpPr>
        <p:spPr>
          <a:xfrm>
            <a:off x="457200" y="274320"/>
            <a:ext cx="3657600" cy="228600"/>
          </a:xfrm>
          <a:prstGeom prst="rect">
            <a:avLst/>
          </a:prstGeom>
        </p:spPr>
        <p:txBody>
          <a:bodyPr spcFirstLastPara="1" wrap="square" lIns="91425" tIns="91425" rIns="91425" bIns="91425" anchor="ctr"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pPr algn="l">
              <a:lnSpc>
                <a:spcPct val="100000"/>
              </a:lnSpc>
              <a:spcBef>
                <a:spcPts val="0"/>
              </a:spcBef>
              <a:spcAft>
                <a:spcPts val="0"/>
              </a:spcAft>
              <a:defRPr sz="1400" b="0" lang="ja-JP">
                <a:solidFill>
                  <a:srgbClr val="626669"/>
                </a:solidFill>
                <a:latin typeface="Noto Sans"/>
                <a:ea typeface="Noto Sans CJK JP"/>
                <a:cs typeface="Noto Sans"/>
              </a:defRPr>
            </a:pPr>
            <a:r>
              <a:t>作成日　YYYY-MM-DD</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カスタム レイアウト 1">
  <p:cSld name="CUSTOM">
    <p:spTree>
      <p:nvGrpSpPr>
        <p:cNvPr id="1" name="Shape 71"/>
        <p:cNvGrpSpPr/>
        <p:nvPr/>
      </p:nvGrpSpPr>
      <p:grpSpPr>
        <a:xfrm>
          <a:off x="0" y="0"/>
          <a:ext cx="0" cy="0"/>
          <a:chOff x="0" y="0"/>
          <a:chExt cx="0" cy="0"/>
        </a:xfrm>
      </p:grpSpPr>
      <p:sp>
        <p:nvSpPr>
          <p:cNvPr id="73" name="Google Shape;73;p11"/>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75" name="Google Shape;75;p11"/>
          <p:cNvSpPr txBox="1"/>
          <p:nvPr/>
        </p:nvSpPr>
        <p:spPr>
          <a:xfrm>
            <a:off x="76100" y="0"/>
            <a:ext cx="8059500" cy="480059"/>
          </a:xfrm>
          <a:prstGeom prst="rect">
            <a:avLst/>
          </a:prstGeom>
          <a:noFill/>
          <a:ln>
            <a:noFill/>
          </a:ln>
        </p:spPr>
        <p:txBody>
          <a:bodyPr spcFirstLastPara="1" wrap="square" lIns="91425" tIns="0" rIns="91425" bIns="0" anchor="ctr" anchorCtr="0">
            <a:normAutofit/>
          </a:bodyPr>
          <a:lstStyle/>
          <a:p>
            <a:pPr marL="0" lvl="0" indent="0" algn="l" rtl="0">
              <a:lnSpc>
                <a:spcPct val="100000"/>
              </a:lnSpc>
              <a:spcBef>
                <a:spcPts val="0"/>
              </a:spcBef>
              <a:spcAft>
                <a:spcPts val="0"/>
              </a:spcAft>
              <a:buNone/>
              <a:defRPr sz="1400" b="1" lang="ja-JP" altLang="en-US">
                <a:latin typeface="Noto Sans"/>
                <a:ea typeface="Noto Sans CJK JP"/>
                <a:cs typeface="Noto Sans"/>
              </a:defRPr>
            </a:pPr>
            <a:r>
              <a:rPr lang="ja-JP" altLang="en-US" b="1" dirty="0" sz="1400">
                <a:solidFill>
                  <a:schemeClr val="lt1"/>
                </a:solidFill>
                <a:latin typeface="Noto Sans"/>
                <a:ea typeface="Noto Sans CJK JP"/>
                <a:cs typeface="Noto Sans"/>
              </a:rPr>
              <a:t>T</a:t>
            </a:r>
            <a:r>
              <a:rPr lang="ja-JP" b="1" dirty="0" sz="1400" altLang="en-US">
                <a:solidFill>
                  <a:schemeClr val="lt1"/>
                </a:solidFill>
                <a:latin typeface="Noto Sans"/>
                <a:ea typeface="Noto Sans CJK JP"/>
                <a:cs typeface="Noto Sans"/>
              </a:rPr>
              <a:t>able of </a:t>
            </a:r>
            <a:r>
              <a:rPr lang="ja-JP" altLang="en-US" b="1" dirty="0" sz="1400">
                <a:solidFill>
                  <a:schemeClr val="lt1"/>
                </a:solidFill>
                <a:latin typeface="Noto Sans"/>
                <a:ea typeface="Noto Sans CJK JP"/>
                <a:cs typeface="Noto Sans"/>
              </a:rPr>
              <a:t>C</a:t>
            </a:r>
            <a:r>
              <a:rPr lang="ja-JP" b="1" dirty="0" sz="1400" altLang="en-US">
                <a:solidFill>
                  <a:schemeClr val="lt1"/>
                </a:solidFill>
                <a:latin typeface="Noto Sans"/>
                <a:ea typeface="Noto Sans CJK JP"/>
                <a:cs typeface="Noto Sans"/>
              </a:rPr>
              <a:t>ontents</a:t>
            </a:r>
            <a:endParaRPr b="1" dirty="0" lang="ja-JP" sz="1400" altLang="en-US">
              <a:solidFill>
                <a:schemeClr val="lt1"/>
              </a:solidFill>
              <a:latin typeface="Noto Sans"/>
              <a:ea typeface="Noto Sans CJK JP"/>
              <a:cs typeface="Noto Sans"/>
            </a:endParaRPr>
          </a:p>
        </p:txBody>
      </p:sp>
      <p:sp>
        <p:nvSpPr>
          <p:cNvPr id="76" name="Google Shape;76;p11"/>
          <p:cNvSpPr txBox="1"/>
          <p:nvPr/>
        </p:nvSpPr>
        <p:spPr>
          <a:xfrm>
            <a:off x="1236712" y="842226"/>
            <a:ext cx="5764979"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1.</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Background &amp; Purpose</a:t>
            </a:r>
            <a:endParaRPr lang="ja-JP" altLang="ja-JP" sz="2800" b="1" dirty="0">
              <a:solidFill>
                <a:schemeClr val="dk1"/>
              </a:solidFill>
              <a:latin typeface="Noto Sans"/>
              <a:ea typeface="Noto Sans CJK JP"/>
              <a:cs typeface="Noto Sans"/>
            </a:endParaRPr>
          </a:p>
        </p:txBody>
      </p:sp>
      <p:sp>
        <p:nvSpPr>
          <p:cNvPr id="79" name="Google Shape;79;p11"/>
          <p:cNvSpPr txBox="1"/>
          <p:nvPr/>
        </p:nvSpPr>
        <p:spPr>
          <a:xfrm>
            <a:off x="1236712" y="1664913"/>
            <a:ext cx="5412281"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2.</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Methodology</a:t>
            </a:r>
            <a:endParaRPr lang="ja-JP" altLang="ja-JP" sz="2800" b="1" dirty="0">
              <a:solidFill>
                <a:schemeClr val="dk1"/>
              </a:solidFill>
              <a:latin typeface="Noto Sans"/>
              <a:ea typeface="Noto Sans CJK JP"/>
              <a:cs typeface="Noto Sans"/>
            </a:endParaRPr>
          </a:p>
        </p:txBody>
      </p:sp>
      <p:sp>
        <p:nvSpPr>
          <p:cNvPr id="82" name="Google Shape;82;p11"/>
          <p:cNvSpPr txBox="1"/>
          <p:nvPr/>
        </p:nvSpPr>
        <p:spPr>
          <a:xfrm>
            <a:off x="1236712" y="2487598"/>
            <a:ext cx="6688590"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3.</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Classification Framework</a:t>
            </a:r>
            <a:endParaRPr lang="ja-JP" altLang="ja-JP" sz="2800" b="1" dirty="0">
              <a:solidFill>
                <a:schemeClr val="dk1"/>
              </a:solidFill>
              <a:latin typeface="Noto Sans"/>
              <a:ea typeface="Noto Sans CJK JP"/>
              <a:cs typeface="Noto Sans"/>
            </a:endParaRPr>
          </a:p>
        </p:txBody>
      </p:sp>
      <p:sp>
        <p:nvSpPr>
          <p:cNvPr id="85" name="Google Shape;85;p11"/>
          <p:cNvSpPr txBox="1"/>
          <p:nvPr userDrawn="1"/>
        </p:nvSpPr>
        <p:spPr>
          <a:xfrm>
            <a:off x="1236712" y="3310287"/>
            <a:ext cx="5020396"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4.</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Results &amp; Analysis</a:t>
            </a:r>
            <a:endParaRPr lang="ja-JP" altLang="ja-JP" sz="2800" b="1" dirty="0">
              <a:solidFill>
                <a:schemeClr val="dk1"/>
              </a:solidFill>
              <a:latin typeface="Noto Sans"/>
              <a:ea typeface="Noto Sans CJK JP"/>
              <a:cs typeface="Noto Sans"/>
            </a:endParaRPr>
          </a:p>
        </p:txBody>
      </p:sp>
      <p:sp>
        <p:nvSpPr>
          <p:cNvPr id="87" name="Google Shape;87;p11"/>
          <p:cNvSpPr txBox="1"/>
          <p:nvPr/>
        </p:nvSpPr>
        <p:spPr>
          <a:xfrm>
            <a:off x="1929203" y="3891800"/>
            <a:ext cx="5996100" cy="432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900" dirty="0" lang="ja-JP">
              <a:solidFill>
                <a:schemeClr val="dk1"/>
              </a:solidFill>
              <a:latin typeface="Noto Sans"/>
              <a:ea typeface="Noto Sans CJK JP"/>
              <a:cs typeface="Noto Sans"/>
            </a:endParaRPr>
          </a:p>
        </p:txBody>
      </p:sp>
      <p:sp>
        <p:nvSpPr>
          <p:cNvPr id="88" name="Google Shape;88;p11"/>
          <p:cNvSpPr txBox="1"/>
          <p:nvPr/>
        </p:nvSpPr>
        <p:spPr>
          <a:xfrm>
            <a:off x="1236712" y="4132975"/>
            <a:ext cx="6196053"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5.</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Conclusions and future work</a:t>
            </a:r>
            <a:endParaRPr lang="ja-JP" altLang="ja-JP" sz="2800" b="1" dirty="0">
              <a:solidFill>
                <a:schemeClr val="dk1"/>
              </a:solidFill>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normal">
  <p:cSld name="ONE_COLUMN_TEXT_1">
    <p:spTree>
      <p:nvGrpSpPr>
        <p:cNvPr id="1" name="Shape 21"/>
        <p:cNvGrpSpPr/>
        <p:nvPr/>
      </p:nvGrpSpPr>
      <p:grpSpPr>
        <a:xfrm>
          <a:off x="0" y="0"/>
          <a:ext cx="0" cy="0"/>
          <a:chOff x="0" y="0"/>
          <a:chExt cx="0" cy="0"/>
        </a:xfrm>
      </p:grpSpPr>
      <p:sp>
        <p:nvSpPr>
          <p:cNvPr id="22" name="Google Shape;22;p5"/>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24" name="Google Shape;24;p5"/>
          <p:cNvSpPr txBox="1">
            <a:spLocks noGrp="1"/>
          </p:cNvSpPr>
          <p:nvPr>
            <p:ph type="title"/>
          </p:nvPr>
        </p:nvSpPr>
        <p:spPr>
          <a:xfrm>
            <a:off x="468600" y="748150"/>
            <a:ext cx="8394600" cy="616200"/>
          </a:xfrm>
          <a:prstGeom prst="rect">
            <a:avLst/>
          </a:prstGeom>
        </p:spPr>
        <p:txBody>
          <a:bodyPr spcFirstLastPara="1" wrap="none" lIns="91425" tIns="91425" rIns="91425" bIns="91425" anchor="t" anchorCtr="0">
            <a:normAutofit/>
          </a:bodyPr>
          <a:lstStyle>
            <a:lvl1pPr lvl="0">
              <a:spcBef>
                <a:spcPts val="0"/>
              </a:spcBef>
              <a:spcAft>
                <a:spcPts val="0"/>
              </a:spcAft>
              <a:buClr>
                <a:schemeClr val="dk1"/>
              </a:buClr>
              <a:buNone/>
              <a:defRPr sz="3000" b="1" lang="ja-JP">
                <a:solidFill>
                  <a:schemeClr val="dk1"/>
                </a:solidFill>
                <a:latin typeface="Noto Sans"/>
                <a:ea typeface="Noto Sans CJK JP"/>
                <a:cs typeface="Noto Sans"/>
              </a:defRPr>
            </a:lvl1pPr>
            <a:lvl2pPr lvl="1">
              <a:spcBef>
                <a:spcPts val="0"/>
              </a:spcBef>
              <a:spcAft>
                <a:spcPts val="0"/>
              </a:spcAft>
              <a:buNone/>
              <a:defRPr lang="ja-JP">
                <a:latin typeface="Noto Sans"/>
                <a:ea typeface="Noto Sans CJK JP"/>
                <a:cs typeface="Noto Sans"/>
              </a:defRPr>
            </a:lvl2pPr>
            <a:lvl3pPr lvl="2">
              <a:spcBef>
                <a:spcPts val="0"/>
              </a:spcBef>
              <a:spcAft>
                <a:spcPts val="0"/>
              </a:spcAft>
              <a:buNone/>
              <a:defRPr lang="ja-JP">
                <a:latin typeface="Noto Sans"/>
                <a:ea typeface="Noto Sans CJK JP"/>
                <a:cs typeface="Noto Sans"/>
              </a:defRPr>
            </a:lvl3pPr>
            <a:lvl4pPr lvl="3">
              <a:spcBef>
                <a:spcPts val="0"/>
              </a:spcBef>
              <a:spcAft>
                <a:spcPts val="0"/>
              </a:spcAft>
              <a:buNone/>
              <a:defRPr lang="ja-JP">
                <a:latin typeface="Noto Sans"/>
                <a:ea typeface="Noto Sans CJK JP"/>
                <a:cs typeface="Noto Sans"/>
              </a:defRPr>
            </a:lvl4pPr>
            <a:lvl5pPr lvl="4">
              <a:spcBef>
                <a:spcPts val="0"/>
              </a:spcBef>
              <a:spcAft>
                <a:spcPts val="0"/>
              </a:spcAft>
              <a:buNone/>
              <a:defRPr lang="ja-JP">
                <a:latin typeface="Noto Sans"/>
                <a:ea typeface="Noto Sans CJK JP"/>
                <a:cs typeface="Noto Sans"/>
              </a:defRPr>
            </a:lvl5pPr>
            <a:lvl6pPr lvl="5">
              <a:spcBef>
                <a:spcPts val="0"/>
              </a:spcBef>
              <a:spcAft>
                <a:spcPts val="0"/>
              </a:spcAft>
              <a:buNone/>
              <a:defRPr lang="ja-JP">
                <a:latin typeface="Noto Sans"/>
                <a:ea typeface="Noto Sans CJK JP"/>
                <a:cs typeface="Noto Sans"/>
              </a:defRPr>
            </a:lvl6pPr>
            <a:lvl7pPr lvl="6">
              <a:spcBef>
                <a:spcPts val="0"/>
              </a:spcBef>
              <a:spcAft>
                <a:spcPts val="0"/>
              </a:spcAft>
              <a:buNone/>
              <a:defRPr lang="ja-JP">
                <a:latin typeface="Noto Sans"/>
                <a:ea typeface="Noto Sans CJK JP"/>
                <a:cs typeface="Noto Sans"/>
              </a:defRPr>
            </a:lvl7pPr>
            <a:lvl8pPr lvl="7">
              <a:spcBef>
                <a:spcPts val="0"/>
              </a:spcBef>
              <a:spcAft>
                <a:spcPts val="0"/>
              </a:spcAft>
              <a:buNone/>
              <a:defRPr lang="ja-JP">
                <a:latin typeface="Noto Sans"/>
                <a:ea typeface="Noto Sans CJK JP"/>
                <a:cs typeface="Noto Sans"/>
              </a:defRPr>
            </a:lvl8pPr>
            <a:lvl9pPr lvl="8">
              <a:spcBef>
                <a:spcPts val="0"/>
              </a:spcBef>
              <a:spcAft>
                <a:spcPts val="0"/>
              </a:spcAft>
              <a:buNone/>
              <a:defRPr lang="ja-JP">
                <a:latin typeface="Noto Sans"/>
                <a:ea typeface="Noto Sans CJK JP"/>
                <a:cs typeface="Noto Sans"/>
              </a:defRPr>
            </a:lvl9pPr>
          </a:lstStyle>
          <a:p>
            <a:endParaRPr lang="ja-JP">
              <a:latin typeface="Noto Sans"/>
              <a:ea typeface="Noto Sans CJK JP"/>
              <a:cs typeface="Noto Sans"/>
            </a:endParaRPr>
          </a:p>
        </p:txBody>
      </p:sp>
      <p:sp>
        <p:nvSpPr>
          <p:cNvPr id="25" name="Google Shape;25;p5"/>
          <p:cNvSpPr txBox="1">
            <a:spLocks noGrp="1"/>
          </p:cNvSpPr>
          <p:nvPr>
            <p:ph type="body" idx="1"/>
          </p:nvPr>
        </p:nvSpPr>
        <p:spPr>
          <a:xfrm>
            <a:off x="589650" y="1474850"/>
            <a:ext cx="7964700" cy="3458700"/>
          </a:xfrm>
          <a:prstGeom prst="rect">
            <a:avLst/>
          </a:prstGeom>
        </p:spPr>
        <p:txBody>
          <a:bodyPr spcFirstLastPara="1" wrap="square" lIns="91425" tIns="91425" rIns="91425" bIns="91425" anchor="t"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a:latin typeface="Noto Sans"/>
              <a:ea typeface="Noto Sans CJK JP"/>
              <a:cs typeface="Noto Sans"/>
            </a:endParaRPr>
          </a:p>
        </p:txBody>
      </p:sp>
      <p:sp>
        <p:nvSpPr>
          <p:cNvPr id="26" name="Google Shape;26;p5"/>
          <p:cNvSpPr txBox="1">
            <a:spLocks noGrp="1"/>
          </p:cNvSpPr>
          <p:nvPr>
            <p:ph type="title" idx="2"/>
          </p:nvPr>
        </p:nvSpPr>
        <p:spPr>
          <a:xfrm>
            <a:off x="76100" y="0"/>
            <a:ext cx="8048100" cy="480059"/>
          </a:xfrm>
          <a:prstGeom prst="rect">
            <a:avLst/>
          </a:prstGeom>
          <a:ln>
            <a:noFill/>
          </a:ln>
        </p:spPr>
        <p:txBody>
          <a:bodyPr spcFirstLastPara="1" wrap="square" lIns="91425" tIns="0" rIns="91425" bIns="0" anchor="ctr" anchorCtr="0">
            <a:normAutofit/>
          </a:bodyPr>
          <a:lstStyle>
            <a:lvl1pPr lv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a:spcBef>
                <a:spcPts val="0"/>
              </a:spcBef>
              <a:spcAft>
                <a:spcPts val="0"/>
              </a:spcAft>
              <a:buNone/>
              <a:defRPr lang="ja-JP" sz="1400" b="1" altLang="en-US">
                <a:latin typeface="Noto Sans"/>
                <a:ea typeface="Noto Sans CJK JP"/>
                <a:cs typeface="Noto Sans"/>
              </a:defRPr>
            </a:lvl2pPr>
            <a:lvl3pPr lvl="2">
              <a:spcBef>
                <a:spcPts val="0"/>
              </a:spcBef>
              <a:spcAft>
                <a:spcPts val="0"/>
              </a:spcAft>
              <a:buNone/>
              <a:defRPr lang="ja-JP" sz="1400" b="1" altLang="en-US">
                <a:latin typeface="Noto Sans"/>
                <a:ea typeface="Noto Sans CJK JP"/>
                <a:cs typeface="Noto Sans"/>
              </a:defRPr>
            </a:lvl3pPr>
            <a:lvl4pPr lvl="3">
              <a:spcBef>
                <a:spcPts val="0"/>
              </a:spcBef>
              <a:spcAft>
                <a:spcPts val="0"/>
              </a:spcAft>
              <a:buNone/>
              <a:defRPr lang="ja-JP" sz="1400" b="1" altLang="en-US">
                <a:latin typeface="Noto Sans"/>
                <a:ea typeface="Noto Sans CJK JP"/>
                <a:cs typeface="Noto Sans"/>
              </a:defRPr>
            </a:lvl4pPr>
            <a:lvl5pPr lvl="4">
              <a:spcBef>
                <a:spcPts val="0"/>
              </a:spcBef>
              <a:spcAft>
                <a:spcPts val="0"/>
              </a:spcAft>
              <a:buNone/>
              <a:defRPr lang="ja-JP" sz="1400" b="1" altLang="en-US">
                <a:latin typeface="Noto Sans"/>
                <a:ea typeface="Noto Sans CJK JP"/>
                <a:cs typeface="Noto Sans"/>
              </a:defRPr>
            </a:lvl5pPr>
            <a:lvl6pPr lvl="5">
              <a:spcBef>
                <a:spcPts val="0"/>
              </a:spcBef>
              <a:spcAft>
                <a:spcPts val="0"/>
              </a:spcAft>
              <a:buNone/>
              <a:defRPr lang="ja-JP" sz="1400" b="1" altLang="en-US">
                <a:latin typeface="Noto Sans"/>
                <a:ea typeface="Noto Sans CJK JP"/>
                <a:cs typeface="Noto Sans"/>
              </a:defRPr>
            </a:lvl6pPr>
            <a:lvl7pPr lvl="6">
              <a:spcBef>
                <a:spcPts val="0"/>
              </a:spcBef>
              <a:spcAft>
                <a:spcPts val="0"/>
              </a:spcAft>
              <a:buNone/>
              <a:defRPr lang="ja-JP" sz="1400" b="1" altLang="en-US">
                <a:latin typeface="Noto Sans"/>
                <a:ea typeface="Noto Sans CJK JP"/>
                <a:cs typeface="Noto Sans"/>
              </a:defRPr>
            </a:lvl7pPr>
            <a:lvl8pPr lvl="7">
              <a:spcBef>
                <a:spcPts val="0"/>
              </a:spcBef>
              <a:spcAft>
                <a:spcPts val="0"/>
              </a:spcAft>
              <a:buNone/>
              <a:defRPr lang="ja-JP" sz="1400" b="1" altLang="en-US">
                <a:latin typeface="Noto Sans"/>
                <a:ea typeface="Noto Sans CJK JP"/>
                <a:cs typeface="Noto Sans"/>
              </a:defRPr>
            </a:lvl8pPr>
            <a:lvl9pPr lvl="8">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dirty="0">
              <a:latin typeface="Noto Sans"/>
              <a:ea typeface="Noto Sans CJK JP"/>
              <a:cs typeface="Noto San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タイトルのみ">
  <p:cSld name="ONE_COLUMN_TEXT_1_4">
    <p:spTree>
      <p:nvGrpSpPr>
        <p:cNvPr id="1" name="Shape 27"/>
        <p:cNvGrpSpPr/>
        <p:nvPr/>
      </p:nvGrpSpPr>
      <p:grpSpPr>
        <a:xfrm>
          <a:off x="0" y="0"/>
          <a:ext cx="0" cy="0"/>
          <a:chOff x="0" y="0"/>
          <a:chExt cx="0" cy="0"/>
        </a:xfrm>
      </p:grpSpPr>
      <p:sp>
        <p:nvSpPr>
          <p:cNvPr id="28" name="Google Shape;28;p6"/>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30" name="Google Shape;30;p6"/>
          <p:cNvSpPr txBox="1">
            <a:spLocks noGrp="1"/>
          </p:cNvSpPr>
          <p:nvPr>
            <p:ph type="title"/>
          </p:nvPr>
        </p:nvSpPr>
        <p:spPr>
          <a:xfrm>
            <a:off x="468600" y="649825"/>
            <a:ext cx="8206800" cy="616200"/>
          </a:xfrm>
          <a:prstGeom prst="rect">
            <a:avLst/>
          </a:prstGeom>
        </p:spPr>
        <p:txBody>
          <a:bodyPr spcFirstLastPara="1" wrap="none" lIns="91425" tIns="91425" rIns="91425" bIns="91425" anchor="t" anchorCtr="0">
            <a:normAutofit/>
          </a:bodyPr>
          <a:lstStyle>
            <a:lvl1pPr lvl="0" rtl="0">
              <a:spcBef>
                <a:spcPts val="0"/>
              </a:spcBef>
              <a:spcAft>
                <a:spcPts val="0"/>
              </a:spcAft>
              <a:buClr>
                <a:schemeClr val="dk1"/>
              </a:buClr>
              <a:buNone/>
              <a:defRPr sz="3000" b="1" lang="ja-JP">
                <a:solidFill>
                  <a:schemeClr val="dk1"/>
                </a:solidFill>
                <a:latin typeface="Noto Sans"/>
                <a:ea typeface="Noto Sans CJK JP"/>
                <a:cs typeface="Noto Sans"/>
              </a:defRPr>
            </a:lvl1pPr>
            <a:lvl2pPr lvl="1" rtl="0">
              <a:spcBef>
                <a:spcPts val="0"/>
              </a:spcBef>
              <a:spcAft>
                <a:spcPts val="0"/>
              </a:spcAft>
              <a:buNone/>
              <a:defRPr lang="ja-JP">
                <a:latin typeface="Noto Sans"/>
                <a:ea typeface="Noto Sans CJK JP"/>
                <a:cs typeface="Noto Sans"/>
              </a:defRPr>
            </a:lvl2pPr>
            <a:lvl3pPr lvl="2" rtl="0">
              <a:spcBef>
                <a:spcPts val="0"/>
              </a:spcBef>
              <a:spcAft>
                <a:spcPts val="0"/>
              </a:spcAft>
              <a:buNone/>
              <a:defRPr lang="ja-JP">
                <a:latin typeface="Noto Sans"/>
                <a:ea typeface="Noto Sans CJK JP"/>
                <a:cs typeface="Noto Sans"/>
              </a:defRPr>
            </a:lvl3pPr>
            <a:lvl4pPr lvl="3" rtl="0">
              <a:spcBef>
                <a:spcPts val="0"/>
              </a:spcBef>
              <a:spcAft>
                <a:spcPts val="0"/>
              </a:spcAft>
              <a:buNone/>
              <a:defRPr lang="ja-JP">
                <a:latin typeface="Noto Sans"/>
                <a:ea typeface="Noto Sans CJK JP"/>
                <a:cs typeface="Noto Sans"/>
              </a:defRPr>
            </a:lvl4pPr>
            <a:lvl5pPr lvl="4" rtl="0">
              <a:spcBef>
                <a:spcPts val="0"/>
              </a:spcBef>
              <a:spcAft>
                <a:spcPts val="0"/>
              </a:spcAft>
              <a:buNone/>
              <a:defRPr lang="ja-JP">
                <a:latin typeface="Noto Sans"/>
                <a:ea typeface="Noto Sans CJK JP"/>
                <a:cs typeface="Noto Sans"/>
              </a:defRPr>
            </a:lvl5pPr>
            <a:lvl6pPr lvl="5" rtl="0">
              <a:spcBef>
                <a:spcPts val="0"/>
              </a:spcBef>
              <a:spcAft>
                <a:spcPts val="0"/>
              </a:spcAft>
              <a:buNone/>
              <a:defRPr lang="ja-JP">
                <a:latin typeface="Noto Sans"/>
                <a:ea typeface="Noto Sans CJK JP"/>
                <a:cs typeface="Noto Sans"/>
              </a:defRPr>
            </a:lvl6pPr>
            <a:lvl7pPr lvl="6" rtl="0">
              <a:spcBef>
                <a:spcPts val="0"/>
              </a:spcBef>
              <a:spcAft>
                <a:spcPts val="0"/>
              </a:spcAft>
              <a:buNone/>
              <a:defRPr lang="ja-JP">
                <a:latin typeface="Noto Sans"/>
                <a:ea typeface="Noto Sans CJK JP"/>
                <a:cs typeface="Noto Sans"/>
              </a:defRPr>
            </a:lvl7pPr>
            <a:lvl8pPr lvl="7" rtl="0">
              <a:spcBef>
                <a:spcPts val="0"/>
              </a:spcBef>
              <a:spcAft>
                <a:spcPts val="0"/>
              </a:spcAft>
              <a:buNone/>
              <a:defRPr lang="ja-JP">
                <a:latin typeface="Noto Sans"/>
                <a:ea typeface="Noto Sans CJK JP"/>
                <a:cs typeface="Noto Sans"/>
              </a:defRPr>
            </a:lvl8pPr>
            <a:lvl9pPr lvl="8" rtl="0">
              <a:spcBef>
                <a:spcPts val="0"/>
              </a:spcBef>
              <a:spcAft>
                <a:spcPts val="0"/>
              </a:spcAft>
              <a:buNone/>
              <a:defRPr lang="ja-JP">
                <a:latin typeface="Noto Sans"/>
                <a:ea typeface="Noto Sans CJK JP"/>
                <a:cs typeface="Noto Sans"/>
              </a:defRPr>
            </a:lvl9pPr>
          </a:lstStyle>
          <a:p>
            <a:endParaRPr lang="ja-JP">
              <a:latin typeface="Noto Sans"/>
              <a:ea typeface="Noto Sans CJK JP"/>
              <a:cs typeface="Noto Sans"/>
            </a:endParaRPr>
          </a:p>
        </p:txBody>
      </p:sp>
      <p:sp>
        <p:nvSpPr>
          <p:cNvPr id="31" name="Google Shape;31;p6"/>
          <p:cNvSpPr txBox="1">
            <a:spLocks noGrp="1"/>
          </p:cNvSpPr>
          <p:nvPr>
            <p:ph type="title" idx="2"/>
          </p:nvPr>
        </p:nvSpPr>
        <p:spPr>
          <a:xfrm>
            <a:off x="76100" y="0"/>
            <a:ext cx="81153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ransition" type="secHead">
  <p:cSld name="ONE_COLUMN_TEXT_1_4_1">
    <p:spTree>
      <p:nvGrpSpPr>
        <p:cNvPr id="1" name="Shape 32"/>
        <p:cNvGrpSpPr/>
        <p:nvPr/>
      </p:nvGrpSpPr>
      <p:grpSpPr>
        <a:xfrm>
          <a:off x="0" y="0"/>
          <a:ext cx="0" cy="0"/>
          <a:chOff x="0" y="0"/>
          <a:chExt cx="0" cy="0"/>
        </a:xfrm>
      </p:grpSpPr>
      <p:sp>
        <p:nvSpPr>
          <p:cNvPr id="33" name="Google Shape;33;p7"/>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35" name="Google Shape;35;p7"/>
          <p:cNvSpPr txBox="1">
            <a:spLocks noGrp="1"/>
          </p:cNvSpPr>
          <p:nvPr>
            <p:ph type="title"/>
          </p:nvPr>
        </p:nvSpPr>
        <p:spPr>
          <a:xfrm>
            <a:off x="548640" y="2414016"/>
            <a:ext cx="8046720" cy="822960"/>
          </a:xfrm>
          <a:prstGeom prst="rect">
            <a:avLst/>
          </a:prstGeom>
        </p:spPr>
        <p:txBody>
          <a:bodyPr spcFirstLastPara="1" wrap="none" lIns="0" tIns="0" rIns="0" bIns="0" anchor="ctr" anchorCtr="0">
            <a:normAutofit/>
          </a:bodyPr>
          <a:lstStyle>
            <a:lvl1pPr lvl="0" rtl="0" algn="ctr">
              <a:spcBef>
                <a:spcPts val="0"/>
              </a:spcBef>
              <a:spcAft>
                <a:spcPts val="0"/>
              </a:spcAft>
              <a:buClr>
                <a:schemeClr val="dk1"/>
              </a:buClr>
              <a:buNone/>
              <a:defRPr sz="3600" b="1" lang="ja-JP" altLang="en-US">
                <a:solidFill>
                  <a:schemeClr val="dk1"/>
                </a:solidFill>
                <a:latin typeface="Noto Sans"/>
                <a:ea typeface="Noto Sans CJK JP"/>
                <a:cs typeface="Noto Sans"/>
              </a:defRPr>
            </a:lvl1pPr>
            <a:lvl2pPr lvl="1" rtl="0" algn="ctr">
              <a:spcBef>
                <a:spcPts val="0"/>
              </a:spcBef>
              <a:spcAft>
                <a:spcPts val="0"/>
              </a:spcAft>
              <a:buNone/>
              <a:defRPr lang="ja-JP" sz="3600" b="1" altLang="en-US">
                <a:latin typeface="Noto Sans"/>
                <a:ea typeface="Noto Sans CJK JP"/>
                <a:cs typeface="Noto Sans"/>
              </a:defRPr>
            </a:lvl2pPr>
            <a:lvl3pPr lvl="2" rtl="0" algn="ctr">
              <a:spcBef>
                <a:spcPts val="0"/>
              </a:spcBef>
              <a:spcAft>
                <a:spcPts val="0"/>
              </a:spcAft>
              <a:buNone/>
              <a:defRPr lang="ja-JP" sz="3600" b="1" altLang="en-US">
                <a:latin typeface="Noto Sans"/>
                <a:ea typeface="Noto Sans CJK JP"/>
                <a:cs typeface="Noto Sans"/>
              </a:defRPr>
            </a:lvl3pPr>
            <a:lvl4pPr lvl="3" rtl="0" algn="ctr">
              <a:spcBef>
                <a:spcPts val="0"/>
              </a:spcBef>
              <a:spcAft>
                <a:spcPts val="0"/>
              </a:spcAft>
              <a:buNone/>
              <a:defRPr lang="ja-JP" sz="3600" b="1" altLang="en-US">
                <a:latin typeface="Noto Sans"/>
                <a:ea typeface="Noto Sans CJK JP"/>
                <a:cs typeface="Noto Sans"/>
              </a:defRPr>
            </a:lvl4pPr>
            <a:lvl5pPr lvl="4" rtl="0" algn="ctr">
              <a:spcBef>
                <a:spcPts val="0"/>
              </a:spcBef>
              <a:spcAft>
                <a:spcPts val="0"/>
              </a:spcAft>
              <a:buNone/>
              <a:defRPr lang="ja-JP" sz="3600" b="1" altLang="en-US">
                <a:latin typeface="Noto Sans"/>
                <a:ea typeface="Noto Sans CJK JP"/>
                <a:cs typeface="Noto Sans"/>
              </a:defRPr>
            </a:lvl5pPr>
            <a:lvl6pPr lvl="5" rtl="0" algn="ctr">
              <a:spcBef>
                <a:spcPts val="0"/>
              </a:spcBef>
              <a:spcAft>
                <a:spcPts val="0"/>
              </a:spcAft>
              <a:buNone/>
              <a:defRPr lang="ja-JP" sz="3600" b="1" altLang="en-US">
                <a:latin typeface="Noto Sans"/>
                <a:ea typeface="Noto Sans CJK JP"/>
                <a:cs typeface="Noto Sans"/>
              </a:defRPr>
            </a:lvl6pPr>
            <a:lvl7pPr lvl="6" rtl="0" algn="ctr">
              <a:spcBef>
                <a:spcPts val="0"/>
              </a:spcBef>
              <a:spcAft>
                <a:spcPts val="0"/>
              </a:spcAft>
              <a:buNone/>
              <a:defRPr lang="ja-JP" sz="3600" b="1" altLang="en-US">
                <a:latin typeface="Noto Sans"/>
                <a:ea typeface="Noto Sans CJK JP"/>
                <a:cs typeface="Noto Sans"/>
              </a:defRPr>
            </a:lvl7pPr>
            <a:lvl8pPr lvl="7" rtl="0" algn="ctr">
              <a:spcBef>
                <a:spcPts val="0"/>
              </a:spcBef>
              <a:spcAft>
                <a:spcPts val="0"/>
              </a:spcAft>
              <a:buNone/>
              <a:defRPr lang="ja-JP" sz="3600" b="1" altLang="en-US">
                <a:latin typeface="Noto Sans"/>
                <a:ea typeface="Noto Sans CJK JP"/>
                <a:cs typeface="Noto Sans"/>
              </a:defRPr>
            </a:lvl8pPr>
            <a:lvl9pPr lvl="8" rtl="0" algn="ctr">
              <a:spcBef>
                <a:spcPts val="0"/>
              </a:spcBef>
              <a:spcAft>
                <a:spcPts val="0"/>
              </a:spcAft>
              <a:buNone/>
              <a:defRPr lang="ja-JP" sz="3600" b="1" altLang="en-US">
                <a:latin typeface="Noto Sans"/>
                <a:ea typeface="Noto Sans CJK JP"/>
                <a:cs typeface="Noto Sans"/>
              </a:defRPr>
            </a:lvl9pPr>
          </a:lstStyle>
          <a:p>
            <a:pPr algn="ctr">
              <a:lnSpc>
                <a:spcPct val="110000"/>
              </a:lnSpc>
              <a:defRPr sz="3600" b="1" lang="ja-JP" altLang="en-US">
                <a:latin typeface="Noto Sans"/>
                <a:ea typeface="Noto Sans CJK JP"/>
                <a:cs typeface="Noto Sans"/>
              </a:defRPr>
            </a:pPr>
            <a:endParaRPr lang="ja-JP" sz="3600" b="1" altLang="en-US">
              <a:latin typeface="Noto Sans"/>
              <a:ea typeface="Noto Sans CJK JP"/>
              <a:cs typeface="Noto Sans"/>
            </a:endParaRPr>
          </a:p>
        </p:txBody>
      </p:sp>
      <p:sp>
        <p:nvSpPr>
          <p:cNvPr id="36" name="Google Shape;36;p7"/>
          <p:cNvSpPr txBox="1">
            <a:spLocks noGrp="1"/>
          </p:cNvSpPr>
          <p:nvPr>
            <p:ph type="title" idx="2"/>
          </p:nvPr>
        </p:nvSpPr>
        <p:spPr>
          <a:xfrm>
            <a:off x="76100" y="0"/>
            <a:ext cx="81153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dirty="0"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本文のみ">
  <p:cSld name="ONE_COLUMN_TEXT_1_3">
    <p:spTree>
      <p:nvGrpSpPr>
        <p:cNvPr id="1" name="Shape 37"/>
        <p:cNvGrpSpPr/>
        <p:nvPr/>
      </p:nvGrpSpPr>
      <p:grpSpPr>
        <a:xfrm>
          <a:off x="0" y="0"/>
          <a:ext cx="0" cy="0"/>
          <a:chOff x="0" y="0"/>
          <a:chExt cx="0" cy="0"/>
        </a:xfrm>
      </p:grpSpPr>
      <p:sp>
        <p:nvSpPr>
          <p:cNvPr id="38" name="Google Shape;38;p8"/>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40" name="Google Shape;40;p8"/>
          <p:cNvSpPr txBox="1">
            <a:spLocks noGrp="1"/>
          </p:cNvSpPr>
          <p:nvPr>
            <p:ph type="body" idx="1"/>
          </p:nvPr>
        </p:nvSpPr>
        <p:spPr>
          <a:xfrm>
            <a:off x="589650" y="1185250"/>
            <a:ext cx="7964700" cy="3272100"/>
          </a:xfrm>
          <a:prstGeom prst="rect">
            <a:avLst/>
          </a:prstGeom>
        </p:spPr>
        <p:txBody>
          <a:bodyPr spcFirstLastPara="1" wrap="square" lIns="91425" tIns="91425" rIns="91425" bIns="91425" anchor="t"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a:latin typeface="Noto Sans"/>
              <a:ea typeface="Noto Sans CJK JP"/>
              <a:cs typeface="Noto Sans"/>
            </a:endParaRPr>
          </a:p>
        </p:txBody>
      </p:sp>
      <p:sp>
        <p:nvSpPr>
          <p:cNvPr id="41" name="Google Shape;41;p8"/>
          <p:cNvSpPr txBox="1">
            <a:spLocks noGrp="1"/>
          </p:cNvSpPr>
          <p:nvPr>
            <p:ph type="title"/>
          </p:nvPr>
        </p:nvSpPr>
        <p:spPr>
          <a:xfrm>
            <a:off x="76100" y="0"/>
            <a:ext cx="80595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dirty="0"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ヘッダーのみ">
  <p:cSld name="ONE_COLUMN_TEXT_1_1">
    <p:spTree>
      <p:nvGrpSpPr>
        <p:cNvPr id="1" name="Shape 42"/>
        <p:cNvGrpSpPr/>
        <p:nvPr/>
      </p:nvGrpSpPr>
      <p:grpSpPr>
        <a:xfrm>
          <a:off x="0" y="0"/>
          <a:ext cx="0" cy="0"/>
          <a:chOff x="0" y="0"/>
          <a:chExt cx="0" cy="0"/>
        </a:xfrm>
      </p:grpSpPr>
      <p:sp>
        <p:nvSpPr>
          <p:cNvPr id="43" name="Google Shape;43;p9"/>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45" name="Google Shape;45;p9"/>
          <p:cNvSpPr txBox="1">
            <a:spLocks noGrp="1"/>
          </p:cNvSpPr>
          <p:nvPr>
            <p:ph type="title"/>
          </p:nvPr>
        </p:nvSpPr>
        <p:spPr>
          <a:xfrm>
            <a:off x="76100" y="0"/>
            <a:ext cx="81489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dirty="0"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HART_AND_EXPLANATION">
    <p:spTree>
      <p:nvGrpSpPr>
        <p:cNvPr id="1" name=""/>
        <p:cNvGrpSpPr/>
        <p:nvPr/>
      </p:nvGrpSpPr>
      <p:grpSpPr>
        <a:xfrm>
          <a:off x="0" y="0"/>
          <a:ext cx="0" cy="0"/>
          <a:chOff x="0" y="0"/>
          <a:chExt cx="0" cy="0"/>
        </a:xfrm>
      </p:grpSpPr>
      <p:sp>
        <p:nvSpPr>
          <p:cNvPr id="2" name="Header band"/>
          <p:cNvSpPr txBox="1"/>
          <p:nvPr userDrawn="1"/>
        </p:nvSpPr>
        <p:spPr>
          <a:xfrm>
            <a:off x="0" y="0"/>
            <a:ext cx="9144000" cy="480059"/>
          </a:xfrm>
          <a:prstGeom prst="rect">
            <a:avLst/>
          </a:prstGeom>
          <a:solidFill>
            <a:schemeClr val="accent2"/>
          </a:solidFill>
          <a:ln>
            <a:noFill/>
          </a:ln>
        </p:spPr>
        <p:txBody>
          <a:bodyPr wrap="square" anchor="ctr" tIns="0" bIns="0"/>
          <a:lstStyle/>
          <a:p>
            <a:pPr algn="l">
              <a:lnSpc>
                <a:spcPct val="100000"/>
              </a:lnSpc>
              <a:spcBef>
                <a:spcPts val="0"/>
              </a:spcBef>
              <a:spcAft>
                <a:spcPts val="0"/>
              </a:spcAft>
            </a:pPr>
            <a:endParaRPr lang="ja-JP" dirty="0">
              <a:latin typeface="Noto Sans"/>
              <a:ea typeface="Noto Sans CJK JP"/>
              <a:cs typeface="Noto Sans"/>
            </a:endParaRPr>
          </a:p>
        </p:txBody>
      </p:sp>
      <p:sp>
        <p:nvSpPr>
          <p:cNvPr id="4" name="Chart Placeholder"/>
          <p:cNvSpPr txBox="1">
            <a:spLocks noGrp="1"/>
          </p:cNvSpPr>
          <p:nvPr>
            <p:ph idx="1"/>
          </p:nvPr>
        </p:nvSpPr>
        <p:spPr>
          <a:xfrm>
            <a:off x="456520" y="1250000"/>
            <a:ext cx="5715000" cy="3000000"/>
          </a:xfrm>
          <a:prstGeom prst="rect">
            <a:avLst/>
          </a:prstGeom>
          <a:solidFill>
            <a:schemeClr val="lt2"/>
          </a:solidFill>
          <a:ln>
            <a:noFill/>
          </a:ln>
        </p:spPr>
        <p:txBody>
          <a:bodyPr wrap="square"/>
          <a:lstStyle/>
          <a:p>
            <a:r>
              <a:rPr lang="ja-JP" sz="1800" b="0">
                <a:solidFill>
                  <a:schemeClr val="dk2"/>
                </a:solidFill>
                <a:latin typeface="Noto Sans"/>
                <a:ea typeface="Noto Sans CJK JP"/>
                <a:cs typeface="Noto Sans"/>
              </a:rPr>
              <a:t>Insert chart</a:t>
            </a:r>
            <a:endParaRPr lang="ja-JP">
              <a:latin typeface="Noto Sans"/>
              <a:ea typeface="Noto Sans CJK JP"/>
              <a:cs typeface="Noto Sans"/>
            </a:endParaRPr>
          </a:p>
        </p:txBody>
      </p:sp>
      <p:sp>
        <p:nvSpPr>
          <p:cNvPr id="5" name="Explanation Placeholder"/>
          <p:cNvSpPr txBox="1">
            <a:spLocks noGrp="1"/>
          </p:cNvSpPr>
          <p:nvPr>
            <p:ph type="body" idx="2"/>
          </p:nvPr>
        </p:nvSpPr>
        <p:spPr>
          <a:xfrm>
            <a:off x="6295292" y="1550000"/>
            <a:ext cx="2500000" cy="2400000"/>
          </a:xfrm>
          <a:prstGeom prst="rect">
            <a:avLst/>
          </a:prstGeom>
          <a:noFill/>
          <a:ln>
            <a:noFill/>
          </a:ln>
        </p:spPr>
        <p:txBody>
          <a:bodyPr wrap="square" lIns="91425" rIns="91425" tIns="91425" bIns="91425"/>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dirty="0">
              <a:latin typeface="Noto Sans"/>
              <a:ea typeface="Noto Sans CJK JP"/>
              <a:cs typeface="Noto Sans"/>
            </a:endParaRPr>
          </a:p>
        </p:txBody>
      </p:sp>
      <p:sp>
        <p:nvSpPr>
          <p:cNvPr id="6" name="Supporting Text Placeholder"/>
          <p:cNvSpPr txBox="1">
            <a:spLocks noGrp="1"/>
          </p:cNvSpPr>
          <p:nvPr>
            <p:ph type="body" idx="3"/>
          </p:nvPr>
        </p:nvSpPr>
        <p:spPr>
          <a:xfrm>
            <a:off x="500000" y="4650000"/>
            <a:ext cx="8144000" cy="260000"/>
          </a:xfrm>
          <a:prstGeom prst="rect">
            <a:avLst/>
          </a:prstGeom>
          <a:noFill/>
          <a:ln>
            <a:noFill/>
          </a:ln>
        </p:spPr>
        <p:txBody>
          <a:bodyPr wrap="square" lIns="91425" rIns="91425" tIns="91425" bIns="91425"/>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dirty="0">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
        <p:nvSpPr>
          <p:cNvPr id="9" name="タイトル 8">
            <a:extLst>
              <a:ext uri="{FF2B5EF4-FFF2-40B4-BE49-F238E27FC236}">
                <a16:creationId xmlns:a16="http://schemas.microsoft.com/office/drawing/2014/main" id="{25C0E310-B322-8587-531C-0E2F5BB13C5E}"/>
              </a:ext>
            </a:extLst>
          </p:cNvPr>
          <p:cNvSpPr>
            <a:spLocks noGrp="1"/>
          </p:cNvSpPr>
          <p:nvPr>
            <p:ph type="title"/>
          </p:nvPr>
        </p:nvSpPr>
        <p:spPr/>
        <p:txBody>
          <a:bodyPr/>
          <a:lstStyle/>
          <a:p>
            <a:endParaRPr kumimoji="1" lang="ja-JP" altLang="en-US">
              <a:latin typeface="Noto Sans"/>
              <a:ea typeface="Noto Sans CJK JP"/>
              <a:cs typeface="Noto San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ページ番号のみ 1">
  <p:cSld name="ONE_COLUMN_TEXT_1_2_1">
    <p:spTree>
      <p:nvGrpSpPr>
        <p:cNvPr id="1" name="Shape 93"/>
        <p:cNvGrpSpPr/>
        <p:nvPr/>
      </p:nvGrpSpPr>
      <p:grpSpPr>
        <a:xfrm>
          <a:off x="0" y="0"/>
          <a:ext cx="0" cy="0"/>
          <a:chOff x="0" y="0"/>
          <a:chExt cx="0" cy="0"/>
        </a:xfrm>
      </p:grpSpPr>
      <p:sp>
        <p:nvSpPr>
          <p:cNvPr id="96" name="Google Shape;96;p13"/>
          <p:cNvSpPr txBox="1">
            <a:spLocks noGrp="1"/>
          </p:cNvSpPr>
          <p:nvPr>
            <p:ph type="title"/>
          </p:nvPr>
        </p:nvSpPr>
        <p:spPr>
          <a:xfrm>
            <a:off x="5796650" y="4091225"/>
            <a:ext cx="3347400" cy="1052400"/>
          </a:xfrm>
          <a:prstGeom prst="rect">
            <a:avLst/>
          </a:prstGeom>
          <a:solidFill>
            <a:schemeClr val="accent2"/>
          </a:solidFill>
        </p:spPr>
        <p:txBody>
          <a:bodyPr spcFirstLastPara="1" wrap="square" lIns="126000" tIns="126000" rIns="91425" bIns="91425" anchor="ctr" anchorCtr="0">
            <a:normAutofit/>
          </a:bodyPr>
          <a:lstStyle>
            <a:lvl1pPr lvl="0" algn="ctr">
              <a:spcBef>
                <a:spcPts val="0"/>
              </a:spcBef>
              <a:spcAft>
                <a:spcPts val="0"/>
              </a:spcAft>
              <a:buClr>
                <a:schemeClr val="lt1"/>
              </a:buClr>
              <a:buNone/>
              <a:defRPr b="1" lang="ja-JP">
                <a:solidFill>
                  <a:schemeClr val="lt1"/>
                </a:solidFill>
                <a:latin typeface="Noto Sans"/>
                <a:ea typeface="Noto Sans CJK JP"/>
                <a:cs typeface="Noto Sans"/>
              </a:defRPr>
            </a:lvl1pPr>
            <a:lvl2pPr lvl="1">
              <a:spcBef>
                <a:spcPts val="0"/>
              </a:spcBef>
              <a:spcAft>
                <a:spcPts val="0"/>
              </a:spcAft>
              <a:buClr>
                <a:schemeClr val="lt1"/>
              </a:buClr>
              <a:buNone/>
              <a:defRPr sz="3200" b="1" lang="ja-JP">
                <a:solidFill>
                  <a:schemeClr val="lt1"/>
                </a:solidFill>
                <a:latin typeface="Noto Sans"/>
                <a:ea typeface="Noto Sans CJK JP"/>
                <a:cs typeface="Noto Sans"/>
              </a:defRPr>
            </a:lvl2pPr>
            <a:lvl3pPr lvl="2">
              <a:spcBef>
                <a:spcPts val="0"/>
              </a:spcBef>
              <a:spcAft>
                <a:spcPts val="0"/>
              </a:spcAft>
              <a:buClr>
                <a:schemeClr val="lt1"/>
              </a:buClr>
              <a:buNone/>
              <a:defRPr sz="3200" b="1" lang="ja-JP">
                <a:solidFill>
                  <a:schemeClr val="lt1"/>
                </a:solidFill>
                <a:latin typeface="Noto Sans"/>
                <a:ea typeface="Noto Sans CJK JP"/>
                <a:cs typeface="Noto Sans"/>
              </a:defRPr>
            </a:lvl3pPr>
            <a:lvl4pPr lvl="3">
              <a:spcBef>
                <a:spcPts val="0"/>
              </a:spcBef>
              <a:spcAft>
                <a:spcPts val="0"/>
              </a:spcAft>
              <a:buClr>
                <a:schemeClr val="lt1"/>
              </a:buClr>
              <a:buNone/>
              <a:defRPr sz="3200" b="1" lang="ja-JP">
                <a:solidFill>
                  <a:schemeClr val="lt1"/>
                </a:solidFill>
                <a:latin typeface="Noto Sans"/>
                <a:ea typeface="Noto Sans CJK JP"/>
                <a:cs typeface="Noto Sans"/>
              </a:defRPr>
            </a:lvl4pPr>
            <a:lvl5pPr lvl="4">
              <a:spcBef>
                <a:spcPts val="0"/>
              </a:spcBef>
              <a:spcAft>
                <a:spcPts val="0"/>
              </a:spcAft>
              <a:buClr>
                <a:schemeClr val="lt1"/>
              </a:buClr>
              <a:buNone/>
              <a:defRPr sz="3200" b="1" lang="ja-JP">
                <a:solidFill>
                  <a:schemeClr val="lt1"/>
                </a:solidFill>
                <a:latin typeface="Noto Sans"/>
                <a:ea typeface="Noto Sans CJK JP"/>
                <a:cs typeface="Noto Sans"/>
              </a:defRPr>
            </a:lvl5pPr>
            <a:lvl6pPr lvl="5">
              <a:spcBef>
                <a:spcPts val="0"/>
              </a:spcBef>
              <a:spcAft>
                <a:spcPts val="0"/>
              </a:spcAft>
              <a:buClr>
                <a:schemeClr val="lt1"/>
              </a:buClr>
              <a:buNone/>
              <a:defRPr sz="3200" b="1" lang="ja-JP">
                <a:solidFill>
                  <a:schemeClr val="lt1"/>
                </a:solidFill>
                <a:latin typeface="Noto Sans"/>
                <a:ea typeface="Noto Sans CJK JP"/>
                <a:cs typeface="Noto Sans"/>
              </a:defRPr>
            </a:lvl6pPr>
            <a:lvl7pPr lvl="6">
              <a:spcBef>
                <a:spcPts val="0"/>
              </a:spcBef>
              <a:spcAft>
                <a:spcPts val="0"/>
              </a:spcAft>
              <a:buClr>
                <a:schemeClr val="lt1"/>
              </a:buClr>
              <a:buNone/>
              <a:defRPr sz="3200" b="1" lang="ja-JP">
                <a:solidFill>
                  <a:schemeClr val="lt1"/>
                </a:solidFill>
                <a:latin typeface="Noto Sans"/>
                <a:ea typeface="Noto Sans CJK JP"/>
                <a:cs typeface="Noto Sans"/>
              </a:defRPr>
            </a:lvl7pPr>
            <a:lvl8pPr lvl="7">
              <a:spcBef>
                <a:spcPts val="0"/>
              </a:spcBef>
              <a:spcAft>
                <a:spcPts val="0"/>
              </a:spcAft>
              <a:buClr>
                <a:schemeClr val="lt1"/>
              </a:buClr>
              <a:buNone/>
              <a:defRPr sz="3200" b="1" lang="ja-JP">
                <a:solidFill>
                  <a:schemeClr val="lt1"/>
                </a:solidFill>
                <a:latin typeface="Noto Sans"/>
                <a:ea typeface="Noto Sans CJK JP"/>
                <a:cs typeface="Noto Sans"/>
              </a:defRPr>
            </a:lvl8pPr>
            <a:lvl9pPr lvl="8">
              <a:spcBef>
                <a:spcPts val="0"/>
              </a:spcBef>
              <a:spcAft>
                <a:spcPts val="0"/>
              </a:spcAft>
              <a:buClr>
                <a:schemeClr val="lt1"/>
              </a:buClr>
              <a:buNone/>
              <a:defRPr sz="3200" b="1" lang="ja-JP">
                <a:solidFill>
                  <a:schemeClr val="lt1"/>
                </a:solidFill>
                <a:latin typeface="Noto Sans"/>
                <a:ea typeface="Noto Sans CJK JP"/>
                <a:cs typeface="Noto Sans"/>
              </a:defRPr>
            </a:lvl9pPr>
          </a:lstStyle>
          <a:p>
            <a:endParaRPr dirty="0" lang="ja-JP">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dk2"/>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None/>
              <a:defRPr sz="2800" lang="ja-JP">
                <a:solidFill>
                  <a:schemeClr val="dk1"/>
                </a:solidFill>
                <a:latin typeface="Noto Sans"/>
                <a:ea typeface="Noto Sans CJK JP"/>
                <a:cs typeface="Noto Sans"/>
              </a:defRPr>
            </a:lvl1pPr>
            <a:lvl2pPr lvl="1">
              <a:spcBef>
                <a:spcPts val="0"/>
              </a:spcBef>
              <a:spcAft>
                <a:spcPts val="0"/>
              </a:spcAft>
              <a:buClr>
                <a:schemeClr val="dk1"/>
              </a:buClr>
              <a:buNone/>
              <a:defRPr sz="2800" lang="ja-JP">
                <a:solidFill>
                  <a:schemeClr val="dk1"/>
                </a:solidFill>
                <a:latin typeface="Noto Sans"/>
                <a:ea typeface="Noto Sans CJK JP"/>
                <a:cs typeface="Noto Sans"/>
              </a:defRPr>
            </a:lvl2pPr>
            <a:lvl3pPr lvl="2">
              <a:spcBef>
                <a:spcPts val="0"/>
              </a:spcBef>
              <a:spcAft>
                <a:spcPts val="0"/>
              </a:spcAft>
              <a:buClr>
                <a:schemeClr val="dk1"/>
              </a:buClr>
              <a:buNone/>
              <a:defRPr sz="2800" lang="ja-JP">
                <a:solidFill>
                  <a:schemeClr val="dk1"/>
                </a:solidFill>
                <a:latin typeface="Noto Sans"/>
                <a:ea typeface="Noto Sans CJK JP"/>
                <a:cs typeface="Noto Sans"/>
              </a:defRPr>
            </a:lvl3pPr>
            <a:lvl4pPr lvl="3">
              <a:spcBef>
                <a:spcPts val="0"/>
              </a:spcBef>
              <a:spcAft>
                <a:spcPts val="0"/>
              </a:spcAft>
              <a:buClr>
                <a:schemeClr val="dk1"/>
              </a:buClr>
              <a:buNone/>
              <a:defRPr sz="2800" lang="ja-JP">
                <a:solidFill>
                  <a:schemeClr val="dk1"/>
                </a:solidFill>
                <a:latin typeface="Noto Sans"/>
                <a:ea typeface="Noto Sans CJK JP"/>
                <a:cs typeface="Noto Sans"/>
              </a:defRPr>
            </a:lvl4pPr>
            <a:lvl5pPr lvl="4">
              <a:spcBef>
                <a:spcPts val="0"/>
              </a:spcBef>
              <a:spcAft>
                <a:spcPts val="0"/>
              </a:spcAft>
              <a:buClr>
                <a:schemeClr val="dk1"/>
              </a:buClr>
              <a:buNone/>
              <a:defRPr sz="2800" lang="ja-JP">
                <a:solidFill>
                  <a:schemeClr val="dk1"/>
                </a:solidFill>
                <a:latin typeface="Noto Sans"/>
                <a:ea typeface="Noto Sans CJK JP"/>
                <a:cs typeface="Noto Sans"/>
              </a:defRPr>
            </a:lvl5pPr>
            <a:lvl6pPr lvl="5">
              <a:spcBef>
                <a:spcPts val="0"/>
              </a:spcBef>
              <a:spcAft>
                <a:spcPts val="0"/>
              </a:spcAft>
              <a:buClr>
                <a:schemeClr val="dk1"/>
              </a:buClr>
              <a:buNone/>
              <a:defRPr sz="2800" lang="ja-JP">
                <a:solidFill>
                  <a:schemeClr val="dk1"/>
                </a:solidFill>
                <a:latin typeface="Noto Sans"/>
                <a:ea typeface="Noto Sans CJK JP"/>
                <a:cs typeface="Noto Sans"/>
              </a:defRPr>
            </a:lvl6pPr>
            <a:lvl7pPr lvl="6">
              <a:spcBef>
                <a:spcPts val="0"/>
              </a:spcBef>
              <a:spcAft>
                <a:spcPts val="0"/>
              </a:spcAft>
              <a:buClr>
                <a:schemeClr val="dk1"/>
              </a:buClr>
              <a:buNone/>
              <a:defRPr sz="2800" lang="ja-JP">
                <a:solidFill>
                  <a:schemeClr val="dk1"/>
                </a:solidFill>
                <a:latin typeface="Noto Sans"/>
                <a:ea typeface="Noto Sans CJK JP"/>
                <a:cs typeface="Noto Sans"/>
              </a:defRPr>
            </a:lvl7pPr>
            <a:lvl8pPr lvl="7">
              <a:spcBef>
                <a:spcPts val="0"/>
              </a:spcBef>
              <a:spcAft>
                <a:spcPts val="0"/>
              </a:spcAft>
              <a:buClr>
                <a:schemeClr val="dk1"/>
              </a:buClr>
              <a:buNone/>
              <a:defRPr sz="2800" lang="ja-JP">
                <a:solidFill>
                  <a:schemeClr val="dk1"/>
                </a:solidFill>
                <a:latin typeface="Noto Sans"/>
                <a:ea typeface="Noto Sans CJK JP"/>
                <a:cs typeface="Noto Sans"/>
              </a:defRPr>
            </a:lvl8pPr>
            <a:lvl9pPr lvl="8">
              <a:spcBef>
                <a:spcPts val="0"/>
              </a:spcBef>
              <a:spcAft>
                <a:spcPts val="0"/>
              </a:spcAft>
              <a:buClr>
                <a:schemeClr val="dk1"/>
              </a:buClr>
              <a:buNone/>
              <a:defRPr sz="2800" lang="ja-JP">
                <a:solidFill>
                  <a:schemeClr val="dk1"/>
                </a:solidFill>
                <a:latin typeface="Noto Sans"/>
                <a:ea typeface="Noto Sans CJK JP"/>
                <a:cs typeface="Noto Sans"/>
              </a:defRPr>
            </a:lvl9pPr>
          </a:lstStyle>
          <a:p>
            <a:endParaRPr lang="ja-JP">
              <a:latin typeface="Noto Sans"/>
              <a:ea typeface="Noto Sans CJK JP"/>
              <a:cs typeface="Noto Sans"/>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203200" lvl="0" indent="-152400">
              <a:lnSpc>
                <a:spcPct val="115000"/>
              </a:lnSpc>
              <a:spcBef>
                <a:spcPts val="0"/>
              </a:spcBef>
              <a:spcAft>
                <a:spcPts val="0"/>
              </a:spcAft>
              <a:buClr>
                <a:schemeClr val="dk2"/>
              </a:buClr>
              <a:buSzPct val="73889"/>
              <a:buFont typeface="Noto Sans CJK JP"/>
              <a:buChar char="●"/>
              <a:defRPr sz="1800" lang="ja-JP">
                <a:solidFill>
                  <a:schemeClr val="dk2"/>
                </a:solidFill>
                <a:latin typeface="Noto Sans"/>
                <a:ea typeface="Noto Sans CJK JP"/>
                <a:cs typeface="Noto Sans"/>
              </a:defRPr>
            </a:lvl1pPr>
            <a:lvl2pPr marL="482600" lvl="1"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2pPr>
            <a:lvl3pPr marL="762000" lvl="2"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3pPr>
            <a:lvl4pPr marL="1041400" lvl="3"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4pPr>
            <a:lvl5pPr marL="1320800" lvl="4"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5pPr>
            <a:lvl6pPr marL="1600200" lvl="5"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6pPr>
            <a:lvl7pPr marL="1879600" lvl="6"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7pPr>
            <a:lvl8pPr marL="2159000" lvl="7"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8pPr>
            <a:lvl9pPr marL="2438400" lvl="8"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9pPr>
          </a:lstStyle>
          <a:p>
            <a:endParaRPr lang="ja-JP">
              <a:latin typeface="Noto Sans"/>
              <a:ea typeface="Noto Sans CJK JP"/>
              <a:cs typeface="Noto Sans"/>
            </a:endParaRPr>
          </a:p>
        </p:txBody>
      </p:sp>
      <p:sp>
        <p:nvSpPr>
          <p:cNvPr id="8" name="Google Shape;8;p1"/>
          <p:cNvSpPr txBox="1">
            <a:spLocks noGrp="1"/>
          </p:cNvSpPr>
          <p:nvPr>
            <p:ph type="sldNum" idx="12"/>
          </p:nvPr>
        </p:nvSpPr>
        <p:spPr>
          <a:xfrm>
            <a:off x="8412480" y="7937"/>
            <a:ext cx="640080" cy="480059"/>
          </a:xfrm>
          <a:prstGeom prst="rect">
            <a:avLst/>
          </a:prstGeom>
          <a:noFill/>
          <a:ln>
            <a:noFill/>
          </a:ln>
        </p:spPr>
        <p:txBody>
          <a:bodyPr spcFirstLastPara="1" wrap="square" lIns="0" tIns="0" bIns="0" anchor="ctr" anchorCtr="0">
            <a:normAutofit/>
          </a:bodyPr>
          <a:lstStyle>
            <a:lvl1pPr lvl="0" algn="r">
              <a:buNone/>
              <a:defRPr sz="1000" lang="ja-JP">
                <a:solidFill>
                  <a:schemeClr val="dk2"/>
                </a:solidFill>
                <a:latin typeface="Noto Sans"/>
                <a:ea typeface="Noto Sans CJK JP"/>
                <a:cs typeface="Noto Sans"/>
              </a:defRPr>
            </a:lvl1pPr>
            <a:lvl2pPr lvl="1" algn="r">
              <a:buNone/>
              <a:defRPr sz="1000" lang="ja-JP">
                <a:solidFill>
                  <a:schemeClr val="dk2"/>
                </a:solidFill>
                <a:latin typeface="Noto Sans"/>
                <a:ea typeface="Noto Sans CJK JP"/>
                <a:cs typeface="Noto Sans"/>
              </a:defRPr>
            </a:lvl2pPr>
            <a:lvl3pPr lvl="2" algn="r">
              <a:buNone/>
              <a:defRPr sz="1000" lang="ja-JP">
                <a:solidFill>
                  <a:schemeClr val="dk2"/>
                </a:solidFill>
                <a:latin typeface="Noto Sans"/>
                <a:ea typeface="Noto Sans CJK JP"/>
                <a:cs typeface="Noto Sans"/>
              </a:defRPr>
            </a:lvl3pPr>
            <a:lvl4pPr lvl="3" algn="r">
              <a:buNone/>
              <a:defRPr sz="1000" lang="ja-JP">
                <a:solidFill>
                  <a:schemeClr val="dk2"/>
                </a:solidFill>
                <a:latin typeface="Noto Sans"/>
                <a:ea typeface="Noto Sans CJK JP"/>
                <a:cs typeface="Noto Sans"/>
              </a:defRPr>
            </a:lvl4pPr>
            <a:lvl5pPr lvl="4" algn="r">
              <a:buNone/>
              <a:defRPr sz="1000" lang="ja-JP">
                <a:solidFill>
                  <a:schemeClr val="dk2"/>
                </a:solidFill>
                <a:latin typeface="Noto Sans"/>
                <a:ea typeface="Noto Sans CJK JP"/>
                <a:cs typeface="Noto Sans"/>
              </a:defRPr>
            </a:lvl5pPr>
            <a:lvl6pPr lvl="5" algn="r">
              <a:buNone/>
              <a:defRPr sz="1000" lang="ja-JP">
                <a:solidFill>
                  <a:schemeClr val="dk2"/>
                </a:solidFill>
                <a:latin typeface="Noto Sans"/>
                <a:ea typeface="Noto Sans CJK JP"/>
                <a:cs typeface="Noto Sans"/>
              </a:defRPr>
            </a:lvl6pPr>
            <a:lvl7pPr lvl="6" algn="r">
              <a:buNone/>
              <a:defRPr sz="1000" lang="ja-JP">
                <a:solidFill>
                  <a:schemeClr val="dk2"/>
                </a:solidFill>
                <a:latin typeface="Noto Sans"/>
                <a:ea typeface="Noto Sans CJK JP"/>
                <a:cs typeface="Noto Sans"/>
              </a:defRPr>
            </a:lvl7pPr>
            <a:lvl8pPr lvl="7" algn="r">
              <a:buNone/>
              <a:defRPr sz="1000" lang="ja-JP">
                <a:solidFill>
                  <a:schemeClr val="dk2"/>
                </a:solidFill>
                <a:latin typeface="Noto Sans"/>
                <a:ea typeface="Noto Sans CJK JP"/>
                <a:cs typeface="Noto Sans"/>
              </a:defRPr>
            </a:lvl8pPr>
            <a:lvl9pPr lvl="8" algn="r">
              <a:buNone/>
              <a:defRPr sz="1000" lang="ja-JP">
                <a:solidFill>
                  <a:schemeClr val="dk2"/>
                </a:solidFill>
                <a:latin typeface="Noto Sans"/>
                <a:ea typeface="Noto Sans CJK JP"/>
                <a:cs typeface="Noto Sans"/>
              </a:defRPr>
            </a:lvl9pPr>
          </a:lstStyle>
          <a:p>
            <a:pPr marL="0" lvl="0" indent="0" algn="r" rtl="0">
              <a:lnSpc>
                <a:spcPct val="100000"/>
              </a:lnSpc>
              <a:spcBef>
                <a:spcPts val="0"/>
              </a:spcBef>
              <a:spcAft>
                <a:spcPts val="0"/>
              </a:spcAft>
              <a:buNone/>
            </a:pPr>
            <a:fld id="{00000000-1234-1234-1234-123412341234}" type="slidenum">
              <a:rPr lang="ja-JP">
                <a:latin typeface="Noto Sans"/>
                <a:ea typeface="Noto Sans CJK JP"/>
                <a:cs typeface="Noto Sans"/>
              </a:rPr>
              <a:t>‹#›</a:t>
            </a:fld>
            <a:endParaRPr lang="ja-JP">
              <a:latin typeface="Noto Sans"/>
              <a:ea typeface="Noto Sans CJK JP"/>
              <a:cs typeface="Noto Sans"/>
            </a:endParaRPr>
          </a:p>
        </p:txBody>
      </p:sp>
    </p:spTree>
  </p:cSld>
  <p:clrMap bg1="lt1" tx1="dk1" bg2="dk2" tx2="lt2" accent1="accent1" accent2="accent2" accent3="accent3" accent4="accent4" accent5="accent5" accent6="accent6" hlink="hlink" folHlink="folHlink"/>
  <p:sldLayoutIdLst>
    <p:sldLayoutId id="2147483648" r:id="rId1"/>
    <p:sldLayoutId id="2147483657" r:id="rId2"/>
    <p:sldLayoutId id="2147483651" r:id="rId3"/>
    <p:sldLayoutId id="2147483652" r:id="rId4"/>
    <p:sldLayoutId id="2147483653" r:id="rId5"/>
    <p:sldLayoutId id="2147483654" r:id="rId6"/>
    <p:sldLayoutId id="2147483655" r:id="rId7"/>
    <p:sldLayoutId id="2147483658" r:id="rId8"/>
    <p:sldLayoutId id="2147483659" r:id="rId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1pPr>
      <a:lvl2pPr marR="0" lvl="1"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2pPr>
      <a:lvl3pPr marR="0" lvl="2"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3pPr>
      <a:lvl4pPr marR="0" lvl="3"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4pPr>
      <a:lvl5pPr marR="0" lvl="4"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5pPr>
      <a:lvl6pPr marR="0" lvl="5"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6pPr>
      <a:lvl7pPr marR="0" lvl="6"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7pPr>
      <a:lvl8pPr marR="0" lvl="7"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8pPr>
      <a:lvl9pPr marR="0" lvl="8"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9pPr>
    </p:titleStyle>
    <p:body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1pPr>
      <a:lvl2pPr marR="0" lvl="1"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2pPr>
      <a:lvl3pPr marR="0" lvl="2"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3pPr>
      <a:lvl4pPr marR="0" lvl="3"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4pPr>
      <a:lvl5pPr marR="0" lvl="4"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5pPr>
      <a:lvl6pPr marR="0" lvl="5"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6pPr>
      <a:lvl7pPr marR="0" lvl="6"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7pPr>
      <a:lvl8pPr marR="0" lvl="7"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8pPr>
      <a:lvl9pPr marR="0" lvl="8"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png"/><Relationship Id="rId3" Type="http://schemas.openxmlformats.org/officeDocument/2006/relationships/hyperlink" Target="https://github.com/thu-coai/CrossWOZ" TargetMode="Externa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clanthology.org/2020.tacl-1.19/"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thu-coai/CrossWOZ/tree/df82c9fdff91b9b130f2d6b89110d3870ba6260e/data/crosswoz"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thu-coai/CrossWOZ/tree/df82c9fdff91b9b130f2d6b89110d3870ba6260e/data/crosswoz"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clanthology.org/2020.tacl-1.19/"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thu-coai/CrossWOZ/tree/df82c9fdff91b9b130f2d6b89110d3870ba6260e/data/crosswoz"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thu-coai/CrossWOZ/tree/df82c9fdff91b9b130f2d6b89110d3870ba6260e/data/crosswoz"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thu-coai/CrossWOZ/tree/df82c9fdff91b9b130f2d6b89110d3870ba6260e/data/crosswoz"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thu-coai/CrossWOZ/tree/df82c9fdff91b9b130f2d6b89110d3870ba6260e/data/crosswoz"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thu-coai/CrossWOZ/tree/df82c9fdff91b9b130f2d6b89110d3870ba6260e/data/crosswoz"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thu-coai/CrossWOZ/tree/df82c9fdff91b9b130f2d6b89110d3870ba6260e/data/crosswoz/database"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thu-coai/CrossWOZ/tree/df82c9fdff91b9b130f2d6b89110d3870ba6260e/data/crosswoz"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clanthology.org/2020.tacl-1.19/"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thu-coai/CrossWOZ/tree/df82c9fdff91b9b130f2d6b89110d3870ba6260e/data/crosswoz/database"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clanthology.org/2020.tacl-1.19/"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thu-coai/CrossWOZ"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clanthology.org/2020.tacl-1.19/"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clanthology.org/2020.tacl-1.19/"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clanthology.org/2020.tacl-1.19/"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chart" Target="../charts/chart1.xml"/><Relationship Id="rId3" Type="http://schemas.openxmlformats.org/officeDocument/2006/relationships/hyperlink" Target="https://github.com/thu-coai/CrossWOZ/blob/df82c9fdff91b9b130f2d6b89110d3870ba6260e/convlab2/dst/rule/crosswoz/evaluate.py"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clanthology.org/2020.tacl-1.19/"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thu-coai/CrossWOZ/blob/df82c9fdff91b9b130f2d6b89110d3870ba6260e/convlab2/dst/rule/crosswoz/evaluate.py"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clanthology.org/2020.tacl-1.19/"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clanthology.org/2020.tacl-1.19/"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stanford-crfm/helm/blob/v0.4.0/src/helm/benchmark/scenarios/cleva_scenario.py"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thu-coai/CrossWOZ/tree/df82c9fdff91b9b130f2d6b89110d3870ba6260e/data/crosswoz" TargetMode="External"/><Relationship Id="rId3" Type="http://schemas.openxmlformats.org/officeDocument/2006/relationships/hyperlink" Target="https://github.com/stanford-crfm/helm/blob/v0.4.0/src/helm/benchmark/scenarios/cleva_scenario.py"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thu-coai/CrossWOZ" TargetMode="External"/><Relationship Id="rId3" Type="http://schemas.openxmlformats.org/officeDocument/2006/relationships/hyperlink" Target="https://datasets-in-10-minutes.sasakiy84.net/assets/crosswoz-notices.zip"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clanthology.org/2020.tacl-1.19/"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thu-coai/CrossWOZ/tree/df82c9fdff91b9b130f2d6b89110d3870ba6260e/data/crosswoz"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thu-coai/CrossWOZ/tree/df82c9fdff91b9b130f2d6b89110d3870ba6260e/data/crosswoz"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thu-coai/CrossWOZ/tree/df82c9fdff91b9b130f2d6b89110d3870ba6260e/data/crosswoz"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thu-coai/CrossWOZ/tree/df82c9fdff91b9b130f2d6b89110d3870ba6260e/data/crosswoz"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thu-coai/CrossWOZ/tree/df82c9fdff91b9b130f2d6b89110d3870ba6260e/data/crosswoz"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thu-coai/CrossWOZ/tree/df82c9fdff91b9b130f2d6b89110d3870ba6260e/data/crosswoz" TargetMode="Externa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thu-coai/CrossWOZ/tree/df82c9fdff91b9b130f2d6b89110d3870ba6260e/data/crosswoz" TargetMode="Externa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thu-coai/CrossWOZ/tree/df82c9fdff91b9b130f2d6b89110d3870ba6260e/data/crosswoz" TargetMode="Externa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thu-coai/CrossWOZ/tree/df82c9fdff91b9b130f2d6b89110d3870ba6260e/data/crosswoz" TargetMode="Externa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thu-coai/CrossWOZ/tree/df82c9fdff91b9b130f2d6b89110d3870ba6260e/data/crosswoz" TargetMode="Externa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thu-coai/CrossWOZ/tree/df82c9fdff91b9b130f2d6b89110d3870ba6260e/data/crosswoz" TargetMode="Externa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thu-coai/CrossWOZ/tree/df82c9fdff91b9b130f2d6b89110d3870ba6260e/data/crosswoz" TargetMode="Externa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thu-coai/CrossWOZ/tree/df82c9fdff91b9b130f2d6b89110d3870ba6260e/data/crosswoz" TargetMode="Externa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thu-coai/CrossWOZ/tree/df82c9fdff91b9b130f2d6b89110d3870ba6260e/data/crosswoz" TargetMode="Externa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thu-coai/CrossWOZ/tree/df82c9fdff91b9b130f2d6b89110d3870ba6260e/data/crosswoz" TargetMode="Externa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thu-coai/CrossWOZ/tree/df82c9fdff91b9b130f2d6b89110d3870ba6260e/data/crosswoz" TargetMode="Externa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thu-coai/CrossWOZ/blob/df82c9fdff91b9b130f2d6b89110d3870ba6260e/convlab2/dst/rule/crosswoz/evaluate.py" TargetMode="Externa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thu-coai/CrossWOZ/tree/df82c9fdff91b9b130f2d6b89110d3870ba6260e/data/crosswoz" TargetMode="Externa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thu-coai/CrossWOZ/tree/df82c9fdff91b9b130f2d6b89110d3870ba6260e/data/crosswoz" TargetMode="Externa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clanthology.org/2020.tacl-1.19/" TargetMode="Externa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clanthology.org/2020.tacl-1.19/" TargetMode="External"/><Relationship Id="rId3" Type="http://schemas.openxmlformats.org/officeDocument/2006/relationships/hyperlink" Target="https://github.com/thu-coai/CrossWOZ" TargetMode="Externa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clanthology.org/2023.emnlp-demo.17/" TargetMode="External"/><Relationship Id="rId3" Type="http://schemas.openxmlformats.org/officeDocument/2006/relationships/hyperlink" Target="https://github.com/stanford-crfm/helm/blob/v0.4.0/src/helm/benchmark/scenarios/cleva_scenario.py"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548640" y="1463002"/>
            <a:ext cx="8046720" cy="902970"/>
          </a:xfrm>
        </p:spPr>
        <p:txBody>
          <a:bodyPr wrap="square" lIns="0" rIns="0" tIns="0" bIns="0">
            <a:noAutofit/>
          </a:bodyPr>
          <a:lstStyle/>
          <a:p>
            <a:pPr algn="ctr">
              <a:lnSpc>
                <a:spcPct val="110000"/>
              </a:lnSpc>
              <a:buNone/>
              <a:defRPr sz="5400" b="0">
                <a:solidFill>
                  <a:srgbClr val="303437"/>
                </a:solidFill>
                <a:latin typeface="Noto Sans"/>
              </a:defRPr>
            </a:pPr>
            <a:r>
              <a:rPr sz="5400" b="1" lang="ja-JP" altLang="en-US">
                <a:solidFill>
                  <a:srgbClr val="303437"/>
                </a:solidFill>
                <a:latin typeface="Noto Sans"/>
                <a:ea typeface="Noto Sans CJK JP"/>
                <a:cs typeface="Noto Sans"/>
              </a:rPr>
              <a:t>CrossWOZ</a:t>
            </a:r>
          </a:p>
        </p:txBody>
      </p:sp>
      <p:sp>
        <p:nvSpPr>
          <p:cNvPr id="3" name="Subtitle 2"/>
          <p:cNvSpPr>
            <a:spLocks noGrp="1"/>
          </p:cNvSpPr>
          <p:nvPr>
            <p:ph type="subTitle" idx="1"/>
          </p:nvPr>
        </p:nvSpPr>
        <p:spPr>
          <a:xfrm>
            <a:off x="548640" y="2472652"/>
            <a:ext cx="8046720" cy="1339215"/>
          </a:xfrm>
        </p:spPr>
        <p:txBody>
          <a:bodyPr lIns="0" rIns="0" tIns="0" bIns="0">
            <a:noAutofit/>
          </a:bodyPr>
          <a:lstStyle/>
          <a:p>
            <a:pPr algn="ctr">
              <a:lnSpc>
                <a:spcPct val="125000"/>
              </a:lnSpc>
              <a:spcAft>
                <a:spcPts val="1200"/>
              </a:spcAft>
              <a:buNone/>
              <a:defRPr sz="2200" b="0">
                <a:solidFill>
                  <a:srgbClr val="303437"/>
                </a:solidFill>
                <a:latin typeface="Noto Sans"/>
              </a:defRPr>
            </a:pPr>
            <a:r>
              <a:rPr sz="2200" b="0" lang="ja-JP" altLang="en-US">
                <a:solidFill>
                  <a:srgbClr val="303437"/>
                </a:solidFill>
                <a:latin typeface="Noto Sans"/>
                <a:ea typeface="Noto Sans CJK JP"/>
                <a:cs typeface="Noto Sans"/>
              </a:rPr>
              <a:t>A Large-Scale Chinese Cross-Domain
Task-Oriented Dialogue Dataset</a:t>
            </a:r>
          </a:p>
          <a:p>
            <a:pPr algn="ctr">
              <a:lnSpc>
                <a:spcPct val="125000"/>
              </a:lnSpc>
              <a:spcAft>
                <a:spcPts val="0"/>
              </a:spcAft>
              <a:buNone/>
              <a:defRPr sz="2500" b="0">
                <a:solidFill>
                  <a:srgbClr val="303437"/>
                </a:solidFill>
                <a:latin typeface="Noto Sans"/>
              </a:defRPr>
            </a:pPr>
            <a:r>
              <a:rPr sz="2500" b="0" lang="ja-JP" altLang="en-US">
                <a:solidFill>
                  <a:srgbClr val="303437"/>
                </a:solidFill>
                <a:latin typeface="Noto Sans"/>
                <a:ea typeface="Noto Sans CJK JP"/>
                <a:cs typeface="Noto Sans"/>
              </a:rPr>
              <a:t>北京の旅行案内で、領域をまたぐ対話を調べる</a:t>
            </a:r>
          </a:p>
        </p:txBody>
      </p:sp>
      <p:sp>
        <p:nvSpPr>
          <p:cNvPr id="5" name="Text Placeholder 4"/>
          <p:cNvSpPr>
            <a:spLocks noGrp="1"/>
          </p:cNvSpPr>
          <p:nvPr>
            <p:ph type="body" idx="11"/>
          </p:nvPr>
        </p:nvSpPr>
        <p:spPr>
          <a:xfrm>
            <a:off x="5486400" y="4416552"/>
            <a:ext cx="3108960" cy="402336"/>
          </a:xfrm>
        </p:spPr>
        <p:txBody>
          <a:bodyPr wrap="square" lIns="0" rIns="0" tIns="0" bIns="0">
            <a:noAutofit/>
          </a:bodyPr>
          <a:lstStyle/>
          <a:p>
            <a:pPr algn="r">
              <a:lnSpc>
                <a:spcPct val="110000"/>
              </a:lnSpc>
              <a:buNone/>
              <a:defRPr sz="2000" b="0">
                <a:solidFill>
                  <a:srgbClr val="303437"/>
                </a:solidFill>
                <a:latin typeface="Noto Sans"/>
              </a:defRPr>
            </a:pPr>
            <a:r>
              <a:rPr sz="2000" b="0" lang="ja-JP" altLang="en-US">
                <a:solidFill>
                  <a:srgbClr val="303437"/>
                </a:solidFill>
                <a:latin typeface="Noto Sans"/>
                <a:ea typeface="Noto Sans CJK JP"/>
                <a:cs typeface="Noto Sans"/>
              </a:rPr>
              <a:t>sasakiy84</a:t>
            </a:r>
          </a:p>
        </p:txBody>
      </p:sp>
      <p:sp>
        <p:nvSpPr>
          <p:cNvPr id="6" name="Text Placeholder 5"/>
          <p:cNvSpPr>
            <a:spLocks noGrp="1"/>
          </p:cNvSpPr>
          <p:nvPr>
            <p:ph type="body" idx="12"/>
          </p:nvPr>
        </p:nvSpPr>
        <p:spPr>
          <a:xfrm>
            <a:off x="457200" y="274320"/>
            <a:ext cx="8229600" cy="274320"/>
          </a:xfrm>
        </p:spPr>
        <p:txBody>
          <a:bodyPr wrap="square" lIns="0" rIns="0" tIns="0" bIns="0">
            <a:noAutofit/>
          </a:bodyPr>
          <a:lstStyle/>
          <a:p>
            <a:pPr algn="l">
              <a:lnSpc>
                <a:spcPct val="110000"/>
              </a:lnSpc>
              <a:buNone/>
              <a:defRPr sz="1000" b="0">
                <a:solidFill>
                  <a:srgbClr val="303437"/>
                </a:solidFill>
                <a:latin typeface="Noto Sans"/>
              </a:defRPr>
            </a:pPr>
            <a:r>
              <a:rPr sz="1000" b="0" lang="ja-JP" altLang="en-US">
                <a:solidFill>
                  <a:srgbClr val="626669"/>
                </a:solidFill>
                <a:latin typeface="Noto Sans"/>
                <a:ea typeface="Noto Sans CJK JP"/>
                <a:cs typeface="Noto Sans"/>
              </a:rPr>
              <a:t>datasets in 10 minutes (2026-10-18)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公式リポジトリ：CrossWOZ</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CrossWOZ</a:t>
            </a:r>
          </a:p>
        </p:txBody>
      </p:sp>
      <p:sp>
        <p:nvSpPr>
          <p:cNvPr id="5" name="sources"/>
          <p:cNvSpPr txBox="1"/>
          <p:nvPr/>
        </p:nvSpPr>
        <p:spPr>
          <a:xfrm>
            <a:off x="502920" y="4700016"/>
            <a:ext cx="8183879" cy="621792"/>
          </a:xfrm>
          <a:prstGeom prst="rect">
            <a:avLst/>
          </a:prstGeom>
          <a:noFill/>
        </p:spPr>
        <p:txBody>
          <a:bodyPr wrap="square" lIns="0" rIns="0" tIns="0" bIns="0">
            <a:noAutofit/>
          </a:bodyPr>
          <a:lstStyle/>
          <a:p>
            <a:pPr algn="l">
              <a:lnSpc>
                <a:spcPts val="12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Qi Zhu et al. CrossWOZ. 公式リポジトリ・README（2026-10-18取得）。</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https://github.com/thu-coai/CrossWOZ</a:t>
            </a:r>
          </a:p>
        </p:txBody>
      </p:sp>
      <p:pic>
        <p:nvPicPr>
          <p:cNvPr id="6" name="Picture 5" descr="official-site.png"/>
          <p:cNvPicPr>
            <a:picLocks noChangeAspect="1"/>
          </p:cNvPicPr>
          <p:nvPr/>
        </p:nvPicPr>
        <p:blipFill>
          <a:blip r:embed="rId4"/>
          <a:stretch>
            <a:fillRect/>
          </a:stretch>
        </p:blipFill>
        <p:spPr>
          <a:xfrm>
            <a:off x="1106424" y="1353312"/>
            <a:ext cx="6922008" cy="3072384"/>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
            </a:r>
          </a:p>
        </p:txBody>
      </p:sp>
      <p:sp>
        <p:nvSpPr>
          <p:cNvPr id="3" name="Text Placeholder 2"/>
          <p:cNvSpPr>
            <a:spLocks noGrp="1"/>
          </p:cNvSpPr>
          <p:nvPr>
            <p:ph type="body" idx="1"/>
          </p:nvPr>
        </p:nvSpPr>
        <p:spPr>
          <a:xfrm>
            <a:off x="640080" y="1663901"/>
            <a:ext cx="7863840" cy="2362199"/>
          </a:xfrm>
        </p:spPr>
        <p:txBody>
          <a:bodyPr lIns="0" rIns="0" tIns="0" bIns="0">
            <a:noAutofit/>
          </a:bodyPr>
          <a:lstStyle/>
          <a:p>
            <a:pPr marL="457200" indent="-457200">
              <a:lnSpc>
                <a:spcPts val="3660"/>
              </a:lnSpc>
              <a:spcAft>
                <a:spcPts val="1200"/>
              </a:spcAft>
              <a:buSzPct val="100000"/>
              <a:buFont typeface="Noto Sans CJK JP"/>
              <a:buAutoNum type="arabicPeriod" startAt="1"/>
              <a:defRPr sz="3000" b="1">
                <a:solidFill>
                  <a:srgbClr val="303437"/>
                </a:solidFill>
                <a:latin typeface="Noto Sans"/>
              </a:defRPr>
            </a:pPr>
            <a:r>
              <a:rPr sz="3000" b="1" lang="ja-JP" altLang="en-US">
                <a:solidFill>
                  <a:srgbClr val="303437"/>
                </a:solidFill>
                <a:latin typeface="Noto Sans"/>
                <a:ea typeface="Noto Sans CJK JP"/>
                <a:cs typeface="Noto Sans"/>
              </a:rPr>
              <a:t>対話の履歴から、次の応答を読む</a:t>
            </a:r>
          </a:p>
          <a:p>
            <a:pPr marL="457200" indent="-457200">
              <a:lnSpc>
                <a:spcPts val="3660"/>
              </a:lnSpc>
              <a:spcAft>
                <a:spcPts val="1200"/>
              </a:spcAft>
              <a:buSzPct val="100000"/>
              <a:buFont typeface="Noto Sans CJK JP"/>
              <a:buAutoNum type="arabicPeriod" startAt="2"/>
              <a:defRPr sz="3000" b="1">
                <a:solidFill>
                  <a:srgbClr val="303437"/>
                </a:solidFill>
                <a:latin typeface="Noto Sans"/>
              </a:defRPr>
            </a:pPr>
            <a:r>
              <a:rPr sz="3000" b="1" lang="ja-JP" altLang="en-US">
                <a:solidFill>
                  <a:srgbClr val="303437"/>
                </a:solidFill>
                <a:latin typeface="Noto Sans"/>
                <a:ea typeface="Noto Sans CJK JP"/>
                <a:cs typeface="Noto Sans"/>
              </a:rPr>
              <a:t>目標・状態・DBのある対話</a:t>
            </a:r>
          </a:p>
          <a:p>
            <a:pPr marL="457200" indent="-457200">
              <a:lnSpc>
                <a:spcPts val="3660"/>
              </a:lnSpc>
              <a:spcAft>
                <a:spcPts val="1200"/>
              </a:spcAft>
              <a:buSzPct val="100000"/>
              <a:buFont typeface="Noto Sans CJK JP"/>
              <a:buAutoNum type="arabicPeriod" startAt="3"/>
              <a:defRPr sz="3000" b="1">
                <a:solidFill>
                  <a:srgbClr val="303437"/>
                </a:solidFill>
                <a:latin typeface="Noto Sans"/>
              </a:defRPr>
            </a:pPr>
            <a:r>
              <a:rPr sz="3000" b="1" lang="ja-JP" altLang="en-US">
                <a:solidFill>
                  <a:srgbClr val="303437"/>
                </a:solidFill>
                <a:latin typeface="Noto Sans"/>
                <a:ea typeface="Noto Sans CJK JP"/>
                <a:cs typeface="Noto Sans"/>
              </a:rPr>
              <a:t>構築時の評価と難しさ</a:t>
            </a:r>
          </a:p>
          <a:p>
            <a:pPr marL="457200" indent="-457200">
              <a:lnSpc>
                <a:spcPts val="3660"/>
              </a:lnSpc>
              <a:spcAft>
                <a:spcPts val="0"/>
              </a:spcAft>
              <a:buSzPct val="100000"/>
              <a:buFont typeface="Noto Sans CJK JP"/>
              <a:buAutoNum type="arabicPeriod" startAt="4"/>
              <a:defRPr sz="3000" b="1">
                <a:solidFill>
                  <a:srgbClr val="303437"/>
                </a:solidFill>
                <a:latin typeface="Noto Sans"/>
              </a:defRPr>
            </a:pPr>
            <a:r>
              <a:rPr sz="3000" b="1" lang="ja-JP" altLang="en-US">
                <a:solidFill>
                  <a:srgbClr val="303437"/>
                </a:solidFill>
                <a:latin typeface="Noto Sans"/>
                <a:ea typeface="Noto Sans CJK JP"/>
                <a:cs typeface="Noto Sans"/>
              </a:rPr>
              <a:t>CLEVAでの利用と入手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目次</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1. 対話の履歴から、次の応答を読む</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対話の履歴から、次の応答を読む</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旅行の相談を、複数の領域へつなぐ</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CrossWOZは、北京の旅行情報を尋ねる中国語のタスク指向対話を集めたデータセット。ホテル、レストラン、観光地、地下鉄、タクシーの5領域を扱う。</a:t>
            </a:r>
          </a:p>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旅行者役と案内役の人間が会話し、施設の条件や、選んだ施設の周辺、施設間の移動を順に決める。</a:t>
            </a:r>
          </a:p>
          <a:p>
            <a:pPr marL="457200" indent="-355600">
              <a:lnSpc>
                <a:spcPts val="2499"/>
              </a:lnSpc>
              <a:spcAft>
                <a:spcPts val="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発話だけでなく、達成したい目標、会話中の状態、伝えた内容の注釈、検索用DBを持つ。</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対話の履歴から、次の応答を読む</a:t>
            </a:r>
          </a:p>
        </p:txBody>
      </p:sp>
      <p:sp>
        <p:nvSpPr>
          <p:cNvPr id="5" name="sources"/>
          <p:cNvSpPr txBox="1"/>
          <p:nvPr/>
        </p:nvSpPr>
        <p:spPr>
          <a:xfrm>
            <a:off x="502920" y="4700016"/>
            <a:ext cx="8183879" cy="621792"/>
          </a:xfrm>
          <a:prstGeom prst="rect">
            <a:avLst/>
          </a:prstGeom>
          <a:noFill/>
        </p:spPr>
        <p:txBody>
          <a:bodyPr wrap="square" lIns="0" rIns="0" tIns="0" bIns="0">
            <a:noAutofit/>
          </a:bodyPr>
          <a:lstStyle/>
          <a:p>
            <a:pPr algn="l">
              <a:lnSpc>
                <a:spcPts val="12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Zhu et al. (2020). CrossWOZ: A Large-Scale Chinese Cross-Domain Task-Oriented Dialogue Dataset. TACL 8:281–295.</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https://aclanthology.org/2020.tacl-1.19/</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一つの応答を、直前までの全履歴と対応させる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13実例では、収録された一つのシステム応答を選び、それより前の全発話を入力として示す。表示範囲は元messages配列の位置で明記する。</a:t>
            </a:r>
          </a:p>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参照は人間の案内役が書いた応答。新しくモデルへ問い合わせた生成例ではない。選んだ応答より後の会話は、この入力単位に含めない。</a:t>
            </a:r>
          </a:p>
          <a:p>
            <a:pPr marL="457200" indent="-355600">
              <a:lnSpc>
                <a:spcPts val="2379"/>
              </a:lnSpc>
              <a:spcAft>
                <a:spcPts val="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元の対話全体と注釈も保持し、次応答の生成と、目標・状態・対話行為を使う評価を結び付ける。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対話の履歴から、次の応答を読む</a:t>
            </a:r>
          </a:p>
        </p:txBody>
      </p:sp>
      <p:sp>
        <p:nvSpPr>
          <p:cNvPr id="5" name="sources"/>
          <p:cNvSpPr txBox="1"/>
          <p:nvPr/>
        </p:nvSpPr>
        <p:spPr>
          <a:xfrm>
            <a:off x="502920" y="4700016"/>
            <a:ext cx="8183879" cy="621792"/>
          </a:xfrm>
          <a:prstGeom prst="rect">
            <a:avLst/>
          </a:prstGeom>
          <a:noFill/>
        </p:spPr>
        <p:txBody>
          <a:bodyPr wrap="square" lIns="0" rIns="0" tIns="0" bIns="0">
            <a:noAutofit/>
          </a:bodyPr>
          <a:lstStyle/>
          <a:p>
            <a:pPr algn="l">
              <a:lnSpc>
                <a:spcPts val="12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Qi Zhu et al. (2020). CrossWOZ公式配布データ。固定commit df82c9fd。</a:t>
            </a:r>
          </a:p>
          <a:p>
            <a:pPr>
              <a:lnSpc>
                <a:spcPts val="12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https://github.com/thu-coai/CrossWOZ/tree/df82c9fdff91b9b130f2d6b89110d3870ba6260e/data/crosswoz</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実例1：ホテルの電話と評価</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対話の履歴から、次の応答を読む</a:t>
            </a:r>
          </a:p>
        </p:txBody>
      </p:sp>
      <p:sp>
        <p:nvSpPr>
          <p:cNvPr id="4" name="TextBox 3"/>
          <p:cNvSpPr txBox="1"/>
          <p:nvPr/>
        </p:nvSpPr>
        <p:spPr>
          <a:xfrm>
            <a:off x="548640" y="1289304"/>
            <a:ext cx="8046720" cy="228600"/>
          </a:xfrm>
          <a:prstGeom prst="rect">
            <a:avLst/>
          </a:prstGeom>
          <a:noFill/>
        </p:spPr>
        <p:txBody>
          <a:bodyPr wrap="square" lIns="0" rIns="0" tIns="0" bIns="0">
            <a:noAutofit/>
          </a:bodyPr>
          <a:lstStyle/>
          <a:p>
            <a:pPr algn="l">
              <a:lnSpc>
                <a:spcPts val="1322"/>
              </a:lnSpc>
              <a:spcBef>
                <a:spcPts val="0"/>
              </a:spcBef>
              <a:spcAft>
                <a:spcPts val="0"/>
              </a:spcAft>
              <a:buNone/>
              <a:defRPr sz="1130" b="0">
                <a:solidFill>
                  <a:srgbClr val="303437"/>
                </a:solidFill>
                <a:latin typeface="Noto Sans"/>
              </a:defRPr>
            </a:pPr>
            <a:r>
              <a:rPr sz="1130" b="0" lang="ja-JP" altLang="en-US">
                <a:solidFill>
                  <a:srgbClr val="626669"/>
                </a:solidFill>
                <a:latin typeface="Noto Sans"/>
                <a:ea typeface="Noto Sans CJK JP"/>
                <a:cs typeface="Noto Sans"/>
              </a:rPr>
              <a:t>test / 対話11732 / 全履歴 1発話 → 収録応答1発話</a:t>
            </a:r>
          </a:p>
        </p:txBody>
      </p:sp>
      <p:sp>
        <p:nvSpPr>
          <p:cNvPr id="5" name="TextBox 4"/>
          <p:cNvSpPr txBox="1"/>
          <p:nvPr/>
        </p:nvSpPr>
        <p:spPr>
          <a:xfrm>
            <a:off x="548640" y="1609344"/>
            <a:ext cx="3886200" cy="210312"/>
          </a:xfrm>
          <a:prstGeom prst="rect">
            <a:avLst/>
          </a:prstGeom>
          <a:noFill/>
        </p:spPr>
        <p:txBody>
          <a:bodyPr wrap="square" lIns="0" rIns="0" tIns="0" bIns="0">
            <a:noAutofit/>
          </a:bodyPr>
          <a:lstStyle/>
          <a:p>
            <a:pPr algn="l">
              <a:lnSpc>
                <a:spcPts val="1357"/>
              </a:lnSpc>
              <a:spcBef>
                <a:spcPts val="0"/>
              </a:spcBef>
              <a:spcAft>
                <a:spcPts val="0"/>
              </a:spcAft>
              <a:buNone/>
              <a:defRPr sz="1160" b="0">
                <a:solidFill>
                  <a:srgbClr val="303437"/>
                </a:solidFill>
                <a:latin typeface="Noto Sans"/>
              </a:defRPr>
            </a:pPr>
            <a:r>
              <a:rPr sz="1160" b="0" lang="ja-JP" altLang="en-US">
                <a:solidFill>
                  <a:srgbClr val="626669"/>
                </a:solidFill>
                <a:latin typeface="Noto Sans"/>
                <a:ea typeface="Noto Sans CJK JP"/>
                <a:cs typeface="Noto Sans"/>
              </a:rPr>
              <a:t>入力：ここまでの全履歴（原文）</a:t>
            </a:r>
          </a:p>
        </p:txBody>
      </p:sp>
      <p:sp>
        <p:nvSpPr>
          <p:cNvPr id="6" name="quote-frame"/>
          <p:cNvSpPr/>
          <p:nvPr/>
        </p:nvSpPr>
        <p:spPr>
          <a:xfrm>
            <a:off x="548640" y="1819656"/>
            <a:ext cx="3886200" cy="83456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63500" bIns="127000">
            <a:noAutofit/>
          </a:bodyPr>
          <a:lstStyle/>
          <a:p>
            <a:pPr algn="l">
              <a:lnSpc>
                <a:spcPts val="1844"/>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利用者：你好，帮我查一下和颐酒店北京团结湖路店的电话是多少，评分高吗？</a:t>
            </a:r>
          </a:p>
        </p:txBody>
      </p:sp>
      <p:sp>
        <p:nvSpPr>
          <p:cNvPr id="7" name="TextBox 6"/>
          <p:cNvSpPr txBox="1"/>
          <p:nvPr/>
        </p:nvSpPr>
        <p:spPr>
          <a:xfrm>
            <a:off x="548640" y="2781222"/>
            <a:ext cx="3886200" cy="986917"/>
          </a:xfrm>
          <a:prstGeom prst="rect">
            <a:avLst/>
          </a:prstGeom>
          <a:noFill/>
        </p:spPr>
        <p:txBody>
          <a:bodyPr wrap="square" lIns="0" rIns="0" tIns="0" bIns="0">
            <a:noAutofit/>
          </a:bodyPr>
          <a:lstStyle/>
          <a:p>
            <a:pPr algn="l">
              <a:lnSpc>
                <a:spcPts val="2457"/>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参照応答：和颐酒店北京团结湖路店的电话是010-65828088，评分4.4分。</a:t>
            </a:r>
          </a:p>
        </p:txBody>
      </p:sp>
      <p:sp>
        <p:nvSpPr>
          <p:cNvPr id="8" name="TextBox 7"/>
          <p:cNvSpPr txBox="1"/>
          <p:nvPr/>
        </p:nvSpPr>
        <p:spPr>
          <a:xfrm>
            <a:off x="4617720" y="1609344"/>
            <a:ext cx="3886200" cy="210312"/>
          </a:xfrm>
          <a:prstGeom prst="rect">
            <a:avLst/>
          </a:prstGeom>
          <a:noFill/>
        </p:spPr>
        <p:txBody>
          <a:bodyPr wrap="square" lIns="0" rIns="0" tIns="0" bIns="0">
            <a:noAutofit/>
          </a:bodyPr>
          <a:lstStyle/>
          <a:p>
            <a:pPr algn="l">
              <a:lnSpc>
                <a:spcPts val="1357"/>
              </a:lnSpc>
              <a:spcBef>
                <a:spcPts val="0"/>
              </a:spcBef>
              <a:spcAft>
                <a:spcPts val="0"/>
              </a:spcAft>
              <a:buNone/>
              <a:defRPr sz="1160" b="0">
                <a:solidFill>
                  <a:srgbClr val="303437"/>
                </a:solidFill>
                <a:latin typeface="Noto Sans"/>
              </a:defRPr>
            </a:pPr>
            <a:r>
              <a:rPr sz="1160" b="0" lang="ja-JP" altLang="en-US">
                <a:solidFill>
                  <a:srgbClr val="626669"/>
                </a:solidFill>
                <a:latin typeface="Noto Sans"/>
                <a:ea typeface="Noto Sans CJK JP"/>
                <a:cs typeface="Noto Sans"/>
              </a:rPr>
              <a:t>対応する日本語訳</a:t>
            </a:r>
          </a:p>
        </p:txBody>
      </p:sp>
      <p:sp>
        <p:nvSpPr>
          <p:cNvPr id="9" name="quote-frame"/>
          <p:cNvSpPr/>
          <p:nvPr/>
        </p:nvSpPr>
        <p:spPr>
          <a:xfrm>
            <a:off x="4617720" y="1819656"/>
            <a:ext cx="3886200" cy="83456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63500" bIns="127000">
            <a:noAutofit/>
          </a:bodyPr>
          <a:lstStyle/>
          <a:p>
            <a:pPr algn="l">
              <a:lnSpc>
                <a:spcPts val="1844"/>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利用者：こんにちは。和頤ホテル北京団結湖路店の電話番号と、評価が高いかを調べてください。</a:t>
            </a:r>
          </a:p>
        </p:txBody>
      </p:sp>
      <p:sp>
        <p:nvSpPr>
          <p:cNvPr id="10" name="TextBox 9"/>
          <p:cNvSpPr txBox="1"/>
          <p:nvPr/>
        </p:nvSpPr>
        <p:spPr>
          <a:xfrm>
            <a:off x="4617720" y="2781222"/>
            <a:ext cx="3886200" cy="1310268"/>
          </a:xfrm>
          <a:prstGeom prst="rect">
            <a:avLst/>
          </a:prstGeom>
          <a:noFill/>
        </p:spPr>
        <p:txBody>
          <a:bodyPr wrap="square" lIns="0" rIns="0" tIns="0" bIns="0">
            <a:noAutofit/>
          </a:bodyPr>
          <a:lstStyle/>
          <a:p>
            <a:pPr algn="l">
              <a:lnSpc>
                <a:spcPts val="2457"/>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参照応答：和頤ホテル北京団結湖路店は、電話010-65828088、評価4.4点です。</a:t>
            </a:r>
          </a:p>
        </p:txBody>
      </p:sp>
      <p:sp>
        <p:nvSpPr>
          <p:cNvPr id="11" name="sources"/>
          <p:cNvSpPr txBox="1"/>
          <p:nvPr/>
        </p:nvSpPr>
        <p:spPr>
          <a:xfrm>
            <a:off x="502920" y="4700016"/>
            <a:ext cx="8183879" cy="621792"/>
          </a:xfrm>
          <a:prstGeom prst="rect">
            <a:avLst/>
          </a:prstGeom>
          <a:noFill/>
        </p:spPr>
        <p:txBody>
          <a:bodyPr wrap="square" lIns="0" rIns="0" tIns="0" bIns="0">
            <a:noAutofit/>
          </a:bodyPr>
          <a:lstStyle/>
          <a:p>
            <a:pPr algn="l">
              <a:lnSpc>
                <a:spcPts val="12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Qi Zhu et al. (2020). CrossWOZ公式配布データ。固定commit df82c9fd。 test.json / dialogue 11732 / messages[0:1] → [1]。</a:t>
            </a:r>
          </a:p>
          <a:p>
            <a:pPr>
              <a:lnSpc>
                <a:spcPts val="12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https://github.com/thu-coai/CrossWOZ/tree/df82c9fdff91b9b130f2d6b89110d3870ba6260e/data/crosswoz</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電話と評価を、同じ施設へ対応させる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実例1は、指定されたホテルの電話番号と評価を尋ねる。参照応答は両方を返し、対話行為にも「名称」「電話」「評価」が記録される。</a:t>
            </a:r>
          </a:p>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発話を読む課題では、言い回しの一致だけでなく、どの施設のどの項目を答えたかが重要になる。</a:t>
            </a:r>
          </a:p>
          <a:p>
            <a:pPr marL="457200" indent="-355600">
              <a:lnSpc>
                <a:spcPts val="2499"/>
              </a:lnSpc>
              <a:spcAft>
                <a:spcPts val="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状態追跡では、会話で与えられた施設名などを、検索に使うスロットと値へ対応させる。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対話の履歴から、次の応答を読む</a:t>
            </a:r>
          </a:p>
        </p:txBody>
      </p:sp>
      <p:sp>
        <p:nvSpPr>
          <p:cNvPr id="5" name="sources"/>
          <p:cNvSpPr txBox="1"/>
          <p:nvPr/>
        </p:nvSpPr>
        <p:spPr>
          <a:xfrm>
            <a:off x="502920" y="4700016"/>
            <a:ext cx="8183879" cy="621792"/>
          </a:xfrm>
          <a:prstGeom prst="rect">
            <a:avLst/>
          </a:prstGeom>
          <a:noFill/>
        </p:spPr>
        <p:txBody>
          <a:bodyPr wrap="square" lIns="0" rIns="0" tIns="0" bIns="0">
            <a:noAutofit/>
          </a:bodyPr>
          <a:lstStyle/>
          <a:p>
            <a:pPr algn="l">
              <a:lnSpc>
                <a:spcPts val="12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Zhu et al. (2020). CrossWOZ: A Large-Scale Chinese Cross-Domain Task-Oriented Dialogue Dataset. TACL 8:281–295.</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https://aclanthology.org/2020.tacl-1.19/</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実例2：周辺の条件に合わないときの提案</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対話の履歴から、次の応答を読む</a:t>
            </a:r>
          </a:p>
        </p:txBody>
      </p:sp>
      <p:sp>
        <p:nvSpPr>
          <p:cNvPr id="4" name="TextBox 3"/>
          <p:cNvSpPr txBox="1"/>
          <p:nvPr/>
        </p:nvSpPr>
        <p:spPr>
          <a:xfrm>
            <a:off x="548640" y="1289304"/>
            <a:ext cx="8046720" cy="228600"/>
          </a:xfrm>
          <a:prstGeom prst="rect">
            <a:avLst/>
          </a:prstGeom>
          <a:noFill/>
        </p:spPr>
        <p:txBody>
          <a:bodyPr wrap="square" lIns="0" rIns="0" tIns="0" bIns="0">
            <a:noAutofit/>
          </a:bodyPr>
          <a:lstStyle/>
          <a:p>
            <a:pPr algn="l">
              <a:lnSpc>
                <a:spcPts val="1322"/>
              </a:lnSpc>
              <a:spcBef>
                <a:spcPts val="0"/>
              </a:spcBef>
              <a:spcAft>
                <a:spcPts val="0"/>
              </a:spcAft>
              <a:buNone/>
              <a:defRPr sz="1130" b="0">
                <a:solidFill>
                  <a:srgbClr val="303437"/>
                </a:solidFill>
                <a:latin typeface="Noto Sans"/>
              </a:defRPr>
            </a:pPr>
            <a:r>
              <a:rPr sz="1130" b="0" lang="ja-JP" altLang="en-US">
                <a:solidFill>
                  <a:srgbClr val="626669"/>
                </a:solidFill>
                <a:latin typeface="Noto Sans"/>
                <a:ea typeface="Noto Sans CJK JP"/>
                <a:cs typeface="Noto Sans"/>
              </a:rPr>
              <a:t>train / 対話7568 / 全履歴 5発話 → 収録応答1発話 ／ 原文は左→右</a:t>
            </a:r>
          </a:p>
        </p:txBody>
      </p:sp>
      <p:sp>
        <p:nvSpPr>
          <p:cNvPr id="6" name="quote-frame"/>
          <p:cNvSpPr/>
          <p:nvPr/>
        </p:nvSpPr>
        <p:spPr>
          <a:xfrm>
            <a:off x="548640" y="1508760"/>
            <a:ext cx="3886200" cy="1554787"/>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71967" bIns="127000">
            <a:noAutofit/>
          </a:bodyPr>
          <a:lstStyle/>
          <a:p>
            <a:pPr algn="l">
              <a:lnSpc>
                <a:spcPts val="1844"/>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利用者：你好，帮我推荐一个评分在4.5分以上的餐馆吧，谢谢。</a:t>
            </a:r>
          </a:p>
          <a:p>
            <a:pPr algn="l">
              <a:lnSpc>
                <a:spcPts val="1844"/>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システム：为您推荐站点比萨(北大餐厅)。</a:t>
            </a:r>
          </a:p>
          <a:p>
            <a:pPr algn="l">
              <a:lnSpc>
                <a:spcPts val="1844"/>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利用者：站点比萨(北大餐厅)的周边有啥可以休息的酒店吗？</a:t>
            </a:r>
          </a:p>
        </p:txBody>
      </p:sp>
      <p:sp>
        <p:nvSpPr>
          <p:cNvPr id="8" name="quote-frame"/>
          <p:cNvSpPr/>
          <p:nvPr/>
        </p:nvSpPr>
        <p:spPr>
          <a:xfrm>
            <a:off x="4709159" y="1508760"/>
            <a:ext cx="3886200" cy="107823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71967" bIns="127000">
            <a:noAutofit/>
          </a:bodyPr>
          <a:lstStyle/>
          <a:p>
            <a:pPr algn="l">
              <a:lnSpc>
                <a:spcPts val="1844"/>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システム：有很多，北京海润艾丽华酒店及服务公寓, 北京骏马国际酒店等。</a:t>
            </a:r>
          </a:p>
          <a:p>
            <a:pPr algn="l">
              <a:lnSpc>
                <a:spcPts val="1844"/>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利用者：这些酒店中有价格在200-300元之间的并且评分在4.5分以上的吗？</a:t>
            </a:r>
          </a:p>
        </p:txBody>
      </p:sp>
      <p:sp>
        <p:nvSpPr>
          <p:cNvPr id="9" name="TextBox 8"/>
          <p:cNvSpPr txBox="1"/>
          <p:nvPr/>
        </p:nvSpPr>
        <p:spPr>
          <a:xfrm>
            <a:off x="548640" y="3173614"/>
            <a:ext cx="8046720" cy="674878"/>
          </a:xfrm>
          <a:prstGeom prst="rect">
            <a:avLst/>
          </a:prstGeom>
          <a:noFill/>
        </p:spPr>
        <p:txBody>
          <a:bodyPr wrap="square" lIns="0" rIns="0" tIns="0" bIns="0">
            <a:noAutofit/>
          </a:bodyPr>
          <a:lstStyle/>
          <a:p>
            <a:pPr algn="l">
              <a:lnSpc>
                <a:spcPts val="2457"/>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参照応答：抱歉，没有，建议您去北京美第奇精选酒店，能符合您要求。</a:t>
            </a:r>
          </a:p>
        </p:txBody>
      </p:sp>
      <p:sp>
        <p:nvSpPr>
          <p:cNvPr id="10" name="sources"/>
          <p:cNvSpPr txBox="1"/>
          <p:nvPr/>
        </p:nvSpPr>
        <p:spPr>
          <a:xfrm>
            <a:off x="502920" y="4700016"/>
            <a:ext cx="8183879" cy="621792"/>
          </a:xfrm>
          <a:prstGeom prst="rect">
            <a:avLst/>
          </a:prstGeom>
          <a:noFill/>
        </p:spPr>
        <p:txBody>
          <a:bodyPr wrap="square" lIns="0" rIns="0" tIns="0" bIns="0">
            <a:noAutofit/>
          </a:bodyPr>
          <a:lstStyle/>
          <a:p>
            <a:pPr algn="l">
              <a:lnSpc>
                <a:spcPts val="12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Qi Zhu et al. (2020). CrossWOZ公式配布データ。固定commit df82c9fd。 train.json / dialogue 7568 / messages[0:5] → [5]。</a:t>
            </a:r>
          </a:p>
          <a:p>
            <a:pPr>
              <a:lnSpc>
                <a:spcPts val="12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https://github.com/thu-coai/CrossWOZ/tree/df82c9fdff91b9b130f2d6b89110d3870ba6260e/data/crosswoz</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実例2：周辺の条件に合わないときの提案（訳）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対話の履歴から、次の応答を読む</a:t>
            </a:r>
          </a:p>
        </p:txBody>
      </p:sp>
      <p:sp>
        <p:nvSpPr>
          <p:cNvPr id="4" name="TextBox 3"/>
          <p:cNvSpPr txBox="1"/>
          <p:nvPr/>
        </p:nvSpPr>
        <p:spPr>
          <a:xfrm>
            <a:off x="548640" y="1289304"/>
            <a:ext cx="8046720" cy="228600"/>
          </a:xfrm>
          <a:prstGeom prst="rect">
            <a:avLst/>
          </a:prstGeom>
          <a:noFill/>
        </p:spPr>
        <p:txBody>
          <a:bodyPr wrap="square" lIns="0" rIns="0" tIns="0" bIns="0">
            <a:noAutofit/>
          </a:bodyPr>
          <a:lstStyle/>
          <a:p>
            <a:pPr algn="l">
              <a:lnSpc>
                <a:spcPts val="1322"/>
              </a:lnSpc>
              <a:spcBef>
                <a:spcPts val="0"/>
              </a:spcBef>
              <a:spcAft>
                <a:spcPts val="0"/>
              </a:spcAft>
              <a:buNone/>
              <a:defRPr sz="1130" b="0">
                <a:solidFill>
                  <a:srgbClr val="303437"/>
                </a:solidFill>
                <a:latin typeface="Noto Sans"/>
              </a:defRPr>
            </a:pPr>
            <a:r>
              <a:rPr sz="1130" b="0" lang="ja-JP" altLang="en-US">
                <a:solidFill>
                  <a:srgbClr val="626669"/>
                </a:solidFill>
                <a:latin typeface="Noto Sans"/>
                <a:ea typeface="Noto Sans CJK JP"/>
                <a:cs typeface="Noto Sans"/>
              </a:rPr>
              <a:t>train / 対話7568 / 全履歴 5発話 → 収録応答1発話 ／ 訳は左→右</a:t>
            </a:r>
          </a:p>
        </p:txBody>
      </p:sp>
      <p:sp>
        <p:nvSpPr>
          <p:cNvPr id="6" name="quote-frame"/>
          <p:cNvSpPr/>
          <p:nvPr/>
        </p:nvSpPr>
        <p:spPr>
          <a:xfrm>
            <a:off x="548640" y="1508760"/>
            <a:ext cx="3886200" cy="154632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71967" bIns="127000">
            <a:noAutofit/>
          </a:bodyPr>
          <a:lstStyle/>
          <a:p>
            <a:pPr algn="l">
              <a:lnSpc>
                <a:spcPts val="1844"/>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利用者：こんにちは。評価4.5点以上のレストランを一つ勧めてください。</a:t>
            </a:r>
          </a:p>
          <a:p>
            <a:pPr algn="l">
              <a:lnSpc>
                <a:spcPts val="1844"/>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システム：站点ピザ（北大餐庁）をお勧めします。</a:t>
            </a:r>
          </a:p>
          <a:p>
            <a:pPr algn="l">
              <a:lnSpc>
                <a:spcPts val="1844"/>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利用者：その周辺に休めるホテルはありますか。</a:t>
            </a:r>
          </a:p>
        </p:txBody>
      </p:sp>
      <p:sp>
        <p:nvSpPr>
          <p:cNvPr id="8" name="quote-frame"/>
          <p:cNvSpPr/>
          <p:nvPr/>
        </p:nvSpPr>
        <p:spPr>
          <a:xfrm>
            <a:off x="4709159" y="1508760"/>
            <a:ext cx="3886200" cy="154632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71967" bIns="127000">
            <a:noAutofit/>
          </a:bodyPr>
          <a:lstStyle/>
          <a:p>
            <a:pPr algn="l">
              <a:lnSpc>
                <a:spcPts val="1844"/>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システム：たくさんあります。北京海潤艾麗華ホテル・サービスアパートメント、北京駿馬国際ホテルなどです。</a:t>
            </a:r>
          </a:p>
          <a:p>
            <a:pPr algn="l">
              <a:lnSpc>
                <a:spcPts val="1844"/>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利用者：その中で、価格が200～300元、評価が4.5点以上のホテルはありますか。</a:t>
            </a:r>
          </a:p>
        </p:txBody>
      </p:sp>
      <p:sp>
        <p:nvSpPr>
          <p:cNvPr id="9" name="TextBox 8"/>
          <p:cNvSpPr txBox="1"/>
          <p:nvPr/>
        </p:nvSpPr>
        <p:spPr>
          <a:xfrm>
            <a:off x="548640" y="3173614"/>
            <a:ext cx="8046720" cy="674878"/>
          </a:xfrm>
          <a:prstGeom prst="rect">
            <a:avLst/>
          </a:prstGeom>
          <a:noFill/>
        </p:spPr>
        <p:txBody>
          <a:bodyPr wrap="square" lIns="0" rIns="0" tIns="0" bIns="0">
            <a:noAutofit/>
          </a:bodyPr>
          <a:lstStyle/>
          <a:p>
            <a:pPr algn="l">
              <a:lnSpc>
                <a:spcPts val="2457"/>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参照応答：申し訳ありませんが、ありません。ご希望に合う北京メディチ精選ホテルをお勧めします。</a:t>
            </a:r>
          </a:p>
        </p:txBody>
      </p:sp>
      <p:sp>
        <p:nvSpPr>
          <p:cNvPr id="10" name="sources"/>
          <p:cNvSpPr txBox="1"/>
          <p:nvPr/>
        </p:nvSpPr>
        <p:spPr>
          <a:xfrm>
            <a:off x="502920" y="4700016"/>
            <a:ext cx="8183879" cy="621792"/>
          </a:xfrm>
          <a:prstGeom prst="rect">
            <a:avLst/>
          </a:prstGeom>
          <a:noFill/>
        </p:spPr>
        <p:txBody>
          <a:bodyPr wrap="square" lIns="0" rIns="0" tIns="0" bIns="0">
            <a:noAutofit/>
          </a:bodyPr>
          <a:lstStyle/>
          <a:p>
            <a:pPr algn="l">
              <a:lnSpc>
                <a:spcPts val="12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Qi Zhu et al. (2020). CrossWOZ公式配布データ。固定commit df82c9fd。 train.json / dialogue 7568 / messages[0:5] → [5]。</a:t>
            </a:r>
          </a:p>
          <a:p>
            <a:pPr>
              <a:lnSpc>
                <a:spcPts val="12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https://github.com/thu-coai/CrossWOZ/tree/df82c9fdff91b9b130f2d6b89110d3870ba6260e/data/crosswoz</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応答の前後で、検索条件が変わる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対話の履歴から、次の応答を読む</a:t>
            </a:r>
          </a:p>
        </p:txBody>
      </p:sp>
      <p:graphicFrame>
        <p:nvGraphicFramePr>
          <p:cNvPr id="4" name="Table 3"/>
          <p:cNvGraphicFramePr>
            <a:graphicFrameLocks noGrp="1"/>
          </p:cNvGraphicFramePr>
          <p:nvPr/>
        </p:nvGraphicFramePr>
        <p:xfrm>
          <a:off x="548640" y="1508760"/>
          <a:ext cx="8046720" cy="2209036"/>
        </p:xfrm>
        <a:graphic>
          <a:graphicData uri="http://schemas.openxmlformats.org/drawingml/2006/table">
            <a:tbl>
              <a:tblPr firstRow="0" bandRow="0"/>
              <a:tblGrid>
                <a:gridCol w="2103120"/>
                <a:gridCol w="5943600"/>
              </a:tblGrid>
              <a:tr h="420624">
                <a:tc>
                  <a:txBody>
                    <a:bodyPr wrap="square">
                      <a:noAutofit/>
                    </a:bodyPr>
                    <a:lstStyle/>
                    <a:p>
                      <a:pPr algn="l">
                        <a:lnSpc>
                          <a:spcPts val="2242"/>
                        </a:lnSpc>
                        <a:buNone/>
                        <a:defRPr sz="1950" b="0">
                          <a:solidFill>
                            <a:srgbClr val="303437"/>
                          </a:solidFill>
                          <a:latin typeface="Noto Sans"/>
                        </a:defRPr>
                      </a:pPr>
                      <a:r>
                        <a:rPr sz="1950" b="0" lang="ja-JP" altLang="en-US">
                          <a:solidFill>
                            <a:srgbClr val="303437"/>
                          </a:solidFill>
                          <a:latin typeface="Noto Sans"/>
                          <a:ea typeface="Noto Sans CJK JP"/>
                          <a:cs typeface="Noto Sans"/>
                        </a:rPr>
                        <a:t>記録</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242"/>
                        </a:lnSpc>
                        <a:buNone/>
                        <a:defRPr sz="1950" b="0">
                          <a:solidFill>
                            <a:srgbClr val="303437"/>
                          </a:solidFill>
                          <a:latin typeface="Noto Sans"/>
                        </a:defRPr>
                      </a:pPr>
                      <a:r>
                        <a:rPr sz="1950" b="0" lang="ja-JP" altLang="en-US">
                          <a:solidFill>
                            <a:srgbClr val="303437"/>
                          </a:solidFill>
                          <a:latin typeface="Noto Sans"/>
                          <a:ea typeface="Noto Sans CJK JP"/>
                          <a:cs typeface="Noto Sans"/>
                        </a:rPr>
                        <a:t>実例2のホテル検索</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683894">
                <a:tc>
                  <a:txBody>
                    <a:bodyPr wrap="square">
                      <a:noAutofit/>
                    </a:bodyPr>
                    <a:lstStyle/>
                    <a:p>
                      <a:pPr algn="l">
                        <a:lnSpc>
                          <a:spcPts val="2242"/>
                        </a:lnSpc>
                        <a:buNone/>
                        <a:defRPr sz="1950" b="0">
                          <a:solidFill>
                            <a:srgbClr val="303437"/>
                          </a:solidFill>
                          <a:latin typeface="Noto Sans"/>
                        </a:defRPr>
                      </a:pPr>
                      <a:r>
                        <a:rPr sz="1950" b="0" lang="ja-JP" altLang="en-US">
                          <a:solidFill>
                            <a:srgbClr val="303437"/>
                          </a:solidFill>
                          <a:latin typeface="Noto Sans"/>
                          <a:ea typeface="Noto Sans CJK JP"/>
                          <a:cs typeface="Noto Sans"/>
                        </a:rPr>
                        <a:t>最初の検索</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242"/>
                        </a:lnSpc>
                        <a:buNone/>
                        <a:defRPr sz="1950" b="0">
                          <a:solidFill>
                            <a:srgbClr val="303437"/>
                          </a:solidFill>
                          <a:latin typeface="Noto Sans"/>
                        </a:defRPr>
                      </a:pPr>
                      <a:r>
                        <a:rPr sz="1950" b="0" lang="ja-JP" altLang="en-US">
                          <a:solidFill>
                            <a:srgbClr val="303437"/>
                          </a:solidFill>
                          <a:latin typeface="Noto Sans"/>
                          <a:ea typeface="Noto Sans CJK JP"/>
                          <a:cs typeface="Noto Sans"/>
                        </a:rPr>
                        <a:t>価格200–300元、評価4.5点以上
站点ピザの周辺</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683894">
                <a:tc>
                  <a:txBody>
                    <a:bodyPr wrap="square">
                      <a:noAutofit/>
                    </a:bodyPr>
                    <a:lstStyle/>
                    <a:p>
                      <a:pPr algn="l">
                        <a:lnSpc>
                          <a:spcPts val="2242"/>
                        </a:lnSpc>
                        <a:buNone/>
                        <a:defRPr sz="1950" b="0">
                          <a:solidFill>
                            <a:srgbClr val="303437"/>
                          </a:solidFill>
                          <a:latin typeface="Noto Sans"/>
                        </a:defRPr>
                      </a:pPr>
                      <a:r>
                        <a:rPr sz="1950" b="0" lang="ja-JP" altLang="en-US">
                          <a:solidFill>
                            <a:srgbClr val="303437"/>
                          </a:solidFill>
                          <a:latin typeface="Noto Sans"/>
                          <a:ea typeface="Noto Sans CJK JP"/>
                          <a:cs typeface="Noto Sans"/>
                        </a:rPr>
                        <a:t>最後の検索</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242"/>
                        </a:lnSpc>
                        <a:buNone/>
                        <a:defRPr sz="1950" b="0">
                          <a:solidFill>
                            <a:srgbClr val="303437"/>
                          </a:solidFill>
                          <a:latin typeface="Noto Sans"/>
                        </a:defRPr>
                      </a:pPr>
                      <a:r>
                        <a:rPr sz="1950" b="0" lang="ja-JP" altLang="en-US">
                          <a:solidFill>
                            <a:srgbClr val="303437"/>
                          </a:solidFill>
                          <a:latin typeface="Noto Sans"/>
                          <a:ea typeface="Noto Sans CJK JP"/>
                          <a:cs typeface="Noto Sans"/>
                        </a:rPr>
                        <a:t>価格200–300元、評価4.5点以上
周辺という条件を外す</a:t>
                      </a:r>
                    </a:p>
                  </a:txBody>
                  <a:tcPr marL="63500" marR="63500" marT="38100" marB="38100" anchor="ctr">
                    <a:lnL w="7620">
                      <a:noFill/>
                    </a:lnL>
                    <a:lnR w="7620">
                      <a:noFill/>
                    </a:lnR>
                    <a:lnT w="7620">
                      <a:noFill/>
                    </a:lnT>
                    <a:lnB w="7620">
                      <a:noFill/>
                    </a:lnB>
                    <a:solidFill>
                      <a:srgbClr val="FFFEF8"/>
                    </a:solidFill>
                  </a:tcPr>
                </a:tc>
              </a:tr>
              <a:tr h="420624">
                <a:tc>
                  <a:txBody>
                    <a:bodyPr wrap="square">
                      <a:noAutofit/>
                    </a:bodyPr>
                    <a:lstStyle/>
                    <a:p>
                      <a:pPr algn="l">
                        <a:lnSpc>
                          <a:spcPts val="2242"/>
                        </a:lnSpc>
                        <a:buNone/>
                        <a:defRPr sz="1950" b="0">
                          <a:solidFill>
                            <a:srgbClr val="303437"/>
                          </a:solidFill>
                          <a:latin typeface="Noto Sans"/>
                        </a:defRPr>
                      </a:pPr>
                      <a:r>
                        <a:rPr sz="1950" b="0" lang="ja-JP" altLang="en-US">
                          <a:solidFill>
                            <a:srgbClr val="303437"/>
                          </a:solidFill>
                          <a:latin typeface="Noto Sans"/>
                          <a:ea typeface="Noto Sans CJK JP"/>
                          <a:cs typeface="Noto Sans"/>
                        </a:rPr>
                        <a:t>選択した施設</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242"/>
                        </a:lnSpc>
                        <a:buNone/>
                        <a:defRPr sz="1950" b="0">
                          <a:solidFill>
                            <a:srgbClr val="303437"/>
                          </a:solidFill>
                          <a:latin typeface="Noto Sans"/>
                        </a:defRPr>
                      </a:pPr>
                      <a:r>
                        <a:rPr sz="1950" b="0" lang="ja-JP" altLang="en-US">
                          <a:solidFill>
                            <a:srgbClr val="303437"/>
                          </a:solidFill>
                          <a:latin typeface="Noto Sans"/>
                          <a:ea typeface="Noto Sans CJK JP"/>
                          <a:cs typeface="Noto Sans"/>
                        </a:rPr>
                        <a:t>北京美第奇精选酒店</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854958"/>
            <a:ext cx="7955279" cy="603504"/>
          </a:xfrm>
          <a:prstGeom prst="rect">
            <a:avLst/>
          </a:prstGeom>
          <a:noFill/>
        </p:spPr>
        <p:txBody>
          <a:bodyPr wrap="square" lIns="0" rIns="0" tIns="0" bIns="0">
            <a:noAutofit/>
          </a:bodyPr>
          <a:lstStyle/>
          <a:p>
            <a:pPr algn="l">
              <a:lnSpc>
                <a:spcPts val="1930"/>
              </a:lnSpc>
              <a:spcBef>
                <a:spcPts val="0"/>
              </a:spcBef>
              <a:spcAft>
                <a:spcPts val="0"/>
              </a:spcAft>
              <a:buNone/>
              <a:defRPr sz="1650" b="0">
                <a:solidFill>
                  <a:srgbClr val="303437"/>
                </a:solidFill>
                <a:latin typeface="Noto Sans"/>
              </a:defRPr>
            </a:pPr>
            <a:r>
              <a:rPr sz="1650" b="0" lang="ja-JP" altLang="en-US">
                <a:solidFill>
                  <a:srgbClr val="303437"/>
                </a:solidFill>
                <a:latin typeface="Noto Sans"/>
                <a:ea typeface="Noto Sans CJK JP"/>
                <a:cs typeface="Noto Sans"/>
              </a:rPr>
              <a:t>sys_state_initとsys_stateの実値。候補なしを表すNoOfferと、代替ホテル名のInformが同じ応答に付く。</a:t>
            </a:r>
          </a:p>
        </p:txBody>
      </p:sp>
      <p:sp>
        <p:nvSpPr>
          <p:cNvPr id="6" name="sources"/>
          <p:cNvSpPr txBox="1"/>
          <p:nvPr/>
        </p:nvSpPr>
        <p:spPr>
          <a:xfrm>
            <a:off x="502920" y="4700016"/>
            <a:ext cx="8183879" cy="621792"/>
          </a:xfrm>
          <a:prstGeom prst="rect">
            <a:avLst/>
          </a:prstGeom>
          <a:noFill/>
        </p:spPr>
        <p:txBody>
          <a:bodyPr wrap="square" lIns="0" rIns="0" tIns="0" bIns="0">
            <a:noAutofit/>
          </a:bodyPr>
          <a:lstStyle/>
          <a:p>
            <a:pPr algn="l">
              <a:lnSpc>
                <a:spcPts val="12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Qi Zhu et al. (2020). CrossWOZ公式配布データ。固定commit df82c9fd。</a:t>
            </a:r>
          </a:p>
          <a:p>
            <a:pPr>
              <a:lnSpc>
                <a:spcPts val="12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https://github.com/thu-coai/CrossWOZ/tree/df82c9fdff91b9b130f2d6b89110d3870ba6260e/data/crosswoz</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実例3：二つの施設をタクシーで結ぶ</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対話の履歴から、次の応答を読む</a:t>
            </a:r>
          </a:p>
        </p:txBody>
      </p:sp>
      <p:sp>
        <p:nvSpPr>
          <p:cNvPr id="4" name="TextBox 3"/>
          <p:cNvSpPr txBox="1"/>
          <p:nvPr/>
        </p:nvSpPr>
        <p:spPr>
          <a:xfrm>
            <a:off x="548640" y="1289304"/>
            <a:ext cx="8046720" cy="228600"/>
          </a:xfrm>
          <a:prstGeom prst="rect">
            <a:avLst/>
          </a:prstGeom>
          <a:noFill/>
        </p:spPr>
        <p:txBody>
          <a:bodyPr wrap="square" lIns="0" rIns="0" tIns="0" bIns="0">
            <a:noAutofit/>
          </a:bodyPr>
          <a:lstStyle/>
          <a:p>
            <a:pPr algn="l">
              <a:lnSpc>
                <a:spcPts val="1322"/>
              </a:lnSpc>
              <a:spcBef>
                <a:spcPts val="0"/>
              </a:spcBef>
              <a:spcAft>
                <a:spcPts val="0"/>
              </a:spcAft>
              <a:buNone/>
              <a:defRPr sz="1130" b="0">
                <a:solidFill>
                  <a:srgbClr val="303437"/>
                </a:solidFill>
                <a:latin typeface="Noto Sans"/>
              </a:defRPr>
            </a:pPr>
            <a:r>
              <a:rPr sz="1130" b="0" lang="ja-JP" altLang="en-US">
                <a:solidFill>
                  <a:srgbClr val="626669"/>
                </a:solidFill>
                <a:latin typeface="Noto Sans"/>
                <a:ea typeface="Noto Sans CJK JP"/>
                <a:cs typeface="Noto Sans"/>
              </a:rPr>
              <a:t>test / 対話10113 / 全履歴 5発話 → 収録応答1発話 ／ 原文は左→右</a:t>
            </a:r>
          </a:p>
        </p:txBody>
      </p:sp>
      <p:sp>
        <p:nvSpPr>
          <p:cNvPr id="6" name="quote-frame"/>
          <p:cNvSpPr/>
          <p:nvPr/>
        </p:nvSpPr>
        <p:spPr>
          <a:xfrm>
            <a:off x="548640" y="1508760"/>
            <a:ext cx="3886200" cy="195653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63500" bIns="127000">
            <a:noAutofit/>
          </a:bodyPr>
          <a:lstStyle/>
          <a:p>
            <a:pPr algn="l">
              <a:lnSpc>
                <a:spcPts val="1796"/>
              </a:lnSpc>
              <a:spcBef>
                <a:spcPts val="0"/>
              </a:spcBef>
              <a:spcAft>
                <a:spcPts val="0"/>
              </a:spcAft>
              <a:buNone/>
              <a:defRPr sz="1510" b="0">
                <a:solidFill>
                  <a:srgbClr val="303437"/>
                </a:solidFill>
                <a:latin typeface="Noto Sans"/>
              </a:defRPr>
            </a:pPr>
            <a:r>
              <a:rPr sz="1510" b="0" lang="ja-JP" altLang="en-US">
                <a:solidFill>
                  <a:srgbClr val="303437"/>
                </a:solidFill>
                <a:latin typeface="Noto Sans"/>
                <a:ea typeface="Noto Sans CJK JP"/>
                <a:cs typeface="Noto Sans"/>
              </a:rPr>
              <a:t>利用者：明天公司开会安排我们去北京丽景湾国际酒店，我想知道它是什么类型的酒店？评分多少？</a:t>
            </a:r>
          </a:p>
          <a:p>
            <a:pPr algn="l">
              <a:lnSpc>
                <a:spcPts val="1796"/>
              </a:lnSpc>
              <a:spcBef>
                <a:spcPts val="0"/>
              </a:spcBef>
              <a:spcAft>
                <a:spcPts val="0"/>
              </a:spcAft>
              <a:buNone/>
              <a:defRPr sz="1510" b="0">
                <a:solidFill>
                  <a:srgbClr val="303437"/>
                </a:solidFill>
                <a:latin typeface="Noto Sans"/>
              </a:defRPr>
            </a:pPr>
            <a:r>
              <a:rPr sz="1510" b="0" lang="ja-JP" altLang="en-US">
                <a:solidFill>
                  <a:srgbClr val="303437"/>
                </a:solidFill>
                <a:latin typeface="Noto Sans"/>
                <a:ea typeface="Noto Sans CJK JP"/>
                <a:cs typeface="Noto Sans"/>
              </a:rPr>
              <a:t>システム：是豪华型的酒店，评分4.5分。</a:t>
            </a:r>
          </a:p>
          <a:p>
            <a:pPr algn="l">
              <a:lnSpc>
                <a:spcPts val="1796"/>
              </a:lnSpc>
              <a:spcBef>
                <a:spcPts val="0"/>
              </a:spcBef>
              <a:spcAft>
                <a:spcPts val="0"/>
              </a:spcAft>
              <a:buNone/>
              <a:defRPr sz="1510" b="0">
                <a:solidFill>
                  <a:srgbClr val="303437"/>
                </a:solidFill>
                <a:latin typeface="Noto Sans"/>
              </a:defRPr>
            </a:pPr>
            <a:r>
              <a:rPr sz="1510" b="0" lang="ja-JP" altLang="en-US">
                <a:solidFill>
                  <a:srgbClr val="303437"/>
                </a:solidFill>
                <a:latin typeface="Noto Sans"/>
                <a:ea typeface="Noto Sans CJK JP"/>
                <a:cs typeface="Noto Sans"/>
              </a:rPr>
              <a:t>利用者：哦。然后我和同事想找一家有武大郎烧饼这菜，并且人均消费是150-500元的餐馆，有好地方吗？</a:t>
            </a:r>
          </a:p>
        </p:txBody>
      </p:sp>
      <p:sp>
        <p:nvSpPr>
          <p:cNvPr id="8" name="quote-frame"/>
          <p:cNvSpPr/>
          <p:nvPr/>
        </p:nvSpPr>
        <p:spPr>
          <a:xfrm>
            <a:off x="4709159" y="1508760"/>
            <a:ext cx="3886200" cy="2202655"/>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63500" bIns="127000">
            <a:noAutofit/>
          </a:bodyPr>
          <a:lstStyle/>
          <a:p>
            <a:pPr algn="l">
              <a:lnSpc>
                <a:spcPts val="1796"/>
              </a:lnSpc>
              <a:spcBef>
                <a:spcPts val="0"/>
              </a:spcBef>
              <a:spcAft>
                <a:spcPts val="0"/>
              </a:spcAft>
              <a:buNone/>
              <a:defRPr sz="1510" b="0">
                <a:solidFill>
                  <a:srgbClr val="303437"/>
                </a:solidFill>
                <a:latin typeface="Noto Sans"/>
              </a:defRPr>
            </a:pPr>
            <a:r>
              <a:rPr sz="1510" b="0" lang="ja-JP" altLang="en-US">
                <a:solidFill>
                  <a:srgbClr val="303437"/>
                </a:solidFill>
                <a:latin typeface="Noto Sans"/>
                <a:ea typeface="Noto Sans CJK JP"/>
                <a:cs typeface="Noto Sans"/>
              </a:rPr>
              <a:t>顺便把它的电话和周边景点提供给我，我来安排一下行程。</a:t>
            </a:r>
          </a:p>
          <a:p>
            <a:pPr algn="l">
              <a:lnSpc>
                <a:spcPts val="1796"/>
              </a:lnSpc>
              <a:spcBef>
                <a:spcPts val="0"/>
              </a:spcBef>
              <a:spcAft>
                <a:spcPts val="0"/>
              </a:spcAft>
              <a:buNone/>
              <a:defRPr sz="1510" b="0">
                <a:solidFill>
                  <a:srgbClr val="303437"/>
                </a:solidFill>
                <a:latin typeface="Noto Sans"/>
              </a:defRPr>
            </a:pPr>
            <a:r>
              <a:rPr sz="1510" b="0" lang="ja-JP" altLang="en-US">
                <a:solidFill>
                  <a:srgbClr val="303437"/>
                </a:solidFill>
                <a:latin typeface="Noto Sans"/>
                <a:ea typeface="Noto Sans CJK JP"/>
                <a:cs typeface="Noto Sans"/>
              </a:rPr>
              <a:t>システム：为您推荐蓝海钟鼎楼食府(鲁谷店)，电话010-68639999，周边景点有欢乐水魔方水上乐园、石景山游乐园等。</a:t>
            </a:r>
          </a:p>
          <a:p>
            <a:pPr algn="l">
              <a:lnSpc>
                <a:spcPts val="1796"/>
              </a:lnSpc>
              <a:spcBef>
                <a:spcPts val="0"/>
              </a:spcBef>
              <a:spcAft>
                <a:spcPts val="0"/>
              </a:spcAft>
              <a:buNone/>
              <a:defRPr sz="1510" b="0">
                <a:solidFill>
                  <a:srgbClr val="303437"/>
                </a:solidFill>
                <a:latin typeface="Noto Sans"/>
              </a:defRPr>
            </a:pPr>
            <a:r>
              <a:rPr sz="1510" b="0" lang="ja-JP" altLang="en-US">
                <a:solidFill>
                  <a:srgbClr val="303437"/>
                </a:solidFill>
                <a:latin typeface="Noto Sans"/>
                <a:ea typeface="Noto Sans CJK JP"/>
                <a:cs typeface="Noto Sans"/>
              </a:rPr>
              <a:t>利用者：如果我想打一辆出租车从北京丽景湾国际酒店到蓝海钟鼎楼食府(鲁谷店)，能告诉我出租车的车型、车牌吗？</a:t>
            </a:r>
          </a:p>
        </p:txBody>
      </p:sp>
      <p:sp>
        <p:nvSpPr>
          <p:cNvPr id="9" name="TextBox 8"/>
          <p:cNvSpPr txBox="1"/>
          <p:nvPr/>
        </p:nvSpPr>
        <p:spPr>
          <a:xfrm>
            <a:off x="548640" y="3821482"/>
            <a:ext cx="8046720" cy="362839"/>
          </a:xfrm>
          <a:prstGeom prst="rect">
            <a:avLst/>
          </a:prstGeom>
          <a:noFill/>
        </p:spPr>
        <p:txBody>
          <a:bodyPr wrap="square" lIns="0" rIns="0" tIns="0" bIns="0">
            <a:noAutofit/>
          </a:bodyPr>
          <a:lstStyle/>
          <a:p>
            <a:pPr algn="l">
              <a:lnSpc>
                <a:spcPts val="2457"/>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参照応答：车型#CX、车牌#CP。</a:t>
            </a:r>
          </a:p>
        </p:txBody>
      </p:sp>
      <p:sp>
        <p:nvSpPr>
          <p:cNvPr id="10" name="sources"/>
          <p:cNvSpPr txBox="1"/>
          <p:nvPr/>
        </p:nvSpPr>
        <p:spPr>
          <a:xfrm>
            <a:off x="502920" y="4700016"/>
            <a:ext cx="8183879" cy="621792"/>
          </a:xfrm>
          <a:prstGeom prst="rect">
            <a:avLst/>
          </a:prstGeom>
          <a:noFill/>
        </p:spPr>
        <p:txBody>
          <a:bodyPr wrap="square" lIns="0" rIns="0" tIns="0" bIns="0">
            <a:noAutofit/>
          </a:bodyPr>
          <a:lstStyle/>
          <a:p>
            <a:pPr algn="l">
              <a:lnSpc>
                <a:spcPts val="12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Qi Zhu et al. (2020). CrossWOZ公式配布データ。固定commit df82c9fd。 test.json / dialogue 10113 / messages[0:5] → [5]。</a:t>
            </a:r>
          </a:p>
          <a:p>
            <a:pPr>
              <a:lnSpc>
                <a:spcPts val="12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https://github.com/thu-coai/CrossWOZ/tree/df82c9fdff91b9b130f2d6b89110d3870ba6260e/data/crosswoz</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実例3：二つの施設をタクシーで結ぶ（訳）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対話の履歴から、次の応答を読む</a:t>
            </a:r>
          </a:p>
        </p:txBody>
      </p:sp>
      <p:sp>
        <p:nvSpPr>
          <p:cNvPr id="4" name="TextBox 3"/>
          <p:cNvSpPr txBox="1"/>
          <p:nvPr/>
        </p:nvSpPr>
        <p:spPr>
          <a:xfrm>
            <a:off x="548640" y="1289304"/>
            <a:ext cx="8046720" cy="228600"/>
          </a:xfrm>
          <a:prstGeom prst="rect">
            <a:avLst/>
          </a:prstGeom>
          <a:noFill/>
        </p:spPr>
        <p:txBody>
          <a:bodyPr wrap="square" lIns="0" rIns="0" tIns="0" bIns="0">
            <a:noAutofit/>
          </a:bodyPr>
          <a:lstStyle/>
          <a:p>
            <a:pPr algn="l">
              <a:lnSpc>
                <a:spcPts val="1322"/>
              </a:lnSpc>
              <a:spcBef>
                <a:spcPts val="0"/>
              </a:spcBef>
              <a:spcAft>
                <a:spcPts val="0"/>
              </a:spcAft>
              <a:buNone/>
              <a:defRPr sz="1130" b="0">
                <a:solidFill>
                  <a:srgbClr val="303437"/>
                </a:solidFill>
                <a:latin typeface="Noto Sans"/>
              </a:defRPr>
            </a:pPr>
            <a:r>
              <a:rPr sz="1130" b="0" lang="ja-JP" altLang="en-US">
                <a:solidFill>
                  <a:srgbClr val="626669"/>
                </a:solidFill>
                <a:latin typeface="Noto Sans"/>
                <a:ea typeface="Noto Sans CJK JP"/>
                <a:cs typeface="Noto Sans"/>
              </a:rPr>
              <a:t>test / 対話10113 / 全履歴 5発話 → 収録応答1発話 ／ 訳は左→右</a:t>
            </a:r>
          </a:p>
        </p:txBody>
      </p:sp>
      <p:sp>
        <p:nvSpPr>
          <p:cNvPr id="6" name="quote-frame"/>
          <p:cNvSpPr/>
          <p:nvPr/>
        </p:nvSpPr>
        <p:spPr>
          <a:xfrm>
            <a:off x="548640" y="1508760"/>
            <a:ext cx="3886200" cy="2065119"/>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71967" bIns="127000">
            <a:noAutofit/>
          </a:bodyPr>
          <a:lstStyle/>
          <a:p>
            <a:pPr algn="l">
              <a:lnSpc>
                <a:spcPts val="1677"/>
              </a:lnSpc>
              <a:spcBef>
                <a:spcPts val="0"/>
              </a:spcBef>
              <a:spcAft>
                <a:spcPts val="0"/>
              </a:spcAft>
              <a:buNone/>
              <a:defRPr sz="1410" b="0">
                <a:solidFill>
                  <a:srgbClr val="303437"/>
                </a:solidFill>
                <a:latin typeface="Noto Sans"/>
              </a:defRPr>
            </a:pPr>
            <a:r>
              <a:rPr sz="1410" b="0" lang="ja-JP" altLang="en-US">
                <a:solidFill>
                  <a:srgbClr val="303437"/>
                </a:solidFill>
                <a:latin typeface="Noto Sans"/>
                <a:ea typeface="Noto Sans CJK JP"/>
                <a:cs typeface="Noto Sans"/>
              </a:rPr>
              <a:t>利用者：明日の会社の会議で北京麗景湾国際ホテルへ行きます。どの種類のホテルですか。評価は何点ですか。</a:t>
            </a:r>
          </a:p>
          <a:p>
            <a:pPr algn="l">
              <a:lnSpc>
                <a:spcPts val="1677"/>
              </a:lnSpc>
              <a:spcBef>
                <a:spcPts val="0"/>
              </a:spcBef>
              <a:spcAft>
                <a:spcPts val="0"/>
              </a:spcAft>
              <a:buNone/>
              <a:defRPr sz="1410" b="0">
                <a:solidFill>
                  <a:srgbClr val="303437"/>
                </a:solidFill>
                <a:latin typeface="Noto Sans"/>
              </a:defRPr>
            </a:pPr>
            <a:r>
              <a:rPr sz="1410" b="0" lang="ja-JP" altLang="en-US">
                <a:solidFill>
                  <a:srgbClr val="303437"/>
                </a:solidFill>
                <a:latin typeface="Noto Sans"/>
                <a:ea typeface="Noto Sans CJK JP"/>
                <a:cs typeface="Noto Sans"/>
              </a:rPr>
              <a:t>システム：豪華型ホテルで、評価は4.5点です。</a:t>
            </a:r>
          </a:p>
          <a:p>
            <a:pPr algn="l">
              <a:lnSpc>
                <a:spcPts val="1677"/>
              </a:lnSpc>
              <a:spcBef>
                <a:spcPts val="0"/>
              </a:spcBef>
              <a:spcAft>
                <a:spcPts val="0"/>
              </a:spcAft>
              <a:buNone/>
              <a:defRPr sz="1410" b="0">
                <a:solidFill>
                  <a:srgbClr val="303437"/>
                </a:solidFill>
                <a:latin typeface="Noto Sans"/>
              </a:defRPr>
            </a:pPr>
            <a:r>
              <a:rPr sz="1410" b="0" lang="ja-JP" altLang="en-US">
                <a:solidFill>
                  <a:srgbClr val="303437"/>
                </a:solidFill>
                <a:latin typeface="Noto Sans"/>
                <a:ea typeface="Noto Sans CJK JP"/>
                <a:cs typeface="Noto Sans"/>
              </a:rPr>
              <a:t>利用者：では、同僚と武大郎焼餅を食べられ、一人当たりの予算が150～500元のレストランへ行きたいです。電話番号と周辺の観光地も教えてください。</a:t>
            </a:r>
          </a:p>
        </p:txBody>
      </p:sp>
      <p:sp>
        <p:nvSpPr>
          <p:cNvPr id="8" name="quote-frame"/>
          <p:cNvSpPr/>
          <p:nvPr/>
        </p:nvSpPr>
        <p:spPr>
          <a:xfrm>
            <a:off x="4709159" y="1508760"/>
            <a:ext cx="3886200" cy="2056652"/>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71967" bIns="127000">
            <a:noAutofit/>
          </a:bodyPr>
          <a:lstStyle/>
          <a:p>
            <a:pPr algn="l">
              <a:lnSpc>
                <a:spcPts val="1677"/>
              </a:lnSpc>
              <a:spcBef>
                <a:spcPts val="0"/>
              </a:spcBef>
              <a:spcAft>
                <a:spcPts val="0"/>
              </a:spcAft>
              <a:buNone/>
              <a:defRPr sz="1410" b="0">
                <a:solidFill>
                  <a:srgbClr val="303437"/>
                </a:solidFill>
                <a:latin typeface="Noto Sans"/>
              </a:defRPr>
            </a:pPr>
            <a:r>
              <a:rPr sz="1410" b="0" lang="ja-JP" altLang="en-US">
                <a:solidFill>
                  <a:srgbClr val="303437"/>
                </a:solidFill>
                <a:latin typeface="Noto Sans"/>
                <a:ea typeface="Noto Sans CJK JP"/>
                <a:cs typeface="Noto Sans"/>
              </a:rPr>
              <a:t>予定を立てます。</a:t>
            </a:r>
          </a:p>
          <a:p>
            <a:pPr algn="l">
              <a:lnSpc>
                <a:spcPts val="1677"/>
              </a:lnSpc>
              <a:spcBef>
                <a:spcPts val="0"/>
              </a:spcBef>
              <a:spcAft>
                <a:spcPts val="0"/>
              </a:spcAft>
              <a:buNone/>
              <a:defRPr sz="1410" b="0">
                <a:solidFill>
                  <a:srgbClr val="303437"/>
                </a:solidFill>
                <a:latin typeface="Noto Sans"/>
              </a:defRPr>
            </a:pPr>
            <a:r>
              <a:rPr sz="1410" b="0" lang="ja-JP" altLang="en-US">
                <a:solidFill>
                  <a:srgbClr val="303437"/>
                </a:solidFill>
                <a:latin typeface="Noto Sans"/>
                <a:ea typeface="Noto Sans CJK JP"/>
                <a:cs typeface="Noto Sans"/>
              </a:rPr>
              <a:t>システム：藍海鐘鼎楼食府（魯谷店）をお勧めします。電話は010-68639999、周辺には歓楽水魔方水上楽園、石景山遊楽園などがあります。</a:t>
            </a:r>
          </a:p>
          <a:p>
            <a:pPr algn="l">
              <a:lnSpc>
                <a:spcPts val="1677"/>
              </a:lnSpc>
              <a:spcBef>
                <a:spcPts val="0"/>
              </a:spcBef>
              <a:spcAft>
                <a:spcPts val="0"/>
              </a:spcAft>
              <a:buNone/>
              <a:defRPr sz="1410" b="0">
                <a:solidFill>
                  <a:srgbClr val="303437"/>
                </a:solidFill>
                <a:latin typeface="Noto Sans"/>
              </a:defRPr>
            </a:pPr>
            <a:r>
              <a:rPr sz="1410" b="0" lang="ja-JP" altLang="en-US">
                <a:solidFill>
                  <a:srgbClr val="303437"/>
                </a:solidFill>
                <a:latin typeface="Noto Sans"/>
                <a:ea typeface="Noto Sans CJK JP"/>
                <a:cs typeface="Noto Sans"/>
              </a:rPr>
              <a:t>利用者：北京麗景湾国際ホテルから藍海鐘鼎楼食府（魯谷店）へタクシーで行く場合、車種とナンバーを教えてもらえますか。</a:t>
            </a:r>
          </a:p>
        </p:txBody>
      </p:sp>
      <p:sp>
        <p:nvSpPr>
          <p:cNvPr id="9" name="TextBox 8"/>
          <p:cNvSpPr txBox="1"/>
          <p:nvPr/>
        </p:nvSpPr>
        <p:spPr>
          <a:xfrm>
            <a:off x="548640" y="3683946"/>
            <a:ext cx="8046720" cy="362839"/>
          </a:xfrm>
          <a:prstGeom prst="rect">
            <a:avLst/>
          </a:prstGeom>
          <a:noFill/>
        </p:spPr>
        <p:txBody>
          <a:bodyPr wrap="square" lIns="0" rIns="0" tIns="0" bIns="0">
            <a:noAutofit/>
          </a:bodyPr>
          <a:lstStyle/>
          <a:p>
            <a:pPr algn="l">
              <a:lnSpc>
                <a:spcPts val="2457"/>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参照応答：車種は#CX、ナンバーは#CPです。</a:t>
            </a:r>
          </a:p>
        </p:txBody>
      </p:sp>
      <p:sp>
        <p:nvSpPr>
          <p:cNvPr id="10" name="sources"/>
          <p:cNvSpPr txBox="1"/>
          <p:nvPr/>
        </p:nvSpPr>
        <p:spPr>
          <a:xfrm>
            <a:off x="502920" y="4700016"/>
            <a:ext cx="8183879" cy="621792"/>
          </a:xfrm>
          <a:prstGeom prst="rect">
            <a:avLst/>
          </a:prstGeom>
          <a:noFill/>
        </p:spPr>
        <p:txBody>
          <a:bodyPr wrap="square" lIns="0" rIns="0" tIns="0" bIns="0">
            <a:noAutofit/>
          </a:bodyPr>
          <a:lstStyle/>
          <a:p>
            <a:pPr algn="l">
              <a:lnSpc>
                <a:spcPts val="12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Qi Zhu et al. (2020). CrossWOZ公式配布データ。固定commit df82c9fd。 test.json / dialogue 10113 / messages[0:5] → [5]。</a:t>
            </a:r>
          </a:p>
          <a:p>
            <a:pPr>
              <a:lnSpc>
                <a:spcPts val="12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https://github.com/thu-coai/CrossWOZ/tree/df82c9fdff91b9b130f2d6b89110d3870ba6260e/data/crosswoz</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タクシーは、施設間の関係を引き継ぐ</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実例3では、先に選んだホテルとレストランが、タクシーの出発地と目的地になる。移動の要求は、それまでの会話に依存する。</a:t>
            </a:r>
          </a:p>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収録応答の#CXと#CPは、車種と車両番号のプレースホルダー。タクシーDBは固定テンプレートで、実車の配車情報ではない。</a:t>
            </a:r>
          </a:p>
          <a:p>
            <a:pPr marL="457200" indent="-355600">
              <a:lnSpc>
                <a:spcPts val="2499"/>
              </a:lnSpc>
              <a:spcAft>
                <a:spcPts val="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同じ旅行相談でも、単独の施設検索と、施設間の関係を使う相談では必要な文脈が異なる。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対話の履歴から、次の応答を読む</a:t>
            </a:r>
          </a:p>
        </p:txBody>
      </p:sp>
      <p:sp>
        <p:nvSpPr>
          <p:cNvPr id="5" name="sources"/>
          <p:cNvSpPr txBox="1"/>
          <p:nvPr/>
        </p:nvSpPr>
        <p:spPr>
          <a:xfrm>
            <a:off x="502920" y="4700016"/>
            <a:ext cx="8183879" cy="621792"/>
          </a:xfrm>
          <a:prstGeom prst="rect">
            <a:avLst/>
          </a:prstGeom>
          <a:noFill/>
        </p:spPr>
        <p:txBody>
          <a:bodyPr wrap="square" lIns="0" rIns="0" tIns="0" bIns="0">
            <a:noAutofit/>
          </a:bodyPr>
          <a:lstStyle/>
          <a:p>
            <a:pPr algn="l">
              <a:lnSpc>
                <a:spcPts val="12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Qi Zhu et al. CrossWOZ database / database.md. 固定commit df82c9fd。</a:t>
            </a:r>
          </a:p>
          <a:p>
            <a:pPr>
              <a:lnSpc>
                <a:spcPts val="12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https://github.com/thu-coai/CrossWOZ/tree/df82c9fdff91b9b130f2d6b89110d3870ba6260e/data/crosswoz/database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2. 目標・状態・DBのある対話</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目標・状態・DBのある対話</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6,012対話、101,626発話を収録</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目標・状態・DBのある対話</a:t>
            </a:r>
          </a:p>
        </p:txBody>
      </p:sp>
      <p:graphicFrame>
        <p:nvGraphicFramePr>
          <p:cNvPr id="4" name="Table 3"/>
          <p:cNvGraphicFramePr>
            <a:graphicFrameLocks noGrp="1"/>
          </p:cNvGraphicFramePr>
          <p:nvPr/>
        </p:nvGraphicFramePr>
        <p:xfrm>
          <a:off x="548640" y="1508760"/>
          <a:ext cx="8046720" cy="1828800"/>
        </p:xfrm>
        <a:graphic>
          <a:graphicData uri="http://schemas.openxmlformats.org/drawingml/2006/table">
            <a:tbl>
              <a:tblPr firstRow="0" bandRow="0"/>
              <a:tblGrid>
                <a:gridCol w="1828800"/>
                <a:gridCol w="2011680"/>
                <a:gridCol w="2103120"/>
                <a:gridCol w="2103120"/>
              </a:tblGrid>
              <a:tr h="457200">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分割</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対話</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発話</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sys応答</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57200">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train</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5,012</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84,692</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42,346</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57200">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val</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500</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8,458</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4,229</a:t>
                      </a:r>
                    </a:p>
                  </a:txBody>
                  <a:tcPr marL="63500" marR="63500" marT="38100" marB="38100" anchor="ctr">
                    <a:lnL w="7620">
                      <a:noFill/>
                    </a:lnL>
                    <a:lnR w="7620">
                      <a:noFill/>
                    </a:lnR>
                    <a:lnT w="7620">
                      <a:noFill/>
                    </a:lnT>
                    <a:lnB w="7620">
                      <a:noFill/>
                    </a:lnB>
                    <a:solidFill>
                      <a:srgbClr val="FFFEF8"/>
                    </a:solidFill>
                  </a:tcPr>
                </a:tc>
              </a:tr>
              <a:tr h="457200">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test</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500</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8,476</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4,238</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474720"/>
            <a:ext cx="7955279" cy="603504"/>
          </a:xfrm>
          <a:prstGeom prst="rect">
            <a:avLst/>
          </a:prstGeom>
          <a:noFill/>
        </p:spPr>
        <p:txBody>
          <a:bodyPr wrap="square" lIns="0" rIns="0" tIns="0" bIns="0">
            <a:noAutofit/>
          </a:bodyPr>
          <a:lstStyle/>
          <a:p>
            <a:pPr algn="l">
              <a:lnSpc>
                <a:spcPts val="1930"/>
              </a:lnSpc>
              <a:spcBef>
                <a:spcPts val="0"/>
              </a:spcBef>
              <a:spcAft>
                <a:spcPts val="0"/>
              </a:spcAft>
              <a:buNone/>
              <a:defRPr sz="1650" b="0">
                <a:solidFill>
                  <a:srgbClr val="303437"/>
                </a:solidFill>
                <a:latin typeface="Noto Sans"/>
              </a:defRPr>
            </a:pPr>
            <a:r>
              <a:rPr sz="1650" b="0" lang="ja-JP" altLang="en-US">
                <a:solidFill>
                  <a:srgbClr val="303437"/>
                </a:solidFill>
                <a:latin typeface="Noto Sans"/>
                <a:ea typeface="Noto Sans CJK JP"/>
                <a:cs typeface="Noto Sans"/>
              </a:rPr>
              <a:t>公式ZIPの全件再集計。発話は片側1回で数え、利用者とシステムの一往復は2発話。</a:t>
            </a:r>
          </a:p>
        </p:txBody>
      </p:sp>
      <p:sp>
        <p:nvSpPr>
          <p:cNvPr id="6" name="sources"/>
          <p:cNvSpPr txBox="1"/>
          <p:nvPr/>
        </p:nvSpPr>
        <p:spPr>
          <a:xfrm>
            <a:off x="502920" y="4700016"/>
            <a:ext cx="8183879" cy="621792"/>
          </a:xfrm>
          <a:prstGeom prst="rect">
            <a:avLst/>
          </a:prstGeom>
          <a:noFill/>
        </p:spPr>
        <p:txBody>
          <a:bodyPr wrap="square" lIns="0" rIns="0" tIns="0" bIns="0">
            <a:noAutofit/>
          </a:bodyPr>
          <a:lstStyle/>
          <a:p>
            <a:pPr algn="l">
              <a:lnSpc>
                <a:spcPts val="12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Qi Zhu et al. (2020). CrossWOZ公式配布データ。固定commit df82c9fd。</a:t>
            </a:r>
          </a:p>
          <a:p>
            <a:pPr>
              <a:lnSpc>
                <a:spcPts val="12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https://github.com/thu-coai/CrossWOZ/tree/df82c9fdff91b9b130f2d6b89110d3870ba6260e/data/crosswoz</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対話は、二人の作業者が同期して作る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構築時には、北京の施設情報から旅行目標を作り、旅行者役と案内役が同時に接続する収集サイトで会話した。訓練を受けた90人が参加した。</a:t>
            </a:r>
          </a:p>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旅行者は、目標の項目を選んで発話し、回答を受けて状態を更新する。案内役はDBを検索して施設を選び、自然な言葉で返す。</a:t>
            </a:r>
          </a:p>
          <a:p>
            <a:pPr marL="457200" indent="-355600">
              <a:lnSpc>
                <a:spcPts val="2499"/>
              </a:lnSpc>
              <a:spcAft>
                <a:spcPts val="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未完了の対話を除き、対話単位で学習・検証・テストへ無作為に分割した。発話ごとに分割する設計ではない。</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目標・状態・DBのある対話</a:t>
            </a:r>
          </a:p>
        </p:txBody>
      </p:sp>
      <p:sp>
        <p:nvSpPr>
          <p:cNvPr id="5" name="sources"/>
          <p:cNvSpPr txBox="1"/>
          <p:nvPr/>
        </p:nvSpPr>
        <p:spPr>
          <a:xfrm>
            <a:off x="502920" y="4700016"/>
            <a:ext cx="8183879" cy="621792"/>
          </a:xfrm>
          <a:prstGeom prst="rect">
            <a:avLst/>
          </a:prstGeom>
          <a:noFill/>
        </p:spPr>
        <p:txBody>
          <a:bodyPr wrap="square" lIns="0" rIns="0" tIns="0" bIns="0">
            <a:noAutofit/>
          </a:bodyPr>
          <a:lstStyle/>
          <a:p>
            <a:pPr algn="l">
              <a:lnSpc>
                <a:spcPts val="12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Zhu et al. (2020). CrossWOZ: A Large-Scale Chinese Cross-Domain Task-Oriented Dialogue Dataset. TACL 8:281–295.</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https://aclanthology.org/2020.tacl-1.19/</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施設情報と交通のDBを用意する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目標・状態・DBのある対話</a:t>
            </a:r>
          </a:p>
        </p:txBody>
      </p:sp>
      <p:graphicFrame>
        <p:nvGraphicFramePr>
          <p:cNvPr id="4" name="Table 3"/>
          <p:cNvGraphicFramePr>
            <a:graphicFrameLocks noGrp="1"/>
          </p:cNvGraphicFramePr>
          <p:nvPr/>
        </p:nvGraphicFramePr>
        <p:xfrm>
          <a:off x="548640" y="1508760"/>
          <a:ext cx="8046720" cy="2628265"/>
        </p:xfrm>
        <a:graphic>
          <a:graphicData uri="http://schemas.openxmlformats.org/drawingml/2006/table">
            <a:tbl>
              <a:tblPr firstRow="0" bandRow="0"/>
              <a:tblGrid>
                <a:gridCol w="1463040"/>
                <a:gridCol w="1828800"/>
                <a:gridCol w="4754880"/>
              </a:tblGrid>
              <a:tr h="669290">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DB</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配布レコード数</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主な内容</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391795">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観光地</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465</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料金・評価・周辺施設</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391795">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レストラン</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951</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料理・一人当たり予算・周辺施設</a:t>
                      </a:r>
                    </a:p>
                  </a:txBody>
                  <a:tcPr marL="63500" marR="63500" marT="38100" marB="38100" anchor="ctr">
                    <a:lnL w="7620">
                      <a:noFill/>
                    </a:lnL>
                    <a:lnR w="7620">
                      <a:noFill/>
                    </a:lnR>
                    <a:lnT w="7620">
                      <a:noFill/>
                    </a:lnT>
                    <a:lnB w="7620">
                      <a:noFill/>
                    </a:lnB>
                    <a:solidFill>
                      <a:srgbClr val="FFFEF8"/>
                    </a:solidFill>
                  </a:tcPr>
                </a:tc>
              </a:tr>
              <a:tr h="391795">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ホテル</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1,133</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価格・種類・設備・周辺施設</a:t>
                      </a:r>
                    </a:p>
                  </a:txBody>
                  <a:tcPr marL="63500" marR="63500" marT="38100" marB="38100" anchor="ctr">
                    <a:lnL w="7620">
                      <a:noFill/>
                    </a:lnL>
                    <a:lnR w="7620">
                      <a:noFill/>
                    </a:lnR>
                    <a:lnT w="7620">
                      <a:noFill/>
                    </a:lnT>
                    <a:lnB w="7620">
                      <a:noFill/>
                    </a:lnB>
                    <a:solidFill>
                      <a:srgbClr val="FFFEF8"/>
                    </a:solidFill>
                  </a:tcPr>
                </a:tc>
              </a:tr>
              <a:tr h="391795">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地下鉄</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2,549</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各施設の最寄り駅情報</a:t>
                      </a:r>
                    </a:p>
                  </a:txBody>
                  <a:tcPr marL="63500" marR="63500" marT="38100" marB="38100" anchor="ctr">
                    <a:lnL w="7620">
                      <a:noFill/>
                    </a:lnL>
                    <a:lnR w="7620">
                      <a:noFill/>
                    </a:lnR>
                    <a:lnT w="7620">
                      <a:noFill/>
                    </a:lnT>
                    <a:lnB w="7620">
                      <a:noFill/>
                    </a:lnB>
                    <a:solidFill>
                      <a:srgbClr val="FFFEF8"/>
                    </a:solidFill>
                  </a:tcPr>
                </a:tc>
              </a:tr>
              <a:tr h="391795">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タクシー</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1テンプレート</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#CX、#CP</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4274185"/>
            <a:ext cx="7955279" cy="603504"/>
          </a:xfrm>
          <a:prstGeom prst="rect">
            <a:avLst/>
          </a:prstGeom>
          <a:noFill/>
        </p:spPr>
        <p:txBody>
          <a:bodyPr wrap="square" lIns="0" rIns="0" tIns="0" bIns="0">
            <a:noAutofit/>
          </a:bodyPr>
          <a:lstStyle/>
          <a:p>
            <a:pPr algn="l">
              <a:lnSpc>
                <a:spcPts val="1930"/>
              </a:lnSpc>
              <a:spcBef>
                <a:spcPts val="0"/>
              </a:spcBef>
              <a:spcAft>
                <a:spcPts val="0"/>
              </a:spcAft>
              <a:buNone/>
              <a:defRPr sz="1650" b="0">
                <a:solidFill>
                  <a:srgbClr val="303437"/>
                </a:solidFill>
                <a:latin typeface="Noto Sans"/>
              </a:defRPr>
            </a:pPr>
            <a:r>
              <a:rPr sz="1650" b="0" lang="ja-JP" altLang="en-US">
                <a:solidFill>
                  <a:srgbClr val="303437"/>
                </a:solidFill>
                <a:latin typeface="Noto Sans"/>
                <a:ea typeface="Noto Sans CJK JP"/>
                <a:cs typeface="Noto Sans"/>
              </a:rPr>
              <a:t>固定配布を再集計。地下鉄の2,549は駅数ではなく、3種類の施設に対応する項目数。</a:t>
            </a:r>
          </a:p>
        </p:txBody>
      </p:sp>
      <p:sp>
        <p:nvSpPr>
          <p:cNvPr id="6" name="sources"/>
          <p:cNvSpPr txBox="1"/>
          <p:nvPr/>
        </p:nvSpPr>
        <p:spPr>
          <a:xfrm>
            <a:off x="502920" y="4700016"/>
            <a:ext cx="8183879" cy="621792"/>
          </a:xfrm>
          <a:prstGeom prst="rect">
            <a:avLst/>
          </a:prstGeom>
          <a:noFill/>
        </p:spPr>
        <p:txBody>
          <a:bodyPr wrap="square" lIns="0" rIns="0" tIns="0" bIns="0">
            <a:noAutofit/>
          </a:bodyPr>
          <a:lstStyle/>
          <a:p>
            <a:pPr algn="l">
              <a:lnSpc>
                <a:spcPts val="12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Qi Zhu et al. CrossWOZ database / database.md. 固定commit df82c9fd。</a:t>
            </a:r>
          </a:p>
          <a:p>
            <a:pPr>
              <a:lnSpc>
                <a:spcPts val="12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https://github.com/thu-coai/CrossWOZ/tree/df82c9fdff91b9b130f2d6b89110d3870ba6260e/data/crosswoz/database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目標の依存関係で、5種類に分ける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目標・状態・DBのある対話</a:t>
            </a:r>
          </a:p>
        </p:txBody>
      </p:sp>
      <p:graphicFrame>
        <p:nvGraphicFramePr>
          <p:cNvPr id="4" name="Table 3"/>
          <p:cNvGraphicFramePr>
            <a:graphicFrameLocks noGrp="1"/>
          </p:cNvGraphicFramePr>
          <p:nvPr/>
        </p:nvGraphicFramePr>
        <p:xfrm>
          <a:off x="548640" y="1508760"/>
          <a:ext cx="8046720" cy="2350770"/>
        </p:xfrm>
        <a:graphic>
          <a:graphicData uri="http://schemas.openxmlformats.org/drawingml/2006/table">
            <a:tbl>
              <a:tblPr firstRow="0" bandRow="0"/>
              <a:tblGrid>
                <a:gridCol w="1097280"/>
                <a:gridCol w="5120640"/>
                <a:gridCol w="1828800"/>
              </a:tblGrid>
              <a:tr h="391795">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種類</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目標の特徴</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train対話数</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391795">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S</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施設の下位目標が一つ</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417</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391795">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M</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独立した複数の施設目標</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1,573</a:t>
                      </a:r>
                    </a:p>
                  </a:txBody>
                  <a:tcPr marL="63500" marR="63500" marT="38100" marB="38100" anchor="ctr">
                    <a:lnL w="7620">
                      <a:noFill/>
                    </a:lnL>
                    <a:lnR w="7620">
                      <a:noFill/>
                    </a:lnR>
                    <a:lnT w="7620">
                      <a:noFill/>
                    </a:lnT>
                    <a:lnB w="7620">
                      <a:noFill/>
                    </a:lnB>
                    <a:solidFill>
                      <a:srgbClr val="FFFEF8"/>
                    </a:solidFill>
                  </a:tcPr>
                </a:tc>
              </a:tr>
              <a:tr h="391795">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M+T</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Mに地下鉄やタクシーを追加</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691</a:t>
                      </a:r>
                    </a:p>
                  </a:txBody>
                  <a:tcPr marL="63500" marR="63500" marT="38100" marB="38100" anchor="ctr">
                    <a:lnL w="7620">
                      <a:noFill/>
                    </a:lnL>
                    <a:lnR w="7620">
                      <a:noFill/>
                    </a:lnR>
                    <a:lnT w="7620">
                      <a:noFill/>
                    </a:lnT>
                    <a:lnB w="7620">
                      <a:noFill/>
                    </a:lnB>
                    <a:solidFill>
                      <a:srgbClr val="FFFEF8"/>
                    </a:solidFill>
                  </a:tcPr>
                </a:tc>
              </a:tr>
              <a:tr h="391795">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CM</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他施設の周辺など、目標が依存</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1,759</a:t>
                      </a:r>
                    </a:p>
                  </a:txBody>
                  <a:tcPr marL="63500" marR="63500" marT="38100" marB="38100" anchor="ctr">
                    <a:lnL w="7620">
                      <a:noFill/>
                    </a:lnL>
                    <a:lnR w="7620">
                      <a:noFill/>
                    </a:lnR>
                    <a:lnT w="7620">
                      <a:noFill/>
                    </a:lnT>
                    <a:lnB w="7620">
                      <a:noFill/>
                    </a:lnB>
                    <a:solidFill>
                      <a:srgbClr val="FFFEF8"/>
                    </a:solidFill>
                  </a:tcPr>
                </a:tc>
              </a:tr>
              <a:tr h="391795">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CM+T</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CMに地下鉄やタクシーを追加</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572</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996690"/>
            <a:ext cx="7955279" cy="603504"/>
          </a:xfrm>
          <a:prstGeom prst="rect">
            <a:avLst/>
          </a:prstGeom>
          <a:noFill/>
        </p:spPr>
        <p:txBody>
          <a:bodyPr wrap="square" lIns="0" rIns="0" tIns="0" bIns="0">
            <a:noAutofit/>
          </a:bodyPr>
          <a:lstStyle/>
          <a:p>
            <a:pPr algn="l">
              <a:lnSpc>
                <a:spcPts val="1930"/>
              </a:lnSpc>
              <a:spcBef>
                <a:spcPts val="0"/>
              </a:spcBef>
              <a:spcAft>
                <a:spcPts val="0"/>
              </a:spcAft>
              <a:buNone/>
              <a:defRPr sz="1650" b="0">
                <a:solidFill>
                  <a:srgbClr val="303437"/>
                </a:solidFill>
                <a:latin typeface="Noto Sans"/>
              </a:defRPr>
            </a:pPr>
            <a:r>
              <a:rPr sz="1650" b="0" lang="ja-JP" altLang="en-US">
                <a:solidFill>
                  <a:srgbClr val="303437"/>
                </a:solidFill>
                <a:latin typeface="Noto Sans"/>
                <a:ea typeface="Noto Sans CJK JP"/>
                <a:cs typeface="Noto Sans"/>
              </a:rPr>
              <a:t>HARはhotel・attraction・restaurantの3領域。分割ファイルのtype値でも全5件数を照合した。</a:t>
            </a:r>
          </a:p>
        </p:txBody>
      </p:sp>
      <p:sp>
        <p:nvSpPr>
          <p:cNvPr id="6" name="sources"/>
          <p:cNvSpPr txBox="1"/>
          <p:nvPr/>
        </p:nvSpPr>
        <p:spPr>
          <a:xfrm>
            <a:off x="502920" y="4700016"/>
            <a:ext cx="8183879" cy="621792"/>
          </a:xfrm>
          <a:prstGeom prst="rect">
            <a:avLst/>
          </a:prstGeom>
          <a:noFill/>
        </p:spPr>
        <p:txBody>
          <a:bodyPr wrap="square" lIns="0" rIns="0" tIns="0" bIns="0">
            <a:noAutofit/>
          </a:bodyPr>
          <a:lstStyle/>
          <a:p>
            <a:pPr algn="l">
              <a:lnSpc>
                <a:spcPts val="12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Zhu et al. (2020). CrossWOZ: A Large-Scale Chinese Cross-Domain Task-Oriented Dialogue Dataset. TACL 8:281–295.</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https://aclanthology.org/2020.tacl-1.19/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目標には、条件と知りたい項目を持つ</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goalは、下位目標ID、領域、スロット、値、すでに言及したかの印を並べた構造。価格や評価の条件と、名称・電話などの未回答項目を表す。</a:t>
            </a:r>
          </a:p>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領域をまたぐ目標では、前に選んだ施設の近くを探す指定や、id=1からid=2へ移動する指定を持つ。実際の施設名は会話の進行で決まる。</a:t>
            </a:r>
          </a:p>
          <a:p>
            <a:pPr marL="457200" indent="-355600">
              <a:lnSpc>
                <a:spcPts val="2379"/>
              </a:lnSpc>
              <a:spcAft>
                <a:spcPts val="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user_stateは会話中の目標の状態。回答された値を埋め、候補がなければ条件を変えることもできる。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目標・状態・DBのある対話</a:t>
            </a:r>
          </a:p>
        </p:txBody>
      </p:sp>
      <p:sp>
        <p:nvSpPr>
          <p:cNvPr id="5" name="sources"/>
          <p:cNvSpPr txBox="1"/>
          <p:nvPr/>
        </p:nvSpPr>
        <p:spPr>
          <a:xfrm>
            <a:off x="502920" y="4700016"/>
            <a:ext cx="8183879" cy="621792"/>
          </a:xfrm>
          <a:prstGeom prst="rect">
            <a:avLst/>
          </a:prstGeom>
          <a:noFill/>
        </p:spPr>
        <p:txBody>
          <a:bodyPr wrap="square" lIns="0" rIns="0" tIns="0" bIns="0">
            <a:noAutofit/>
          </a:bodyPr>
          <a:lstStyle/>
          <a:p>
            <a:pPr algn="l">
              <a:lnSpc>
                <a:spcPts val="12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Qi Zhu et al. CrossWOZ. 公式リポジトリ・README（2026-10-18取得）。</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https://github.com/thu-coai/CrossWOZ</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状態と、発話の役割を別々に記録する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案内役のsys_state_initは最初のDB検索、sys_stateは最後の検索。候補が見つからず条件を緩めた場合、両者は異なる。</a:t>
            </a:r>
          </a:p>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dialog_actは「意図・領域・スロット・値」の組。Inform、Request、Recommend、NoOffer、Select、Generalの6種類の意図を使う。</a:t>
            </a:r>
          </a:p>
          <a:p>
            <a:pPr marL="457200" indent="-355600">
              <a:lnSpc>
                <a:spcPts val="2379"/>
              </a:lnSpc>
              <a:spcAft>
                <a:spcPts val="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人が記録した状態と発話の履歴から、規則と語句の照合で対話行為を付与した。一つの発話に複数の組が付く。</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目標・状態・DBのある対話</a:t>
            </a:r>
          </a:p>
        </p:txBody>
      </p:sp>
      <p:sp>
        <p:nvSpPr>
          <p:cNvPr id="5" name="sources"/>
          <p:cNvSpPr txBox="1"/>
          <p:nvPr/>
        </p:nvSpPr>
        <p:spPr>
          <a:xfrm>
            <a:off x="502920" y="4700016"/>
            <a:ext cx="8183879" cy="621792"/>
          </a:xfrm>
          <a:prstGeom prst="rect">
            <a:avLst/>
          </a:prstGeom>
          <a:noFill/>
        </p:spPr>
        <p:txBody>
          <a:bodyPr wrap="square" lIns="0" rIns="0" tIns="0" bIns="0">
            <a:noAutofit/>
          </a:bodyPr>
          <a:lstStyle/>
          <a:p>
            <a:pPr algn="l">
              <a:lnSpc>
                <a:spcPts val="12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Zhu et al. (2020). CrossWOZ: A Large-Scale Chinese Cross-Domain Task-Oriented Dialogue Dataset. TACL 8:281–295.</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https://aclanthology.org/2020.tacl-1.19/</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50対話を、3人の専門家でも注釈した</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目標・状態・DBのある対話</a:t>
            </a:r>
          </a:p>
        </p:txBody>
      </p:sp>
      <p:graphicFrame>
        <p:nvGraphicFramePr>
          <p:cNvPr id="4" name="Table 3"/>
          <p:cNvGraphicFramePr>
            <a:graphicFrameLocks noGrp="1"/>
          </p:cNvGraphicFramePr>
          <p:nvPr/>
        </p:nvGraphicFramePr>
        <p:xfrm>
          <a:off x="548640" y="1508760"/>
          <a:ext cx="8046720" cy="1371600"/>
        </p:xfrm>
        <a:graphic>
          <a:graphicData uri="http://schemas.openxmlformats.org/drawingml/2006/table">
            <a:tbl>
              <a:tblPr firstRow="0" bandRow="0"/>
              <a:tblGrid>
                <a:gridCol w="3931920"/>
                <a:gridCol w="2057400"/>
                <a:gridCol w="2057400"/>
              </a:tblGrid>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比較</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対話行為F1</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状態正解率</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専門家どうしの平均</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94.59%</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93.55%</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配布注釈と各専門家の平均</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95.36%</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94.95%</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017520"/>
            <a:ext cx="7955279" cy="603504"/>
          </a:xfrm>
          <a:prstGeom prst="rect">
            <a:avLst/>
          </a:prstGeom>
          <a:noFill/>
        </p:spPr>
        <p:txBody>
          <a:bodyPr wrap="square" lIns="0" rIns="0" tIns="0" bIns="0">
            <a:noAutofit/>
          </a:bodyPr>
          <a:lstStyle/>
          <a:p>
            <a:pPr algn="l">
              <a:lnSpc>
                <a:spcPts val="1930"/>
              </a:lnSpc>
              <a:spcBef>
                <a:spcPts val="0"/>
              </a:spcBef>
              <a:spcAft>
                <a:spcPts val="0"/>
              </a:spcAft>
              <a:buNone/>
              <a:defRPr sz="1650" b="0">
                <a:solidFill>
                  <a:srgbClr val="303437"/>
                </a:solidFill>
                <a:latin typeface="Noto Sans"/>
              </a:defRPr>
            </a:pPr>
            <a:r>
              <a:rPr sz="1650" b="0" lang="ja-JP" altLang="en-US">
                <a:solidFill>
                  <a:srgbClr val="303437"/>
                </a:solidFill>
                <a:latin typeface="Noto Sans"/>
                <a:ea typeface="Noto Sans CJK JP"/>
                <a:cs typeface="Noto Sans"/>
              </a:rPr>
              <a:t>各目標種10対話、合計50対話・806発話での品質確認。モデルの予測成績ではない。</a:t>
            </a:r>
          </a:p>
        </p:txBody>
      </p:sp>
      <p:sp>
        <p:nvSpPr>
          <p:cNvPr id="6" name="sources"/>
          <p:cNvSpPr txBox="1"/>
          <p:nvPr/>
        </p:nvSpPr>
        <p:spPr>
          <a:xfrm>
            <a:off x="502920" y="4700016"/>
            <a:ext cx="8183879" cy="621792"/>
          </a:xfrm>
          <a:prstGeom prst="rect">
            <a:avLst/>
          </a:prstGeom>
          <a:noFill/>
        </p:spPr>
        <p:txBody>
          <a:bodyPr wrap="square" lIns="0" rIns="0" tIns="0" bIns="0">
            <a:noAutofit/>
          </a:bodyPr>
          <a:lstStyle/>
          <a:p>
            <a:pPr algn="l">
              <a:lnSpc>
                <a:spcPts val="12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Zhu et al. (2020). CrossWOZ: A Large-Scale Chinese Cross-Domain Task-Oriented Dialogue Dataset. TACL 8:281–295.</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https://aclanthology.org/2020.tacl-1.19/</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3. 構築時の評価と難しさ</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構築時の評価と難しさ</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対話の部品ごとに、出力を評価する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自然言語理解は発話から対話行為を取り出す。状態追跡は履歴から検索条件を更新し、対話方策は次のシステム行為を選ぶ。</a:t>
            </a:r>
          </a:p>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自然言語生成は、選んだ行為を発話にする。さらに利用者シミュレータと接続し、目標の項目を埋められるかを対話全体で測る。</a:t>
            </a:r>
          </a:p>
          <a:p>
            <a:pPr marL="457200" indent="-355600">
              <a:lnSpc>
                <a:spcPts val="2499"/>
              </a:lnSpc>
              <a:spcAft>
                <a:spcPts val="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発話の生成だけでなく、状態・行為・目標が注釈されているため、どの段階で性能が落ちるかを調べられる。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構築時の評価と難しさ</a:t>
            </a:r>
          </a:p>
        </p:txBody>
      </p:sp>
      <p:sp>
        <p:nvSpPr>
          <p:cNvPr id="5" name="sources"/>
          <p:cNvSpPr txBox="1"/>
          <p:nvPr/>
        </p:nvSpPr>
        <p:spPr>
          <a:xfrm>
            <a:off x="502920" y="4700016"/>
            <a:ext cx="8183879" cy="621792"/>
          </a:xfrm>
          <a:prstGeom prst="rect">
            <a:avLst/>
          </a:prstGeom>
          <a:noFill/>
        </p:spPr>
        <p:txBody>
          <a:bodyPr wrap="square" lIns="0" rIns="0" tIns="0" bIns="0">
            <a:noAutofit/>
          </a:bodyPr>
          <a:lstStyle/>
          <a:p>
            <a:pPr algn="l">
              <a:lnSpc>
                <a:spcPts val="12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Zhu et al. (2020). CrossWOZ: A Large-Scale Chinese Cross-Domain Task-Oriented Dialogue Dataset. TACL 8:281–295.</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https://aclanthology.org/2020.tacl-1.19/</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領域間で依存する目標の状態追跡が難しい</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構築時の評価と難しさ</a:t>
            </a:r>
          </a:p>
        </p:txBody>
      </p:sp>
      <p:graphicFrame>
        <p:nvGraphicFramePr>
          <p:cNvPr id="4" name="Chart 3"/>
          <p:cNvGraphicFramePr>
            <a:graphicFrameLocks noGrp="1"/>
          </p:cNvGraphicFramePr>
          <p:nvPr/>
        </p:nvGraphicFramePr>
        <p:xfrm>
          <a:off x="548640" y="1481328"/>
          <a:ext cx="8046720" cy="2286000"/>
        </p:xfrm>
        <a:graphic>
          <a:graphicData uri="http://schemas.openxmlformats.org/drawingml/2006/chart">
            <c:chart xmlns:c="http://schemas.openxmlformats.org/drawingml/2006/chart" r:id="rId2"/>
          </a:graphicData>
        </a:graphic>
      </p:graphicFrame>
      <p:sp>
        <p:nvSpPr>
          <p:cNvPr id="5" name="TextBox 4"/>
          <p:cNvSpPr txBox="1"/>
          <p:nvPr/>
        </p:nvSpPr>
        <p:spPr>
          <a:xfrm>
            <a:off x="594360" y="3904487"/>
            <a:ext cx="7955279" cy="420624"/>
          </a:xfrm>
          <a:prstGeom prst="rect">
            <a:avLst/>
          </a:prstGeom>
          <a:noFill/>
        </p:spPr>
        <p:txBody>
          <a:bodyPr wrap="square" lIns="0" rIns="0" tIns="0" bIns="0">
            <a:noAutofit/>
          </a:bodyPr>
          <a:lstStyle/>
          <a:p>
            <a:pPr algn="l">
              <a:lnSpc>
                <a:spcPts val="2160"/>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状態完全一致率（%）。test500対話・4,238応答。直前の正解状態と利用者の正解行為を与える。全値を固定実装で再現。</a:t>
            </a:r>
          </a:p>
        </p:txBody>
      </p:sp>
      <p:sp>
        <p:nvSpPr>
          <p:cNvPr id="6" name="sources"/>
          <p:cNvSpPr txBox="1"/>
          <p:nvPr/>
        </p:nvSpPr>
        <p:spPr>
          <a:xfrm>
            <a:off x="502920" y="4700016"/>
            <a:ext cx="8183879" cy="621792"/>
          </a:xfrm>
          <a:prstGeom prst="rect">
            <a:avLst/>
          </a:prstGeom>
          <a:noFill/>
        </p:spPr>
        <p:txBody>
          <a:bodyPr wrap="square" lIns="0" rIns="0" tIns="0" bIns="0">
            <a:noAutofit/>
          </a:bodyPr>
          <a:lstStyle/>
          <a:p>
            <a:pPr algn="l">
              <a:lnSpc>
                <a:spcPts val="12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Qi Zhu et al. CrossWOZ RuleDST / evaluate.py. 固定commit df82c9fd。</a:t>
            </a:r>
          </a:p>
          <a:p>
            <a:pPr>
              <a:lnSpc>
                <a:spcPts val="12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3"/>
              </a:rPr>
              <a:t>https://github.com/thu-coai/CrossWOZ/blob/df82c9fdff91b9b130f2d6b89110d3870ba6260e/convlab2/dst/rule/crosswoz/evaluate.py</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入力条件と、採点単位を対応させる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構築時の評価と難しさ</a:t>
            </a:r>
          </a:p>
        </p:txBody>
      </p:sp>
      <p:graphicFrame>
        <p:nvGraphicFramePr>
          <p:cNvPr id="4" name="Table 3"/>
          <p:cNvGraphicFramePr>
            <a:graphicFrameLocks noGrp="1"/>
          </p:cNvGraphicFramePr>
          <p:nvPr/>
        </p:nvGraphicFramePr>
        <p:xfrm>
          <a:off x="548640" y="1508760"/>
          <a:ext cx="8046720" cy="2337181"/>
        </p:xfrm>
        <a:graphic>
          <a:graphicData uri="http://schemas.openxmlformats.org/drawingml/2006/table">
            <a:tbl>
              <a:tblPr firstRow="0" bandRow="0"/>
              <a:tblGrid>
                <a:gridCol w="2103120"/>
                <a:gridCol w="4389120"/>
                <a:gridCol w="1554480"/>
              </a:tblGrid>
              <a:tr h="420624">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方式（2020）</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出力と評価条件</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成績</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20624">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BERTNLU</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文脈を使う対話行為F1</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95.53%</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654685">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BERTNLU
文脈なし</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対話行為F1</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91.85%</a:t>
                      </a:r>
                    </a:p>
                  </a:txBody>
                  <a:tcPr marL="63500" marR="63500" marT="38100" marB="38100" anchor="ctr">
                    <a:lnL w="7620">
                      <a:noFill/>
                    </a:lnL>
                    <a:lnR w="7620">
                      <a:noFill/>
                    </a:lnR>
                    <a:lnT w="7620">
                      <a:noFill/>
                    </a:lnT>
                    <a:lnB w="7620">
                      <a:noFill/>
                    </a:lnB>
                    <a:solidFill>
                      <a:srgbClr val="FFFEF8"/>
                    </a:solidFill>
                  </a:tcPr>
                </a:tc>
              </a:tr>
              <a:tr h="420624">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TRADE</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履歴文から状態を生成／状態完全一致</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36.08%</a:t>
                      </a:r>
                    </a:p>
                  </a:txBody>
                  <a:tcPr marL="63500" marR="63500" marT="38100" marB="38100" anchor="ctr">
                    <a:lnL w="7620">
                      <a:noFill/>
                    </a:lnL>
                    <a:lnR w="7620">
                      <a:noFill/>
                    </a:lnR>
                    <a:lnT w="7620">
                      <a:noFill/>
                    </a:lnT>
                    <a:lnB w="7620">
                      <a:noFill/>
                    </a:lnB>
                    <a:solidFill>
                      <a:srgbClr val="FFFEF8"/>
                    </a:solidFill>
                  </a:tcPr>
                </a:tc>
              </a:tr>
              <a:tr h="420624">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SL policy</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対話行為F1／具体的な値も照合</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44.92%</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983101"/>
            <a:ext cx="7955279" cy="603504"/>
          </a:xfrm>
          <a:prstGeom prst="rect">
            <a:avLst/>
          </a:prstGeom>
          <a:noFill/>
        </p:spPr>
        <p:txBody>
          <a:bodyPr wrap="square" lIns="0" rIns="0" tIns="0" bIns="0">
            <a:noAutofit/>
          </a:bodyPr>
          <a:lstStyle/>
          <a:p>
            <a:pPr algn="l">
              <a:lnSpc>
                <a:spcPts val="1930"/>
              </a:lnSpc>
              <a:spcBef>
                <a:spcPts val="0"/>
              </a:spcBef>
              <a:spcAft>
                <a:spcPts val="0"/>
              </a:spcAft>
              <a:buNone/>
              <a:defRPr sz="1650" b="0">
                <a:solidFill>
                  <a:srgbClr val="303437"/>
                </a:solidFill>
                <a:latin typeface="Noto Sans"/>
              </a:defRPr>
            </a:pPr>
            <a:r>
              <a:rPr sz="1650" b="0" lang="ja-JP" altLang="en-US">
                <a:solidFill>
                  <a:srgbClr val="303437"/>
                </a:solidFill>
                <a:latin typeface="Noto Sans"/>
                <a:ea typeface="Noto Sans CJK JP"/>
                <a:cs typeface="Noto Sans"/>
              </a:rPr>
              <a:t>構築時のtest報告。RuleDSTは正解状態・正解行為を入力に使い、TRADEは履歴文から生成するため、入力条件が異なる。</a:t>
            </a:r>
          </a:p>
        </p:txBody>
      </p:sp>
      <p:sp>
        <p:nvSpPr>
          <p:cNvPr id="6" name="sources"/>
          <p:cNvSpPr txBox="1"/>
          <p:nvPr/>
        </p:nvSpPr>
        <p:spPr>
          <a:xfrm>
            <a:off x="502920" y="4700016"/>
            <a:ext cx="8183879" cy="621792"/>
          </a:xfrm>
          <a:prstGeom prst="rect">
            <a:avLst/>
          </a:prstGeom>
          <a:noFill/>
        </p:spPr>
        <p:txBody>
          <a:bodyPr wrap="square" lIns="0" rIns="0" tIns="0" bIns="0">
            <a:noAutofit/>
          </a:bodyPr>
          <a:lstStyle/>
          <a:p>
            <a:pPr algn="l">
              <a:lnSpc>
                <a:spcPts val="12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Zhu et al. (2020). CrossWOZ: A Large-Scale Chinese Cross-Domain Task-Oriented Dialogue Dataset. TACL 8:281–295.</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https://aclanthology.org/2020.tacl-1.19/</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RuleDSTは、最初の検索状態を再現する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正解はsys_state_initで、selectedResultsを除いた全領域のスロット値が、すべて一致した発話を正解とする。候補を選んだ後のsys_stateは採点先ではない。</a:t>
            </a:r>
          </a:p>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固定実装を配布testへ適用すると、4,238応答中3,023応答が完全一致し、71.33%。5種類別の値も構築時の報告に一致した。</a:t>
            </a:r>
          </a:p>
          <a:p>
            <a:pPr marL="457200" indent="-355600">
              <a:lnSpc>
                <a:spcPts val="2379"/>
              </a:lnSpc>
              <a:spcAft>
                <a:spcPts val="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ここでは学習済みの生成モデルを新たに実行していない。再計算したのは、規則で状態を更新するRuleDSTである。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構築時の評価と難しさ</a:t>
            </a:r>
          </a:p>
        </p:txBody>
      </p:sp>
      <p:sp>
        <p:nvSpPr>
          <p:cNvPr id="5" name="sources"/>
          <p:cNvSpPr txBox="1"/>
          <p:nvPr/>
        </p:nvSpPr>
        <p:spPr>
          <a:xfrm>
            <a:off x="502920" y="4700016"/>
            <a:ext cx="8183879" cy="621792"/>
          </a:xfrm>
          <a:prstGeom prst="rect">
            <a:avLst/>
          </a:prstGeom>
          <a:noFill/>
        </p:spPr>
        <p:txBody>
          <a:bodyPr wrap="square" lIns="0" rIns="0" tIns="0" bIns="0">
            <a:noAutofit/>
          </a:bodyPr>
          <a:lstStyle/>
          <a:p>
            <a:pPr algn="l">
              <a:lnSpc>
                <a:spcPts val="12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Qi Zhu et al. CrossWOZ RuleDST / evaluate.py. 固定commit df82c9fd。</a:t>
            </a:r>
          </a:p>
          <a:p>
            <a:pPr>
              <a:lnSpc>
                <a:spcPts val="12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https://github.com/thu-coai/CrossWOZ/blob/df82c9fdff91b9b130f2d6b89110d3870ba6260e/convlab2/dst/rule/crosswoz/evaluate.py</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対話全体では、複雑な目標の完了率が下がる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構築時の評価と難しさ</a:t>
            </a:r>
          </a:p>
        </p:txBody>
      </p:sp>
      <p:graphicFrame>
        <p:nvGraphicFramePr>
          <p:cNvPr id="4" name="Table 3"/>
          <p:cNvGraphicFramePr>
            <a:graphicFrameLocks noGrp="1"/>
          </p:cNvGraphicFramePr>
          <p:nvPr/>
        </p:nvGraphicFramePr>
        <p:xfrm>
          <a:off x="548640" y="1508760"/>
          <a:ext cx="8046720" cy="1828800"/>
        </p:xfrm>
        <a:graphic>
          <a:graphicData uri="http://schemas.openxmlformats.org/drawingml/2006/table">
            <a:tbl>
              <a:tblPr firstRow="0" bandRow="0"/>
              <a:tblGrid>
                <a:gridCol w="4937760"/>
                <a:gridCol w="1554480"/>
                <a:gridCol w="1554480"/>
              </a:tblGrid>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2020年の構成</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S</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CM+T</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対話行為で接続するDA Sim</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76.5%</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15.7%</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自然言語＋TemplateNLG</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67.4%</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10.0%</a:t>
                      </a:r>
                    </a:p>
                  </a:txBody>
                  <a:tcPr marL="63500" marR="63500" marT="38100" marB="38100" anchor="ctr">
                    <a:lnL w="7620">
                      <a:noFill/>
                    </a:lnL>
                    <a:lnR w="7620">
                      <a:noFill/>
                    </a:lnR>
                    <a:lnT w="7620">
                      <a:noFill/>
                    </a:lnT>
                    <a:lnB w="7620">
                      <a:noFill/>
                    </a:lnB>
                    <a:solidFill>
                      <a:srgbClr val="FFFEF8"/>
                    </a:solidFill>
                  </a:tcPr>
                </a:tc>
              </a:tr>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自然言語＋SC-LSTM</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60.6%</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9.0%</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474720"/>
            <a:ext cx="7955279" cy="603504"/>
          </a:xfrm>
          <a:prstGeom prst="rect">
            <a:avLst/>
          </a:prstGeom>
          <a:noFill/>
        </p:spPr>
        <p:txBody>
          <a:bodyPr wrap="square" lIns="0" rIns="0" tIns="0" bIns="0">
            <a:noAutofit/>
          </a:bodyPr>
          <a:lstStyle/>
          <a:p>
            <a:pPr algn="l">
              <a:lnSpc>
                <a:spcPts val="1930"/>
              </a:lnSpc>
              <a:spcBef>
                <a:spcPts val="0"/>
              </a:spcBef>
              <a:spcAft>
                <a:spcPts val="0"/>
              </a:spcAft>
              <a:buNone/>
              <a:defRPr sz="1650" b="0">
                <a:solidFill>
                  <a:srgbClr val="303437"/>
                </a:solidFill>
                <a:latin typeface="Noto Sans"/>
              </a:defRPr>
            </a:pPr>
            <a:r>
              <a:rPr sz="1650" b="0" lang="ja-JP" altLang="en-US">
                <a:solidFill>
                  <a:srgbClr val="303437"/>
                </a:solidFill>
                <a:latin typeface="Noto Sans"/>
                <a:ea typeface="Noto Sans CJK JP"/>
                <a:cs typeface="Noto Sans"/>
              </a:rPr>
              <a:t>各目標種1,000回のシミュレーション。全要求項目が値で埋まるとtask finishとする。返答内容の正しさを別に保証する成功率ではない。</a:t>
            </a:r>
          </a:p>
        </p:txBody>
      </p:sp>
      <p:sp>
        <p:nvSpPr>
          <p:cNvPr id="6" name="sources"/>
          <p:cNvSpPr txBox="1"/>
          <p:nvPr/>
        </p:nvSpPr>
        <p:spPr>
          <a:xfrm>
            <a:off x="502920" y="4700016"/>
            <a:ext cx="8183879" cy="621792"/>
          </a:xfrm>
          <a:prstGeom prst="rect">
            <a:avLst/>
          </a:prstGeom>
          <a:noFill/>
        </p:spPr>
        <p:txBody>
          <a:bodyPr wrap="square" lIns="0" rIns="0" tIns="0" bIns="0">
            <a:noAutofit/>
          </a:bodyPr>
          <a:lstStyle/>
          <a:p>
            <a:pPr algn="l">
              <a:lnSpc>
                <a:spcPts val="12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Zhu et al. (2020). CrossWOZ: A Large-Scale Chinese Cross-Domain Task-Oriented Dialogue Dataset. TACL 8:281–295.</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https://aclanthology.org/2020.tacl-1.19/</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表現の一致と、目標の完了は別に測る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生成した文章の評価にはBLEUを使い、対話全体ではシミュレータの目標が埋まるかを測った。</a:t>
            </a:r>
          </a:p>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TemplateNLGはSC-LSTMより低いBLEUでも、自然言語による対話の完了率は高かった。理解器が学習データ由来の定型表現を扱いやすいことを、著者は一因として挙げている。</a:t>
            </a:r>
          </a:p>
          <a:p>
            <a:pPr marL="457200" indent="-355600">
              <a:lnSpc>
                <a:spcPts val="2499"/>
              </a:lnSpc>
              <a:spcAft>
                <a:spcPts val="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収録応答、状態の正解、対話行為、目標の完了は、それぞれ異なる評価対象になる。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構築時の評価と難しさ</a:t>
            </a:r>
          </a:p>
        </p:txBody>
      </p:sp>
      <p:sp>
        <p:nvSpPr>
          <p:cNvPr id="5" name="sources"/>
          <p:cNvSpPr txBox="1"/>
          <p:nvPr/>
        </p:nvSpPr>
        <p:spPr>
          <a:xfrm>
            <a:off x="502920" y="4700016"/>
            <a:ext cx="8183879" cy="621792"/>
          </a:xfrm>
          <a:prstGeom prst="rect">
            <a:avLst/>
          </a:prstGeom>
          <a:noFill/>
        </p:spPr>
        <p:txBody>
          <a:bodyPr wrap="square" lIns="0" rIns="0" tIns="0" bIns="0">
            <a:noAutofit/>
          </a:bodyPr>
          <a:lstStyle/>
          <a:p>
            <a:pPr algn="l">
              <a:lnSpc>
                <a:spcPts val="12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Zhu et al. (2020). CrossWOZ: A Large-Scale Chinese Cross-Domain Task-Oriented Dialogue Dataset. TACL 8:281–295.</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https://aclanthology.org/2020.tacl-1.19/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4. CLEVAでの利用と入手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CLEVAでの利用と入手</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CLEVAでは、履歴から応答を生成する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CLEVAは、CrossWOZをタスク指向対話の生成課題へ採用したと説明する。HELMのCLEVA実装は、各sys発話について、それ以前の全履歴と参照応答を一つのInstanceにする。</a:t>
            </a:r>
          </a:p>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固定設定はdialogue_generation、task_oriented、prompt_id 0～2、version v1。ここで取得したCrossWOZ原版と、CLEVAが選定・整形したv1集合は区別する。</a:t>
            </a:r>
          </a:p>
          <a:p>
            <a:pPr marL="457200" indent="-355600">
              <a:lnSpc>
                <a:spcPts val="2379"/>
              </a:lnSpc>
              <a:spcAft>
                <a:spcPts val="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CLEVA v1の配布集合は取得できず、Classic v0.4.0の公開runも0件。原版全件の応答数を、CLEVAの評価件数として扱わない。</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CLEVAでの利用と入手</a:t>
            </a:r>
          </a:p>
        </p:txBody>
      </p:sp>
      <p:sp>
        <p:nvSpPr>
          <p:cNvPr id="5" name="sources"/>
          <p:cNvSpPr txBox="1"/>
          <p:nvPr/>
        </p:nvSpPr>
        <p:spPr>
          <a:xfrm>
            <a:off x="502920" y="4700016"/>
            <a:ext cx="8183879" cy="621792"/>
          </a:xfrm>
          <a:prstGeom prst="rect">
            <a:avLst/>
          </a:prstGeom>
          <a:noFill/>
        </p:spPr>
        <p:txBody>
          <a:bodyPr wrap="square" lIns="0" rIns="0" tIns="0" bIns="0">
            <a:noAutofit/>
          </a:bodyPr>
          <a:lstStyle/>
          <a:p>
            <a:pPr algn="l">
              <a:lnSpc>
                <a:spcPts val="12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(2023). CLEVA dialogue generation scenario. HELM v0.4.0.</a:t>
            </a:r>
          </a:p>
          <a:p>
            <a:pPr>
              <a:lnSpc>
                <a:spcPts val="12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https://github.com/stanford-crfm/helm/blob/v0.4.0/src/helm/benchmark/scenarios/cleva_scenario.py</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HELMの説明例を、公式valへ照合した</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CLEVAでの利用と入手</a:t>
            </a:r>
          </a:p>
        </p:txBody>
      </p:sp>
      <p:graphicFrame>
        <p:nvGraphicFramePr>
          <p:cNvPr id="4" name="Table 3"/>
          <p:cNvGraphicFramePr>
            <a:graphicFrameLocks noGrp="1"/>
          </p:cNvGraphicFramePr>
          <p:nvPr/>
        </p:nvGraphicFramePr>
        <p:xfrm>
          <a:off x="548640" y="1508760"/>
          <a:ext cx="8046720" cy="2179828"/>
        </p:xfrm>
        <a:graphic>
          <a:graphicData uri="http://schemas.openxmlformats.org/drawingml/2006/table">
            <a:tbl>
              <a:tblPr firstRow="0" bandRow="0"/>
              <a:tblGrid>
                <a:gridCol w="2834640"/>
                <a:gridCol w="5212080"/>
              </a:tblGrid>
              <a:tr h="420624">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対象</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確認した対応</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669290">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HELMのホテル対話</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公式val.json / dialogue12121
messages[0:9] → messages[9]</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20624">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この資料の実例13</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同じ履歴9発話と収録応答1発話</a:t>
                      </a:r>
                    </a:p>
                  </a:txBody>
                  <a:tcPr marL="63500" marR="63500" marT="38100" marB="38100" anchor="ctr">
                    <a:lnL w="7620">
                      <a:noFill/>
                    </a:lnL>
                    <a:lnR w="7620">
                      <a:noFill/>
                    </a:lnR>
                    <a:lnT w="7620">
                      <a:noFill/>
                    </a:lnT>
                    <a:lnB w="7620">
                      <a:noFill/>
                    </a:lnB>
                    <a:solidFill>
                      <a:srgbClr val="FFFEF8"/>
                    </a:solidFill>
                  </a:tcPr>
                </a:tc>
              </a:tr>
              <a:tr h="669290">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CLEVA論文のテレビ対話</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CrossWOZ原版との一致は未確認
本資料の実例には使用しない</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sources"/>
          <p:cNvSpPr txBox="1"/>
          <p:nvPr/>
        </p:nvSpPr>
        <p:spPr>
          <a:xfrm>
            <a:off x="502920" y="4517136"/>
            <a:ext cx="8183879" cy="621792"/>
          </a:xfrm>
          <a:prstGeom prst="rect">
            <a:avLst/>
          </a:prstGeom>
          <a:noFill/>
        </p:spPr>
        <p:txBody>
          <a:bodyPr wrap="square" lIns="0" rIns="0" tIns="0" bIns="0">
            <a:noAutofit/>
          </a:bodyPr>
          <a:lstStyle/>
          <a:p>
            <a:pPr algn="l">
              <a:lnSpc>
                <a:spcPts val="12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Qi Zhu et al. (2020). CrossWOZ公式配布データ。固定commit df82c9fd。</a:t>
            </a:r>
          </a:p>
          <a:p>
            <a:pPr>
              <a:lnSpc>
                <a:spcPts val="12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https://github.com/thu-coai/CrossWOZ/tree/df82c9fdff91b9b130f2d6b89110d3870ba6260e/data/crosswoz</a:t>
            </a:r>
          </a:p>
          <a:p>
            <a:pPr>
              <a:lnSpc>
                <a:spcPts val="1200"/>
              </a:lnSpc>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[2] Stanford CRFM (2023). CLEVA dialogue generation scenario. HELM v0.4.0.</a:t>
            </a:r>
          </a:p>
          <a:p>
            <a:pPr>
              <a:lnSpc>
                <a:spcPts val="12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3"/>
              </a:rPr>
              <a:t>https://github.com/stanford-crfm/helm/blob/v0.4.0/src/helm/benchmark/scenarios/cleva_scenario.py</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公式配布と、固定した実装を組み合わせる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公式リポジトリのdata/crosswozからtrain、val、testのZIPとDBを取得できる。各ZIP内は、対話IDをキーにしたJSON辞書である。</a:t>
            </a:r>
          </a:p>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この資料では固定commitと各ファイルのSHAを保存し、対話・発話・下位目標・行為の件数を再集計した。</a:t>
            </a:r>
          </a:p>
          <a:p>
            <a:pPr marL="457200" indent="-355600">
              <a:lnSpc>
                <a:spcPts val="2379"/>
              </a:lnSpc>
              <a:spcAft>
                <a:spcPts val="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リポジトリのライセンス表示はApache License 2.0。構築論文はCC BY 4.0で公開され、著者はデータやコードを使う場合の論文引用を求めている。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CLEVAでの利用と入手</a:t>
            </a:r>
          </a:p>
        </p:txBody>
      </p:sp>
      <p:sp>
        <p:nvSpPr>
          <p:cNvPr id="5" name="sources"/>
          <p:cNvSpPr txBox="1"/>
          <p:nvPr/>
        </p:nvSpPr>
        <p:spPr>
          <a:xfrm>
            <a:off x="502920" y="4517136"/>
            <a:ext cx="8183879" cy="558800"/>
          </a:xfrm>
          <a:prstGeom prst="rect">
            <a:avLst/>
          </a:prstGeom>
          <a:noFill/>
        </p:spPr>
        <p:txBody>
          <a:bodyPr wrap="square" lIns="0" rIns="0" tIns="0" bIns="0">
            <a:noAutofit/>
          </a:bodyPr>
          <a:lstStyle/>
          <a:p>
            <a:pPr algn="l">
              <a:lnSpc>
                <a:spcPts val="12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Qi Zhu et al. CrossWOZ. 公式リポジトリ・README（2026-10-18取得）。</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https://github.com/thu-coai/CrossWOZ</a:t>
            </a:r>
          </a:p>
          <a:p>
            <a:pPr>
              <a:lnSpc>
                <a:spcPts val="1200"/>
              </a:lnSpc>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[2] 同梱：Apache2.0本文・帰属・13例の位置と改変表示。</a:t>
            </a:r>
          </a:p>
          <a:p>
            <a:pPr>
              <a:lnSpc>
                <a:spcPts val="1200"/>
              </a:lnSpc>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3"/>
              </a:rPr>
              <a:t>https://datasets-in-10-minutes.sasakiy84.net/assets/crosswoz-notices.zip</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文脈と状態を使う、領域横断の対話データ</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439"/>
              </a:lnSpc>
              <a:spcAft>
                <a:spcPts val="700"/>
              </a:spcAft>
              <a:buSzPct val="64878"/>
              <a:buFont typeface="Noto Sans CJK JP"/>
              <a:buChar char="●"/>
              <a:defRPr sz="2050" b="0">
                <a:solidFill>
                  <a:srgbClr val="303437"/>
                </a:solidFill>
                <a:latin typeface="Noto Sans"/>
              </a:defRPr>
            </a:pPr>
            <a:r>
              <a:rPr sz="2050" b="0" lang="ja-JP" altLang="en-US">
                <a:solidFill>
                  <a:srgbClr val="303437"/>
                </a:solidFill>
                <a:latin typeface="Noto Sans"/>
                <a:ea typeface="Noto Sans CJK JP"/>
                <a:cs typeface="Noto Sans"/>
              </a:rPr>
              <a:t>CrossWOZは、5領域の旅行案内を6,012対話にまとめ、目標・状態・対話行為・施設DBを対応させた中国語データセットである。</a:t>
            </a:r>
          </a:p>
          <a:p>
            <a:pPr marL="457200" indent="-355600">
              <a:lnSpc>
                <a:spcPts val="2439"/>
              </a:lnSpc>
              <a:spcAft>
                <a:spcPts val="700"/>
              </a:spcAft>
              <a:buSzPct val="64878"/>
              <a:buFont typeface="Noto Sans CJK JP"/>
              <a:buChar char="●"/>
              <a:defRPr sz="2050" b="0">
                <a:solidFill>
                  <a:srgbClr val="303437"/>
                </a:solidFill>
                <a:latin typeface="Noto Sans"/>
              </a:defRPr>
            </a:pPr>
            <a:r>
              <a:rPr sz="2050" b="0" lang="ja-JP" altLang="en-US">
                <a:solidFill>
                  <a:srgbClr val="303437"/>
                </a:solidFill>
                <a:latin typeface="Noto Sans"/>
                <a:ea typeface="Noto Sans CJK JP"/>
                <a:cs typeface="Noto Sans"/>
              </a:rPr>
              <a:t>一つの施設の回答から、周辺の施設や施設間の移動へと条件がつながる。状態追跡の再計算でも、目標間に依存がある対話で完全一致率が低かった。</a:t>
            </a:r>
          </a:p>
          <a:p>
            <a:pPr marL="457200" indent="-355600">
              <a:lnSpc>
                <a:spcPts val="2439"/>
              </a:lnSpc>
              <a:spcAft>
                <a:spcPts val="0"/>
              </a:spcAft>
              <a:buSzPct val="64878"/>
              <a:buFont typeface="Noto Sans CJK JP"/>
              <a:buChar char="●"/>
              <a:defRPr sz="2050" b="0">
                <a:solidFill>
                  <a:srgbClr val="303437"/>
                </a:solidFill>
                <a:latin typeface="Noto Sans"/>
              </a:defRPr>
            </a:pPr>
            <a:r>
              <a:rPr sz="2050" b="0" lang="ja-JP" altLang="en-US">
                <a:solidFill>
                  <a:srgbClr val="303437"/>
                </a:solidFill>
                <a:latin typeface="Noto Sans"/>
                <a:ea typeface="Noto Sans CJK JP"/>
                <a:cs typeface="Noto Sans"/>
              </a:rPr>
              <a:t>原版では状態や行為の予測を評価し、CLEVA版では履歴から参照応答を生成する。それぞれで渡す情報と測る対象を明示して使う。</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CLEVAでの利用と入手</a:t>
            </a:r>
          </a:p>
        </p:txBody>
      </p:sp>
      <p:sp>
        <p:nvSpPr>
          <p:cNvPr id="5" name="sources"/>
          <p:cNvSpPr txBox="1"/>
          <p:nvPr/>
        </p:nvSpPr>
        <p:spPr>
          <a:xfrm>
            <a:off x="502920" y="4700016"/>
            <a:ext cx="8183879" cy="621792"/>
          </a:xfrm>
          <a:prstGeom prst="rect">
            <a:avLst/>
          </a:prstGeom>
          <a:noFill/>
        </p:spPr>
        <p:txBody>
          <a:bodyPr wrap="square" lIns="0" rIns="0" tIns="0" bIns="0">
            <a:noAutofit/>
          </a:bodyPr>
          <a:lstStyle/>
          <a:p>
            <a:pPr algn="l">
              <a:lnSpc>
                <a:spcPts val="12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Zhu et al. (2020). CrossWOZ: A Large-Scale Chinese Cross-Domain Task-Oriented Dialogue Dataset. TACL 8:281–295.</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https://aclanthology.org/2020.tacl-1.19/</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48483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Appendix</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
            </a:r>
          </a:p>
        </p:txBody>
      </p:sp>
      <p:sp>
        <p:nvSpPr>
          <p:cNvPr id="3" name="Text Placeholder 2"/>
          <p:cNvSpPr>
            <a:spLocks noGrp="1"/>
          </p:cNvSpPr>
          <p:nvPr>
            <p:ph type="body" idx="1"/>
          </p:nvPr>
        </p:nvSpPr>
        <p:spPr>
          <a:xfrm>
            <a:off x="640080" y="1972511"/>
            <a:ext cx="7863840" cy="1744980"/>
          </a:xfrm>
        </p:spPr>
        <p:txBody>
          <a:bodyPr lIns="0" rIns="0" tIns="0" bIns="0">
            <a:noAutofit/>
          </a:bodyPr>
          <a:lstStyle/>
          <a:p>
            <a:pPr marL="457200" indent="-457200">
              <a:lnSpc>
                <a:spcPts val="3660"/>
              </a:lnSpc>
              <a:spcAft>
                <a:spcPts val="1200"/>
              </a:spcAft>
              <a:buSzPct val="100000"/>
              <a:buFont typeface="Noto Sans CJK JP"/>
              <a:buAutoNum type="arabicPeriod" startAt="1"/>
              <a:defRPr sz="3000" b="1">
                <a:solidFill>
                  <a:srgbClr val="303437"/>
                </a:solidFill>
                <a:latin typeface="Noto Sans"/>
              </a:defRPr>
            </a:pPr>
            <a:r>
              <a:rPr sz="3000" b="1" lang="ja-JP" altLang="en-US">
                <a:solidFill>
                  <a:srgbClr val="303437"/>
                </a:solidFill>
                <a:latin typeface="Noto Sans"/>
                <a:ea typeface="Noto Sans CJK JP"/>
                <a:cs typeface="Noto Sans"/>
              </a:rPr>
              <a:t>追加の実例</a:t>
            </a:r>
          </a:p>
          <a:p>
            <a:pPr marL="457200" indent="-457200">
              <a:lnSpc>
                <a:spcPts val="3660"/>
              </a:lnSpc>
              <a:spcAft>
                <a:spcPts val="1200"/>
              </a:spcAft>
              <a:buSzPct val="100000"/>
              <a:buFont typeface="Noto Sans CJK JP"/>
              <a:buAutoNum type="arabicPeriod" startAt="2"/>
              <a:defRPr sz="3000" b="1">
                <a:solidFill>
                  <a:srgbClr val="303437"/>
                </a:solidFill>
                <a:latin typeface="Noto Sans"/>
              </a:defRPr>
            </a:pPr>
            <a:r>
              <a:rPr sz="3000" b="1" lang="ja-JP" altLang="en-US">
                <a:solidFill>
                  <a:srgbClr val="303437"/>
                </a:solidFill>
                <a:latin typeface="Noto Sans"/>
                <a:ea typeface="Noto Sans CJK JP"/>
                <a:cs typeface="Noto Sans"/>
              </a:rPr>
              <a:t>形式・集計・再計算</a:t>
            </a:r>
          </a:p>
          <a:p>
            <a:pPr marL="457200" indent="-457200">
              <a:lnSpc>
                <a:spcPts val="3660"/>
              </a:lnSpc>
              <a:spcAft>
                <a:spcPts val="0"/>
              </a:spcAft>
              <a:buSzPct val="100000"/>
              <a:buFont typeface="Noto Sans CJK JP"/>
              <a:buAutoNum type="arabicPeriod" startAt="3"/>
              <a:defRPr sz="3000" b="1">
                <a:solidFill>
                  <a:srgbClr val="303437"/>
                </a:solidFill>
                <a:latin typeface="Noto Sans"/>
              </a:defRPr>
            </a:pPr>
            <a:r>
              <a:rPr sz="3000" b="1" lang="ja-JP" altLang="en-US">
                <a:solidFill>
                  <a:srgbClr val="303437"/>
                </a:solidFill>
                <a:latin typeface="Noto Sans"/>
                <a:ea typeface="Noto Sans CJK JP"/>
                <a:cs typeface="Noto Sans"/>
              </a:rPr>
              <a:t>研究と参考文献</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目次</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追加の実例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実例4：レストランの住所を尋ねる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4" name="TextBox 3"/>
          <p:cNvSpPr txBox="1"/>
          <p:nvPr/>
        </p:nvSpPr>
        <p:spPr>
          <a:xfrm>
            <a:off x="548640" y="1289304"/>
            <a:ext cx="8046720" cy="228600"/>
          </a:xfrm>
          <a:prstGeom prst="rect">
            <a:avLst/>
          </a:prstGeom>
          <a:noFill/>
        </p:spPr>
        <p:txBody>
          <a:bodyPr wrap="square" lIns="0" rIns="0" tIns="0" bIns="0">
            <a:noAutofit/>
          </a:bodyPr>
          <a:lstStyle/>
          <a:p>
            <a:pPr algn="l">
              <a:lnSpc>
                <a:spcPts val="1322"/>
              </a:lnSpc>
              <a:spcBef>
                <a:spcPts val="0"/>
              </a:spcBef>
              <a:spcAft>
                <a:spcPts val="0"/>
              </a:spcAft>
              <a:buNone/>
              <a:defRPr sz="1130" b="0">
                <a:solidFill>
                  <a:srgbClr val="303437"/>
                </a:solidFill>
                <a:latin typeface="Noto Sans"/>
              </a:defRPr>
            </a:pPr>
            <a:r>
              <a:rPr sz="1130" b="0" lang="ja-JP" altLang="en-US">
                <a:solidFill>
                  <a:srgbClr val="626669"/>
                </a:solidFill>
                <a:latin typeface="Noto Sans"/>
                <a:ea typeface="Noto Sans CJK JP"/>
                <a:cs typeface="Noto Sans"/>
              </a:rPr>
              <a:t>test / 対話118 / 全履歴 3発話 → 収録応答1発話</a:t>
            </a:r>
          </a:p>
        </p:txBody>
      </p:sp>
      <p:sp>
        <p:nvSpPr>
          <p:cNvPr id="5" name="TextBox 4"/>
          <p:cNvSpPr txBox="1"/>
          <p:nvPr/>
        </p:nvSpPr>
        <p:spPr>
          <a:xfrm>
            <a:off x="548640" y="1609344"/>
            <a:ext cx="3886200" cy="210312"/>
          </a:xfrm>
          <a:prstGeom prst="rect">
            <a:avLst/>
          </a:prstGeom>
          <a:noFill/>
        </p:spPr>
        <p:txBody>
          <a:bodyPr wrap="square" lIns="0" rIns="0" tIns="0" bIns="0">
            <a:noAutofit/>
          </a:bodyPr>
          <a:lstStyle/>
          <a:p>
            <a:pPr algn="l">
              <a:lnSpc>
                <a:spcPts val="1357"/>
              </a:lnSpc>
              <a:spcBef>
                <a:spcPts val="0"/>
              </a:spcBef>
              <a:spcAft>
                <a:spcPts val="0"/>
              </a:spcAft>
              <a:buNone/>
              <a:defRPr sz="1160" b="0">
                <a:solidFill>
                  <a:srgbClr val="303437"/>
                </a:solidFill>
                <a:latin typeface="Noto Sans"/>
              </a:defRPr>
            </a:pPr>
            <a:r>
              <a:rPr sz="1160" b="0" lang="ja-JP" altLang="en-US">
                <a:solidFill>
                  <a:srgbClr val="626669"/>
                </a:solidFill>
                <a:latin typeface="Noto Sans"/>
                <a:ea typeface="Noto Sans CJK JP"/>
                <a:cs typeface="Noto Sans"/>
              </a:rPr>
              <a:t>入力：ここまでの全履歴（原文）</a:t>
            </a:r>
          </a:p>
        </p:txBody>
      </p:sp>
      <p:sp>
        <p:nvSpPr>
          <p:cNvPr id="6" name="quote-frame"/>
          <p:cNvSpPr/>
          <p:nvPr/>
        </p:nvSpPr>
        <p:spPr>
          <a:xfrm>
            <a:off x="548640" y="1819656"/>
            <a:ext cx="3886200" cy="1069275"/>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63500" bIns="127000">
            <a:noAutofit/>
          </a:bodyPr>
          <a:lstStyle/>
          <a:p>
            <a:pPr algn="l">
              <a:lnSpc>
                <a:spcPts val="1844"/>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利用者：我想吃生蚝，有评分在4分以上，人均消费50-100元的餐馆吗？</a:t>
            </a:r>
          </a:p>
          <a:p>
            <a:pPr algn="l">
              <a:lnSpc>
                <a:spcPts val="1844"/>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システム：推荐您去冰城串吧。</a:t>
            </a:r>
          </a:p>
          <a:p>
            <a:pPr algn="l">
              <a:lnSpc>
                <a:spcPts val="1844"/>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利用者：地址在哪，电话是多少？</a:t>
            </a:r>
          </a:p>
        </p:txBody>
      </p:sp>
      <p:sp>
        <p:nvSpPr>
          <p:cNvPr id="7" name="TextBox 6"/>
          <p:cNvSpPr txBox="1"/>
          <p:nvPr/>
        </p:nvSpPr>
        <p:spPr>
          <a:xfrm>
            <a:off x="548640" y="3249941"/>
            <a:ext cx="3886200" cy="986917"/>
          </a:xfrm>
          <a:prstGeom prst="rect">
            <a:avLst/>
          </a:prstGeom>
          <a:noFill/>
        </p:spPr>
        <p:txBody>
          <a:bodyPr wrap="square" lIns="0" rIns="0" tIns="0" bIns="0">
            <a:noAutofit/>
          </a:bodyPr>
          <a:lstStyle/>
          <a:p>
            <a:pPr algn="l">
              <a:lnSpc>
                <a:spcPts val="2457"/>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参照応答：地址在昌平镇南环路26-3底商，电话是01056279088。</a:t>
            </a:r>
          </a:p>
        </p:txBody>
      </p:sp>
      <p:sp>
        <p:nvSpPr>
          <p:cNvPr id="8" name="TextBox 7"/>
          <p:cNvSpPr txBox="1"/>
          <p:nvPr/>
        </p:nvSpPr>
        <p:spPr>
          <a:xfrm>
            <a:off x="4617720" y="1609344"/>
            <a:ext cx="3886200" cy="210312"/>
          </a:xfrm>
          <a:prstGeom prst="rect">
            <a:avLst/>
          </a:prstGeom>
          <a:noFill/>
        </p:spPr>
        <p:txBody>
          <a:bodyPr wrap="square" lIns="0" rIns="0" tIns="0" bIns="0">
            <a:noAutofit/>
          </a:bodyPr>
          <a:lstStyle/>
          <a:p>
            <a:pPr algn="l">
              <a:lnSpc>
                <a:spcPts val="1357"/>
              </a:lnSpc>
              <a:spcBef>
                <a:spcPts val="0"/>
              </a:spcBef>
              <a:spcAft>
                <a:spcPts val="0"/>
              </a:spcAft>
              <a:buNone/>
              <a:defRPr sz="1160" b="0">
                <a:solidFill>
                  <a:srgbClr val="303437"/>
                </a:solidFill>
                <a:latin typeface="Noto Sans"/>
              </a:defRPr>
            </a:pPr>
            <a:r>
              <a:rPr sz="1160" b="0" lang="ja-JP" altLang="en-US">
                <a:solidFill>
                  <a:srgbClr val="626669"/>
                </a:solidFill>
                <a:latin typeface="Noto Sans"/>
                <a:ea typeface="Noto Sans CJK JP"/>
                <a:cs typeface="Noto Sans"/>
              </a:rPr>
              <a:t>対応する日本語訳</a:t>
            </a:r>
          </a:p>
        </p:txBody>
      </p:sp>
      <p:sp>
        <p:nvSpPr>
          <p:cNvPr id="9" name="quote-frame"/>
          <p:cNvSpPr/>
          <p:nvPr/>
        </p:nvSpPr>
        <p:spPr>
          <a:xfrm>
            <a:off x="4617720" y="1819656"/>
            <a:ext cx="3886200" cy="1311751"/>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63500" bIns="127000">
            <a:noAutofit/>
          </a:bodyPr>
          <a:lstStyle/>
          <a:p>
            <a:pPr algn="l">
              <a:lnSpc>
                <a:spcPts val="1844"/>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利用者：牡蠣を食べたいです。評価4点以上、一人当たり50～100元のレストランはありますか。</a:t>
            </a:r>
          </a:p>
          <a:p>
            <a:pPr algn="l">
              <a:lnSpc>
                <a:spcPts val="1844"/>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システム：氷城串バーをお勧めします。</a:t>
            </a:r>
          </a:p>
          <a:p>
            <a:pPr algn="l">
              <a:lnSpc>
                <a:spcPts val="1844"/>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利用者：住所と電話番号は。</a:t>
            </a:r>
          </a:p>
        </p:txBody>
      </p:sp>
      <p:sp>
        <p:nvSpPr>
          <p:cNvPr id="10" name="TextBox 9"/>
          <p:cNvSpPr txBox="1"/>
          <p:nvPr/>
        </p:nvSpPr>
        <p:spPr>
          <a:xfrm>
            <a:off x="4617720" y="3249941"/>
            <a:ext cx="3886200" cy="986917"/>
          </a:xfrm>
          <a:prstGeom prst="rect">
            <a:avLst/>
          </a:prstGeom>
          <a:noFill/>
        </p:spPr>
        <p:txBody>
          <a:bodyPr wrap="square" lIns="0" rIns="0" tIns="0" bIns="0">
            <a:noAutofit/>
          </a:bodyPr>
          <a:lstStyle/>
          <a:p>
            <a:pPr algn="l">
              <a:lnSpc>
                <a:spcPts val="2457"/>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参照応答：住所は昌平鎮南環路26-3の路面店舗、電話は01056279088です。</a:t>
            </a:r>
          </a:p>
        </p:txBody>
      </p:sp>
      <p:sp>
        <p:nvSpPr>
          <p:cNvPr id="11" name="sources"/>
          <p:cNvSpPr txBox="1"/>
          <p:nvPr/>
        </p:nvSpPr>
        <p:spPr>
          <a:xfrm>
            <a:off x="502920" y="4700016"/>
            <a:ext cx="8183879" cy="621792"/>
          </a:xfrm>
          <a:prstGeom prst="rect">
            <a:avLst/>
          </a:prstGeom>
          <a:noFill/>
        </p:spPr>
        <p:txBody>
          <a:bodyPr wrap="square" lIns="0" rIns="0" tIns="0" bIns="0">
            <a:noAutofit/>
          </a:bodyPr>
          <a:lstStyle/>
          <a:p>
            <a:pPr algn="l">
              <a:lnSpc>
                <a:spcPts val="12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Qi Zhu et al. (2020). CrossWOZ公式配布データ。固定commit df82c9fd。 test.json / dialogue 118 / messages[0:3] → [3]。</a:t>
            </a:r>
          </a:p>
          <a:p>
            <a:pPr>
              <a:lnSpc>
                <a:spcPts val="12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https://github.com/thu-coai/CrossWOZ/tree/df82c9fdff91b9b130f2d6b89110d3870ba6260e/data/crosswoz</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実例5：無料の観光地を探す</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4" name="TextBox 3"/>
          <p:cNvSpPr txBox="1"/>
          <p:nvPr/>
        </p:nvSpPr>
        <p:spPr>
          <a:xfrm>
            <a:off x="548640" y="1289304"/>
            <a:ext cx="8046720" cy="228600"/>
          </a:xfrm>
          <a:prstGeom prst="rect">
            <a:avLst/>
          </a:prstGeom>
          <a:noFill/>
        </p:spPr>
        <p:txBody>
          <a:bodyPr wrap="square" lIns="0" rIns="0" tIns="0" bIns="0">
            <a:noAutofit/>
          </a:bodyPr>
          <a:lstStyle/>
          <a:p>
            <a:pPr algn="l">
              <a:lnSpc>
                <a:spcPts val="1322"/>
              </a:lnSpc>
              <a:spcBef>
                <a:spcPts val="0"/>
              </a:spcBef>
              <a:spcAft>
                <a:spcPts val="0"/>
              </a:spcAft>
              <a:buNone/>
              <a:defRPr sz="1130" b="0">
                <a:solidFill>
                  <a:srgbClr val="303437"/>
                </a:solidFill>
                <a:latin typeface="Noto Sans"/>
              </a:defRPr>
            </a:pPr>
            <a:r>
              <a:rPr sz="1130" b="0" lang="ja-JP" altLang="en-US">
                <a:solidFill>
                  <a:srgbClr val="626669"/>
                </a:solidFill>
                <a:latin typeface="Noto Sans"/>
                <a:ea typeface="Noto Sans CJK JP"/>
                <a:cs typeface="Noto Sans"/>
              </a:rPr>
              <a:t>test / 対話9693 / 全履歴 3発話 → 収録応答1発話</a:t>
            </a:r>
          </a:p>
        </p:txBody>
      </p:sp>
      <p:sp>
        <p:nvSpPr>
          <p:cNvPr id="5" name="TextBox 4"/>
          <p:cNvSpPr txBox="1"/>
          <p:nvPr/>
        </p:nvSpPr>
        <p:spPr>
          <a:xfrm>
            <a:off x="548640" y="1609344"/>
            <a:ext cx="3886200" cy="210312"/>
          </a:xfrm>
          <a:prstGeom prst="rect">
            <a:avLst/>
          </a:prstGeom>
          <a:noFill/>
        </p:spPr>
        <p:txBody>
          <a:bodyPr wrap="square" lIns="0" rIns="0" tIns="0" bIns="0">
            <a:noAutofit/>
          </a:bodyPr>
          <a:lstStyle/>
          <a:p>
            <a:pPr algn="l">
              <a:lnSpc>
                <a:spcPts val="1357"/>
              </a:lnSpc>
              <a:spcBef>
                <a:spcPts val="0"/>
              </a:spcBef>
              <a:spcAft>
                <a:spcPts val="0"/>
              </a:spcAft>
              <a:buNone/>
              <a:defRPr sz="1160" b="0">
                <a:solidFill>
                  <a:srgbClr val="303437"/>
                </a:solidFill>
                <a:latin typeface="Noto Sans"/>
              </a:defRPr>
            </a:pPr>
            <a:r>
              <a:rPr sz="1160" b="0" lang="ja-JP" altLang="en-US">
                <a:solidFill>
                  <a:srgbClr val="626669"/>
                </a:solidFill>
                <a:latin typeface="Noto Sans"/>
                <a:ea typeface="Noto Sans CJK JP"/>
                <a:cs typeface="Noto Sans"/>
              </a:rPr>
              <a:t>入力：ここまでの全履歴（原文）</a:t>
            </a:r>
          </a:p>
        </p:txBody>
      </p:sp>
      <p:sp>
        <p:nvSpPr>
          <p:cNvPr id="6" name="quote-frame"/>
          <p:cNvSpPr/>
          <p:nvPr/>
        </p:nvSpPr>
        <p:spPr>
          <a:xfrm>
            <a:off x="548640" y="1819656"/>
            <a:ext cx="3886200" cy="131210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63500" bIns="127000">
            <a:noAutofit/>
          </a:bodyPr>
          <a:lstStyle/>
          <a:p>
            <a:pPr algn="l">
              <a:lnSpc>
                <a:spcPts val="1844"/>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利用者：你好，我想带女朋友去一个评分5分门票免费的景点游玩，给推荐一个吧。</a:t>
            </a:r>
          </a:p>
          <a:p>
            <a:pPr algn="l">
              <a:lnSpc>
                <a:spcPts val="1844"/>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システム：推荐您去养心殿游玩。</a:t>
            </a:r>
          </a:p>
          <a:p>
            <a:pPr algn="l">
              <a:lnSpc>
                <a:spcPts val="1844"/>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利用者：这个景点的电话是多少啊？</a:t>
            </a:r>
          </a:p>
        </p:txBody>
      </p:sp>
      <p:sp>
        <p:nvSpPr>
          <p:cNvPr id="7" name="TextBox 6"/>
          <p:cNvSpPr txBox="1"/>
          <p:nvPr/>
        </p:nvSpPr>
        <p:spPr>
          <a:xfrm>
            <a:off x="548640" y="3250296"/>
            <a:ext cx="3886200" cy="674878"/>
          </a:xfrm>
          <a:prstGeom prst="rect">
            <a:avLst/>
          </a:prstGeom>
          <a:noFill/>
        </p:spPr>
        <p:txBody>
          <a:bodyPr wrap="square" lIns="0" rIns="0" tIns="0" bIns="0">
            <a:noAutofit/>
          </a:bodyPr>
          <a:lstStyle/>
          <a:p>
            <a:pPr algn="l">
              <a:lnSpc>
                <a:spcPts val="2457"/>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参照応答：电话是010-85007422。</a:t>
            </a:r>
          </a:p>
        </p:txBody>
      </p:sp>
      <p:sp>
        <p:nvSpPr>
          <p:cNvPr id="8" name="TextBox 7"/>
          <p:cNvSpPr txBox="1"/>
          <p:nvPr/>
        </p:nvSpPr>
        <p:spPr>
          <a:xfrm>
            <a:off x="4617720" y="1609344"/>
            <a:ext cx="3886200" cy="210312"/>
          </a:xfrm>
          <a:prstGeom prst="rect">
            <a:avLst/>
          </a:prstGeom>
          <a:noFill/>
        </p:spPr>
        <p:txBody>
          <a:bodyPr wrap="square" lIns="0" rIns="0" tIns="0" bIns="0">
            <a:noAutofit/>
          </a:bodyPr>
          <a:lstStyle/>
          <a:p>
            <a:pPr algn="l">
              <a:lnSpc>
                <a:spcPts val="1357"/>
              </a:lnSpc>
              <a:spcBef>
                <a:spcPts val="0"/>
              </a:spcBef>
              <a:spcAft>
                <a:spcPts val="0"/>
              </a:spcAft>
              <a:buNone/>
              <a:defRPr sz="1160" b="0">
                <a:solidFill>
                  <a:srgbClr val="303437"/>
                </a:solidFill>
                <a:latin typeface="Noto Sans"/>
              </a:defRPr>
            </a:pPr>
            <a:r>
              <a:rPr sz="1160" b="0" lang="ja-JP" altLang="en-US">
                <a:solidFill>
                  <a:srgbClr val="626669"/>
                </a:solidFill>
                <a:latin typeface="Noto Sans"/>
                <a:ea typeface="Noto Sans CJK JP"/>
                <a:cs typeface="Noto Sans"/>
              </a:rPr>
              <a:t>対応する日本語訳</a:t>
            </a:r>
          </a:p>
        </p:txBody>
      </p:sp>
      <p:sp>
        <p:nvSpPr>
          <p:cNvPr id="9" name="quote-frame"/>
          <p:cNvSpPr/>
          <p:nvPr/>
        </p:nvSpPr>
        <p:spPr>
          <a:xfrm>
            <a:off x="4617720" y="1819656"/>
            <a:ext cx="3886200" cy="131210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63500" bIns="127000">
            <a:noAutofit/>
          </a:bodyPr>
          <a:lstStyle/>
          <a:p>
            <a:pPr algn="l">
              <a:lnSpc>
                <a:spcPts val="1844"/>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利用者：こんにちは。恋人と、評価5点で入場無料の観光地へ行きたいので、一つ勧めてください。</a:t>
            </a:r>
          </a:p>
          <a:p>
            <a:pPr algn="l">
              <a:lnSpc>
                <a:spcPts val="1844"/>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システム：養心殿をお勧めします。</a:t>
            </a:r>
          </a:p>
          <a:p>
            <a:pPr algn="l">
              <a:lnSpc>
                <a:spcPts val="1844"/>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利用者：その観光地の電話番号は。</a:t>
            </a:r>
          </a:p>
        </p:txBody>
      </p:sp>
      <p:sp>
        <p:nvSpPr>
          <p:cNvPr id="10" name="TextBox 9"/>
          <p:cNvSpPr txBox="1"/>
          <p:nvPr/>
        </p:nvSpPr>
        <p:spPr>
          <a:xfrm>
            <a:off x="4617720" y="3250296"/>
            <a:ext cx="3886200" cy="674878"/>
          </a:xfrm>
          <a:prstGeom prst="rect">
            <a:avLst/>
          </a:prstGeom>
          <a:noFill/>
        </p:spPr>
        <p:txBody>
          <a:bodyPr wrap="square" lIns="0" rIns="0" tIns="0" bIns="0">
            <a:noAutofit/>
          </a:bodyPr>
          <a:lstStyle/>
          <a:p>
            <a:pPr algn="l">
              <a:lnSpc>
                <a:spcPts val="2457"/>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参照応答：電話は010-85007422です。</a:t>
            </a:r>
          </a:p>
        </p:txBody>
      </p:sp>
      <p:sp>
        <p:nvSpPr>
          <p:cNvPr id="11" name="sources"/>
          <p:cNvSpPr txBox="1"/>
          <p:nvPr/>
        </p:nvSpPr>
        <p:spPr>
          <a:xfrm>
            <a:off x="502920" y="4700016"/>
            <a:ext cx="8183879" cy="621792"/>
          </a:xfrm>
          <a:prstGeom prst="rect">
            <a:avLst/>
          </a:prstGeom>
          <a:noFill/>
        </p:spPr>
        <p:txBody>
          <a:bodyPr wrap="square" lIns="0" rIns="0" tIns="0" bIns="0">
            <a:noAutofit/>
          </a:bodyPr>
          <a:lstStyle/>
          <a:p>
            <a:pPr algn="l">
              <a:lnSpc>
                <a:spcPts val="12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Qi Zhu et al. (2020). CrossWOZ公式配布データ。固定commit df82c9fd。 test.json / dialogue 9693 / messages[0:3] → [3]。</a:t>
            </a:r>
          </a:p>
          <a:p>
            <a:pPr>
              <a:lnSpc>
                <a:spcPts val="12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https://github.com/thu-coai/CrossWOZ/tree/df82c9fdff91b9b130f2d6b89110d3870ba6260e/data/crosswoz</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実例6：ホテルのレンタカーサービス</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4" name="TextBox 3"/>
          <p:cNvSpPr txBox="1"/>
          <p:nvPr/>
        </p:nvSpPr>
        <p:spPr>
          <a:xfrm>
            <a:off x="548640" y="1289304"/>
            <a:ext cx="8046720" cy="228600"/>
          </a:xfrm>
          <a:prstGeom prst="rect">
            <a:avLst/>
          </a:prstGeom>
          <a:noFill/>
        </p:spPr>
        <p:txBody>
          <a:bodyPr wrap="square" lIns="0" rIns="0" tIns="0" bIns="0">
            <a:noAutofit/>
          </a:bodyPr>
          <a:lstStyle/>
          <a:p>
            <a:pPr algn="l">
              <a:lnSpc>
                <a:spcPts val="1322"/>
              </a:lnSpc>
              <a:spcBef>
                <a:spcPts val="0"/>
              </a:spcBef>
              <a:spcAft>
                <a:spcPts val="0"/>
              </a:spcAft>
              <a:buNone/>
              <a:defRPr sz="1130" b="0">
                <a:solidFill>
                  <a:srgbClr val="303437"/>
                </a:solidFill>
                <a:latin typeface="Noto Sans"/>
              </a:defRPr>
            </a:pPr>
            <a:r>
              <a:rPr sz="1130" b="0" lang="ja-JP" altLang="en-US">
                <a:solidFill>
                  <a:srgbClr val="626669"/>
                </a:solidFill>
                <a:latin typeface="Noto Sans"/>
                <a:ea typeface="Noto Sans CJK JP"/>
                <a:cs typeface="Noto Sans"/>
              </a:rPr>
              <a:t>test / 対話10662 / 全履歴 3発話 → 収録応答1発話</a:t>
            </a:r>
          </a:p>
        </p:txBody>
      </p:sp>
      <p:sp>
        <p:nvSpPr>
          <p:cNvPr id="5" name="TextBox 4"/>
          <p:cNvSpPr txBox="1"/>
          <p:nvPr/>
        </p:nvSpPr>
        <p:spPr>
          <a:xfrm>
            <a:off x="548640" y="1609344"/>
            <a:ext cx="3886200" cy="210312"/>
          </a:xfrm>
          <a:prstGeom prst="rect">
            <a:avLst/>
          </a:prstGeom>
          <a:noFill/>
        </p:spPr>
        <p:txBody>
          <a:bodyPr wrap="square" lIns="0" rIns="0" tIns="0" bIns="0">
            <a:noAutofit/>
          </a:bodyPr>
          <a:lstStyle/>
          <a:p>
            <a:pPr algn="l">
              <a:lnSpc>
                <a:spcPts val="1357"/>
              </a:lnSpc>
              <a:spcBef>
                <a:spcPts val="0"/>
              </a:spcBef>
              <a:spcAft>
                <a:spcPts val="0"/>
              </a:spcAft>
              <a:buNone/>
              <a:defRPr sz="1160" b="0">
                <a:solidFill>
                  <a:srgbClr val="303437"/>
                </a:solidFill>
                <a:latin typeface="Noto Sans"/>
              </a:defRPr>
            </a:pPr>
            <a:r>
              <a:rPr sz="1160" b="0" lang="ja-JP" altLang="en-US">
                <a:solidFill>
                  <a:srgbClr val="626669"/>
                </a:solidFill>
                <a:latin typeface="Noto Sans"/>
                <a:ea typeface="Noto Sans CJK JP"/>
                <a:cs typeface="Noto Sans"/>
              </a:rPr>
              <a:t>入力：ここまでの全履歴（原文）</a:t>
            </a:r>
          </a:p>
        </p:txBody>
      </p:sp>
      <p:sp>
        <p:nvSpPr>
          <p:cNvPr id="6" name="quote-frame"/>
          <p:cNvSpPr/>
          <p:nvPr/>
        </p:nvSpPr>
        <p:spPr>
          <a:xfrm>
            <a:off x="548640" y="1819656"/>
            <a:ext cx="3886200" cy="153800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63500" bIns="127000">
            <a:noAutofit/>
          </a:bodyPr>
          <a:lstStyle/>
          <a:p>
            <a:pPr algn="l">
              <a:lnSpc>
                <a:spcPts val="1844"/>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利用者：你好，给我找一个舒适型酒店吧，谢谢！</a:t>
            </a:r>
          </a:p>
          <a:p>
            <a:pPr algn="l">
              <a:lnSpc>
                <a:spcPts val="1844"/>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システム：北京香江戴斯酒店挺不错的，推荐给您！</a:t>
            </a:r>
          </a:p>
          <a:p>
            <a:pPr algn="l">
              <a:lnSpc>
                <a:spcPts val="1844"/>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利用者：北京香江戴斯酒店提供租车服务吗？</a:t>
            </a:r>
          </a:p>
        </p:txBody>
      </p:sp>
      <p:sp>
        <p:nvSpPr>
          <p:cNvPr id="7" name="TextBox 6"/>
          <p:cNvSpPr txBox="1"/>
          <p:nvPr/>
        </p:nvSpPr>
        <p:spPr>
          <a:xfrm>
            <a:off x="548640" y="3718660"/>
            <a:ext cx="3886200" cy="674878"/>
          </a:xfrm>
          <a:prstGeom prst="rect">
            <a:avLst/>
          </a:prstGeom>
          <a:noFill/>
        </p:spPr>
        <p:txBody>
          <a:bodyPr wrap="square" lIns="0" rIns="0" tIns="0" bIns="0">
            <a:noAutofit/>
          </a:bodyPr>
          <a:lstStyle/>
          <a:p>
            <a:pPr algn="l">
              <a:lnSpc>
                <a:spcPts val="2457"/>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参照応答：是的，酒店提供租车服务。</a:t>
            </a:r>
          </a:p>
        </p:txBody>
      </p:sp>
      <p:sp>
        <p:nvSpPr>
          <p:cNvPr id="8" name="TextBox 7"/>
          <p:cNvSpPr txBox="1"/>
          <p:nvPr/>
        </p:nvSpPr>
        <p:spPr>
          <a:xfrm>
            <a:off x="4617720" y="1609344"/>
            <a:ext cx="3886200" cy="210312"/>
          </a:xfrm>
          <a:prstGeom prst="rect">
            <a:avLst/>
          </a:prstGeom>
          <a:noFill/>
        </p:spPr>
        <p:txBody>
          <a:bodyPr wrap="square" lIns="0" rIns="0" tIns="0" bIns="0">
            <a:noAutofit/>
          </a:bodyPr>
          <a:lstStyle/>
          <a:p>
            <a:pPr algn="l">
              <a:lnSpc>
                <a:spcPts val="1357"/>
              </a:lnSpc>
              <a:spcBef>
                <a:spcPts val="0"/>
              </a:spcBef>
              <a:spcAft>
                <a:spcPts val="0"/>
              </a:spcAft>
              <a:buNone/>
              <a:defRPr sz="1160" b="0">
                <a:solidFill>
                  <a:srgbClr val="303437"/>
                </a:solidFill>
                <a:latin typeface="Noto Sans"/>
              </a:defRPr>
            </a:pPr>
            <a:r>
              <a:rPr sz="1160" b="0" lang="ja-JP" altLang="en-US">
                <a:solidFill>
                  <a:srgbClr val="626669"/>
                </a:solidFill>
                <a:latin typeface="Noto Sans"/>
                <a:ea typeface="Noto Sans CJK JP"/>
                <a:cs typeface="Noto Sans"/>
              </a:rPr>
              <a:t>対応する日本語訳</a:t>
            </a:r>
          </a:p>
        </p:txBody>
      </p:sp>
      <p:sp>
        <p:nvSpPr>
          <p:cNvPr id="9" name="quote-frame"/>
          <p:cNvSpPr/>
          <p:nvPr/>
        </p:nvSpPr>
        <p:spPr>
          <a:xfrm>
            <a:off x="4617720" y="1819656"/>
            <a:ext cx="3886200" cy="1763538"/>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63500" bIns="127000">
            <a:noAutofit/>
          </a:bodyPr>
          <a:lstStyle/>
          <a:p>
            <a:pPr algn="l">
              <a:lnSpc>
                <a:spcPts val="1844"/>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利用者：こんにちは。コンフォート型ホテルを探してください。お願いします。</a:t>
            </a:r>
          </a:p>
          <a:p>
            <a:pPr algn="l">
              <a:lnSpc>
                <a:spcPts val="1844"/>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システム：北京香江デイズホテルがよいと思います。お勧めします。</a:t>
            </a:r>
          </a:p>
          <a:p>
            <a:pPr algn="l">
              <a:lnSpc>
                <a:spcPts val="1844"/>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利用者：北京香江デイズホテルにはレンタカーサービスがありますか。</a:t>
            </a:r>
          </a:p>
        </p:txBody>
      </p:sp>
      <p:sp>
        <p:nvSpPr>
          <p:cNvPr id="10" name="TextBox 9"/>
          <p:cNvSpPr txBox="1"/>
          <p:nvPr/>
        </p:nvSpPr>
        <p:spPr>
          <a:xfrm>
            <a:off x="4617720" y="3718660"/>
            <a:ext cx="3886200" cy="674878"/>
          </a:xfrm>
          <a:prstGeom prst="rect">
            <a:avLst/>
          </a:prstGeom>
          <a:noFill/>
        </p:spPr>
        <p:txBody>
          <a:bodyPr wrap="square" lIns="0" rIns="0" tIns="0" bIns="0">
            <a:noAutofit/>
          </a:bodyPr>
          <a:lstStyle/>
          <a:p>
            <a:pPr algn="l">
              <a:lnSpc>
                <a:spcPts val="2457"/>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参照応答：はい、ホテルにはレンタカーサービスがあります。</a:t>
            </a:r>
          </a:p>
        </p:txBody>
      </p:sp>
      <p:sp>
        <p:nvSpPr>
          <p:cNvPr id="11" name="sources"/>
          <p:cNvSpPr txBox="1"/>
          <p:nvPr/>
        </p:nvSpPr>
        <p:spPr>
          <a:xfrm>
            <a:off x="502920" y="4700016"/>
            <a:ext cx="8183879" cy="621792"/>
          </a:xfrm>
          <a:prstGeom prst="rect">
            <a:avLst/>
          </a:prstGeom>
          <a:noFill/>
        </p:spPr>
        <p:txBody>
          <a:bodyPr wrap="square" lIns="0" rIns="0" tIns="0" bIns="0">
            <a:noAutofit/>
          </a:bodyPr>
          <a:lstStyle/>
          <a:p>
            <a:pPr algn="l">
              <a:lnSpc>
                <a:spcPts val="12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Qi Zhu et al. (2020). CrossWOZ公式配布データ。固定commit df82c9fd。 test.json / dialogue 10662 / messages[0:3] → [3]。</a:t>
            </a:r>
          </a:p>
          <a:p>
            <a:pPr>
              <a:lnSpc>
                <a:spcPts val="12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https://github.com/thu-coai/CrossWOZ/tree/df82c9fdff91b9b130f2d6b89110d3870ba6260e/data/crosswoz</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実例7：観光地から別のホテル探しへ</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4" name="TextBox 3"/>
          <p:cNvSpPr txBox="1"/>
          <p:nvPr/>
        </p:nvSpPr>
        <p:spPr>
          <a:xfrm>
            <a:off x="548640" y="1289304"/>
            <a:ext cx="8046720" cy="228600"/>
          </a:xfrm>
          <a:prstGeom prst="rect">
            <a:avLst/>
          </a:prstGeom>
          <a:noFill/>
        </p:spPr>
        <p:txBody>
          <a:bodyPr wrap="square" lIns="0" rIns="0" tIns="0" bIns="0">
            <a:noAutofit/>
          </a:bodyPr>
          <a:lstStyle/>
          <a:p>
            <a:pPr algn="l">
              <a:lnSpc>
                <a:spcPts val="1322"/>
              </a:lnSpc>
              <a:spcBef>
                <a:spcPts val="0"/>
              </a:spcBef>
              <a:spcAft>
                <a:spcPts val="0"/>
              </a:spcAft>
              <a:buNone/>
              <a:defRPr sz="1130" b="0">
                <a:solidFill>
                  <a:srgbClr val="303437"/>
                </a:solidFill>
                <a:latin typeface="Noto Sans"/>
              </a:defRPr>
            </a:pPr>
            <a:r>
              <a:rPr sz="1130" b="0" lang="ja-JP" altLang="en-US">
                <a:solidFill>
                  <a:srgbClr val="626669"/>
                </a:solidFill>
                <a:latin typeface="Noto Sans"/>
                <a:ea typeface="Noto Sans CJK JP"/>
                <a:cs typeface="Noto Sans"/>
              </a:rPr>
              <a:t>test / 対話10490 / 全履歴 3発話 → 収録応答1発話</a:t>
            </a:r>
          </a:p>
        </p:txBody>
      </p:sp>
      <p:sp>
        <p:nvSpPr>
          <p:cNvPr id="5" name="TextBox 4"/>
          <p:cNvSpPr txBox="1"/>
          <p:nvPr/>
        </p:nvSpPr>
        <p:spPr>
          <a:xfrm>
            <a:off x="548640" y="1609344"/>
            <a:ext cx="8046720" cy="210312"/>
          </a:xfrm>
          <a:prstGeom prst="rect">
            <a:avLst/>
          </a:prstGeom>
          <a:noFill/>
        </p:spPr>
        <p:txBody>
          <a:bodyPr wrap="square" lIns="0" rIns="0" tIns="0" bIns="0">
            <a:noAutofit/>
          </a:bodyPr>
          <a:lstStyle/>
          <a:p>
            <a:pPr algn="l">
              <a:lnSpc>
                <a:spcPts val="1357"/>
              </a:lnSpc>
              <a:spcBef>
                <a:spcPts val="0"/>
              </a:spcBef>
              <a:spcAft>
                <a:spcPts val="0"/>
              </a:spcAft>
              <a:buNone/>
              <a:defRPr sz="1160" b="0">
                <a:solidFill>
                  <a:srgbClr val="303437"/>
                </a:solidFill>
                <a:latin typeface="Noto Sans"/>
              </a:defRPr>
            </a:pPr>
            <a:r>
              <a:rPr sz="1160" b="0" lang="ja-JP" altLang="en-US">
                <a:solidFill>
                  <a:srgbClr val="626669"/>
                </a:solidFill>
                <a:latin typeface="Noto Sans"/>
                <a:ea typeface="Noto Sans CJK JP"/>
                <a:cs typeface="Noto Sans"/>
              </a:rPr>
              <a:t>入力：ここまでの全履歴（原文）</a:t>
            </a:r>
          </a:p>
        </p:txBody>
      </p:sp>
      <p:sp>
        <p:nvSpPr>
          <p:cNvPr id="6" name="quote-frame"/>
          <p:cNvSpPr/>
          <p:nvPr/>
        </p:nvSpPr>
        <p:spPr>
          <a:xfrm>
            <a:off x="548640" y="1819656"/>
            <a:ext cx="8046720" cy="108687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63500" bIns="127000">
            <a:noAutofit/>
          </a:bodyPr>
          <a:lstStyle/>
          <a:p>
            <a:pPr algn="l">
              <a:lnSpc>
                <a:spcPts val="1880"/>
              </a:lnSpc>
              <a:spcBef>
                <a:spcPts val="0"/>
              </a:spcBef>
              <a:spcAft>
                <a:spcPts val="0"/>
              </a:spcAft>
              <a:buNone/>
              <a:defRPr sz="1580" b="0">
                <a:solidFill>
                  <a:srgbClr val="303437"/>
                </a:solidFill>
                <a:latin typeface="Noto Sans"/>
              </a:defRPr>
            </a:pPr>
            <a:r>
              <a:rPr sz="1580" b="0" lang="ja-JP" altLang="en-US">
                <a:solidFill>
                  <a:srgbClr val="303437"/>
                </a:solidFill>
                <a:latin typeface="Noto Sans"/>
                <a:ea typeface="Noto Sans CJK JP"/>
                <a:cs typeface="Noto Sans"/>
              </a:rPr>
              <a:t>利用者：您好，我要去先声画廊看画展，请问它的电话和评分是多少呢？</a:t>
            </a:r>
          </a:p>
          <a:p>
            <a:pPr algn="l">
              <a:lnSpc>
                <a:spcPts val="1880"/>
              </a:lnSpc>
              <a:spcBef>
                <a:spcPts val="0"/>
              </a:spcBef>
              <a:spcAft>
                <a:spcPts val="0"/>
              </a:spcAft>
              <a:buNone/>
              <a:defRPr sz="1580" b="0">
                <a:solidFill>
                  <a:srgbClr val="303437"/>
                </a:solidFill>
                <a:latin typeface="Noto Sans"/>
              </a:defRPr>
            </a:pPr>
            <a:r>
              <a:rPr sz="1580" b="0" lang="ja-JP" altLang="en-US">
                <a:solidFill>
                  <a:srgbClr val="303437"/>
                </a:solidFill>
                <a:latin typeface="Noto Sans"/>
                <a:ea typeface="Noto Sans CJK JP"/>
                <a:cs typeface="Noto Sans"/>
              </a:rPr>
              <a:t>システム：电话：010-59789888；暂时没有评分呢。</a:t>
            </a:r>
          </a:p>
          <a:p>
            <a:pPr algn="l">
              <a:lnSpc>
                <a:spcPts val="1880"/>
              </a:lnSpc>
              <a:spcBef>
                <a:spcPts val="0"/>
              </a:spcBef>
              <a:spcAft>
                <a:spcPts val="0"/>
              </a:spcAft>
              <a:buNone/>
              <a:defRPr sz="1580" b="0">
                <a:solidFill>
                  <a:srgbClr val="303437"/>
                </a:solidFill>
                <a:latin typeface="Noto Sans"/>
              </a:defRPr>
            </a:pPr>
            <a:r>
              <a:rPr sz="1580" b="0" lang="ja-JP" altLang="en-US">
                <a:solidFill>
                  <a:srgbClr val="303437"/>
                </a:solidFill>
                <a:latin typeface="Noto Sans"/>
                <a:ea typeface="Noto Sans CJK JP"/>
                <a:cs typeface="Noto Sans"/>
              </a:rPr>
              <a:t>利用者：好。然后我要找一家经济型的酒店住，请为我推荐一家，并告诉我价格是多少？</a:t>
            </a:r>
          </a:p>
        </p:txBody>
      </p:sp>
      <p:sp>
        <p:nvSpPr>
          <p:cNvPr id="7" name="TextBox 6"/>
          <p:cNvSpPr txBox="1"/>
          <p:nvPr/>
        </p:nvSpPr>
        <p:spPr>
          <a:xfrm>
            <a:off x="548640" y="3033526"/>
            <a:ext cx="8046720" cy="685359"/>
          </a:xfrm>
          <a:prstGeom prst="rect">
            <a:avLst/>
          </a:prstGeom>
          <a:noFill/>
        </p:spPr>
        <p:txBody>
          <a:bodyPr wrap="square" lIns="0" rIns="0" tIns="0" bIns="0">
            <a:noAutofit/>
          </a:bodyPr>
          <a:lstStyle/>
          <a:p>
            <a:pPr algn="l">
              <a:lnSpc>
                <a:spcPts val="2457"/>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参照応答：为您推荐速8酒店(北京前门大栅栏店)，价格是228元。</a:t>
            </a:r>
          </a:p>
        </p:txBody>
      </p:sp>
      <p:sp>
        <p:nvSpPr>
          <p:cNvPr id="8" name="sources"/>
          <p:cNvSpPr txBox="1"/>
          <p:nvPr/>
        </p:nvSpPr>
        <p:spPr>
          <a:xfrm>
            <a:off x="502920" y="4700016"/>
            <a:ext cx="8183879" cy="621792"/>
          </a:xfrm>
          <a:prstGeom prst="rect">
            <a:avLst/>
          </a:prstGeom>
          <a:noFill/>
        </p:spPr>
        <p:txBody>
          <a:bodyPr wrap="square" lIns="0" rIns="0" tIns="0" bIns="0">
            <a:noAutofit/>
          </a:bodyPr>
          <a:lstStyle/>
          <a:p>
            <a:pPr algn="l">
              <a:lnSpc>
                <a:spcPts val="12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Qi Zhu et al. (2020). CrossWOZ公式配布データ。固定commit df82c9fd。 test.json / dialogue 10490 / messages[0:3] → [3]。</a:t>
            </a:r>
          </a:p>
          <a:p>
            <a:pPr>
              <a:lnSpc>
                <a:spcPts val="12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https://github.com/thu-coai/CrossWOZ/tree/df82c9fdff91b9b130f2d6b89110d3870ba6260e/data/crosswoz</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実例7：観光地から別のホテル探しへ（訳）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4" name="TextBox 3"/>
          <p:cNvSpPr txBox="1"/>
          <p:nvPr/>
        </p:nvSpPr>
        <p:spPr>
          <a:xfrm>
            <a:off x="548640" y="1289304"/>
            <a:ext cx="8046720" cy="228600"/>
          </a:xfrm>
          <a:prstGeom prst="rect">
            <a:avLst/>
          </a:prstGeom>
          <a:noFill/>
        </p:spPr>
        <p:txBody>
          <a:bodyPr wrap="square" lIns="0" rIns="0" tIns="0" bIns="0">
            <a:noAutofit/>
          </a:bodyPr>
          <a:lstStyle/>
          <a:p>
            <a:pPr algn="l">
              <a:lnSpc>
                <a:spcPts val="1322"/>
              </a:lnSpc>
              <a:spcBef>
                <a:spcPts val="0"/>
              </a:spcBef>
              <a:spcAft>
                <a:spcPts val="0"/>
              </a:spcAft>
              <a:buNone/>
              <a:defRPr sz="1130" b="0">
                <a:solidFill>
                  <a:srgbClr val="303437"/>
                </a:solidFill>
                <a:latin typeface="Noto Sans"/>
              </a:defRPr>
            </a:pPr>
            <a:r>
              <a:rPr sz="1130" b="0" lang="ja-JP" altLang="en-US">
                <a:solidFill>
                  <a:srgbClr val="626669"/>
                </a:solidFill>
                <a:latin typeface="Noto Sans"/>
                <a:ea typeface="Noto Sans CJK JP"/>
                <a:cs typeface="Noto Sans"/>
              </a:rPr>
              <a:t>test / 対話10490 / 全履歴 3発話 → 収録応答1発話</a:t>
            </a:r>
          </a:p>
        </p:txBody>
      </p:sp>
      <p:sp>
        <p:nvSpPr>
          <p:cNvPr id="5" name="TextBox 4"/>
          <p:cNvSpPr txBox="1"/>
          <p:nvPr/>
        </p:nvSpPr>
        <p:spPr>
          <a:xfrm>
            <a:off x="548640" y="1609344"/>
            <a:ext cx="8046720" cy="210312"/>
          </a:xfrm>
          <a:prstGeom prst="rect">
            <a:avLst/>
          </a:prstGeom>
          <a:noFill/>
        </p:spPr>
        <p:txBody>
          <a:bodyPr wrap="square" lIns="0" rIns="0" tIns="0" bIns="0">
            <a:noAutofit/>
          </a:bodyPr>
          <a:lstStyle/>
          <a:p>
            <a:pPr algn="l">
              <a:lnSpc>
                <a:spcPts val="1357"/>
              </a:lnSpc>
              <a:spcBef>
                <a:spcPts val="0"/>
              </a:spcBef>
              <a:spcAft>
                <a:spcPts val="0"/>
              </a:spcAft>
              <a:buNone/>
              <a:defRPr sz="1160" b="0">
                <a:solidFill>
                  <a:srgbClr val="303437"/>
                </a:solidFill>
                <a:latin typeface="Noto Sans"/>
              </a:defRPr>
            </a:pPr>
            <a:r>
              <a:rPr sz="1160" b="0" lang="ja-JP" altLang="en-US">
                <a:solidFill>
                  <a:srgbClr val="626669"/>
                </a:solidFill>
                <a:latin typeface="Noto Sans"/>
                <a:ea typeface="Noto Sans CJK JP"/>
                <a:cs typeface="Noto Sans"/>
              </a:rPr>
              <a:t>入力：ここまでの全履歴（日本語訳）</a:t>
            </a:r>
          </a:p>
        </p:txBody>
      </p:sp>
      <p:sp>
        <p:nvSpPr>
          <p:cNvPr id="6" name="quote-frame"/>
          <p:cNvSpPr/>
          <p:nvPr/>
        </p:nvSpPr>
        <p:spPr>
          <a:xfrm>
            <a:off x="548640" y="1819656"/>
            <a:ext cx="8046720" cy="108687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63500" bIns="127000">
            <a:noAutofit/>
          </a:bodyPr>
          <a:lstStyle/>
          <a:p>
            <a:pPr algn="l">
              <a:lnSpc>
                <a:spcPts val="1880"/>
              </a:lnSpc>
              <a:spcBef>
                <a:spcPts val="0"/>
              </a:spcBef>
              <a:spcAft>
                <a:spcPts val="0"/>
              </a:spcAft>
              <a:buNone/>
              <a:defRPr sz="1580" b="0">
                <a:solidFill>
                  <a:srgbClr val="303437"/>
                </a:solidFill>
                <a:latin typeface="Noto Sans"/>
              </a:defRPr>
            </a:pPr>
            <a:r>
              <a:rPr sz="1580" b="0" lang="ja-JP" altLang="en-US">
                <a:solidFill>
                  <a:srgbClr val="303437"/>
                </a:solidFill>
                <a:latin typeface="Noto Sans"/>
                <a:ea typeface="Noto Sans CJK JP"/>
                <a:cs typeface="Noto Sans"/>
              </a:rPr>
              <a:t>利用者：こんにちは。先声画廊の展覧会へ行きます。電話番号と評価を教えてください。</a:t>
            </a:r>
          </a:p>
          <a:p>
            <a:pPr algn="l">
              <a:lnSpc>
                <a:spcPts val="1880"/>
              </a:lnSpc>
              <a:spcBef>
                <a:spcPts val="0"/>
              </a:spcBef>
              <a:spcAft>
                <a:spcPts val="0"/>
              </a:spcAft>
              <a:buNone/>
              <a:defRPr sz="1580" b="0">
                <a:solidFill>
                  <a:srgbClr val="303437"/>
                </a:solidFill>
                <a:latin typeface="Noto Sans"/>
              </a:defRPr>
            </a:pPr>
            <a:r>
              <a:rPr sz="1580" b="0" lang="ja-JP" altLang="en-US">
                <a:solidFill>
                  <a:srgbClr val="303437"/>
                </a:solidFill>
                <a:latin typeface="Noto Sans"/>
                <a:ea typeface="Noto Sans CJK JP"/>
                <a:cs typeface="Noto Sans"/>
              </a:rPr>
              <a:t>システム：電話は010-59789888です。現在、評価はありません。</a:t>
            </a:r>
          </a:p>
          <a:p>
            <a:pPr algn="l">
              <a:lnSpc>
                <a:spcPts val="1880"/>
              </a:lnSpc>
              <a:spcBef>
                <a:spcPts val="0"/>
              </a:spcBef>
              <a:spcAft>
                <a:spcPts val="0"/>
              </a:spcAft>
              <a:buNone/>
              <a:defRPr sz="1580" b="0">
                <a:solidFill>
                  <a:srgbClr val="303437"/>
                </a:solidFill>
                <a:latin typeface="Noto Sans"/>
              </a:defRPr>
            </a:pPr>
            <a:r>
              <a:rPr sz="1580" b="0" lang="ja-JP" altLang="en-US">
                <a:solidFill>
                  <a:srgbClr val="303437"/>
                </a:solidFill>
                <a:latin typeface="Noto Sans"/>
                <a:ea typeface="Noto Sans CJK JP"/>
                <a:cs typeface="Noto Sans"/>
              </a:rPr>
              <a:t>利用者：では、経済型ホテルを一軒勧めて、価格も教えてください。</a:t>
            </a:r>
          </a:p>
        </p:txBody>
      </p:sp>
      <p:sp>
        <p:nvSpPr>
          <p:cNvPr id="7" name="TextBox 6"/>
          <p:cNvSpPr txBox="1"/>
          <p:nvPr/>
        </p:nvSpPr>
        <p:spPr>
          <a:xfrm>
            <a:off x="548640" y="3033526"/>
            <a:ext cx="8046720" cy="674878"/>
          </a:xfrm>
          <a:prstGeom prst="rect">
            <a:avLst/>
          </a:prstGeom>
          <a:noFill/>
        </p:spPr>
        <p:txBody>
          <a:bodyPr wrap="square" lIns="0" rIns="0" tIns="0" bIns="0">
            <a:noAutofit/>
          </a:bodyPr>
          <a:lstStyle/>
          <a:p>
            <a:pPr algn="l">
              <a:lnSpc>
                <a:spcPts val="2457"/>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参照応答：スーパー8ホテル（北京前門大柵欄店）をお勧めします。228元です。</a:t>
            </a:r>
          </a:p>
        </p:txBody>
      </p:sp>
      <p:sp>
        <p:nvSpPr>
          <p:cNvPr id="8" name="sources"/>
          <p:cNvSpPr txBox="1"/>
          <p:nvPr/>
        </p:nvSpPr>
        <p:spPr>
          <a:xfrm>
            <a:off x="502920" y="4700016"/>
            <a:ext cx="8183879" cy="621792"/>
          </a:xfrm>
          <a:prstGeom prst="rect">
            <a:avLst/>
          </a:prstGeom>
          <a:noFill/>
        </p:spPr>
        <p:txBody>
          <a:bodyPr wrap="square" lIns="0" rIns="0" tIns="0" bIns="0">
            <a:noAutofit/>
          </a:bodyPr>
          <a:lstStyle/>
          <a:p>
            <a:pPr algn="l">
              <a:lnSpc>
                <a:spcPts val="12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Qi Zhu et al. (2020). CrossWOZ公式配布データ。固定commit df82c9fd。 test.json / dialogue 10490 / messages[0:3] → [3]。</a:t>
            </a:r>
          </a:p>
          <a:p>
            <a:pPr>
              <a:lnSpc>
                <a:spcPts val="12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https://github.com/thu-coai/CrossWOZ/tree/df82c9fdff91b9b130f2d6b89110d3870ba6260e/data/crosswoz</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実例8：評価条件を緩めた提案</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4" name="TextBox 3"/>
          <p:cNvSpPr txBox="1"/>
          <p:nvPr/>
        </p:nvSpPr>
        <p:spPr>
          <a:xfrm>
            <a:off x="548640" y="1289304"/>
            <a:ext cx="8046720" cy="228600"/>
          </a:xfrm>
          <a:prstGeom prst="rect">
            <a:avLst/>
          </a:prstGeom>
          <a:noFill/>
        </p:spPr>
        <p:txBody>
          <a:bodyPr wrap="square" lIns="0" rIns="0" tIns="0" bIns="0">
            <a:noAutofit/>
          </a:bodyPr>
          <a:lstStyle/>
          <a:p>
            <a:pPr algn="l">
              <a:lnSpc>
                <a:spcPts val="1322"/>
              </a:lnSpc>
              <a:spcBef>
                <a:spcPts val="0"/>
              </a:spcBef>
              <a:spcAft>
                <a:spcPts val="0"/>
              </a:spcAft>
              <a:buNone/>
              <a:defRPr sz="1130" b="0">
                <a:solidFill>
                  <a:srgbClr val="303437"/>
                </a:solidFill>
                <a:latin typeface="Noto Sans"/>
              </a:defRPr>
            </a:pPr>
            <a:r>
              <a:rPr sz="1130" b="0" lang="ja-JP" altLang="en-US">
                <a:solidFill>
                  <a:srgbClr val="626669"/>
                </a:solidFill>
                <a:latin typeface="Noto Sans"/>
                <a:ea typeface="Noto Sans CJK JP"/>
                <a:cs typeface="Noto Sans"/>
              </a:rPr>
              <a:t>train / 対話8781 / 全履歴 1発話 → 収録応答1発話</a:t>
            </a:r>
          </a:p>
        </p:txBody>
      </p:sp>
      <p:sp>
        <p:nvSpPr>
          <p:cNvPr id="5" name="TextBox 4"/>
          <p:cNvSpPr txBox="1"/>
          <p:nvPr/>
        </p:nvSpPr>
        <p:spPr>
          <a:xfrm>
            <a:off x="548640" y="1609344"/>
            <a:ext cx="3886200" cy="210312"/>
          </a:xfrm>
          <a:prstGeom prst="rect">
            <a:avLst/>
          </a:prstGeom>
          <a:noFill/>
        </p:spPr>
        <p:txBody>
          <a:bodyPr wrap="square" lIns="0" rIns="0" tIns="0" bIns="0">
            <a:noAutofit/>
          </a:bodyPr>
          <a:lstStyle/>
          <a:p>
            <a:pPr algn="l">
              <a:lnSpc>
                <a:spcPts val="1357"/>
              </a:lnSpc>
              <a:spcBef>
                <a:spcPts val="0"/>
              </a:spcBef>
              <a:spcAft>
                <a:spcPts val="0"/>
              </a:spcAft>
              <a:buNone/>
              <a:defRPr sz="1160" b="0">
                <a:solidFill>
                  <a:srgbClr val="303437"/>
                </a:solidFill>
                <a:latin typeface="Noto Sans"/>
              </a:defRPr>
            </a:pPr>
            <a:r>
              <a:rPr sz="1160" b="0" lang="ja-JP" altLang="en-US">
                <a:solidFill>
                  <a:srgbClr val="626669"/>
                </a:solidFill>
                <a:latin typeface="Noto Sans"/>
                <a:ea typeface="Noto Sans CJK JP"/>
                <a:cs typeface="Noto Sans"/>
              </a:rPr>
              <a:t>入力：ここまでの全履歴（原文）</a:t>
            </a:r>
          </a:p>
        </p:txBody>
      </p:sp>
      <p:sp>
        <p:nvSpPr>
          <p:cNvPr id="6" name="quote-frame"/>
          <p:cNvSpPr/>
          <p:nvPr/>
        </p:nvSpPr>
        <p:spPr>
          <a:xfrm>
            <a:off x="548640" y="1819656"/>
            <a:ext cx="3886200" cy="83456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63500" bIns="127000">
            <a:noAutofit/>
          </a:bodyPr>
          <a:lstStyle/>
          <a:p>
            <a:pPr algn="l">
              <a:lnSpc>
                <a:spcPts val="1844"/>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利用者：你好，我想去一家评分4分以上的餐馆吃韭菜鸡蛋水饺这道菜，给我推荐一家餐馆用餐吧。</a:t>
            </a:r>
          </a:p>
        </p:txBody>
      </p:sp>
      <p:sp>
        <p:nvSpPr>
          <p:cNvPr id="7" name="TextBox 6"/>
          <p:cNvSpPr txBox="1"/>
          <p:nvPr/>
        </p:nvSpPr>
        <p:spPr>
          <a:xfrm>
            <a:off x="548640" y="2781222"/>
            <a:ext cx="3886200" cy="1298956"/>
          </a:xfrm>
          <a:prstGeom prst="rect">
            <a:avLst/>
          </a:prstGeom>
          <a:noFill/>
        </p:spPr>
        <p:txBody>
          <a:bodyPr wrap="square" lIns="0" rIns="0" tIns="0" bIns="0">
            <a:noAutofit/>
          </a:bodyPr>
          <a:lstStyle/>
          <a:p>
            <a:pPr algn="l">
              <a:lnSpc>
                <a:spcPts val="2457"/>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参照応答：抱歉，评分没有符合您要求的，推荐您去评分3分的百信东北农家菜骨头庄用餐。</a:t>
            </a:r>
          </a:p>
        </p:txBody>
      </p:sp>
      <p:sp>
        <p:nvSpPr>
          <p:cNvPr id="8" name="TextBox 7"/>
          <p:cNvSpPr txBox="1"/>
          <p:nvPr/>
        </p:nvSpPr>
        <p:spPr>
          <a:xfrm>
            <a:off x="4617720" y="1609344"/>
            <a:ext cx="3886200" cy="210312"/>
          </a:xfrm>
          <a:prstGeom prst="rect">
            <a:avLst/>
          </a:prstGeom>
          <a:noFill/>
        </p:spPr>
        <p:txBody>
          <a:bodyPr wrap="square" lIns="0" rIns="0" tIns="0" bIns="0">
            <a:noAutofit/>
          </a:bodyPr>
          <a:lstStyle/>
          <a:p>
            <a:pPr algn="l">
              <a:lnSpc>
                <a:spcPts val="1357"/>
              </a:lnSpc>
              <a:spcBef>
                <a:spcPts val="0"/>
              </a:spcBef>
              <a:spcAft>
                <a:spcPts val="0"/>
              </a:spcAft>
              <a:buNone/>
              <a:defRPr sz="1160" b="0">
                <a:solidFill>
                  <a:srgbClr val="303437"/>
                </a:solidFill>
                <a:latin typeface="Noto Sans"/>
              </a:defRPr>
            </a:pPr>
            <a:r>
              <a:rPr sz="1160" b="0" lang="ja-JP" altLang="en-US">
                <a:solidFill>
                  <a:srgbClr val="626669"/>
                </a:solidFill>
                <a:latin typeface="Noto Sans"/>
                <a:ea typeface="Noto Sans CJK JP"/>
                <a:cs typeface="Noto Sans"/>
              </a:rPr>
              <a:t>対応する日本語訳</a:t>
            </a:r>
          </a:p>
        </p:txBody>
      </p:sp>
      <p:sp>
        <p:nvSpPr>
          <p:cNvPr id="9" name="quote-frame"/>
          <p:cNvSpPr/>
          <p:nvPr/>
        </p:nvSpPr>
        <p:spPr>
          <a:xfrm>
            <a:off x="4617720" y="1819656"/>
            <a:ext cx="3886200" cy="83456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63500" bIns="127000">
            <a:noAutofit/>
          </a:bodyPr>
          <a:lstStyle/>
          <a:p>
            <a:pPr algn="l">
              <a:lnSpc>
                <a:spcPts val="1844"/>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利用者：こんにちは。評価4点以上のレストランで、ニラと卵の水餃子を食べたいです。一軒勧めてください。</a:t>
            </a:r>
          </a:p>
        </p:txBody>
      </p:sp>
      <p:sp>
        <p:nvSpPr>
          <p:cNvPr id="10" name="TextBox 9"/>
          <p:cNvSpPr txBox="1"/>
          <p:nvPr/>
        </p:nvSpPr>
        <p:spPr>
          <a:xfrm>
            <a:off x="4617720" y="2781222"/>
            <a:ext cx="3886200" cy="1298956"/>
          </a:xfrm>
          <a:prstGeom prst="rect">
            <a:avLst/>
          </a:prstGeom>
          <a:noFill/>
        </p:spPr>
        <p:txBody>
          <a:bodyPr wrap="square" lIns="0" rIns="0" tIns="0" bIns="0">
            <a:noAutofit/>
          </a:bodyPr>
          <a:lstStyle/>
          <a:p>
            <a:pPr algn="l">
              <a:lnSpc>
                <a:spcPts val="2457"/>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参照応答：申し訳ありませんが、その評価条件に合う店はありません。評価3点の百信東北農家菜骨頭荘をお勧めします。</a:t>
            </a:r>
          </a:p>
        </p:txBody>
      </p:sp>
      <p:sp>
        <p:nvSpPr>
          <p:cNvPr id="11" name="sources"/>
          <p:cNvSpPr txBox="1"/>
          <p:nvPr/>
        </p:nvSpPr>
        <p:spPr>
          <a:xfrm>
            <a:off x="502920" y="4700016"/>
            <a:ext cx="8183879" cy="621792"/>
          </a:xfrm>
          <a:prstGeom prst="rect">
            <a:avLst/>
          </a:prstGeom>
          <a:noFill/>
        </p:spPr>
        <p:txBody>
          <a:bodyPr wrap="square" lIns="0" rIns="0" tIns="0" bIns="0">
            <a:noAutofit/>
          </a:bodyPr>
          <a:lstStyle/>
          <a:p>
            <a:pPr algn="l">
              <a:lnSpc>
                <a:spcPts val="12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Qi Zhu et al. (2020). CrossWOZ公式配布データ。固定commit df82c9fd。 train.json / dialogue 8781 / messages[0:1] → [1]。</a:t>
            </a:r>
          </a:p>
          <a:p>
            <a:pPr>
              <a:lnSpc>
                <a:spcPts val="12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https://github.com/thu-coai/CrossWOZ/tree/df82c9fdff91b9b130f2d6b89110d3870ba6260e/data/crosswoz</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実例9：価格条件を緩めた提案</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4" name="TextBox 3"/>
          <p:cNvSpPr txBox="1"/>
          <p:nvPr/>
        </p:nvSpPr>
        <p:spPr>
          <a:xfrm>
            <a:off x="548640" y="1289304"/>
            <a:ext cx="8046720" cy="228600"/>
          </a:xfrm>
          <a:prstGeom prst="rect">
            <a:avLst/>
          </a:prstGeom>
          <a:noFill/>
        </p:spPr>
        <p:txBody>
          <a:bodyPr wrap="square" lIns="0" rIns="0" tIns="0" bIns="0">
            <a:noAutofit/>
          </a:bodyPr>
          <a:lstStyle/>
          <a:p>
            <a:pPr algn="l">
              <a:lnSpc>
                <a:spcPts val="1322"/>
              </a:lnSpc>
              <a:spcBef>
                <a:spcPts val="0"/>
              </a:spcBef>
              <a:spcAft>
                <a:spcPts val="0"/>
              </a:spcAft>
              <a:buNone/>
              <a:defRPr sz="1130" b="0">
                <a:solidFill>
                  <a:srgbClr val="303437"/>
                </a:solidFill>
                <a:latin typeface="Noto Sans"/>
              </a:defRPr>
            </a:pPr>
            <a:r>
              <a:rPr sz="1130" b="0" lang="ja-JP" altLang="en-US">
                <a:solidFill>
                  <a:srgbClr val="626669"/>
                </a:solidFill>
                <a:latin typeface="Noto Sans"/>
                <a:ea typeface="Noto Sans CJK JP"/>
                <a:cs typeface="Noto Sans"/>
              </a:rPr>
              <a:t>train / 対話9779 / 全履歴 1発話 → 収録応答1発話</a:t>
            </a:r>
          </a:p>
        </p:txBody>
      </p:sp>
      <p:sp>
        <p:nvSpPr>
          <p:cNvPr id="5" name="TextBox 4"/>
          <p:cNvSpPr txBox="1"/>
          <p:nvPr/>
        </p:nvSpPr>
        <p:spPr>
          <a:xfrm>
            <a:off x="548640" y="1609344"/>
            <a:ext cx="3200400" cy="210312"/>
          </a:xfrm>
          <a:prstGeom prst="rect">
            <a:avLst/>
          </a:prstGeom>
          <a:noFill/>
        </p:spPr>
        <p:txBody>
          <a:bodyPr wrap="square" lIns="0" rIns="0" tIns="0" bIns="0">
            <a:noAutofit/>
          </a:bodyPr>
          <a:lstStyle/>
          <a:p>
            <a:pPr algn="l">
              <a:lnSpc>
                <a:spcPts val="1357"/>
              </a:lnSpc>
              <a:spcBef>
                <a:spcPts val="0"/>
              </a:spcBef>
              <a:spcAft>
                <a:spcPts val="0"/>
              </a:spcAft>
              <a:buNone/>
              <a:defRPr sz="1160" b="0">
                <a:solidFill>
                  <a:srgbClr val="303437"/>
                </a:solidFill>
                <a:latin typeface="Noto Sans"/>
              </a:defRPr>
            </a:pPr>
            <a:r>
              <a:rPr sz="1160" b="0" lang="ja-JP" altLang="en-US">
                <a:solidFill>
                  <a:srgbClr val="626669"/>
                </a:solidFill>
                <a:latin typeface="Noto Sans"/>
                <a:ea typeface="Noto Sans CJK JP"/>
                <a:cs typeface="Noto Sans"/>
              </a:rPr>
              <a:t>入力：ここまでの全履歴（原文）</a:t>
            </a:r>
          </a:p>
        </p:txBody>
      </p:sp>
      <p:sp>
        <p:nvSpPr>
          <p:cNvPr id="6" name="quote-frame"/>
          <p:cNvSpPr/>
          <p:nvPr/>
        </p:nvSpPr>
        <p:spPr>
          <a:xfrm>
            <a:off x="548640" y="1819656"/>
            <a:ext cx="3200400" cy="796919"/>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63500" bIns="127000">
            <a:noAutofit/>
          </a:bodyPr>
          <a:lstStyle/>
          <a:p>
            <a:pPr algn="l">
              <a:lnSpc>
                <a:spcPts val="1725"/>
              </a:lnSpc>
              <a:spcBef>
                <a:spcPts val="0"/>
              </a:spcBef>
              <a:spcAft>
                <a:spcPts val="0"/>
              </a:spcAft>
              <a:buNone/>
              <a:defRPr sz="1450" b="0">
                <a:solidFill>
                  <a:srgbClr val="303437"/>
                </a:solidFill>
                <a:latin typeface="Noto Sans"/>
              </a:defRPr>
            </a:pPr>
            <a:r>
              <a:rPr sz="1450" b="0" lang="ja-JP" altLang="en-US">
                <a:solidFill>
                  <a:srgbClr val="303437"/>
                </a:solidFill>
                <a:latin typeface="Noto Sans"/>
                <a:ea typeface="Noto Sans CJK JP"/>
                <a:cs typeface="Noto Sans"/>
              </a:rPr>
              <a:t>利用者：你好，我想找一家人均消费500-1000元的餐馆吃涮菜，给我推荐一家餐馆用餐吧。</a:t>
            </a:r>
          </a:p>
        </p:txBody>
      </p:sp>
      <p:sp>
        <p:nvSpPr>
          <p:cNvPr id="7" name="TextBox 6"/>
          <p:cNvSpPr txBox="1"/>
          <p:nvPr/>
        </p:nvSpPr>
        <p:spPr>
          <a:xfrm>
            <a:off x="548640" y="2735109"/>
            <a:ext cx="3200400" cy="1610994"/>
          </a:xfrm>
          <a:prstGeom prst="rect">
            <a:avLst/>
          </a:prstGeom>
          <a:noFill/>
        </p:spPr>
        <p:txBody>
          <a:bodyPr wrap="square" lIns="0" rIns="0" tIns="0" bIns="0">
            <a:noAutofit/>
          </a:bodyPr>
          <a:lstStyle/>
          <a:p>
            <a:pPr algn="l">
              <a:lnSpc>
                <a:spcPts val="2457"/>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参照応答：抱歉，消费价格没有符合您要求的，推荐您去人均消费75元的老北京铜锅涮肉用餐这道菜。</a:t>
            </a:r>
          </a:p>
        </p:txBody>
      </p:sp>
      <p:sp>
        <p:nvSpPr>
          <p:cNvPr id="8" name="TextBox 7"/>
          <p:cNvSpPr txBox="1"/>
          <p:nvPr/>
        </p:nvSpPr>
        <p:spPr>
          <a:xfrm>
            <a:off x="3931920" y="1609344"/>
            <a:ext cx="4663440" cy="210312"/>
          </a:xfrm>
          <a:prstGeom prst="rect">
            <a:avLst/>
          </a:prstGeom>
          <a:noFill/>
        </p:spPr>
        <p:txBody>
          <a:bodyPr wrap="square" lIns="0" rIns="0" tIns="0" bIns="0">
            <a:noAutofit/>
          </a:bodyPr>
          <a:lstStyle/>
          <a:p>
            <a:pPr algn="l">
              <a:lnSpc>
                <a:spcPts val="1357"/>
              </a:lnSpc>
              <a:spcBef>
                <a:spcPts val="0"/>
              </a:spcBef>
              <a:spcAft>
                <a:spcPts val="0"/>
              </a:spcAft>
              <a:buNone/>
              <a:defRPr sz="1160" b="0">
                <a:solidFill>
                  <a:srgbClr val="303437"/>
                </a:solidFill>
                <a:latin typeface="Noto Sans"/>
              </a:defRPr>
            </a:pPr>
            <a:r>
              <a:rPr sz="1160" b="0" lang="ja-JP" altLang="en-US">
                <a:solidFill>
                  <a:srgbClr val="626669"/>
                </a:solidFill>
                <a:latin typeface="Noto Sans"/>
                <a:ea typeface="Noto Sans CJK JP"/>
                <a:cs typeface="Noto Sans"/>
              </a:rPr>
              <a:t>対応する日本語訳</a:t>
            </a:r>
          </a:p>
        </p:txBody>
      </p:sp>
      <p:sp>
        <p:nvSpPr>
          <p:cNvPr id="9" name="quote-frame"/>
          <p:cNvSpPr/>
          <p:nvPr/>
        </p:nvSpPr>
        <p:spPr>
          <a:xfrm>
            <a:off x="3931920" y="1819656"/>
            <a:ext cx="4663440" cy="796919"/>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63500" bIns="127000">
            <a:noAutofit/>
          </a:bodyPr>
          <a:lstStyle/>
          <a:p>
            <a:pPr algn="l">
              <a:lnSpc>
                <a:spcPts val="1725"/>
              </a:lnSpc>
              <a:spcBef>
                <a:spcPts val="0"/>
              </a:spcBef>
              <a:spcAft>
                <a:spcPts val="0"/>
              </a:spcAft>
              <a:buNone/>
              <a:defRPr sz="1450" b="0">
                <a:solidFill>
                  <a:srgbClr val="303437"/>
                </a:solidFill>
                <a:latin typeface="Noto Sans"/>
              </a:defRPr>
            </a:pPr>
            <a:r>
              <a:rPr sz="1450" b="0" lang="ja-JP" altLang="en-US">
                <a:solidFill>
                  <a:srgbClr val="303437"/>
                </a:solidFill>
                <a:latin typeface="Noto Sans"/>
                <a:ea typeface="Noto Sans CJK JP"/>
                <a:cs typeface="Noto Sans"/>
              </a:rPr>
              <a:t>利用者：こんにちは。一人当たり500～1,000元のレストランで、鍋料理（涮菜）を食べたいです。一軒勧めてください。</a:t>
            </a:r>
          </a:p>
        </p:txBody>
      </p:sp>
      <p:sp>
        <p:nvSpPr>
          <p:cNvPr id="10" name="TextBox 9"/>
          <p:cNvSpPr txBox="1"/>
          <p:nvPr/>
        </p:nvSpPr>
        <p:spPr>
          <a:xfrm>
            <a:off x="3931920" y="2735109"/>
            <a:ext cx="4663440" cy="1610994"/>
          </a:xfrm>
          <a:prstGeom prst="rect">
            <a:avLst/>
          </a:prstGeom>
          <a:noFill/>
        </p:spPr>
        <p:txBody>
          <a:bodyPr wrap="square" lIns="0" rIns="0" tIns="0" bIns="0">
            <a:noAutofit/>
          </a:bodyPr>
          <a:lstStyle/>
          <a:p>
            <a:pPr algn="l">
              <a:lnSpc>
                <a:spcPts val="2457"/>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参照応答：申し訳ありませんが、その価格に合う店はありません。一人当たり75元の老北京銅鍋涮肉で、この料理を食べることをお勧めします。</a:t>
            </a:r>
          </a:p>
        </p:txBody>
      </p:sp>
      <p:sp>
        <p:nvSpPr>
          <p:cNvPr id="11" name="sources"/>
          <p:cNvSpPr txBox="1"/>
          <p:nvPr/>
        </p:nvSpPr>
        <p:spPr>
          <a:xfrm>
            <a:off x="502920" y="4700016"/>
            <a:ext cx="8183879" cy="621792"/>
          </a:xfrm>
          <a:prstGeom prst="rect">
            <a:avLst/>
          </a:prstGeom>
          <a:noFill/>
        </p:spPr>
        <p:txBody>
          <a:bodyPr wrap="square" lIns="0" rIns="0" tIns="0" bIns="0">
            <a:noAutofit/>
          </a:bodyPr>
          <a:lstStyle/>
          <a:p>
            <a:pPr algn="l">
              <a:lnSpc>
                <a:spcPts val="12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Qi Zhu et al. (2020). CrossWOZ公式配布データ。固定commit df82c9fd。 train.json / dialogue 9779 / messages[0:1] → [1]。</a:t>
            </a:r>
          </a:p>
          <a:p>
            <a:pPr>
              <a:lnSpc>
                <a:spcPts val="12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https://github.com/thu-coai/CrossWOZ/tree/df82c9fdff91b9b130f2d6b89110d3870ba6260e/data/crosswoz</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実例10：ホテルと食事の間の地下鉄</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4" name="TextBox 3"/>
          <p:cNvSpPr txBox="1"/>
          <p:nvPr/>
        </p:nvSpPr>
        <p:spPr>
          <a:xfrm>
            <a:off x="548640" y="1289304"/>
            <a:ext cx="8046720" cy="228600"/>
          </a:xfrm>
          <a:prstGeom prst="rect">
            <a:avLst/>
          </a:prstGeom>
          <a:noFill/>
        </p:spPr>
        <p:txBody>
          <a:bodyPr wrap="square" lIns="0" rIns="0" tIns="0" bIns="0">
            <a:noAutofit/>
          </a:bodyPr>
          <a:lstStyle/>
          <a:p>
            <a:pPr algn="l">
              <a:lnSpc>
                <a:spcPts val="1322"/>
              </a:lnSpc>
              <a:spcBef>
                <a:spcPts val="0"/>
              </a:spcBef>
              <a:spcAft>
                <a:spcPts val="0"/>
              </a:spcAft>
              <a:buNone/>
              <a:defRPr sz="1130" b="0">
                <a:solidFill>
                  <a:srgbClr val="303437"/>
                </a:solidFill>
                <a:latin typeface="Noto Sans"/>
              </a:defRPr>
            </a:pPr>
            <a:r>
              <a:rPr sz="1130" b="0" lang="ja-JP" altLang="en-US">
                <a:solidFill>
                  <a:srgbClr val="626669"/>
                </a:solidFill>
                <a:latin typeface="Noto Sans"/>
                <a:ea typeface="Noto Sans CJK JP"/>
                <a:cs typeface="Noto Sans"/>
              </a:rPr>
              <a:t>test / 対話10838 / 全履歴 5発話 → 収録応答1発話 ／ 原文は左→右</a:t>
            </a:r>
          </a:p>
        </p:txBody>
      </p:sp>
      <p:sp>
        <p:nvSpPr>
          <p:cNvPr id="6" name="quote-frame"/>
          <p:cNvSpPr/>
          <p:nvPr/>
        </p:nvSpPr>
        <p:spPr>
          <a:xfrm>
            <a:off x="548640" y="1508760"/>
            <a:ext cx="3886200" cy="1910114"/>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71967" bIns="127000">
            <a:noAutofit/>
          </a:bodyPr>
          <a:lstStyle/>
          <a:p>
            <a:pPr algn="l">
              <a:lnSpc>
                <a:spcPts val="1535"/>
              </a:lnSpc>
              <a:spcBef>
                <a:spcPts val="0"/>
              </a:spcBef>
              <a:spcAft>
                <a:spcPts val="0"/>
              </a:spcAft>
              <a:buNone/>
              <a:defRPr sz="1290" b="0">
                <a:solidFill>
                  <a:srgbClr val="303437"/>
                </a:solidFill>
                <a:latin typeface="Noto Sans"/>
              </a:defRPr>
            </a:pPr>
            <a:r>
              <a:rPr sz="1290" b="0" lang="ja-JP" altLang="en-US">
                <a:solidFill>
                  <a:srgbClr val="303437"/>
                </a:solidFill>
                <a:latin typeface="Noto Sans"/>
                <a:ea typeface="Noto Sans CJK JP"/>
                <a:cs typeface="Noto Sans"/>
              </a:rPr>
              <a:t>利用者：您好，明天老妈来看我，想找一家最低价格是200-300元的、提供wifi的酒店住下，帮我找一家，告诉我电话，看看周边有什么餐馆，我考虑一下。谢了。</a:t>
            </a:r>
          </a:p>
          <a:p>
            <a:pPr algn="l">
              <a:lnSpc>
                <a:spcPts val="1535"/>
              </a:lnSpc>
              <a:spcBef>
                <a:spcPts val="0"/>
              </a:spcBef>
              <a:spcAft>
                <a:spcPts val="0"/>
              </a:spcAft>
              <a:buNone/>
              <a:defRPr sz="1290" b="0">
                <a:solidFill>
                  <a:srgbClr val="303437"/>
                </a:solidFill>
                <a:latin typeface="Noto Sans"/>
              </a:defRPr>
            </a:pPr>
            <a:r>
              <a:rPr sz="1290" b="0" lang="ja-JP" altLang="en-US">
                <a:solidFill>
                  <a:srgbClr val="303437"/>
                </a:solidFill>
                <a:latin typeface="Noto Sans"/>
                <a:ea typeface="Noto Sans CJK JP"/>
                <a:cs typeface="Noto Sans"/>
              </a:rPr>
              <a:t>システム：为您推荐维也纳3好酒店(北京南站洋桥店)，电话010-67586489，周边餐馆有一碗居老北京炸酱面(蒲芳路店)、瑞宾楼(丰台店)等等。</a:t>
            </a:r>
          </a:p>
          <a:p>
            <a:pPr algn="l">
              <a:lnSpc>
                <a:spcPts val="1535"/>
              </a:lnSpc>
              <a:spcBef>
                <a:spcPts val="0"/>
              </a:spcBef>
              <a:spcAft>
                <a:spcPts val="0"/>
              </a:spcAft>
              <a:buNone/>
              <a:defRPr sz="1290" b="0">
                <a:solidFill>
                  <a:srgbClr val="303437"/>
                </a:solidFill>
                <a:latin typeface="Noto Sans"/>
              </a:defRPr>
            </a:pPr>
            <a:r>
              <a:rPr sz="1290" b="0" lang="ja-JP" altLang="en-US">
                <a:solidFill>
                  <a:srgbClr val="303437"/>
                </a:solidFill>
                <a:latin typeface="Noto Sans"/>
                <a:ea typeface="Noto Sans CJK JP"/>
                <a:cs typeface="Noto Sans"/>
              </a:rPr>
              <a:t>利用者：好的。还得请老妈吃顿好的，</a:t>
            </a:r>
          </a:p>
        </p:txBody>
      </p:sp>
      <p:sp>
        <p:nvSpPr>
          <p:cNvPr id="8" name="quote-frame"/>
          <p:cNvSpPr/>
          <p:nvPr/>
        </p:nvSpPr>
        <p:spPr>
          <a:xfrm>
            <a:off x="4709159" y="1508760"/>
            <a:ext cx="3886200" cy="2105237"/>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71967" bIns="127000">
            <a:noAutofit/>
          </a:bodyPr>
          <a:lstStyle/>
          <a:p>
            <a:pPr algn="l">
              <a:lnSpc>
                <a:spcPts val="1535"/>
              </a:lnSpc>
              <a:spcBef>
                <a:spcPts val="0"/>
              </a:spcBef>
              <a:spcAft>
                <a:spcPts val="0"/>
              </a:spcAft>
              <a:buNone/>
              <a:defRPr sz="1290" b="0">
                <a:solidFill>
                  <a:srgbClr val="303437"/>
                </a:solidFill>
                <a:latin typeface="Noto Sans"/>
              </a:defRPr>
            </a:pPr>
            <a:r>
              <a:rPr sz="1290" b="0" lang="ja-JP" altLang="en-US">
                <a:solidFill>
                  <a:srgbClr val="303437"/>
                </a:solidFill>
                <a:latin typeface="Noto Sans"/>
                <a:ea typeface="Noto Sans CJK JP"/>
                <a:cs typeface="Noto Sans"/>
              </a:rPr>
              <a:t>找一家人均消费是150-500元的、评分是4.5分以上的餐馆吧，最好周边有景点可以顺便玩玩，有个酒店累了直接可以去休息一下，帮我推荐一家吧。</a:t>
            </a:r>
          </a:p>
          <a:p>
            <a:pPr algn="l">
              <a:lnSpc>
                <a:spcPts val="1535"/>
              </a:lnSpc>
              <a:spcBef>
                <a:spcPts val="0"/>
              </a:spcBef>
              <a:spcAft>
                <a:spcPts val="0"/>
              </a:spcAft>
              <a:buNone/>
              <a:defRPr sz="1290" b="0">
                <a:solidFill>
                  <a:srgbClr val="303437"/>
                </a:solidFill>
                <a:latin typeface="Noto Sans"/>
              </a:defRPr>
            </a:pPr>
            <a:r>
              <a:rPr sz="1290" b="0" lang="ja-JP" altLang="en-US">
                <a:solidFill>
                  <a:srgbClr val="303437"/>
                </a:solidFill>
                <a:latin typeface="Noto Sans"/>
                <a:ea typeface="Noto Sans CJK JP"/>
                <a:cs typeface="Noto Sans"/>
              </a:rPr>
              <a:t>システム：推荐带妈妈去大董(南新仓店)吧，周边景点有故宫、恭王府等；周边酒店有北京天伦王朝酒店、北京饭店等，很方便呢。</a:t>
            </a:r>
          </a:p>
          <a:p>
            <a:pPr algn="l">
              <a:lnSpc>
                <a:spcPts val="1535"/>
              </a:lnSpc>
              <a:spcBef>
                <a:spcPts val="0"/>
              </a:spcBef>
              <a:spcAft>
                <a:spcPts val="0"/>
              </a:spcAft>
              <a:buNone/>
              <a:defRPr sz="1290" b="0">
                <a:solidFill>
                  <a:srgbClr val="303437"/>
                </a:solidFill>
                <a:latin typeface="Noto Sans"/>
              </a:defRPr>
            </a:pPr>
            <a:r>
              <a:rPr sz="1290" b="0" lang="ja-JP" altLang="en-US">
                <a:solidFill>
                  <a:srgbClr val="303437"/>
                </a:solidFill>
                <a:latin typeface="Noto Sans"/>
                <a:ea typeface="Noto Sans CJK JP"/>
                <a:cs typeface="Noto Sans"/>
              </a:rPr>
              <a:t>利用者：我想乘地铁从维也纳3好酒店(北京南站洋桥店)到大董(南新仓店)，请告诉我这两个地方的地铁站分别是什么？</a:t>
            </a:r>
          </a:p>
        </p:txBody>
      </p:sp>
      <p:sp>
        <p:nvSpPr>
          <p:cNvPr id="9" name="TextBox 8"/>
          <p:cNvSpPr txBox="1"/>
          <p:nvPr/>
        </p:nvSpPr>
        <p:spPr>
          <a:xfrm>
            <a:off x="548640" y="3715598"/>
            <a:ext cx="8046720" cy="674878"/>
          </a:xfrm>
          <a:prstGeom prst="rect">
            <a:avLst/>
          </a:prstGeom>
          <a:noFill/>
        </p:spPr>
        <p:txBody>
          <a:bodyPr wrap="square" lIns="0" rIns="0" tIns="0" bIns="0">
            <a:noAutofit/>
          </a:bodyPr>
          <a:lstStyle/>
          <a:p>
            <a:pPr algn="l">
              <a:lnSpc>
                <a:spcPts val="2457"/>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参照応答：维也纳3好酒店(北京南站洋桥店)地铁：角门东地铁站A口；大董(南新仓店)地铁：灯市口地铁站A口。</a:t>
            </a:r>
          </a:p>
        </p:txBody>
      </p:sp>
      <p:sp>
        <p:nvSpPr>
          <p:cNvPr id="10" name="sources"/>
          <p:cNvSpPr txBox="1"/>
          <p:nvPr/>
        </p:nvSpPr>
        <p:spPr>
          <a:xfrm>
            <a:off x="502920" y="4700016"/>
            <a:ext cx="8183879" cy="621792"/>
          </a:xfrm>
          <a:prstGeom prst="rect">
            <a:avLst/>
          </a:prstGeom>
          <a:noFill/>
        </p:spPr>
        <p:txBody>
          <a:bodyPr wrap="square" lIns="0" rIns="0" tIns="0" bIns="0">
            <a:noAutofit/>
          </a:bodyPr>
          <a:lstStyle/>
          <a:p>
            <a:pPr algn="l">
              <a:lnSpc>
                <a:spcPts val="12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Qi Zhu et al. (2020). CrossWOZ公式配布データ。固定commit df82c9fd。 test.json / dialogue 10838 / messages[0:5] → [5]。</a:t>
            </a:r>
          </a:p>
          <a:p>
            <a:pPr>
              <a:lnSpc>
                <a:spcPts val="12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https://github.com/thu-coai/CrossWOZ/tree/df82c9fdff91b9b130f2d6b89110d3870ba6260e/data/crosswoz</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実例10：ホテルと食事の間の地下鉄（訳）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4" name="TextBox 3"/>
          <p:cNvSpPr txBox="1"/>
          <p:nvPr/>
        </p:nvSpPr>
        <p:spPr>
          <a:xfrm>
            <a:off x="548640" y="1289304"/>
            <a:ext cx="8046720" cy="228600"/>
          </a:xfrm>
          <a:prstGeom prst="rect">
            <a:avLst/>
          </a:prstGeom>
          <a:noFill/>
        </p:spPr>
        <p:txBody>
          <a:bodyPr wrap="square" lIns="0" rIns="0" tIns="0" bIns="0">
            <a:noAutofit/>
          </a:bodyPr>
          <a:lstStyle/>
          <a:p>
            <a:pPr algn="l">
              <a:lnSpc>
                <a:spcPts val="1322"/>
              </a:lnSpc>
              <a:spcBef>
                <a:spcPts val="0"/>
              </a:spcBef>
              <a:spcAft>
                <a:spcPts val="0"/>
              </a:spcAft>
              <a:buNone/>
              <a:defRPr sz="1130" b="0">
                <a:solidFill>
                  <a:srgbClr val="303437"/>
                </a:solidFill>
                <a:latin typeface="Noto Sans"/>
              </a:defRPr>
            </a:pPr>
            <a:r>
              <a:rPr sz="1130" b="0" lang="ja-JP" altLang="en-US">
                <a:solidFill>
                  <a:srgbClr val="626669"/>
                </a:solidFill>
                <a:latin typeface="Noto Sans"/>
                <a:ea typeface="Noto Sans CJK JP"/>
                <a:cs typeface="Noto Sans"/>
              </a:rPr>
              <a:t>test / 対話10838 / 全履歴 5発話 → 収録応答1発話 ／ 訳は左→右</a:t>
            </a:r>
          </a:p>
        </p:txBody>
      </p:sp>
      <p:sp>
        <p:nvSpPr>
          <p:cNvPr id="6" name="quote-frame"/>
          <p:cNvSpPr/>
          <p:nvPr/>
        </p:nvSpPr>
        <p:spPr>
          <a:xfrm>
            <a:off x="548640" y="1508760"/>
            <a:ext cx="3886200" cy="2097234"/>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71967" bIns="127000">
            <a:noAutofit/>
          </a:bodyPr>
          <a:lstStyle/>
          <a:p>
            <a:pPr algn="l">
              <a:lnSpc>
                <a:spcPts val="1535"/>
              </a:lnSpc>
              <a:spcBef>
                <a:spcPts val="0"/>
              </a:spcBef>
              <a:spcAft>
                <a:spcPts val="0"/>
              </a:spcAft>
              <a:buNone/>
              <a:defRPr sz="1290" b="0">
                <a:solidFill>
                  <a:srgbClr val="303437"/>
                </a:solidFill>
                <a:latin typeface="Noto Sans"/>
              </a:defRPr>
            </a:pPr>
            <a:r>
              <a:rPr sz="1290" b="0" lang="ja-JP" altLang="en-US">
                <a:solidFill>
                  <a:srgbClr val="303437"/>
                </a:solidFill>
                <a:latin typeface="Noto Sans"/>
                <a:ea typeface="Noto Sans CJK JP"/>
                <a:cs typeface="Noto Sans"/>
              </a:rPr>
              <a:t>利用者：こんにちは。明日、母が来るので、最低価格200～300元でWi-Fiのあるホテルを探しています。電話番号と周辺のレストランも教えてください。検討します。</a:t>
            </a:r>
          </a:p>
          <a:p>
            <a:pPr algn="l">
              <a:lnSpc>
                <a:spcPts val="1535"/>
              </a:lnSpc>
              <a:spcBef>
                <a:spcPts val="0"/>
              </a:spcBef>
              <a:spcAft>
                <a:spcPts val="0"/>
              </a:spcAft>
              <a:buNone/>
              <a:defRPr sz="1290" b="0">
                <a:solidFill>
                  <a:srgbClr val="303437"/>
                </a:solidFill>
                <a:latin typeface="Noto Sans"/>
              </a:defRPr>
            </a:pPr>
            <a:r>
              <a:rPr sz="1290" b="0" lang="ja-JP" altLang="en-US">
                <a:solidFill>
                  <a:srgbClr val="303437"/>
                </a:solidFill>
                <a:latin typeface="Noto Sans"/>
                <a:ea typeface="Noto Sans CJK JP"/>
                <a:cs typeface="Noto Sans"/>
              </a:rPr>
              <a:t>システム：ウィーン3好ホテル（北京南駅洋橋店）をお勧めします。電話は010-67586489、周辺には一碗居老北京炸醤麺（蒲芳路店）、瑞賓楼（豊台店）などがあります。</a:t>
            </a:r>
          </a:p>
          <a:p>
            <a:pPr algn="l">
              <a:lnSpc>
                <a:spcPts val="1535"/>
              </a:lnSpc>
              <a:spcBef>
                <a:spcPts val="0"/>
              </a:spcBef>
              <a:spcAft>
                <a:spcPts val="0"/>
              </a:spcAft>
              <a:buNone/>
              <a:defRPr sz="1290" b="0">
                <a:solidFill>
                  <a:srgbClr val="303437"/>
                </a:solidFill>
                <a:latin typeface="Noto Sans"/>
              </a:defRPr>
            </a:pPr>
            <a:r>
              <a:rPr sz="1290" b="0" lang="ja-JP" altLang="en-US">
                <a:solidFill>
                  <a:srgbClr val="303437"/>
                </a:solidFill>
                <a:latin typeface="Noto Sans"/>
                <a:ea typeface="Noto Sans CJK JP"/>
                <a:cs typeface="Noto Sans"/>
              </a:rPr>
              <a:t>利用者：母と食事もしたいので、一人当たり150～500元、</a:t>
            </a:r>
          </a:p>
        </p:txBody>
      </p:sp>
      <p:sp>
        <p:nvSpPr>
          <p:cNvPr id="8" name="quote-frame"/>
          <p:cNvSpPr/>
          <p:nvPr/>
        </p:nvSpPr>
        <p:spPr>
          <a:xfrm>
            <a:off x="4709159" y="1508760"/>
            <a:ext cx="3886200" cy="229189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71967" bIns="127000">
            <a:noAutofit/>
          </a:bodyPr>
          <a:lstStyle/>
          <a:p>
            <a:pPr algn="l">
              <a:lnSpc>
                <a:spcPts val="1535"/>
              </a:lnSpc>
              <a:spcBef>
                <a:spcPts val="0"/>
              </a:spcBef>
              <a:spcAft>
                <a:spcPts val="0"/>
              </a:spcAft>
              <a:buNone/>
              <a:defRPr sz="1290" b="0">
                <a:solidFill>
                  <a:srgbClr val="303437"/>
                </a:solidFill>
                <a:latin typeface="Noto Sans"/>
              </a:defRPr>
            </a:pPr>
            <a:r>
              <a:rPr sz="1290" b="0" lang="ja-JP" altLang="en-US">
                <a:solidFill>
                  <a:srgbClr val="303437"/>
                </a:solidFill>
                <a:latin typeface="Noto Sans"/>
                <a:ea typeface="Noto Sans CJK JP"/>
                <a:cs typeface="Noto Sans"/>
              </a:rPr>
              <a:t>評価4.5点以上のレストランを探してください。周辺に観光地があれば遊べますし、ホテルがあれば疲れたら休めます。</a:t>
            </a:r>
          </a:p>
          <a:p>
            <a:pPr algn="l">
              <a:lnSpc>
                <a:spcPts val="1535"/>
              </a:lnSpc>
              <a:spcBef>
                <a:spcPts val="0"/>
              </a:spcBef>
              <a:spcAft>
                <a:spcPts val="0"/>
              </a:spcAft>
              <a:buNone/>
              <a:defRPr sz="1290" b="0">
                <a:solidFill>
                  <a:srgbClr val="303437"/>
                </a:solidFill>
                <a:latin typeface="Noto Sans"/>
              </a:defRPr>
            </a:pPr>
            <a:r>
              <a:rPr sz="1290" b="0" lang="ja-JP" altLang="en-US">
                <a:solidFill>
                  <a:srgbClr val="303437"/>
                </a:solidFill>
                <a:latin typeface="Noto Sans"/>
                <a:ea typeface="Noto Sans CJK JP"/>
                <a:cs typeface="Noto Sans"/>
              </a:rPr>
              <a:t>システム：大董（南新倉店）をお勧めします。周辺には故宮、恭王府などの観光地と、北京天倫王朝ホテル、北京飯店などがあり、便利です。</a:t>
            </a:r>
          </a:p>
          <a:p>
            <a:pPr algn="l">
              <a:lnSpc>
                <a:spcPts val="1535"/>
              </a:lnSpc>
              <a:spcBef>
                <a:spcPts val="0"/>
              </a:spcBef>
              <a:spcAft>
                <a:spcPts val="0"/>
              </a:spcAft>
              <a:buNone/>
              <a:defRPr sz="1290" b="0">
                <a:solidFill>
                  <a:srgbClr val="303437"/>
                </a:solidFill>
                <a:latin typeface="Noto Sans"/>
              </a:defRPr>
            </a:pPr>
            <a:r>
              <a:rPr sz="1290" b="0" lang="ja-JP" altLang="en-US">
                <a:solidFill>
                  <a:srgbClr val="303437"/>
                </a:solidFill>
                <a:latin typeface="Noto Sans"/>
                <a:ea typeface="Noto Sans CJK JP"/>
                <a:cs typeface="Noto Sans"/>
              </a:rPr>
              <a:t>利用者：ウィーン3好ホテル（北京南駅洋橋店）から大董（南新倉店）まで地下鉄で行きたいです。それぞれの最寄り駅を教えてください。</a:t>
            </a:r>
          </a:p>
        </p:txBody>
      </p:sp>
      <p:sp>
        <p:nvSpPr>
          <p:cNvPr id="9" name="TextBox 8"/>
          <p:cNvSpPr txBox="1"/>
          <p:nvPr/>
        </p:nvSpPr>
        <p:spPr>
          <a:xfrm>
            <a:off x="548640" y="3910720"/>
            <a:ext cx="8046720" cy="674878"/>
          </a:xfrm>
          <a:prstGeom prst="rect">
            <a:avLst/>
          </a:prstGeom>
          <a:noFill/>
        </p:spPr>
        <p:txBody>
          <a:bodyPr wrap="square" lIns="0" rIns="0" tIns="0" bIns="0">
            <a:noAutofit/>
          </a:bodyPr>
          <a:lstStyle/>
          <a:p>
            <a:pPr algn="l">
              <a:lnSpc>
                <a:spcPts val="2457"/>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参照応答：ホテルの最寄りは角門東駅A出口、大董（南新倉店）の最寄りは灯市口駅A出口です。</a:t>
            </a:r>
          </a:p>
        </p:txBody>
      </p:sp>
      <p:sp>
        <p:nvSpPr>
          <p:cNvPr id="10" name="sources"/>
          <p:cNvSpPr txBox="1"/>
          <p:nvPr/>
        </p:nvSpPr>
        <p:spPr>
          <a:xfrm>
            <a:off x="502920" y="4700016"/>
            <a:ext cx="8183879" cy="621792"/>
          </a:xfrm>
          <a:prstGeom prst="rect">
            <a:avLst/>
          </a:prstGeom>
          <a:noFill/>
        </p:spPr>
        <p:txBody>
          <a:bodyPr wrap="square" lIns="0" rIns="0" tIns="0" bIns="0">
            <a:noAutofit/>
          </a:bodyPr>
          <a:lstStyle/>
          <a:p>
            <a:pPr algn="l">
              <a:lnSpc>
                <a:spcPts val="12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Qi Zhu et al. (2020). CrossWOZ公式配布データ。固定commit df82c9fd。 test.json / dialogue 10838 / messages[0:5] → [5]。</a:t>
            </a:r>
          </a:p>
          <a:p>
            <a:pPr>
              <a:lnSpc>
                <a:spcPts val="12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https://github.com/thu-coai/CrossWOZ/tree/df82c9fdff91b9b130f2d6b89110d3870ba6260e/data/crosswoz</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実例11：設備・観光・移動を順に決める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4" name="TextBox 3"/>
          <p:cNvSpPr txBox="1"/>
          <p:nvPr/>
        </p:nvSpPr>
        <p:spPr>
          <a:xfrm>
            <a:off x="548640" y="1289304"/>
            <a:ext cx="8046720" cy="228600"/>
          </a:xfrm>
          <a:prstGeom prst="rect">
            <a:avLst/>
          </a:prstGeom>
          <a:noFill/>
        </p:spPr>
        <p:txBody>
          <a:bodyPr wrap="square" lIns="0" rIns="0" tIns="0" bIns="0">
            <a:noAutofit/>
          </a:bodyPr>
          <a:lstStyle/>
          <a:p>
            <a:pPr algn="l">
              <a:lnSpc>
                <a:spcPts val="1322"/>
              </a:lnSpc>
              <a:spcBef>
                <a:spcPts val="0"/>
              </a:spcBef>
              <a:spcAft>
                <a:spcPts val="0"/>
              </a:spcAft>
              <a:buNone/>
              <a:defRPr sz="1130" b="0">
                <a:solidFill>
                  <a:srgbClr val="303437"/>
                </a:solidFill>
                <a:latin typeface="Noto Sans"/>
              </a:defRPr>
            </a:pPr>
            <a:r>
              <a:rPr sz="1130" b="0" lang="ja-JP" altLang="en-US">
                <a:solidFill>
                  <a:srgbClr val="626669"/>
                </a:solidFill>
                <a:latin typeface="Noto Sans"/>
                <a:ea typeface="Noto Sans CJK JP"/>
                <a:cs typeface="Noto Sans"/>
              </a:rPr>
              <a:t>train / 対話8711 / 全履歴 9発話 → 収録応答1発話 ／ 原文は左→右</a:t>
            </a:r>
          </a:p>
        </p:txBody>
      </p:sp>
      <p:sp>
        <p:nvSpPr>
          <p:cNvPr id="6" name="quote-frame"/>
          <p:cNvSpPr/>
          <p:nvPr/>
        </p:nvSpPr>
        <p:spPr>
          <a:xfrm>
            <a:off x="548640" y="1508760"/>
            <a:ext cx="3886200" cy="2065119"/>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71967" bIns="127000">
            <a:noAutofit/>
          </a:bodyPr>
          <a:lstStyle/>
          <a:p>
            <a:pPr algn="l">
              <a:lnSpc>
                <a:spcPts val="1677"/>
              </a:lnSpc>
              <a:spcBef>
                <a:spcPts val="0"/>
              </a:spcBef>
              <a:spcAft>
                <a:spcPts val="0"/>
              </a:spcAft>
              <a:buNone/>
              <a:defRPr sz="1410" b="0">
                <a:solidFill>
                  <a:srgbClr val="303437"/>
                </a:solidFill>
                <a:latin typeface="Noto Sans"/>
              </a:defRPr>
            </a:pPr>
            <a:r>
              <a:rPr sz="1410" b="0" lang="ja-JP" altLang="en-US">
                <a:solidFill>
                  <a:srgbClr val="303437"/>
                </a:solidFill>
                <a:latin typeface="Noto Sans"/>
                <a:ea typeface="Noto Sans CJK JP"/>
                <a:cs typeface="Noto Sans"/>
              </a:rPr>
              <a:t>利用者：你好啊，我带父母来这里玩，想找个酒店，提供24小时热水和残疾人设施，评分是4.5分以上的。</a:t>
            </a:r>
          </a:p>
          <a:p>
            <a:pPr algn="l">
              <a:lnSpc>
                <a:spcPts val="1677"/>
              </a:lnSpc>
              <a:spcBef>
                <a:spcPts val="0"/>
              </a:spcBef>
              <a:spcAft>
                <a:spcPts val="0"/>
              </a:spcAft>
              <a:buNone/>
              <a:defRPr sz="1410" b="0">
                <a:solidFill>
                  <a:srgbClr val="303437"/>
                </a:solidFill>
                <a:latin typeface="Noto Sans"/>
              </a:defRPr>
            </a:pPr>
            <a:r>
              <a:rPr sz="1410" b="0" lang="ja-JP" altLang="en-US">
                <a:solidFill>
                  <a:srgbClr val="303437"/>
                </a:solidFill>
                <a:latin typeface="Noto Sans"/>
                <a:ea typeface="Noto Sans CJK JP"/>
                <a:cs typeface="Noto Sans"/>
              </a:rPr>
              <a:t>システム：您好，帮您推荐北京鹏润国际大酒店和北京京仪大酒店。</a:t>
            </a:r>
          </a:p>
          <a:p>
            <a:pPr algn="l">
              <a:lnSpc>
                <a:spcPts val="1677"/>
              </a:lnSpc>
              <a:spcBef>
                <a:spcPts val="0"/>
              </a:spcBef>
              <a:spcAft>
                <a:spcPts val="0"/>
              </a:spcAft>
              <a:buNone/>
              <a:defRPr sz="1410" b="0">
                <a:solidFill>
                  <a:srgbClr val="303437"/>
                </a:solidFill>
                <a:latin typeface="Noto Sans"/>
              </a:defRPr>
            </a:pPr>
            <a:r>
              <a:rPr sz="1410" b="0" lang="ja-JP" altLang="en-US">
                <a:solidFill>
                  <a:srgbClr val="303437"/>
                </a:solidFill>
                <a:latin typeface="Noto Sans"/>
                <a:ea typeface="Noto Sans CJK JP"/>
                <a:cs typeface="Noto Sans"/>
              </a:rPr>
              <a:t>利用者：北京鹏润国际大酒店听说过，告诉我一下它的周边景点。</a:t>
            </a:r>
          </a:p>
          <a:p>
            <a:pPr algn="l">
              <a:lnSpc>
                <a:spcPts val="1677"/>
              </a:lnSpc>
              <a:spcBef>
                <a:spcPts val="0"/>
              </a:spcBef>
              <a:spcAft>
                <a:spcPts val="0"/>
              </a:spcAft>
              <a:buNone/>
              <a:defRPr sz="1410" b="0">
                <a:solidFill>
                  <a:srgbClr val="303437"/>
                </a:solidFill>
                <a:latin typeface="Noto Sans"/>
              </a:defRPr>
            </a:pPr>
            <a:r>
              <a:rPr sz="1410" b="0" lang="ja-JP" altLang="en-US">
                <a:solidFill>
                  <a:srgbClr val="303437"/>
                </a:solidFill>
                <a:latin typeface="Noto Sans"/>
                <a:ea typeface="Noto Sans CJK JP"/>
                <a:cs typeface="Noto Sans"/>
              </a:rPr>
              <a:t>システム：有798艺术区，簋街小吃，雍和宫，国子监等。</a:t>
            </a:r>
          </a:p>
        </p:txBody>
      </p:sp>
      <p:sp>
        <p:nvSpPr>
          <p:cNvPr id="8" name="quote-frame"/>
          <p:cNvSpPr/>
          <p:nvPr/>
        </p:nvSpPr>
        <p:spPr>
          <a:xfrm>
            <a:off x="4709159" y="1508760"/>
            <a:ext cx="3886200" cy="2065119"/>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71967" bIns="127000">
            <a:noAutofit/>
          </a:bodyPr>
          <a:lstStyle/>
          <a:p>
            <a:pPr algn="l">
              <a:lnSpc>
                <a:spcPts val="1677"/>
              </a:lnSpc>
              <a:spcBef>
                <a:spcPts val="0"/>
              </a:spcBef>
              <a:spcAft>
                <a:spcPts val="0"/>
              </a:spcAft>
              <a:buNone/>
              <a:defRPr sz="1410" b="0">
                <a:solidFill>
                  <a:srgbClr val="303437"/>
                </a:solidFill>
                <a:latin typeface="Noto Sans"/>
              </a:defRPr>
            </a:pPr>
            <a:r>
              <a:rPr sz="1410" b="0" lang="ja-JP" altLang="en-US">
                <a:solidFill>
                  <a:srgbClr val="303437"/>
                </a:solidFill>
                <a:latin typeface="Noto Sans"/>
                <a:ea typeface="Noto Sans CJK JP"/>
                <a:cs typeface="Noto Sans"/>
              </a:rPr>
              <a:t>利用者：恩，想找这样的附近景点，评分是4分以上，游玩的时长是0.5小时的。</a:t>
            </a:r>
          </a:p>
          <a:p>
            <a:pPr algn="l">
              <a:lnSpc>
                <a:spcPts val="1677"/>
              </a:lnSpc>
              <a:spcBef>
                <a:spcPts val="0"/>
              </a:spcBef>
              <a:spcAft>
                <a:spcPts val="0"/>
              </a:spcAft>
              <a:buNone/>
              <a:defRPr sz="1410" b="0">
                <a:solidFill>
                  <a:srgbClr val="303437"/>
                </a:solidFill>
                <a:latin typeface="Noto Sans"/>
              </a:defRPr>
            </a:pPr>
            <a:r>
              <a:rPr sz="1410" b="0" lang="ja-JP" altLang="en-US">
                <a:solidFill>
                  <a:srgbClr val="303437"/>
                </a:solidFill>
                <a:latin typeface="Noto Sans"/>
                <a:ea typeface="Noto Sans CJK JP"/>
                <a:cs typeface="Noto Sans"/>
              </a:rPr>
              <a:t>システム：帮您查到地坛公园银杏大道。</a:t>
            </a:r>
          </a:p>
          <a:p>
            <a:pPr algn="l">
              <a:lnSpc>
                <a:spcPts val="1677"/>
              </a:lnSpc>
              <a:spcBef>
                <a:spcPts val="0"/>
              </a:spcBef>
              <a:spcAft>
                <a:spcPts val="0"/>
              </a:spcAft>
              <a:buNone/>
              <a:defRPr sz="1410" b="0">
                <a:solidFill>
                  <a:srgbClr val="303437"/>
                </a:solidFill>
                <a:latin typeface="Noto Sans"/>
              </a:defRPr>
            </a:pPr>
            <a:r>
              <a:rPr sz="1410" b="0" lang="ja-JP" altLang="en-US">
                <a:solidFill>
                  <a:srgbClr val="303437"/>
                </a:solidFill>
                <a:latin typeface="Noto Sans"/>
                <a:ea typeface="Noto Sans CJK JP"/>
                <a:cs typeface="Noto Sans"/>
              </a:rPr>
              <a:t>利用者：好，它的地址和门票是多少？</a:t>
            </a:r>
          </a:p>
          <a:p>
            <a:pPr algn="l">
              <a:lnSpc>
                <a:spcPts val="1677"/>
              </a:lnSpc>
              <a:spcBef>
                <a:spcPts val="0"/>
              </a:spcBef>
              <a:spcAft>
                <a:spcPts val="0"/>
              </a:spcAft>
              <a:buNone/>
              <a:defRPr sz="1410" b="0">
                <a:solidFill>
                  <a:srgbClr val="303437"/>
                </a:solidFill>
                <a:latin typeface="Noto Sans"/>
              </a:defRPr>
            </a:pPr>
            <a:r>
              <a:rPr sz="1410" b="0" lang="ja-JP" altLang="en-US">
                <a:solidFill>
                  <a:srgbClr val="303437"/>
                </a:solidFill>
                <a:latin typeface="Noto Sans"/>
                <a:ea typeface="Noto Sans CJK JP"/>
                <a:cs typeface="Noto Sans"/>
              </a:rPr>
              <a:t>システム：地址是北京市东城区安定门外大街地坛公园内，门票免费。</a:t>
            </a:r>
          </a:p>
          <a:p>
            <a:pPr algn="l">
              <a:lnSpc>
                <a:spcPts val="1677"/>
              </a:lnSpc>
              <a:spcBef>
                <a:spcPts val="0"/>
              </a:spcBef>
              <a:spcAft>
                <a:spcPts val="0"/>
              </a:spcAft>
              <a:buNone/>
              <a:defRPr sz="1410" b="0">
                <a:solidFill>
                  <a:srgbClr val="303437"/>
                </a:solidFill>
                <a:latin typeface="Noto Sans"/>
              </a:defRPr>
            </a:pPr>
            <a:r>
              <a:rPr sz="1410" b="0" lang="ja-JP" altLang="en-US">
                <a:solidFill>
                  <a:srgbClr val="303437"/>
                </a:solidFill>
                <a:latin typeface="Noto Sans"/>
                <a:ea typeface="Noto Sans CJK JP"/>
                <a:cs typeface="Noto Sans"/>
              </a:rPr>
              <a:t>利用者：好的，从北京鹏润国际大酒店到地坛公园银杏大道，坐地的话，应该从哪站上车，哪站下车？</a:t>
            </a:r>
          </a:p>
        </p:txBody>
      </p:sp>
      <p:sp>
        <p:nvSpPr>
          <p:cNvPr id="9" name="TextBox 8"/>
          <p:cNvSpPr txBox="1"/>
          <p:nvPr/>
        </p:nvSpPr>
        <p:spPr>
          <a:xfrm>
            <a:off x="548640" y="3683946"/>
            <a:ext cx="8046720" cy="362839"/>
          </a:xfrm>
          <a:prstGeom prst="rect">
            <a:avLst/>
          </a:prstGeom>
          <a:noFill/>
        </p:spPr>
        <p:txBody>
          <a:bodyPr wrap="square" lIns="0" rIns="0" tIns="0" bIns="0">
            <a:noAutofit/>
          </a:bodyPr>
          <a:lstStyle/>
          <a:p>
            <a:pPr algn="l">
              <a:lnSpc>
                <a:spcPts val="2457"/>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参照応答：三元桥地铁站C2口上地铁，北新桥地铁站A口出地铁。</a:t>
            </a:r>
          </a:p>
        </p:txBody>
      </p:sp>
      <p:sp>
        <p:nvSpPr>
          <p:cNvPr id="10" name="sources"/>
          <p:cNvSpPr txBox="1"/>
          <p:nvPr/>
        </p:nvSpPr>
        <p:spPr>
          <a:xfrm>
            <a:off x="502920" y="4700016"/>
            <a:ext cx="8183879" cy="621792"/>
          </a:xfrm>
          <a:prstGeom prst="rect">
            <a:avLst/>
          </a:prstGeom>
          <a:noFill/>
        </p:spPr>
        <p:txBody>
          <a:bodyPr wrap="square" lIns="0" rIns="0" tIns="0" bIns="0">
            <a:noAutofit/>
          </a:bodyPr>
          <a:lstStyle/>
          <a:p>
            <a:pPr algn="l">
              <a:lnSpc>
                <a:spcPts val="12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Qi Zhu et al. (2020). CrossWOZ公式配布データ。固定commit df82c9fd。 train.json / dialogue 8711 / messages[0:9] → [9]。</a:t>
            </a:r>
          </a:p>
          <a:p>
            <a:pPr>
              <a:lnSpc>
                <a:spcPts val="12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https://github.com/thu-coai/CrossWOZ/tree/df82c9fdff91b9b130f2d6b89110d3870ba6260e/data/crosswoz</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実例11：設備・観光・移動を順に決める（訳）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4" name="TextBox 3"/>
          <p:cNvSpPr txBox="1"/>
          <p:nvPr/>
        </p:nvSpPr>
        <p:spPr>
          <a:xfrm>
            <a:off x="548640" y="1289304"/>
            <a:ext cx="8046720" cy="228600"/>
          </a:xfrm>
          <a:prstGeom prst="rect">
            <a:avLst/>
          </a:prstGeom>
          <a:noFill/>
        </p:spPr>
        <p:txBody>
          <a:bodyPr wrap="square" lIns="0" rIns="0" tIns="0" bIns="0">
            <a:noAutofit/>
          </a:bodyPr>
          <a:lstStyle/>
          <a:p>
            <a:pPr algn="l">
              <a:lnSpc>
                <a:spcPts val="1322"/>
              </a:lnSpc>
              <a:spcBef>
                <a:spcPts val="0"/>
              </a:spcBef>
              <a:spcAft>
                <a:spcPts val="0"/>
              </a:spcAft>
              <a:buNone/>
              <a:defRPr sz="1130" b="0">
                <a:solidFill>
                  <a:srgbClr val="303437"/>
                </a:solidFill>
                <a:latin typeface="Noto Sans"/>
              </a:defRPr>
            </a:pPr>
            <a:r>
              <a:rPr sz="1130" b="0" lang="ja-JP" altLang="en-US">
                <a:solidFill>
                  <a:srgbClr val="626669"/>
                </a:solidFill>
                <a:latin typeface="Noto Sans"/>
                <a:ea typeface="Noto Sans CJK JP"/>
                <a:cs typeface="Noto Sans"/>
              </a:rPr>
              <a:t>train / 対話8711 / 全履歴 9発話 → 収録応答1発話 ／ 訳は左→右</a:t>
            </a:r>
          </a:p>
        </p:txBody>
      </p:sp>
      <p:sp>
        <p:nvSpPr>
          <p:cNvPr id="6" name="quote-frame"/>
          <p:cNvSpPr/>
          <p:nvPr/>
        </p:nvSpPr>
        <p:spPr>
          <a:xfrm>
            <a:off x="548640" y="1508760"/>
            <a:ext cx="3886200" cy="2105237"/>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71967" bIns="127000">
            <a:noAutofit/>
          </a:bodyPr>
          <a:lstStyle/>
          <a:p>
            <a:pPr algn="l">
              <a:lnSpc>
                <a:spcPts val="1535"/>
              </a:lnSpc>
              <a:spcBef>
                <a:spcPts val="0"/>
              </a:spcBef>
              <a:spcAft>
                <a:spcPts val="0"/>
              </a:spcAft>
              <a:buNone/>
              <a:defRPr sz="1290" b="0">
                <a:solidFill>
                  <a:srgbClr val="303437"/>
                </a:solidFill>
                <a:latin typeface="Noto Sans"/>
              </a:defRPr>
            </a:pPr>
            <a:r>
              <a:rPr sz="1290" b="0" lang="ja-JP" altLang="en-US">
                <a:solidFill>
                  <a:srgbClr val="303437"/>
                </a:solidFill>
                <a:latin typeface="Noto Sans"/>
                <a:ea typeface="Noto Sans CJK JP"/>
                <a:cs typeface="Noto Sans"/>
              </a:rPr>
              <a:t>利用者：こんにちは。両親と旅行に来ました。24時間給湯とバリアフリー設備があり、評価4.5点以上のホテルを探しています。</a:t>
            </a:r>
          </a:p>
          <a:p>
            <a:pPr algn="l">
              <a:lnSpc>
                <a:spcPts val="1535"/>
              </a:lnSpc>
              <a:spcBef>
                <a:spcPts val="0"/>
              </a:spcBef>
              <a:spcAft>
                <a:spcPts val="0"/>
              </a:spcAft>
              <a:buNone/>
              <a:defRPr sz="1290" b="0">
                <a:solidFill>
                  <a:srgbClr val="303437"/>
                </a:solidFill>
                <a:latin typeface="Noto Sans"/>
              </a:defRPr>
            </a:pPr>
            <a:r>
              <a:rPr sz="1290" b="0" lang="ja-JP" altLang="en-US">
                <a:solidFill>
                  <a:srgbClr val="303437"/>
                </a:solidFill>
                <a:latin typeface="Noto Sans"/>
                <a:ea typeface="Noto Sans CJK JP"/>
                <a:cs typeface="Noto Sans"/>
              </a:rPr>
              <a:t>システム：北京鵬潤国際ホテルと北京京儀ホテルをお勧めします。</a:t>
            </a:r>
          </a:p>
          <a:p>
            <a:pPr algn="l">
              <a:lnSpc>
                <a:spcPts val="1535"/>
              </a:lnSpc>
              <a:spcBef>
                <a:spcPts val="0"/>
              </a:spcBef>
              <a:spcAft>
                <a:spcPts val="0"/>
              </a:spcAft>
              <a:buNone/>
              <a:defRPr sz="1290" b="0">
                <a:solidFill>
                  <a:srgbClr val="303437"/>
                </a:solidFill>
                <a:latin typeface="Noto Sans"/>
              </a:defRPr>
            </a:pPr>
            <a:r>
              <a:rPr sz="1290" b="0" lang="ja-JP" altLang="en-US">
                <a:solidFill>
                  <a:srgbClr val="303437"/>
                </a:solidFill>
                <a:latin typeface="Noto Sans"/>
                <a:ea typeface="Noto Sans CJK JP"/>
                <a:cs typeface="Noto Sans"/>
              </a:rPr>
              <a:t>利用者：北京鵬潤国際ホテルは聞いたことがあります。周辺の観光地を教えてください。</a:t>
            </a:r>
          </a:p>
          <a:p>
            <a:pPr algn="l">
              <a:lnSpc>
                <a:spcPts val="1535"/>
              </a:lnSpc>
              <a:spcBef>
                <a:spcPts val="0"/>
              </a:spcBef>
              <a:spcAft>
                <a:spcPts val="0"/>
              </a:spcAft>
              <a:buNone/>
              <a:defRPr sz="1290" b="0">
                <a:solidFill>
                  <a:srgbClr val="303437"/>
                </a:solidFill>
                <a:latin typeface="Noto Sans"/>
              </a:defRPr>
            </a:pPr>
            <a:r>
              <a:rPr sz="1290" b="0" lang="ja-JP" altLang="en-US">
                <a:solidFill>
                  <a:srgbClr val="303437"/>
                </a:solidFill>
                <a:latin typeface="Noto Sans"/>
                <a:ea typeface="Noto Sans CJK JP"/>
                <a:cs typeface="Noto Sans"/>
              </a:rPr>
              <a:t>システム：798芸術区、簋街の飲食街、雍和宮、国子監などがあります。</a:t>
            </a:r>
          </a:p>
          <a:p>
            <a:pPr algn="l">
              <a:lnSpc>
                <a:spcPts val="1535"/>
              </a:lnSpc>
              <a:spcBef>
                <a:spcPts val="0"/>
              </a:spcBef>
              <a:spcAft>
                <a:spcPts val="0"/>
              </a:spcAft>
              <a:buNone/>
              <a:defRPr sz="1290" b="0">
                <a:solidFill>
                  <a:srgbClr val="303437"/>
                </a:solidFill>
                <a:latin typeface="Noto Sans"/>
              </a:defRPr>
            </a:pPr>
            <a:r>
              <a:rPr sz="1290" b="0" lang="ja-JP" altLang="en-US">
                <a:solidFill>
                  <a:srgbClr val="303437"/>
                </a:solidFill>
                <a:latin typeface="Noto Sans"/>
                <a:ea typeface="Noto Sans CJK JP"/>
                <a:cs typeface="Noto Sans"/>
              </a:rPr>
              <a:t>利用者：その周辺で、</a:t>
            </a:r>
          </a:p>
        </p:txBody>
      </p:sp>
      <p:sp>
        <p:nvSpPr>
          <p:cNvPr id="8" name="quote-frame"/>
          <p:cNvSpPr/>
          <p:nvPr/>
        </p:nvSpPr>
        <p:spPr>
          <a:xfrm>
            <a:off x="4709159" y="1508760"/>
            <a:ext cx="3886200" cy="2105237"/>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71967" bIns="127000">
            <a:noAutofit/>
          </a:bodyPr>
          <a:lstStyle/>
          <a:p>
            <a:pPr algn="l">
              <a:lnSpc>
                <a:spcPts val="1535"/>
              </a:lnSpc>
              <a:spcBef>
                <a:spcPts val="0"/>
              </a:spcBef>
              <a:spcAft>
                <a:spcPts val="0"/>
              </a:spcAft>
              <a:buNone/>
              <a:defRPr sz="1290" b="0">
                <a:solidFill>
                  <a:srgbClr val="303437"/>
                </a:solidFill>
                <a:latin typeface="Noto Sans"/>
              </a:defRPr>
            </a:pPr>
            <a:r>
              <a:rPr sz="1290" b="0" lang="ja-JP" altLang="en-US">
                <a:solidFill>
                  <a:srgbClr val="303437"/>
                </a:solidFill>
                <a:latin typeface="Noto Sans"/>
                <a:ea typeface="Noto Sans CJK JP"/>
                <a:cs typeface="Noto Sans"/>
              </a:rPr>
              <a:t>評価4点以上、見学時間が0.5時間の観光地を探したいです。</a:t>
            </a:r>
          </a:p>
          <a:p>
            <a:pPr algn="l">
              <a:lnSpc>
                <a:spcPts val="1535"/>
              </a:lnSpc>
              <a:spcBef>
                <a:spcPts val="0"/>
              </a:spcBef>
              <a:spcAft>
                <a:spcPts val="0"/>
              </a:spcAft>
              <a:buNone/>
              <a:defRPr sz="1290" b="0">
                <a:solidFill>
                  <a:srgbClr val="303437"/>
                </a:solidFill>
                <a:latin typeface="Noto Sans"/>
              </a:defRPr>
            </a:pPr>
            <a:r>
              <a:rPr sz="1290" b="0" lang="ja-JP" altLang="en-US">
                <a:solidFill>
                  <a:srgbClr val="303437"/>
                </a:solidFill>
                <a:latin typeface="Noto Sans"/>
                <a:ea typeface="Noto Sans CJK JP"/>
                <a:cs typeface="Noto Sans"/>
              </a:rPr>
              <a:t>システム：地壇公園のイチョウ並木が見つかりました。</a:t>
            </a:r>
          </a:p>
          <a:p>
            <a:pPr algn="l">
              <a:lnSpc>
                <a:spcPts val="1535"/>
              </a:lnSpc>
              <a:spcBef>
                <a:spcPts val="0"/>
              </a:spcBef>
              <a:spcAft>
                <a:spcPts val="0"/>
              </a:spcAft>
              <a:buNone/>
              <a:defRPr sz="1290" b="0">
                <a:solidFill>
                  <a:srgbClr val="303437"/>
                </a:solidFill>
                <a:latin typeface="Noto Sans"/>
              </a:defRPr>
            </a:pPr>
            <a:r>
              <a:rPr sz="1290" b="0" lang="ja-JP" altLang="en-US">
                <a:solidFill>
                  <a:srgbClr val="303437"/>
                </a:solidFill>
                <a:latin typeface="Noto Sans"/>
                <a:ea typeface="Noto Sans CJK JP"/>
                <a:cs typeface="Noto Sans"/>
              </a:rPr>
              <a:t>利用者：住所と入場料を教えてください。</a:t>
            </a:r>
          </a:p>
          <a:p>
            <a:pPr algn="l">
              <a:lnSpc>
                <a:spcPts val="1535"/>
              </a:lnSpc>
              <a:spcBef>
                <a:spcPts val="0"/>
              </a:spcBef>
              <a:spcAft>
                <a:spcPts val="0"/>
              </a:spcAft>
              <a:buNone/>
              <a:defRPr sz="1290" b="0">
                <a:solidFill>
                  <a:srgbClr val="303437"/>
                </a:solidFill>
                <a:latin typeface="Noto Sans"/>
              </a:defRPr>
            </a:pPr>
            <a:r>
              <a:rPr sz="1290" b="0" lang="ja-JP" altLang="en-US">
                <a:solidFill>
                  <a:srgbClr val="303437"/>
                </a:solidFill>
                <a:latin typeface="Noto Sans"/>
                <a:ea typeface="Noto Sans CJK JP"/>
                <a:cs typeface="Noto Sans"/>
              </a:rPr>
              <a:t>システム：住所は北京市東城区安定門外大街の地壇公園内で、入場無料です。</a:t>
            </a:r>
          </a:p>
          <a:p>
            <a:pPr algn="l">
              <a:lnSpc>
                <a:spcPts val="1535"/>
              </a:lnSpc>
              <a:spcBef>
                <a:spcPts val="0"/>
              </a:spcBef>
              <a:spcAft>
                <a:spcPts val="0"/>
              </a:spcAft>
              <a:buNone/>
              <a:defRPr sz="1290" b="0">
                <a:solidFill>
                  <a:srgbClr val="303437"/>
                </a:solidFill>
                <a:latin typeface="Noto Sans"/>
              </a:defRPr>
            </a:pPr>
            <a:r>
              <a:rPr sz="1290" b="0" lang="ja-JP" altLang="en-US">
                <a:solidFill>
                  <a:srgbClr val="303437"/>
                </a:solidFill>
                <a:latin typeface="Noto Sans"/>
                <a:ea typeface="Noto Sans CJK JP"/>
                <a:cs typeface="Noto Sans"/>
              </a:rPr>
              <a:t>利用者：北京鵬潤国際ホテルから地壇公園のイチョウ並木へ地下鉄で行くには、どの駅で乗り、どの駅で降りればよいですか。</a:t>
            </a:r>
          </a:p>
        </p:txBody>
      </p:sp>
      <p:sp>
        <p:nvSpPr>
          <p:cNvPr id="9" name="TextBox 8"/>
          <p:cNvSpPr txBox="1"/>
          <p:nvPr/>
        </p:nvSpPr>
        <p:spPr>
          <a:xfrm>
            <a:off x="548640" y="3715598"/>
            <a:ext cx="8046720" cy="674878"/>
          </a:xfrm>
          <a:prstGeom prst="rect">
            <a:avLst/>
          </a:prstGeom>
          <a:noFill/>
        </p:spPr>
        <p:txBody>
          <a:bodyPr wrap="square" lIns="0" rIns="0" tIns="0" bIns="0">
            <a:noAutofit/>
          </a:bodyPr>
          <a:lstStyle/>
          <a:p>
            <a:pPr algn="l">
              <a:lnSpc>
                <a:spcPts val="2457"/>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参照応答：三元橋駅C2出口で乗り、北新橋駅A出口で降りてください。</a:t>
            </a:r>
          </a:p>
        </p:txBody>
      </p:sp>
      <p:sp>
        <p:nvSpPr>
          <p:cNvPr id="10" name="sources"/>
          <p:cNvSpPr txBox="1"/>
          <p:nvPr/>
        </p:nvSpPr>
        <p:spPr>
          <a:xfrm>
            <a:off x="502920" y="4700016"/>
            <a:ext cx="8183879" cy="621792"/>
          </a:xfrm>
          <a:prstGeom prst="rect">
            <a:avLst/>
          </a:prstGeom>
          <a:noFill/>
        </p:spPr>
        <p:txBody>
          <a:bodyPr wrap="square" lIns="0" rIns="0" tIns="0" bIns="0">
            <a:noAutofit/>
          </a:bodyPr>
          <a:lstStyle/>
          <a:p>
            <a:pPr algn="l">
              <a:lnSpc>
                <a:spcPts val="12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Qi Zhu et al. (2020). CrossWOZ公式配布データ。固定commit df82c9fd。 train.json / dialogue 8711 / messages[0:9] → [9]。</a:t>
            </a:r>
          </a:p>
          <a:p>
            <a:pPr>
              <a:lnSpc>
                <a:spcPts val="12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https://github.com/thu-coai/CrossWOZ/tree/df82c9fdff91b9b130f2d6b89110d3870ba6260e/data/crosswoz</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実例12：近い施設には徒歩を提案する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4" name="TextBox 3"/>
          <p:cNvSpPr txBox="1"/>
          <p:nvPr/>
        </p:nvSpPr>
        <p:spPr>
          <a:xfrm>
            <a:off x="548640" y="1289304"/>
            <a:ext cx="8046720" cy="228600"/>
          </a:xfrm>
          <a:prstGeom prst="rect">
            <a:avLst/>
          </a:prstGeom>
          <a:noFill/>
        </p:spPr>
        <p:txBody>
          <a:bodyPr wrap="square" lIns="0" rIns="0" tIns="0" bIns="0">
            <a:noAutofit/>
          </a:bodyPr>
          <a:lstStyle/>
          <a:p>
            <a:pPr algn="l">
              <a:lnSpc>
                <a:spcPts val="1322"/>
              </a:lnSpc>
              <a:spcBef>
                <a:spcPts val="0"/>
              </a:spcBef>
              <a:spcAft>
                <a:spcPts val="0"/>
              </a:spcAft>
              <a:buNone/>
              <a:defRPr sz="1130" b="0">
                <a:solidFill>
                  <a:srgbClr val="303437"/>
                </a:solidFill>
                <a:latin typeface="Noto Sans"/>
              </a:defRPr>
            </a:pPr>
            <a:r>
              <a:rPr sz="1130" b="0" lang="ja-JP" altLang="en-US">
                <a:solidFill>
                  <a:srgbClr val="626669"/>
                </a:solidFill>
                <a:latin typeface="Noto Sans"/>
                <a:ea typeface="Noto Sans CJK JP"/>
                <a:cs typeface="Noto Sans"/>
              </a:rPr>
              <a:t>train / 対話7845 / 全履歴 9発話 → 収録応答1発話 ／ 原文は左→右</a:t>
            </a:r>
          </a:p>
        </p:txBody>
      </p:sp>
      <p:sp>
        <p:nvSpPr>
          <p:cNvPr id="6" name="quote-frame"/>
          <p:cNvSpPr/>
          <p:nvPr/>
        </p:nvSpPr>
        <p:spPr>
          <a:xfrm>
            <a:off x="548640" y="1508760"/>
            <a:ext cx="3886200" cy="1724277"/>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71967" bIns="127000">
            <a:noAutofit/>
          </a:bodyPr>
          <a:lstStyle/>
          <a:p>
            <a:pPr algn="l">
              <a:lnSpc>
                <a:spcPts val="1535"/>
              </a:lnSpc>
              <a:spcBef>
                <a:spcPts val="0"/>
              </a:spcBef>
              <a:spcAft>
                <a:spcPts val="0"/>
              </a:spcAft>
              <a:buNone/>
              <a:defRPr sz="1290" b="0">
                <a:solidFill>
                  <a:srgbClr val="303437"/>
                </a:solidFill>
                <a:latin typeface="Noto Sans"/>
              </a:defRPr>
            </a:pPr>
            <a:r>
              <a:rPr sz="1290" b="0" lang="ja-JP" altLang="en-US">
                <a:solidFill>
                  <a:srgbClr val="303437"/>
                </a:solidFill>
                <a:latin typeface="Noto Sans"/>
                <a:ea typeface="Noto Sans CJK JP"/>
                <a:cs typeface="Noto Sans"/>
              </a:rPr>
              <a:t>利用者：你好，请帮我推荐一个可游玩3天，门票是150-200元之间，最好评分是在4.5分以上的景点！</a:t>
            </a:r>
          </a:p>
          <a:p>
            <a:pPr algn="l">
              <a:lnSpc>
                <a:spcPts val="1535"/>
              </a:lnSpc>
              <a:spcBef>
                <a:spcPts val="0"/>
              </a:spcBef>
              <a:spcAft>
                <a:spcPts val="0"/>
              </a:spcAft>
              <a:buNone/>
              <a:defRPr sz="1290" b="0">
                <a:solidFill>
                  <a:srgbClr val="303437"/>
                </a:solidFill>
                <a:latin typeface="Noto Sans"/>
              </a:defRPr>
            </a:pPr>
            <a:r>
              <a:rPr sz="1290" b="0" lang="ja-JP" altLang="en-US">
                <a:solidFill>
                  <a:srgbClr val="303437"/>
                </a:solidFill>
                <a:latin typeface="Noto Sans"/>
                <a:ea typeface="Noto Sans CJK JP"/>
                <a:cs typeface="Noto Sans"/>
              </a:rPr>
              <a:t>システム：北京欢乐谷挺不错的，门票195元！</a:t>
            </a:r>
          </a:p>
          <a:p>
            <a:pPr algn="l">
              <a:lnSpc>
                <a:spcPts val="1535"/>
              </a:lnSpc>
              <a:spcBef>
                <a:spcPts val="0"/>
              </a:spcBef>
              <a:spcAft>
                <a:spcPts val="0"/>
              </a:spcAft>
              <a:buNone/>
              <a:defRPr sz="1290" b="0">
                <a:solidFill>
                  <a:srgbClr val="303437"/>
                </a:solidFill>
                <a:latin typeface="Noto Sans"/>
              </a:defRPr>
            </a:pPr>
            <a:r>
              <a:rPr sz="1290" b="0" lang="ja-JP" altLang="en-US">
                <a:solidFill>
                  <a:srgbClr val="303437"/>
                </a:solidFill>
                <a:latin typeface="Noto Sans"/>
                <a:ea typeface="Noto Sans CJK JP"/>
                <a:cs typeface="Noto Sans"/>
              </a:rPr>
              <a:t>利用者：好的，玩完想找家酒店，附近有么？</a:t>
            </a:r>
          </a:p>
          <a:p>
            <a:pPr algn="l">
              <a:lnSpc>
                <a:spcPts val="1535"/>
              </a:lnSpc>
              <a:spcBef>
                <a:spcPts val="0"/>
              </a:spcBef>
              <a:spcAft>
                <a:spcPts val="0"/>
              </a:spcAft>
              <a:buNone/>
              <a:defRPr sz="1290" b="0">
                <a:solidFill>
                  <a:srgbClr val="303437"/>
                </a:solidFill>
                <a:latin typeface="Noto Sans"/>
              </a:defRPr>
            </a:pPr>
            <a:r>
              <a:rPr sz="1290" b="0" lang="ja-JP" altLang="en-US">
                <a:solidFill>
                  <a:srgbClr val="303437"/>
                </a:solidFill>
                <a:latin typeface="Noto Sans"/>
                <a:ea typeface="Noto Sans CJK JP"/>
                <a:cs typeface="Noto Sans"/>
              </a:rPr>
              <a:t>システム：附近有北京龙鼎华鼎云酒店, 北京人卫酒店, 北京富力万丽酒店, 北京美豪富邦国际酒店,</a:t>
            </a:r>
          </a:p>
        </p:txBody>
      </p:sp>
      <p:sp>
        <p:nvSpPr>
          <p:cNvPr id="8" name="quote-frame"/>
          <p:cNvSpPr/>
          <p:nvPr/>
        </p:nvSpPr>
        <p:spPr>
          <a:xfrm>
            <a:off x="4709159" y="1508760"/>
            <a:ext cx="3886200" cy="170617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71967" bIns="127000">
            <a:noAutofit/>
          </a:bodyPr>
          <a:lstStyle/>
          <a:p>
            <a:pPr algn="l">
              <a:lnSpc>
                <a:spcPts val="1535"/>
              </a:lnSpc>
              <a:spcBef>
                <a:spcPts val="0"/>
              </a:spcBef>
              <a:spcAft>
                <a:spcPts val="0"/>
              </a:spcAft>
              <a:buNone/>
              <a:defRPr sz="1290" b="0">
                <a:solidFill>
                  <a:srgbClr val="303437"/>
                </a:solidFill>
                <a:latin typeface="Noto Sans"/>
              </a:defRPr>
            </a:pPr>
            <a:r>
              <a:rPr sz="1290" b="0" lang="ja-JP" altLang="en-US">
                <a:solidFill>
                  <a:srgbClr val="303437"/>
                </a:solidFill>
                <a:latin typeface="Noto Sans"/>
                <a:ea typeface="Noto Sans CJK JP"/>
                <a:cs typeface="Noto Sans"/>
              </a:rPr>
              <a:t> 北京万达文华酒店。</a:t>
            </a:r>
          </a:p>
          <a:p>
            <a:pPr algn="l">
              <a:lnSpc>
                <a:spcPts val="1535"/>
              </a:lnSpc>
              <a:spcBef>
                <a:spcPts val="0"/>
              </a:spcBef>
              <a:spcAft>
                <a:spcPts val="0"/>
              </a:spcAft>
              <a:buNone/>
              <a:defRPr sz="1290" b="0">
                <a:solidFill>
                  <a:srgbClr val="303437"/>
                </a:solidFill>
                <a:latin typeface="Noto Sans"/>
              </a:defRPr>
            </a:pPr>
            <a:r>
              <a:rPr sz="1290" b="0" lang="ja-JP" altLang="en-US">
                <a:solidFill>
                  <a:srgbClr val="303437"/>
                </a:solidFill>
                <a:latin typeface="Noto Sans"/>
                <a:ea typeface="Noto Sans CJK JP"/>
                <a:cs typeface="Noto Sans"/>
              </a:rPr>
              <a:t>利用者：哪家是舒适型并且能宽带上网的啊？</a:t>
            </a:r>
          </a:p>
          <a:p>
            <a:pPr algn="l">
              <a:lnSpc>
                <a:spcPts val="1535"/>
              </a:lnSpc>
              <a:spcBef>
                <a:spcPts val="0"/>
              </a:spcBef>
              <a:spcAft>
                <a:spcPts val="0"/>
              </a:spcAft>
              <a:buNone/>
              <a:defRPr sz="1290" b="0">
                <a:solidFill>
                  <a:srgbClr val="303437"/>
                </a:solidFill>
                <a:latin typeface="Noto Sans"/>
              </a:defRPr>
            </a:pPr>
            <a:r>
              <a:rPr sz="1290" b="0" lang="ja-JP" altLang="en-US">
                <a:solidFill>
                  <a:srgbClr val="303437"/>
                </a:solidFill>
                <a:latin typeface="Noto Sans"/>
                <a:ea typeface="Noto Sans CJK JP"/>
                <a:cs typeface="Noto Sans"/>
              </a:rPr>
              <a:t>システム：北京龙鼎华鼎云酒店符合您的要求。</a:t>
            </a:r>
          </a:p>
          <a:p>
            <a:pPr algn="l">
              <a:lnSpc>
                <a:spcPts val="1535"/>
              </a:lnSpc>
              <a:spcBef>
                <a:spcPts val="0"/>
              </a:spcBef>
              <a:spcAft>
                <a:spcPts val="0"/>
              </a:spcAft>
              <a:buNone/>
              <a:defRPr sz="1290" b="0">
                <a:solidFill>
                  <a:srgbClr val="303437"/>
                </a:solidFill>
                <a:latin typeface="Noto Sans"/>
              </a:defRPr>
            </a:pPr>
            <a:r>
              <a:rPr sz="1290" b="0" lang="ja-JP" altLang="en-US">
                <a:solidFill>
                  <a:srgbClr val="303437"/>
                </a:solidFill>
                <a:latin typeface="Noto Sans"/>
                <a:ea typeface="Noto Sans CJK JP"/>
                <a:cs typeface="Noto Sans"/>
              </a:rPr>
              <a:t>利用者：好的，那地址发我一下吧！</a:t>
            </a:r>
          </a:p>
          <a:p>
            <a:pPr algn="l">
              <a:lnSpc>
                <a:spcPts val="1535"/>
              </a:lnSpc>
              <a:spcBef>
                <a:spcPts val="0"/>
              </a:spcBef>
              <a:spcAft>
                <a:spcPts val="0"/>
              </a:spcAft>
              <a:buNone/>
              <a:defRPr sz="1290" b="0">
                <a:solidFill>
                  <a:srgbClr val="303437"/>
                </a:solidFill>
                <a:latin typeface="Noto Sans"/>
              </a:defRPr>
            </a:pPr>
            <a:r>
              <a:rPr sz="1290" b="0" lang="ja-JP" altLang="en-US">
                <a:solidFill>
                  <a:srgbClr val="303437"/>
                </a:solidFill>
                <a:latin typeface="Noto Sans"/>
                <a:ea typeface="Noto Sans CJK JP"/>
                <a:cs typeface="Noto Sans"/>
              </a:rPr>
              <a:t>システム：地址是北京朝阳区潘家园东里18号。</a:t>
            </a:r>
          </a:p>
          <a:p>
            <a:pPr algn="l">
              <a:lnSpc>
                <a:spcPts val="1535"/>
              </a:lnSpc>
              <a:spcBef>
                <a:spcPts val="0"/>
              </a:spcBef>
              <a:spcAft>
                <a:spcPts val="0"/>
              </a:spcAft>
              <a:buNone/>
              <a:defRPr sz="1290" b="0">
                <a:solidFill>
                  <a:srgbClr val="303437"/>
                </a:solidFill>
                <a:latin typeface="Noto Sans"/>
              </a:defRPr>
            </a:pPr>
            <a:r>
              <a:rPr sz="1290" b="0" lang="ja-JP" altLang="en-US">
                <a:solidFill>
                  <a:srgbClr val="303437"/>
                </a:solidFill>
                <a:latin typeface="Noto Sans"/>
                <a:ea typeface="Noto Sans CJK JP"/>
                <a:cs typeface="Noto Sans"/>
              </a:rPr>
              <a:t>利用者：我想从北京欢乐谷坐地铁到北京龙鼎华鼎云酒店，两个地方最近的地铁站告诉我一下吧！</a:t>
            </a:r>
          </a:p>
        </p:txBody>
      </p:sp>
      <p:sp>
        <p:nvSpPr>
          <p:cNvPr id="9" name="TextBox 8"/>
          <p:cNvSpPr txBox="1"/>
          <p:nvPr/>
        </p:nvSpPr>
        <p:spPr>
          <a:xfrm>
            <a:off x="548640" y="3326171"/>
            <a:ext cx="8046720" cy="674878"/>
          </a:xfrm>
          <a:prstGeom prst="rect">
            <a:avLst/>
          </a:prstGeom>
          <a:noFill/>
        </p:spPr>
        <p:txBody>
          <a:bodyPr wrap="square" lIns="0" rIns="0" tIns="0" bIns="0">
            <a:noAutofit/>
          </a:bodyPr>
          <a:lstStyle/>
          <a:p>
            <a:pPr algn="l">
              <a:lnSpc>
                <a:spcPts val="2457"/>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参照応答：景点和酒店离的非常近，不用坐地铁去，走着就可以了，最近的地铁口是劲松地铁站D口。</a:t>
            </a:r>
          </a:p>
        </p:txBody>
      </p:sp>
      <p:sp>
        <p:nvSpPr>
          <p:cNvPr id="10" name="sources"/>
          <p:cNvSpPr txBox="1"/>
          <p:nvPr/>
        </p:nvSpPr>
        <p:spPr>
          <a:xfrm>
            <a:off x="502920" y="4700016"/>
            <a:ext cx="8183879" cy="621792"/>
          </a:xfrm>
          <a:prstGeom prst="rect">
            <a:avLst/>
          </a:prstGeom>
          <a:noFill/>
        </p:spPr>
        <p:txBody>
          <a:bodyPr wrap="square" lIns="0" rIns="0" tIns="0" bIns="0">
            <a:noAutofit/>
          </a:bodyPr>
          <a:lstStyle/>
          <a:p>
            <a:pPr algn="l">
              <a:lnSpc>
                <a:spcPts val="12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Qi Zhu et al. (2020). CrossWOZ公式配布データ。固定commit df82c9fd。 train.json / dialogue 7845 / messages[0:9] → [9]。</a:t>
            </a:r>
          </a:p>
          <a:p>
            <a:pPr>
              <a:lnSpc>
                <a:spcPts val="12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https://github.com/thu-coai/CrossWOZ/tree/df82c9fdff91b9b130f2d6b89110d3870ba6260e/data/crosswoz</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実例12：近い施設には徒歩を提案する（訳）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4" name="TextBox 3"/>
          <p:cNvSpPr txBox="1"/>
          <p:nvPr/>
        </p:nvSpPr>
        <p:spPr>
          <a:xfrm>
            <a:off x="548640" y="1289304"/>
            <a:ext cx="8046720" cy="228600"/>
          </a:xfrm>
          <a:prstGeom prst="rect">
            <a:avLst/>
          </a:prstGeom>
          <a:noFill/>
        </p:spPr>
        <p:txBody>
          <a:bodyPr wrap="square" lIns="0" rIns="0" tIns="0" bIns="0">
            <a:noAutofit/>
          </a:bodyPr>
          <a:lstStyle/>
          <a:p>
            <a:pPr algn="l">
              <a:lnSpc>
                <a:spcPts val="1322"/>
              </a:lnSpc>
              <a:spcBef>
                <a:spcPts val="0"/>
              </a:spcBef>
              <a:spcAft>
                <a:spcPts val="0"/>
              </a:spcAft>
              <a:buNone/>
              <a:defRPr sz="1130" b="0">
                <a:solidFill>
                  <a:srgbClr val="303437"/>
                </a:solidFill>
                <a:latin typeface="Noto Sans"/>
              </a:defRPr>
            </a:pPr>
            <a:r>
              <a:rPr sz="1130" b="0" lang="ja-JP" altLang="en-US">
                <a:solidFill>
                  <a:srgbClr val="626669"/>
                </a:solidFill>
                <a:latin typeface="Noto Sans"/>
                <a:ea typeface="Noto Sans CJK JP"/>
                <a:cs typeface="Noto Sans"/>
              </a:rPr>
              <a:t>train / 対話7845 / 全履歴 9発話 → 収録応答1発話 ／ 訳は左→右</a:t>
            </a:r>
          </a:p>
        </p:txBody>
      </p:sp>
      <p:sp>
        <p:nvSpPr>
          <p:cNvPr id="6" name="quote-frame"/>
          <p:cNvSpPr/>
          <p:nvPr/>
        </p:nvSpPr>
        <p:spPr>
          <a:xfrm>
            <a:off x="548640" y="1508760"/>
            <a:ext cx="3886200" cy="2105237"/>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71967" bIns="127000">
            <a:noAutofit/>
          </a:bodyPr>
          <a:lstStyle/>
          <a:p>
            <a:pPr algn="l">
              <a:lnSpc>
                <a:spcPts val="1535"/>
              </a:lnSpc>
              <a:spcBef>
                <a:spcPts val="0"/>
              </a:spcBef>
              <a:spcAft>
                <a:spcPts val="0"/>
              </a:spcAft>
              <a:buNone/>
              <a:defRPr sz="1290" b="0">
                <a:solidFill>
                  <a:srgbClr val="303437"/>
                </a:solidFill>
                <a:latin typeface="Noto Sans"/>
              </a:defRPr>
            </a:pPr>
            <a:r>
              <a:rPr sz="1290" b="0" lang="ja-JP" altLang="en-US">
                <a:solidFill>
                  <a:srgbClr val="303437"/>
                </a:solidFill>
                <a:latin typeface="Noto Sans"/>
                <a:ea typeface="Noto Sans CJK JP"/>
                <a:cs typeface="Noto Sans"/>
              </a:rPr>
              <a:t>利用者：こんにちは。3日間楽しめて、入場料が150～200元、できれば評価4.5点以上の観光地を勧めてください。</a:t>
            </a:r>
          </a:p>
          <a:p>
            <a:pPr algn="l">
              <a:lnSpc>
                <a:spcPts val="1535"/>
              </a:lnSpc>
              <a:spcBef>
                <a:spcPts val="0"/>
              </a:spcBef>
              <a:spcAft>
                <a:spcPts val="0"/>
              </a:spcAft>
              <a:buNone/>
              <a:defRPr sz="1290" b="0">
                <a:solidFill>
                  <a:srgbClr val="303437"/>
                </a:solidFill>
                <a:latin typeface="Noto Sans"/>
              </a:defRPr>
            </a:pPr>
            <a:r>
              <a:rPr sz="1290" b="0" lang="ja-JP" altLang="en-US">
                <a:solidFill>
                  <a:srgbClr val="303437"/>
                </a:solidFill>
                <a:latin typeface="Noto Sans"/>
                <a:ea typeface="Noto Sans CJK JP"/>
                <a:cs typeface="Noto Sans"/>
              </a:rPr>
              <a:t>システム：北京歓楽谷がよいと思います。入場料は195元です。</a:t>
            </a:r>
          </a:p>
          <a:p>
            <a:pPr algn="l">
              <a:lnSpc>
                <a:spcPts val="1535"/>
              </a:lnSpc>
              <a:spcBef>
                <a:spcPts val="0"/>
              </a:spcBef>
              <a:spcAft>
                <a:spcPts val="0"/>
              </a:spcAft>
              <a:buNone/>
              <a:defRPr sz="1290" b="0">
                <a:solidFill>
                  <a:srgbClr val="303437"/>
                </a:solidFill>
                <a:latin typeface="Noto Sans"/>
              </a:defRPr>
            </a:pPr>
            <a:r>
              <a:rPr sz="1290" b="0" lang="ja-JP" altLang="en-US">
                <a:solidFill>
                  <a:srgbClr val="303437"/>
                </a:solidFill>
                <a:latin typeface="Noto Sans"/>
                <a:ea typeface="Noto Sans CJK JP"/>
                <a:cs typeface="Noto Sans"/>
              </a:rPr>
              <a:t>利用者：遊んだ後にホテルを探したいのですが、近くにありますか。</a:t>
            </a:r>
          </a:p>
          <a:p>
            <a:pPr algn="l">
              <a:lnSpc>
                <a:spcPts val="1535"/>
              </a:lnSpc>
              <a:spcBef>
                <a:spcPts val="0"/>
              </a:spcBef>
              <a:spcAft>
                <a:spcPts val="0"/>
              </a:spcAft>
              <a:buNone/>
              <a:defRPr sz="1290" b="0">
                <a:solidFill>
                  <a:srgbClr val="303437"/>
                </a:solidFill>
                <a:latin typeface="Noto Sans"/>
              </a:defRPr>
            </a:pPr>
            <a:r>
              <a:rPr sz="1290" b="0" lang="ja-JP" altLang="en-US">
                <a:solidFill>
                  <a:srgbClr val="303437"/>
                </a:solidFill>
                <a:latin typeface="Noto Sans"/>
                <a:ea typeface="Noto Sans CJK JP"/>
                <a:cs typeface="Noto Sans"/>
              </a:rPr>
              <a:t>システム：北京龍鼎華鼎雲ホテル、北京人衛ホテル、北京富力万麗ホテル、北京美豪富邦国際ホテル、北京万達文華ホテルがあります。</a:t>
            </a:r>
          </a:p>
        </p:txBody>
      </p:sp>
      <p:sp>
        <p:nvSpPr>
          <p:cNvPr id="8" name="quote-frame"/>
          <p:cNvSpPr/>
          <p:nvPr/>
        </p:nvSpPr>
        <p:spPr>
          <a:xfrm>
            <a:off x="4709159" y="1508760"/>
            <a:ext cx="3886200" cy="2105238"/>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80434" bIns="127000">
            <a:noAutofit/>
          </a:bodyPr>
          <a:lstStyle/>
          <a:p>
            <a:pPr algn="l">
              <a:lnSpc>
                <a:spcPts val="1535"/>
              </a:lnSpc>
              <a:spcBef>
                <a:spcPts val="0"/>
              </a:spcBef>
              <a:spcAft>
                <a:spcPts val="0"/>
              </a:spcAft>
              <a:buNone/>
              <a:defRPr sz="1290" b="0">
                <a:solidFill>
                  <a:srgbClr val="303437"/>
                </a:solidFill>
                <a:latin typeface="Noto Sans"/>
              </a:defRPr>
            </a:pPr>
            <a:r>
              <a:rPr sz="1290" b="0" lang="ja-JP" altLang="en-US">
                <a:solidFill>
                  <a:srgbClr val="303437"/>
                </a:solidFill>
                <a:latin typeface="Noto Sans"/>
                <a:ea typeface="Noto Sans CJK JP"/>
                <a:cs typeface="Noto Sans"/>
              </a:rPr>
              <a:t>利用者：コンフォート型でブロードバンド接続があるのはどれですか。</a:t>
            </a:r>
          </a:p>
          <a:p>
            <a:pPr algn="l">
              <a:lnSpc>
                <a:spcPts val="1535"/>
              </a:lnSpc>
              <a:spcBef>
                <a:spcPts val="0"/>
              </a:spcBef>
              <a:spcAft>
                <a:spcPts val="0"/>
              </a:spcAft>
              <a:buNone/>
              <a:defRPr sz="1290" b="0">
                <a:solidFill>
                  <a:srgbClr val="303437"/>
                </a:solidFill>
                <a:latin typeface="Noto Sans"/>
              </a:defRPr>
            </a:pPr>
            <a:r>
              <a:rPr sz="1290" b="0" lang="ja-JP" altLang="en-US">
                <a:solidFill>
                  <a:srgbClr val="303437"/>
                </a:solidFill>
                <a:latin typeface="Noto Sans"/>
                <a:ea typeface="Noto Sans CJK JP"/>
                <a:cs typeface="Noto Sans"/>
              </a:rPr>
              <a:t>システム：北京龍鼎華鼎雲ホテルが条件に合います。</a:t>
            </a:r>
          </a:p>
          <a:p>
            <a:pPr algn="l">
              <a:lnSpc>
                <a:spcPts val="1535"/>
              </a:lnSpc>
              <a:spcBef>
                <a:spcPts val="0"/>
              </a:spcBef>
              <a:spcAft>
                <a:spcPts val="0"/>
              </a:spcAft>
              <a:buNone/>
              <a:defRPr sz="1290" b="0">
                <a:solidFill>
                  <a:srgbClr val="303437"/>
                </a:solidFill>
                <a:latin typeface="Noto Sans"/>
              </a:defRPr>
            </a:pPr>
            <a:r>
              <a:rPr sz="1290" b="0" lang="ja-JP" altLang="en-US">
                <a:solidFill>
                  <a:srgbClr val="303437"/>
                </a:solidFill>
                <a:latin typeface="Noto Sans"/>
                <a:ea typeface="Noto Sans CJK JP"/>
                <a:cs typeface="Noto Sans"/>
              </a:rPr>
              <a:t>利用者：では、住所を教えてください。</a:t>
            </a:r>
          </a:p>
          <a:p>
            <a:pPr algn="l">
              <a:lnSpc>
                <a:spcPts val="1535"/>
              </a:lnSpc>
              <a:spcBef>
                <a:spcPts val="0"/>
              </a:spcBef>
              <a:spcAft>
                <a:spcPts val="0"/>
              </a:spcAft>
              <a:buNone/>
              <a:defRPr sz="1290" b="0">
                <a:solidFill>
                  <a:srgbClr val="303437"/>
                </a:solidFill>
                <a:latin typeface="Noto Sans"/>
              </a:defRPr>
            </a:pPr>
            <a:r>
              <a:rPr sz="1290" b="0" lang="ja-JP" altLang="en-US">
                <a:solidFill>
                  <a:srgbClr val="303437"/>
                </a:solidFill>
                <a:latin typeface="Noto Sans"/>
                <a:ea typeface="Noto Sans CJK JP"/>
                <a:cs typeface="Noto Sans"/>
              </a:rPr>
              <a:t>システム：住所は北京朝陽区潘家園東里18号です。</a:t>
            </a:r>
          </a:p>
          <a:p>
            <a:pPr algn="l">
              <a:lnSpc>
                <a:spcPts val="1535"/>
              </a:lnSpc>
              <a:spcBef>
                <a:spcPts val="0"/>
              </a:spcBef>
              <a:spcAft>
                <a:spcPts val="0"/>
              </a:spcAft>
              <a:buNone/>
              <a:defRPr sz="1290" b="0">
                <a:solidFill>
                  <a:srgbClr val="303437"/>
                </a:solidFill>
                <a:latin typeface="Noto Sans"/>
              </a:defRPr>
            </a:pPr>
            <a:r>
              <a:rPr sz="1290" b="0" lang="ja-JP" altLang="en-US">
                <a:solidFill>
                  <a:srgbClr val="303437"/>
                </a:solidFill>
                <a:latin typeface="Noto Sans"/>
                <a:ea typeface="Noto Sans CJK JP"/>
                <a:cs typeface="Noto Sans"/>
              </a:rPr>
              <a:t>利用者：北京歓楽谷から北京龍鼎華鼎雲ホテルへ地下鉄で行きたいです。両方の最寄り駅を教えてください。</a:t>
            </a:r>
          </a:p>
        </p:txBody>
      </p:sp>
      <p:sp>
        <p:nvSpPr>
          <p:cNvPr id="9" name="TextBox 8"/>
          <p:cNvSpPr txBox="1"/>
          <p:nvPr/>
        </p:nvSpPr>
        <p:spPr>
          <a:xfrm>
            <a:off x="548640" y="3715598"/>
            <a:ext cx="8046720" cy="986917"/>
          </a:xfrm>
          <a:prstGeom prst="rect">
            <a:avLst/>
          </a:prstGeom>
          <a:noFill/>
        </p:spPr>
        <p:txBody>
          <a:bodyPr wrap="square" lIns="0" rIns="0" tIns="0" bIns="0">
            <a:noAutofit/>
          </a:bodyPr>
          <a:lstStyle/>
          <a:p>
            <a:pPr algn="l">
              <a:lnSpc>
                <a:spcPts val="2457"/>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参照応答：観光地とホテルはとても近いので、地下鉄に乗る必要はなく、歩いて行けます。最寄りの地下鉄入口は勁松駅D出口です。</a:t>
            </a:r>
          </a:p>
        </p:txBody>
      </p:sp>
      <p:sp>
        <p:nvSpPr>
          <p:cNvPr id="10" name="sources"/>
          <p:cNvSpPr txBox="1"/>
          <p:nvPr/>
        </p:nvSpPr>
        <p:spPr>
          <a:xfrm>
            <a:off x="502920" y="4700016"/>
            <a:ext cx="8183879" cy="621792"/>
          </a:xfrm>
          <a:prstGeom prst="rect">
            <a:avLst/>
          </a:prstGeom>
          <a:noFill/>
        </p:spPr>
        <p:txBody>
          <a:bodyPr wrap="square" lIns="0" rIns="0" tIns="0" bIns="0">
            <a:noAutofit/>
          </a:bodyPr>
          <a:lstStyle/>
          <a:p>
            <a:pPr algn="l">
              <a:lnSpc>
                <a:spcPts val="12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Qi Zhu et al. (2020). CrossWOZ公式配布データ。固定commit df82c9fd。 train.json / dialogue 7845 / messages[0:9] → [9]。</a:t>
            </a:r>
          </a:p>
          <a:p>
            <a:pPr>
              <a:lnSpc>
                <a:spcPts val="12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https://github.com/thu-coai/CrossWOZ/tree/df82c9fdff91b9b130f2d6b89110d3870ba6260e/data/crosswoz</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実例13：HELMのホテル対話の原レコード</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4" name="TextBox 3"/>
          <p:cNvSpPr txBox="1"/>
          <p:nvPr/>
        </p:nvSpPr>
        <p:spPr>
          <a:xfrm>
            <a:off x="548640" y="1289304"/>
            <a:ext cx="8046720" cy="228600"/>
          </a:xfrm>
          <a:prstGeom prst="rect">
            <a:avLst/>
          </a:prstGeom>
          <a:noFill/>
        </p:spPr>
        <p:txBody>
          <a:bodyPr wrap="square" lIns="0" rIns="0" tIns="0" bIns="0">
            <a:noAutofit/>
          </a:bodyPr>
          <a:lstStyle/>
          <a:p>
            <a:pPr algn="l">
              <a:lnSpc>
                <a:spcPts val="1322"/>
              </a:lnSpc>
              <a:spcBef>
                <a:spcPts val="0"/>
              </a:spcBef>
              <a:spcAft>
                <a:spcPts val="0"/>
              </a:spcAft>
              <a:buNone/>
              <a:defRPr sz="1130" b="0">
                <a:solidFill>
                  <a:srgbClr val="303437"/>
                </a:solidFill>
                <a:latin typeface="Noto Sans"/>
              </a:defRPr>
            </a:pPr>
            <a:r>
              <a:rPr sz="1130" b="0" lang="ja-JP" altLang="en-US">
                <a:solidFill>
                  <a:srgbClr val="626669"/>
                </a:solidFill>
                <a:latin typeface="Noto Sans"/>
                <a:ea typeface="Noto Sans CJK JP"/>
                <a:cs typeface="Noto Sans"/>
              </a:rPr>
              <a:t>val / 対話12121 / 全履歴 9発話 → 収録応答1発話 ／ 原文は左→右</a:t>
            </a:r>
          </a:p>
        </p:txBody>
      </p:sp>
      <p:sp>
        <p:nvSpPr>
          <p:cNvPr id="6" name="quote-frame"/>
          <p:cNvSpPr/>
          <p:nvPr/>
        </p:nvSpPr>
        <p:spPr>
          <a:xfrm>
            <a:off x="548640" y="1508760"/>
            <a:ext cx="3886200" cy="2065119"/>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71967" bIns="127000">
            <a:noAutofit/>
          </a:bodyPr>
          <a:lstStyle/>
          <a:p>
            <a:pPr algn="l">
              <a:lnSpc>
                <a:spcPts val="1677"/>
              </a:lnSpc>
              <a:spcBef>
                <a:spcPts val="0"/>
              </a:spcBef>
              <a:spcAft>
                <a:spcPts val="0"/>
              </a:spcAft>
              <a:buNone/>
              <a:defRPr sz="1410" b="0">
                <a:solidFill>
                  <a:srgbClr val="303437"/>
                </a:solidFill>
                <a:latin typeface="Noto Sans"/>
              </a:defRPr>
            </a:pPr>
            <a:r>
              <a:rPr sz="1410" b="0" lang="ja-JP" altLang="en-US">
                <a:solidFill>
                  <a:srgbClr val="303437"/>
                </a:solidFill>
                <a:latin typeface="Noto Sans"/>
                <a:ea typeface="Noto Sans CJK JP"/>
                <a:cs typeface="Noto Sans"/>
              </a:rPr>
              <a:t>利用者：你好，我想找一个价格是1000元以上，评分是4.5分以上的酒店，有什么好的地方给我推荐吗？</a:t>
            </a:r>
          </a:p>
          <a:p>
            <a:pPr algn="l">
              <a:lnSpc>
                <a:spcPts val="1677"/>
              </a:lnSpc>
              <a:spcBef>
                <a:spcPts val="0"/>
              </a:spcBef>
              <a:spcAft>
                <a:spcPts val="0"/>
              </a:spcAft>
              <a:buNone/>
              <a:defRPr sz="1410" b="0">
                <a:solidFill>
                  <a:srgbClr val="303437"/>
                </a:solidFill>
                <a:latin typeface="Noto Sans"/>
              </a:defRPr>
            </a:pPr>
            <a:r>
              <a:rPr sz="1410" b="0" lang="ja-JP" altLang="en-US">
                <a:solidFill>
                  <a:srgbClr val="303437"/>
                </a:solidFill>
                <a:latin typeface="Noto Sans"/>
                <a:ea typeface="Noto Sans CJK JP"/>
                <a:cs typeface="Noto Sans"/>
              </a:rPr>
              <a:t>システム：给你推荐北京昆泰嘉华酒店，完全符合你的条件呢。</a:t>
            </a:r>
          </a:p>
          <a:p>
            <a:pPr algn="l">
              <a:lnSpc>
                <a:spcPts val="1677"/>
              </a:lnSpc>
              <a:spcBef>
                <a:spcPts val="0"/>
              </a:spcBef>
              <a:spcAft>
                <a:spcPts val="0"/>
              </a:spcAft>
              <a:buNone/>
              <a:defRPr sz="1410" b="0">
                <a:solidFill>
                  <a:srgbClr val="303437"/>
                </a:solidFill>
                <a:latin typeface="Noto Sans"/>
              </a:defRPr>
            </a:pPr>
            <a:r>
              <a:rPr sz="1410" b="0" lang="ja-JP" altLang="en-US">
                <a:solidFill>
                  <a:srgbClr val="303437"/>
                </a:solidFill>
                <a:latin typeface="Noto Sans"/>
                <a:ea typeface="Noto Sans CJK JP"/>
                <a:cs typeface="Noto Sans"/>
              </a:rPr>
              <a:t>利用者：是吗，该酒店是什么类型啊？</a:t>
            </a:r>
          </a:p>
          <a:p>
            <a:pPr algn="l">
              <a:lnSpc>
                <a:spcPts val="1677"/>
              </a:lnSpc>
              <a:spcBef>
                <a:spcPts val="0"/>
              </a:spcBef>
              <a:spcAft>
                <a:spcPts val="0"/>
              </a:spcAft>
              <a:buNone/>
              <a:defRPr sz="1410" b="0">
                <a:solidFill>
                  <a:srgbClr val="303437"/>
                </a:solidFill>
                <a:latin typeface="Noto Sans"/>
              </a:defRPr>
            </a:pPr>
            <a:r>
              <a:rPr sz="1410" b="0" lang="ja-JP" altLang="en-US">
                <a:solidFill>
                  <a:srgbClr val="303437"/>
                </a:solidFill>
                <a:latin typeface="Noto Sans"/>
                <a:ea typeface="Noto Sans CJK JP"/>
                <a:cs typeface="Noto Sans"/>
              </a:rPr>
              <a:t>システム：豪华型酒店。</a:t>
            </a:r>
          </a:p>
          <a:p>
            <a:pPr algn="l">
              <a:lnSpc>
                <a:spcPts val="1677"/>
              </a:lnSpc>
              <a:spcBef>
                <a:spcPts val="0"/>
              </a:spcBef>
              <a:spcAft>
                <a:spcPts val="0"/>
              </a:spcAft>
              <a:buNone/>
              <a:defRPr sz="1410" b="0">
                <a:solidFill>
                  <a:srgbClr val="303437"/>
                </a:solidFill>
                <a:latin typeface="Noto Sans"/>
              </a:defRPr>
            </a:pPr>
            <a:r>
              <a:rPr sz="1410" b="0" lang="ja-JP" altLang="en-US">
                <a:solidFill>
                  <a:srgbClr val="303437"/>
                </a:solidFill>
                <a:latin typeface="Noto Sans"/>
                <a:ea typeface="Noto Sans CJK JP"/>
                <a:cs typeface="Noto Sans"/>
              </a:rPr>
              <a:t>利用者：好的，能帮我查一下它家是否提供商务中心吗？</a:t>
            </a:r>
          </a:p>
        </p:txBody>
      </p:sp>
      <p:sp>
        <p:nvSpPr>
          <p:cNvPr id="8" name="quote-frame"/>
          <p:cNvSpPr/>
          <p:nvPr/>
        </p:nvSpPr>
        <p:spPr>
          <a:xfrm>
            <a:off x="4709159" y="1508760"/>
            <a:ext cx="3886200" cy="2065119"/>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71967" bIns="127000">
            <a:noAutofit/>
          </a:bodyPr>
          <a:lstStyle/>
          <a:p>
            <a:pPr algn="l">
              <a:lnSpc>
                <a:spcPts val="1677"/>
              </a:lnSpc>
              <a:spcBef>
                <a:spcPts val="0"/>
              </a:spcBef>
              <a:spcAft>
                <a:spcPts val="0"/>
              </a:spcAft>
              <a:buNone/>
              <a:defRPr sz="1410" b="0">
                <a:solidFill>
                  <a:srgbClr val="303437"/>
                </a:solidFill>
                <a:latin typeface="Noto Sans"/>
              </a:defRPr>
            </a:pPr>
            <a:r>
              <a:rPr sz="1410" b="0" lang="ja-JP" altLang="en-US">
                <a:solidFill>
                  <a:srgbClr val="303437"/>
                </a:solidFill>
                <a:latin typeface="Noto Sans"/>
                <a:ea typeface="Noto Sans CJK JP"/>
                <a:cs typeface="Noto Sans"/>
              </a:rPr>
              <a:t>システム：酒店提供商务中心的。</a:t>
            </a:r>
          </a:p>
          <a:p>
            <a:pPr algn="l">
              <a:lnSpc>
                <a:spcPts val="1677"/>
              </a:lnSpc>
              <a:spcBef>
                <a:spcPts val="0"/>
              </a:spcBef>
              <a:spcAft>
                <a:spcPts val="0"/>
              </a:spcAft>
              <a:buNone/>
              <a:defRPr sz="1410" b="0">
                <a:solidFill>
                  <a:srgbClr val="303437"/>
                </a:solidFill>
                <a:latin typeface="Noto Sans"/>
              </a:defRPr>
            </a:pPr>
            <a:r>
              <a:rPr sz="1410" b="0" lang="ja-JP" altLang="en-US">
                <a:solidFill>
                  <a:srgbClr val="303437"/>
                </a:solidFill>
                <a:latin typeface="Noto Sans"/>
                <a:ea typeface="Noto Sans CJK JP"/>
                <a:cs typeface="Noto Sans"/>
              </a:rPr>
              <a:t>利用者：太好了，定完酒店，我打算找个评分是4.5分以上，游玩时长是1小时 - 2小时，票价是200元以上的景点游玩，给我点建议好吗？</a:t>
            </a:r>
          </a:p>
          <a:p>
            <a:pPr algn="l">
              <a:lnSpc>
                <a:spcPts val="1677"/>
              </a:lnSpc>
              <a:spcBef>
                <a:spcPts val="0"/>
              </a:spcBef>
              <a:spcAft>
                <a:spcPts val="0"/>
              </a:spcAft>
              <a:buNone/>
              <a:defRPr sz="1410" b="0">
                <a:solidFill>
                  <a:srgbClr val="303437"/>
                </a:solidFill>
                <a:latin typeface="Noto Sans"/>
              </a:defRPr>
            </a:pPr>
            <a:r>
              <a:rPr sz="1410" b="0" lang="ja-JP" altLang="en-US">
                <a:solidFill>
                  <a:srgbClr val="303437"/>
                </a:solidFill>
                <a:latin typeface="Noto Sans"/>
                <a:ea typeface="Noto Sans CJK JP"/>
                <a:cs typeface="Noto Sans"/>
              </a:rPr>
              <a:t>システム：乐多港奇幻乐园是个不错的去处，非常好玩的。</a:t>
            </a:r>
          </a:p>
          <a:p>
            <a:pPr algn="l">
              <a:lnSpc>
                <a:spcPts val="1677"/>
              </a:lnSpc>
              <a:spcBef>
                <a:spcPts val="0"/>
              </a:spcBef>
              <a:spcAft>
                <a:spcPts val="0"/>
              </a:spcAft>
              <a:buNone/>
              <a:defRPr sz="1410" b="0">
                <a:solidFill>
                  <a:srgbClr val="303437"/>
                </a:solidFill>
                <a:latin typeface="Noto Sans"/>
              </a:defRPr>
            </a:pPr>
            <a:r>
              <a:rPr sz="1410" b="0" lang="ja-JP" altLang="en-US">
                <a:solidFill>
                  <a:srgbClr val="303437"/>
                </a:solidFill>
                <a:latin typeface="Noto Sans"/>
                <a:ea typeface="Noto Sans CJK JP"/>
                <a:cs typeface="Noto Sans"/>
              </a:rPr>
              <a:t>利用者：好啊，就去乐多港奇幻乐园玩吧，景点周边有酒店吗？</a:t>
            </a:r>
          </a:p>
        </p:txBody>
      </p:sp>
      <p:sp>
        <p:nvSpPr>
          <p:cNvPr id="9" name="TextBox 8"/>
          <p:cNvSpPr txBox="1"/>
          <p:nvPr/>
        </p:nvSpPr>
        <p:spPr>
          <a:xfrm>
            <a:off x="548640" y="3683946"/>
            <a:ext cx="8046720" cy="362839"/>
          </a:xfrm>
          <a:prstGeom prst="rect">
            <a:avLst/>
          </a:prstGeom>
          <a:noFill/>
        </p:spPr>
        <p:txBody>
          <a:bodyPr wrap="square" lIns="0" rIns="0" tIns="0" bIns="0">
            <a:noAutofit/>
          </a:bodyPr>
          <a:lstStyle/>
          <a:p>
            <a:pPr algn="l">
              <a:lnSpc>
                <a:spcPts val="2457"/>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参照応答：嗯，周边有一个如家快捷酒店(北京昌平鼓楼西街店)。</a:t>
            </a:r>
          </a:p>
        </p:txBody>
      </p:sp>
      <p:sp>
        <p:nvSpPr>
          <p:cNvPr id="10" name="sources"/>
          <p:cNvSpPr txBox="1"/>
          <p:nvPr/>
        </p:nvSpPr>
        <p:spPr>
          <a:xfrm>
            <a:off x="502920" y="4700016"/>
            <a:ext cx="8183879" cy="621792"/>
          </a:xfrm>
          <a:prstGeom prst="rect">
            <a:avLst/>
          </a:prstGeom>
          <a:noFill/>
        </p:spPr>
        <p:txBody>
          <a:bodyPr wrap="square" lIns="0" rIns="0" tIns="0" bIns="0">
            <a:noAutofit/>
          </a:bodyPr>
          <a:lstStyle/>
          <a:p>
            <a:pPr algn="l">
              <a:lnSpc>
                <a:spcPts val="12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Qi Zhu et al. (2020). CrossWOZ公式配布データ。固定commit df82c9fd。 val.json / dialogue 12121 / messages[0:9] → [9]。</a:t>
            </a:r>
          </a:p>
          <a:p>
            <a:pPr>
              <a:lnSpc>
                <a:spcPts val="12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https://github.com/thu-coai/CrossWOZ/tree/df82c9fdff91b9b130f2d6b89110d3870ba6260e/data/crosswoz</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実例13：HELMのホテル対話の原レコード（訳）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4" name="TextBox 3"/>
          <p:cNvSpPr txBox="1"/>
          <p:nvPr/>
        </p:nvSpPr>
        <p:spPr>
          <a:xfrm>
            <a:off x="548640" y="1289304"/>
            <a:ext cx="8046720" cy="228600"/>
          </a:xfrm>
          <a:prstGeom prst="rect">
            <a:avLst/>
          </a:prstGeom>
          <a:noFill/>
        </p:spPr>
        <p:txBody>
          <a:bodyPr wrap="square" lIns="0" rIns="0" tIns="0" bIns="0">
            <a:noAutofit/>
          </a:bodyPr>
          <a:lstStyle/>
          <a:p>
            <a:pPr algn="l">
              <a:lnSpc>
                <a:spcPts val="1322"/>
              </a:lnSpc>
              <a:spcBef>
                <a:spcPts val="0"/>
              </a:spcBef>
              <a:spcAft>
                <a:spcPts val="0"/>
              </a:spcAft>
              <a:buNone/>
              <a:defRPr sz="1130" b="0">
                <a:solidFill>
                  <a:srgbClr val="303437"/>
                </a:solidFill>
                <a:latin typeface="Noto Sans"/>
              </a:defRPr>
            </a:pPr>
            <a:r>
              <a:rPr sz="1130" b="0" lang="ja-JP" altLang="en-US">
                <a:solidFill>
                  <a:srgbClr val="626669"/>
                </a:solidFill>
                <a:latin typeface="Noto Sans"/>
                <a:ea typeface="Noto Sans CJK JP"/>
                <a:cs typeface="Noto Sans"/>
              </a:rPr>
              <a:t>val / 対話12121 / 全履歴 9発話 → 収録応答1発話 ／ 訳は左→右</a:t>
            </a:r>
          </a:p>
        </p:txBody>
      </p:sp>
      <p:sp>
        <p:nvSpPr>
          <p:cNvPr id="6" name="quote-frame"/>
          <p:cNvSpPr/>
          <p:nvPr/>
        </p:nvSpPr>
        <p:spPr>
          <a:xfrm>
            <a:off x="548640" y="1508760"/>
            <a:ext cx="3886200" cy="2096771"/>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71967" bIns="127000">
            <a:noAutofit/>
          </a:bodyPr>
          <a:lstStyle/>
          <a:p>
            <a:pPr algn="l">
              <a:lnSpc>
                <a:spcPts val="1535"/>
              </a:lnSpc>
              <a:spcBef>
                <a:spcPts val="0"/>
              </a:spcBef>
              <a:spcAft>
                <a:spcPts val="0"/>
              </a:spcAft>
              <a:buNone/>
              <a:defRPr sz="1290" b="0">
                <a:solidFill>
                  <a:srgbClr val="303437"/>
                </a:solidFill>
                <a:latin typeface="Noto Sans"/>
              </a:defRPr>
            </a:pPr>
            <a:r>
              <a:rPr sz="1290" b="0" lang="ja-JP" altLang="en-US">
                <a:solidFill>
                  <a:srgbClr val="303437"/>
                </a:solidFill>
                <a:latin typeface="Noto Sans"/>
                <a:ea typeface="Noto Sans CJK JP"/>
                <a:cs typeface="Noto Sans"/>
              </a:rPr>
              <a:t>利用者：こんにちは。価格1,000元以上、評価4.5点以上のホテルを探しています。お勧めはありますか。</a:t>
            </a:r>
          </a:p>
          <a:p>
            <a:pPr algn="l">
              <a:lnSpc>
                <a:spcPts val="1535"/>
              </a:lnSpc>
              <a:spcBef>
                <a:spcPts val="0"/>
              </a:spcBef>
              <a:spcAft>
                <a:spcPts val="0"/>
              </a:spcAft>
              <a:buNone/>
              <a:defRPr sz="1290" b="0">
                <a:solidFill>
                  <a:srgbClr val="303437"/>
                </a:solidFill>
                <a:latin typeface="Noto Sans"/>
              </a:defRPr>
            </a:pPr>
            <a:r>
              <a:rPr sz="1290" b="0" lang="ja-JP" altLang="en-US">
                <a:solidFill>
                  <a:srgbClr val="303437"/>
                </a:solidFill>
                <a:latin typeface="Noto Sans"/>
                <a:ea typeface="Noto Sans CJK JP"/>
                <a:cs typeface="Noto Sans"/>
              </a:rPr>
              <a:t>システム：北京昆泰嘉華ホテルをお勧めします。条件にぴったりです。</a:t>
            </a:r>
          </a:p>
          <a:p>
            <a:pPr algn="l">
              <a:lnSpc>
                <a:spcPts val="1535"/>
              </a:lnSpc>
              <a:spcBef>
                <a:spcPts val="0"/>
              </a:spcBef>
              <a:spcAft>
                <a:spcPts val="0"/>
              </a:spcAft>
              <a:buNone/>
              <a:defRPr sz="1290" b="0">
                <a:solidFill>
                  <a:srgbClr val="303437"/>
                </a:solidFill>
                <a:latin typeface="Noto Sans"/>
              </a:defRPr>
            </a:pPr>
            <a:r>
              <a:rPr sz="1290" b="0" lang="ja-JP" altLang="en-US">
                <a:solidFill>
                  <a:srgbClr val="303437"/>
                </a:solidFill>
                <a:latin typeface="Noto Sans"/>
                <a:ea typeface="Noto Sans CJK JP"/>
                <a:cs typeface="Noto Sans"/>
              </a:rPr>
              <a:t>利用者：そうですか。どの種類のホテルですか。</a:t>
            </a:r>
          </a:p>
          <a:p>
            <a:pPr algn="l">
              <a:lnSpc>
                <a:spcPts val="1535"/>
              </a:lnSpc>
              <a:spcBef>
                <a:spcPts val="0"/>
              </a:spcBef>
              <a:spcAft>
                <a:spcPts val="0"/>
              </a:spcAft>
              <a:buNone/>
              <a:defRPr sz="1290" b="0">
                <a:solidFill>
                  <a:srgbClr val="303437"/>
                </a:solidFill>
                <a:latin typeface="Noto Sans"/>
              </a:defRPr>
            </a:pPr>
            <a:r>
              <a:rPr sz="1290" b="0" lang="ja-JP" altLang="en-US">
                <a:solidFill>
                  <a:srgbClr val="303437"/>
                </a:solidFill>
                <a:latin typeface="Noto Sans"/>
                <a:ea typeface="Noto Sans CJK JP"/>
                <a:cs typeface="Noto Sans"/>
              </a:rPr>
              <a:t>システム：豪華型ホテルです。</a:t>
            </a:r>
          </a:p>
          <a:p>
            <a:pPr algn="l">
              <a:lnSpc>
                <a:spcPts val="1535"/>
              </a:lnSpc>
              <a:spcBef>
                <a:spcPts val="0"/>
              </a:spcBef>
              <a:spcAft>
                <a:spcPts val="0"/>
              </a:spcAft>
              <a:buNone/>
              <a:defRPr sz="1290" b="0">
                <a:solidFill>
                  <a:srgbClr val="303437"/>
                </a:solidFill>
                <a:latin typeface="Noto Sans"/>
              </a:defRPr>
            </a:pPr>
            <a:r>
              <a:rPr sz="1290" b="0" lang="ja-JP" altLang="en-US">
                <a:solidFill>
                  <a:srgbClr val="303437"/>
                </a:solidFill>
                <a:latin typeface="Noto Sans"/>
                <a:ea typeface="Noto Sans CJK JP"/>
                <a:cs typeface="Noto Sans"/>
              </a:rPr>
              <a:t>利用者：ビジネスセンターがあるか調べてもらえますか。</a:t>
            </a:r>
          </a:p>
        </p:txBody>
      </p:sp>
      <p:sp>
        <p:nvSpPr>
          <p:cNvPr id="8" name="quote-frame"/>
          <p:cNvSpPr/>
          <p:nvPr/>
        </p:nvSpPr>
        <p:spPr>
          <a:xfrm>
            <a:off x="4709159" y="1508760"/>
            <a:ext cx="3886200" cy="2105237"/>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71967" bIns="127000">
            <a:noAutofit/>
          </a:bodyPr>
          <a:lstStyle/>
          <a:p>
            <a:pPr algn="l">
              <a:lnSpc>
                <a:spcPts val="1535"/>
              </a:lnSpc>
              <a:spcBef>
                <a:spcPts val="0"/>
              </a:spcBef>
              <a:spcAft>
                <a:spcPts val="0"/>
              </a:spcAft>
              <a:buNone/>
              <a:defRPr sz="1290" b="0">
                <a:solidFill>
                  <a:srgbClr val="303437"/>
                </a:solidFill>
                <a:latin typeface="Noto Sans"/>
              </a:defRPr>
            </a:pPr>
            <a:r>
              <a:rPr sz="1290" b="0" lang="ja-JP" altLang="en-US">
                <a:solidFill>
                  <a:srgbClr val="303437"/>
                </a:solidFill>
                <a:latin typeface="Noto Sans"/>
                <a:ea typeface="Noto Sans CJK JP"/>
                <a:cs typeface="Noto Sans"/>
              </a:rPr>
              <a:t>システム：ホテルにはビジネスセンターがあります。</a:t>
            </a:r>
          </a:p>
          <a:p>
            <a:pPr algn="l">
              <a:lnSpc>
                <a:spcPts val="1535"/>
              </a:lnSpc>
              <a:spcBef>
                <a:spcPts val="0"/>
              </a:spcBef>
              <a:spcAft>
                <a:spcPts val="0"/>
              </a:spcAft>
              <a:buNone/>
              <a:defRPr sz="1290" b="0">
                <a:solidFill>
                  <a:srgbClr val="303437"/>
                </a:solidFill>
                <a:latin typeface="Noto Sans"/>
              </a:defRPr>
            </a:pPr>
            <a:r>
              <a:rPr sz="1290" b="0" lang="ja-JP" altLang="en-US">
                <a:solidFill>
                  <a:srgbClr val="303437"/>
                </a:solidFill>
                <a:latin typeface="Noto Sans"/>
                <a:ea typeface="Noto Sans CJK JP"/>
                <a:cs typeface="Noto Sans"/>
              </a:rPr>
              <a:t>利用者：よかったです。ホテルを決めた後、評価4.5点以上、見学時間1～2時間、入場料200元以上の観光地へ行きたいです。何か提案はありますか。</a:t>
            </a:r>
          </a:p>
          <a:p>
            <a:pPr algn="l">
              <a:lnSpc>
                <a:spcPts val="1535"/>
              </a:lnSpc>
              <a:spcBef>
                <a:spcPts val="0"/>
              </a:spcBef>
              <a:spcAft>
                <a:spcPts val="0"/>
              </a:spcAft>
              <a:buNone/>
              <a:defRPr sz="1290" b="0">
                <a:solidFill>
                  <a:srgbClr val="303437"/>
                </a:solidFill>
                <a:latin typeface="Noto Sans"/>
              </a:defRPr>
            </a:pPr>
            <a:r>
              <a:rPr sz="1290" b="0" lang="ja-JP" altLang="en-US">
                <a:solidFill>
                  <a:srgbClr val="303437"/>
                </a:solidFill>
                <a:latin typeface="Noto Sans"/>
                <a:ea typeface="Noto Sans CJK JP"/>
                <a:cs typeface="Noto Sans"/>
              </a:rPr>
              <a:t>システム：楽多港奇幻楽園がよいと思います。とても楽しい場所です。</a:t>
            </a:r>
          </a:p>
          <a:p>
            <a:pPr algn="l">
              <a:lnSpc>
                <a:spcPts val="1535"/>
              </a:lnSpc>
              <a:spcBef>
                <a:spcPts val="0"/>
              </a:spcBef>
              <a:spcAft>
                <a:spcPts val="0"/>
              </a:spcAft>
              <a:buNone/>
              <a:defRPr sz="1290" b="0">
                <a:solidFill>
                  <a:srgbClr val="303437"/>
                </a:solidFill>
                <a:latin typeface="Noto Sans"/>
              </a:defRPr>
            </a:pPr>
            <a:r>
              <a:rPr sz="1290" b="0" lang="ja-JP" altLang="en-US">
                <a:solidFill>
                  <a:srgbClr val="303437"/>
                </a:solidFill>
                <a:latin typeface="Noto Sans"/>
                <a:ea typeface="Noto Sans CJK JP"/>
                <a:cs typeface="Noto Sans"/>
              </a:rPr>
              <a:t>利用者：では、そこへ行きます。その観光地の周辺にはホテルがありますか。</a:t>
            </a:r>
          </a:p>
        </p:txBody>
      </p:sp>
      <p:sp>
        <p:nvSpPr>
          <p:cNvPr id="9" name="TextBox 8"/>
          <p:cNvSpPr txBox="1"/>
          <p:nvPr/>
        </p:nvSpPr>
        <p:spPr>
          <a:xfrm>
            <a:off x="548640" y="3715598"/>
            <a:ext cx="8046720" cy="674878"/>
          </a:xfrm>
          <a:prstGeom prst="rect">
            <a:avLst/>
          </a:prstGeom>
          <a:noFill/>
        </p:spPr>
        <p:txBody>
          <a:bodyPr wrap="square" lIns="0" rIns="0" tIns="0" bIns="0">
            <a:noAutofit/>
          </a:bodyPr>
          <a:lstStyle/>
          <a:p>
            <a:pPr algn="l">
              <a:lnSpc>
                <a:spcPts val="2457"/>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参照応答：はい、周辺にホームイン（北京昌平鼓楼西街店）が一軒あります。</a:t>
            </a:r>
          </a:p>
        </p:txBody>
      </p:sp>
      <p:sp>
        <p:nvSpPr>
          <p:cNvPr id="10" name="sources"/>
          <p:cNvSpPr txBox="1"/>
          <p:nvPr/>
        </p:nvSpPr>
        <p:spPr>
          <a:xfrm>
            <a:off x="502920" y="4700016"/>
            <a:ext cx="8183879" cy="621792"/>
          </a:xfrm>
          <a:prstGeom prst="rect">
            <a:avLst/>
          </a:prstGeom>
          <a:noFill/>
        </p:spPr>
        <p:txBody>
          <a:bodyPr wrap="square" lIns="0" rIns="0" tIns="0" bIns="0">
            <a:noAutofit/>
          </a:bodyPr>
          <a:lstStyle/>
          <a:p>
            <a:pPr algn="l">
              <a:lnSpc>
                <a:spcPts val="12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Qi Zhu et al. (2020). CrossWOZ公式配布データ。固定commit df82c9fd。 val.json / dialogue 12121 / messages[0:9] → [9]。</a:t>
            </a:r>
          </a:p>
          <a:p>
            <a:pPr>
              <a:lnSpc>
                <a:spcPts val="12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https://github.com/thu-coai/CrossWOZ/tree/df82c9fdff91b9b130f2d6b89110d3870ba6260e/data/crosswoz</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形式・集計・再計算</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形式・集計・再計算</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原版の応答単位は、合計50,813件</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形式・集計・再計算</a:t>
            </a:r>
          </a:p>
        </p:txBody>
      </p:sp>
      <p:graphicFrame>
        <p:nvGraphicFramePr>
          <p:cNvPr id="4" name="Table 3"/>
          <p:cNvGraphicFramePr>
            <a:graphicFrameLocks noGrp="1"/>
          </p:cNvGraphicFramePr>
          <p:nvPr/>
        </p:nvGraphicFramePr>
        <p:xfrm>
          <a:off x="548640" y="1508760"/>
          <a:ext cx="8046720" cy="1828800"/>
        </p:xfrm>
        <a:graphic>
          <a:graphicData uri="http://schemas.openxmlformats.org/drawingml/2006/table">
            <a:tbl>
              <a:tblPr firstRow="0" bandRow="0"/>
              <a:tblGrid>
                <a:gridCol w="1828800"/>
                <a:gridCol w="3108960"/>
                <a:gridCol w="3108960"/>
              </a:tblGrid>
              <a:tr h="457200">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分割</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利用者発話</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sys応答</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57200">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train</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42,346</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42,346</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57200">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val</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4,229</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4,229</a:t>
                      </a:r>
                    </a:p>
                  </a:txBody>
                  <a:tcPr marL="63500" marR="63500" marT="38100" marB="38100" anchor="ctr">
                    <a:lnL w="7620">
                      <a:noFill/>
                    </a:lnL>
                    <a:lnR w="7620">
                      <a:noFill/>
                    </a:lnR>
                    <a:lnT w="7620">
                      <a:noFill/>
                    </a:lnT>
                    <a:lnB w="7620">
                      <a:noFill/>
                    </a:lnB>
                    <a:solidFill>
                      <a:srgbClr val="FFFEF8"/>
                    </a:solidFill>
                  </a:tcPr>
                </a:tc>
              </a:tr>
              <a:tr h="457200">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test</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4,238</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4,238</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474720"/>
            <a:ext cx="7955279" cy="603504"/>
          </a:xfrm>
          <a:prstGeom prst="rect">
            <a:avLst/>
          </a:prstGeom>
          <a:noFill/>
        </p:spPr>
        <p:txBody>
          <a:bodyPr wrap="square" lIns="0" rIns="0" tIns="0" bIns="0">
            <a:noAutofit/>
          </a:bodyPr>
          <a:lstStyle/>
          <a:p>
            <a:pPr algn="l">
              <a:lnSpc>
                <a:spcPts val="1930"/>
              </a:lnSpc>
              <a:spcBef>
                <a:spcPts val="0"/>
              </a:spcBef>
              <a:spcAft>
                <a:spcPts val="0"/>
              </a:spcAft>
              <a:buNone/>
              <a:defRPr sz="1650" b="0">
                <a:solidFill>
                  <a:srgbClr val="303437"/>
                </a:solidFill>
                <a:latin typeface="Noto Sans"/>
              </a:defRPr>
            </a:pPr>
            <a:r>
              <a:rPr sz="1650" b="0" lang="ja-JP" altLang="en-US">
                <a:solidFill>
                  <a:srgbClr val="303437"/>
                </a:solidFill>
                <a:latin typeface="Noto Sans"/>
                <a:ea typeface="Noto Sans CJK JP"/>
                <a:cs typeface="Noto Sans"/>
              </a:rPr>
              <a:t>原版の全sys発話を、前方の全履歴＋次応答へ展開した場合の件数。CLEVA v1の実際の選定件数ではない。</a:t>
            </a:r>
          </a:p>
        </p:txBody>
      </p:sp>
      <p:sp>
        <p:nvSpPr>
          <p:cNvPr id="6" name="sources"/>
          <p:cNvSpPr txBox="1"/>
          <p:nvPr/>
        </p:nvSpPr>
        <p:spPr>
          <a:xfrm>
            <a:off x="502920" y="4700016"/>
            <a:ext cx="8183879" cy="621792"/>
          </a:xfrm>
          <a:prstGeom prst="rect">
            <a:avLst/>
          </a:prstGeom>
          <a:noFill/>
        </p:spPr>
        <p:txBody>
          <a:bodyPr wrap="square" lIns="0" rIns="0" tIns="0" bIns="0">
            <a:noAutofit/>
          </a:bodyPr>
          <a:lstStyle/>
          <a:p>
            <a:pPr algn="l">
              <a:lnSpc>
                <a:spcPts val="12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Qi Zhu et al. (2020). CrossWOZ公式配布データ。固定commit df82c9fd。</a:t>
            </a:r>
          </a:p>
          <a:p>
            <a:pPr>
              <a:lnSpc>
                <a:spcPts val="12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https://github.com/thu-coai/CrossWOZ/tree/df82c9fdff91b9b130f2d6b89110d3870ba6260e/data/crosswoz</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完全一致は、状態全体を比較する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形式・集計・再計算</a:t>
            </a:r>
          </a:p>
        </p:txBody>
      </p:sp>
      <p:graphicFrame>
        <p:nvGraphicFramePr>
          <p:cNvPr id="4" name="Table 3"/>
          <p:cNvGraphicFramePr>
            <a:graphicFrameLocks noGrp="1"/>
          </p:cNvGraphicFramePr>
          <p:nvPr/>
        </p:nvGraphicFramePr>
        <p:xfrm>
          <a:off x="548640" y="1508760"/>
          <a:ext cx="8046720" cy="2688336"/>
        </p:xfrm>
        <a:graphic>
          <a:graphicData uri="http://schemas.openxmlformats.org/drawingml/2006/table">
            <a:tbl>
              <a:tblPr firstRow="0" bandRow="0"/>
              <a:tblGrid>
                <a:gridCol w="1371600"/>
                <a:gridCol w="4389120"/>
                <a:gridCol w="2286000"/>
              </a:tblGrid>
              <a:tr h="384048">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目標種</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正解応答数／対象数</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完全一致率</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384048">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S</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101 / 120</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84.17%</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384048">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M</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863 / 1,104</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78.17%</a:t>
                      </a:r>
                    </a:p>
                  </a:txBody>
                  <a:tcPr marL="63500" marR="63500" marT="38100" marB="38100" anchor="ctr">
                    <a:lnL w="7620">
                      <a:noFill/>
                    </a:lnL>
                    <a:lnR w="7620">
                      <a:noFill/>
                    </a:lnR>
                    <a:lnT w="7620">
                      <a:noFill/>
                    </a:lnT>
                    <a:lnB w="7620">
                      <a:noFill/>
                    </a:lnB>
                    <a:solidFill>
                      <a:srgbClr val="FFFEF8"/>
                    </a:solidFill>
                  </a:tcPr>
                </a:tc>
              </a:tr>
              <a:tr h="384048">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M+T</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535 / 653</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81.93%</a:t>
                      </a:r>
                    </a:p>
                  </a:txBody>
                  <a:tcPr marL="63500" marR="63500" marT="38100" marB="38100" anchor="ctr">
                    <a:lnL w="7620">
                      <a:noFill/>
                    </a:lnL>
                    <a:lnR w="7620">
                      <a:noFill/>
                    </a:lnR>
                    <a:lnT w="7620">
                      <a:noFill/>
                    </a:lnT>
                    <a:lnB w="7620">
                      <a:noFill/>
                    </a:lnB>
                    <a:solidFill>
                      <a:srgbClr val="FFFEF8"/>
                    </a:solidFill>
                  </a:tcPr>
                </a:tc>
              </a:tr>
              <a:tr h="384048">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CM</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1,106 / 1,745</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63.38%</a:t>
                      </a:r>
                    </a:p>
                  </a:txBody>
                  <a:tcPr marL="63500" marR="63500" marT="38100" marB="38100" anchor="ctr">
                    <a:lnL w="7620">
                      <a:noFill/>
                    </a:lnL>
                    <a:lnR w="7620">
                      <a:noFill/>
                    </a:lnR>
                    <a:lnT w="7620">
                      <a:noFill/>
                    </a:lnT>
                    <a:lnB w="7620">
                      <a:noFill/>
                    </a:lnB>
                    <a:solidFill>
                      <a:srgbClr val="FFFEF8"/>
                    </a:solidFill>
                  </a:tcPr>
                </a:tc>
              </a:tr>
              <a:tr h="384048">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CM+T</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418 / 616</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67.86%</a:t>
                      </a:r>
                    </a:p>
                  </a:txBody>
                  <a:tcPr marL="63500" marR="63500" marT="38100" marB="38100" anchor="ctr">
                    <a:lnL w="7620">
                      <a:noFill/>
                    </a:lnL>
                    <a:lnR w="7620">
                      <a:noFill/>
                    </a:lnR>
                    <a:lnT w="7620">
                      <a:noFill/>
                    </a:lnT>
                    <a:lnB w="7620">
                      <a:noFill/>
                    </a:lnB>
                    <a:solidFill>
                      <a:srgbClr val="FFFEF8"/>
                    </a:solidFill>
                  </a:tcPr>
                </a:tc>
              </a:tr>
              <a:tr h="384048">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全体</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3,023 / 4,238</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71.33%</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sources"/>
          <p:cNvSpPr txBox="1"/>
          <p:nvPr/>
        </p:nvSpPr>
        <p:spPr>
          <a:xfrm>
            <a:off x="502920" y="4700016"/>
            <a:ext cx="8183879" cy="621792"/>
          </a:xfrm>
          <a:prstGeom prst="rect">
            <a:avLst/>
          </a:prstGeom>
          <a:noFill/>
        </p:spPr>
        <p:txBody>
          <a:bodyPr wrap="square" lIns="0" rIns="0" tIns="0" bIns="0">
            <a:noAutofit/>
          </a:bodyPr>
          <a:lstStyle/>
          <a:p>
            <a:pPr algn="l">
              <a:lnSpc>
                <a:spcPts val="12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Qi Zhu et al. CrossWOZ RuleDST / evaluate.py. 固定commit df82c9fd。</a:t>
            </a:r>
          </a:p>
          <a:p>
            <a:pPr>
              <a:lnSpc>
                <a:spcPts val="12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https://github.com/thu-coai/CrossWOZ/blob/df82c9fdff91b9b130f2d6b89110d3870ba6260e/convlab2/dst/rule/crosswoz/evaluate.py</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検索前後の差は、周辺条件に現れる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形式・集計・再計算</a:t>
            </a:r>
          </a:p>
        </p:txBody>
      </p:sp>
      <p:sp>
        <p:nvSpPr>
          <p:cNvPr id="4" name="code-frame"/>
          <p:cNvSpPr/>
          <p:nvPr/>
        </p:nvSpPr>
        <p:spPr>
          <a:xfrm>
            <a:off x="548640" y="1508760"/>
            <a:ext cx="8046720" cy="2011131"/>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none" lIns="152400" rIns="152400" tIns="63077" bIns="127000"/>
          <a:lstStyle/>
          <a:p>
            <a:pPr algn="l">
              <a:lnSpc>
                <a:spcPts val="2082"/>
              </a:lnSpc>
              <a:spcBef>
                <a:spcPts val="0"/>
              </a:spcBef>
              <a:spcAft>
                <a:spcPts val="0"/>
              </a:spcAft>
              <a:buNone/>
              <a:defRPr sz="1750" b="0">
                <a:solidFill>
                  <a:srgbClr val="303437"/>
                </a:solidFill>
                <a:latin typeface="Noto Sans"/>
              </a:defRPr>
            </a:pPr>
            <a:r>
              <a:rPr sz="1750" b="0" lang="ja-JP" altLang="en-US">
                <a:solidFill>
                  <a:srgbClr val="303437"/>
                </a:solidFill>
                <a:latin typeface="Liberation Mono"/>
                <a:ea typeface="Noto Sans CJK JP"/>
                <a:cs typeface="Liberation Mono"/>
              </a:rPr>
              <a:t>sys_state_init["酒店"]["周边餐馆"] = (</a:t>
            </a:r>
          </a:p>
          <a:p>
            <a:pPr>
              <a:lnSpc>
                <a:spcPts val="2082"/>
              </a:lnSpc>
              <a:spcBef>
                <a:spcPts val="0"/>
              </a:spcBef>
              <a:spcAft>
                <a:spcPts val="0"/>
              </a:spcAft>
              <a:buNone/>
              <a:defRPr sz="1750" b="0">
                <a:solidFill>
                  <a:srgbClr val="303437"/>
                </a:solidFill>
                <a:latin typeface="Noto Sans"/>
              </a:defRPr>
            </a:pPr>
            <a:r>
              <a:rPr sz="1750" b="0" lang="ja-JP" altLang="en-US">
                <a:solidFill>
                  <a:srgbClr val="303437"/>
                </a:solidFill>
                <a:latin typeface="Liberation Mono"/>
                <a:ea typeface="Noto Sans CJK JP"/>
                <a:cs typeface="Liberation Mono"/>
              </a:rPr>
              <a:t>    "站点比萨(北大餐厅)"</a:t>
            </a:r>
          </a:p>
          <a:p>
            <a:pPr>
              <a:lnSpc>
                <a:spcPts val="2082"/>
              </a:lnSpc>
              <a:spcBef>
                <a:spcPts val="0"/>
              </a:spcBef>
              <a:spcAft>
                <a:spcPts val="0"/>
              </a:spcAft>
              <a:buNone/>
              <a:defRPr sz="1750" b="0">
                <a:solidFill>
                  <a:srgbClr val="303437"/>
                </a:solidFill>
                <a:latin typeface="Noto Sans"/>
              </a:defRPr>
            </a:pPr>
            <a:r>
              <a:rPr sz="1750" b="0" lang="ja-JP" altLang="en-US">
                <a:solidFill>
                  <a:srgbClr val="303437"/>
                </a:solidFill>
                <a:latin typeface="Liberation Mono"/>
                <a:ea typeface="Noto Sans CJK JP"/>
                <a:cs typeface="Liberation Mono"/>
              </a:rPr>
              <a:t>)</a:t>
            </a:r>
          </a:p>
          <a:p>
            <a:pPr>
              <a:lnSpc>
                <a:spcPts val="2082"/>
              </a:lnSpc>
              <a:spcBef>
                <a:spcPts val="0"/>
              </a:spcBef>
              <a:spcAft>
                <a:spcPts val="0"/>
              </a:spcAft>
              <a:buNone/>
              <a:defRPr sz="1750" b="0">
                <a:solidFill>
                  <a:srgbClr val="303437"/>
                </a:solidFill>
                <a:latin typeface="Noto Sans"/>
              </a:defRPr>
            </a:pPr>
            <a:r>
              <a:rPr sz="1750" b="0" lang="ja-JP" altLang="en-US">
                <a:solidFill>
                  <a:srgbClr val="303437"/>
                </a:solidFill>
                <a:latin typeface="Liberation Mono"/>
                <a:ea typeface="Noto Sans CJK JP"/>
                <a:cs typeface="Liberation Mono"/>
              </a:rPr>
              <a:t>sys_state["酒店"]["周边餐馆"] = ""</a:t>
            </a:r>
          </a:p>
          <a:p>
            <a:pPr>
              <a:lnSpc>
                <a:spcPts val="2082"/>
              </a:lnSpc>
              <a:spcBef>
                <a:spcPts val="0"/>
              </a:spcBef>
              <a:spcAft>
                <a:spcPts val="0"/>
              </a:spcAft>
              <a:buNone/>
              <a:defRPr sz="1750" b="0">
                <a:solidFill>
                  <a:srgbClr val="303437"/>
                </a:solidFill>
                <a:latin typeface="Noto Sans"/>
              </a:defRPr>
            </a:pPr>
            <a:r>
              <a:rPr sz="1750" b="0" lang="ja-JP" altLang="en-US">
                <a:solidFill>
                  <a:srgbClr val="303437"/>
                </a:solidFill>
                <a:latin typeface="Liberation Mono"/>
                <a:ea typeface="Noto Sans CJK JP"/>
                <a:cs typeface="Liberation Mono"/>
              </a:rPr>
              <a:t>sys_state["酒店"]["selectedResults"] = [</a:t>
            </a:r>
          </a:p>
          <a:p>
            <a:pPr>
              <a:lnSpc>
                <a:spcPts val="2082"/>
              </a:lnSpc>
              <a:spcBef>
                <a:spcPts val="0"/>
              </a:spcBef>
              <a:spcAft>
                <a:spcPts val="0"/>
              </a:spcAft>
              <a:buNone/>
              <a:defRPr sz="1750" b="0">
                <a:solidFill>
                  <a:srgbClr val="303437"/>
                </a:solidFill>
                <a:latin typeface="Noto Sans"/>
              </a:defRPr>
            </a:pPr>
            <a:r>
              <a:rPr sz="1750" b="0" lang="ja-JP" altLang="en-US">
                <a:solidFill>
                  <a:srgbClr val="303437"/>
                </a:solidFill>
                <a:latin typeface="Liberation Mono"/>
                <a:ea typeface="Noto Sans CJK JP"/>
                <a:cs typeface="Liberation Mono"/>
              </a:rPr>
              <a:t>    "北京美第奇精选酒店"</a:t>
            </a:r>
          </a:p>
          <a:p>
            <a:pPr>
              <a:lnSpc>
                <a:spcPts val="2082"/>
              </a:lnSpc>
              <a:spcBef>
                <a:spcPts val="0"/>
              </a:spcBef>
              <a:spcAft>
                <a:spcPts val="0"/>
              </a:spcAft>
              <a:buNone/>
              <a:defRPr sz="1750" b="0">
                <a:solidFill>
                  <a:srgbClr val="303437"/>
                </a:solidFill>
                <a:latin typeface="Noto Sans"/>
              </a:defRPr>
            </a:pPr>
            <a:r>
              <a:rPr sz="1750" b="0" lang="ja-JP" altLang="en-US">
                <a:solidFill>
                  <a:srgbClr val="303437"/>
                </a:solidFill>
                <a:latin typeface="Liberation Mono"/>
                <a:ea typeface="Noto Sans CJK JP"/>
                <a:cs typeface="Liberation Mono"/>
              </a:rPr>
              <a:t>]</a:t>
            </a:r>
          </a:p>
        </p:txBody>
      </p:sp>
      <p:sp>
        <p:nvSpPr>
          <p:cNvPr id="5" name="TextBox 4"/>
          <p:cNvSpPr txBox="1"/>
          <p:nvPr/>
        </p:nvSpPr>
        <p:spPr>
          <a:xfrm>
            <a:off x="594360" y="3630803"/>
            <a:ext cx="7955279" cy="777240"/>
          </a:xfrm>
          <a:prstGeom prst="rect">
            <a:avLst/>
          </a:prstGeom>
          <a:noFill/>
        </p:spPr>
        <p:txBody>
          <a:bodyPr wrap="square" lIns="0" rIns="0" tIns="0" bIns="0">
            <a:noAutofit/>
          </a:bodyPr>
          <a:lstStyle/>
          <a:p>
            <a:pPr algn="l">
              <a:lnSpc>
                <a:spcPts val="2222"/>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実例2の同じsys発話から、3項目の実値を表示。価格200–300元と評価4.5点以上は両検索に残る。</a:t>
            </a:r>
          </a:p>
        </p:txBody>
      </p:sp>
      <p:sp>
        <p:nvSpPr>
          <p:cNvPr id="6" name="sources"/>
          <p:cNvSpPr txBox="1"/>
          <p:nvPr/>
        </p:nvSpPr>
        <p:spPr>
          <a:xfrm>
            <a:off x="502920" y="4700016"/>
            <a:ext cx="8183879" cy="621792"/>
          </a:xfrm>
          <a:prstGeom prst="rect">
            <a:avLst/>
          </a:prstGeom>
          <a:noFill/>
        </p:spPr>
        <p:txBody>
          <a:bodyPr wrap="square" lIns="0" rIns="0" tIns="0" bIns="0">
            <a:noAutofit/>
          </a:bodyPr>
          <a:lstStyle/>
          <a:p>
            <a:pPr algn="l">
              <a:lnSpc>
                <a:spcPts val="12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Qi Zhu et al. (2020). CrossWOZ公式配布データ。固定commit df82c9fd。</a:t>
            </a:r>
          </a:p>
          <a:p>
            <a:pPr>
              <a:lnSpc>
                <a:spcPts val="12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https://github.com/thu-coai/CrossWOZ/tree/df82c9fdff91b9b130f2d6b89110d3870ba6260e/data/crosswoz</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実例13の注釈は、観光地の周辺ホテル</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形式・集計・再計算</a:t>
            </a:r>
          </a:p>
        </p:txBody>
      </p:sp>
      <p:graphicFrame>
        <p:nvGraphicFramePr>
          <p:cNvPr id="4" name="Table 3"/>
          <p:cNvGraphicFramePr>
            <a:graphicFrameLocks noGrp="1"/>
          </p:cNvGraphicFramePr>
          <p:nvPr/>
        </p:nvGraphicFramePr>
        <p:xfrm>
          <a:off x="548640" y="1508760"/>
          <a:ext cx="8046720" cy="2286000"/>
        </p:xfrm>
        <a:graphic>
          <a:graphicData uri="http://schemas.openxmlformats.org/drawingml/2006/table">
            <a:tbl>
              <a:tblPr firstRow="0" bandRow="0"/>
              <a:tblGrid>
                <a:gridCol w="2560320"/>
                <a:gridCol w="5486400"/>
              </a:tblGrid>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注釈要素</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原データの値</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意図</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Inform</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領域</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景点</a:t>
                      </a:r>
                    </a:p>
                  </a:txBody>
                  <a:tcPr marL="63500" marR="63500" marT="38100" marB="38100" anchor="ctr">
                    <a:lnL w="7620">
                      <a:noFill/>
                    </a:lnL>
                    <a:lnR w="7620">
                      <a:noFill/>
                    </a:lnR>
                    <a:lnT w="7620">
                      <a:noFill/>
                    </a:lnT>
                    <a:lnB w="7620">
                      <a:noFill/>
                    </a:lnB>
                    <a:solidFill>
                      <a:srgbClr val="FFFEF8"/>
                    </a:solidFill>
                  </a:tcPr>
                </a:tc>
              </a:tr>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スロット</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周边酒店</a:t>
                      </a:r>
                    </a:p>
                  </a:txBody>
                  <a:tcPr marL="63500" marR="63500" marT="38100" marB="38100" anchor="ctr">
                    <a:lnL w="7620">
                      <a:noFill/>
                    </a:lnL>
                    <a:lnR w="7620">
                      <a:noFill/>
                    </a:lnR>
                    <a:lnT w="7620">
                      <a:noFill/>
                    </a:lnT>
                    <a:lnB w="7620">
                      <a:noFill/>
                    </a:lnB>
                    <a:solidFill>
                      <a:srgbClr val="FFFEF8"/>
                    </a:solidFill>
                  </a:tcPr>
                </a:tc>
              </a:tr>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値</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如家快捷酒店(北京昌平鼓楼西街店)</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931920"/>
            <a:ext cx="7955279" cy="603504"/>
          </a:xfrm>
          <a:prstGeom prst="rect">
            <a:avLst/>
          </a:prstGeom>
          <a:noFill/>
        </p:spPr>
        <p:txBody>
          <a:bodyPr wrap="square" lIns="0" rIns="0" tIns="0" bIns="0">
            <a:noAutofit/>
          </a:bodyPr>
          <a:lstStyle/>
          <a:p>
            <a:pPr algn="l">
              <a:lnSpc>
                <a:spcPts val="1930"/>
              </a:lnSpc>
              <a:spcBef>
                <a:spcPts val="0"/>
              </a:spcBef>
              <a:spcAft>
                <a:spcPts val="0"/>
              </a:spcAft>
              <a:buNone/>
              <a:defRPr sz="1650" b="0">
                <a:solidFill>
                  <a:srgbClr val="303437"/>
                </a:solidFill>
                <a:latin typeface="Noto Sans"/>
              </a:defRPr>
            </a:pPr>
            <a:r>
              <a:rPr sz="1650" b="0" lang="ja-JP" altLang="en-US">
                <a:solidFill>
                  <a:srgbClr val="303437"/>
                </a:solidFill>
                <a:latin typeface="Noto Sans"/>
                <a:ea typeface="Noto Sans CJK JP"/>
                <a:cs typeface="Noto Sans"/>
              </a:rPr>
              <a:t>val12121 / messages[9].dialog_actの1組。ホテルという語を含む応答でも、観光地の周辺属性を答える行為として注釈される。</a:t>
            </a:r>
          </a:p>
        </p:txBody>
      </p:sp>
      <p:sp>
        <p:nvSpPr>
          <p:cNvPr id="6" name="sources"/>
          <p:cNvSpPr txBox="1"/>
          <p:nvPr/>
        </p:nvSpPr>
        <p:spPr>
          <a:xfrm>
            <a:off x="502920" y="4700016"/>
            <a:ext cx="8183879" cy="621792"/>
          </a:xfrm>
          <a:prstGeom prst="rect">
            <a:avLst/>
          </a:prstGeom>
          <a:noFill/>
        </p:spPr>
        <p:txBody>
          <a:bodyPr wrap="square" lIns="0" rIns="0" tIns="0" bIns="0">
            <a:noAutofit/>
          </a:bodyPr>
          <a:lstStyle/>
          <a:p>
            <a:pPr algn="l">
              <a:lnSpc>
                <a:spcPts val="12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Qi Zhu et al. (2020). CrossWOZ公式配布データ。固定commit df82c9fd。</a:t>
            </a:r>
          </a:p>
          <a:p>
            <a:pPr>
              <a:lnSpc>
                <a:spcPts val="12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https://github.com/thu-coai/CrossWOZ/tree/df82c9fdff91b9b130f2d6b89110d3870ba6260e/data/crosswoz</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研究と参考文献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研究と参考文献</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清華大学が、中国語の領域横断対話を公開した</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第一著者はQi Zhu、最終著者はMinlie Huang。Kaili Huang、Zheng Zhang、Xiaoyan Zhuとともに、清華大学でデータとベースラインを構築した。</a:t>
            </a:r>
          </a:p>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2020年にTACLで公表し、状態追跡、対話方策、自然言語理解・生成、利用者シミュレーションの評価を報告した。</a:t>
            </a:r>
          </a:p>
          <a:p>
            <a:pPr marL="457200" indent="-355600">
              <a:lnSpc>
                <a:spcPts val="2499"/>
              </a:lnSpc>
              <a:spcAft>
                <a:spcPts val="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公式リポジトリは、2021年に同期型の会話収集・注釈プラットフォームも公開している。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研究と参考文献</a:t>
            </a:r>
          </a:p>
        </p:txBody>
      </p:sp>
      <p:sp>
        <p:nvSpPr>
          <p:cNvPr id="5" name="sources"/>
          <p:cNvSpPr txBox="1"/>
          <p:nvPr/>
        </p:nvSpPr>
        <p:spPr>
          <a:xfrm>
            <a:off x="502920" y="4700016"/>
            <a:ext cx="8183879" cy="621792"/>
          </a:xfrm>
          <a:prstGeom prst="rect">
            <a:avLst/>
          </a:prstGeom>
          <a:noFill/>
        </p:spPr>
        <p:txBody>
          <a:bodyPr wrap="square" lIns="0" rIns="0" tIns="0" bIns="0">
            <a:noAutofit/>
          </a:bodyPr>
          <a:lstStyle/>
          <a:p>
            <a:pPr algn="l">
              <a:lnSpc>
                <a:spcPts val="12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Zhu et al. (2020). CrossWOZ: A Large-Scale Chinese Cross-Domain Task-Oriented Dialogue Dataset. TACL 8:281–295.</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https://aclanthology.org/2020.tacl-1.19/</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研究と参考文献</a:t>
            </a:r>
          </a:p>
        </p:txBody>
      </p:sp>
      <p:sp>
        <p:nvSpPr>
          <p:cNvPr id="4" name="文献 1: CrossWOZ: A Large-Scale Chinese Cross-Domain Task-Oriented Dialogue Dataset"/>
          <p:cNvSpPr txBox="1"/>
          <p:nvPr/>
        </p:nvSpPr>
        <p:spPr>
          <a:xfrm>
            <a:off x="548640" y="1417320"/>
            <a:ext cx="8046720" cy="1849045"/>
          </a:xfrm>
          <a:prstGeom prst="rect">
            <a:avLst/>
          </a:prstGeom>
          <a:noFill/>
        </p:spPr>
        <p:txBody>
          <a:bodyPr wrap="square" lIns="0" rIns="0" tIns="0" bIns="0">
            <a:noAutofit/>
          </a:bodyPr>
          <a:lstStyle/>
          <a:p>
            <a:pPr algn="l">
              <a:lnSpc>
                <a:spcPct val="114000"/>
              </a:lnSpc>
              <a:spcBef>
                <a:spcPts val="0"/>
              </a:spcBef>
              <a:spcAft>
                <a:spcPts val="400"/>
              </a:spcAft>
              <a:buNone/>
              <a:defRPr sz="1800" b="0">
                <a:solidFill>
                  <a:srgbClr val="303437"/>
                </a:solidFill>
                <a:latin typeface="Noto Sans"/>
              </a:defRPr>
            </a:pPr>
            <a:r>
              <a:rPr sz="1800" b="1" lang="ja-JP" altLang="en-US">
                <a:solidFill>
                  <a:srgbClr val="303437"/>
                </a:solidFill>
                <a:latin typeface="Noto Sans"/>
                <a:ea typeface="Noto Sans CJK JP"/>
                <a:cs typeface="Noto Sans"/>
              </a:rPr>
              <a:t>CrossWOZ: A Large-Scale Chinese Cross-Domain Task-Oriented Dialogue Dataset</a:t>
            </a:r>
          </a:p>
          <a:p>
            <a:pPr algn="l">
              <a:lnSpc>
                <a:spcPct val="114000"/>
              </a:lnSpc>
              <a:spcBef>
                <a:spcPts val="0"/>
              </a:spcBef>
              <a:spcAft>
                <a:spcPts val="500"/>
              </a:spcAft>
              <a:buNone/>
              <a:defRPr sz="1250" b="0">
                <a:solidFill>
                  <a:srgbClr val="303437"/>
                </a:solidFill>
                <a:latin typeface="Noto Sans"/>
              </a:defRPr>
            </a:pPr>
            <a:r>
              <a:rPr sz="1250" b="0" lang="ja-JP" altLang="en-US">
                <a:solidFill>
                  <a:srgbClr val="626669"/>
                </a:solidFill>
                <a:latin typeface="Noto Sans"/>
                <a:ea typeface="Noto Sans CJK JP"/>
                <a:cs typeface="Noto Sans"/>
              </a:rPr>
              <a:t>Qi Zhu, Kaili Huang, Zheng Zhang, Xiaoyan Zhu, Minlie Huang (2020). TACL8:281–295.</a:t>
            </a:r>
          </a:p>
          <a:p>
            <a:pPr algn="l">
              <a:lnSpc>
                <a:spcPct val="114000"/>
              </a:lnSpc>
              <a:spcBef>
                <a:spcPts val="0"/>
              </a:spcBef>
              <a:spcAft>
                <a:spcPts val="400"/>
              </a:spcAft>
              <a:buNone/>
              <a:defRPr sz="1750" b="0">
                <a:solidFill>
                  <a:srgbClr val="303437"/>
                </a:solidFill>
                <a:latin typeface="Noto Sans"/>
              </a:defRPr>
            </a:pPr>
            <a:r>
              <a:rPr sz="1750" b="0" lang="ja-JP" altLang="en-US">
                <a:solidFill>
                  <a:srgbClr val="303437"/>
                </a:solidFill>
                <a:latin typeface="Noto Sans"/>
                <a:ea typeface="Noto Sans CJK JP"/>
                <a:cs typeface="Noto Sans"/>
              </a:rPr>
              <a:t>北京の旅行案内を人間同士で収集し、領域間の依存を持つ目標、状態・行為の注釈と部品別評価を提示する。</a:t>
            </a:r>
          </a:p>
          <a:p>
            <a:pPr algn="l">
              <a:lnSpc>
                <a:spcPct val="114000"/>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hlinkClick r:id="rId2"/>
              </a:rPr>
              <a:t>https://aclanthology.org/2020.tacl-1.19/</a:t>
            </a:r>
          </a:p>
        </p:txBody>
      </p:sp>
      <p:sp>
        <p:nvSpPr>
          <p:cNvPr id="5" name="文献 2: CrossWOZ"/>
          <p:cNvSpPr txBox="1"/>
          <p:nvPr/>
        </p:nvSpPr>
        <p:spPr>
          <a:xfrm>
            <a:off x="548640" y="3248152"/>
            <a:ext cx="8046720" cy="1537057"/>
          </a:xfrm>
          <a:prstGeom prst="rect">
            <a:avLst/>
          </a:prstGeom>
          <a:noFill/>
        </p:spPr>
        <p:txBody>
          <a:bodyPr wrap="square" lIns="0" rIns="0" tIns="0" bIns="0">
            <a:noAutofit/>
          </a:bodyPr>
          <a:lstStyle/>
          <a:p>
            <a:pPr algn="l">
              <a:lnSpc>
                <a:spcPct val="114000"/>
              </a:lnSpc>
              <a:spcBef>
                <a:spcPts val="0"/>
              </a:spcBef>
              <a:spcAft>
                <a:spcPts val="400"/>
              </a:spcAft>
              <a:buNone/>
              <a:defRPr sz="1800" b="0">
                <a:solidFill>
                  <a:srgbClr val="303437"/>
                </a:solidFill>
                <a:latin typeface="Noto Sans"/>
              </a:defRPr>
            </a:pPr>
            <a:r>
              <a:rPr sz="1800" b="1" lang="ja-JP" altLang="en-US">
                <a:solidFill>
                  <a:srgbClr val="303437"/>
                </a:solidFill>
                <a:latin typeface="Noto Sans"/>
                <a:ea typeface="Noto Sans CJK JP"/>
                <a:cs typeface="Noto Sans"/>
              </a:rPr>
              <a:t>CrossWOZ</a:t>
            </a:r>
          </a:p>
          <a:p>
            <a:pPr algn="l">
              <a:lnSpc>
                <a:spcPct val="114000"/>
              </a:lnSpc>
              <a:spcBef>
                <a:spcPts val="0"/>
              </a:spcBef>
              <a:spcAft>
                <a:spcPts val="500"/>
              </a:spcAft>
              <a:buNone/>
              <a:defRPr sz="1250" b="0">
                <a:solidFill>
                  <a:srgbClr val="303437"/>
                </a:solidFill>
                <a:latin typeface="Noto Sans"/>
              </a:defRPr>
            </a:pPr>
            <a:r>
              <a:rPr sz="1250" b="0" lang="ja-JP" altLang="en-US">
                <a:solidFill>
                  <a:srgbClr val="626669"/>
                </a:solidFill>
                <a:latin typeface="Noto Sans"/>
                <a:ea typeface="Noto Sans CJK JP"/>
                <a:cs typeface="Noto Sans"/>
              </a:rPr>
              <a:t>Qi Zhu et al. 公式リポジトリ。固定commit df82c9fd。</a:t>
            </a:r>
          </a:p>
          <a:p>
            <a:pPr algn="l">
              <a:lnSpc>
                <a:spcPct val="114000"/>
              </a:lnSpc>
              <a:spcBef>
                <a:spcPts val="0"/>
              </a:spcBef>
              <a:spcAft>
                <a:spcPts val="400"/>
              </a:spcAft>
              <a:buNone/>
              <a:defRPr sz="1750" b="0">
                <a:solidFill>
                  <a:srgbClr val="303437"/>
                </a:solidFill>
                <a:latin typeface="Noto Sans"/>
              </a:defRPr>
            </a:pPr>
            <a:r>
              <a:rPr sz="1750" b="0" lang="ja-JP" altLang="en-US">
                <a:solidFill>
                  <a:srgbClr val="303437"/>
                </a:solidFill>
                <a:latin typeface="Noto Sans"/>
                <a:ea typeface="Noto Sans CJK JP"/>
                <a:cs typeface="Noto Sans"/>
              </a:rPr>
              <a:t>対話3分割、施設DB、状態追跡や方策・生成のコード、収集プラットフォームを配布する。</a:t>
            </a:r>
          </a:p>
          <a:p>
            <a:pPr algn="l">
              <a:lnSpc>
                <a:spcPct val="114000"/>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hlinkClick r:id="rId3"/>
              </a:rPr>
              <a:t>https://github.com/thu-coai/CrossWOZ</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研究と参考文献</a:t>
            </a:r>
          </a:p>
        </p:txBody>
      </p:sp>
      <p:sp>
        <p:nvSpPr>
          <p:cNvPr id="4" name="文献 1: CLEVA: Chinese Language Models EVAluation Platform"/>
          <p:cNvSpPr txBox="1"/>
          <p:nvPr/>
        </p:nvSpPr>
        <p:spPr>
          <a:xfrm>
            <a:off x="548640" y="1417320"/>
            <a:ext cx="8046720" cy="1233451"/>
          </a:xfrm>
          <a:prstGeom prst="rect">
            <a:avLst/>
          </a:prstGeom>
          <a:noFill/>
        </p:spPr>
        <p:txBody>
          <a:bodyPr wrap="square" lIns="0" rIns="0" tIns="0" bIns="0">
            <a:noAutofit/>
          </a:bodyPr>
          <a:lstStyle/>
          <a:p>
            <a:pPr algn="l">
              <a:lnSpc>
                <a:spcPct val="114000"/>
              </a:lnSpc>
              <a:spcBef>
                <a:spcPts val="0"/>
              </a:spcBef>
              <a:spcAft>
                <a:spcPts val="400"/>
              </a:spcAft>
              <a:buNone/>
              <a:defRPr sz="1800" b="0">
                <a:solidFill>
                  <a:srgbClr val="303437"/>
                </a:solidFill>
                <a:latin typeface="Noto Sans"/>
              </a:defRPr>
            </a:pPr>
            <a:r>
              <a:rPr sz="1800" b="1" lang="ja-JP" altLang="en-US">
                <a:solidFill>
                  <a:srgbClr val="303437"/>
                </a:solidFill>
                <a:latin typeface="Noto Sans"/>
                <a:ea typeface="Noto Sans CJK JP"/>
                <a:cs typeface="Noto Sans"/>
              </a:rPr>
              <a:t>CLEVA: Chinese Language Models EVAluation Platform</a:t>
            </a:r>
          </a:p>
          <a:p>
            <a:pPr algn="l">
              <a:lnSpc>
                <a:spcPct val="114000"/>
              </a:lnSpc>
              <a:spcBef>
                <a:spcPts val="0"/>
              </a:spcBef>
              <a:spcAft>
                <a:spcPts val="500"/>
              </a:spcAft>
              <a:buNone/>
              <a:defRPr sz="1250" b="0">
                <a:solidFill>
                  <a:srgbClr val="303437"/>
                </a:solidFill>
                <a:latin typeface="Noto Sans"/>
              </a:defRPr>
            </a:pPr>
            <a:r>
              <a:rPr sz="1250" b="0" lang="ja-JP" altLang="en-US">
                <a:solidFill>
                  <a:srgbClr val="626669"/>
                </a:solidFill>
                <a:latin typeface="Noto Sans"/>
                <a:ea typeface="Noto Sans CJK JP"/>
                <a:cs typeface="Noto Sans"/>
              </a:rPr>
              <a:t>Yanyang Li, Jianqiao Zhao et al. (2023). EMNLP System Demonstrations, pp.186–217.</a:t>
            </a:r>
          </a:p>
          <a:p>
            <a:pPr algn="l">
              <a:lnSpc>
                <a:spcPct val="114000"/>
              </a:lnSpc>
              <a:spcBef>
                <a:spcPts val="0"/>
              </a:spcBef>
              <a:spcAft>
                <a:spcPts val="400"/>
              </a:spcAft>
              <a:buNone/>
              <a:defRPr sz="1750" b="0">
                <a:solidFill>
                  <a:srgbClr val="303437"/>
                </a:solidFill>
                <a:latin typeface="Noto Sans"/>
              </a:defRPr>
            </a:pPr>
            <a:r>
              <a:rPr sz="1750" b="0" lang="ja-JP" altLang="en-US">
                <a:solidFill>
                  <a:srgbClr val="303437"/>
                </a:solidFill>
                <a:latin typeface="Noto Sans"/>
                <a:ea typeface="Noto Sans CJK JP"/>
                <a:cs typeface="Noto Sans"/>
              </a:rPr>
              <a:t>中国語評価の基盤を提案し、CrossWOZを対話生成の採用元として説明する。</a:t>
            </a:r>
          </a:p>
          <a:p>
            <a:pPr algn="l">
              <a:lnSpc>
                <a:spcPct val="114000"/>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hlinkClick r:id="rId2"/>
              </a:rPr>
              <a:t>https://aclanthology.org/2023.emnlp-demo.17/</a:t>
            </a:r>
          </a:p>
        </p:txBody>
      </p:sp>
      <p:sp>
        <p:nvSpPr>
          <p:cNvPr id="5" name="文献 2: CLEVA Scenario and v1 Run Configuration"/>
          <p:cNvSpPr txBox="1"/>
          <p:nvPr/>
        </p:nvSpPr>
        <p:spPr>
          <a:xfrm>
            <a:off x="548640" y="2734183"/>
            <a:ext cx="8046720" cy="1536587"/>
          </a:xfrm>
          <a:prstGeom prst="rect">
            <a:avLst/>
          </a:prstGeom>
          <a:noFill/>
        </p:spPr>
        <p:txBody>
          <a:bodyPr wrap="square" lIns="0" rIns="0" tIns="0" bIns="0">
            <a:noAutofit/>
          </a:bodyPr>
          <a:lstStyle/>
          <a:p>
            <a:pPr algn="l">
              <a:lnSpc>
                <a:spcPct val="114000"/>
              </a:lnSpc>
              <a:spcBef>
                <a:spcPts val="0"/>
              </a:spcBef>
              <a:spcAft>
                <a:spcPts val="400"/>
              </a:spcAft>
              <a:buNone/>
              <a:defRPr sz="1800" b="0">
                <a:solidFill>
                  <a:srgbClr val="303437"/>
                </a:solidFill>
                <a:latin typeface="Noto Sans"/>
              </a:defRPr>
            </a:pPr>
            <a:r>
              <a:rPr sz="1800" b="1" lang="ja-JP" altLang="en-US">
                <a:solidFill>
                  <a:srgbClr val="303437"/>
                </a:solidFill>
                <a:latin typeface="Noto Sans"/>
                <a:ea typeface="Noto Sans CJK JP"/>
                <a:cs typeface="Noto Sans"/>
              </a:rPr>
              <a:t>CLEVA Scenario and v1 Run Configuration</a:t>
            </a:r>
          </a:p>
          <a:p>
            <a:pPr algn="l">
              <a:lnSpc>
                <a:spcPct val="114000"/>
              </a:lnSpc>
              <a:spcBef>
                <a:spcPts val="0"/>
              </a:spcBef>
              <a:spcAft>
                <a:spcPts val="500"/>
              </a:spcAft>
              <a:buNone/>
              <a:defRPr sz="1250" b="0">
                <a:solidFill>
                  <a:srgbClr val="303437"/>
                </a:solidFill>
                <a:latin typeface="Noto Sans"/>
              </a:defRPr>
            </a:pPr>
            <a:r>
              <a:rPr sz="1250" b="0" lang="ja-JP" altLang="en-US">
                <a:solidFill>
                  <a:srgbClr val="626669"/>
                </a:solidFill>
                <a:latin typeface="Noto Sans"/>
                <a:ea typeface="Noto Sans CJK JP"/>
                <a:cs typeface="Noto Sans"/>
              </a:rPr>
              <a:t>Stanford CRFM (2023). HELM v0.4.0.</a:t>
            </a:r>
          </a:p>
          <a:p>
            <a:pPr algn="l">
              <a:lnSpc>
                <a:spcPct val="114000"/>
              </a:lnSpc>
              <a:spcBef>
                <a:spcPts val="0"/>
              </a:spcBef>
              <a:spcAft>
                <a:spcPts val="400"/>
              </a:spcAft>
              <a:buNone/>
              <a:defRPr sz="1750" b="0">
                <a:solidFill>
                  <a:srgbClr val="303437"/>
                </a:solidFill>
                <a:latin typeface="Noto Sans"/>
              </a:defRPr>
            </a:pPr>
            <a:r>
              <a:rPr sz="1750" b="0" lang="ja-JP" altLang="en-US">
                <a:solidFill>
                  <a:srgbClr val="303437"/>
                </a:solidFill>
                <a:latin typeface="Noto Sans"/>
                <a:ea typeface="Noto Sans CJK JP"/>
                <a:cs typeface="Noto Sans"/>
              </a:rPr>
              <a:t>履歴からsys応答を作る変換、入力テンプレート、下位課題とプロンプトの固定設定を定める。</a:t>
            </a:r>
          </a:p>
          <a:p>
            <a:pPr algn="l">
              <a:lnSpc>
                <a:spcPct val="114000"/>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hlinkClick r:id="rId3"/>
              </a:rPr>
              <a:t>https://github.com/stanford-crfm/helm/blob/v0.4.0/src/helm/benchmark/scenarios/cleva_scenario.py</a:t>
            </a:r>
          </a:p>
        </p:txBody>
      </p:sp>
    </p:spTree>
  </p:cSld>
  <p:clrMapOvr>
    <a:masterClrMapping/>
  </p:clrMapOvr>
</p:sld>
</file>

<file path=ppt/theme/theme1.xml><?xml version="1.0" encoding="utf-8"?>
<a:theme xmlns:a="http://schemas.openxmlformats.org/drawingml/2006/main" name="Simple Light">
  <a:themeElements>
    <a:clrScheme name="IARTEM Research Palette">
      <a:dk1>
        <a:srgbClr val="303437"/>
      </a:dk1>
      <a:lt1>
        <a:srgbClr val="FFFEF8"/>
      </a:lt1>
      <a:dk2>
        <a:srgbClr val="626669"/>
      </a:dk2>
      <a:lt2>
        <a:srgbClr val="EBEDEB"/>
      </a:lt2>
      <a:accent1>
        <a:srgbClr val="B13731"/>
      </a:accent1>
      <a:accent2>
        <a:srgbClr val="2C9100"/>
      </a:accent2>
      <a:accent3>
        <a:srgbClr val="2166AC"/>
      </a:accent3>
      <a:accent4>
        <a:srgbClr val="B84A00"/>
      </a:accent4>
      <a:accent5>
        <a:srgbClr val="007C91"/>
      </a:accent5>
      <a:accent6>
        <a:srgbClr val="763DA0"/>
      </a:accent6>
      <a:hlink>
        <a:srgbClr val="3F6F8F"/>
      </a:hlink>
      <a:folHlink>
        <a:srgbClr val="7A5C8E"/>
      </a:folHlink>
    </a:clrScheme>
    <a:fontScheme name="Office">
      <a:majorFont>
        <a:latin typeface="Noto Sans"/>
        <a:ea typeface="Noto Sans CJK JP"/>
        <a:cs typeface="Noto Sans"/>
        <a:font script="Jpan" typeface="Noto Sans CJK JP"/>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Noto Sans"/>
        <a:ea typeface="Noto Sans CJK JP"/>
        <a:cs typeface="Noto Sans"/>
        <a:font script="Jpan" typeface="Noto Sans CJK JP"/>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EA7E97F-3A5A-9342-98CB-7411DADE8916}">
  <we:reference id="wa200010215" version="2.0.0.0" store="ja-JP" storeType="OMEX"/>
  <we:alternateReferences>
    <we:reference id="WA200010215" version="2.0.0.0" store="WA200010215" storeType="OMEX"/>
  </we:alternateReferences>
  <we:properties>
    <we:property name="bps.codex_control.document_id" value="&quot;f3f6bd8f-7a20-4dbe-a71e-f9942711a911&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13685</TotalTime>
  <Words>14</Words>
  <Application>Microsoft Macintosh PowerPoint</Application>
  <PresentationFormat>画面に合わせる (16:9)</PresentationFormat>
  <Paragraphs>3</Paragraphs>
  <Slides>8</Slides>
  <Notes>0</Notes>
  <HiddenSlides>0</HiddenSlides>
  <MMClips>0</MMClips>
  <ScaleCrop>false</ScaleCrop>
  <HeadingPairs>
    <vt:vector size="6" baseType="variant">
      <vt:variant>
        <vt:lpstr>使用されているフォント</vt:lpstr>
      </vt:variant>
      <vt:variant>
        <vt:i4>1</vt:i4>
      </vt:variant>
      <vt:variant>
        <vt:lpstr>テーマ</vt:lpstr>
      </vt:variant>
      <vt:variant>
        <vt:i4>1</vt:i4>
      </vt:variant>
      <vt:variant>
        <vt:lpstr>スライド タイトル</vt:lpstr>
      </vt:variant>
      <vt:variant>
        <vt:i4>8</vt:i4>
      </vt:variant>
    </vt:vector>
  </HeadingPairs>
  <TitlesOfParts>
    <vt:vector size="10" baseType="lpstr">
      <vt:lpstr>Arial</vt:lpstr>
      <vt:lpstr>Simple Light</vt:lpstr>
      <vt:lpstr>Developing and Applying a Systematic Classification Framework</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Bottom-right caption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sasakiy84</cp:lastModifiedBy>
  <cp:revision>500</cp:revision>
  <dcterms:modified xsi:type="dcterms:W3CDTF">2026-10-18T09:49:49Z</dcterms:modified>
  <dc:title>crosswoz</dc:title>
  <dc:creator>sasakiy84</dc:creator>
  <dcterms:created xsi:type="dcterms:W3CDTF">2026-10-18T09:49:49Z</dcterms:created>
  <dc:language>ja-JP</dc:language>
</cp:coreProperties>
</file>