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327" r:id="rId74"/>
    <p:sldId id="328" r:id="rId75"/>
    <p:sldId id="275" r:id="rId25"/>
    <p:sldId id="329" r:id="rId76"/>
    <p:sldId id="276" r:id="rId26"/>
    <p:sldId id="277" r:id="rId27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  <p:sldId id="325" r:id="rId72"/>
    <p:sldId id="326" r:id="rId7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9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2" Type="http://schemas.openxmlformats.org/officeDocument/2006/relationships/slide" Target="slides/slide73.xml"/><Relationship Id="rId73" Type="http://schemas.openxmlformats.org/officeDocument/2006/relationships/slide" Target="slides/slide74.xml"/><Relationship Id="rId74" Type="http://schemas.openxmlformats.org/officeDocument/2006/relationships/slide" Target="slides/slide27.xml"/><Relationship Id="rId75" Type="http://schemas.openxmlformats.org/officeDocument/2006/relationships/slide" Target="slides/slide28.xml"/><Relationship Id="rId76" Type="http://schemas.openxmlformats.org/officeDocument/2006/relationships/slide" Target="slides/slide30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-mmlab/mmaction2/tree/main/tools/data/ucf101" TargetMode="External"/><Relationship Id="rId3" Type="http://schemas.openxmlformats.org/officeDocument/2006/relationships/hyperlink" Target="https://arxiv.org/abs/1705.06950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6.04261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28800"/>
            <a:ext cx="8229600" cy="82296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5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</a:t>
            </a:r>
            <a:endParaRPr sz="5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3200" lang="ja-JP">
                <a:latin typeface="Noto Sans"/>
                <a:ea typeface="Noto Sans CJK JP"/>
                <a:cs typeface="Noto Sans"/>
              </a:defRPr>
            </a:pPr>
            <a:r>
              <a:rPr sz="3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行動分類と動画の構造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成立の背景と収集・規模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評価方法とモデル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利用の変遷と関連データ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入手方法とまとめ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1 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原著Figure 2の分類と分割リストの全件集計.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型・カテゴリ・グループ・クリップを区別する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§2.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2 成立の背景と収集・規模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YouTubeから動画をダウンロードし、収集する行動カテゴリに該当しない動画を人手で除去した。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fps）へ統一し、動画ファイル形式AVIでカテゴリ別に配布した。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§2–4.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49832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6355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Table 1.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6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6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それ以外の18グループを学習用に使う。各分割で学習とテストのグループは重ならない。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成立の背景と収集・規模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各分割の合計は13,320。各カテゴリで同じグループが学習とテストへまたがらない。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3 評価方法とモデル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公式の3分割では、それぞれ別の学習用で学習し、対応するテスト用で評価する。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3分割の平均は、分割ごとの正解率を平均した値である。1分割の結果や、別の交差検証による結果と区別する。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平均正解率は44.5%。後の3分割評価とは評価条件が異なる。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§3–4.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3 評価方法とモデル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ゼロショットではUCF101による学習を行わず、映像と行動名の対応などから予測する。これらは学習に使う情報が異なる評価方式である。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3 評価方法とモデル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2017年のI3Dは2種類の入力を組み合わせた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ImageNetとKineticsで事前学習し、UCF101で微調整した。公式3分割の平均。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&amp; Zisserman (2017), CVPR, Table 5.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3 評価方法とモデル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ViTは、画像や映像を小さな領域に分け、その間の関係をTransformerで扱うモデルである。表のViT-Bは基本サイズを表す。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どちらもUCF101で微調整した報告値。映像の隠した部分を復元するVideoMAEを使う。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(2022), NeurIPS, Table 13.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2024年には映像特徴の評価にも使われた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特徴を固定し、UCF101の学習用で線形分類器を学習する。特徴モデルの事前学習条件は異なる。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(2024), InternVideo2, Table 4.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高い正解率だけで時間順序の理解は示せない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評価方法とモデル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映像には、行動の動きだけでなく物体や背景も写る。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行動分類の正解率と、動作の順序や細かな変化を理解できるかを分けて評価する。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(2024), InternVideo2, Table 4.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利用の変遷と関連データ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4 利用の変遷と関連データ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利用の変遷と関連データ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4 利用の変遷と関連データ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現在は小規模な転移先や再現実験にも使われる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利用の変遷と関連データ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登場時は、自然な映像の多クラス行動認識を評価する資源だった。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その後は、Kineticsなどで学んだ動画モデルの転移先にも使われた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2024年のInternVideo2も、線形分類・ゼロショット評価に用いた。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2026年時点でも、MMAction2にはUCF101の取得・前処理・評価用ファイルを作る手順がある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&amp; Zisserman (2017).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Wang et al. (2024).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MMAction2のUCF101手順.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5 入手方法とまとめ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利用条件は公式配布元で確認する。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UCF101公式配布元.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https://www.crcv.ucf.edu/data/UCF101.php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MMAction2のUCF101手順.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5 入手方法とまとめ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同じ背景や人物を共有するグループを単位に分割する。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正解率を比較するときは、分割・事前学習・評価方式をそろえる。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38848"/>
            <a:ext cx="8229600" cy="731520"/>
          </a:xfrm>
        </p:spPr>
        <p:txBody>
          <a:bodyPr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91440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追加の行動例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101カテゴリの一覧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本数とグループの統計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評価の補足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入手と集計のコード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2012年の技術報告として発表された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著者と発表先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表紙・参考文献 [9–10].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6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型の区分は原著Figure 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型の区分は原著Figure 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型の区分は原著Figure 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型の区分は原著Figure 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型の区分は原著Figure 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型の区分は原著Figure 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型の区分は原著Figure 2.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395528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原著Figure 2の型と配布リストの集計.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原著では行動の型によって成績が異なった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§3. 25グループの交差検証.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16863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1929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UCF101で微調整せず、行動名と映像を照合する。事前学習・入力フレーム数は手法で異なる。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(2024), Table 5.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入手と集計のコード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入手と集計のコード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公式配布元.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https://www.crcv.ucf.edu/data/UCF101.php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配布URLはMMAction2の取得手順に基づく.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84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4825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6547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84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4825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6547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https://arxiv.org/abs/1406.2199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7345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725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4157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5879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https://arxiv.org/abs/1608.00859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84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4825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6547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7345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7256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4731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6453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0817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8249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99716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45536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47872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439412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008376"/>
            <a:ext cx="7955279" cy="8890"/>
          </a:xfrm>
          <a:prstGeom prst="rect">
            <a:avLst/>
          </a:prstGeom>
          <a:solidFill>
            <a:srgbClr val="A9A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05840"/>
            <a:ext cx="7955279" cy="7345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7256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4157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58795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45536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47872"/>
            <a:ext cx="7955279" cy="315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3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439412"/>
            <a:ext cx="7955279" cy="284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150" b="0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008376"/>
            <a:ext cx="7955279" cy="8890"/>
          </a:xfrm>
          <a:prstGeom prst="rect">
            <a:avLst/>
          </a:prstGeom>
          <a:solidFill>
            <a:srgbClr val="A9A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