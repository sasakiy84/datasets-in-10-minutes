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318" r:id="rId68"/>
    <p:sldId id="267" r:id="rId17"/>
    <p:sldId id="268" r:id="rId18"/>
    <p:sldId id="269" r:id="rId19"/>
    <p:sldId id="270" r:id="rId20"/>
    <p:sldId id="316" r:id="rId66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19" r:id="rId69"/>
    <p:sldId id="306" r:id="rId56"/>
    <p:sldId id="317" r:id="rId67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20" r:id="rId7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6" Type="http://schemas.openxmlformats.org/officeDocument/2006/relationships/slide" Target="slides/slide53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17.xml"/><Relationship Id="rId67" Type="http://schemas.openxmlformats.org/officeDocument/2006/relationships/slide" Target="slides/slide54.xml"/><Relationship Id="rId68" Type="http://schemas.openxmlformats.org/officeDocument/2006/relationships/slide" Target="slides/slide12.xml"/><Relationship Id="rId69" Type="http://schemas.openxmlformats.org/officeDocument/2006/relationships/slide" Target="slides/slide52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ja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ja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68600" y="2263650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200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ts val="2000"/>
              <a:buChar char="■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7245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■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ts val="2200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■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ts val="2000"/>
        <a:buChar char="■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2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image" Target="../media/image2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image" Target="../media/image2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image" Target="../media/image3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image" Target="../media/image3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3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Relationship Id="rId3" Type="http://schemas.openxmlformats.org/officeDocument/2006/relationships/image" Target="../media/image3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8229600" cy="822960"/>
          </a:xfrm>
        </p:spPr>
        <p:txBody>
          <a:bodyPr wrap="squar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800" lang="ja-JP">
                <a:latin typeface="Noto Sans"/>
                <a:ea typeface="Noto Sans CJK JP"/>
                <a:cs typeface="Noto Sans"/>
              </a:defRPr>
            </a:pPr>
            <a:r>
              <a:rPr sz="5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</a:t>
            </a:r>
            <a:endParaRPr sz="5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 anchor="t"/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046720" cy="27432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(2026-10-15)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3200" lang="ja-JP">
                <a:latin typeface="Noto Sans"/>
                <a:ea typeface="Noto Sans CJK JP"/>
                <a:cs typeface="Noto Sans"/>
              </a:defRPr>
            </a:pPr>
            <a:r>
              <a:rPr sz="3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動画の行動認識用データセット</a:t>
            </a:r>
            <a:endParaRPr sz="3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600" lang="ja-JP">
                <a:latin typeface="Noto Sans"/>
                <a:ea typeface="Noto Sans CJK JP"/>
                <a:cs typeface="Noto Sans"/>
              </a:defRPr>
            </a:pPr>
            <a:r>
              <a:rPr sz="1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UCF101: A Dataset of 101 Human Actions Classes From Videos in The Wild</a:t>
            </a:r>
            <a:endParaRPr sz="160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本編の構成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UCF101の構成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1"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概要とタスク</a:t>
            </a:r>
            <a:endParaRPr sz="28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2"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作成方法と規模</a:t>
            </a:r>
            <a:endParaRPr sz="28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3"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評価とモデルの性能</a:t>
            </a:r>
            <a:endParaRPr sz="28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4"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利用の変遷と現在</a:t>
            </a:r>
            <a:endParaRPr sz="28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5"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入手方法とまとめ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Noto Sans"/>
                <a:ea typeface="Noto Sans CJK JP"/>
                <a:cs typeface="Noto Sans"/>
              </a:defRPr>
            </a:pPr>
            <a:r>
              <a:rPr sz="4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概要とタスク</a:t>
            </a:r>
            <a:endParaRPr sz="4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UCF101の原著の公開ページ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UCF101の概要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4" name="Picture 3" descr="paper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1620"/>
            <a:ext cx="8046720" cy="3017520"/>
          </a:xfrm>
          <a:prstGeom prst="rect">
            <a:avLst/>
          </a:prstGeom>
        </p:spPr>
      </p:pic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動画クリップを101種類の行動へ分類する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UCF101の概要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UCF101は動画の行動認識用データセット </a:t>
            </a: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入力は短い動画クリップで、正解は1つの行動カテゴリ。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スポーツ、楽器の演奏、日常動作などを含む。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2012年に公開され、YouTubeから集めた13,320クリップを収録した。</a:t>
            </a:r>
            <a:endParaRPr sz="23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Soomro et al. (2012), §1–2.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クリケットの打撃（CricketShot）の例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UCF101の行動認識の実例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lookup-sources"/>
          <p:cNvSpPr txBox="1"/>
          <p:nvPr/>
        </p:nvSpPr>
        <p:spPr>
          <a:xfrm>
            <a:off x="502920" y="48463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https://github.com/google-deepmind/kinetics-i3d　v_CricketShot_g04_c01.avi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1.56秒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3.12秒</a:t>
            </a:r>
          </a:p>
        </p:txBody>
      </p:sp>
      <p:pic>
        <p:nvPicPr>
          <p:cNvPr id="12" name="Picture 11" descr="main-cr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目元の化粧（ApplyEyeMakeup）の例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UCF101の行動認識の実例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ApplyEyeMakeup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0.04秒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3.28秒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6.52秒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v_ApplyEyeMakeup_g01_c01.avi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逆立ち歩き（HandstandWalking）の例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UCF101の行動認識の実例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HandstandWalking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2.16秒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4.32秒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v_HandstandWalking_g01_c01.avi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774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多様な行動を自然な映像で評価するために作られた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UCF101の開発背景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当時の行動認識データはカテゴリ数が少なかった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統制された環境で撮影した映像では、背景や撮影条件の変動が限られた。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そこでYouTubeの映像を集め、カメラの動き、遮蔽、背景の混雑を含む行動認識を評価する。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UCF50の50行動から101行動へ、カテゴリ数を約2倍に広げた。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Soomro et al. (2012), §1–2.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Noto Sans"/>
                <a:ea typeface="Noto Sans CJK JP"/>
                <a:cs typeface="Noto Sans"/>
              </a:defRPr>
            </a:pPr>
            <a:r>
              <a:rPr sz="4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 作成方法と規模</a:t>
            </a:r>
            <a:endParaRPr sz="4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行動カテゴリと無関係な動画を除いて収集した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UCF101の作成方法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YouTubeから動画をダウンロードした </a:t>
            </a: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収集する行動カテゴリに該当しない動画を、人手で除去した。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動画を320×240ピクセル・25 fpsへ統一した。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カテゴリごとにフォルダを分け、AVI形式で配布した。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追加した51行動の動画では音声も保持した。</a:t>
            </a:r>
            <a:endParaRPr sz="23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Soomro et al. (2012), §2 / Table 1.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型・カテゴリ・グループ・クリップを区別する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UCF101のデータの単位</a:t>
            </a: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480560"/>
                <a:gridCol w="2286000"/>
              </a:tblGrid>
              <a:tr h="502920"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単位 [1]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何を表すか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具体例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型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カテゴリの大区分。全5種類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スポーツ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カテゴリ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全101種類の行動ラベル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CricketShot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850392"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グループ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9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撮影場所や人物などが似た動画のまとまり。各カテゴリに25組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CricketShotのg04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クリップ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1本の動画。各グループに4〜7本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g04のc01</a:t>
                      </a:r>
                    </a:p>
                  </a:txBody>
                  <a:tcPr marL="38100" marR="381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lookup-sources"/>
          <p:cNvSpPr txBox="1"/>
          <p:nvPr/>
        </p:nvSpPr>
        <p:spPr>
          <a:xfrm>
            <a:off x="502920" y="486460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Soomro et al. (2012), §2. https://arxiv.org/abs/1212.0402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撮影条件の似たクリップをグループにまとめる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UCF101のグループ設計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各行動カテゴリには25グループがある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1グループには、撮影場所や映る人物、カメラの視点などが似た4〜7クリップをまとめる。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ファイル名のg04はグループ番号、c01はグループ内のクリップ番号。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近い映像が学習とテストの両方に入ることを避けるため、グループ単位で分ける。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Soomro et al. (2012), §2–4.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101種類の行動は5つの型に整理されている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UCF101のカテゴリの見取り図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554480"/>
                <a:gridCol w="2377440"/>
              </a:tblGrid>
              <a:tr h="402336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行動の型 </a:t>
                      </a: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[1]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カテゴリ数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クリップ数 </a:t>
                      </a: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[2]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人と物との相互作用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2619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身体の動き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1910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人と人との相互作用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690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楽器の演奏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1428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スポーツ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6673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原著Figure 2の分類と分割リストの全件集計.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https://github.com/yjxiong/temporal-segment-networks/tree/master/data/ucf101_splits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平均7.21秒の13,320クリップを収録する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UCF101の規模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101カテゴリ、13,320クリップを収録する [1]。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平均クリップ長は7.21秒、総時間は1,600分。映像は25 fps、320×240ピクセル。</a:t>
            </a: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動画をまとめた圧縮ZIPは約7 GB [3]。</a:t>
            </a: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25グループ×101カテゴリで計2,525グループ [2]。</a:t>
            </a:r>
          </a:p>
          <a:p>
            <a:pPr algn="l" lvl="0" marL="457200" indent="-355600">
              <a:buSzPts val="2000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1本の動画に1つの行動ラベルが付く。</a:t>
            </a:r>
          </a:p>
        </p:txBody>
      </p:sp>
      <p:sp>
        <p:nvSpPr>
          <p:cNvPr id="5" name="lookup-sources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Soomro et al. (2012), Table 1. https://arxiv.org/abs/1212.0402
[2] グループ数は分割リストの集計. https://github.com/yjxiong/temporal-segment-networks/tree/master/data/ucf101_splits
[3] ZIPは6,960,400,115 bytes. https://github.com/tensorflow/datasets/blob/master/tensorflow_datasets/url_checksums/ucf101.txt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カテゴリ当たりのクリップ数の中央値は131本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UCF101のカテゴリ別の本数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4" name="Picture 3" descr="ucf-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0467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169663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全101カテゴリ。最少は100本、最多は167本 [1]。</a:t>
            </a:r>
          </a:p>
        </p:txBody>
      </p:sp>
      <p:sp>
        <p:nvSpPr>
          <p:cNvPr id="6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13,320クリップをカテゴリ別に集計. https://github.com/yjxiong/temporal-segment-networks/tree/master/data/ucf101_splits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110本未満のカテゴリは10種類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UCF101のカテゴリ別の本数</a:t>
            </a: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13,320クリップをカテゴリ別に集計. https://github.com/yjxiong/temporal-segment-networks/tree/master/data/ucf101_splits</a:t>
            </a:r>
          </a:p>
        </p:txBody>
      </p:sp>
      <p:pic>
        <p:nvPicPr>
          <p:cNvPr id="6" name="Picture 5" descr="ucf-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7592"/>
            <a:ext cx="804672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3つの分割で学習用とテスト用を入れ替える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UCF101の評価用分割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286000"/>
                <a:gridCol w="2286000"/>
              </a:tblGrid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 </a:t>
                      </a: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[1]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学習用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テスト用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split 1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9,537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3,783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split 2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9,586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3,734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split 3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9,624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3,696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95020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各分割の合計は13,320。各カテゴリで同じグループが学習とテストへまたがらない。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配布分割リストの集計. https://github.com/yjxiong/temporal-segment-networks/tree/master/data/ucf101_splits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Noto Sans"/>
                <a:ea typeface="Noto Sans CJK JP"/>
                <a:cs typeface="Noto Sans"/>
              </a:defRPr>
            </a:pPr>
            <a:r>
              <a:rPr sz="4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評価とモデルの性能</a:t>
            </a:r>
            <a:endParaRPr sz="4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正解率は動画ごとの正解を全体で平均する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UCF101の評価方法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最上位の予測が正解カテゴリと一致した動画を正解とする。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正解率は、正解した動画数を評価した動画数で割り、百分率にする。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3動画中2動画が正解なら、正解率は66.7%となる。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公式の3分割を使う評価では、分割ごとの値とその平均を区別する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Carreira &amp; Zisserman (2017), §4 / Table 5. https://arxiv.org/abs/1705.07750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2012年の原著の正解率は44.5%だった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UCF101の登場時の性能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原著は局所的な動きと見た目を特徴量にして、映像を特徴の出現頻度で表した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分類にはサポートベクトルマシンを使った。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25グループのうち1グループをテストにし、25回入れ替える交差検証を行った。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平均正解率は44.5%。後の3分割評価とは評価条件が異なる。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Soomro et al. (2012), §3–4.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2017年のI3Dは2種類の入力を組み合わせた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UCF101と動画モデルの発展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I3Dの入力 </a:t>
                      </a: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[1]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Top-1正解率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RGB画像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95.6%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フレーム間の動きを表す光学フロー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96.7%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RGB画像と光学フロー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98.0%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69417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ImageNetとKineticsで事前学習し、UCF101で微調整した。公式3分割の平均。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Carreira &amp; Zisserman (2017), CVPR, Table 5. https://arxiv.org/abs/1705.07750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VideoMAEの結果は事前学習データで変わる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UCF101の自己教師あり学習への利用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</a:tblGrid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ViT-Bの事前学習データ </a:t>
                      </a: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[1]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Top-1正解率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UCF101のみ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91.3%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Kinetics-400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96.1%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38328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どちらもUCF101で微調整した報告値。映像の隠した部分を復元するVideoMAEを使う。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Tong et al. (2022), NeurIPS, Table 13. https://arxiv.org/abs/2203.12602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2024年には映像特徴の評価にも使われた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UCF101の近年の利用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</a:tblGrid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固定する特徴モデル </a:t>
                      </a: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[1]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Top-1正解率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DINOv2-g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91.2%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TVTSv2-H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91.8%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InternVideo2 第2段階・6B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97.3%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95020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特徴を固定し、UCF101の学習用で線形分類器を学習する。特徴モデルの事前学習条件は異なる。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Wang et al. (2024), InternVideo2, Table 4. https://arxiv.org/abs/2403.15377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高い正解率だけで時間順序の理解は示せない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UCF101の測れる範囲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映像には、行動の動きだけでなく物体や背景も写る。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背景や道具だけでも、行動カテゴリの手がかりになりうる。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2024年の比較では画像特徴モデルDINOv2を使う方式も91.2%だった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行動分類の正解率と、動作の順序や細かな変化を理解できるかを分けて評価する。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Wang et al. (2024), InternVideo2, Table 4. https://arxiv.org/abs/2403.15377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Noto Sans"/>
                <a:ea typeface="Noto Sans CJK JP"/>
                <a:cs typeface="Noto Sans"/>
              </a:defRPr>
            </a:pPr>
            <a:r>
              <a:rPr sz="4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 利用の変遷と現在</a:t>
            </a:r>
            <a:endParaRPr sz="4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先行データより多くの行動と撮影条件を扱った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UCF101の先行データとの違い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先行するKTHは、同じ撮影条件で6行動を扱った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これに対してUCF101は、YouTubeの自然な映像で101種類を扱う。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また、映画などから集めたHMDB51は51種類だった。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UCF101は約2倍の行動カテゴリを設け、より多くの種類を区別する評価へ広げた。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Soomro et al. (2012), §1 / Table 2.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後続データでは規模と動作の細かさが広がった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UCF101の後続データとの違い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2017年にKineticsが登場した。400行動・306,245クリップを扱う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ts val="2000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UCF101の約4倍の行動数、約23倍のクリップ数へ規模を広げた。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同年のSomething-Somethingは、物を動かすなど174種類の細かい行動を扱った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ts val="2000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UCF101のスポーツや日常動作に対し、手と物の関係や移動方向を細かく区別する。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Kay et al. (2017), Table 1. https://arxiv.org/abs/1705.06950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Goyal et al. (2017), ICCV. https://arxiv.org/abs/1706.04261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現在は小規模な転移先や再現実験にも使われる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UCF101の利用の変遷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登場時は、自然な映像の多クラス行動認識を評価する資源だった。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その後は、Kineticsなどで学んだ動画モデルの転移先にも使われた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2024年のInternVideo2も、線形分類・ゼロショット評価に用いた。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2026年時点でも、MMAction2にはUCF101の取得・前処理・評価用ファイルを作る手順がある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Carreira &amp; Zisserman (2017). https://arxiv.org/abs/1705.07750 / Wang et al. (2024). https://arxiv.org/abs/2403.15377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MMAction2のUCF101手順. https://github.com/open-mmlab/mmaction2/tree/main/tools/data/ucf101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Noto Sans"/>
                <a:ea typeface="Noto Sans CJK JP"/>
                <a:cs typeface="Noto Sans"/>
              </a:defRPr>
            </a:pPr>
            <a:r>
              <a:rPr sz="4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 入手方法とまとめ</a:t>
            </a:r>
            <a:endParaRPr sz="4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動画本体と3分割のリストを取得する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UCF101の入手方法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公式配布元から、動画のアーカイブと学習・テスト分割のZIPを取得する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展開したカテゴリ別フォルダと分割リストを対応させる。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データを扱うMMAction2などの手順で、フレーム抽出と入力用リストを準備できる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利用条件は公式配布元で確認する。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UCF101公式配布元. https://www.crcv.ucf.edu/data/UCF101.php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MMAction2のUCF101手順. https://github.com/open-mmlab/mmaction2/tree/main/tools/data/ucf101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UCF101は動画モデルの行動認識と転移を評価する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UCF101のまとめ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101種類の行動を扱う13,320クリップのデータセット。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自然なYouTube映像で、多様な行動を評価するため2012年に作られた。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同じ背景や人物を共有するグループを単位に分割する。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登場時の分類評価から、事前学習モデルの転移・特徴評価にも用途が広がった。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正解率を比較するときは、分割・事前学習・評価方式をそろえる。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Appendixの目次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補足資料の構成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1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著者と発表先</a:t>
            </a:r>
            <a:endParaRPr sz="25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2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追加の行動例</a:t>
            </a:r>
            <a:endParaRPr sz="25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3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101カテゴリの一覧</a:t>
            </a:r>
            <a:endParaRPr sz="25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4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本数とグループの統計</a:t>
            </a:r>
            <a:endParaRPr sz="25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5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評価の補足</a:t>
            </a:r>
            <a:endParaRPr sz="25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6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入手と集計のコード</a:t>
            </a:r>
            <a:endParaRPr sz="25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AutoNum type="arabicPeriod" startAt="7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  <a:endParaRPr sz="250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2012年の技術報告として発表された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 著者と発表先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81328"/>
            <a:ext cx="7955279" cy="3017520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CRCV-TR-12-01としてまとめ、2012-12-03にarXivへ投稿した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第一著者のKhurram Soomroは、UCF101を構築した行動認識研究者。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最終著者のMubarak Shahは、動画の行動認識を研究し、UCF50やUCF Sportsにも取り組んだ。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ts val="2000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当時の著者の所属は、セントラルフロリダ大学のコンピュータビジョン研究センター。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Soomro et al. (2012), 表紙・参考文献 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[9–10]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編み物（Knitting）の例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追加の行動例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Knitting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5.32秒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10.60秒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v_Knitting_g01_c01.avi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ヨーヨー（YoYo）の例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追加の行動例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YoYo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3.72秒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7.44秒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v_YoYo_g01_c01.avi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赤ちゃんのはいはい（BabyCrawling）の例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追加の行動例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BabyCrawling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3.28秒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6.56秒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v_BabyCrawling_g01_c01.avi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散髪（Haircut）の例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追加の行動例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Haircut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2.68秒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5.36秒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v_Haircut_g01_c01.avi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ギターの演奏（PlayingGuitar）の例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追加の行動例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PlayingGuitar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5.00秒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9.96秒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v_PlayingGuitar_g01_c01.avi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ビリヤード（Billiards）の例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追加の行動例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Billiards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5.48秒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10.92秒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v_Billiards_g01_c01.avi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6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バスケットボールのダンク（BasketballDunk）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追加の行動例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BasketballDunk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1.20秒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2.40秒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v_BasketballDunk_g01_c01.avi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サーフィン（Surfing）の例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追加の行動例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Surfing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5.08秒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10.12秒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v_Surfing_g01_c01.avi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タイピング（Typing）の例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追加の行動例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Typing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2.52秒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5.04秒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v_Typing_g01_c01.avi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スケートボード（SkateBoarding）の例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追加の行動例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SkateBoarding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4.04秒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8.04秒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v_SkateBoarding_g01_c01.avi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人と物との相互作用という型の全20カテゴリ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3 101カテゴリの一覧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ApplyEyeMakeup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7739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ApplyLipstick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08483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BlowDryHair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BrushingTeeth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CuttingInKitchen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Hammering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32841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HulaHoop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363931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JugglingBalls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395020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JumpRope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426110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Knitting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5488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Mixing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17739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MoppingFloor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0" y="208483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Nunchucks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239572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PizzaTossing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2706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ShavingBeard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3017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SkateBoarding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4880" y="332841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SoccerJuggling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0" y="363931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Typing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54880" y="395020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WritingOnBoard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54880" y="426110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YoYo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4" name="lookup-sources"/>
          <p:cNvSpPr txBox="1"/>
          <p:nvPr/>
        </p:nvSpPr>
        <p:spPr>
          <a:xfrm>
            <a:off x="502920" y="4773168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全101カテゴリ. https://github.com/yjxiong/temporal-segment-networks/tree/master/data/ucf101_splits
[2] 型の区分は原著Figure 2.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身体の動きという型の全16カテゴリ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3 101カテゴリの一覧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BabyCrawling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7739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BlowingCandles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08483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BodyWeightSquats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HandstandPushups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HandstandWalking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JumpingJack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32841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Lunges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363931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PullUps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5488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PushUps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0" y="17739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RockClimbingIndoor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54880" y="208483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RopeClimbing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239572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0" y="2706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TaiChi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3017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TrampolineJumping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332841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WalkingWithDog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363931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WallPushups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全101カテゴリ. https://github.com/yjxiong/temporal-segment-networks/tree/master/data/ucf101_splits
[2] 型の区分は原著Figure 2.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人と人との相互作用という型の全5カテゴリ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3 101カテゴリの一覧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BandMarching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874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Haircut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HeadMassage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MilitaryParade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880" y="1874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SalsaSpin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4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全101カテゴリ. https://github.com/yjxiong/temporal-segment-networks/tree/master/data/ucf101_splits
[2] 型の区分は原著Figure 2.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楽器の演奏という型の全10カテゴリ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3 101カテゴリの一覧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Drumming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874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PlayingCello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PlayingDaf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PlayingDhol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PlayingFlute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8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PlayingGuitar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80" y="1874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PlayingPiano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54880" y="228600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PlayingSitar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54880" y="269748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PlayingTabla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0" y="310896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600" lang="ja-JP">
                <a:latin typeface="Noto Sans"/>
                <a:ea typeface="Noto Sans CJK JP"/>
                <a:cs typeface="Noto Sans"/>
              </a:defRPr>
            </a:pPr>
            <a:r>
              <a:rPr sz="2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PlayingViolin</a:t>
            </a:r>
            <a:endParaRPr sz="26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全101カテゴリ. https://github.com/yjxiong/temporal-segment-networks/tree/master/data/ucf101_splits
[2] 型の区分は原著Figure 2.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スポーツという型の全50カテゴリ 1/3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3 101カテゴリの一覧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Archery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7739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BalanceBeam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08483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BaseballPitch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Basketball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BasketballDunk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BenchPress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32841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Biking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363931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Billiards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395020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Bowling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BoxingPunchingBag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54880" y="17739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BoxingSpeedBag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208483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BreastStroke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0" y="239572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CleanAndJerk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2706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CliffDiving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3017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CricketBowling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332841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CricketShot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4880" y="363931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Diving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0" y="395020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Fencing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全101カテゴリ. https://github.com/yjxiong/temporal-segment-networks/tree/master/data/ucf101_splits
[2] 型の区分は原著Figure 2.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スポーツという型の全50カテゴリ 2/3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3 101カテゴリの一覧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FieldHockeyPenalty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7739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FloorGymnastics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08483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FrisbeeCatch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FrontCrawl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GolfSwing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HammerThrow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32841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HighJump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363931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HorseRace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5488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HorseRiding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0" y="17739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IceDancing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54880" y="208483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JavelinThrow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239572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Kayaking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0" y="2706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LongJump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3017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ParallelBars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332841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PoleVault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363931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PommelHorse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全101カテゴリ. https://github.com/yjxiong/temporal-segment-networks/tree/master/data/ucf101_splits
[2] 型の区分は原著Figure 2.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スポーツという型の全50カテゴリ 3/3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3 101カテゴリの一覧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Punch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7739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Rafting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08483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Rowing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Shotput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Skiing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Skijet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32841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SkyDiving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363931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SoccerPenalty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54880" y="146304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StillRings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0" y="177393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SumoWrestling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54880" y="208483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Surfing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4880" y="2395728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TableTennisShot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0" y="2706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TennisSwing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3017520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ThrowDiscus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3328416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UnevenBars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3639312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VolleyballSpiking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全101カテゴリ. https://github.com/yjxiong/temporal-segment-networks/tree/master/data/ucf101_splits
[2] 型の区分は原著Figure 2.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型ごとにカテゴリ数とクリップ数を比較する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4 本数とグループの統計</a:t>
            </a:r>
          </a:p>
        </p:txBody>
      </p:sp>
      <p:sp>
        <p:nvSpPr>
          <p:cNvPr id="5" name="table-caption"/>
          <p:cNvSpPr txBox="1"/>
          <p:nvPr/>
        </p:nvSpPr>
        <p:spPr>
          <a:xfrm>
            <a:off x="594360" y="4133087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600" lang="ja-JP">
                <a:latin typeface="Noto Sans"/>
                <a:ea typeface="Noto Sans CJK JP"/>
                <a:cs typeface="Noto Sans"/>
              </a:defRPr>
            </a:pPr>
            <a:r>
              <a:rPr sz="1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カテゴリ当たりの本数は中央値131本、母標準偏差18.2本。25%点は117本、75%点は145本、95%点は163本。</a:t>
            </a: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原著Figure 2の型と配布リストの集計. https://arxiv.org/abs/1212.0402
https://github.com/yjxiong/temporal-segment-networks/tree/master/data/ucf101_splits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188720"/>
                <a:gridCol w="868680"/>
                <a:gridCol w="11430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>
                          <a:solidFill>
                            <a:srgbClr val="303437"/>
                          </a:solidFill>
                        </a:rPr>
                        <a:t>型 [1]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700">
                          <a:solidFill>
                            <a:srgbClr val="303437"/>
                          </a:solidFill>
                        </a:rPr>
                        <a:t>カテゴリ数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700">
                          <a:solidFill>
                            <a:srgbClr val="303437"/>
                          </a:solidFill>
                        </a:rPr>
                        <a:t>合計本数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700">
                          <a:solidFill>
                            <a:srgbClr val="303437"/>
                          </a:solidFill>
                        </a:rPr>
                        <a:t>最少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700">
                          <a:solidFill>
                            <a:srgbClr val="303437"/>
                          </a:solidFill>
                        </a:rPr>
                        <a:t>平均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700">
                          <a:solidFill>
                            <a:srgbClr val="303437"/>
                          </a:solidFill>
                        </a:rPr>
                        <a:t>最多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人と物との相互作用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20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2,619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110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131.0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161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身体の動き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16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1,910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100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119.4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144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人と人との相互作用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5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690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125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138.0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155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楽器の演奏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1,428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100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142.8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164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スポーツ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50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6,673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100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133.5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167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全101カテゴリ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101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13,320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100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131.9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800">
                          <a:solidFill>
                            <a:srgbClr val="303437"/>
                          </a:solidFill>
                        </a:rPr>
                        <a:t>167</a:t>
                      </a:r>
                    </a:p>
                  </a:txBody>
                  <a:tcPr marL="38100" marR="38100" marT="12700" marB="127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6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バイオリンの演奏（PlayingViolin）は100本 [2]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4 本数とグループの統計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5" name="Picture 4" descr="PlayingViolin-s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3.72秒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7.40秒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v_PlayingViolin_g01_c01.avi
[2] カテゴリ別集計. https://github.com/yjxiong/temporal-segment-networks/tree/master/data/ucf101_splits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6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クリケットの打撃（CricketShot）は167本 [2]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4 本数とグループの統計</a:t>
            </a:r>
          </a:p>
        </p:txBody>
      </p:sp>
      <p:pic>
        <p:nvPicPr>
          <p:cNvPr id="5" name="Picture 4" descr="CricketShot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955279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0.00秒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1.68秒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611880"/>
            <a:ext cx="26517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3.32秒</a:t>
            </a:r>
          </a:p>
        </p:txBody>
      </p:sp>
      <p:sp>
        <p:nvSpPr>
          <p:cNvPr id="10" name="lookup-sources"/>
          <p:cNvSpPr txBox="1"/>
          <p:nvPr/>
        </p:nvSpPr>
        <p:spPr>
          <a:xfrm>
            <a:off x="502920" y="4818888"/>
            <a:ext cx="818387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https://github.com/RichardMinsooGo-ML/5_TF2_UCF101_video_classification　v_CricketShot_g01_c01.avi
[2] カテゴリ別集計. https://github.com/yjxiong/temporal-segment-networks/tree/master/data/ucf101_splits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4クリップのグループが最も多い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4 本数とグループの統計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4" name="Picture 3" descr="groups-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27" y="1463040"/>
            <a:ext cx="7301345" cy="2834640"/>
          </a:xfrm>
          <a:prstGeom prst="rect">
            <a:avLst/>
          </a:prstGeom>
        </p:spPr>
      </p:pic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カテゴリとグループ番号の組を単位に、全2,525グループを集計. https://github.com/yjxiong/temporal-segment-networks/tree/master/data/ucf101_splits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3分割ではテストにするグループが異なる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4 本数とグループの統計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572000"/>
              </a:tblGrid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 </a:t>
                      </a: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[1]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テスト用グループ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split 1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g01〜g07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split 2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g08〜g14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split 3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g15〜g21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95020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それ以外の18グループを学習用に使う。各分割で学習とテストのグループは重ならない。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全101カテゴリの分割リストを照合. https://github.com/yjxiong/temporal-segment-networks/tree/master/data/ucf101_splits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動画単位の正解率を計算する例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5 評価の補足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291840"/>
                <a:gridCol w="118872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正解カテゴリ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予測カテゴリ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得点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PlayingViolin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PlayingViolin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PlayingGuitar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PlayingGuitar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CricketShot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CricketBowling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69417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3動画中2動画が正解なので、正解率は2÷3×100＝66.7%となる。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原著では行動の型によって成績が異なった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5 評価の補足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行動の型 </a:t>
                      </a: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[1]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人と物との相互作用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38.52%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身体の動き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36.26%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人と人との相互作用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44.14%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楽器の演奏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37.42%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スポーツ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50.54%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Soomro et al. (2012), §3. 25グループの交差検証. https://arxiv.org/abs/1212.0402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近年はゼロショット評価にも用いられる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5 評価の補足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444752"/>
          <a:ext cx="8046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手法 </a:t>
                      </a: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[1]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Top-1正解率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CLIP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68.9%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TVTSv2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78.0%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InternVideo2clip-1B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88.8%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InternVideo2clip-6B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0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89.5%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419709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lang="ja-JP">
                <a:latin typeface="Noto Sans"/>
                <a:ea typeface="Noto Sans CJK JP"/>
                <a:cs typeface="Noto Sans"/>
              </a:defRPr>
            </a:pPr>
            <a:r>
              <a:rPr sz="16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UCF101で微調整せず、行動名と映像を照合する。事前学習・入力フレーム数は手法で異なる。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Wang et al. (2024), Table 5. https://arxiv.org/abs/2403.15377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配布リストからカテゴリ別の本数を集計する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6 入手と集計のコード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2477770"/>
          </a:xfrm>
          <a:prstGeom prst="rect">
            <a:avLst/>
          </a:prstGeom>
          <a:solidFill>
            <a:srgbClr val="EBEDEB"/>
          </a:solidFill>
        </p:spPr>
        <p:txBody>
          <a:bodyPr wrap="none" lIns="152400" rIns="152400" tIns="114300" bIns="114300" anchor="t">
            <a:spAutoFit/>
          </a:bodyPr>
          <a:lstStyle/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from pathlib import Path</a:t>
            </a:r>
            <a:endParaRPr sz="140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from collections import Counter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/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root = Path("ucfTrainTestlist")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train = (root / "trainlist01.txt").read_text().splitlines()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test = (root / "testlist01.txt").read_text().splitlines()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clips = {line.split()[0] for line in train + test}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counts = Counter(path.split("/")[0] for path in clips)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print(len(clips), len(counts))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for label, n in sorted(counts.items()):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    print(label, n)</a:t>
            </a: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https://github.com/yjxiong/temporal-segment-networks/tree/master/data/ucf101_splits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動画と分割リストのアーカイブを取得する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6 入手と集計のコード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7955279" cy="1659889"/>
          </a:xfrm>
          <a:prstGeom prst="rect">
            <a:avLst/>
          </a:prstGeom>
          <a:solidFill>
            <a:srgbClr val="EBEDEB"/>
          </a:solidFill>
        </p:spPr>
        <p:txBody>
          <a:bodyPr wrap="none" lIns="152400" rIns="152400" tIns="114300" bIns="114300" anchor="t">
            <a:spAutoFit/>
          </a:bodyPr>
          <a:lstStyle/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base=https://www.crcv.ucf.edu/data/UCF101</a:t>
            </a:r>
            <a:endParaRPr sz="130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curl -L --fail -O "$base/UCF101.rar"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curl -L --fail -O \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  "$base/UCF101TrainTestSplits-RecognitionTask.zip"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/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unrar x UCF101.rar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unzip UCF101TrainTestSplits-RecognitionTask.zip</a:t>
            </a: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公式配布元. https://www.crcv.ucf.edu/data/UCF101.php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配布URLはMMAction2の取得手順に基づく. https://github.com/open-mmlab/mmaction2/tree/main/tools/data/ucf101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参考文献と参照した内容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7 参考文献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Soomro et al. (2012). UCF101. CRCV-TR-12-01.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データセットの構築方法、5つの型、登場時の評価を示す原著。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https://arxiv.org/abs/1212.0402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Carreira &amp; Zisserman (2017). I3D. CVPR.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事前学習と2種類の入力による行動認識性能の報告。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https://arxiv.org/abs/1705.07750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Tong et al. (2022). VideoMAE. NeurIPS.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自己教師あり学習と事前学習データの違いによる性能の報告。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https://arxiv.org/abs/2203.12602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Wang et al. (2024). InternVideo2.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線形分類とゼロショットによる近年の利用例、比較結果。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https://arxiv.org/abs/2403.15377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参考文献と参照した内容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7 参考文献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Kay et al. (2017). The Kinetics Human Action Video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後続データセットの行動数とクリップ数を比較する根拠。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https://arxiv.org/abs/1705.06950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Goyal et al. (2017). Something-Something. ICCV.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物と手の関係を細かく扱う後続データセットの原著。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https://arxiv.org/abs/1706.04261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UCF101の配布リスト（TSN公開実装）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全101カテゴリ、クリップ数、グループ、3分割の集計に使用。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https://github.com/yjxiong/temporal-segment-networks/tree/master/data/ucf101_splits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MMAction2のUCF101手順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現在も使われる取得・前処理・評価準備の公開実装。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https://github.com/open-mmlab/mmaction2/tree/main/tools/data/ucf101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参考文献と参照した内容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7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I3Dの公開入力例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クリケット打撃の連続フレームの取得元。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https://github.com/google-deepmind/kinetics-i3d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UCF101動画の公開コピー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追加の行動例と最少・最多カテゴリの連続フレームの取得元。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https://github.com/RichardMinsooGo-ML/5_TF2_UCF101_video_classification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TensorFlow DatasetsのUCF101チェックサム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配布ZIPの圧縮容量を確認するためのバイト数の記録。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https://github.com/tensorflow/datasets/blob/master/tensorflow_datasets/url_checksums/ucf101.txt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</cp:coreProperties>
</file>