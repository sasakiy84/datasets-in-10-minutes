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 sz="2200"/>
            </a:pPr>
            <a:endParaRPr/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pPr algn="ctr"/>
              <a:t>‹#›</a:t>
            </a:fld>
            <a:endParaRPr lang="en-US" sz="1800" b="1" dirty="0"/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98848"/>
            <a:ext cx="310896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ja" b="1" dirty="0">
                <a:solidFill>
                  <a:schemeClr val="lt1"/>
                </a:solidFill>
              </a:rPr>
              <a:t>T</a:t>
            </a:r>
            <a:r>
              <a:rPr lang="ja" b="1" dirty="0">
                <a:solidFill>
                  <a:schemeClr val="lt1"/>
                </a:solidFill>
              </a:rPr>
              <a:t>able of </a:t>
            </a:r>
            <a:r>
              <a:rPr lang="en-US" altLang="ja" b="1" dirty="0">
                <a:solidFill>
                  <a:schemeClr val="lt1"/>
                </a:solidFill>
              </a:rPr>
              <a:t>C</a:t>
            </a:r>
            <a:r>
              <a:rPr lang="ja" b="1" dirty="0">
                <a:solidFill>
                  <a:schemeClr val="lt1"/>
                </a:solidFill>
              </a:rPr>
              <a:t>ontents</a:t>
            </a:r>
            <a:endParaRPr b="1" dirty="0">
              <a:solidFill>
                <a:schemeClr val="lt1"/>
              </a:solidFill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1.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Background &amp; Purpose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2.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Methodology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3.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Classification Framework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4.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Results &amp; Analysis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>
              <a:solidFill>
                <a:schemeClr val="dk1"/>
              </a:solidFill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5.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Conclusions and future work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●"/>
              <a:defRPr sz="2000">
                <a:solidFill>
                  <a:schemeClr val="dk2"/>
                </a:solidFill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Char char="●"/>
              <a:defRPr sz="2200">
                <a:solidFill>
                  <a:schemeClr val="dk2"/>
                </a:solidFill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●"/>
              <a:defRPr sz="2000">
                <a:solidFill>
                  <a:schemeClr val="dk2"/>
                </a:solidFill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●"/>
              <a:defRPr sz="2000">
                <a:solidFill>
                  <a:schemeClr val="dk2"/>
                </a:solidFill>
              </a:defRPr>
            </a:lvl1pPr>
            <a:lvl2pPr marL="914400" lvl="1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2pPr>
            <a:lvl3pPr marL="1371600" lvl="2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3pPr>
            <a:lvl4pPr marL="1828800" lvl="3" indent="-3683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Char char="●"/>
              <a:defRPr sz="2200">
                <a:solidFill>
                  <a:schemeClr val="dk2"/>
                </a:solidFill>
              </a:defRPr>
            </a:lvl4pPr>
            <a:lvl5pPr marL="2286000" lvl="4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5pPr>
            <a:lvl6pPr marL="2743200" lvl="5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6pPr>
            <a:lvl7pPr marL="3200400" lvl="6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●"/>
              <a:defRPr sz="2000">
                <a:solidFill>
                  <a:schemeClr val="dk2"/>
                </a:solidFill>
              </a:defRPr>
            </a:lvl7pPr>
            <a:lvl8pPr marL="3657600" lvl="7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8pPr>
            <a:lvl9pPr marL="4114800" lvl="8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en-US" sz="1800" b="0">
                <a:solidFill>
                  <a:schemeClr val="dk2"/>
                </a:solidFill>
              </a:rPr>
              <a:t>Insert chart</a:t>
            </a:r>
            <a:endParaRPr lang="en-US"/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9pPr>
          </a:lstStyle>
          <a:p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dk2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828800"/>
            <a:ext cx="8229600" cy="82296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5800">
                <a:latin typeface="Noto Sans CJK JP"/>
              </a:defRPr>
              <a:buNone/>
            </a:pPr>
            <a:r>
              <a:rPr sz="5800" lang="ja-JP" b="1">
                <a:solidFill>
                  <a:srgbClr val="303437"/>
                </a:solidFill>
                <a:latin typeface="Noto Sans CJK JP"/>
                <a:ea typeface="Noto Sans CJK JP"/>
              </a:rPr>
              <a:t>UCF101</a:t>
            </a:r>
            <a:endParaRPr sz="5800"/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sasakiy84</a:t>
            </a:r>
            <a:endParaRPr sz="1400"/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datasets in 10 minutes (2026-10-15)</a:t>
            </a:r>
            <a:endParaRPr sz="1400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3200">
                <a:latin typeface="Noto Sans CJK JP"/>
              </a:defRPr>
              <a:buNone/>
            </a:pPr>
            <a:r>
              <a:rPr sz="3200" lang="ja-JP">
                <a:solidFill>
                  <a:srgbClr val="303437"/>
                </a:solidFill>
                <a:latin typeface="Noto Sans CJK JP"/>
                <a:ea typeface="Noto Sans CJK JP"/>
              </a:rPr>
              <a:t>動画の行動認識用データセット</a:t>
            </a:r>
            <a:endParaRPr sz="3200"/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Liberation Sans"/>
              </a:defRPr>
              <a:buNone/>
            </a:pPr>
            <a:r>
              <a:rPr sz="1600" lang="en-US">
                <a:solidFill>
                  <a:srgbClr val="303437"/>
                </a:solidFill>
                <a:latin typeface="Liberation Sans"/>
                <a:ea typeface="Liberation Sans"/>
              </a:rPr>
              <a:t>UCF101: A Dataset of 101 Human Actions Classes From Videos in The Wild</a:t>
            </a:r>
            <a:endParaRPr sz="16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本編の構成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UCF101の構成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1"/>
            </a:pPr>
            <a:r>
              <a:rPr sz="2300">
                <a:solidFill>
                  <a:srgbClr val="303437"/>
                </a:solidFill>
                <a:latin typeface="Noto Sans CJK JP"/>
              </a:rPr>
              <a:t>概要とタスク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2"/>
            </a:pPr>
            <a:r>
              <a:rPr sz="2300">
                <a:solidFill>
                  <a:srgbClr val="303437"/>
                </a:solidFill>
                <a:latin typeface="Noto Sans CJK JP"/>
              </a:rPr>
              <a:t>作成方法と規模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3"/>
            </a:pPr>
            <a:r>
              <a:rPr sz="2300">
                <a:solidFill>
                  <a:srgbClr val="303437"/>
                </a:solidFill>
                <a:latin typeface="Noto Sans CJK JP"/>
              </a:rPr>
              <a:t>評価とモデルの性能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4"/>
            </a:pPr>
            <a:r>
              <a:rPr sz="2300">
                <a:solidFill>
                  <a:srgbClr val="303437"/>
                </a:solidFill>
                <a:latin typeface="Noto Sans CJK JP"/>
              </a:rPr>
              <a:t>利用の変遷と現在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5"/>
            </a:pPr>
            <a:r>
              <a:rPr sz="2300">
                <a:solidFill>
                  <a:srgbClr val="303437"/>
                </a:solidFill>
                <a:latin typeface="Noto Sans CJK JP"/>
              </a:rPr>
              <a:t>入手方法とまとめ</a:t>
            </a:r>
            <a:endParaRPr sz="2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defRPr sz="4000">
                <a:latin typeface="Noto Sans CJK JP"/>
              </a:defRPr>
              <a:spcAft>
                <a:spcPts val="0"/>
              </a:spcAft>
              <a:buNone/>
            </a:pPr>
            <a:r>
              <a:rPr sz="4000" lang="ja-JP">
                <a:solidFill>
                  <a:srgbClr val="303437"/>
                </a:solidFill>
                <a:latin typeface="Noto Sans CJK JP"/>
                <a:ea typeface="Noto Sans CJK JP"/>
              </a:rPr>
              <a:t>1 概要とタスク</a:t>
            </a:r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UCF101の原著の公開ページ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UCF101の概要</a:t>
            </a:r>
            <a:endParaRPr sz="1400"/>
          </a:p>
        </p:txBody>
      </p:sp>
      <p:pic>
        <p:nvPicPr>
          <p:cNvPr id="4" name="Picture 3" descr="paper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1620"/>
            <a:ext cx="8046720" cy="3017520"/>
          </a:xfrm>
          <a:prstGeom prst="rect">
            <a:avLst/>
          </a:prstGeom>
        </p:spPr>
      </p:pic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https://arxiv.org/abs/1212.0402</a:t>
            </a:r>
            <a:endParaRPr sz="8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動画クリップを101種類の行動へ分類する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UCF101の概要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4469" indent="-18986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UCF101は、動画の行動認識用データセットである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300"/>
          </a:p>
          <a:p>
            <a:pPr algn="l" marL="204469" indent="-18986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入力は短い動画クリップで、正解は1つの行動カテゴリ。</a:t>
            </a:r>
            <a:endParaRPr sz="2300"/>
          </a:p>
          <a:p>
            <a:pPr algn="l" marL="204469" indent="-18986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スポーツ、楽器の演奏、日常動作などを含む。</a:t>
            </a:r>
            <a:endParaRPr sz="2300"/>
          </a:p>
          <a:p>
            <a:pPr algn="l" marL="204469" indent="-18986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2012年に公開され、YouTubeから集めた13,320クリップを収録した。</a:t>
            </a:r>
            <a:endParaRPr sz="23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§1–2. https://arxiv.org/abs/1212.0402</a:t>
            </a:r>
            <a:endParaRPr sz="8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クリケットの打撃をフレーム列から捉える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UCF101の行動認識の実例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>
                <a:latin typeface="Noto Sans CJK JP"/>
              </a:defRPr>
              <a:buNone/>
            </a:pPr>
            <a:r>
              <a:rPr sz="25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正解はCricketShot（クリケットの打撃）</a:t>
            </a:r>
            <a:endParaRPr sz="2500"/>
          </a:p>
        </p:txBody>
      </p:sp>
      <p:pic>
        <p:nvPicPr>
          <p:cNvPr id="5" name="Picture 4" descr="cricket-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995885"/>
            <a:ext cx="7955279" cy="20249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4133087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None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左から時間順に、打者がバットを振る場面を示す。</a:t>
            </a:r>
            <a:endParaRPr sz="2200"/>
          </a:p>
        </p:txBody>
      </p:sp>
      <p:sp>
        <p:nvSpPr>
          <p:cNvPr id="7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I3D公開例. https://github.com/google-deepmind/kinetics-i3d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v_CricketShot_g04_c01.aviに由来するRGB入力。224×224へ処理済み。79フレーム中の0・19・39・59・78番。split 1のテスト用。</a:t>
            </a:r>
            <a:endParaRPr sz="8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目元の化粧の例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UCF101の行動認識の実例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クリップの代表フレーム</a:t>
            </a:r>
            <a:endParaRPr sz="1400"/>
          </a:p>
        </p:txBody>
      </p:sp>
      <p:pic>
        <p:nvPicPr>
          <p:cNvPr id="5" name="Picture 4" descr="ApplyEyeMakeup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1792224"/>
            <a:ext cx="303276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1627632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正解は目元の化粧</a:t>
            </a:r>
            <a:endParaRPr sz="2300"/>
          </a:p>
        </p:txBody>
      </p:sp>
      <p:sp>
        <p:nvSpPr>
          <p:cNvPr id="7" name="TextBox 6"/>
          <p:cNvSpPr txBox="1"/>
          <p:nvPr/>
        </p:nvSpPr>
        <p:spPr>
          <a:xfrm>
            <a:off x="4617720" y="2286000"/>
            <a:ext cx="3931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Liberation Sans"/>
              </a:defRPr>
              <a:buNone/>
            </a:pPr>
            <a:r>
              <a:rPr sz="1900" lang="en-US">
                <a:solidFill>
                  <a:srgbClr val="303437"/>
                </a:solidFill>
                <a:latin typeface="Liberation Sans"/>
                <a:ea typeface="Liberation Sans"/>
              </a:rPr>
              <a:t>ApplyEyeMakeup</a:t>
            </a:r>
            <a:endParaRPr sz="1900"/>
          </a:p>
        </p:txBody>
      </p:sp>
      <p:sp>
        <p:nvSpPr>
          <p:cNvPr id="8" name="TextBox 7"/>
          <p:cNvSpPr txBox="1"/>
          <p:nvPr/>
        </p:nvSpPr>
        <p:spPr>
          <a:xfrm>
            <a:off x="4617720" y="2926080"/>
            <a:ext cx="39319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手と化粧道具が目元に向かう動作を扱う。道具と身体部位の関係も手がかりになる。</a:t>
            </a:r>
            <a:endParaRPr sz="2100"/>
          </a:p>
        </p:txBody>
      </p:sp>
      <p:sp>
        <p:nvSpPr>
          <p:cNvPr id="9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Figure 2. https://arxiv.org/abs/1212.0402 / ApplyEyeMakeup / class ID 1</a:t>
            </a:r>
            <a:endParaRPr sz="85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逆立ち歩きの例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UCF101の行動認識の実例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クリップの代表フレーム</a:t>
            </a:r>
            <a:endParaRPr sz="1400"/>
          </a:p>
        </p:txBody>
      </p:sp>
      <p:pic>
        <p:nvPicPr>
          <p:cNvPr id="5" name="Picture 4" descr="HandstandWalki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1792224"/>
            <a:ext cx="303276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1627632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正解は逆立ち歩き</a:t>
            </a:r>
            <a:endParaRPr sz="2300"/>
          </a:p>
        </p:txBody>
      </p:sp>
      <p:sp>
        <p:nvSpPr>
          <p:cNvPr id="7" name="TextBox 6"/>
          <p:cNvSpPr txBox="1"/>
          <p:nvPr/>
        </p:nvSpPr>
        <p:spPr>
          <a:xfrm>
            <a:off x="4617720" y="2286000"/>
            <a:ext cx="3931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Liberation Sans"/>
              </a:defRPr>
              <a:buNone/>
            </a:pPr>
            <a:r>
              <a:rPr sz="1900" lang="en-US">
                <a:solidFill>
                  <a:srgbClr val="303437"/>
                </a:solidFill>
                <a:latin typeface="Liberation Sans"/>
                <a:ea typeface="Liberation Sans"/>
              </a:rPr>
              <a:t>HandstandWalking</a:t>
            </a:r>
            <a:endParaRPr sz="1900"/>
          </a:p>
        </p:txBody>
      </p:sp>
      <p:sp>
        <p:nvSpPr>
          <p:cNvPr id="8" name="TextBox 7"/>
          <p:cNvSpPr txBox="1"/>
          <p:nvPr/>
        </p:nvSpPr>
        <p:spPr>
          <a:xfrm>
            <a:off x="4617720" y="2926080"/>
            <a:ext cx="39319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逆立ちで移動する行動を扱う。姿勢だけでなく、移動を含む時間的な変化が関係する。</a:t>
            </a:r>
            <a:endParaRPr sz="2100"/>
          </a:p>
        </p:txBody>
      </p:sp>
      <p:sp>
        <p:nvSpPr>
          <p:cNvPr id="9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Figure 2. https://arxiv.org/abs/1212.0402 / HandstandWalking / class ID 38</a:t>
            </a:r>
            <a:endParaRPr sz="8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774" lang="ja-JP" b="1">
                <a:solidFill>
                  <a:srgbClr val="303437"/>
                </a:solidFill>
                <a:latin typeface="Noto Sans CJK JP"/>
                <a:ea typeface="Noto Sans CJK JP"/>
              </a:rPr>
              <a:t>多様な行動を自然な映像で評価するために作られた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UCF101の開発背景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当時は、カテゴリ数の少ない行動認識データが多かった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統制された環境で撮影した映像では、背景や撮影条件の変動が限られた。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そこでYouTubeの映像を集め、カメラの動き、遮蔽、背景の混雑を含む行動認識を評価する。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UCF50の50行動から101行動へ、カテゴリ数を約2倍に広げた。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§1–2. https://arxiv.org/abs/1212.0402</a:t>
            </a:r>
            <a:endParaRPr sz="8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defRPr sz="4000">
                <a:latin typeface="Noto Sans CJK JP"/>
              </a:defRPr>
              <a:spcAft>
                <a:spcPts val="0"/>
              </a:spcAft>
              <a:buNone/>
            </a:pPr>
            <a:r>
              <a:rPr sz="4000" lang="ja-JP">
                <a:solidFill>
                  <a:srgbClr val="303437"/>
                </a:solidFill>
                <a:latin typeface="Noto Sans CJK JP"/>
                <a:ea typeface="Noto Sans CJK JP"/>
              </a:rPr>
              <a:t>2 作成方法と規模</a:t>
            </a:r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YouTubeの映像を収集し、無関係な動画を除いた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UCF101の作成方法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4469" indent="-18986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YouTubeから動画をダウンロードした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300"/>
          </a:p>
          <a:p>
            <a:pPr algn="l" marL="204469" indent="-18986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対象と無関係な動画を人手で除去した。</a:t>
            </a:r>
            <a:endParaRPr sz="2300"/>
          </a:p>
          <a:p>
            <a:pPr algn="l" marL="204469" indent="-18986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動画を320×240ピクセル・25 fpsへ統一した。</a:t>
            </a:r>
            <a:endParaRPr sz="2300"/>
          </a:p>
          <a:p>
            <a:pPr algn="l" marL="204469" indent="-18986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カテゴリごとにフォルダを分け、AVI形式で配布した。</a:t>
            </a:r>
            <a:endParaRPr sz="2300"/>
          </a:p>
          <a:p>
            <a:pPr algn="l" marL="204469" indent="-18986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追加した51行動の動画では音声も保持した。</a:t>
            </a:r>
            <a:endParaRPr sz="23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§2 / Table 1. https://arxiv.org/abs/1212.0402</a:t>
            </a:r>
            <a:endParaRPr sz="85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同じ背景や人物のクリップをグループで管理する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UCF101のグループ設計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各行動カテゴリには25グループがある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1グループは4〜7クリップで、背景や人物などの特徴を共有する。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ファイル名のg04はグループ番号、c01はグループ内のクリップ番号。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近い映像が学習とテストの両方に入ることを避けるため、グループ単位で分ける。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§2–4. https://arxiv.org/abs/1212.0402</a:t>
            </a:r>
            <a:endParaRPr sz="85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101種類の行動は5つの型に整理されている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UCF101のカテゴリの見取り図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1828800"/>
                <a:gridCol w="18288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行動の型 </a:t>
                      </a:r>
                      <a:r>
                        <a:rPr sz="950" lang="ja-JP">
                          <a:solidFill>
                            <a:srgbClr val="626669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カテゴリ数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クリップ数 </a:t>
                      </a:r>
                      <a:r>
                        <a:rPr sz="950" lang="ja-JP">
                          <a:solidFill>
                            <a:srgbClr val="626669"/>
                          </a:solidFill>
                          <a:latin typeface="Noto Sans CJK JP"/>
                          <a:ea typeface="Noto Sans CJK JP"/>
                        </a:rPr>
                        <a:t>[2]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人と物との相互作用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20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2619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身体の動き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16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1910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人と人との相互作用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690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楽器の演奏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10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1428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スポーツ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50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6673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原著Figure 2の分類と分割リストの全件集計. https://arxiv.org/abs/1212.0402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https://github.com/yjxiong/temporal-segment-networks/tree/master/data/ucf101_splits</a:t>
            </a:r>
            <a:endParaRPr sz="85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平均7.21秒の13,320クリップを収録する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UCF101の規模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4469" indent="-18986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101カテゴリ、13,320クリップを収録する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300"/>
          </a:p>
          <a:p>
            <a:pPr algn="l" marL="204469" indent="-18986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原著の平均クリップ長は7.21秒、総時間は1,600分。</a:t>
            </a:r>
            <a:endParaRPr sz="2300"/>
          </a:p>
          <a:p>
            <a:pPr algn="l" marL="204469" indent="-18986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映像は25 fps、320×240ピクセル。</a:t>
            </a:r>
            <a:endParaRPr sz="2300"/>
          </a:p>
          <a:p>
            <a:pPr algn="l" marL="204469" indent="-18986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各カテゴリには25グループあり、合計2,525グループ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300"/>
          </a:p>
          <a:p>
            <a:pPr algn="l" marL="204469" indent="-18986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1本の動画に1つの行動ラベルが付く。</a:t>
            </a:r>
            <a:endParaRPr sz="23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Table 1. https://arxiv.org/abs/1212.0402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グループ数は分割リストを全件集計. https://github.com/yjxiong/temporal-segment-networks/tree/master/data/ucf101_splits</a:t>
            </a:r>
            <a:endParaRPr sz="85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110本未満のカテゴリは10種類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UCF101のカテゴリ別の本数</a:t>
            </a:r>
            <a:endParaRPr sz="1400"/>
          </a:p>
        </p:txBody>
      </p:sp>
      <p:pic>
        <p:nvPicPr>
          <p:cNvPr id="4" name="Picture 3" descr="counts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97203"/>
            <a:ext cx="8046720" cy="26554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25196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中央値は131本。110本未満は10カテゴリ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3分割に共通する13,320クリップを、カテゴリごとに1回集計. https://github.com/yjxiong/temporal-segment-networks/tree/master/data/ucf101_splits</a:t>
            </a:r>
            <a:endParaRPr sz="85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3つの分割で学習用とテスト用を入れ替える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UCF101の評価用分割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286000"/>
                <a:gridCol w="2286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分割 </a:t>
                      </a:r>
                      <a:r>
                        <a:rPr sz="950" lang="ja-JP">
                          <a:solidFill>
                            <a:srgbClr val="626669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学習用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テスト用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split 1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9,537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3,783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split 2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9,586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3,734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split 3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9,624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3,696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各分割の合計は13,320。各カテゴリで同じグループが学習とテストへまたがらない。</a:t>
            </a:r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配布分割リストの集計. https://github.com/yjxiong/temporal-segment-networks/tree/master/data/ucf101_splits</a:t>
            </a:r>
            <a:endParaRPr sz="85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defRPr sz="4000">
                <a:latin typeface="Noto Sans CJK JP"/>
              </a:defRPr>
              <a:spcAft>
                <a:spcPts val="0"/>
              </a:spcAft>
              <a:buNone/>
            </a:pPr>
            <a:r>
              <a:rPr sz="4000" lang="ja-JP">
                <a:solidFill>
                  <a:srgbClr val="303437"/>
                </a:solidFill>
                <a:latin typeface="Noto Sans CJK JP"/>
                <a:ea typeface="Noto Sans CJK JP"/>
              </a:rPr>
              <a:t>3 評価とモデルの性能</a:t>
            </a:r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正解率は動画ごとの正解を全体で平均する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UCF101の評価方法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最上位の予測が正解カテゴリと一致した動画を正解とする。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正解率は、正解した動画数を評価した動画数で割り、百分率にする。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3動画中2動画が正解なら、正解率は66.7%となる。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公式の3分割を使う評価では、分割ごとの値とその平均を区別する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Carreira &amp; Zisserman (2017), §4 / Table 5. https://arxiv.org/abs/1705.07750</a:t>
            </a:r>
            <a:endParaRPr sz="85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2012年の原著の正解率は44.5%だった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UCF101の登場時の性能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原著は局所的な動きと見た目を特徴量にして、映像を特徴の出現頻度で表した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分類にはサポートベクトルマシンを使った。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25グループのうち1グループをテストにし、25回入れ替える交差検証を行った。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平均正解率は44.5%。後の3分割評価とは評価条件が異なる。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§3–4. https://arxiv.org/abs/1212.0402</a:t>
            </a:r>
            <a:endParaRPr sz="85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2017年のI3Dは2種類の入力を組み合わせた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UCF101と動画モデルの発展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I3Dの入力 </a:t>
                      </a:r>
                      <a:r>
                        <a:rPr sz="950" lang="ja-JP">
                          <a:solidFill>
                            <a:srgbClr val="626669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1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Top-1正解率</a:t>
                      </a:r>
                      <a:endParaRPr sz="21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RGB画像</a:t>
                      </a:r>
                      <a:endParaRPr sz="21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95.6%</a:t>
                      </a:r>
                      <a:endParaRPr sz="21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フレーム間の動きを表す光学フロー</a:t>
                      </a:r>
                      <a:endParaRPr sz="21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96.7%</a:t>
                      </a:r>
                      <a:endParaRPr sz="21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RGB画像と光学フロー</a:t>
                      </a:r>
                      <a:endParaRPr sz="21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98.0%</a:t>
                      </a:r>
                      <a:endParaRPr sz="21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ImageNetとKineticsで事前学習し、UCF101で微調整した。公式3分割の平均。</a:t>
            </a:r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Carreira &amp; Zisserman (2017), CVPR, Table 5. https://arxiv.org/abs/1705.07750</a:t>
            </a:r>
            <a:endParaRPr sz="85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VideoMAEの結果は事前学習データで変わる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UCF101の自己教師あり学習への利用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ViT-Bの事前学習データ </a:t>
                      </a:r>
                      <a:r>
                        <a:rPr sz="950" lang="ja-JP">
                          <a:solidFill>
                            <a:srgbClr val="626669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Top-1正解率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UCF101のみ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91.3%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Kinetics-400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96.1%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38328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どちらもUCF101で微調整した報告値。映像の隠した部分を復元するVideoMAEを使う。</a:t>
            </a:r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Tong et al. (2022), NeurIPS, Table 13. https://arxiv.org/abs/2203.12602</a:t>
            </a:r>
            <a:endParaRPr sz="85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2024年には映像特徴の評価にも使われた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UCF101の近年の利用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固定する特徴モデル </a:t>
                      </a:r>
                      <a:r>
                        <a:rPr sz="950" lang="ja-JP">
                          <a:solidFill>
                            <a:srgbClr val="626669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Top-1正解率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DINOv2-g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91.2%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TVTSv2-H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91.8%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InternVideo2 第2段階・6B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97.3%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特徴を固定し、UCF101の学習用で線形分類器を学習する。特徴モデルの事前学習条件は異なる。</a:t>
            </a:r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Wang et al. (2024), InternVideo2, Table 4. https://arxiv.org/abs/2403.15377</a:t>
            </a:r>
            <a:endParaRPr sz="85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高い正解率だけで時間順序の理解は示せない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UCF101の測れる範囲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映像には、行動の動きだけでなく物体や背景も写る。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背景や道具だけでも、行動カテゴリの手がかりになりうる。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2024年の比較では画像特徴モデルDINOv2を使う方式も91.2%だった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行動分類の正解率と、動作の順序や細かな変化を理解できるかを分けて評価する。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Wang et al. (2024), InternVideo2, Table 4. https://arxiv.org/abs/2403.15377</a:t>
            </a:r>
            <a:endParaRPr sz="85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defRPr sz="4000">
                <a:latin typeface="Noto Sans CJK JP"/>
              </a:defRPr>
              <a:spcAft>
                <a:spcPts val="0"/>
              </a:spcAft>
              <a:buNone/>
            </a:pPr>
            <a:r>
              <a:rPr sz="4000" lang="ja-JP">
                <a:solidFill>
                  <a:srgbClr val="303437"/>
                </a:solidFill>
                <a:latin typeface="Noto Sans CJK JP"/>
                <a:ea typeface="Noto Sans CJK JP"/>
              </a:rPr>
              <a:t>4 利用の変遷と現在</a:t>
            </a:r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先行データより多くの行動と撮影条件を扱った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UCF101の先行データとの違い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先行するKTHは、同じ撮影条件で6種類の行動を扱った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これに対してUCF101は、YouTubeの自然な映像で101種類を扱う。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また、映画などから集めたHMDB51は51種類だった。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UCF101は約2倍の行動カテゴリを設け、より多くの種類を区別する評価へ広げた。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§1 / Table 2. https://arxiv.org/abs/1212.0402</a:t>
            </a:r>
            <a:endParaRPr sz="85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後続データでは規模と動作の細かさが広がった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UCF101の後続データとの違い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2017年のKineticsは400行動・306,245クリップを扱った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lvl="1" marL="42672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–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UCF101の約4倍の行動数、約23倍のクリップ数へ規模を広げた。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同年のSomething-Somethingは、物を動かすなど174種類の細かい行動を扱った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lvl="1" marL="42672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–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UCF101のスポーツや日常動作に対し、手と物の関係や移動方向を細かく区別する。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Kay et al. (2017), Table 1. https://arxiv.org/abs/1705.06950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Goyal et al. (2017), ICCV. https://arxiv.org/abs/1706.04261</a:t>
            </a:r>
            <a:endParaRPr sz="85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現在は小規模な転移先や再現実験にも使われる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UCF101の利用の変遷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登場時は、自然な映像の多クラス行動認識を評価する資源だった。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その後は、Kineticsなどで学んだ動画モデルの転移先にも使われた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2024年のInternVideo2も、線形分類・ゼロショット評価に用いた。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2026年時点でも、MMAction2にはUCF101の取得・前処理・評価用ファイルを作る手順がある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Carreira &amp; Zisserman (2017). https://arxiv.org/abs/1705.07750 / Wang et al. (2024). https://arxiv.org/abs/2403.15377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MMAction2のUCF101手順. https://github.com/open-mmlab/mmaction2/tree/main/tools/data/ucf101</a:t>
            </a:r>
            <a:endParaRPr sz="85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defRPr sz="4000">
                <a:latin typeface="Noto Sans CJK JP"/>
              </a:defRPr>
              <a:spcAft>
                <a:spcPts val="0"/>
              </a:spcAft>
              <a:buNone/>
            </a:pPr>
            <a:r>
              <a:rPr sz="4000" lang="ja-JP">
                <a:solidFill>
                  <a:srgbClr val="303437"/>
                </a:solidFill>
                <a:latin typeface="Noto Sans CJK JP"/>
                <a:ea typeface="Noto Sans CJK JP"/>
              </a:rPr>
              <a:t>5 入手方法とまとめ</a:t>
            </a:r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動画本体と3分割のリストを取得する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UCF101の入手方法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公式配布元から、動画のアーカイブと学習・テスト分割のZIPを取得する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展開したカテゴリ別フォルダと分割リストを対応させる。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データを扱うMMAction2などの手順で、フレーム抽出と入力用リストを準備できる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利用条件は公式配布元で確認する。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UCF101公式配布元. https://www.crcv.ucf.edu/data/UCF101.php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MMAction2のUCF101手順. https://github.com/open-mmlab/mmaction2/tree/main/tools/data/ucf101</a:t>
            </a:r>
            <a:endParaRPr sz="85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UCF101は動画モデルの行動認識と転移を評価する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UCF101のまとめ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101種類の行動を扱う13,320クリップのデータセット。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自然なYouTube映像で、多様な行動を評価するため2012年に作られた。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同じ背景や人物を共有するグループを単位に分割する。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登場時の分類評価から、事前学習モデルの転移・特徴評価にも用途が広がった。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正解率を比較するときは、分割・事前学習・評価方式をそろえる。</a:t>
            </a:r>
            <a:endParaRPr sz="22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Appendixの目次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補足資料の構成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1"/>
            </a:pPr>
            <a:r>
              <a:rPr sz="2300">
                <a:solidFill>
                  <a:srgbClr val="303437"/>
                </a:solidFill>
                <a:latin typeface="Noto Sans CJK JP"/>
              </a:rPr>
              <a:t>著者と発表先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2"/>
            </a:pPr>
            <a:r>
              <a:rPr sz="2300">
                <a:solidFill>
                  <a:srgbClr val="303437"/>
                </a:solidFill>
                <a:latin typeface="Noto Sans CJK JP"/>
              </a:rPr>
              <a:t>追加の行動例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3"/>
            </a:pPr>
            <a:r>
              <a:rPr sz="2300">
                <a:solidFill>
                  <a:srgbClr val="303437"/>
                </a:solidFill>
                <a:latin typeface="Noto Sans CJK JP"/>
              </a:rPr>
              <a:t>101カテゴリの一覧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4"/>
            </a:pPr>
            <a:r>
              <a:rPr sz="2300">
                <a:solidFill>
                  <a:srgbClr val="303437"/>
                </a:solidFill>
                <a:latin typeface="Noto Sans CJK JP"/>
              </a:rPr>
              <a:t>本数とグループの統計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5"/>
            </a:pPr>
            <a:r>
              <a:rPr sz="2300">
                <a:solidFill>
                  <a:srgbClr val="303437"/>
                </a:solidFill>
                <a:latin typeface="Noto Sans CJK JP"/>
              </a:rPr>
              <a:t>評価の補足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6"/>
            </a:pPr>
            <a:r>
              <a:rPr sz="2300">
                <a:solidFill>
                  <a:srgbClr val="303437"/>
                </a:solidFill>
                <a:latin typeface="Noto Sans CJK JP"/>
              </a:rPr>
              <a:t>入手と集計のコード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7"/>
            </a:pPr>
            <a:r>
              <a:rPr sz="2300">
                <a:solidFill>
                  <a:srgbClr val="303437"/>
                </a:solidFill>
                <a:latin typeface="Noto Sans CJK JP"/>
              </a:rPr>
              <a:t>参考文献</a:t>
            </a:r>
            <a:endParaRPr sz="24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2012年の技術報告として発表された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1 著者と発表先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CRCV-TR-12-01としてまとめ、2012-12-03にarXivへ投稿した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第一著者のKhurram Soomroは、UCF101を構築した行動認識研究者。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最終著者のMubarak Shahは、動画の行動認識を研究し、UCF50やUCF Sportsにも取り組んだ。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当時の著者の所属は、セントラルフロリダ大学のコンピュータビジョン研究センター。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表紙・参考文献 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[9–10]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. https://arxiv.org/abs/1212.0402</a:t>
            </a:r>
            <a:endParaRPr sz="85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編み物の例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追加の行動例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クリップの代表フレーム</a:t>
            </a:r>
            <a:endParaRPr sz="1400"/>
          </a:p>
        </p:txBody>
      </p:sp>
      <p:pic>
        <p:nvPicPr>
          <p:cNvPr id="5" name="Picture 4" descr="Knitti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1792224"/>
            <a:ext cx="303276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1627632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正解は編み物</a:t>
            </a:r>
            <a:endParaRPr sz="2300"/>
          </a:p>
        </p:txBody>
      </p:sp>
      <p:sp>
        <p:nvSpPr>
          <p:cNvPr id="7" name="TextBox 6"/>
          <p:cNvSpPr txBox="1"/>
          <p:nvPr/>
        </p:nvSpPr>
        <p:spPr>
          <a:xfrm>
            <a:off x="4617720" y="2286000"/>
            <a:ext cx="3931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Liberation Sans"/>
              </a:defRPr>
              <a:buNone/>
            </a:pPr>
            <a:r>
              <a:rPr sz="1900" lang="en-US">
                <a:solidFill>
                  <a:srgbClr val="303437"/>
                </a:solidFill>
                <a:latin typeface="Liberation Sans"/>
                <a:ea typeface="Liberation Sans"/>
              </a:rPr>
              <a:t>Knitting</a:t>
            </a:r>
            <a:endParaRPr sz="1900"/>
          </a:p>
        </p:txBody>
      </p:sp>
      <p:sp>
        <p:nvSpPr>
          <p:cNvPr id="8" name="TextBox 7"/>
          <p:cNvSpPr txBox="1"/>
          <p:nvPr/>
        </p:nvSpPr>
        <p:spPr>
          <a:xfrm>
            <a:off x="4617720" y="2926080"/>
            <a:ext cx="39319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手と道具を使う細かな作業を扱う。手元の見え方が行動の手がかりになる。</a:t>
            </a:r>
            <a:endParaRPr sz="2100"/>
          </a:p>
        </p:txBody>
      </p:sp>
      <p:sp>
        <p:nvSpPr>
          <p:cNvPr id="9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Figure 2. https://arxiv.org/abs/1212.0402 / Knitting / class ID 50</a:t>
            </a:r>
            <a:endParaRPr sz="85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ヨーヨーの例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追加の行動例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クリップの代表フレーム</a:t>
            </a:r>
            <a:endParaRPr sz="1400"/>
          </a:p>
        </p:txBody>
      </p:sp>
      <p:pic>
        <p:nvPicPr>
          <p:cNvPr id="5" name="Picture 4" descr="YoY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1792224"/>
            <a:ext cx="303276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1627632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正解はヨーヨー</a:t>
            </a:r>
            <a:endParaRPr sz="2300"/>
          </a:p>
        </p:txBody>
      </p:sp>
      <p:sp>
        <p:nvSpPr>
          <p:cNvPr id="7" name="TextBox 6"/>
          <p:cNvSpPr txBox="1"/>
          <p:nvPr/>
        </p:nvSpPr>
        <p:spPr>
          <a:xfrm>
            <a:off x="4617720" y="2286000"/>
            <a:ext cx="3931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Liberation Sans"/>
              </a:defRPr>
              <a:buNone/>
            </a:pPr>
            <a:r>
              <a:rPr sz="1900" lang="en-US">
                <a:solidFill>
                  <a:srgbClr val="303437"/>
                </a:solidFill>
                <a:latin typeface="Liberation Sans"/>
                <a:ea typeface="Liberation Sans"/>
              </a:rPr>
              <a:t>YoYo</a:t>
            </a:r>
            <a:endParaRPr sz="1900"/>
          </a:p>
        </p:txBody>
      </p:sp>
      <p:sp>
        <p:nvSpPr>
          <p:cNvPr id="8" name="TextBox 7"/>
          <p:cNvSpPr txBox="1"/>
          <p:nvPr/>
        </p:nvSpPr>
        <p:spPr>
          <a:xfrm>
            <a:off x="4617720" y="2926080"/>
            <a:ext cx="39319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手とヨーヨーの関係を扱う。小さい物体の移動も行動に関係する。</a:t>
            </a:r>
            <a:endParaRPr sz="2100"/>
          </a:p>
        </p:txBody>
      </p:sp>
      <p:sp>
        <p:nvSpPr>
          <p:cNvPr id="9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Figure 2. https://arxiv.org/abs/1212.0402 / YoYo / class ID 101</a:t>
            </a:r>
            <a:endParaRPr sz="85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赤ちゃんのはいはいの例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追加の行動例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クリップの代表フレーム</a:t>
            </a:r>
            <a:endParaRPr sz="1400"/>
          </a:p>
        </p:txBody>
      </p:sp>
      <p:pic>
        <p:nvPicPr>
          <p:cNvPr id="5" name="Picture 4" descr="BabyCrawli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1792224"/>
            <a:ext cx="303276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1627632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正解は赤ちゃんのはいはい</a:t>
            </a:r>
            <a:endParaRPr sz="2300"/>
          </a:p>
        </p:txBody>
      </p:sp>
      <p:sp>
        <p:nvSpPr>
          <p:cNvPr id="7" name="TextBox 6"/>
          <p:cNvSpPr txBox="1"/>
          <p:nvPr/>
        </p:nvSpPr>
        <p:spPr>
          <a:xfrm>
            <a:off x="4617720" y="2286000"/>
            <a:ext cx="3931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Liberation Sans"/>
              </a:defRPr>
              <a:buNone/>
            </a:pPr>
            <a:r>
              <a:rPr sz="1900" lang="en-US">
                <a:solidFill>
                  <a:srgbClr val="303437"/>
                </a:solidFill>
                <a:latin typeface="Liberation Sans"/>
                <a:ea typeface="Liberation Sans"/>
              </a:rPr>
              <a:t>BabyCrawling</a:t>
            </a:r>
            <a:endParaRPr sz="1900"/>
          </a:p>
        </p:txBody>
      </p:sp>
      <p:sp>
        <p:nvSpPr>
          <p:cNvPr id="8" name="TextBox 7"/>
          <p:cNvSpPr txBox="1"/>
          <p:nvPr/>
        </p:nvSpPr>
        <p:spPr>
          <a:xfrm>
            <a:off x="4617720" y="2926080"/>
            <a:ext cx="39319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床に近い姿勢での移動を扱う。年齢に特徴のある行動もカテゴリに含む。</a:t>
            </a:r>
            <a:endParaRPr sz="2100"/>
          </a:p>
        </p:txBody>
      </p:sp>
      <p:sp>
        <p:nvSpPr>
          <p:cNvPr id="9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Figure 2. https://arxiv.org/abs/1212.0402 / BabyCrawling / class ID 4</a:t>
            </a:r>
            <a:endParaRPr sz="85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散髪の例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追加の行動例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クリップの代表フレーム</a:t>
            </a:r>
            <a:endParaRPr sz="1400"/>
          </a:p>
        </p:txBody>
      </p:sp>
      <p:pic>
        <p:nvPicPr>
          <p:cNvPr id="5" name="Picture 4" descr="Haircut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1792224"/>
            <a:ext cx="303276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1627632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正解は散髪</a:t>
            </a:r>
            <a:endParaRPr sz="2300"/>
          </a:p>
        </p:txBody>
      </p:sp>
      <p:sp>
        <p:nvSpPr>
          <p:cNvPr id="7" name="TextBox 6"/>
          <p:cNvSpPr txBox="1"/>
          <p:nvPr/>
        </p:nvSpPr>
        <p:spPr>
          <a:xfrm>
            <a:off x="4617720" y="2286000"/>
            <a:ext cx="3931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Liberation Sans"/>
              </a:defRPr>
              <a:buNone/>
            </a:pPr>
            <a:r>
              <a:rPr sz="1900" lang="en-US">
                <a:solidFill>
                  <a:srgbClr val="303437"/>
                </a:solidFill>
                <a:latin typeface="Liberation Sans"/>
                <a:ea typeface="Liberation Sans"/>
              </a:rPr>
              <a:t>Haircut</a:t>
            </a:r>
            <a:endParaRPr sz="1900"/>
          </a:p>
        </p:txBody>
      </p:sp>
      <p:sp>
        <p:nvSpPr>
          <p:cNvPr id="8" name="TextBox 7"/>
          <p:cNvSpPr txBox="1"/>
          <p:nvPr/>
        </p:nvSpPr>
        <p:spPr>
          <a:xfrm>
            <a:off x="4617720" y="2926080"/>
            <a:ext cx="39319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人が別の人に行う作業を扱う。複数の人物が写る映像も対象となる。</a:t>
            </a:r>
            <a:endParaRPr sz="2100"/>
          </a:p>
        </p:txBody>
      </p:sp>
      <p:sp>
        <p:nvSpPr>
          <p:cNvPr id="9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Figure 2. https://arxiv.org/abs/1212.0402 / Haircut / class ID 34</a:t>
            </a:r>
            <a:endParaRPr sz="85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ギターの演奏の例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追加の行動例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クリップの代表フレーム</a:t>
            </a:r>
            <a:endParaRPr sz="1400"/>
          </a:p>
        </p:txBody>
      </p:sp>
      <p:pic>
        <p:nvPicPr>
          <p:cNvPr id="5" name="Picture 4" descr="PlayingGuitar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994" y="1792224"/>
            <a:ext cx="3037771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1627632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正解はギターの演奏</a:t>
            </a:r>
            <a:endParaRPr sz="2300"/>
          </a:p>
        </p:txBody>
      </p:sp>
      <p:sp>
        <p:nvSpPr>
          <p:cNvPr id="7" name="TextBox 6"/>
          <p:cNvSpPr txBox="1"/>
          <p:nvPr/>
        </p:nvSpPr>
        <p:spPr>
          <a:xfrm>
            <a:off x="4617720" y="2286000"/>
            <a:ext cx="3931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Liberation Sans"/>
              </a:defRPr>
              <a:buNone/>
            </a:pPr>
            <a:r>
              <a:rPr sz="1900" lang="en-US">
                <a:solidFill>
                  <a:srgbClr val="303437"/>
                </a:solidFill>
                <a:latin typeface="Liberation Sans"/>
                <a:ea typeface="Liberation Sans"/>
              </a:rPr>
              <a:t>PlayingGuitar</a:t>
            </a:r>
            <a:endParaRPr sz="1900"/>
          </a:p>
        </p:txBody>
      </p:sp>
      <p:sp>
        <p:nvSpPr>
          <p:cNvPr id="8" name="TextBox 7"/>
          <p:cNvSpPr txBox="1"/>
          <p:nvPr/>
        </p:nvSpPr>
        <p:spPr>
          <a:xfrm>
            <a:off x="4617720" y="2926080"/>
            <a:ext cx="39319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楽器と演奏者を扱う。楽器の種類もカテゴリを区別する手がかりになる。</a:t>
            </a:r>
            <a:endParaRPr sz="2100"/>
          </a:p>
        </p:txBody>
      </p:sp>
      <p:sp>
        <p:nvSpPr>
          <p:cNvPr id="9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Figure 2. https://arxiv.org/abs/1212.0402 / PlayingGuitar / class ID 63</a:t>
            </a:r>
            <a:endParaRPr sz="85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ビリヤードの例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追加の行動例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クリップの代表フレーム</a:t>
            </a:r>
            <a:endParaRPr sz="1400"/>
          </a:p>
        </p:txBody>
      </p:sp>
      <p:pic>
        <p:nvPicPr>
          <p:cNvPr id="5" name="Picture 4" descr="Billiard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125" y="1792224"/>
            <a:ext cx="3103509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1627632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正解はビリヤード</a:t>
            </a:r>
            <a:endParaRPr sz="2300"/>
          </a:p>
        </p:txBody>
      </p:sp>
      <p:sp>
        <p:nvSpPr>
          <p:cNvPr id="7" name="TextBox 6"/>
          <p:cNvSpPr txBox="1"/>
          <p:nvPr/>
        </p:nvSpPr>
        <p:spPr>
          <a:xfrm>
            <a:off x="4617720" y="2286000"/>
            <a:ext cx="3931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Liberation Sans"/>
              </a:defRPr>
              <a:buNone/>
            </a:pPr>
            <a:r>
              <a:rPr sz="1900" lang="en-US">
                <a:solidFill>
                  <a:srgbClr val="303437"/>
                </a:solidFill>
                <a:latin typeface="Liberation Sans"/>
                <a:ea typeface="Liberation Sans"/>
              </a:rPr>
              <a:t>Billiards</a:t>
            </a:r>
            <a:endParaRPr sz="1900"/>
          </a:p>
        </p:txBody>
      </p:sp>
      <p:sp>
        <p:nvSpPr>
          <p:cNvPr id="8" name="TextBox 7"/>
          <p:cNvSpPr txBox="1"/>
          <p:nvPr/>
        </p:nvSpPr>
        <p:spPr>
          <a:xfrm>
            <a:off x="4617720" y="2926080"/>
            <a:ext cx="39319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台やキューなど、競技に特徴的な物体と動きを扱う。</a:t>
            </a:r>
            <a:endParaRPr sz="2100"/>
          </a:p>
        </p:txBody>
      </p:sp>
      <p:sp>
        <p:nvSpPr>
          <p:cNvPr id="9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Figure 2. https://arxiv.org/abs/1212.0402 / Billiards / class ID 12</a:t>
            </a:r>
            <a:endParaRPr sz="85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バスケットボールのダンクの例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追加の行動例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クリップの代表フレーム</a:t>
            </a:r>
            <a:endParaRPr sz="1400"/>
          </a:p>
        </p:txBody>
      </p:sp>
      <p:pic>
        <p:nvPicPr>
          <p:cNvPr id="5" name="Picture 4" descr="BasketballDunk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125" y="1792224"/>
            <a:ext cx="3103509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1627632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Noto Sans CJK JP"/>
              </a:defRPr>
              <a:buNone/>
            </a:pPr>
            <a:r>
              <a:rPr sz="19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正解はバスケットボールのダンク</a:t>
            </a:r>
            <a:endParaRPr sz="1900"/>
          </a:p>
        </p:txBody>
      </p:sp>
      <p:sp>
        <p:nvSpPr>
          <p:cNvPr id="7" name="TextBox 6"/>
          <p:cNvSpPr txBox="1"/>
          <p:nvPr/>
        </p:nvSpPr>
        <p:spPr>
          <a:xfrm>
            <a:off x="4617720" y="2286000"/>
            <a:ext cx="3931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Liberation Sans"/>
              </a:defRPr>
              <a:buNone/>
            </a:pPr>
            <a:r>
              <a:rPr sz="1900" lang="en-US">
                <a:solidFill>
                  <a:srgbClr val="303437"/>
                </a:solidFill>
                <a:latin typeface="Liberation Sans"/>
                <a:ea typeface="Liberation Sans"/>
              </a:rPr>
              <a:t>BasketballDunk</a:t>
            </a:r>
            <a:endParaRPr sz="1900"/>
          </a:p>
        </p:txBody>
      </p:sp>
      <p:sp>
        <p:nvSpPr>
          <p:cNvPr id="8" name="TextBox 7"/>
          <p:cNvSpPr txBox="1"/>
          <p:nvPr/>
        </p:nvSpPr>
        <p:spPr>
          <a:xfrm>
            <a:off x="4617720" y="2926080"/>
            <a:ext cx="39319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一般的なバスケットボールと、ダンクを別カテゴリとして扱う。</a:t>
            </a:r>
            <a:endParaRPr sz="2100"/>
          </a:p>
        </p:txBody>
      </p:sp>
      <p:sp>
        <p:nvSpPr>
          <p:cNvPr id="9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Figure 2. https://arxiv.org/abs/1212.0402 / BasketballDunk / class ID 9</a:t>
            </a:r>
            <a:endParaRPr sz="85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サーフィンの例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追加の行動例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クリップの代表フレーム</a:t>
            </a:r>
            <a:endParaRPr sz="1400"/>
          </a:p>
        </p:txBody>
      </p:sp>
      <p:pic>
        <p:nvPicPr>
          <p:cNvPr id="5" name="Picture 4" descr="Surfi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994" y="1792224"/>
            <a:ext cx="3037771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1627632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正解はサーフィン</a:t>
            </a:r>
            <a:endParaRPr sz="2300"/>
          </a:p>
        </p:txBody>
      </p:sp>
      <p:sp>
        <p:nvSpPr>
          <p:cNvPr id="7" name="TextBox 6"/>
          <p:cNvSpPr txBox="1"/>
          <p:nvPr/>
        </p:nvSpPr>
        <p:spPr>
          <a:xfrm>
            <a:off x="4617720" y="2286000"/>
            <a:ext cx="3931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Liberation Sans"/>
              </a:defRPr>
              <a:buNone/>
            </a:pPr>
            <a:r>
              <a:rPr sz="1900" lang="en-US">
                <a:solidFill>
                  <a:srgbClr val="303437"/>
                </a:solidFill>
                <a:latin typeface="Liberation Sans"/>
                <a:ea typeface="Liberation Sans"/>
              </a:rPr>
              <a:t>Surfing</a:t>
            </a:r>
            <a:endParaRPr sz="1900"/>
          </a:p>
        </p:txBody>
      </p:sp>
      <p:sp>
        <p:nvSpPr>
          <p:cNvPr id="8" name="TextBox 7"/>
          <p:cNvSpPr txBox="1"/>
          <p:nvPr/>
        </p:nvSpPr>
        <p:spPr>
          <a:xfrm>
            <a:off x="4617720" y="2926080"/>
            <a:ext cx="39319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人と波の動きがあり、屋外の背景と撮影条件も変化する。</a:t>
            </a:r>
            <a:endParaRPr sz="2100"/>
          </a:p>
        </p:txBody>
      </p:sp>
      <p:sp>
        <p:nvSpPr>
          <p:cNvPr id="9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Figure 2. https://arxiv.org/abs/1212.0402 / Surfing / class ID 88</a:t>
            </a:r>
            <a:endParaRPr sz="85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タイピングの例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追加の行動例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クリップの代表フレーム</a:t>
            </a:r>
            <a:endParaRPr sz="1400"/>
          </a:p>
        </p:txBody>
      </p:sp>
      <p:pic>
        <p:nvPicPr>
          <p:cNvPr id="5" name="Picture 4" descr="Typi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1792224"/>
            <a:ext cx="303276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1627632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正解はタイピング</a:t>
            </a:r>
            <a:endParaRPr sz="2300"/>
          </a:p>
        </p:txBody>
      </p:sp>
      <p:sp>
        <p:nvSpPr>
          <p:cNvPr id="7" name="TextBox 6"/>
          <p:cNvSpPr txBox="1"/>
          <p:nvPr/>
        </p:nvSpPr>
        <p:spPr>
          <a:xfrm>
            <a:off x="4617720" y="2286000"/>
            <a:ext cx="3931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Liberation Sans"/>
              </a:defRPr>
              <a:buNone/>
            </a:pPr>
            <a:r>
              <a:rPr sz="1900" lang="en-US">
                <a:solidFill>
                  <a:srgbClr val="303437"/>
                </a:solidFill>
                <a:latin typeface="Liberation Sans"/>
                <a:ea typeface="Liberation Sans"/>
              </a:rPr>
              <a:t>Typing</a:t>
            </a:r>
            <a:endParaRPr sz="1900"/>
          </a:p>
        </p:txBody>
      </p:sp>
      <p:sp>
        <p:nvSpPr>
          <p:cNvPr id="8" name="TextBox 7"/>
          <p:cNvSpPr txBox="1"/>
          <p:nvPr/>
        </p:nvSpPr>
        <p:spPr>
          <a:xfrm>
            <a:off x="4617720" y="2926080"/>
            <a:ext cx="39319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手元の小さな動きとキーボードを扱う。身体全体の大きな動きに限らない。</a:t>
            </a:r>
            <a:endParaRPr sz="2100"/>
          </a:p>
        </p:txBody>
      </p:sp>
      <p:sp>
        <p:nvSpPr>
          <p:cNvPr id="9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Figure 2. https://arxiv.org/abs/1212.0402 / Typing / class ID 95</a:t>
            </a:r>
            <a:endParaRPr sz="85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スケートボードの例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追加の行動例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クリップの代表フレーム</a:t>
            </a:r>
            <a:endParaRPr sz="1400"/>
          </a:p>
        </p:txBody>
      </p:sp>
      <p:pic>
        <p:nvPicPr>
          <p:cNvPr id="5" name="Picture 4" descr="SkateBoardi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1792224"/>
            <a:ext cx="303276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1627632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正解はスケートボード</a:t>
            </a:r>
            <a:endParaRPr sz="2300"/>
          </a:p>
        </p:txBody>
      </p:sp>
      <p:sp>
        <p:nvSpPr>
          <p:cNvPr id="7" name="TextBox 6"/>
          <p:cNvSpPr txBox="1"/>
          <p:nvPr/>
        </p:nvSpPr>
        <p:spPr>
          <a:xfrm>
            <a:off x="4617720" y="2286000"/>
            <a:ext cx="3931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Liberation Sans"/>
              </a:defRPr>
              <a:buNone/>
            </a:pPr>
            <a:r>
              <a:rPr sz="1900" lang="en-US">
                <a:solidFill>
                  <a:srgbClr val="303437"/>
                </a:solidFill>
                <a:latin typeface="Liberation Sans"/>
                <a:ea typeface="Liberation Sans"/>
              </a:rPr>
              <a:t>SkateBoarding</a:t>
            </a:r>
            <a:endParaRPr sz="1900"/>
          </a:p>
        </p:txBody>
      </p:sp>
      <p:sp>
        <p:nvSpPr>
          <p:cNvPr id="8" name="TextBox 7"/>
          <p:cNvSpPr txBox="1"/>
          <p:nvPr/>
        </p:nvSpPr>
        <p:spPr>
          <a:xfrm>
            <a:off x="4617720" y="2926080"/>
            <a:ext cx="39319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人と板が移動する行動を扱う。スポーツ以外の公式区分に整理されている。</a:t>
            </a:r>
            <a:endParaRPr sz="2100"/>
          </a:p>
        </p:txBody>
      </p:sp>
      <p:sp>
        <p:nvSpPr>
          <p:cNvPr id="9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Figure 2. https://arxiv.org/abs/1212.0402 / SkateBoarding / class ID 80</a:t>
            </a:r>
            <a:endParaRPr sz="85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人と物との相互作用のカテゴリ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3 101カテゴリの一覧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ApplyEyeMakeup</a:t>
            </a:r>
            <a:endParaRPr sz="2100"/>
          </a:p>
        </p:txBody>
      </p:sp>
      <p:sp>
        <p:nvSpPr>
          <p:cNvPr id="5" name="TextBox 4"/>
          <p:cNvSpPr txBox="1"/>
          <p:nvPr/>
        </p:nvSpPr>
        <p:spPr>
          <a:xfrm>
            <a:off x="3794760" y="151790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1</a:t>
            </a:r>
            <a:endParaRPr sz="850"/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ApplyLipstick</a:t>
            </a:r>
            <a:endParaRPr sz="2100"/>
          </a:p>
        </p:txBody>
      </p:sp>
      <p:sp>
        <p:nvSpPr>
          <p:cNvPr id="7" name="TextBox 6"/>
          <p:cNvSpPr txBox="1"/>
          <p:nvPr/>
        </p:nvSpPr>
        <p:spPr>
          <a:xfrm>
            <a:off x="3794760" y="182880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2</a:t>
            </a:r>
            <a:endParaRPr sz="850"/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BlowDryHair</a:t>
            </a:r>
            <a:endParaRPr sz="2100"/>
          </a:p>
        </p:txBody>
      </p:sp>
      <p:sp>
        <p:nvSpPr>
          <p:cNvPr id="9" name="TextBox 8"/>
          <p:cNvSpPr txBox="1"/>
          <p:nvPr/>
        </p:nvSpPr>
        <p:spPr>
          <a:xfrm>
            <a:off x="3794760" y="213969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13</a:t>
            </a:r>
            <a:endParaRPr sz="850"/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BrushingTeeth</a:t>
            </a:r>
            <a:endParaRPr sz="2100"/>
          </a:p>
        </p:txBody>
      </p:sp>
      <p:sp>
        <p:nvSpPr>
          <p:cNvPr id="11" name="TextBox 10"/>
          <p:cNvSpPr txBox="1"/>
          <p:nvPr/>
        </p:nvSpPr>
        <p:spPr>
          <a:xfrm>
            <a:off x="3794760" y="245059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20</a:t>
            </a:r>
            <a:endParaRPr sz="850"/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CuttingInKitchen</a:t>
            </a:r>
            <a:endParaRPr sz="2100"/>
          </a:p>
        </p:txBody>
      </p:sp>
      <p:sp>
        <p:nvSpPr>
          <p:cNvPr id="13" name="TextBox 12"/>
          <p:cNvSpPr txBox="1"/>
          <p:nvPr/>
        </p:nvSpPr>
        <p:spPr>
          <a:xfrm>
            <a:off x="3794760" y="27614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25</a:t>
            </a:r>
            <a:endParaRPr sz="850"/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Hammering</a:t>
            </a:r>
            <a:endParaRPr sz="2100"/>
          </a:p>
        </p:txBody>
      </p:sp>
      <p:sp>
        <p:nvSpPr>
          <p:cNvPr id="15" name="TextBox 14"/>
          <p:cNvSpPr txBox="1"/>
          <p:nvPr/>
        </p:nvSpPr>
        <p:spPr>
          <a:xfrm>
            <a:off x="3794760" y="307238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35</a:t>
            </a:r>
            <a:endParaRPr sz="850"/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HulaHoop</a:t>
            </a:r>
            <a:endParaRPr sz="2100"/>
          </a:p>
        </p:txBody>
      </p:sp>
      <p:sp>
        <p:nvSpPr>
          <p:cNvPr id="17" name="TextBox 16"/>
          <p:cNvSpPr txBox="1"/>
          <p:nvPr/>
        </p:nvSpPr>
        <p:spPr>
          <a:xfrm>
            <a:off x="3794760" y="338328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43</a:t>
            </a:r>
            <a:endParaRPr sz="850"/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JugglingBalls</a:t>
            </a:r>
            <a:endParaRPr sz="2100"/>
          </a:p>
        </p:txBody>
      </p:sp>
      <p:sp>
        <p:nvSpPr>
          <p:cNvPr id="19" name="TextBox 18"/>
          <p:cNvSpPr txBox="1"/>
          <p:nvPr/>
        </p:nvSpPr>
        <p:spPr>
          <a:xfrm>
            <a:off x="3794760" y="369417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46</a:t>
            </a:r>
            <a:endParaRPr sz="850"/>
          </a:p>
        </p:txBody>
      </p:sp>
      <p:sp>
        <p:nvSpPr>
          <p:cNvPr id="20" name="TextBox 19"/>
          <p:cNvSpPr txBox="1"/>
          <p:nvPr/>
        </p:nvSpPr>
        <p:spPr>
          <a:xfrm>
            <a:off x="59436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JumpRope</a:t>
            </a:r>
            <a:endParaRPr sz="2100"/>
          </a:p>
        </p:txBody>
      </p:sp>
      <p:sp>
        <p:nvSpPr>
          <p:cNvPr id="21" name="TextBox 20"/>
          <p:cNvSpPr txBox="1"/>
          <p:nvPr/>
        </p:nvSpPr>
        <p:spPr>
          <a:xfrm>
            <a:off x="3794760" y="400507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48</a:t>
            </a:r>
            <a:endParaRPr sz="850"/>
          </a:p>
        </p:txBody>
      </p:sp>
      <p:sp>
        <p:nvSpPr>
          <p:cNvPr id="22" name="TextBox 21"/>
          <p:cNvSpPr txBox="1"/>
          <p:nvPr/>
        </p:nvSpPr>
        <p:spPr>
          <a:xfrm>
            <a:off x="594360" y="426110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Knitting</a:t>
            </a:r>
            <a:endParaRPr sz="2100"/>
          </a:p>
        </p:txBody>
      </p:sp>
      <p:sp>
        <p:nvSpPr>
          <p:cNvPr id="23" name="TextBox 22"/>
          <p:cNvSpPr txBox="1"/>
          <p:nvPr/>
        </p:nvSpPr>
        <p:spPr>
          <a:xfrm>
            <a:off x="3794760" y="431596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50</a:t>
            </a:r>
            <a:endParaRPr sz="850"/>
          </a:p>
        </p:txBody>
      </p:sp>
      <p:sp>
        <p:nvSpPr>
          <p:cNvPr id="24" name="TextBox 23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Mixing</a:t>
            </a:r>
            <a:endParaRPr sz="2100"/>
          </a:p>
        </p:txBody>
      </p:sp>
      <p:sp>
        <p:nvSpPr>
          <p:cNvPr id="25" name="TextBox 24"/>
          <p:cNvSpPr txBox="1"/>
          <p:nvPr/>
        </p:nvSpPr>
        <p:spPr>
          <a:xfrm>
            <a:off x="7955279" y="151790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54</a:t>
            </a:r>
            <a:endParaRPr sz="850"/>
          </a:p>
        </p:txBody>
      </p:sp>
      <p:sp>
        <p:nvSpPr>
          <p:cNvPr id="26" name="TextBox 25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MoppingFloor</a:t>
            </a:r>
            <a:endParaRPr sz="2100"/>
          </a:p>
        </p:txBody>
      </p:sp>
      <p:sp>
        <p:nvSpPr>
          <p:cNvPr id="27" name="TextBox 26"/>
          <p:cNvSpPr txBox="1"/>
          <p:nvPr/>
        </p:nvSpPr>
        <p:spPr>
          <a:xfrm>
            <a:off x="7955279" y="182880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55</a:t>
            </a:r>
            <a:endParaRPr sz="850"/>
          </a:p>
        </p:txBody>
      </p:sp>
      <p:sp>
        <p:nvSpPr>
          <p:cNvPr id="28" name="TextBox 27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Nunchucks</a:t>
            </a:r>
            <a:endParaRPr sz="2100"/>
          </a:p>
        </p:txBody>
      </p:sp>
      <p:sp>
        <p:nvSpPr>
          <p:cNvPr id="29" name="TextBox 28"/>
          <p:cNvSpPr txBox="1"/>
          <p:nvPr/>
        </p:nvSpPr>
        <p:spPr>
          <a:xfrm>
            <a:off x="7955279" y="213969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56</a:t>
            </a:r>
            <a:endParaRPr sz="850"/>
          </a:p>
        </p:txBody>
      </p:sp>
      <p:sp>
        <p:nvSpPr>
          <p:cNvPr id="30" name="TextBox 29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PizzaTossing</a:t>
            </a:r>
            <a:endParaRPr sz="2100"/>
          </a:p>
        </p:txBody>
      </p:sp>
      <p:sp>
        <p:nvSpPr>
          <p:cNvPr id="31" name="TextBox 30"/>
          <p:cNvSpPr txBox="1"/>
          <p:nvPr/>
        </p:nvSpPr>
        <p:spPr>
          <a:xfrm>
            <a:off x="7955279" y="245059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58</a:t>
            </a:r>
            <a:endParaRPr sz="850"/>
          </a:p>
        </p:txBody>
      </p:sp>
      <p:sp>
        <p:nvSpPr>
          <p:cNvPr id="32" name="TextBox 31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ShavingBeard</a:t>
            </a:r>
            <a:endParaRPr sz="2100"/>
          </a:p>
        </p:txBody>
      </p:sp>
      <p:sp>
        <p:nvSpPr>
          <p:cNvPr id="33" name="TextBox 32"/>
          <p:cNvSpPr txBox="1"/>
          <p:nvPr/>
        </p:nvSpPr>
        <p:spPr>
          <a:xfrm>
            <a:off x="7955279" y="27614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78</a:t>
            </a:r>
            <a:endParaRPr sz="850"/>
          </a:p>
        </p:txBody>
      </p:sp>
      <p:sp>
        <p:nvSpPr>
          <p:cNvPr id="34" name="TextBox 33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SkateBoarding</a:t>
            </a:r>
            <a:endParaRPr sz="2100"/>
          </a:p>
        </p:txBody>
      </p:sp>
      <p:sp>
        <p:nvSpPr>
          <p:cNvPr id="35" name="TextBox 34"/>
          <p:cNvSpPr txBox="1"/>
          <p:nvPr/>
        </p:nvSpPr>
        <p:spPr>
          <a:xfrm>
            <a:off x="7955279" y="307238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80</a:t>
            </a:r>
            <a:endParaRPr sz="850"/>
          </a:p>
        </p:txBody>
      </p:sp>
      <p:sp>
        <p:nvSpPr>
          <p:cNvPr id="36" name="TextBox 35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SoccerJuggling</a:t>
            </a:r>
            <a:endParaRPr sz="2100"/>
          </a:p>
        </p:txBody>
      </p:sp>
      <p:sp>
        <p:nvSpPr>
          <p:cNvPr id="37" name="TextBox 36"/>
          <p:cNvSpPr txBox="1"/>
          <p:nvPr/>
        </p:nvSpPr>
        <p:spPr>
          <a:xfrm>
            <a:off x="7955279" y="338328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84</a:t>
            </a:r>
            <a:endParaRPr sz="850"/>
          </a:p>
        </p:txBody>
      </p:sp>
      <p:sp>
        <p:nvSpPr>
          <p:cNvPr id="38" name="TextBox 37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Typing</a:t>
            </a:r>
            <a:endParaRPr sz="2100"/>
          </a:p>
        </p:txBody>
      </p:sp>
      <p:sp>
        <p:nvSpPr>
          <p:cNvPr id="39" name="TextBox 38"/>
          <p:cNvSpPr txBox="1"/>
          <p:nvPr/>
        </p:nvSpPr>
        <p:spPr>
          <a:xfrm>
            <a:off x="7955279" y="369417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95</a:t>
            </a:r>
            <a:endParaRPr sz="850"/>
          </a:p>
        </p:txBody>
      </p:sp>
      <p:sp>
        <p:nvSpPr>
          <p:cNvPr id="40" name="TextBox 39"/>
          <p:cNvSpPr txBox="1"/>
          <p:nvPr/>
        </p:nvSpPr>
        <p:spPr>
          <a:xfrm>
            <a:off x="475488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WritingOnBoard</a:t>
            </a:r>
            <a:endParaRPr sz="2100"/>
          </a:p>
        </p:txBody>
      </p:sp>
      <p:sp>
        <p:nvSpPr>
          <p:cNvPr id="41" name="TextBox 40"/>
          <p:cNvSpPr txBox="1"/>
          <p:nvPr/>
        </p:nvSpPr>
        <p:spPr>
          <a:xfrm>
            <a:off x="7955279" y="400507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100</a:t>
            </a:r>
            <a:endParaRPr sz="850"/>
          </a:p>
        </p:txBody>
      </p:sp>
      <p:sp>
        <p:nvSpPr>
          <p:cNvPr id="42" name="TextBox 41"/>
          <p:cNvSpPr txBox="1"/>
          <p:nvPr/>
        </p:nvSpPr>
        <p:spPr>
          <a:xfrm>
            <a:off x="4754880" y="426110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YoYo</a:t>
            </a:r>
            <a:endParaRPr sz="2100"/>
          </a:p>
        </p:txBody>
      </p:sp>
      <p:sp>
        <p:nvSpPr>
          <p:cNvPr id="43" name="TextBox 42"/>
          <p:cNvSpPr txBox="1"/>
          <p:nvPr/>
        </p:nvSpPr>
        <p:spPr>
          <a:xfrm>
            <a:off x="7955279" y="431596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101</a:t>
            </a:r>
            <a:endParaRPr sz="850"/>
          </a:p>
        </p:txBody>
      </p:sp>
      <p:sp>
        <p:nvSpPr>
          <p:cNvPr id="44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配布classInd.txtの全101カテゴリ。右側はクラスID. https://github.com/yjxiong/temporal-segment-networks/tree/master/data/ucf101_splits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5つの型は原著Figure 2に基づく. https://arxiv.org/abs/1212.0402</a:t>
            </a:r>
            <a:endParaRPr sz="85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身体の動きのカテゴリ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3 101カテゴリの一覧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BabyCrawling</a:t>
            </a:r>
            <a:endParaRPr sz="2100"/>
          </a:p>
        </p:txBody>
      </p:sp>
      <p:sp>
        <p:nvSpPr>
          <p:cNvPr id="5" name="TextBox 4"/>
          <p:cNvSpPr txBox="1"/>
          <p:nvPr/>
        </p:nvSpPr>
        <p:spPr>
          <a:xfrm>
            <a:off x="3794760" y="151790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4</a:t>
            </a:r>
            <a:endParaRPr sz="850"/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BlowingCandles</a:t>
            </a:r>
            <a:endParaRPr sz="2100"/>
          </a:p>
        </p:txBody>
      </p:sp>
      <p:sp>
        <p:nvSpPr>
          <p:cNvPr id="7" name="TextBox 6"/>
          <p:cNvSpPr txBox="1"/>
          <p:nvPr/>
        </p:nvSpPr>
        <p:spPr>
          <a:xfrm>
            <a:off x="3794760" y="182880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14</a:t>
            </a:r>
            <a:endParaRPr sz="850"/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BodyWeightSquats</a:t>
            </a:r>
            <a:endParaRPr sz="2100"/>
          </a:p>
        </p:txBody>
      </p:sp>
      <p:sp>
        <p:nvSpPr>
          <p:cNvPr id="9" name="TextBox 8"/>
          <p:cNvSpPr txBox="1"/>
          <p:nvPr/>
        </p:nvSpPr>
        <p:spPr>
          <a:xfrm>
            <a:off x="3794760" y="213969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15</a:t>
            </a:r>
            <a:endParaRPr sz="850"/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HandstandPushups</a:t>
            </a:r>
            <a:endParaRPr sz="2100"/>
          </a:p>
        </p:txBody>
      </p:sp>
      <p:sp>
        <p:nvSpPr>
          <p:cNvPr id="11" name="TextBox 10"/>
          <p:cNvSpPr txBox="1"/>
          <p:nvPr/>
        </p:nvSpPr>
        <p:spPr>
          <a:xfrm>
            <a:off x="3794760" y="245059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37</a:t>
            </a:r>
            <a:endParaRPr sz="850"/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HandstandWalking</a:t>
            </a:r>
            <a:endParaRPr sz="2100"/>
          </a:p>
        </p:txBody>
      </p:sp>
      <p:sp>
        <p:nvSpPr>
          <p:cNvPr id="13" name="TextBox 12"/>
          <p:cNvSpPr txBox="1"/>
          <p:nvPr/>
        </p:nvSpPr>
        <p:spPr>
          <a:xfrm>
            <a:off x="3794760" y="27614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38</a:t>
            </a:r>
            <a:endParaRPr sz="850"/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JumpingJack</a:t>
            </a:r>
            <a:endParaRPr sz="2100"/>
          </a:p>
        </p:txBody>
      </p:sp>
      <p:sp>
        <p:nvSpPr>
          <p:cNvPr id="15" name="TextBox 14"/>
          <p:cNvSpPr txBox="1"/>
          <p:nvPr/>
        </p:nvSpPr>
        <p:spPr>
          <a:xfrm>
            <a:off x="3794760" y="307238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47</a:t>
            </a:r>
            <a:endParaRPr sz="850"/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Lunges</a:t>
            </a:r>
            <a:endParaRPr sz="2100"/>
          </a:p>
        </p:txBody>
      </p:sp>
      <p:sp>
        <p:nvSpPr>
          <p:cNvPr id="17" name="TextBox 16"/>
          <p:cNvSpPr txBox="1"/>
          <p:nvPr/>
        </p:nvSpPr>
        <p:spPr>
          <a:xfrm>
            <a:off x="3794760" y="338328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52</a:t>
            </a:r>
            <a:endParaRPr sz="850"/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PullUps</a:t>
            </a:r>
            <a:endParaRPr sz="2100"/>
          </a:p>
        </p:txBody>
      </p:sp>
      <p:sp>
        <p:nvSpPr>
          <p:cNvPr id="19" name="TextBox 18"/>
          <p:cNvSpPr txBox="1"/>
          <p:nvPr/>
        </p:nvSpPr>
        <p:spPr>
          <a:xfrm>
            <a:off x="3794760" y="369417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70</a:t>
            </a:r>
            <a:endParaRPr sz="850"/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PushUps</a:t>
            </a:r>
            <a:endParaRPr sz="2100"/>
          </a:p>
        </p:txBody>
      </p:sp>
      <p:sp>
        <p:nvSpPr>
          <p:cNvPr id="21" name="TextBox 20"/>
          <p:cNvSpPr txBox="1"/>
          <p:nvPr/>
        </p:nvSpPr>
        <p:spPr>
          <a:xfrm>
            <a:off x="7955279" y="151790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72</a:t>
            </a:r>
            <a:endParaRPr sz="850"/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RockClimbingIndoor</a:t>
            </a:r>
            <a:endParaRPr sz="2100"/>
          </a:p>
        </p:txBody>
      </p:sp>
      <p:sp>
        <p:nvSpPr>
          <p:cNvPr id="23" name="TextBox 22"/>
          <p:cNvSpPr txBox="1"/>
          <p:nvPr/>
        </p:nvSpPr>
        <p:spPr>
          <a:xfrm>
            <a:off x="7955279" y="182880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74</a:t>
            </a:r>
            <a:endParaRPr sz="850"/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RopeClimbing</a:t>
            </a:r>
            <a:endParaRPr sz="2100"/>
          </a:p>
        </p:txBody>
      </p:sp>
      <p:sp>
        <p:nvSpPr>
          <p:cNvPr id="25" name="TextBox 24"/>
          <p:cNvSpPr txBox="1"/>
          <p:nvPr/>
        </p:nvSpPr>
        <p:spPr>
          <a:xfrm>
            <a:off x="7955279" y="213969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75</a:t>
            </a:r>
            <a:endParaRPr sz="850"/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Swing</a:t>
            </a:r>
            <a:endParaRPr sz="2100"/>
          </a:p>
        </p:txBody>
      </p:sp>
      <p:sp>
        <p:nvSpPr>
          <p:cNvPr id="27" name="TextBox 26"/>
          <p:cNvSpPr txBox="1"/>
          <p:nvPr/>
        </p:nvSpPr>
        <p:spPr>
          <a:xfrm>
            <a:off x="7955279" y="245059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89</a:t>
            </a:r>
            <a:endParaRPr sz="850"/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TaiChi</a:t>
            </a:r>
            <a:endParaRPr sz="2100"/>
          </a:p>
        </p:txBody>
      </p:sp>
      <p:sp>
        <p:nvSpPr>
          <p:cNvPr id="29" name="TextBox 28"/>
          <p:cNvSpPr txBox="1"/>
          <p:nvPr/>
        </p:nvSpPr>
        <p:spPr>
          <a:xfrm>
            <a:off x="7955279" y="27614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91</a:t>
            </a:r>
            <a:endParaRPr sz="850"/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TrampolineJumping</a:t>
            </a:r>
            <a:endParaRPr sz="2100"/>
          </a:p>
        </p:txBody>
      </p:sp>
      <p:sp>
        <p:nvSpPr>
          <p:cNvPr id="31" name="TextBox 30"/>
          <p:cNvSpPr txBox="1"/>
          <p:nvPr/>
        </p:nvSpPr>
        <p:spPr>
          <a:xfrm>
            <a:off x="7955279" y="307238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94</a:t>
            </a:r>
            <a:endParaRPr sz="850"/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WalkingWithDog</a:t>
            </a:r>
            <a:endParaRPr sz="2100"/>
          </a:p>
        </p:txBody>
      </p:sp>
      <p:sp>
        <p:nvSpPr>
          <p:cNvPr id="33" name="TextBox 32"/>
          <p:cNvSpPr txBox="1"/>
          <p:nvPr/>
        </p:nvSpPr>
        <p:spPr>
          <a:xfrm>
            <a:off x="7955279" y="338328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98</a:t>
            </a:r>
            <a:endParaRPr sz="850"/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WallPushups</a:t>
            </a:r>
            <a:endParaRPr sz="2100"/>
          </a:p>
        </p:txBody>
      </p:sp>
      <p:sp>
        <p:nvSpPr>
          <p:cNvPr id="35" name="TextBox 34"/>
          <p:cNvSpPr txBox="1"/>
          <p:nvPr/>
        </p:nvSpPr>
        <p:spPr>
          <a:xfrm>
            <a:off x="7955279" y="369417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99</a:t>
            </a:r>
            <a:endParaRPr sz="850"/>
          </a:p>
        </p:txBody>
      </p:sp>
      <p:sp>
        <p:nvSpPr>
          <p:cNvPr id="3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配布classInd.txtの全101カテゴリ。右側はクラスID. https://github.com/yjxiong/temporal-segment-networks/tree/master/data/ucf101_splits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5つの型は原著Figure 2に基づく. https://arxiv.org/abs/1212.0402</a:t>
            </a:r>
            <a:endParaRPr sz="85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人と人との相互作用のカテゴリ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3 101カテゴリの一覧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BandMarching</a:t>
            </a:r>
            <a:endParaRPr sz="2600"/>
          </a:p>
        </p:txBody>
      </p:sp>
      <p:sp>
        <p:nvSpPr>
          <p:cNvPr id="5" name="TextBox 4"/>
          <p:cNvSpPr txBox="1"/>
          <p:nvPr/>
        </p:nvSpPr>
        <p:spPr>
          <a:xfrm>
            <a:off x="3794760" y="151790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6</a:t>
            </a:r>
            <a:endParaRPr sz="850"/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Haircut</a:t>
            </a:r>
            <a:endParaRPr sz="2600"/>
          </a:p>
        </p:txBody>
      </p:sp>
      <p:sp>
        <p:nvSpPr>
          <p:cNvPr id="7" name="TextBox 6"/>
          <p:cNvSpPr txBox="1"/>
          <p:nvPr/>
        </p:nvSpPr>
        <p:spPr>
          <a:xfrm>
            <a:off x="3794760" y="192938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34</a:t>
            </a:r>
            <a:endParaRPr sz="850"/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HeadMassage</a:t>
            </a:r>
            <a:endParaRPr sz="2600"/>
          </a:p>
        </p:txBody>
      </p:sp>
      <p:sp>
        <p:nvSpPr>
          <p:cNvPr id="9" name="TextBox 8"/>
          <p:cNvSpPr txBox="1"/>
          <p:nvPr/>
        </p:nvSpPr>
        <p:spPr>
          <a:xfrm>
            <a:off x="3794760" y="234086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39</a:t>
            </a:r>
            <a:endParaRPr sz="850"/>
          </a:p>
        </p:txBody>
      </p:sp>
      <p:sp>
        <p:nvSpPr>
          <p:cNvPr id="10" name="TextBox 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MilitaryParade</a:t>
            </a:r>
            <a:endParaRPr sz="2600"/>
          </a:p>
        </p:txBody>
      </p:sp>
      <p:sp>
        <p:nvSpPr>
          <p:cNvPr id="11" name="TextBox 10"/>
          <p:cNvSpPr txBox="1"/>
          <p:nvPr/>
        </p:nvSpPr>
        <p:spPr>
          <a:xfrm>
            <a:off x="7955279" y="151790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53</a:t>
            </a:r>
            <a:endParaRPr sz="850"/>
          </a:p>
        </p:txBody>
      </p:sp>
      <p:sp>
        <p:nvSpPr>
          <p:cNvPr id="12" name="TextBox 11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SalsaSpin</a:t>
            </a:r>
            <a:endParaRPr sz="2600"/>
          </a:p>
        </p:txBody>
      </p:sp>
      <p:sp>
        <p:nvSpPr>
          <p:cNvPr id="13" name="TextBox 12"/>
          <p:cNvSpPr txBox="1"/>
          <p:nvPr/>
        </p:nvSpPr>
        <p:spPr>
          <a:xfrm>
            <a:off x="7955279" y="192938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77</a:t>
            </a:r>
            <a:endParaRPr sz="850"/>
          </a:p>
        </p:txBody>
      </p:sp>
      <p:sp>
        <p:nvSpPr>
          <p:cNvPr id="14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配布classInd.txtの全101カテゴリ。右側はクラスID. https://github.com/yjxiong/temporal-segment-networks/tree/master/data/ucf101_splits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5つの型は原著Figure 2に基づく. https://arxiv.org/abs/1212.0402</a:t>
            </a:r>
            <a:endParaRPr sz="85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楽器の演奏のカテゴリ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3 101カテゴリの一覧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Drumming</a:t>
            </a:r>
            <a:endParaRPr sz="2600"/>
          </a:p>
        </p:txBody>
      </p:sp>
      <p:sp>
        <p:nvSpPr>
          <p:cNvPr id="5" name="TextBox 4"/>
          <p:cNvSpPr txBox="1"/>
          <p:nvPr/>
        </p:nvSpPr>
        <p:spPr>
          <a:xfrm>
            <a:off x="3794760" y="151790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27</a:t>
            </a:r>
            <a:endParaRPr sz="850"/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PlayingCello</a:t>
            </a:r>
            <a:endParaRPr sz="2600"/>
          </a:p>
        </p:txBody>
      </p:sp>
      <p:sp>
        <p:nvSpPr>
          <p:cNvPr id="7" name="TextBox 6"/>
          <p:cNvSpPr txBox="1"/>
          <p:nvPr/>
        </p:nvSpPr>
        <p:spPr>
          <a:xfrm>
            <a:off x="3794760" y="192938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59</a:t>
            </a:r>
            <a:endParaRPr sz="850"/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PlayingDaf</a:t>
            </a:r>
            <a:endParaRPr sz="2600"/>
          </a:p>
        </p:txBody>
      </p:sp>
      <p:sp>
        <p:nvSpPr>
          <p:cNvPr id="9" name="TextBox 8"/>
          <p:cNvSpPr txBox="1"/>
          <p:nvPr/>
        </p:nvSpPr>
        <p:spPr>
          <a:xfrm>
            <a:off x="3794760" y="234086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60</a:t>
            </a:r>
            <a:endParaRPr sz="850"/>
          </a:p>
        </p:txBody>
      </p:sp>
      <p:sp>
        <p:nvSpPr>
          <p:cNvPr id="10" name="TextBox 9"/>
          <p:cNvSpPr txBox="1"/>
          <p:nvPr/>
        </p:nvSpPr>
        <p:spPr>
          <a:xfrm>
            <a:off x="59436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PlayingDhol</a:t>
            </a:r>
            <a:endParaRPr sz="2600"/>
          </a:p>
        </p:txBody>
      </p:sp>
      <p:sp>
        <p:nvSpPr>
          <p:cNvPr id="11" name="TextBox 10"/>
          <p:cNvSpPr txBox="1"/>
          <p:nvPr/>
        </p:nvSpPr>
        <p:spPr>
          <a:xfrm>
            <a:off x="3794760" y="275234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61</a:t>
            </a:r>
            <a:endParaRPr sz="850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PlayingFlute</a:t>
            </a:r>
            <a:endParaRPr sz="2600"/>
          </a:p>
        </p:txBody>
      </p:sp>
      <p:sp>
        <p:nvSpPr>
          <p:cNvPr id="13" name="TextBox 12"/>
          <p:cNvSpPr txBox="1"/>
          <p:nvPr/>
        </p:nvSpPr>
        <p:spPr>
          <a:xfrm>
            <a:off x="3794760" y="316382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62</a:t>
            </a:r>
            <a:endParaRPr sz="850"/>
          </a:p>
        </p:txBody>
      </p:sp>
      <p:sp>
        <p:nvSpPr>
          <p:cNvPr id="14" name="TextBox 13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PlayingGuitar</a:t>
            </a:r>
            <a:endParaRPr sz="2600"/>
          </a:p>
        </p:txBody>
      </p:sp>
      <p:sp>
        <p:nvSpPr>
          <p:cNvPr id="15" name="TextBox 14"/>
          <p:cNvSpPr txBox="1"/>
          <p:nvPr/>
        </p:nvSpPr>
        <p:spPr>
          <a:xfrm>
            <a:off x="7955279" y="151790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63</a:t>
            </a:r>
            <a:endParaRPr sz="850"/>
          </a:p>
        </p:txBody>
      </p:sp>
      <p:sp>
        <p:nvSpPr>
          <p:cNvPr id="16" name="TextBox 15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PlayingPiano</a:t>
            </a:r>
            <a:endParaRPr sz="2600"/>
          </a:p>
        </p:txBody>
      </p:sp>
      <p:sp>
        <p:nvSpPr>
          <p:cNvPr id="17" name="TextBox 16"/>
          <p:cNvSpPr txBox="1"/>
          <p:nvPr/>
        </p:nvSpPr>
        <p:spPr>
          <a:xfrm>
            <a:off x="7955279" y="192938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64</a:t>
            </a:r>
            <a:endParaRPr sz="850"/>
          </a:p>
        </p:txBody>
      </p:sp>
      <p:sp>
        <p:nvSpPr>
          <p:cNvPr id="18" name="TextBox 17"/>
          <p:cNvSpPr txBox="1"/>
          <p:nvPr/>
        </p:nvSpPr>
        <p:spPr>
          <a:xfrm>
            <a:off x="475488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PlayingSitar</a:t>
            </a:r>
            <a:endParaRPr sz="2600"/>
          </a:p>
        </p:txBody>
      </p:sp>
      <p:sp>
        <p:nvSpPr>
          <p:cNvPr id="19" name="TextBox 18"/>
          <p:cNvSpPr txBox="1"/>
          <p:nvPr/>
        </p:nvSpPr>
        <p:spPr>
          <a:xfrm>
            <a:off x="7955279" y="234086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65</a:t>
            </a:r>
            <a:endParaRPr sz="850"/>
          </a:p>
        </p:txBody>
      </p:sp>
      <p:sp>
        <p:nvSpPr>
          <p:cNvPr id="20" name="TextBox 19"/>
          <p:cNvSpPr txBox="1"/>
          <p:nvPr/>
        </p:nvSpPr>
        <p:spPr>
          <a:xfrm>
            <a:off x="475488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PlayingTabla</a:t>
            </a:r>
            <a:endParaRPr sz="2600"/>
          </a:p>
        </p:txBody>
      </p:sp>
      <p:sp>
        <p:nvSpPr>
          <p:cNvPr id="21" name="TextBox 20"/>
          <p:cNvSpPr txBox="1"/>
          <p:nvPr/>
        </p:nvSpPr>
        <p:spPr>
          <a:xfrm>
            <a:off x="7955279" y="275234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66</a:t>
            </a:r>
            <a:endParaRPr sz="850"/>
          </a:p>
        </p:txBody>
      </p:sp>
      <p:sp>
        <p:nvSpPr>
          <p:cNvPr id="22" name="TextBox 21"/>
          <p:cNvSpPr txBox="1"/>
          <p:nvPr/>
        </p:nvSpPr>
        <p:spPr>
          <a:xfrm>
            <a:off x="475488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600">
                <a:latin typeface="Liberation Sans"/>
              </a:defRPr>
              <a:buNone/>
            </a:pPr>
            <a:r>
              <a:rPr sz="2600" lang="en-US">
                <a:solidFill>
                  <a:srgbClr val="303437"/>
                </a:solidFill>
                <a:latin typeface="Liberation Sans"/>
                <a:ea typeface="Liberation Sans"/>
              </a:rPr>
              <a:t>PlayingViolin</a:t>
            </a:r>
            <a:endParaRPr sz="2600"/>
          </a:p>
        </p:txBody>
      </p:sp>
      <p:sp>
        <p:nvSpPr>
          <p:cNvPr id="23" name="TextBox 22"/>
          <p:cNvSpPr txBox="1"/>
          <p:nvPr/>
        </p:nvSpPr>
        <p:spPr>
          <a:xfrm>
            <a:off x="7955279" y="316382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67</a:t>
            </a:r>
            <a:endParaRPr sz="850"/>
          </a:p>
        </p:txBody>
      </p:sp>
      <p:sp>
        <p:nvSpPr>
          <p:cNvPr id="24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配布classInd.txtの全101カテゴリ。右側はクラスID. https://github.com/yjxiong/temporal-segment-networks/tree/master/data/ucf101_splits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5つの型は原著Figure 2に基づく. https://arxiv.org/abs/1212.0402</a:t>
            </a:r>
            <a:endParaRPr sz="85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スポーツのカテゴリ 1/3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3 101カテゴリの一覧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Archery</a:t>
            </a:r>
            <a:endParaRPr sz="2100"/>
          </a:p>
        </p:txBody>
      </p:sp>
      <p:sp>
        <p:nvSpPr>
          <p:cNvPr id="5" name="TextBox 4"/>
          <p:cNvSpPr txBox="1"/>
          <p:nvPr/>
        </p:nvSpPr>
        <p:spPr>
          <a:xfrm>
            <a:off x="3794760" y="151790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3</a:t>
            </a:r>
            <a:endParaRPr sz="850"/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BalanceBeam</a:t>
            </a:r>
            <a:endParaRPr sz="2100"/>
          </a:p>
        </p:txBody>
      </p:sp>
      <p:sp>
        <p:nvSpPr>
          <p:cNvPr id="7" name="TextBox 6"/>
          <p:cNvSpPr txBox="1"/>
          <p:nvPr/>
        </p:nvSpPr>
        <p:spPr>
          <a:xfrm>
            <a:off x="3794760" y="182880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5</a:t>
            </a:r>
            <a:endParaRPr sz="850"/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BaseballPitch</a:t>
            </a:r>
            <a:endParaRPr sz="2100"/>
          </a:p>
        </p:txBody>
      </p:sp>
      <p:sp>
        <p:nvSpPr>
          <p:cNvPr id="9" name="TextBox 8"/>
          <p:cNvSpPr txBox="1"/>
          <p:nvPr/>
        </p:nvSpPr>
        <p:spPr>
          <a:xfrm>
            <a:off x="3794760" y="213969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7</a:t>
            </a:r>
            <a:endParaRPr sz="850"/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Basketball</a:t>
            </a:r>
            <a:endParaRPr sz="2100"/>
          </a:p>
        </p:txBody>
      </p:sp>
      <p:sp>
        <p:nvSpPr>
          <p:cNvPr id="11" name="TextBox 10"/>
          <p:cNvSpPr txBox="1"/>
          <p:nvPr/>
        </p:nvSpPr>
        <p:spPr>
          <a:xfrm>
            <a:off x="3794760" y="245059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8</a:t>
            </a:r>
            <a:endParaRPr sz="850"/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BasketballDunk</a:t>
            </a:r>
            <a:endParaRPr sz="2100"/>
          </a:p>
        </p:txBody>
      </p:sp>
      <p:sp>
        <p:nvSpPr>
          <p:cNvPr id="13" name="TextBox 12"/>
          <p:cNvSpPr txBox="1"/>
          <p:nvPr/>
        </p:nvSpPr>
        <p:spPr>
          <a:xfrm>
            <a:off x="3794760" y="27614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9</a:t>
            </a:r>
            <a:endParaRPr sz="850"/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BenchPress</a:t>
            </a:r>
            <a:endParaRPr sz="2100"/>
          </a:p>
        </p:txBody>
      </p:sp>
      <p:sp>
        <p:nvSpPr>
          <p:cNvPr id="15" name="TextBox 14"/>
          <p:cNvSpPr txBox="1"/>
          <p:nvPr/>
        </p:nvSpPr>
        <p:spPr>
          <a:xfrm>
            <a:off x="3794760" y="307238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10</a:t>
            </a:r>
            <a:endParaRPr sz="850"/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Biking</a:t>
            </a:r>
            <a:endParaRPr sz="2100"/>
          </a:p>
        </p:txBody>
      </p:sp>
      <p:sp>
        <p:nvSpPr>
          <p:cNvPr id="17" name="TextBox 16"/>
          <p:cNvSpPr txBox="1"/>
          <p:nvPr/>
        </p:nvSpPr>
        <p:spPr>
          <a:xfrm>
            <a:off x="3794760" y="338328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11</a:t>
            </a:r>
            <a:endParaRPr sz="850"/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Billiards</a:t>
            </a:r>
            <a:endParaRPr sz="2100"/>
          </a:p>
        </p:txBody>
      </p:sp>
      <p:sp>
        <p:nvSpPr>
          <p:cNvPr id="19" name="TextBox 18"/>
          <p:cNvSpPr txBox="1"/>
          <p:nvPr/>
        </p:nvSpPr>
        <p:spPr>
          <a:xfrm>
            <a:off x="3794760" y="369417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12</a:t>
            </a:r>
            <a:endParaRPr sz="850"/>
          </a:p>
        </p:txBody>
      </p:sp>
      <p:sp>
        <p:nvSpPr>
          <p:cNvPr id="20" name="TextBox 19"/>
          <p:cNvSpPr txBox="1"/>
          <p:nvPr/>
        </p:nvSpPr>
        <p:spPr>
          <a:xfrm>
            <a:off x="59436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Bowling</a:t>
            </a:r>
            <a:endParaRPr sz="2100"/>
          </a:p>
        </p:txBody>
      </p:sp>
      <p:sp>
        <p:nvSpPr>
          <p:cNvPr id="21" name="TextBox 20"/>
          <p:cNvSpPr txBox="1"/>
          <p:nvPr/>
        </p:nvSpPr>
        <p:spPr>
          <a:xfrm>
            <a:off x="3794760" y="400507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16</a:t>
            </a:r>
            <a:endParaRPr sz="850"/>
          </a:p>
        </p:txBody>
      </p:sp>
      <p:sp>
        <p:nvSpPr>
          <p:cNvPr id="22" name="TextBox 21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BoxingPunchingBag</a:t>
            </a:r>
            <a:endParaRPr sz="2100"/>
          </a:p>
        </p:txBody>
      </p:sp>
      <p:sp>
        <p:nvSpPr>
          <p:cNvPr id="23" name="TextBox 22"/>
          <p:cNvSpPr txBox="1"/>
          <p:nvPr/>
        </p:nvSpPr>
        <p:spPr>
          <a:xfrm>
            <a:off x="7955279" y="151790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17</a:t>
            </a:r>
            <a:endParaRPr sz="850"/>
          </a:p>
        </p:txBody>
      </p:sp>
      <p:sp>
        <p:nvSpPr>
          <p:cNvPr id="24" name="TextBox 23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BoxingSpeedBag</a:t>
            </a:r>
            <a:endParaRPr sz="2100"/>
          </a:p>
        </p:txBody>
      </p:sp>
      <p:sp>
        <p:nvSpPr>
          <p:cNvPr id="25" name="TextBox 24"/>
          <p:cNvSpPr txBox="1"/>
          <p:nvPr/>
        </p:nvSpPr>
        <p:spPr>
          <a:xfrm>
            <a:off x="7955279" y="182880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18</a:t>
            </a:r>
            <a:endParaRPr sz="850"/>
          </a:p>
        </p:txBody>
      </p:sp>
      <p:sp>
        <p:nvSpPr>
          <p:cNvPr id="26" name="TextBox 25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BreastStroke</a:t>
            </a:r>
            <a:endParaRPr sz="2100"/>
          </a:p>
        </p:txBody>
      </p:sp>
      <p:sp>
        <p:nvSpPr>
          <p:cNvPr id="27" name="TextBox 26"/>
          <p:cNvSpPr txBox="1"/>
          <p:nvPr/>
        </p:nvSpPr>
        <p:spPr>
          <a:xfrm>
            <a:off x="7955279" y="213969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19</a:t>
            </a:r>
            <a:endParaRPr sz="850"/>
          </a:p>
        </p:txBody>
      </p:sp>
      <p:sp>
        <p:nvSpPr>
          <p:cNvPr id="28" name="TextBox 27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CleanAndJerk</a:t>
            </a:r>
            <a:endParaRPr sz="2100"/>
          </a:p>
        </p:txBody>
      </p:sp>
      <p:sp>
        <p:nvSpPr>
          <p:cNvPr id="29" name="TextBox 28"/>
          <p:cNvSpPr txBox="1"/>
          <p:nvPr/>
        </p:nvSpPr>
        <p:spPr>
          <a:xfrm>
            <a:off x="7955279" y="245059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21</a:t>
            </a:r>
            <a:endParaRPr sz="850"/>
          </a:p>
        </p:txBody>
      </p:sp>
      <p:sp>
        <p:nvSpPr>
          <p:cNvPr id="30" name="TextBox 29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CliffDiving</a:t>
            </a:r>
            <a:endParaRPr sz="2100"/>
          </a:p>
        </p:txBody>
      </p:sp>
      <p:sp>
        <p:nvSpPr>
          <p:cNvPr id="31" name="TextBox 30"/>
          <p:cNvSpPr txBox="1"/>
          <p:nvPr/>
        </p:nvSpPr>
        <p:spPr>
          <a:xfrm>
            <a:off x="7955279" y="27614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22</a:t>
            </a:r>
            <a:endParaRPr sz="850"/>
          </a:p>
        </p:txBody>
      </p:sp>
      <p:sp>
        <p:nvSpPr>
          <p:cNvPr id="32" name="TextBox 31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CricketBowling</a:t>
            </a:r>
            <a:endParaRPr sz="2100"/>
          </a:p>
        </p:txBody>
      </p:sp>
      <p:sp>
        <p:nvSpPr>
          <p:cNvPr id="33" name="TextBox 32"/>
          <p:cNvSpPr txBox="1"/>
          <p:nvPr/>
        </p:nvSpPr>
        <p:spPr>
          <a:xfrm>
            <a:off x="7955279" y="307238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23</a:t>
            </a:r>
            <a:endParaRPr sz="850"/>
          </a:p>
        </p:txBody>
      </p:sp>
      <p:sp>
        <p:nvSpPr>
          <p:cNvPr id="34" name="TextBox 33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CricketShot</a:t>
            </a:r>
            <a:endParaRPr sz="2100"/>
          </a:p>
        </p:txBody>
      </p:sp>
      <p:sp>
        <p:nvSpPr>
          <p:cNvPr id="35" name="TextBox 34"/>
          <p:cNvSpPr txBox="1"/>
          <p:nvPr/>
        </p:nvSpPr>
        <p:spPr>
          <a:xfrm>
            <a:off x="7955279" y="338328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24</a:t>
            </a:r>
            <a:endParaRPr sz="850"/>
          </a:p>
        </p:txBody>
      </p:sp>
      <p:sp>
        <p:nvSpPr>
          <p:cNvPr id="36" name="TextBox 35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Diving</a:t>
            </a:r>
            <a:endParaRPr sz="2100"/>
          </a:p>
        </p:txBody>
      </p:sp>
      <p:sp>
        <p:nvSpPr>
          <p:cNvPr id="37" name="TextBox 36"/>
          <p:cNvSpPr txBox="1"/>
          <p:nvPr/>
        </p:nvSpPr>
        <p:spPr>
          <a:xfrm>
            <a:off x="7955279" y="369417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26</a:t>
            </a:r>
            <a:endParaRPr sz="850"/>
          </a:p>
        </p:txBody>
      </p:sp>
      <p:sp>
        <p:nvSpPr>
          <p:cNvPr id="38" name="TextBox 37"/>
          <p:cNvSpPr txBox="1"/>
          <p:nvPr/>
        </p:nvSpPr>
        <p:spPr>
          <a:xfrm>
            <a:off x="475488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Fencing</a:t>
            </a:r>
            <a:endParaRPr sz="2100"/>
          </a:p>
        </p:txBody>
      </p:sp>
      <p:sp>
        <p:nvSpPr>
          <p:cNvPr id="39" name="TextBox 38"/>
          <p:cNvSpPr txBox="1"/>
          <p:nvPr/>
        </p:nvSpPr>
        <p:spPr>
          <a:xfrm>
            <a:off x="7955279" y="400507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28</a:t>
            </a:r>
            <a:endParaRPr sz="850"/>
          </a:p>
        </p:txBody>
      </p:sp>
      <p:sp>
        <p:nvSpPr>
          <p:cNvPr id="40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配布classInd.txtの全101カテゴリ。右側はクラスID. https://github.com/yjxiong/temporal-segment-networks/tree/master/data/ucf101_splits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5つの型は原著Figure 2に基づく. https://arxiv.org/abs/1212.0402</a:t>
            </a:r>
            <a:endParaRPr sz="85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スポーツのカテゴリ 2/3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3 101カテゴリの一覧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FieldHockeyPenalty</a:t>
            </a:r>
            <a:endParaRPr sz="2100"/>
          </a:p>
        </p:txBody>
      </p:sp>
      <p:sp>
        <p:nvSpPr>
          <p:cNvPr id="5" name="TextBox 4"/>
          <p:cNvSpPr txBox="1"/>
          <p:nvPr/>
        </p:nvSpPr>
        <p:spPr>
          <a:xfrm>
            <a:off x="3794760" y="151790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29</a:t>
            </a:r>
            <a:endParaRPr sz="850"/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FloorGymnastics</a:t>
            </a:r>
            <a:endParaRPr sz="2100"/>
          </a:p>
        </p:txBody>
      </p:sp>
      <p:sp>
        <p:nvSpPr>
          <p:cNvPr id="7" name="TextBox 6"/>
          <p:cNvSpPr txBox="1"/>
          <p:nvPr/>
        </p:nvSpPr>
        <p:spPr>
          <a:xfrm>
            <a:off x="3794760" y="182880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30</a:t>
            </a:r>
            <a:endParaRPr sz="850"/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FrisbeeCatch</a:t>
            </a:r>
            <a:endParaRPr sz="2100"/>
          </a:p>
        </p:txBody>
      </p:sp>
      <p:sp>
        <p:nvSpPr>
          <p:cNvPr id="9" name="TextBox 8"/>
          <p:cNvSpPr txBox="1"/>
          <p:nvPr/>
        </p:nvSpPr>
        <p:spPr>
          <a:xfrm>
            <a:off x="3794760" y="213969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31</a:t>
            </a:r>
            <a:endParaRPr sz="850"/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FrontCrawl</a:t>
            </a:r>
            <a:endParaRPr sz="2100"/>
          </a:p>
        </p:txBody>
      </p:sp>
      <p:sp>
        <p:nvSpPr>
          <p:cNvPr id="11" name="TextBox 10"/>
          <p:cNvSpPr txBox="1"/>
          <p:nvPr/>
        </p:nvSpPr>
        <p:spPr>
          <a:xfrm>
            <a:off x="3794760" y="245059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32</a:t>
            </a:r>
            <a:endParaRPr sz="850"/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GolfSwing</a:t>
            </a:r>
            <a:endParaRPr sz="2100"/>
          </a:p>
        </p:txBody>
      </p:sp>
      <p:sp>
        <p:nvSpPr>
          <p:cNvPr id="13" name="TextBox 12"/>
          <p:cNvSpPr txBox="1"/>
          <p:nvPr/>
        </p:nvSpPr>
        <p:spPr>
          <a:xfrm>
            <a:off x="3794760" y="27614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33</a:t>
            </a:r>
            <a:endParaRPr sz="850"/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HammerThrow</a:t>
            </a:r>
            <a:endParaRPr sz="2100"/>
          </a:p>
        </p:txBody>
      </p:sp>
      <p:sp>
        <p:nvSpPr>
          <p:cNvPr id="15" name="TextBox 14"/>
          <p:cNvSpPr txBox="1"/>
          <p:nvPr/>
        </p:nvSpPr>
        <p:spPr>
          <a:xfrm>
            <a:off x="3794760" y="307238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36</a:t>
            </a:r>
            <a:endParaRPr sz="850"/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HighJump</a:t>
            </a:r>
            <a:endParaRPr sz="2100"/>
          </a:p>
        </p:txBody>
      </p:sp>
      <p:sp>
        <p:nvSpPr>
          <p:cNvPr id="17" name="TextBox 16"/>
          <p:cNvSpPr txBox="1"/>
          <p:nvPr/>
        </p:nvSpPr>
        <p:spPr>
          <a:xfrm>
            <a:off x="3794760" y="338328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40</a:t>
            </a:r>
            <a:endParaRPr sz="850"/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HorseRace</a:t>
            </a:r>
            <a:endParaRPr sz="2100"/>
          </a:p>
        </p:txBody>
      </p:sp>
      <p:sp>
        <p:nvSpPr>
          <p:cNvPr id="19" name="TextBox 18"/>
          <p:cNvSpPr txBox="1"/>
          <p:nvPr/>
        </p:nvSpPr>
        <p:spPr>
          <a:xfrm>
            <a:off x="3794760" y="369417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41</a:t>
            </a:r>
            <a:endParaRPr sz="850"/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HorseRiding</a:t>
            </a:r>
            <a:endParaRPr sz="2100"/>
          </a:p>
        </p:txBody>
      </p:sp>
      <p:sp>
        <p:nvSpPr>
          <p:cNvPr id="21" name="TextBox 20"/>
          <p:cNvSpPr txBox="1"/>
          <p:nvPr/>
        </p:nvSpPr>
        <p:spPr>
          <a:xfrm>
            <a:off x="7955279" y="151790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42</a:t>
            </a:r>
            <a:endParaRPr sz="850"/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IceDancing</a:t>
            </a:r>
            <a:endParaRPr sz="2100"/>
          </a:p>
        </p:txBody>
      </p:sp>
      <p:sp>
        <p:nvSpPr>
          <p:cNvPr id="23" name="TextBox 22"/>
          <p:cNvSpPr txBox="1"/>
          <p:nvPr/>
        </p:nvSpPr>
        <p:spPr>
          <a:xfrm>
            <a:off x="7955279" y="182880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44</a:t>
            </a:r>
            <a:endParaRPr sz="850"/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JavelinThrow</a:t>
            </a:r>
            <a:endParaRPr sz="2100"/>
          </a:p>
        </p:txBody>
      </p:sp>
      <p:sp>
        <p:nvSpPr>
          <p:cNvPr id="25" name="TextBox 24"/>
          <p:cNvSpPr txBox="1"/>
          <p:nvPr/>
        </p:nvSpPr>
        <p:spPr>
          <a:xfrm>
            <a:off x="7955279" y="213969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45</a:t>
            </a:r>
            <a:endParaRPr sz="850"/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Kayaking</a:t>
            </a:r>
            <a:endParaRPr sz="2100"/>
          </a:p>
        </p:txBody>
      </p:sp>
      <p:sp>
        <p:nvSpPr>
          <p:cNvPr id="27" name="TextBox 26"/>
          <p:cNvSpPr txBox="1"/>
          <p:nvPr/>
        </p:nvSpPr>
        <p:spPr>
          <a:xfrm>
            <a:off x="7955279" y="245059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49</a:t>
            </a:r>
            <a:endParaRPr sz="850"/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LongJump</a:t>
            </a:r>
            <a:endParaRPr sz="2100"/>
          </a:p>
        </p:txBody>
      </p:sp>
      <p:sp>
        <p:nvSpPr>
          <p:cNvPr id="29" name="TextBox 28"/>
          <p:cNvSpPr txBox="1"/>
          <p:nvPr/>
        </p:nvSpPr>
        <p:spPr>
          <a:xfrm>
            <a:off x="7955279" y="27614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51</a:t>
            </a:r>
            <a:endParaRPr sz="850"/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ParallelBars</a:t>
            </a:r>
            <a:endParaRPr sz="2100"/>
          </a:p>
        </p:txBody>
      </p:sp>
      <p:sp>
        <p:nvSpPr>
          <p:cNvPr id="31" name="TextBox 30"/>
          <p:cNvSpPr txBox="1"/>
          <p:nvPr/>
        </p:nvSpPr>
        <p:spPr>
          <a:xfrm>
            <a:off x="7955279" y="307238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57</a:t>
            </a:r>
            <a:endParaRPr sz="850"/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PoleVault</a:t>
            </a:r>
            <a:endParaRPr sz="2100"/>
          </a:p>
        </p:txBody>
      </p:sp>
      <p:sp>
        <p:nvSpPr>
          <p:cNvPr id="33" name="TextBox 32"/>
          <p:cNvSpPr txBox="1"/>
          <p:nvPr/>
        </p:nvSpPr>
        <p:spPr>
          <a:xfrm>
            <a:off x="7955279" y="338328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68</a:t>
            </a:r>
            <a:endParaRPr sz="850"/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PommelHorse</a:t>
            </a:r>
            <a:endParaRPr sz="2100"/>
          </a:p>
        </p:txBody>
      </p:sp>
      <p:sp>
        <p:nvSpPr>
          <p:cNvPr id="35" name="TextBox 34"/>
          <p:cNvSpPr txBox="1"/>
          <p:nvPr/>
        </p:nvSpPr>
        <p:spPr>
          <a:xfrm>
            <a:off x="7955279" y="369417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69</a:t>
            </a:r>
            <a:endParaRPr sz="850"/>
          </a:p>
        </p:txBody>
      </p:sp>
      <p:sp>
        <p:nvSpPr>
          <p:cNvPr id="3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配布classInd.txtの全101カテゴリ。右側はクラスID. https://github.com/yjxiong/temporal-segment-networks/tree/master/data/ucf101_splits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5つの型は原著Figure 2に基づく. https://arxiv.org/abs/1212.0402</a:t>
            </a:r>
            <a:endParaRPr sz="85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スポーツのカテゴリ 3/3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3 101カテゴリの一覧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Punch</a:t>
            </a:r>
            <a:endParaRPr sz="2100"/>
          </a:p>
        </p:txBody>
      </p:sp>
      <p:sp>
        <p:nvSpPr>
          <p:cNvPr id="5" name="TextBox 4"/>
          <p:cNvSpPr txBox="1"/>
          <p:nvPr/>
        </p:nvSpPr>
        <p:spPr>
          <a:xfrm>
            <a:off x="3794760" y="151790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71</a:t>
            </a:r>
            <a:endParaRPr sz="850"/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Rafting</a:t>
            </a:r>
            <a:endParaRPr sz="2100"/>
          </a:p>
        </p:txBody>
      </p:sp>
      <p:sp>
        <p:nvSpPr>
          <p:cNvPr id="7" name="TextBox 6"/>
          <p:cNvSpPr txBox="1"/>
          <p:nvPr/>
        </p:nvSpPr>
        <p:spPr>
          <a:xfrm>
            <a:off x="3794760" y="182880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73</a:t>
            </a:r>
            <a:endParaRPr sz="850"/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Rowing</a:t>
            </a:r>
            <a:endParaRPr sz="2100"/>
          </a:p>
        </p:txBody>
      </p:sp>
      <p:sp>
        <p:nvSpPr>
          <p:cNvPr id="9" name="TextBox 8"/>
          <p:cNvSpPr txBox="1"/>
          <p:nvPr/>
        </p:nvSpPr>
        <p:spPr>
          <a:xfrm>
            <a:off x="3794760" y="213969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76</a:t>
            </a:r>
            <a:endParaRPr sz="850"/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Shotput</a:t>
            </a:r>
            <a:endParaRPr sz="2100"/>
          </a:p>
        </p:txBody>
      </p:sp>
      <p:sp>
        <p:nvSpPr>
          <p:cNvPr id="11" name="TextBox 10"/>
          <p:cNvSpPr txBox="1"/>
          <p:nvPr/>
        </p:nvSpPr>
        <p:spPr>
          <a:xfrm>
            <a:off x="3794760" y="245059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79</a:t>
            </a:r>
            <a:endParaRPr sz="850"/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Skiing</a:t>
            </a:r>
            <a:endParaRPr sz="2100"/>
          </a:p>
        </p:txBody>
      </p:sp>
      <p:sp>
        <p:nvSpPr>
          <p:cNvPr id="13" name="TextBox 12"/>
          <p:cNvSpPr txBox="1"/>
          <p:nvPr/>
        </p:nvSpPr>
        <p:spPr>
          <a:xfrm>
            <a:off x="3794760" y="27614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81</a:t>
            </a:r>
            <a:endParaRPr sz="850"/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Skijet</a:t>
            </a:r>
            <a:endParaRPr sz="2100"/>
          </a:p>
        </p:txBody>
      </p:sp>
      <p:sp>
        <p:nvSpPr>
          <p:cNvPr id="15" name="TextBox 14"/>
          <p:cNvSpPr txBox="1"/>
          <p:nvPr/>
        </p:nvSpPr>
        <p:spPr>
          <a:xfrm>
            <a:off x="3794760" y="307238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82</a:t>
            </a:r>
            <a:endParaRPr sz="850"/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SkyDiving</a:t>
            </a:r>
            <a:endParaRPr sz="2100"/>
          </a:p>
        </p:txBody>
      </p:sp>
      <p:sp>
        <p:nvSpPr>
          <p:cNvPr id="17" name="TextBox 16"/>
          <p:cNvSpPr txBox="1"/>
          <p:nvPr/>
        </p:nvSpPr>
        <p:spPr>
          <a:xfrm>
            <a:off x="3794760" y="338328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83</a:t>
            </a:r>
            <a:endParaRPr sz="850"/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SoccerPenalty</a:t>
            </a:r>
            <a:endParaRPr sz="2100"/>
          </a:p>
        </p:txBody>
      </p:sp>
      <p:sp>
        <p:nvSpPr>
          <p:cNvPr id="19" name="TextBox 18"/>
          <p:cNvSpPr txBox="1"/>
          <p:nvPr/>
        </p:nvSpPr>
        <p:spPr>
          <a:xfrm>
            <a:off x="3794760" y="369417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85</a:t>
            </a:r>
            <a:endParaRPr sz="850"/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StillRings</a:t>
            </a:r>
            <a:endParaRPr sz="2100"/>
          </a:p>
        </p:txBody>
      </p:sp>
      <p:sp>
        <p:nvSpPr>
          <p:cNvPr id="21" name="TextBox 20"/>
          <p:cNvSpPr txBox="1"/>
          <p:nvPr/>
        </p:nvSpPr>
        <p:spPr>
          <a:xfrm>
            <a:off x="7955279" y="151790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86</a:t>
            </a:r>
            <a:endParaRPr sz="850"/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SumoWrestling</a:t>
            </a:r>
            <a:endParaRPr sz="2100"/>
          </a:p>
        </p:txBody>
      </p:sp>
      <p:sp>
        <p:nvSpPr>
          <p:cNvPr id="23" name="TextBox 22"/>
          <p:cNvSpPr txBox="1"/>
          <p:nvPr/>
        </p:nvSpPr>
        <p:spPr>
          <a:xfrm>
            <a:off x="7955279" y="182880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87</a:t>
            </a:r>
            <a:endParaRPr sz="850"/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Surfing</a:t>
            </a:r>
            <a:endParaRPr sz="2100"/>
          </a:p>
        </p:txBody>
      </p:sp>
      <p:sp>
        <p:nvSpPr>
          <p:cNvPr id="25" name="TextBox 24"/>
          <p:cNvSpPr txBox="1"/>
          <p:nvPr/>
        </p:nvSpPr>
        <p:spPr>
          <a:xfrm>
            <a:off x="7955279" y="213969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88</a:t>
            </a:r>
            <a:endParaRPr sz="850"/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TableTennisShot</a:t>
            </a:r>
            <a:endParaRPr sz="2100"/>
          </a:p>
        </p:txBody>
      </p:sp>
      <p:sp>
        <p:nvSpPr>
          <p:cNvPr id="27" name="TextBox 26"/>
          <p:cNvSpPr txBox="1"/>
          <p:nvPr/>
        </p:nvSpPr>
        <p:spPr>
          <a:xfrm>
            <a:off x="7955279" y="245059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90</a:t>
            </a:r>
            <a:endParaRPr sz="850"/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TennisSwing</a:t>
            </a:r>
            <a:endParaRPr sz="2100"/>
          </a:p>
        </p:txBody>
      </p:sp>
      <p:sp>
        <p:nvSpPr>
          <p:cNvPr id="29" name="TextBox 28"/>
          <p:cNvSpPr txBox="1"/>
          <p:nvPr/>
        </p:nvSpPr>
        <p:spPr>
          <a:xfrm>
            <a:off x="7955279" y="276148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92</a:t>
            </a:r>
            <a:endParaRPr sz="850"/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ThrowDiscus</a:t>
            </a:r>
            <a:endParaRPr sz="2100"/>
          </a:p>
        </p:txBody>
      </p:sp>
      <p:sp>
        <p:nvSpPr>
          <p:cNvPr id="31" name="TextBox 30"/>
          <p:cNvSpPr txBox="1"/>
          <p:nvPr/>
        </p:nvSpPr>
        <p:spPr>
          <a:xfrm>
            <a:off x="7955279" y="3072384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93</a:t>
            </a:r>
            <a:endParaRPr sz="850"/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UnevenBars</a:t>
            </a:r>
            <a:endParaRPr sz="2100"/>
          </a:p>
        </p:txBody>
      </p:sp>
      <p:sp>
        <p:nvSpPr>
          <p:cNvPr id="33" name="TextBox 32"/>
          <p:cNvSpPr txBox="1"/>
          <p:nvPr/>
        </p:nvSpPr>
        <p:spPr>
          <a:xfrm>
            <a:off x="7955279" y="338328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96</a:t>
            </a:r>
            <a:endParaRPr sz="850"/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Liberation Sans"/>
              </a:defRPr>
              <a:buNone/>
            </a:pPr>
            <a:r>
              <a:rPr sz="2100" lang="en-US">
                <a:solidFill>
                  <a:srgbClr val="303437"/>
                </a:solidFill>
                <a:latin typeface="Liberation Sans"/>
                <a:ea typeface="Liberation Sans"/>
              </a:rPr>
              <a:t>VolleyballSpiking</a:t>
            </a:r>
            <a:endParaRPr sz="2100"/>
          </a:p>
        </p:txBody>
      </p:sp>
      <p:sp>
        <p:nvSpPr>
          <p:cNvPr id="35" name="TextBox 34"/>
          <p:cNvSpPr txBox="1"/>
          <p:nvPr/>
        </p:nvSpPr>
        <p:spPr>
          <a:xfrm>
            <a:off x="7955279" y="369417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97</a:t>
            </a:r>
            <a:endParaRPr sz="850"/>
          </a:p>
        </p:txBody>
      </p:sp>
      <p:sp>
        <p:nvSpPr>
          <p:cNvPr id="3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配布classInd.txtの全101カテゴリ。右側はクラスID. https://github.com/yjxiong/temporal-segment-networks/tree/master/data/ucf101_splits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5つの型は原著Figure 2に基づく. https://arxiv.org/abs/1212.0402</a:t>
            </a:r>
            <a:endParaRPr sz="85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カテゴリ当たりの本数の記述統計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本数とグループの統計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1124712"/>
                <a:gridCol w="1124712"/>
                <a:gridCol w="1124712"/>
                <a:gridCol w="1124712"/>
                <a:gridCol w="1124712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対象 </a:t>
                      </a:r>
                      <a:r>
                        <a:rPr sz="950" lang="ja-JP">
                          <a:solidFill>
                            <a:srgbClr val="626669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平均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SD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中央値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最小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最大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101カテゴリ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131.9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18.2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131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100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167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68833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25%点は117本、75%点は145本、95%点は163本。</a:t>
            </a:r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13,320クリップをカテゴリごとに1回集計。SDは母標準偏差. https://github.com/yjxiong/temporal-segment-networks/tree/master/data/ucf101_splits</a:t>
            </a:r>
            <a:endParaRPr sz="85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最少側と最多のカテゴリの例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本数とグループの統計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82219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None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バイオリンの演奏</a:t>
            </a:r>
            <a:endParaRPr sz="2200"/>
          </a:p>
        </p:txBody>
      </p:sp>
      <p:pic>
        <p:nvPicPr>
          <p:cNvPr id="5" name="Picture 4" descr="PlayingViolin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3771" y="2103120"/>
            <a:ext cx="2430217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402336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>
                <a:solidFill>
                  <a:srgbClr val="303437"/>
                </a:solidFill>
                <a:latin typeface="Noto Sans CJK JP"/>
                <a:ea typeface="Noto Sans CJK JP"/>
              </a:rPr>
              <a:t>PlayingViolinは100クリップ</a:t>
            </a:r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754880" y="1463040"/>
            <a:ext cx="382219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None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クリケットの打撃</a:t>
            </a:r>
            <a:endParaRPr sz="2200"/>
          </a:p>
        </p:txBody>
      </p:sp>
      <p:pic>
        <p:nvPicPr>
          <p:cNvPr id="8" name="Picture 7" descr="CricketShot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291" y="2103120"/>
            <a:ext cx="2430217" cy="1828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754880" y="402336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>
                <a:solidFill>
                  <a:srgbClr val="303437"/>
                </a:solidFill>
                <a:latin typeface="Noto Sans CJK JP"/>
                <a:ea typeface="Noto Sans CJK JP"/>
              </a:rPr>
              <a:t>CricketShotは167クリップ</a:t>
            </a:r>
            <a:endParaRPr sz="1800"/>
          </a:p>
        </p:txBody>
      </p:sp>
      <p:sp>
        <p:nvSpPr>
          <p:cNvPr id="10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カテゴリの全件集計. https://github.com/yjxiong/temporal-segment-networks/tree/master/data/ucf101_splits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代表フレームは原著Figure 2. https://arxiv.org/abs/1212.0402 / PlayingViolin・CricketShot</a:t>
            </a:r>
            <a:endParaRPr sz="85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4クリップのグループが最も多い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本数とグループの統計</a:t>
            </a:r>
            <a:endParaRPr sz="1400"/>
          </a:p>
        </p:txBody>
      </p:sp>
      <p:pic>
        <p:nvPicPr>
          <p:cNvPr id="4" name="Picture 3" descr="groups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327" y="1463040"/>
            <a:ext cx="7301345" cy="2834640"/>
          </a:xfrm>
          <a:prstGeom prst="rect">
            <a:avLst/>
          </a:prstGeom>
        </p:spPr>
      </p:pic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カテゴリとグループ番号の組を単位に、全2,525グループを集計. https://github.com/yjxiong/temporal-segment-networks/tree/master/data/ucf101_splits</a:t>
            </a:r>
            <a:endParaRPr sz="85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3分割ではテストにするグループが異なる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本数とグループの統計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572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分割 </a:t>
                      </a:r>
                      <a:r>
                        <a:rPr sz="950" lang="ja-JP">
                          <a:solidFill>
                            <a:srgbClr val="626669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テスト用グループ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split 1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g01〜g07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split 2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g08〜g14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split 3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g15〜g21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それ以外の18グループを学習用に使う。各分割で学習とテストのグループは重ならない。</a:t>
            </a:r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全101カテゴリの分割リストを照合. https://github.com/yjxiong/temporal-segment-networks/tree/master/data/ucf101_splits</a:t>
            </a:r>
            <a:endParaRPr sz="85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動画単位の正解率を計算する例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評価の補足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291840"/>
                <a:gridCol w="118872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正解カテゴリ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予測カテゴリ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得点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PlayingViolin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PlayingViolin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PlayingGuitar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PlayingGuitar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CricketShot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CricketBowling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0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3動画中2動画が正解なので、正解率は2÷3×100＝66.7%となる。</a:t>
            </a:r>
            <a:endParaRPr sz="170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原著では行動の型によって成績が異なった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評価の補足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行動の型 </a:t>
                      </a:r>
                      <a:r>
                        <a:rPr sz="950" lang="ja-JP">
                          <a:solidFill>
                            <a:srgbClr val="626669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正解率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人と物との相互作用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38.52%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身体の動き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36.26%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人と人との相互作用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44.14%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楽器の演奏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37.42%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スポーツ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50.54%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Soomro et al. (2012), §3. 25グループの交差検証. https://arxiv.org/abs/1212.0402</a:t>
            </a:r>
            <a:endParaRPr sz="85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近年はゼロショット評価にも用いられる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評価の補足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手法 </a:t>
                      </a:r>
                      <a:r>
                        <a:rPr sz="950" lang="ja-JP">
                          <a:solidFill>
                            <a:srgbClr val="626669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Top-1正解率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CLIP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68.9%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TVTSv2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78.0%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InternVideo2clip-1B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88.8%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InternVideo2clip-6B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89.5%</a:t>
                      </a:r>
                      <a:endParaRPr sz="20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9709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UCF101で微調整せず、行動名と映像を照合する。事前学習・入力フレーム数は手法で異なる。</a:t>
            </a:r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Wang et al. (2024), Table 5. https://arxiv.org/abs/2403.15377</a:t>
            </a:r>
            <a:endParaRPr sz="85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配布リストからカテゴリ別の本数を集計する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6 入手と集計のコード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246120"/>
          </a:xfrm>
          <a:prstGeom prst="rect">
            <a:avLst/>
          </a:prstGeom>
          <a:solidFill>
            <a:srgbClr val="EBEDEB"/>
          </a:solidFill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1400">
                <a:latin typeface="Liberation Mono"/>
              </a:defRPr>
              <a:buNone/>
            </a:pPr>
            <a:r>
              <a:rPr sz="1400" lang="en-US">
                <a:solidFill>
                  <a:srgbClr val="303437"/>
                </a:solidFill>
                <a:latin typeface="Liberation Mono"/>
                <a:ea typeface="Liberation Mono"/>
              </a:rPr>
              <a:t>from pathlib import Path
from collections import Counter
root = Path("ucfTrainTestlist")
train = (root / "trainlist01.txt").read_text().splitlines()
test = (root / "testlist01.txt").read_text().splitlines()
clips = {line.split()</a:t>
            </a:r>
            <a:r>
              <a:rPr sz="1400" lang="en-US">
                <a:solidFill>
                  <a:srgbClr val="303437"/>
                </a:solidFill>
                <a:latin typeface="Liberation Mono"/>
                <a:ea typeface="Liberation Mono"/>
              </a:rPr>
              <a:t>[0]</a:t>
            </a:r>
            <a:r>
              <a:rPr sz="1400" lang="en-US">
                <a:solidFill>
                  <a:srgbClr val="303437"/>
                </a:solidFill>
                <a:latin typeface="Liberation Mono"/>
                <a:ea typeface="Liberation Mono"/>
              </a:rPr>
              <a:t> for line in train + test}
counts = Counter(path.split("/")</a:t>
            </a:r>
            <a:r>
              <a:rPr sz="1400" lang="en-US">
                <a:solidFill>
                  <a:srgbClr val="303437"/>
                </a:solidFill>
                <a:latin typeface="Liberation Mono"/>
                <a:ea typeface="Liberation Mono"/>
              </a:rPr>
              <a:t>[0]</a:t>
            </a:r>
            <a:r>
              <a:rPr sz="1400" lang="en-US">
                <a:solidFill>
                  <a:srgbClr val="303437"/>
                </a:solidFill>
                <a:latin typeface="Liberation Mono"/>
                <a:ea typeface="Liberation Mono"/>
              </a:rPr>
              <a:t> for path in clips)
print(len(clips), len(counts))
for label, n in sorted(counts.items()):
    print(label, n)
</a:t>
            </a:r>
            <a:endParaRPr sz="14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https://github.com/yjxiong/temporal-segment-networks/tree/master/data/ucf101_splits</a:t>
            </a:r>
            <a:endParaRPr sz="85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動画と分割リストのアーカイブを取得する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6 入手と集計のコード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600200"/>
            <a:ext cx="7955279" cy="2651760"/>
          </a:xfrm>
          <a:prstGeom prst="rect">
            <a:avLst/>
          </a:prstGeom>
          <a:solidFill>
            <a:srgbClr val="EBEDEB"/>
          </a:solidFill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defRPr sz="1300">
                <a:latin typeface="Liberation Mono"/>
              </a:defRPr>
              <a:buNone/>
            </a:pPr>
            <a:r>
              <a:rPr sz="1300" lang="en-US">
                <a:solidFill>
                  <a:srgbClr val="303437"/>
                </a:solidFill>
                <a:latin typeface="Liberation Mono"/>
                <a:ea typeface="Liberation Mono"/>
              </a:rPr>
              <a:t>curl -L --fail -O \
  https://www.crcv.ucf.edu/data/UCF101/UCF101.rar
curl -L --fail -O \
  https://www.crcv.ucf.edu/data/UCF101/UCF101TrainTestSplits-RecognitionTask.zip
unrar x UCF101.rar
unzip UCF101TrainTestSplits-RecognitionTask.zip
</a:t>
            </a:r>
            <a:endParaRPr sz="13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公式配布元. https://www.crcv.ucf.edu/data/UCF101.php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配布URLはMMAction2の取得手順に基づく. https://github.com/open-mmlab/mmaction2/tree/main/tools/data/ucf101</a:t>
            </a:r>
            <a:endParaRPr sz="85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UCF101とモデル評価の参考文献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7 参考文献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>
                <a:solidFill>
                  <a:srgbClr val="303437"/>
                </a:solidFill>
                <a:latin typeface="Noto Sans CJK JP"/>
                <a:ea typeface="Noto Sans CJK JP"/>
              </a:rPr>
              <a:t>Soomro et al. (2012). UCF101. CRCV-TR-12-01.</a:t>
            </a:r>
            <a:endParaRPr sz="1800"/>
          </a:p>
        </p:txBody>
      </p:sp>
      <p:sp>
        <p:nvSpPr>
          <p:cNvPr id="5" name="TextBox 4"/>
          <p:cNvSpPr txBox="1"/>
          <p:nvPr/>
        </p:nvSpPr>
        <p:spPr>
          <a:xfrm>
            <a:off x="594360" y="179222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>
                <a:latin typeface="Noto Sans CJK JP"/>
              </a:defRPr>
              <a:buNone/>
            </a:pPr>
            <a:r>
              <a:rPr sz="1000" lang="ja-JP">
                <a:solidFill>
                  <a:srgbClr val="626669"/>
                </a:solidFill>
                <a:latin typeface="Noto Sans CJK JP"/>
                <a:ea typeface="Noto Sans CJK JP"/>
              </a:rPr>
              <a:t>https://arxiv.org/abs/1212.0402</a:t>
            </a:r>
            <a:endParaRPr sz="1000"/>
          </a:p>
        </p:txBody>
      </p:sp>
      <p:sp>
        <p:nvSpPr>
          <p:cNvPr id="6" name="TextBox 5"/>
          <p:cNvSpPr txBox="1"/>
          <p:nvPr/>
        </p:nvSpPr>
        <p:spPr>
          <a:xfrm>
            <a:off x="594360" y="2029968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>
                <a:solidFill>
                  <a:srgbClr val="303437"/>
                </a:solidFill>
                <a:latin typeface="Noto Sans CJK JP"/>
                <a:ea typeface="Noto Sans CJK JP"/>
              </a:rPr>
              <a:t>Carreira &amp; Zisserman (2017). I3D. CVPR.</a:t>
            </a:r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94360" y="235915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>
                <a:latin typeface="Noto Sans CJK JP"/>
              </a:defRPr>
              <a:buNone/>
            </a:pPr>
            <a:r>
              <a:rPr sz="1000" lang="ja-JP">
                <a:solidFill>
                  <a:srgbClr val="626669"/>
                </a:solidFill>
                <a:latin typeface="Noto Sans CJK JP"/>
                <a:ea typeface="Noto Sans CJK JP"/>
              </a:rPr>
              <a:t>https://arxiv.org/abs/1705.07750</a:t>
            </a:r>
            <a:endParaRPr sz="1000"/>
          </a:p>
        </p:txBody>
      </p:sp>
      <p:sp>
        <p:nvSpPr>
          <p:cNvPr id="8" name="TextBox 7"/>
          <p:cNvSpPr txBox="1"/>
          <p:nvPr/>
        </p:nvSpPr>
        <p:spPr>
          <a:xfrm>
            <a:off x="594360" y="2596896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>
                <a:solidFill>
                  <a:srgbClr val="303437"/>
                </a:solidFill>
                <a:latin typeface="Noto Sans CJK JP"/>
                <a:ea typeface="Noto Sans CJK JP"/>
              </a:rPr>
              <a:t>Tong et al. (2022). VideoMAE. NeurIPS.</a:t>
            </a:r>
            <a:endParaRPr sz="1800"/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>
                <a:latin typeface="Noto Sans CJK JP"/>
              </a:defRPr>
              <a:buNone/>
            </a:pPr>
            <a:r>
              <a:rPr sz="1000" lang="ja-JP">
                <a:solidFill>
                  <a:srgbClr val="626669"/>
                </a:solidFill>
                <a:latin typeface="Noto Sans CJK JP"/>
                <a:ea typeface="Noto Sans CJK JP"/>
              </a:rPr>
              <a:t>https://arxiv.org/abs/2203.12602</a:t>
            </a:r>
            <a:endParaRPr sz="1000"/>
          </a:p>
        </p:txBody>
      </p:sp>
      <p:sp>
        <p:nvSpPr>
          <p:cNvPr id="10" name="TextBox 9"/>
          <p:cNvSpPr txBox="1"/>
          <p:nvPr/>
        </p:nvSpPr>
        <p:spPr>
          <a:xfrm>
            <a:off x="594360" y="3163824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>
                <a:solidFill>
                  <a:srgbClr val="303437"/>
                </a:solidFill>
                <a:latin typeface="Noto Sans CJK JP"/>
                <a:ea typeface="Noto Sans CJK JP"/>
              </a:rPr>
              <a:t>Wang et al. (2024). InternVideo2.</a:t>
            </a:r>
            <a:endParaRPr sz="1800"/>
          </a:p>
        </p:txBody>
      </p:sp>
      <p:sp>
        <p:nvSpPr>
          <p:cNvPr id="11" name="TextBox 10"/>
          <p:cNvSpPr txBox="1"/>
          <p:nvPr/>
        </p:nvSpPr>
        <p:spPr>
          <a:xfrm>
            <a:off x="594360" y="349300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>
                <a:latin typeface="Noto Sans CJK JP"/>
              </a:defRPr>
              <a:buNone/>
            </a:pPr>
            <a:r>
              <a:rPr sz="1000" lang="ja-JP">
                <a:solidFill>
                  <a:srgbClr val="626669"/>
                </a:solidFill>
                <a:latin typeface="Noto Sans CJK JP"/>
                <a:ea typeface="Noto Sans CJK JP"/>
              </a:rPr>
              <a:t>https://arxiv.org/abs/2403.15377</a:t>
            </a:r>
            <a:endParaRPr sz="100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周辺データと配布物の参考文献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7 参考文献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>
                <a:solidFill>
                  <a:srgbClr val="303437"/>
                </a:solidFill>
                <a:latin typeface="Noto Sans CJK JP"/>
                <a:ea typeface="Noto Sans CJK JP"/>
              </a:rPr>
              <a:t>Kay et al. (2017). The Kinetics Human Action Video Dataset.</a:t>
            </a:r>
            <a:endParaRPr sz="1800"/>
          </a:p>
        </p:txBody>
      </p:sp>
      <p:sp>
        <p:nvSpPr>
          <p:cNvPr id="5" name="TextBox 4"/>
          <p:cNvSpPr txBox="1"/>
          <p:nvPr/>
        </p:nvSpPr>
        <p:spPr>
          <a:xfrm>
            <a:off x="594360" y="179222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>
                <a:latin typeface="Noto Sans CJK JP"/>
              </a:defRPr>
              <a:buNone/>
            </a:pPr>
            <a:r>
              <a:rPr sz="1000" lang="ja-JP">
                <a:solidFill>
                  <a:srgbClr val="626669"/>
                </a:solidFill>
                <a:latin typeface="Noto Sans CJK JP"/>
                <a:ea typeface="Noto Sans CJK JP"/>
              </a:rPr>
              <a:t>https://arxiv.org/abs/1705.06950</a:t>
            </a:r>
            <a:endParaRPr sz="1000"/>
          </a:p>
        </p:txBody>
      </p:sp>
      <p:sp>
        <p:nvSpPr>
          <p:cNvPr id="6" name="TextBox 5"/>
          <p:cNvSpPr txBox="1"/>
          <p:nvPr/>
        </p:nvSpPr>
        <p:spPr>
          <a:xfrm>
            <a:off x="594360" y="2029968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>
                <a:solidFill>
                  <a:srgbClr val="303437"/>
                </a:solidFill>
                <a:latin typeface="Noto Sans CJK JP"/>
                <a:ea typeface="Noto Sans CJK JP"/>
              </a:rPr>
              <a:t>Goyal et al. (2017). Something-Something. ICCV.</a:t>
            </a:r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94360" y="235915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>
                <a:latin typeface="Noto Sans CJK JP"/>
              </a:defRPr>
              <a:buNone/>
            </a:pPr>
            <a:r>
              <a:rPr sz="1000" lang="ja-JP">
                <a:solidFill>
                  <a:srgbClr val="626669"/>
                </a:solidFill>
                <a:latin typeface="Noto Sans CJK JP"/>
                <a:ea typeface="Noto Sans CJK JP"/>
              </a:rPr>
              <a:t>https://arxiv.org/abs/1706.04261</a:t>
            </a:r>
            <a:endParaRPr sz="1000"/>
          </a:p>
        </p:txBody>
      </p:sp>
      <p:sp>
        <p:nvSpPr>
          <p:cNvPr id="8" name="TextBox 7"/>
          <p:cNvSpPr txBox="1"/>
          <p:nvPr/>
        </p:nvSpPr>
        <p:spPr>
          <a:xfrm>
            <a:off x="594360" y="2596896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>
                <a:solidFill>
                  <a:srgbClr val="303437"/>
                </a:solidFill>
                <a:latin typeface="Noto Sans CJK JP"/>
                <a:ea typeface="Noto Sans CJK JP"/>
              </a:rPr>
              <a:t>UCF101の配布リスト（TSN公開実装）</a:t>
            </a:r>
            <a:endParaRPr sz="1800"/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>
                <a:latin typeface="Noto Sans CJK JP"/>
              </a:defRPr>
              <a:buNone/>
            </a:pPr>
            <a:r>
              <a:rPr sz="1000" lang="ja-JP">
                <a:solidFill>
                  <a:srgbClr val="626669"/>
                </a:solidFill>
                <a:latin typeface="Noto Sans CJK JP"/>
                <a:ea typeface="Noto Sans CJK JP"/>
              </a:rPr>
              <a:t>https://github.com/yjxiong/temporal-segment-networks/tree/master/data/ucf101_splits</a:t>
            </a:r>
            <a:endParaRPr sz="1000"/>
          </a:p>
        </p:txBody>
      </p:sp>
      <p:sp>
        <p:nvSpPr>
          <p:cNvPr id="10" name="TextBox 9"/>
          <p:cNvSpPr txBox="1"/>
          <p:nvPr/>
        </p:nvSpPr>
        <p:spPr>
          <a:xfrm>
            <a:off x="594360" y="3163824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>
                <a:solidFill>
                  <a:srgbClr val="303437"/>
                </a:solidFill>
                <a:latin typeface="Noto Sans CJK JP"/>
                <a:ea typeface="Noto Sans CJK JP"/>
              </a:rPr>
              <a:t>MMAction2のUCF101手順</a:t>
            </a:r>
            <a:endParaRPr sz="1800"/>
          </a:p>
        </p:txBody>
      </p:sp>
      <p:sp>
        <p:nvSpPr>
          <p:cNvPr id="11" name="TextBox 10"/>
          <p:cNvSpPr txBox="1"/>
          <p:nvPr/>
        </p:nvSpPr>
        <p:spPr>
          <a:xfrm>
            <a:off x="594360" y="349300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>
                <a:latin typeface="Noto Sans CJK JP"/>
              </a:defRPr>
              <a:buNone/>
            </a:pPr>
            <a:r>
              <a:rPr sz="1000" lang="ja-JP">
                <a:solidFill>
                  <a:srgbClr val="626669"/>
                </a:solidFill>
                <a:latin typeface="Noto Sans CJK JP"/>
                <a:ea typeface="Noto Sans CJK JP"/>
              </a:rPr>
              <a:t>https://github.com/open-mmlab/mmaction2/tree/main/tools/data/ucf101</a:t>
            </a:r>
            <a:endParaRPr sz="1000"/>
          </a:p>
        </p:txBody>
      </p:sp>
      <p:sp>
        <p:nvSpPr>
          <p:cNvPr id="12" name="TextBox 11"/>
          <p:cNvSpPr txBox="1"/>
          <p:nvPr/>
        </p:nvSpPr>
        <p:spPr>
          <a:xfrm>
            <a:off x="594360" y="3730752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>
                <a:solidFill>
                  <a:srgbClr val="303437"/>
                </a:solidFill>
                <a:latin typeface="Noto Sans CJK JP"/>
                <a:ea typeface="Noto Sans CJK JP"/>
              </a:rPr>
              <a:t>I3Dの公開入力例</a:t>
            </a:r>
            <a:endParaRPr sz="1800"/>
          </a:p>
        </p:txBody>
      </p:sp>
      <p:sp>
        <p:nvSpPr>
          <p:cNvPr id="13" name="TextBox 12"/>
          <p:cNvSpPr txBox="1"/>
          <p:nvPr/>
        </p:nvSpPr>
        <p:spPr>
          <a:xfrm>
            <a:off x="594360" y="4059935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000">
                <a:latin typeface="Noto Sans CJK JP"/>
              </a:defRPr>
              <a:buNone/>
            </a:pPr>
            <a:r>
              <a:rPr sz="1000" lang="ja-JP">
                <a:solidFill>
                  <a:srgbClr val="626669"/>
                </a:solidFill>
                <a:latin typeface="Noto Sans CJK JP"/>
                <a:ea typeface="Noto Sans CJK JP"/>
              </a:rPr>
              <a:t>https://github.com/google-deepmind/kinetics-i3d</a:t>
            </a:r>
            <a:endParaRPr sz="1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