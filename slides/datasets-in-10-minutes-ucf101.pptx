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8" r:id="rId18"/>
    <p:sldId id="261" r:id="rId5"/>
    <p:sldId id="318" r:id="rId68"/>
    <p:sldId id="262" r:id="rId4"/>
    <p:sldId id="263" r:id="rId3"/>
    <p:sldId id="265" r:id="rId15"/>
    <p:sldId id="280" r:id="rId30"/>
    <p:sldId id="264" r:id="rId2"/>
    <p:sldId id="266" r:id="rId16"/>
    <p:sldId id="267" r:id="rId17"/>
    <p:sldId id="269" r:id="rId19"/>
    <p:sldId id="306" r:id="rId56"/>
    <p:sldId id="317" r:id="rId67"/>
    <p:sldId id="270" r:id="rId20"/>
    <p:sldId id="316" r:id="rId66"/>
    <p:sldId id="308" r:id="rId58"/>
    <p:sldId id="271" r:id="rId21"/>
    <p:sldId id="272" r:id="rId22"/>
    <p:sldId id="309" r:id="rId59"/>
    <p:sldId id="273" r:id="rId23"/>
    <p:sldId id="274" r:id="rId24"/>
    <p:sldId id="275" r:id="rId25"/>
    <p:sldId id="276" r:id="rId26"/>
    <p:sldId id="277" r:id="rId27"/>
    <p:sldId id="327" r:id="rId74"/>
    <p:sldId id="328" r:id="rId75"/>
    <p:sldId id="329" r:id="rId76"/>
    <p:sldId id="278" r:id="rId28"/>
    <p:sldId id="279" r:id="rId29"/>
    <p:sldId id="281" r:id="rId31"/>
    <p:sldId id="330" r:id="rId77"/>
    <p:sldId id="282" r:id="rId32"/>
    <p:sldId id="283" r:id="rId33"/>
    <p:sldId id="284" r:id="rId34"/>
    <p:sldId id="331" r:id="rId78"/>
    <p:sldId id="285" r:id="rId35"/>
    <p:sldId id="332" r:id="rId79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7" r:id="rId57"/>
    <p:sldId id="310" r:id="rId60"/>
    <p:sldId id="311" r:id="rId61"/>
    <p:sldId id="312" r:id="rId62"/>
    <p:sldId id="313" r:id="rId63"/>
    <p:sldId id="320" r:id="rId65"/>
    <p:sldId id="321" r:id="rId64"/>
    <p:sldId id="322" r:id="rId55"/>
    <p:sldId id="323" r:id="rId70"/>
    <p:sldId id="324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7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9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12.xml"/><Relationship Id="rId31" Type="http://schemas.openxmlformats.org/officeDocument/2006/relationships/slide" Target="slides/slide35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1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70.xml"/><Relationship Id="rId56" Type="http://schemas.openxmlformats.org/officeDocument/2006/relationships/slide" Target="slides/slide17.xml"/><Relationship Id="rId57" Type="http://schemas.openxmlformats.org/officeDocument/2006/relationships/slide" Target="slides/slide63.xml"/><Relationship Id="rId58" Type="http://schemas.openxmlformats.org/officeDocument/2006/relationships/slide" Target="slides/slide21.xml"/><Relationship Id="rId59" Type="http://schemas.openxmlformats.org/officeDocument/2006/relationships/slide" Target="slides/slide24.xml"/><Relationship Id="rId60" Type="http://schemas.openxmlformats.org/officeDocument/2006/relationships/slide" Target="slides/slide64.xml"/><Relationship Id="rId61" Type="http://schemas.openxmlformats.org/officeDocument/2006/relationships/slide" Target="slides/slide65.xml"/><Relationship Id="rId62" Type="http://schemas.openxmlformats.org/officeDocument/2006/relationships/slide" Target="slides/slide66.xml"/><Relationship Id="rId63" Type="http://schemas.openxmlformats.org/officeDocument/2006/relationships/slide" Target="slides/slide67.xml"/><Relationship Id="rId64" Type="http://schemas.openxmlformats.org/officeDocument/2006/relationships/slide" Target="slides/slide69.xml"/><Relationship Id="rId65" Type="http://schemas.openxmlformats.org/officeDocument/2006/relationships/slide" Target="slides/slide68.xml"/><Relationship Id="rId66" Type="http://schemas.openxmlformats.org/officeDocument/2006/relationships/slide" Target="slides/slide20.xml"/><Relationship Id="rId67" Type="http://schemas.openxmlformats.org/officeDocument/2006/relationships/slide" Target="slides/slide18.xml"/><Relationship Id="rId68" Type="http://schemas.openxmlformats.org/officeDocument/2006/relationships/slide" Target="slides/slide8.xml"/><Relationship Id="rId69" Type="http://schemas.openxmlformats.org/officeDocument/2006/relationships/slide" Target="slides/slide62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4" Type="http://schemas.openxmlformats.org/officeDocument/2006/relationships/slide" Target="slides/slide30.xml"/><Relationship Id="rId75" Type="http://schemas.openxmlformats.org/officeDocument/2006/relationships/slide" Target="slides/slide31.xml"/><Relationship Id="rId76" Type="http://schemas.openxmlformats.org/officeDocument/2006/relationships/slide" Target="slides/slide32.xml"/><Relationship Id="rId77" Type="http://schemas.openxmlformats.org/officeDocument/2006/relationships/slide" Target="slides/slide36.xml"/><Relationship Id="rId78" Type="http://schemas.openxmlformats.org/officeDocument/2006/relationships/slide" Target="slides/slide40.xml"/><Relationship Id="rId79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1212.040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Relationship Id="rId5" Type="http://schemas.openxmlformats.org/officeDocument/2006/relationships/hyperlink" Target="https://github.com/google-deepmind/kinetics-i3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Relationship Id="rId4" Type="http://schemas.openxmlformats.org/officeDocument/2006/relationships/hyperlink" Target="https://github.com/tensorflow/datasets/blob/master/tensorflow_datasets/url_checksums/ucf101.tx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Relationship Id="rId5" Type="http://schemas.openxmlformats.org/officeDocument/2006/relationships/hyperlink" Target="https://github.com/RichardMinsooGo-ML/5_TF2_UCF101_video_classification" TargetMode="External"/><Relationship Id="rId6" Type="http://schemas.openxmlformats.org/officeDocument/2006/relationships/hyperlink" Target="https://github.com/yjxiong/temporal-segment-networks/tree/master/data/ucf101_split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Relationship Id="rId4" Type="http://schemas.openxmlformats.org/officeDocument/2006/relationships/hyperlink" Target="https://github.com/RichardMinsooGo-ML/5_TF2_UCF101_video_classification" TargetMode="External"/><Relationship Id="rId5" Type="http://schemas.openxmlformats.org/officeDocument/2006/relationships/hyperlink" Target="https://github.com/yjxiong/temporal-segment-networks/tree/master/data/ucf101_spli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03.12602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3.1537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695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426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-mmlab/mmaction2/tree/main/tools/data/ucf101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Relationship Id="rId4" Type="http://schemas.openxmlformats.org/officeDocument/2006/relationships/hyperlink" Target="https://www.crcv.ucf.edu/data/UCF101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arxiv.org/abs/1406.2199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6.2199" TargetMode="External"/><Relationship Id="rId3" Type="http://schemas.openxmlformats.org/officeDocument/2006/relationships/hyperlink" Target="https://arxiv.org/abs/1608.00859" TargetMode="External"/><Relationship Id="rId4" Type="http://schemas.openxmlformats.org/officeDocument/2006/relationships/hyperlink" Target="https://arxiv.org/abs/1705.07750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8.00859" TargetMode="External"/><Relationship Id="rId3" Type="http://schemas.openxmlformats.org/officeDocument/2006/relationships/hyperlink" Target="https://arxiv.org/abs/2203.12602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1705.06950" TargetMode="External"/><Relationship Id="rId4" Type="http://schemas.openxmlformats.org/officeDocument/2006/relationships/hyperlink" Target="https://arxiv.org/abs/1706.04261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Relationship Id="rId3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4167"/>
            <a:ext cx="8229600" cy="292608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動画の行動認識用データセット</a:t>
            </a:r>
            <a:endParaRPr sz="58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UCF101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</a:rPr>
              <a:t>UCF101: A Dataset of 101 Human Actions Classes
From Videos in The Wild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UCF101の行動分類と動画の構造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動画の収集方法とカテゴリ別の規模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行動認識の評価指標とモデル性能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配布動画と評価分割の入手方法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UCF101の論文公開ページ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動画の行動認識には、クリップ全体の行動を分類する課題と、行動が起こる時間範囲を特定する課題がある。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UCF101が扱うのは前者である。入力は短い動画クリップ、正解はその動画が表す1つの行動カテゴリとなる。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スポーツ・楽器演奏・日常動作を含む13,320クリップを、動画共有サービスYouTubeから集め、2012年に公開した。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https://github.com/google-deepmind/kinetics-i3d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v_CricketShot_g04_c01.avi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行動の型から動画クリップまでの包含関係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v_ApplyEyeMakeup_g01_c01.avi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v_HandstandWalking_g01_c01.avi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先行データより行動と撮影条件を広げた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KTH（2004）は、統制された撮影条件で6行動を扱う先行データである。HMDB51（2011）は、映画などの映像で51行動を扱った。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また、先行するUCF50はYouTube映像の50行動を収録した。UCF101は101行動へ、カテゴリ数を約2倍に広げた。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UCF101は、多種類の行動をカメラの動き・遮蔽・混雑した背景などの変動を含む映像で評価する。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自然な映像の多様な行動を評価する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撮影条件を統制した小規模なデータだけでは、日常の映像に見られる変動を十分に扱えなかった。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そこで、YouTubeから行動カテゴリに合う動画を集め、見た目や撮影条件の変化を含む認識用データを作った。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カテゴリの選定、不要動画の除去、形式の統一、撮影条件が似たクリップのグループ化を行った。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収集した動画を選別して形式を統一する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YouTubeから動画をダウンロードし、収集対象の行動カテゴリに該当しない動画を人手で除去した。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映像は320×240画素、1秒当たり25フレーム（25 fps）に統一し、動画ファイル形式AVIでカテゴリ別に配布した。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追加した51行動の動画では、音声も保持した。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01847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Table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グループ数は分割リストの集計.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ZIPは6,960,400,115 bytes.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v_PlayingViolin_g01_c01.avi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6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全101カテゴリの分割リストを照合.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各分割の合計は13,320クリップ。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配布分割リストの集計.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動画の正解率を分割ごとに求めて平均する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各動画の最上位予測が正解カテゴリと一致すれば1、不一致なら0とする。全動画の得点を平均し、百分率で正解率を報告する。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公式の3分割では、それぞれ別の学習用データで学習し、対応するテスト用データで評価する。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3分割の平均は、分割ごとの正解率を平均した値である。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2012年の初期モデルの正解率は44.5%だった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初期の評価では局所的な動きと見た目を特徴量にして、映像を特徴の出現頻度で表した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25グループのうち1グループをテスト用とし、25回入れ替える交差検証を行った。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I3D（2017）の入力別の正解率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400行動の動画を扱うKinetics-400とImageNetで事前学習し、UCF101で微調整。公式3分割の平均。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9659" y="4717326"/>
            <a:ext cx="294714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VideoMAE（2022）の事前学習データ別の結果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基本サイズの動画Transformer（ViT-B）をUCF101で微調整。隠した映像を復元して学ぶVideoMAEの報告値。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 Table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1799" y="4717326"/>
            <a:ext cx="7295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2024年の固定特徴による行動分類の正解率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特徴抽出モデル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特徴を固定し、UCF101の学習データで線形分類器を学習する。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事前学習したモデルを転用して評価する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事前学習は、別の画像や映像から特徴の取り出し方を先に学ぶ工程である。微調整では、UCF101の学習用データでそのモデルを更新する。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線形分類では特徴モデルを固定し、行動を選ぶ分類器だけをUCF101で学習する。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ゼロショットではUCF101による学習を行わず、映像と行動名の対応などから予測する。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361713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7531" y="4717326"/>
            <a:ext cx="24292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I3Dは見た目とフレーム間の動きを利用する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I3D（2017）は、画像の畳み込みを時間方向へ広げた動画認識モデルである。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RGB画像は各フレームの色と見た目を表す。光学フローは、連続するフレームの間で画素がどの方向へ動いたかを表す。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大規模な400行動の動画データKinetics-400と、画像分類用ImageNetで事前学習し、UCF101で微調整した結果が報告されている。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VideoMAEは隠した映像領域の復元で学習する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VideoMAE（2022）は、動画の一部を隠し、見えている部分から復元する自己教師あり事前学習の手法である。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ViTは、画像や映像を小さな領域に分け、その間の関係をTransformerで扱うモデルである。ViT-BのBは基本サイズを表す。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同じモデルでも、UCF101だけで事前学習する場合と、大規模なKinetics-400で学ぶ場合とで、微調整後の正解率が変わる。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0780" y="4717326"/>
            <a:ext cx="771601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画像特徴のDINOv2でも91.2%に達する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2024年の比較では、画像特徴モデルDINOv2を使う方式もTop-1正解率91.2%だった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Kineticsは行動数と動画数を拡大した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Kinetics（2017）は、YouTubeから多様な人物・撮影条件の行動クリップを集めた大規模データである。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最初の400行動版は306,245クリップを扱い、UCF101の約4倍の行動数、約23倍のクリップ数となる。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大規模な映像から事前学習し、UCF101へ微調整する利用を支えた。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Kay et al. (2017). arXiv:1705.06950. The Kinetics Human Action Video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78530" y="4717326"/>
            <a:ext cx="43082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https://arxiv.org/abs/1705.06950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手と物の動きを扱うSomething-Something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Something-Something（2017）は、物を押す・持ち上げるなど、人と物の相互作用を174種類に分けた動画データである。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物体や背景が似ていても動きの違いで答えが変わるため、時間方向の変化を捉える評価へ対象を広げる。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ICCV. The “something something” video database for learning and evaluating visual common sense.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64334" y="4717326"/>
            <a:ext cx="232246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https://arxiv.org/abs/1706.04261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UCF101の転移学習・特徴評価への利用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8075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2012年の公開後、行動分類から事前学習モデルの転移評価へ用途が広がった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InternVideo2（2024）では、固定特徴の線形分類とゼロショットの評価に用いられた [2]。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2026-10-15の確認時点でも、MMAction2は取得・前処理・評価手順を公開している [3]。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006114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13580"/>
            <a:ext cx="818388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MMAction2 contributors (n.d.). MMAction2 documentation. 参照 2026-10-15. Preparing UCF-101.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MMAction2などのデータ準備手順で、フレーム抽出と入力用リストを準備できる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カテゴリ別の動画を分割リストと対応付ける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配布動画は行動カテゴリごとのフォルダに置かれ、ファイル名にはカテゴリ・グループ番号・クリップ番号が入る。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学習用とテスト用のリストは、そのフォルダ名とファイル名で動画を指定する。同じカテゴリ内でも、グループ番号によって役割が変わる。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動画認識用ライブラリMMAction2の手順では、動画からフレームを抽出し、分割リストに沿って学習・評価用ファイルを準備する。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撮影場所・人物・カメラの視点が似た動画のグループを単位に分割する。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073169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動画と行動ラベルの追加例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5つの型に属する全101行動カテゴリ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行動の型・グループごとの動画数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行動の型別・ゼロショットの評価結果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動画の取得と本数の集計コード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動画の行動認識に関連する文献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UCF101の開発者と2012年の技術報告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0077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技術報告CRCV-TR-12-01としてまとめられ、2012-12-03にarXivへ投稿された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v_Knitting_g01_c01.avi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v_YoYo_g01_c01.avi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v_BabyCrawling_g01_c01.avi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v_Haircut_g01_c01.avi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v_PlayingGuitar_g01_c01.avi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v_Billiards_g01_c01.avi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v_BasketballDunk_g01_c01.avi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v_Surfing_g01_c01.avi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v_Typing_g01_c01.avi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v_SkateBoarding_g01_c01.avi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407147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50" lang="ja-JP">
                <a:latin typeface="Noto Sans"/>
                <a:ea typeface="Noto Sans CJK JP"/>
                <a:cs typeface="Noto Sans"/>
              </a:defRPr>
            </a:pPr>
            <a:r>
              <a:rPr sz="16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4809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カテゴリとグループ番号の組を単位に、全2,525グループを集計.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初期モデルの行動の型別の正解率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2024年の報告におけるゼロショット評価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989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39625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471404"/>
            <a:ext cx="8046720" cy="250011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608565"/>
            <a:ext cx="8046720" cy="168218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680960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4"/>
              </a:rPr>
              <a:t>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Soomro, K., Zamir, A. R., &amp; Shah, M. (2012). CRCV-TR-12-01; arXiv:1212.0402.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101行動の収集、グループの設計、初期の行動認識評価を報告する。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 Convolutional Networks for Action Recognition in Videos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Simonyan, K., &amp; Zisserman, A. (2014). Advances in Neural Information Processing Systems, 27.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RGB画像とオプティカルフローを別々のネットワークで扱う。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https://arxiv.org/abs/1406.2199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Temporal Segment Networks: Towards Good Practices for Deep Action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Wang, L., et al. (2016). ECCV.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動画の複数区間からフレームを抽出し、長い時間範囲の情報を統合する。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https://arxiv.org/abs/1608.00859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Quo Vadis, Action Recognition? A New Model and the Kinetics Dataset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Carreira, J., &amp; Zisserman, A. (2017). CVPR.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画像の畳み込みを3次元へ拡張し、Kineticsからの転移を評価する。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https://arxiv.org/abs/1705.07750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9601"/>
            <a:ext cx="8046720" cy="6854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VideoMAE: Masked Autoencoders are Data-Efficient Learners for Self-Supervised Video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428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Tong, Z., Song, Y., Wang, J., &amp; Wang, L. (2022). Advances in Neural Information Processing Systems, 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0280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高いマスク率の映像復元により、自己教師あり事前学習を行う。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259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https://arxiv.org/abs/2203.12602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297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Preparing UCF-101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719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4078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MMAction2の公式データ準備手順。UCF101の取得、フレーム抽出、分割リスト作成を記載する。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396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0459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Kinetics Human Action Video Dataset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1279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Kay, W., et al. (2017). arXiv:1705.06950.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28781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YouTubeの大規模な行動クリップの収集と品質管理を報告する。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511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https://arxiv.org/abs/1705.06950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09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“something something” video database for learning and evaluating visual common sense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6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R., et al. (2017). ICCV.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6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人と物の相互作用を、時間的な関係を含む動作ラベルで扱う。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19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https://arxiv.org/abs/1706.04261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6891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Training and Test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2728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43275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MMAction2の公式実行手順。設定ファイル、チェックポイントを用いた学習・テストを記載する。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65594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https://github.com/open-mmlab/mmaction2/blob/main/docs/en/user_guides/train_test.md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