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256" r:id="rId6"/>
    <p:sldId id="257" r:id="rId7"/>
    <p:sldId id="258" r:id="rId8"/>
    <p:sldId id="259" r:id="rId9"/>
    <p:sldId id="260" r:id="rId10"/>
    <p:sldId id="268" r:id="rId18"/>
    <p:sldId id="261" r:id="rId5"/>
    <p:sldId id="318" r:id="rId68"/>
    <p:sldId id="262" r:id="rId4"/>
    <p:sldId id="263" r:id="rId3"/>
    <p:sldId id="265" r:id="rId15"/>
    <p:sldId id="280" r:id="rId30"/>
    <p:sldId id="264" r:id="rId2"/>
    <p:sldId id="266" r:id="rId16"/>
    <p:sldId id="267" r:id="rId17"/>
    <p:sldId id="269" r:id="rId19"/>
    <p:sldId id="306" r:id="rId56"/>
    <p:sldId id="317" r:id="rId67"/>
    <p:sldId id="270" r:id="rId20"/>
    <p:sldId id="316" r:id="rId66"/>
    <p:sldId id="308" r:id="rId58"/>
    <p:sldId id="271" r:id="rId21"/>
    <p:sldId id="272" r:id="rId22"/>
    <p:sldId id="309" r:id="rId59"/>
    <p:sldId id="273" r:id="rId23"/>
    <p:sldId id="274" r:id="rId24"/>
    <p:sldId id="275" r:id="rId25"/>
    <p:sldId id="276" r:id="rId26"/>
    <p:sldId id="277" r:id="rId27"/>
    <p:sldId id="327" r:id="rId74"/>
    <p:sldId id="328" r:id="rId75"/>
    <p:sldId id="329" r:id="rId76"/>
    <p:sldId id="278" r:id="rId28"/>
    <p:sldId id="279" r:id="rId29"/>
    <p:sldId id="281" r:id="rId31"/>
    <p:sldId id="330" r:id="rId77"/>
    <p:sldId id="282" r:id="rId32"/>
    <p:sldId id="283" r:id="rId33"/>
    <p:sldId id="284" r:id="rId34"/>
    <p:sldId id="331" r:id="rId78"/>
    <p:sldId id="285" r:id="rId35"/>
    <p:sldId id="332" r:id="rId79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19" r:id="rId69"/>
    <p:sldId id="307" r:id="rId57"/>
    <p:sldId id="310" r:id="rId60"/>
    <p:sldId id="311" r:id="rId61"/>
    <p:sldId id="312" r:id="rId62"/>
    <p:sldId id="313" r:id="rId63"/>
    <p:sldId id="320" r:id="rId65"/>
    <p:sldId id="321" r:id="rId64"/>
    <p:sldId id="322" r:id="rId55"/>
    <p:sldId id="323" r:id="rId70"/>
    <p:sldId id="324" r:id="rId71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Noto Sans"/>
          <a:ea typeface="Noto Sans CJK JP"/>
          <a:cs typeface="Noto Sans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3.xml"/><Relationship Id="rId3" Type="http://schemas.openxmlformats.org/officeDocument/2006/relationships/slide" Target="slides/slide10.xml"/><Relationship Id="rId4" Type="http://schemas.openxmlformats.org/officeDocument/2006/relationships/slide" Target="slides/slide9.xml"/><Relationship Id="rId5" Type="http://schemas.openxmlformats.org/officeDocument/2006/relationships/slide" Target="slides/slide7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1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6.xml"/><Relationship Id="rId19" Type="http://schemas.openxmlformats.org/officeDocument/2006/relationships/slide" Target="slides/slide16.xml"/><Relationship Id="rId20" Type="http://schemas.openxmlformats.org/officeDocument/2006/relationships/slide" Target="slides/slide19.xml"/><Relationship Id="rId21" Type="http://schemas.openxmlformats.org/officeDocument/2006/relationships/slide" Target="slides/slide22.xml"/><Relationship Id="rId22" Type="http://schemas.openxmlformats.org/officeDocument/2006/relationships/slide" Target="slides/slide23.xml"/><Relationship Id="rId23" Type="http://schemas.openxmlformats.org/officeDocument/2006/relationships/slide" Target="slides/slide25.xml"/><Relationship Id="rId24" Type="http://schemas.openxmlformats.org/officeDocument/2006/relationships/slide" Target="slides/slide26.xml"/><Relationship Id="rId25" Type="http://schemas.openxmlformats.org/officeDocument/2006/relationships/slide" Target="slides/slide27.xml"/><Relationship Id="rId26" Type="http://schemas.openxmlformats.org/officeDocument/2006/relationships/slide" Target="slides/slide28.xml"/><Relationship Id="rId27" Type="http://schemas.openxmlformats.org/officeDocument/2006/relationships/slide" Target="slides/slide29.xml"/><Relationship Id="rId28" Type="http://schemas.openxmlformats.org/officeDocument/2006/relationships/slide" Target="slides/slide33.xml"/><Relationship Id="rId29" Type="http://schemas.openxmlformats.org/officeDocument/2006/relationships/slide" Target="slides/slide34.xml"/><Relationship Id="rId30" Type="http://schemas.openxmlformats.org/officeDocument/2006/relationships/slide" Target="slides/slide12.xml"/><Relationship Id="rId31" Type="http://schemas.openxmlformats.org/officeDocument/2006/relationships/slide" Target="slides/slide35.xml"/><Relationship Id="rId32" Type="http://schemas.openxmlformats.org/officeDocument/2006/relationships/slide" Target="slides/slide37.xml"/><Relationship Id="rId33" Type="http://schemas.openxmlformats.org/officeDocument/2006/relationships/slide" Target="slides/slide38.xml"/><Relationship Id="rId34" Type="http://schemas.openxmlformats.org/officeDocument/2006/relationships/slide" Target="slides/slide39.xml"/><Relationship Id="rId35" Type="http://schemas.openxmlformats.org/officeDocument/2006/relationships/slide" Target="slides/slide41.xml"/><Relationship Id="rId36" Type="http://schemas.openxmlformats.org/officeDocument/2006/relationships/slide" Target="slides/slide43.xml"/><Relationship Id="rId37" Type="http://schemas.openxmlformats.org/officeDocument/2006/relationships/slide" Target="slides/slide44.xml"/><Relationship Id="rId38" Type="http://schemas.openxmlformats.org/officeDocument/2006/relationships/slide" Target="slides/slide45.xml"/><Relationship Id="rId39" Type="http://schemas.openxmlformats.org/officeDocument/2006/relationships/slide" Target="slides/slide46.xml"/><Relationship Id="rId40" Type="http://schemas.openxmlformats.org/officeDocument/2006/relationships/slide" Target="slides/slide47.xml"/><Relationship Id="rId41" Type="http://schemas.openxmlformats.org/officeDocument/2006/relationships/slide" Target="slides/slide48.xml"/><Relationship Id="rId42" Type="http://schemas.openxmlformats.org/officeDocument/2006/relationships/slide" Target="slides/slide49.xml"/><Relationship Id="rId43" Type="http://schemas.openxmlformats.org/officeDocument/2006/relationships/slide" Target="slides/slide50.xml"/><Relationship Id="rId44" Type="http://schemas.openxmlformats.org/officeDocument/2006/relationships/slide" Target="slides/slide51.xml"/><Relationship Id="rId45" Type="http://schemas.openxmlformats.org/officeDocument/2006/relationships/slide" Target="slides/slide52.xml"/><Relationship Id="rId46" Type="http://schemas.openxmlformats.org/officeDocument/2006/relationships/slide" Target="slides/slide53.xml"/><Relationship Id="rId47" Type="http://schemas.openxmlformats.org/officeDocument/2006/relationships/slide" Target="slides/slide54.xml"/><Relationship Id="rId48" Type="http://schemas.openxmlformats.org/officeDocument/2006/relationships/slide" Target="slides/slide55.xml"/><Relationship Id="rId49" Type="http://schemas.openxmlformats.org/officeDocument/2006/relationships/slide" Target="slides/slide56.xml"/><Relationship Id="rId50" Type="http://schemas.openxmlformats.org/officeDocument/2006/relationships/slide" Target="slides/slide57.xml"/><Relationship Id="rId51" Type="http://schemas.openxmlformats.org/officeDocument/2006/relationships/slide" Target="slides/slide58.xml"/><Relationship Id="rId52" Type="http://schemas.openxmlformats.org/officeDocument/2006/relationships/slide" Target="slides/slide59.xml"/><Relationship Id="rId53" Type="http://schemas.openxmlformats.org/officeDocument/2006/relationships/slide" Target="slides/slide60.xml"/><Relationship Id="rId54" Type="http://schemas.openxmlformats.org/officeDocument/2006/relationships/slide" Target="slides/slide61.xml"/><Relationship Id="rId55" Type="http://schemas.openxmlformats.org/officeDocument/2006/relationships/slide" Target="slides/slide70.xml"/><Relationship Id="rId56" Type="http://schemas.openxmlformats.org/officeDocument/2006/relationships/slide" Target="slides/slide17.xml"/><Relationship Id="rId57" Type="http://schemas.openxmlformats.org/officeDocument/2006/relationships/slide" Target="slides/slide63.xml"/><Relationship Id="rId58" Type="http://schemas.openxmlformats.org/officeDocument/2006/relationships/slide" Target="slides/slide21.xml"/><Relationship Id="rId59" Type="http://schemas.openxmlformats.org/officeDocument/2006/relationships/slide" Target="slides/slide24.xml"/><Relationship Id="rId60" Type="http://schemas.openxmlformats.org/officeDocument/2006/relationships/slide" Target="slides/slide64.xml"/><Relationship Id="rId61" Type="http://schemas.openxmlformats.org/officeDocument/2006/relationships/slide" Target="slides/slide65.xml"/><Relationship Id="rId62" Type="http://schemas.openxmlformats.org/officeDocument/2006/relationships/slide" Target="slides/slide66.xml"/><Relationship Id="rId63" Type="http://schemas.openxmlformats.org/officeDocument/2006/relationships/slide" Target="slides/slide67.xml"/><Relationship Id="rId64" Type="http://schemas.openxmlformats.org/officeDocument/2006/relationships/slide" Target="slides/slide69.xml"/><Relationship Id="rId65" Type="http://schemas.openxmlformats.org/officeDocument/2006/relationships/slide" Target="slides/slide68.xml"/><Relationship Id="rId66" Type="http://schemas.openxmlformats.org/officeDocument/2006/relationships/slide" Target="slides/slide20.xml"/><Relationship Id="rId67" Type="http://schemas.openxmlformats.org/officeDocument/2006/relationships/slide" Target="slides/slide18.xml"/><Relationship Id="rId68" Type="http://schemas.openxmlformats.org/officeDocument/2006/relationships/slide" Target="slides/slide8.xml"/><Relationship Id="rId69" Type="http://schemas.openxmlformats.org/officeDocument/2006/relationships/slide" Target="slides/slide62.xml"/><Relationship Id="rId70" Type="http://schemas.openxmlformats.org/officeDocument/2006/relationships/slide" Target="slides/slide71.xml"/><Relationship Id="rId71" Type="http://schemas.openxmlformats.org/officeDocument/2006/relationships/slide" Target="slides/slide72.xml"/><Relationship Id="rId74" Type="http://schemas.openxmlformats.org/officeDocument/2006/relationships/slide" Target="slides/slide30.xml"/><Relationship Id="rId75" Type="http://schemas.openxmlformats.org/officeDocument/2006/relationships/slide" Target="slides/slide31.xml"/><Relationship Id="rId76" Type="http://schemas.openxmlformats.org/officeDocument/2006/relationships/slide" Target="slides/slide32.xml"/><Relationship Id="rId77" Type="http://schemas.openxmlformats.org/officeDocument/2006/relationships/slide" Target="slides/slide36.xml"/><Relationship Id="rId78" Type="http://schemas.openxmlformats.org/officeDocument/2006/relationships/slide" Target="slides/slide40.xml"/><Relationship Id="rId79" Type="http://schemas.openxmlformats.org/officeDocument/2006/relationships/slide" Target="slides/slide4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52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defRPr sz="2200" lang="ja-JP">
                <a:latin typeface="Noto Sans"/>
                <a:ea typeface="Noto Sans CJK JP"/>
                <a:cs typeface="Noto Sans"/>
              </a:defRPr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pPr algn="ctr"/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ja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T</a:t>
            </a:r>
            <a:r>
              <a:rPr lang="ja-JP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able of </a:t>
            </a:r>
            <a:r>
              <a:rPr lang="ja-JP" altLang="ja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C</a:t>
            </a:r>
            <a:r>
              <a:rPr lang="ja-JP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ontents</a:t>
            </a:r>
            <a:endParaRPr b="1" dirty="0" lang="ja-JP">
              <a:solidFill>
                <a:schemeClr val="lt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1.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Background &amp; Purpose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2.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Methodology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3.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Classification Framework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4.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Results &amp; Analysis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 lang="ja-JP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5.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Conclusions and future 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468600" y="2263650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ja-JP" sz="1800" b="0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Insert chart</a:t>
            </a: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73889"/>
              <a:buFont typeface="Noto Sans CJK JP"/>
              <a:buChar char="●"/>
              <a:defRPr sz="18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marL="482600" lvl="1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marL="762000" lvl="2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marL="1041400" lvl="3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marL="1320800" lvl="4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marL="1600200" lvl="5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marL="1879600" lvl="6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marL="2159000" lvl="7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marL="2438400" lvl="8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bIns="0" anchor="ctr" anchorCtr="0">
            <a:normAutofit/>
          </a:bodyPr>
          <a:lstStyle>
            <a:lvl1pPr lvl="0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lvl="1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lvl="2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lvl="3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lvl="4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lvl="5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lvl="6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lvl="7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lvl="8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>
                <a:latin typeface="Noto Sans"/>
                <a:ea typeface="Noto Sans CJK JP"/>
                <a:cs typeface="Noto Sans"/>
              </a:rPr>
              <a:t>‹#›</a:t>
            </a:fld>
            <a:endParaRPr lang="ja-JP">
              <a:latin typeface="Noto Sans"/>
              <a:ea typeface="Noto Sans CJK JP"/>
              <a:cs typeface="Noto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titleStyle>
    <p:bodyStyle>
      <a:lvl1pPr marL="457200" lvl="0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1pPr>
      <a:lvl2pPr marL="914400" lvl="1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2pPr>
      <a:lvl3pPr marL="1371600" lvl="2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3pPr>
      <a:lvl4pPr marL="1828800" lvl="3" indent="-368300">
        <a:spcBef>
          <a:spcPts val="0"/>
        </a:spcBef>
        <a:spcAft>
          <a:spcPts val="0"/>
        </a:spcAft>
        <a:buClr>
          <a:srgbClr val="303437"/>
        </a:buClr>
        <a:buSzPct val="60455"/>
        <a:buFont typeface="Noto Sans CJK JP"/>
        <a:buChar char="●"/>
        <a:defRPr sz="2200" lang="ja-JP">
          <a:solidFill>
            <a:srgbClr val="303437"/>
          </a:solidFill>
          <a:latin typeface="Noto Sans"/>
          <a:ea typeface="Noto Sans CJK JP"/>
          <a:cs typeface="Noto Sans"/>
        </a:defRPr>
      </a:lvl4pPr>
      <a:lvl5pPr marL="2286000" lvl="4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5pPr>
      <a:lvl6pPr marL="2743200" lvl="5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6pPr>
      <a:lvl7pPr marL="3200400" lvl="6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7pPr>
      <a:lvl8pPr marL="3657600" lvl="7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8pPr>
      <a:lvl9pPr marL="4114800" lvl="8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hyperlink" Target="https://arxiv.org/abs/1212.0402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212.0402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212.0402" TargetMode="External"/><Relationship Id="rId3" Type="http://schemas.openxmlformats.org/officeDocument/2006/relationships/hyperlink" Target="https://github.com/yjxiong/temporal-segment-networks/tree/master/data/ucf101_splits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png"/><Relationship Id="rId3" Type="http://schemas.openxmlformats.org/officeDocument/2006/relationships/image" Target="../media/image21.png"/><Relationship Id="rId4" Type="http://schemas.openxmlformats.org/officeDocument/2006/relationships/image" Target="../media/image36.png"/><Relationship Id="rId5" Type="http://schemas.openxmlformats.org/officeDocument/2006/relationships/hyperlink" Target="https://github.com/google-deepmind/kinetics-i3d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212.0402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jpg"/><Relationship Id="rId3" Type="http://schemas.openxmlformats.org/officeDocument/2006/relationships/image" Target="../media/image22.png"/><Relationship Id="rId4" Type="http://schemas.openxmlformats.org/officeDocument/2006/relationships/hyperlink" Target="https://github.com/RichardMinsooGo-ML/5_TF2_UCF101_video_classification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.jpg"/><Relationship Id="rId3" Type="http://schemas.openxmlformats.org/officeDocument/2006/relationships/image" Target="../media/image23.png"/><Relationship Id="rId4" Type="http://schemas.openxmlformats.org/officeDocument/2006/relationships/hyperlink" Target="https://github.com/RichardMinsooGo-ML/5_TF2_UCF101_video_classification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212.0402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212.0402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212.0402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212.0402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212.0402" TargetMode="External"/><Relationship Id="rId3" Type="http://schemas.openxmlformats.org/officeDocument/2006/relationships/hyperlink" Target="https://github.com/yjxiong/temporal-segment-networks/tree/master/data/ucf101_splits" TargetMode="External"/><Relationship Id="rId4" Type="http://schemas.openxmlformats.org/officeDocument/2006/relationships/hyperlink" Target="https://github.com/tensorflow/datasets/blob/master/tensorflow_datasets/url_checksums/ucf101.txt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6.jpg"/><Relationship Id="rId3" Type="http://schemas.openxmlformats.org/officeDocument/2006/relationships/image" Target="../media/image17.jpg"/><Relationship Id="rId4" Type="http://schemas.openxmlformats.org/officeDocument/2006/relationships/image" Target="../media/image34.png"/><Relationship Id="rId5" Type="http://schemas.openxmlformats.org/officeDocument/2006/relationships/hyperlink" Target="https://github.com/RichardMinsooGo-ML/5_TF2_UCF101_video_classification" TargetMode="External"/><Relationship Id="rId6" Type="http://schemas.openxmlformats.org/officeDocument/2006/relationships/hyperlink" Target="https://github.com/yjxiong/temporal-segment-networks/tree/master/data/ucf101_splits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7.jpg"/><Relationship Id="rId3" Type="http://schemas.openxmlformats.org/officeDocument/2006/relationships/image" Target="../media/image35.png"/><Relationship Id="rId4" Type="http://schemas.openxmlformats.org/officeDocument/2006/relationships/hyperlink" Target="https://github.com/RichardMinsooGo-ML/5_TF2_UCF101_video_classification" TargetMode="External"/><Relationship Id="rId5" Type="http://schemas.openxmlformats.org/officeDocument/2006/relationships/hyperlink" Target="https://github.com/yjxiong/temporal-segment-networks/tree/master/data/ucf101_splits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.png"/><Relationship Id="rId3" Type="http://schemas.openxmlformats.org/officeDocument/2006/relationships/image" Target="../media/image19.png"/><Relationship Id="rId4" Type="http://schemas.openxmlformats.org/officeDocument/2006/relationships/hyperlink" Target="https://github.com/yjxiong/temporal-segment-networks/tree/master/data/ucf101_splits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0.png"/><Relationship Id="rId3" Type="http://schemas.openxmlformats.org/officeDocument/2006/relationships/image" Target="../media/image37.png"/><Relationship Id="rId4" Type="http://schemas.openxmlformats.org/officeDocument/2006/relationships/hyperlink" Target="https://github.com/yjxiong/temporal-segment-networks/tree/master/data/ucf101_splits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yjxiong/temporal-segment-networks/tree/master/data/ucf101_splits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yjxiong/temporal-segment-networks/tree/master/data/ucf101_splits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705.07750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212.0402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705.07750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203.12602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3.15377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705.07750" TargetMode="External"/><Relationship Id="rId3" Type="http://schemas.openxmlformats.org/officeDocument/2006/relationships/hyperlink" Target="https://arxiv.org/abs/2403.15377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705.07750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203.12602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3.15377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705.06950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706.04261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705.07750" TargetMode="External"/><Relationship Id="rId3" Type="http://schemas.openxmlformats.org/officeDocument/2006/relationships/hyperlink" Target="https://arxiv.org/abs/2403.15377" TargetMode="External"/><Relationship Id="rId4" Type="http://schemas.openxmlformats.org/officeDocument/2006/relationships/hyperlink" Target="https://github.com/open-mmlab/mmaction2/tree/main/tools/data/ucf101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www.crcv.ucf.edu/data/UCF101.php" TargetMode="External"/><Relationship Id="rId3" Type="http://schemas.openxmlformats.org/officeDocument/2006/relationships/hyperlink" Target="https://github.com/open-mmlab/mmaction2/tree/main/tools/data/ucf101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open-mmlab/mmaction2/tree/main/tools/data/ucf101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212.0402" TargetMode="Externa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6.jpg"/><Relationship Id="rId3" Type="http://schemas.openxmlformats.org/officeDocument/2006/relationships/image" Target="../media/image24.png"/><Relationship Id="rId4" Type="http://schemas.openxmlformats.org/officeDocument/2006/relationships/hyperlink" Target="https://github.com/RichardMinsooGo-ML/5_TF2_UCF101_video_classification" TargetMode="Externa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7.jpg"/><Relationship Id="rId3" Type="http://schemas.openxmlformats.org/officeDocument/2006/relationships/image" Target="../media/image25.png"/><Relationship Id="rId4" Type="http://schemas.openxmlformats.org/officeDocument/2006/relationships/hyperlink" Target="https://github.com/RichardMinsooGo-ML/5_TF2_UCF101_video_classification" TargetMode="Externa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.jpg"/><Relationship Id="rId3" Type="http://schemas.openxmlformats.org/officeDocument/2006/relationships/image" Target="../media/image26.png"/><Relationship Id="rId4" Type="http://schemas.openxmlformats.org/officeDocument/2006/relationships/hyperlink" Target="https://github.com/RichardMinsooGo-ML/5_TF2_UCF101_video_classification" TargetMode="Externa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9.jpg"/><Relationship Id="rId3" Type="http://schemas.openxmlformats.org/officeDocument/2006/relationships/image" Target="../media/image27.png"/><Relationship Id="rId4" Type="http://schemas.openxmlformats.org/officeDocument/2006/relationships/hyperlink" Target="https://github.com/RichardMinsooGo-ML/5_TF2_UCF101_video_classification" TargetMode="Externa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.jpg"/><Relationship Id="rId3" Type="http://schemas.openxmlformats.org/officeDocument/2006/relationships/image" Target="../media/image28.png"/><Relationship Id="rId4" Type="http://schemas.openxmlformats.org/officeDocument/2006/relationships/hyperlink" Target="https://github.com/RichardMinsooGo-ML/5_TF2_UCF101_video_classification" TargetMode="Externa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1.jpg"/><Relationship Id="rId3" Type="http://schemas.openxmlformats.org/officeDocument/2006/relationships/image" Target="../media/image29.png"/><Relationship Id="rId4" Type="http://schemas.openxmlformats.org/officeDocument/2006/relationships/hyperlink" Target="https://github.com/RichardMinsooGo-ML/5_TF2_UCF101_video_classification" TargetMode="Externa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2.jpg"/><Relationship Id="rId3" Type="http://schemas.openxmlformats.org/officeDocument/2006/relationships/image" Target="../media/image30.png"/><Relationship Id="rId4" Type="http://schemas.openxmlformats.org/officeDocument/2006/relationships/hyperlink" Target="https://github.com/RichardMinsooGo-ML/5_TF2_UCF101_video_classification" TargetMode="Externa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3.jpg"/><Relationship Id="rId3" Type="http://schemas.openxmlformats.org/officeDocument/2006/relationships/image" Target="../media/image31.png"/><Relationship Id="rId4" Type="http://schemas.openxmlformats.org/officeDocument/2006/relationships/hyperlink" Target="https://github.com/RichardMinsooGo-ML/5_TF2_UCF101_video_classification" TargetMode="Externa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.jpg"/><Relationship Id="rId3" Type="http://schemas.openxmlformats.org/officeDocument/2006/relationships/image" Target="../media/image32.png"/><Relationship Id="rId4" Type="http://schemas.openxmlformats.org/officeDocument/2006/relationships/hyperlink" Target="https://github.com/RichardMinsooGo-ML/5_TF2_UCF101_video_classification" TargetMode="Externa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5.jpg"/><Relationship Id="rId3" Type="http://schemas.openxmlformats.org/officeDocument/2006/relationships/image" Target="../media/image33.png"/><Relationship Id="rId4" Type="http://schemas.openxmlformats.org/officeDocument/2006/relationships/hyperlink" Target="https://github.com/RichardMinsooGo-ML/5_TF2_UCF101_video_classification" TargetMode="Externa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yjxiong/temporal-segment-networks/tree/master/data/ucf101_splits" TargetMode="External"/><Relationship Id="rId3" Type="http://schemas.openxmlformats.org/officeDocument/2006/relationships/hyperlink" Target="https://arxiv.org/abs/1212.0402" TargetMode="Externa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yjxiong/temporal-segment-networks/tree/master/data/ucf101_splits" TargetMode="External"/><Relationship Id="rId3" Type="http://schemas.openxmlformats.org/officeDocument/2006/relationships/hyperlink" Target="https://arxiv.org/abs/1212.0402" TargetMode="Externa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yjxiong/temporal-segment-networks/tree/master/data/ucf101_splits" TargetMode="External"/><Relationship Id="rId3" Type="http://schemas.openxmlformats.org/officeDocument/2006/relationships/hyperlink" Target="https://arxiv.org/abs/1212.0402" TargetMode="Externa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yjxiong/temporal-segment-networks/tree/master/data/ucf101_splits" TargetMode="External"/><Relationship Id="rId3" Type="http://schemas.openxmlformats.org/officeDocument/2006/relationships/hyperlink" Target="https://arxiv.org/abs/1212.0402" TargetMode="Externa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yjxiong/temporal-segment-networks/tree/master/data/ucf101_splits" TargetMode="External"/><Relationship Id="rId3" Type="http://schemas.openxmlformats.org/officeDocument/2006/relationships/hyperlink" Target="https://arxiv.org/abs/1212.0402" TargetMode="Externa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yjxiong/temporal-segment-networks/tree/master/data/ucf101_splits" TargetMode="External"/><Relationship Id="rId3" Type="http://schemas.openxmlformats.org/officeDocument/2006/relationships/hyperlink" Target="https://arxiv.org/abs/1212.0402" TargetMode="Externa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yjxiong/temporal-segment-networks/tree/master/data/ucf101_splits" TargetMode="External"/><Relationship Id="rId3" Type="http://schemas.openxmlformats.org/officeDocument/2006/relationships/hyperlink" Target="https://arxiv.org/abs/1212.0402" TargetMode="Externa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212.0402" TargetMode="External"/><Relationship Id="rId3" Type="http://schemas.openxmlformats.org/officeDocument/2006/relationships/hyperlink" Target="https://github.com/yjxiong/temporal-segment-networks/tree/master/data/ucf101_splits" TargetMode="Externa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8.png"/><Relationship Id="rId3" Type="http://schemas.openxmlformats.org/officeDocument/2006/relationships/hyperlink" Target="https://github.com/yjxiong/temporal-segment-networks/tree/master/data/ucf101_splits" TargetMode="Externa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212.0402" TargetMode="Externa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3.15377" TargetMode="Externa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yjxiong/temporal-segment-networks/tree/master/data/ucf101_splits" TargetMode="Externa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www.crcv.ucf.edu/data/UCF101.php" TargetMode="External"/><Relationship Id="rId3" Type="http://schemas.openxmlformats.org/officeDocument/2006/relationships/hyperlink" Target="https://github.com/open-mmlab/mmaction2/tree/main/tools/data/ucf101" TargetMode="External"/><Relationship Id="rId4" Type="http://schemas.openxmlformats.org/officeDocument/2006/relationships/hyperlink" Target="https://www.crcv.ucf.edu/data/UCF101" TargetMode="Externa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212.0402" TargetMode="External"/><Relationship Id="rId3" Type="http://schemas.openxmlformats.org/officeDocument/2006/relationships/hyperlink" Target="https://arxiv.org/abs/1406.2199" TargetMode="Externa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406.2199" TargetMode="External"/><Relationship Id="rId3" Type="http://schemas.openxmlformats.org/officeDocument/2006/relationships/hyperlink" Target="https://arxiv.org/abs/1608.00859" TargetMode="External"/><Relationship Id="rId4" Type="http://schemas.openxmlformats.org/officeDocument/2006/relationships/hyperlink" Target="https://arxiv.org/abs/1705.07750" TargetMode="Externa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608.00859" TargetMode="External"/><Relationship Id="rId3" Type="http://schemas.openxmlformats.org/officeDocument/2006/relationships/hyperlink" Target="https://arxiv.org/abs/2203.12602" TargetMode="External"/><Relationship Id="rId4" Type="http://schemas.openxmlformats.org/officeDocument/2006/relationships/hyperlink" Target="https://github.com/open-mmlab/mmaction2/tree/main/tools/data/ucf101" TargetMode="Externa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705.07750" TargetMode="External"/><Relationship Id="rId3" Type="http://schemas.openxmlformats.org/officeDocument/2006/relationships/hyperlink" Target="https://arxiv.org/abs/1705.06950" TargetMode="External"/><Relationship Id="rId4" Type="http://schemas.openxmlformats.org/officeDocument/2006/relationships/hyperlink" Target="https://arxiv.org/abs/1706.04261" TargetMode="Externa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203.12602" TargetMode="External"/><Relationship Id="rId3" Type="http://schemas.openxmlformats.org/officeDocument/2006/relationships/hyperlink" Target="https://github.com/open-mmlab/mmaction2/blob/main/docs/en/user_guides/train_test.md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364167"/>
            <a:ext cx="8229600" cy="2926080"/>
          </a:xfrm>
        </p:spPr>
        <p:txBody>
          <a:bodyPr wrap="square" lIns="0" rIns="0" tIns="0" bIns="0" anchor="ctr"/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defRPr sz="5800" lang="ja-JP">
                <a:latin typeface="Noto Sans"/>
                <a:ea typeface="Noto Sans CJK JP"/>
                <a:cs typeface="Noto Sans"/>
              </a:defRPr>
            </a:pPr>
            <a:r>
              <a:rPr sz="2800" b="0" lang="ja-JP">
                <a:solidFill>
                  <a:srgbClr val="303437"/>
                </a:solidFill>
                <a:latin typeface="Noto Sans"/>
                <a:ea typeface="Noto Sans CJK JP"/>
              </a:rPr>
              <a:t>動画の行動認識用データセット</a:t>
            </a:r>
            <a:endParaRPr sz="5800" lang="ja-JP">
              <a:latin typeface="Noto Sans"/>
              <a:ea typeface="Noto Sans CJK JP"/>
              <a:cs typeface="Noto Sans"/>
            </a:endParaRP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5600" b="1" lang="ja-JP">
                <a:solidFill>
                  <a:srgbClr val="303437"/>
                </a:solidFill>
                <a:latin typeface="Noto Sans"/>
                <a:ea typeface="Noto Sans CJK JP"/>
              </a:rPr>
              <a:t>UCF101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</a:rPr>
              <a:t>UCF101: A Dataset of 101 Human Actions Classes
From Videos in The Wild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</p:spPr>
        <p:txBody>
          <a:bodyPr wrap="square" lIns="0" rIns="0" tIns="0" bIns="0" anchor="t"/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sasakiy84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off x="457200" y="274320"/>
            <a:ext cx="8046720" cy="27432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datasets in 10 minutes (2026-10-15)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目次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479613"/>
            <a:ext cx="7955279" cy="37490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UCF101の行動分類と動画の構造</a:t>
            </a:r>
          </a:p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動画の収集方法とカテゴリ別の規模</a:t>
            </a:r>
          </a:p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行動認識の評価指標とモデル性能</a:t>
            </a:r>
          </a:p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UCF101の利用動向と後続データ</a:t>
            </a:r>
          </a:p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配布動画と評価分割の入手方法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59852"/>
            <a:ext cx="8046720" cy="731520"/>
          </a:xfrm>
        </p:spPr>
        <p:txBody>
          <a:bodyPr wrap="square" lIns="0" rIns="0" tIns="0" bIns="0" anchor="ctr"/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 lang="ja-JP"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UCF101の行動分類と動画の構造</a:t>
            </a:r>
            <a:endParaRPr sz="40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UCF101の行動分類と動画の構造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UCF101の原著の公開ページ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UCF101の行動分類と動画の構造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4" name="Picture 3" descr="paper-p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31620"/>
            <a:ext cx="8046720" cy="3017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21193" y="4717326"/>
            <a:ext cx="1865606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動画クリップを101種類の行動へ分類する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UCF101の行動分類と動画の構造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動画の行動認識には、クリップ全体の行動を分類する課題と、行動が起こる時間範囲を特定する課題がある。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UCF101が扱うのは前者である。入力は短い動画クリップ、正解はその動画が表す1つの行動カテゴリとなる。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スポーツ・楽器演奏・日常動作を含む13,320クリップを、動画共有サービスYouTubeから集め、2012年に公開した。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21193" y="4717326"/>
            <a:ext cx="1865606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101種類の行動は5つの型に整理されている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UCF101の行動分類と動画の構造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44752"/>
          <a:ext cx="8046720" cy="24140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1554480"/>
                <a:gridCol w="2377440"/>
              </a:tblGrid>
              <a:tr h="402336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行動の型 </a:t>
                      </a: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[1]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カテゴリ数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クリップ数 </a:t>
                      </a: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[2]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人と物との相互作用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T="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T="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2619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T="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身体の動き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T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16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T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1910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T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人と人との相互作用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T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T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690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T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楽器の演奏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T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T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1428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T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スポーツ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T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50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T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6673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T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5212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 Figure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https://arxiv.org/abs/1212.0402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</a:t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https://github.com/yjxiong/temporal-segment-networks/tree/master/data/ucf101_splits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クリケットの打撃（CricketShot）の例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UCF101の行動分類と動画の構造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5"/>
              </a:rPr>
              <a:t>https://github.com/google-deepmind/kinetics-i3d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　v_CricketShot_g04_c01.avi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1.56秒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3.12秒</a:t>
            </a:r>
          </a:p>
        </p:txBody>
      </p:sp>
      <p:pic>
        <p:nvPicPr>
          <p:cNvPr id="12" name="Picture 11" descr="main-crick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行動の型から動画クリップまでの包含関係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UCF101の行動分類と動画の構造</a:t>
            </a: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44752"/>
          <a:ext cx="8046720" cy="3273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4480560"/>
                <a:gridCol w="2286000"/>
              </a:tblGrid>
              <a:tr h="502920"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単位 [1]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何を表すか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具体例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640080"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型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カテゴリの大区分。全5種類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スポーツ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640080"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カテゴリ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全101種類の行動ラベル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CricketShot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850392"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グループ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9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撮影場所や人物などが似た動画のまとまり。各カテゴリに25組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CricketShotのg04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640080"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クリップ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1本の動画。各グループに4〜7本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g04のc01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 §2.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85560" y="4717326"/>
            <a:ext cx="1701239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目元の化粧（ApplyEyeMakeup）の例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UCF101の行動分類と動画の構造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ApplyEyeMakeup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0.04秒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3.28秒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6.52秒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https://github.com/RichardMinsooGo-ML/5_TF2_UCF101_video_classification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　v_ApplyEyeMakeup_g01_c01.avi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逆立ち歩き（HandstandWalking）の例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UCF101の行動分類と動画の構造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HandstandWalking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2.16秒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4.32秒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https://github.com/RichardMinsooGo-ML/5_TF2_UCF101_video_classification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　v_HandstandWalking_g01_c01.avi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59852"/>
            <a:ext cx="8046720" cy="731520"/>
          </a:xfrm>
        </p:spPr>
        <p:txBody>
          <a:bodyPr wrap="square" lIns="0" rIns="0" tIns="0" bIns="0" anchor="ctr"/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 lang="ja-JP"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動画の収集方法とカテゴリ別の規模</a:t>
            </a:r>
            <a:endParaRPr sz="40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動画の収集方法とカテゴリ別の規模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先行データより行動と撮影条件を広げた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動画の収集方法とカテゴリ別の規模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288144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KTH（2004）は、統制された撮影条件で6行動を扱う先行データである。HMDB51（2011）は、映画などの映像で51行動を扱った。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また、先行するUCF50はYouTube映像の50行動を収録した。UCF101は101行動へ、カテゴリ数を約2倍に広げた。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UCF101は、多種類の行動をカメラの動き・遮蔽・混雑した背景などの変動を含む映像で評価する。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21193" y="4717326"/>
            <a:ext cx="1865606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自然な映像の多様な行動を評価する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動画の収集方法とカテゴリ別の規模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撮影条件を統制した小規模なデータだけでは、日常の映像に見られる変動を十分に扱えなかった。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そこで、YouTubeから行動カテゴリに合う動画を集め、見た目や撮影条件の変化を含む認識用データを作った。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カテゴリの選定、不要動画の除去、形式の統一、撮影条件が似たクリップのグループ化を行った。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21193" y="4717326"/>
            <a:ext cx="1865606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収集した動画を選別して形式を統一する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動画の収集方法とカテゴリ別の規模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YouTubeから動画をダウンロードし、収集対象の行動カテゴリに該当しない動画を人手で除去した。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映像は320×240画素、1秒当たり25フレーム（25 fps）に統一し、動画ファイル形式AVIでカテゴリ別に配布した。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追加した51行動の動画では、音声も保持した。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21193" y="4717326"/>
            <a:ext cx="1865606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撮影条件の似たクリップをグループにまとめる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動画の収集方法とカテゴリ別の規模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481328"/>
            <a:ext cx="7955279" cy="301752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各行動カテゴリには25グループがある </a:t>
            </a: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4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1グループには、撮影場所や映る人物、カメラの視点などが似た4〜7クリップをまとめる。</a:t>
            </a:r>
            <a:endParaRPr sz="24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ファイル名のg04はグループ番号、c01はグループ内のクリップ番号。</a:t>
            </a:r>
            <a:endParaRPr sz="24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近い映像が学習とテストの両方に入ることを避けるため、グループ単位で分ける。</a:t>
            </a:r>
            <a:endParaRPr sz="2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 §2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57844" y="4717326"/>
            <a:ext cx="1728955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平均7.21秒の13,320クリップを収録する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動画の収集方法とカテゴリ別の規模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201847"/>
            <a:ext cx="7955279" cy="301752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101カテゴリ、13,320クリップを収録する [1]。</a:t>
            </a:r>
            <a:endParaRPr sz="24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平均クリップ長は7.21秒、総時間は1,600分。映像は25 fps、320×240ピクセル。</a:t>
            </a: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動画をまとめた圧縮ZIPは約7 GB [3]。</a:t>
            </a: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25グループ×101カテゴリで計2,525グループ [2]。</a:t>
            </a: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1本の動画に1つの行動ラベルが付く。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434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 Table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5212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https://arxiv.org/abs/1212.0402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グループ数は分割リストの集計. </a:t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https://github.com/yjxiong/temporal-segment-networks/tree/master/data/ucf101_splits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[3] ZIPは6,960,400,115 bytes. </a:t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https://github.com/tensorflow/datasets/blob/master/tensorflow_datasets/url_checksums/ucf101.txt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バイオリンの演奏（PlayingViolin）は100本 [2]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動画の収集方法とカテゴリ別の規模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PlayingViolin-sequen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3.72秒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7.40秒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5"/>
              </a:rPr>
              <a:t>https://github.com/RichardMinsooGo-ML/5_TF2_UCF101_video_classification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　v_PlayingViolin_g01_c01.avi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カテゴリ別集計.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6"/>
              </a:rPr>
              <a:t>https://github.com/yjxiong/temporal-segment-networks/tree/master/data/ucf101_splits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クリケットの打撃（CricketShot）は167本 [2]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動画の収集方法とカテゴリ別の規模</a:t>
            </a:r>
          </a:p>
        </p:txBody>
      </p:sp>
      <p:pic>
        <p:nvPicPr>
          <p:cNvPr id="5" name="Picture 4" descr="CricketShot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1.68秒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3.32秒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https://github.com/RichardMinsooGo-ML/5_TF2_UCF101_video_classification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　v_CricketShot_g01_c01.avi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カテゴリ別集計.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5"/>
              </a:rPr>
              <a:t>https://github.com/yjxiong/temporal-segment-networks/tree/master/data/ucf101_splits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カテゴリ当たりのクリップ数の中央値は131本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動画の収集方法とカテゴリ別の規模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4" name="Picture 3" descr="ucf-cou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71600"/>
            <a:ext cx="8046720" cy="274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" y="4169663"/>
            <a:ext cx="7955279" cy="4846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全101カテゴリ。最少は100本、最多は167本 [1]。</a:t>
            </a: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13,320クリップをカテゴリ別に集計.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https://github.com/yjxiong/temporal-segment-networks/tree/master/data/ucf101_splits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110本未満のカテゴリは10種類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動画の収集方法とカテゴリ別の規模</a:t>
            </a:r>
          </a:p>
        </p:txBody>
      </p:sp>
      <p:sp>
        <p:nvSpPr>
          <p:cNvPr id="5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13,320クリップをカテゴリ別に集計.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https://github.com/yjxiong/temporal-segment-networks/tree/master/data/ucf101_splits</a:t>
            </a:r>
          </a:p>
        </p:txBody>
      </p:sp>
      <p:pic>
        <p:nvPicPr>
          <p:cNvPr id="6" name="Picture 5" descr="ucf-tai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07592"/>
            <a:ext cx="8046720" cy="333756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3分割ではテストにするグループが異なる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動画の収集方法とカテゴリ別の規模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44752"/>
          <a:ext cx="8046720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4572000"/>
              </a:tblGrid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分割 </a:t>
                      </a: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[1]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テスト用グループ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split 1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g01〜g07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split 2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g08〜g14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split 3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g15〜g21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950208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それ以外の18グループを学習用に使う。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全101カテゴリの分割リストを照合.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https://github.com/yjxiong/temporal-segment-networks/tree/master/data/ucf101_splits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3つの分割で学習用とテスト用を入れ替える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動画の収集方法とカテゴリ別の規模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44752"/>
          <a:ext cx="8046720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2286000"/>
                <a:gridCol w="2286000"/>
              </a:tblGrid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分割 </a:t>
                      </a: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[1]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学習用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テスト用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split 1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9,537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3,783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split 2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9,586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3,734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split 3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9,624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3,696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950208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各分割の合計は13,320クリップ。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配布分割リストの集計.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https://github.com/yjxiong/temporal-segment-networks/tree/master/data/ucf101_splits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59852"/>
            <a:ext cx="8046720" cy="731520"/>
          </a:xfrm>
        </p:spPr>
        <p:txBody>
          <a:bodyPr wrap="square" lIns="0" rIns="0" tIns="0" bIns="0" anchor="ctr"/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 lang="ja-JP"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 行動認識の評価指標とモデル性能</a:t>
            </a:r>
            <a:endParaRPr sz="40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行動認識の評価指標とモデル性能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動画単位の正解率を計算する例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行動認識の評価指標とモデル性能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44752"/>
          <a:ext cx="804672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3291840"/>
                <a:gridCol w="1188720"/>
              </a:tblGrid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正解カテゴリ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予測カテゴリ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得点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PlayingViolin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PlayingViolin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PlayingGuitar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PlayingGuitar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CricketShot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CricketBowling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694176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3動画中2動画が正解なので、正解率は2÷3×100＝66.7%となる。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動画の正解率を分割ごとに求めて平均する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行動認識の評価指標とモデル性能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31047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各動画の最上位予測が正解カテゴリと一致すれば1、不一致なら0とする。全動画の得点を平均し、百分率で正解率を報告する。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公式の3分割では、それぞれ別の学習用データで学習し、対応するテスト用データで評価する。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3分割の平均は、分割ごとの正解率を平均した値である。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Carreira et al. (2017). CVPR. Quo Vadis, Action Recognition? A New Model and the Kinetics Dataset.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76610" y="4717326"/>
            <a:ext cx="3310189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https://arxiv.org/abs/1705.07750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2012年の原著の正解率は44.5%だった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行動認識の評価指標とモデル性能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481328"/>
            <a:ext cx="7955279" cy="301752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原著では局所的な動きと見た目を特徴量にして、映像を特徴の出現頻度で表した </a:t>
            </a: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4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分類にはサポートベクトルマシンを使った。</a:t>
            </a:r>
            <a:endParaRPr sz="24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25グループのうち1グループをテスト用とし、25回入れ替える交差検証を行った。</a:t>
            </a:r>
            <a:endParaRPr sz="24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平均正解率は44.5%。</a:t>
            </a:r>
            <a:endParaRPr sz="2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 §3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57844" y="4717326"/>
            <a:ext cx="1728955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I3D（2017）の入力別の正解率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行動認識の評価指標とモデル性能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44752"/>
          <a:ext cx="804672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2377440"/>
              </a:tblGrid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1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I3Dの入力 </a:t>
                      </a: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[1]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1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Top-1正解率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1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RGB画像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1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95.6%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1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フレーム間の動きを表す光学フロー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1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96.7%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1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RGB画像と光学フロー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1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98.0%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694176"/>
            <a:ext cx="7955279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400行動の動画を扱うKinetics-400とImageNetで事前学習し、UCF101で微調整。公式3分割の平均。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Carreira et al. (2017). CVPR. Quo Vadis, Action Recognition? A New Model and the Kinetics Dataset. Table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39659" y="4717326"/>
            <a:ext cx="2947140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https://arxiv.org/abs/1705.07750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VideoMAE（2022）の事前学習データ別の結果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行動認識の評価指標とモデル性能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44752"/>
          <a:ext cx="8046720" cy="17007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2377440"/>
              </a:tblGrid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ViT-Bの事前学習データ </a:t>
                      </a: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[1]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Top-1正解率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UCF101のみ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91.3%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Kinetics-400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96.1%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383280"/>
            <a:ext cx="7955279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基本サイズの動画Transformer（ViT-B）をUCF101で微調整。隠した映像を復元して学ぶVideoMAEの報告値。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02920" y="4521200"/>
            <a:ext cx="8183879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Tong et al. (2022). Advances in Neural Information Processing Systems, 35. VideoMAE: Masked Autoencoders are Data-Efficient Learners for Self-Supervised Video Pre-Training. Table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91799" y="4717326"/>
            <a:ext cx="7295000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https://arxiv.org/abs/2203.12602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2024年の固定特徴による行動分類の正解率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行動認識の評価指標とモデル性能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44752"/>
          <a:ext cx="8046720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2377440"/>
              </a:tblGrid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特徴抽出モデル </a:t>
                      </a: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[1]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Top-1正解率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DINOv2-g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91.2%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TVTSv2-H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91.8%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InternVideo2 第2段階・6B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97.3%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950208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特徴を固定し、UCF101の学習データで線形分類器を学習する。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Wang et al. (2024). arXiv:2403.15377. InternVideo2: Scaling Foundation Models for Multimodal Video Understanding. Table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20377" y="4717326"/>
            <a:ext cx="2066422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https://arxiv.org/abs/2403.15377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事前学習したモデルを転用して評価する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行動認識の評価指標とモデル性能</a:t>
            </a:r>
          </a:p>
        </p:txBody>
      </p:sp>
      <p:sp>
        <p:nvSpPr>
          <p:cNvPr id="5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SzPct val="66500"/>
              <a:buFont typeface="Noto Sans CJK JP"/>
              <a:buChar char="●"/>
              <a:def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事前学習は、別の画像や映像から特徴の取り出し方を先に学ぶ工程である。微調整では、UCF101の学習用データでそのモデルを更新する。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SzPct val="66500"/>
              <a:buFont typeface="Noto Sans CJK JP"/>
              <a:buChar char="●"/>
              <a:def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線形分類では特徴モデルを固定し、行動を選ぶ分類器だけをUCF101で学習する。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SzPct val="66500"/>
              <a:buFont typeface="Noto Sans CJK JP"/>
              <a:buChar char="●"/>
              <a:def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ゼロショットではUCF101による学習を行わず、映像と行動名の対応などから予測する。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3434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Carreira et al. (2017). CVPR. Quo Vadis, Action Recognition? A New Model and the Kinetics Dataset.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76610" y="4361713"/>
            <a:ext cx="3310189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https://arxiv.org/abs/1705.07750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Wang et al. (2024). arXiv:2403.15377. InternVideo2: Scaling Foundation Models for Multimodal Video Understanding.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57531" y="4717326"/>
            <a:ext cx="2429268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https://arxiv.org/abs/2403.15377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I3Dは見た目とフレーム間の動きを利用する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行動認識の評価指標とモデル性能</a:t>
            </a:r>
          </a:p>
        </p:txBody>
      </p:sp>
      <p:sp>
        <p:nvSpPr>
          <p:cNvPr id="5" name="body"/>
          <p:cNvSpPr/>
          <p:nvPr>
            <p:ph type="body" idx="1"/>
          </p:nvPr>
        </p:nvSpPr>
        <p:spPr>
          <a:xfrm>
            <a:off x="594360" y="131047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I3D（2017）は、画像の畳み込みを時間方向へ広げた動画認識モデルである。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RGB画像は各フレームの色と見た目を表す。光学フローは、連続するフレームの間で画素がどの方向へ動いたかを表す。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大規模な400行動の動画データKinetics-400と、画像分類用ImageNetで事前学習し、UCF101で微調整した結果が報告されている。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Carreira et al. (2017). CVPR. Quo Vadis, Action Recognition? A New Model and the Kinetics Dataset.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76610" y="4717326"/>
            <a:ext cx="3310189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https://arxiv.org/abs/1705.07750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VideoMAEは隠した映像領域の復元で学習する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行動認識の評価指標とモデル性能</a:t>
            </a:r>
          </a:p>
        </p:txBody>
      </p:sp>
      <p:sp>
        <p:nvSpPr>
          <p:cNvPr id="5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SzPct val="63333"/>
              <a:buFont typeface="Noto Sans CJK JP"/>
              <a:buChar char="●"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VideoMAE（2022）は、動画の一部を隠し、見えている部分から復元する自己教師あり事前学習の手法である。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SzPct val="63333"/>
              <a:buFont typeface="Noto Sans CJK JP"/>
              <a:buChar char="●"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ViTは、画像や映像を小さな領域に分け、その間の関係をTransformerで扱うモデルである。ViT-BのBは基本サイズを表す。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SzPct val="63333"/>
              <a:buFont typeface="Noto Sans CJK JP"/>
              <a:buChar char="●"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同じモデルでも、UCF101だけで事前学習する場合と、大規模なKinetics-400で学ぶ場合とで、微調整後の正解率が変わる。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521200"/>
            <a:ext cx="8183879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Tong et al. (2022). Advances in Neural Information Processing Systems, 35. VideoMAE: Masked Autoencoders are Data-Efficient Learners for Self-Supervised Video Pre-Training.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0780" y="4717326"/>
            <a:ext cx="7716019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https://arxiv.org/abs/2203.12602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画像特徴のDINOv2でも91.2%に達する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行動認識の評価指標とモデル性能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481328"/>
            <a:ext cx="7955279" cy="301752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背景や道具だけでも、行動カテゴリの手がかりになりうる。</a:t>
            </a:r>
            <a:endParaRPr sz="23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2024年の比較では、画像特徴モデルDINOv2を使う方式もTop-1正解率91.2%だった </a:t>
            </a: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3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Wang et al. (2024). arXiv:2403.15377. InternVideo2: Scaling Foundation Models for Multimodal Video Understanding. Table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20377" y="4717326"/>
            <a:ext cx="2066422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https://arxiv.org/abs/2403.15377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59852"/>
            <a:ext cx="8046720" cy="731520"/>
          </a:xfrm>
        </p:spPr>
        <p:txBody>
          <a:bodyPr wrap="square" lIns="0" rIns="0" tIns="0" bIns="0" anchor="ctr"/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 lang="ja-JP"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4. UCF101の利用動向と後続データ</a:t>
            </a:r>
            <a:endParaRPr sz="40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UCF101の利用動向と後続データ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Kineticsは行動数と動画数を拡大した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UCF101の利用動向と後続データ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Kinetics（2017）は、YouTubeから多様な人物・撮影条件の行動クリップを集めた大規模データである。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最初の400行動版は306,245クリップを扱い、UCF101の約4倍の行動数、約23倍のクリップ数となる。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大規模な映像から事前学習し、UCF101へ微調整する利用を支えた。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Kay et al. (2017). arXiv:1705.06950. The Kinetics Human Action Video Dataset.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78530" y="4717326"/>
            <a:ext cx="4308269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https://arxiv.org/abs/1705.06950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手と物の動きを扱うSomething-Something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UCF101の利用動向と後続データ</a:t>
            </a:r>
          </a:p>
        </p:txBody>
      </p:sp>
      <p:sp>
        <p:nvSpPr>
          <p:cNvPr id="5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Something-Something（2017）は、物を押す・持ち上げるなど、人と物の相互作用を174種類に分けた動画データである。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UCF101のスポーツや日常動作に対し、手と物の関係や移動方向を細かく区別する。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物体や背景が似ていても動きの違いで答えが変わるため、時間方向の変化を捉える評価へ対象を広げる。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Goyal et al. (2017). ICCV. The “something something” video database for learning and evaluating visual common sense.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64334" y="4717326"/>
            <a:ext cx="2322465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https://arxiv.org/abs/1706.04261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UCF101の転移学習・特徴評価への利用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UCF101の利用動向と後続データ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380756"/>
            <a:ext cx="7955279" cy="301752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marL="457200" indent="-3556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2012年の公開後、行動分類から事前学習モデルの転移評価へ用途が広がった [1]。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marL="457200" indent="-3556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InternVideo2（2024）では、固定特徴の線形分類とゼロショットの評価に用いられた [2]。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marL="457200" indent="-3556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2026-10-15の確認時点でも、MMAction2は取得・前処理・評価手順を公開している [3]。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3987799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Carreira et al. (2017). CVPR. Quo Vadis, Action Recognition? A New Model and the Kinetics Dataset.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76610" y="4006114"/>
            <a:ext cx="3310189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https://arxiv.org/abs/1705.07750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3434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Wang et al. (2024). arXiv:2403.15377. InternVideo2: Scaling Foundation Models for Multimodal Video Understanding.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513580"/>
            <a:ext cx="8183880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https://arxiv.org/abs/2403.15377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[3] MMAction2 contributors (n.d.). MMAction2 documentation. 参照 2026-10-15. Preparing UCF-101.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https://github.com/open-mmlab/mmaction2/tree/main/tools/data/ucf101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59852"/>
            <a:ext cx="8046720" cy="731520"/>
          </a:xfrm>
        </p:spPr>
        <p:txBody>
          <a:bodyPr wrap="square" lIns="0" rIns="0" tIns="0" bIns="0" anchor="ctr"/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 lang="ja-JP"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5. 配布動画と評価分割の入手方法</a:t>
            </a:r>
            <a:endParaRPr sz="40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5. 配布動画と評価分割の入手方法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動画本体と3分割のリストを取得する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5. 配布動画と評価分割の入手方法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481328"/>
            <a:ext cx="7955279" cy="301752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公式配布元から、動画のアーカイブと学習・テスト分割のZIPを取得する </a:t>
            </a: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4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展開したカテゴリ別フォルダと分割リストを対応させる。</a:t>
            </a:r>
            <a:endParaRPr sz="24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MMAction2などのデータ準備手順で、フレーム抽出と入力用リストを準備できる </a:t>
            </a: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MMAction2 contributors (n.d.). MMAction2 documentation. 参照 2026-10-15. Preparing UCF-101.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https://github.com/open-mmlab/mmaction2/tree/main/tools/data/ucf101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カテゴリ別の動画を分割リストと対応付ける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5. 配布動画と評価分割の入手方法</a:t>
            </a:r>
          </a:p>
        </p:txBody>
      </p:sp>
      <p:sp>
        <p:nvSpPr>
          <p:cNvPr id="5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60455"/>
              <a:buFont typeface="Noto Sans CJK JP"/>
              <a:buChar char="●"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配布動画は行動カテゴリごとのフォルダに置かれ、ファイル名にはカテゴリ・グループ番号・クリップ番号が入る。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60455"/>
              <a:buFont typeface="Noto Sans CJK JP"/>
              <a:buChar char="●"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学習用とテスト用のリストは、そのフォルダ名とファイル名で動画を指定する。同じカテゴリ内でも、グループ番号によって役割が変わる。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60455"/>
              <a:buFont typeface="Noto Sans CJK JP"/>
              <a:buChar char="●"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動画認識用ライブラリMMAction2の手順では、動画からフレームを抽出し、分割リストに沿って学習・評価用ファイルを準備する。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MMAction2 contributors (n.d.). MMAction2 documentation. 参照 2026-10-15. Preparing UCF-101.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https://github.com/open-mmlab/mmaction2/tree/main/tools/data/ucf101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7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UCF101は動画モデルの行動認識と転移を評価する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5. 配布動画と評価分割の入手方法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371600"/>
            <a:ext cx="7955279" cy="301752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101種類の行動を扱う13,320クリップのデータセット。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自然なYouTube映像で、多様な行動を評価するため2012年に作られた。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撮影場所・人物・カメラの視点が似た動画のグループを単位に分割する。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登場時の分類評価から、事前学習モデルの転移・特徴評価にも用途が広がった。</a:t>
            </a:r>
            <a:endParaRPr sz="220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41359"/>
            <a:ext cx="8046720" cy="731520"/>
          </a:xfrm>
        </p:spPr>
        <p:txBody>
          <a:bodyPr tIns="0" bIns="0" anchor="ctr" wrap="square" lIns="0" r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4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目次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073169"/>
            <a:ext cx="7955279" cy="37490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開発者の研究と発表先</a:t>
            </a:r>
          </a:p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動画と行動ラベルの追加例</a:t>
            </a:r>
          </a:p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5つの型に属する全101行動カテゴリ</a:t>
            </a:r>
          </a:p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行動の型・グループごとの動画数</a:t>
            </a:r>
          </a:p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行動の型別・ゼロショットの評価結果</a:t>
            </a:r>
          </a:p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動画の取得と本数の集計コード</a:t>
            </a:r>
          </a:p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動画の行動認識に関連する文献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UCF101の開発者と2012年の技術報告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開発者の研究と発表先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400776"/>
            <a:ext cx="7955279" cy="301752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技術報告CRCV-TR-12-01としてまとめられ、2012-12-03にarXivへ投稿された </a:t>
            </a: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第一著者のKhurram Soomroは、UCF101を構築した行動認識研究者。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最終著者のMubarak Shahは、動画の行動認識を研究し、UCF50やUCF Sportsにも取り組んだ。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当時の著者の所属は、セントラルフロリダ大学のコンピュータビジョン研究センター。</a:t>
            </a:r>
            <a:endParaRPr sz="22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21193" y="4717326"/>
            <a:ext cx="1865606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編み物（Knitting）の例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動画と行動ラベルの追加例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Knitting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5.32秒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10.60秒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https://github.com/RichardMinsooGo-ML/5_TF2_UCF101_video_classification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　v_Knitting_g01_c01.avi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ヨーヨー（YoYo）の例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動画と行動ラベルの追加例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YoYo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3.72秒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7.44秒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https://github.com/RichardMinsooGo-ML/5_TF2_UCF101_video_classification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　v_YoYo_g01_c01.avi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赤ちゃんのはいはい（BabyCrawling）の例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動画と行動ラベルの追加例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BabyCrawling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3.28秒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6.56秒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https://github.com/RichardMinsooGo-ML/5_TF2_UCF101_video_classification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　v_BabyCrawling_g01_c01.avi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散髪（Haircut）の例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動画と行動ラベルの追加例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Haircut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2.68秒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5.36秒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https://github.com/RichardMinsooGo-ML/5_TF2_UCF101_video_classification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　v_Haircut_g01_c01.avi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ギターの演奏（PlayingGuitar）の例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動画と行動ラベルの追加例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PlayingGuitar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5.00秒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9.96秒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https://github.com/RichardMinsooGo-ML/5_TF2_UCF101_video_classification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　v_PlayingGuitar_g01_c01.avi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ビリヤード（Billiards）の例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動画と行動ラベルの追加例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Billiards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5.48秒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10.92秒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https://github.com/RichardMinsooGo-ML/5_TF2_UCF101_video_classification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　v_Billiards_g01_c01.avi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バスケットボールのダンク（BasketballDunk）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動画と行動ラベルの追加例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BasketballDunk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1.20秒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2.40秒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https://github.com/RichardMinsooGo-ML/5_TF2_UCF101_video_classification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　v_BasketballDunk_g01_c01.avi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サーフィン（Surfing）の例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動画と行動ラベルの追加例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Surfing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5.08秒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10.12秒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https://github.com/RichardMinsooGo-ML/5_TF2_UCF101_video_classification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　v_Surfing_g01_c01.avi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タイピング（Typing）の例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動画と行動ラベルの追加例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Typing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2.52秒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5.04秒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https://github.com/RichardMinsooGo-ML/5_TF2_UCF101_video_classification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　v_Typing_g01_c01.avi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スケートボード（SkateBoarding）の例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動画と行動ラベルの追加例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SkateBoarding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4.04秒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8.04秒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https://github.com/RichardMinsooGo-ML/5_TF2_UCF101_video_classification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　v_SkateBoarding_g01_c01.avi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人と物との相互作用という型の全20カテゴリ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5つの型に属する全101行動カテゴリ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1424381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ApplyEyeMakeup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94360" y="1735277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ApplyLipstick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94360" y="2046173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BlowDryHair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94360" y="2357069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BrushingTeeth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94360" y="2667965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CuttingInKitchen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94360" y="2978861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Hammering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594360" y="3289757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HulaHoop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94360" y="3600653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JugglingBalls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594360" y="3911549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JumpRope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594360" y="4222445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Knitting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754880" y="1424381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Mixing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4754880" y="1735277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MoppingFloor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4754880" y="2046173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Nunchucks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4754880" y="2357069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PizzaTossing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4754880" y="2667965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ShavingBeard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4754880" y="2978861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SkateBoarding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4754880" y="3289757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SoccerJuggling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4754880" y="3600653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Typing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4754880" y="3911549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WritingOnBoard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4754880" y="4222445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YoYo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 Figure 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身体の動きという型の全16カテゴリ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5つの型に属する全101行動カテゴリ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BabyCrawling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94360" y="177393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BlowingCandles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94360" y="208483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BodyWeightSquats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94360" y="239572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HandstandPushups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94360" y="2706624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HandstandWalking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94360" y="3017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JumpingJack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594360" y="332841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Lunges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94360" y="363931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PullUps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475488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PushUps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4754880" y="177393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RockClimbingIndoor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754880" y="208483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RopeClimbing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4754880" y="239572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Swing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4754880" y="2706624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TaiChi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4754880" y="3017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TrampolineJumping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4754880" y="332841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WalkingWithDog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4754880" y="363931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WallPushups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 Figure 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人と人との相互作用という型の全5カテゴリ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5つの型に属する全101行動カテゴリ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BandMarching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94360" y="1874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Haircut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94360" y="228600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HeadMassage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75488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MilitaryParade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754880" y="1874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SalsaSpin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 Figure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楽器の演奏という型の全10カテゴリ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5つの型に属する全101行動カテゴリ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Drumming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94360" y="1874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PlayingCello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94360" y="228600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PlayingDaf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94360" y="269748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PlayingDhol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PlayingFlute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75488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PlayingGuitar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4754880" y="1874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PlayingPiano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4754880" y="228600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PlayingSitar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4754880" y="269748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PlayingTabla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4754880" y="310896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PlayingViolin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 Figure 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スポーツという型の全50カテゴリ 1/3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5つの型に属する全101行動カテゴリ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Archery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94360" y="177393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BalanceBeam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94360" y="208483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BaseballPitch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94360" y="239572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Basketball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94360" y="2706624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BasketballDunk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94360" y="3017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BenchPress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594360" y="332841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Biking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94360" y="363931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Billiards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594360" y="395020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Bowling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475488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BoxingPunchingBag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754880" y="177393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BoxingSpeedBag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4754880" y="208483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BreastStroke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4754880" y="239572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CleanAndJerk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4754880" y="2706624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CliffDiving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4754880" y="3017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CricketBowling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4754880" y="332841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CricketShot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4754880" y="363931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Diving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4754880" y="395020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Fencing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 Figure 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スポーツという型の全50カテゴリ 2/3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5つの型に属する全101行動カテゴリ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FieldHockeyPenalty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94360" y="177393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FloorGymnastics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94360" y="208483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FrisbeeCatch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94360" y="239572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FrontCrawl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94360" y="2706624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GolfSwing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94360" y="3017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HammerThrow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594360" y="332841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HighJump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94360" y="363931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HorseRace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475488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HorseRiding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4754880" y="177393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IceDancing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754880" y="208483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JavelinThrow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4754880" y="239572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Kayaking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4754880" y="2706624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LongJump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4754880" y="3017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ParallelBars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4754880" y="332841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PoleVault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4754880" y="363931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PommelHorse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 Figure 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スポーツという型の全50カテゴリ 3/3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5つの型に属する全101行動カテゴリ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Punch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94360" y="177393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Rafting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94360" y="208483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Rowing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94360" y="239572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Shotput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94360" y="2706624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Skiing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94360" y="3017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Skijet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594360" y="332841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SkyDiving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94360" y="363931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SoccerPenalty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475488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StillRings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4754880" y="177393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SumoWrestling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754880" y="208483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Surfing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4754880" y="239572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TableTennisShot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4754880" y="2706624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TennisSwing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4754880" y="3017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ThrowDiscus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4754880" y="332841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UnevenBars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4754880" y="363931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VolleyballSpiking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 Figure 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型ごとにカテゴリ数とクリップ数を比較する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4. 行動の型・グループごとの動画数</a:t>
            </a:r>
          </a:p>
        </p:txBody>
      </p:sp>
      <p:sp>
        <p:nvSpPr>
          <p:cNvPr id="5" name="table-caption"/>
          <p:cNvSpPr txBox="1"/>
          <p:nvPr/>
        </p:nvSpPr>
        <p:spPr>
          <a:xfrm>
            <a:off x="594360" y="4071477"/>
            <a:ext cx="795527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1650" lang="ja-JP">
                <a:latin typeface="Noto Sans"/>
                <a:ea typeface="Noto Sans CJK JP"/>
                <a:cs typeface="Noto Sans"/>
              </a:defRPr>
            </a:pPr>
            <a:r>
              <a:rPr sz="165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カテゴリ当たりの本数は中央値131本、母標準偏差18.2本。25%点は117本、75%点は145本、95%点は163本。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48090"/>
          <a:ext cx="804672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188720"/>
                <a:gridCol w="1188720"/>
                <a:gridCol w="868680"/>
                <a:gridCol w="1143000"/>
                <a:gridCol w="914400"/>
              </a:tblGrid>
              <a:tr h="36576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700">
                          <a:solidFill>
                            <a:srgbClr val="303437"/>
                          </a:solidFill>
                        </a:rPr>
                        <a:t>型 [1]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>
                          <a:solidFill>
                            <a:srgbClr val="303437"/>
                          </a:solidFill>
                        </a:rPr>
                        <a:t>カテゴリ数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>
                          <a:solidFill>
                            <a:srgbClr val="303437"/>
                          </a:solidFill>
                        </a:rPr>
                        <a:t>合計本数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>
                          <a:solidFill>
                            <a:srgbClr val="303437"/>
                          </a:solidFill>
                        </a:rPr>
                        <a:t>最少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>
                          <a:solidFill>
                            <a:srgbClr val="303437"/>
                          </a:solidFill>
                        </a:rPr>
                        <a:t>平均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>
                          <a:solidFill>
                            <a:srgbClr val="303437"/>
                          </a:solidFill>
                        </a:rPr>
                        <a:t>最多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人と物との相互作用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20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2,619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110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131.0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161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身体の動き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16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1,910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100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119.4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144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人と人との相互作用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5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690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125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138.0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155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楽器の演奏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1,428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100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142.8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164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スポーツ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50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6,673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100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133.5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167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全101カテゴリ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101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13,320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100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131.9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167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 Figure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https://arxiv.org/abs/1212.0402</a:t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https://github.com/yjxiong/temporal-segment-networks/tree/master/data/ucf101_splits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4クリップのグループが最も多い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4. 行動の型・グループごとの動画数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4" name="Picture 3" descr="groups-h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1327" y="1463040"/>
            <a:ext cx="7301345" cy="2834640"/>
          </a:xfrm>
          <a:prstGeom prst="rect">
            <a:avLst/>
          </a:prstGeom>
        </p:spPr>
      </p:pic>
      <p:sp>
        <p:nvSpPr>
          <p:cNvPr id="5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カテゴリとグループ番号の組を単位に、全2,525グループを集計.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https://github.com/yjxiong/temporal-segment-networks/tree/master/data/ucf101_splits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原著における行動の型別の正解率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5. 行動の型別・ゼロショットの評価結果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44752"/>
          <a:ext cx="804672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2377440"/>
              </a:tblGrid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行動の型 </a:t>
                      </a: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[1]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正解率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人と物との相互作用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38.52%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身体の動き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36.26%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人と人との相互作用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44.14%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楽器の演奏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37.42%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スポーツ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50.54%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 §3.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85560" y="4717326"/>
            <a:ext cx="1701239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2024年の報告におけるゼロショット評価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5. 行動の型別・ゼロショットの評価結果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349892"/>
          <a:ext cx="804672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2377440"/>
              </a:tblGrid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手法 </a:t>
                      </a: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[1]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Top-1正解率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CLIP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68.9%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TVTSv2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78.0%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InternVideo2clip-1B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88.8%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InternVideo2clip-6B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89.5%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4039625"/>
            <a:ext cx="7955279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17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UCF101で微調整せず、行動名と映像を照合する。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Wang et al. (2024). arXiv:2403.15377. InternVideo2: Scaling Foundation Models for Multimodal Video Understanding. Table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20377" y="4717326"/>
            <a:ext cx="2066422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https://arxiv.org/abs/2403.15377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配布リストからカテゴリ別の本数を集計する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6. 動画の取得と本数の集計コード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code-background"/>
          <p:cNvSpPr/>
          <p:nvPr/>
        </p:nvSpPr>
        <p:spPr>
          <a:xfrm>
            <a:off x="548640" y="1471404"/>
            <a:ext cx="8046720" cy="2500114"/>
          </a:xfrm>
          <a:prstGeom prst="rect">
            <a:avLst/>
          </a:prstGeom>
          <a:solidFill>
            <a:srgbClr val="EB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7680960" cy="2477770"/>
          </a:xfrm>
          <a:prstGeom prst="rect">
            <a:avLst/>
          </a:prstGeom>
          <a:solidFill>
            <a:srgbClr val="EBEDEB"/>
          </a:solidFill>
        </p:spPr>
        <p:txBody>
          <a:bodyPr wrap="none" lIns="152400" rIns="152400" tIns="114300" bIns="114300" anchor="t">
            <a:spAutoFit/>
          </a:bodyPr>
          <a:lstStyle/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from pathlib import Path</a:t>
            </a:r>
            <a:endParaRPr sz="1400" lang="ja-JP">
              <a:latin typeface="Noto Sans"/>
              <a:ea typeface="Noto Sans CJK JP"/>
              <a:cs typeface="Noto Sans"/>
            </a:endParaRP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from collections import Counter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/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root = Path("ucfTrainTestlist")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train = (root / "trainlist01.txt").read_text().splitlines()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test = (root / "testlist01.txt").read_text().splitlines()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clips = {line.split()[0] for line in train + test}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counts = Counter(path.split("/")[0] for path in clips)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print(len(clips), len(counts))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for label, n in sorted(counts.items()):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    print(label, n)</a:t>
            </a:r>
          </a:p>
        </p:txBody>
      </p:sp>
      <p:sp>
        <p:nvSpPr>
          <p:cNvPr id="5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https://github.com/yjxiong/temporal-segment-networks/tree/master/data/ucf101_splits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動画と分割リストのアーカイブを取得する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6. 動画の取得と本数の集計コード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code-background"/>
          <p:cNvSpPr/>
          <p:nvPr/>
        </p:nvSpPr>
        <p:spPr>
          <a:xfrm>
            <a:off x="548640" y="1608565"/>
            <a:ext cx="8046720" cy="1682183"/>
          </a:xfrm>
          <a:prstGeom prst="rect">
            <a:avLst/>
          </a:prstGeom>
          <a:solidFill>
            <a:srgbClr val="EB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7680960" cy="1659889"/>
          </a:xfrm>
          <a:prstGeom prst="rect">
            <a:avLst/>
          </a:prstGeom>
          <a:solidFill>
            <a:srgbClr val="EBEDEB"/>
          </a:solidFill>
        </p:spPr>
        <p:txBody>
          <a:bodyPr wrap="none" lIns="152400" rIns="152400" tIns="114300" bIns="114300" anchor="t">
            <a:spAutoFit/>
          </a:bodyPr>
          <a:lstStyle/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base=</a:t>
            </a: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  <a:hlinkClick r:id="rId4"/>
              </a:rPr>
              <a:t>https://www.crcv.ucf.edu/data/UCF101</a:t>
            </a:r>
            <a:endParaRPr sz="1300" lang="ja-JP">
              <a:latin typeface="Noto Sans"/>
              <a:ea typeface="Noto Sans CJK JP"/>
              <a:cs typeface="Noto Sans"/>
            </a:endParaRP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curl -L --fail -O "$base/UCF101.rar"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curl -L --fail -O \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  "$base/UCF101TrainTestSplits-RecognitionTask.zip"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/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unrar x UCF101.rar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unzip UCF101TrainTestSplits-RecognitionTask.zip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MMAction2 contributors (n.d.). MMAction2 documentation. 参照 2026-10-15. Preparing UCF-101.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https://github.com/open-mmlab/mmaction2/tree/main/tools/data/ucf101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800">
                <a:latin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7. 動画の行動認識に関連する文献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0456"/>
            <a:ext cx="8046720" cy="7341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UCF101: A Dataset of 101 Human Actions Classes From Videos in The Wild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32780"/>
            <a:ext cx="8046720" cy="2670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Soomro, K., Zamir, A. R., &amp; Shah, M. (2012). CRCV-TR-12-01; arXiv:1212.0402.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48782"/>
            <a:ext cx="8046720" cy="6227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UCF101の原著論文。101行動の収集、グループの設計、初期の行動認識評価を報告する。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471443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https://arxiv.org/abs/1212.0402</a:t>
            </a:r>
          </a:p>
        </p:txBody>
      </p:sp>
      <p:sp>
        <p:nvSpPr>
          <p:cNvPr id="8" name="TextBox 3"/>
          <p:cNvSpPr txBox="1"/>
          <p:nvPr/>
        </p:nvSpPr>
        <p:spPr>
          <a:xfrm>
            <a:off x="548640" y="3041056"/>
            <a:ext cx="8046720" cy="7341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Two-Stream Convolutional Networks for Action Recognition in Videos</a:t>
            </a:r>
          </a:p>
        </p:txBody>
      </p:sp>
      <p:sp>
        <p:nvSpPr>
          <p:cNvPr id="9" name="TextBox 4"/>
          <p:cNvSpPr txBox="1"/>
          <p:nvPr/>
        </p:nvSpPr>
        <p:spPr>
          <a:xfrm>
            <a:off x="548640" y="3793380"/>
            <a:ext cx="8046720" cy="2670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Simonyan, K., &amp; Zisserman, A. (2014). Advances in Neural Information Processing Systems, 27.</a:t>
            </a:r>
          </a:p>
        </p:txBody>
      </p:sp>
      <p:sp>
        <p:nvSpPr>
          <p:cNvPr id="10" name="TextBox 5"/>
          <p:cNvSpPr txBox="1"/>
          <p:nvPr/>
        </p:nvSpPr>
        <p:spPr>
          <a:xfrm>
            <a:off x="548640" y="4109382"/>
            <a:ext cx="8046720" cy="6227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Two-Streamモデルの原著論文。RGB画像とオプティカルフローを別々のネットワークで扱う。</a:t>
            </a:r>
          </a:p>
        </p:txBody>
      </p:sp>
      <p:sp>
        <p:nvSpPr>
          <p:cNvPr id="11" name="TextBox 6"/>
          <p:cNvSpPr txBox="1"/>
          <p:nvPr/>
        </p:nvSpPr>
        <p:spPr>
          <a:xfrm>
            <a:off x="548640" y="4732043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https://arxiv.org/abs/1406.2199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828931"/>
            <a:ext cx="8046720" cy="7620"/>
          </a:xfrm>
          <a:prstGeom prst="rect">
            <a:avLst/>
          </a:prstGeom>
          <a:solidFill>
            <a:srgbClr val="C9CC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800">
                <a:latin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7. 動画の行動認識に関連する文献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0456"/>
            <a:ext cx="8046720" cy="7341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Temporal Segment Networks: Towards Good Practices for Deep Action Recognition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32780"/>
            <a:ext cx="8046720" cy="2670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Wang, L., et al. (2016). ECCV.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48782"/>
            <a:ext cx="8046720" cy="6227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TSNの原著論文。動画の複数区間からフレームを抽出し、長い時間範囲の情報を統合する。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471443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https://arxiv.org/abs/1608.00859</a:t>
            </a:r>
          </a:p>
        </p:txBody>
      </p:sp>
      <p:sp>
        <p:nvSpPr>
          <p:cNvPr id="8" name="TextBox 3"/>
          <p:cNvSpPr txBox="1"/>
          <p:nvPr/>
        </p:nvSpPr>
        <p:spPr>
          <a:xfrm>
            <a:off x="548640" y="3041056"/>
            <a:ext cx="8046720" cy="7341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Quo Vadis, Action Recognition? A New Model and the Kinetics Dataset</a:t>
            </a:r>
          </a:p>
        </p:txBody>
      </p:sp>
      <p:sp>
        <p:nvSpPr>
          <p:cNvPr id="9" name="TextBox 4"/>
          <p:cNvSpPr txBox="1"/>
          <p:nvPr/>
        </p:nvSpPr>
        <p:spPr>
          <a:xfrm>
            <a:off x="548640" y="3793380"/>
            <a:ext cx="8046720" cy="2670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Carreira, J., &amp; Zisserman, A. (2017). CVPR.</a:t>
            </a:r>
          </a:p>
        </p:txBody>
      </p:sp>
      <p:sp>
        <p:nvSpPr>
          <p:cNvPr id="10" name="TextBox 5"/>
          <p:cNvSpPr txBox="1"/>
          <p:nvPr/>
        </p:nvSpPr>
        <p:spPr>
          <a:xfrm>
            <a:off x="548640" y="4109382"/>
            <a:ext cx="8046720" cy="6227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I3Dの原著論文。画像の畳み込みを3次元へ拡張し、Kineticsからの転移を評価する。</a:t>
            </a:r>
          </a:p>
        </p:txBody>
      </p:sp>
      <p:sp>
        <p:nvSpPr>
          <p:cNvPr id="11" name="TextBox 6"/>
          <p:cNvSpPr txBox="1"/>
          <p:nvPr/>
        </p:nvSpPr>
        <p:spPr>
          <a:xfrm>
            <a:off x="548640" y="4732043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https://arxiv.org/abs/1705.07750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828931"/>
            <a:ext cx="8046720" cy="7620"/>
          </a:xfrm>
          <a:prstGeom prst="rect">
            <a:avLst/>
          </a:prstGeom>
          <a:solidFill>
            <a:srgbClr val="C9CC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800">
                <a:latin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7. 動画の行動認識に関連する文献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9601"/>
            <a:ext cx="8046720" cy="68549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VideoMAE: Masked Autoencoders are Data-Efficient Learners for Self-Supervised Video Pre-Training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84289"/>
            <a:ext cx="8046720" cy="2670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Tong, Z., Song, Y., Wang, J., &amp; Wang, L. (2022). Advances in Neural Information Processing Systems, 35.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00280"/>
            <a:ext cx="8046720" cy="6227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VideoMAEの原著論文。高いマスク率の映像復元により、自己教師あり事前学習を行う。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422598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https://arxiv.org/abs/2203.12602</a:t>
            </a:r>
          </a:p>
        </p:txBody>
      </p:sp>
      <p:sp>
        <p:nvSpPr>
          <p:cNvPr id="8" name="TextBox 3"/>
          <p:cNvSpPr txBox="1"/>
          <p:nvPr/>
        </p:nvSpPr>
        <p:spPr>
          <a:xfrm>
            <a:off x="548640" y="3041297"/>
            <a:ext cx="8046720" cy="4141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Preparing UCF-101</a:t>
            </a:r>
          </a:p>
        </p:txBody>
      </p:sp>
      <p:sp>
        <p:nvSpPr>
          <p:cNvPr id="9" name="TextBox 4"/>
          <p:cNvSpPr txBox="1"/>
          <p:nvPr/>
        </p:nvSpPr>
        <p:spPr>
          <a:xfrm>
            <a:off x="548640" y="3487719"/>
            <a:ext cx="8046720" cy="28148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MMAction2 contributors (n.d.). MMAction2 documentation. 参照 2026-10-15.</a:t>
            </a:r>
          </a:p>
        </p:txBody>
      </p:sp>
      <p:sp>
        <p:nvSpPr>
          <p:cNvPr id="10" name="TextBox 5"/>
          <p:cNvSpPr txBox="1"/>
          <p:nvPr/>
        </p:nvSpPr>
        <p:spPr>
          <a:xfrm>
            <a:off x="548640" y="3804078"/>
            <a:ext cx="8046720" cy="6227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MMAction2の公式データ準備手順。UCF101の取得、フレーム抽出、分割リスト作成を記載する。</a:t>
            </a:r>
          </a:p>
        </p:txBody>
      </p:sp>
      <p:sp>
        <p:nvSpPr>
          <p:cNvPr id="11" name="TextBox 6"/>
          <p:cNvSpPr txBox="1"/>
          <p:nvPr/>
        </p:nvSpPr>
        <p:spPr>
          <a:xfrm>
            <a:off x="548640" y="4426396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https://github.com/open-mmlab/mmaction2/tree/main/tools/data/ucf101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804590"/>
            <a:ext cx="8046720" cy="7620"/>
          </a:xfrm>
          <a:prstGeom prst="rect">
            <a:avLst/>
          </a:prstGeom>
          <a:solidFill>
            <a:srgbClr val="C9CC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800">
                <a:latin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7. 動画の行動認識に関連する文献</a:t>
            </a:r>
          </a:p>
        </p:txBody>
      </p:sp>
      <p:sp>
        <p:nvSpPr>
          <p:cNvPr id="4" name="TextBox 7"/>
          <p:cNvSpPr txBox="1"/>
          <p:nvPr/>
        </p:nvSpPr>
        <p:spPr>
          <a:xfrm>
            <a:off x="548640" y="780865"/>
            <a:ext cx="8046720" cy="4141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Kinetics Human Action Video Dataset</a:t>
            </a:r>
          </a:p>
        </p:txBody>
      </p:sp>
      <p:sp>
        <p:nvSpPr>
          <p:cNvPr id="5" name="TextBox 8"/>
          <p:cNvSpPr txBox="1"/>
          <p:nvPr/>
        </p:nvSpPr>
        <p:spPr>
          <a:xfrm>
            <a:off x="548640" y="1212792"/>
            <a:ext cx="8046720" cy="2670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Kay, W., et al. (2017). arXiv:1705.06950.</a:t>
            </a:r>
          </a:p>
        </p:txBody>
      </p:sp>
      <p:sp>
        <p:nvSpPr>
          <p:cNvPr id="6" name="TextBox 9"/>
          <p:cNvSpPr txBox="1"/>
          <p:nvPr/>
        </p:nvSpPr>
        <p:spPr>
          <a:xfrm>
            <a:off x="548640" y="1528781"/>
            <a:ext cx="8046720" cy="6227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Kineticsの原著論文。YouTubeの大規模な行動クリップの収集と品質管理を報告する。</a:t>
            </a:r>
          </a:p>
        </p:txBody>
      </p:sp>
      <p:sp>
        <p:nvSpPr>
          <p:cNvPr id="7" name="TextBox 10"/>
          <p:cNvSpPr txBox="1"/>
          <p:nvPr/>
        </p:nvSpPr>
        <p:spPr>
          <a:xfrm>
            <a:off x="548640" y="2151101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https://arxiv.org/abs/1705.06950</a:t>
            </a:r>
          </a:p>
        </p:txBody>
      </p:sp>
      <p:sp>
        <p:nvSpPr>
          <p:cNvPr id="8" name="TextBox 3"/>
          <p:cNvSpPr txBox="1"/>
          <p:nvPr/>
        </p:nvSpPr>
        <p:spPr>
          <a:xfrm>
            <a:off x="548640" y="3040942"/>
            <a:ext cx="8046720" cy="7341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“something something” video database for learning and evaluating visual common sense</a:t>
            </a:r>
          </a:p>
        </p:txBody>
      </p:sp>
      <p:sp>
        <p:nvSpPr>
          <p:cNvPr id="9" name="TextBox 4"/>
          <p:cNvSpPr txBox="1"/>
          <p:nvPr/>
        </p:nvSpPr>
        <p:spPr>
          <a:xfrm>
            <a:off x="548640" y="3793623"/>
            <a:ext cx="8046720" cy="2670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Goyal, R., et al. (2017). ICCV.</a:t>
            </a:r>
          </a:p>
        </p:txBody>
      </p:sp>
      <p:sp>
        <p:nvSpPr>
          <p:cNvPr id="10" name="TextBox 5"/>
          <p:cNvSpPr txBox="1"/>
          <p:nvPr/>
        </p:nvSpPr>
        <p:spPr>
          <a:xfrm>
            <a:off x="548640" y="4109611"/>
            <a:ext cx="8046720" cy="6227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Something-Somethingの原著論文。人と物の相互作用を、時間的な関係を含む動作ラベルで扱う。</a:t>
            </a:r>
          </a:p>
        </p:txBody>
      </p:sp>
      <p:sp>
        <p:nvSpPr>
          <p:cNvPr id="11" name="TextBox 6"/>
          <p:cNvSpPr txBox="1"/>
          <p:nvPr/>
        </p:nvSpPr>
        <p:spPr>
          <a:xfrm>
            <a:off x="548640" y="4731917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https://arxiv.org/abs/1706.04261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668910"/>
            <a:ext cx="8046720" cy="7620"/>
          </a:xfrm>
          <a:prstGeom prst="rect">
            <a:avLst/>
          </a:prstGeom>
          <a:solidFill>
            <a:srgbClr val="C9CC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800">
                <a:latin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7. 動画の行動認識に関連する文献</a:t>
            </a:r>
          </a:p>
        </p:txBody>
      </p:sp>
      <p:sp>
        <p:nvSpPr>
          <p:cNvPr id="4" name="TextBox 7"/>
          <p:cNvSpPr txBox="1"/>
          <p:nvPr/>
        </p:nvSpPr>
        <p:spPr>
          <a:xfrm>
            <a:off x="548640" y="780865"/>
            <a:ext cx="8046720" cy="4141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Training and Test</a:t>
            </a:r>
          </a:p>
        </p:txBody>
      </p:sp>
      <p:sp>
        <p:nvSpPr>
          <p:cNvPr id="5" name="TextBox 8"/>
          <p:cNvSpPr txBox="1"/>
          <p:nvPr/>
        </p:nvSpPr>
        <p:spPr>
          <a:xfrm>
            <a:off x="548640" y="1227286"/>
            <a:ext cx="8046720" cy="28148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MMAction2 contributors (n.d.). MMAction2 documentation. 参照 2026-10-15.</a:t>
            </a:r>
          </a:p>
        </p:txBody>
      </p:sp>
      <p:sp>
        <p:nvSpPr>
          <p:cNvPr id="6" name="TextBox 9"/>
          <p:cNvSpPr txBox="1"/>
          <p:nvPr/>
        </p:nvSpPr>
        <p:spPr>
          <a:xfrm>
            <a:off x="548640" y="1543275"/>
            <a:ext cx="8046720" cy="6227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MMAction2の公式実行手順。設定ファイル、チェックポイントを用いた学習・テストを記載する。</a:t>
            </a:r>
          </a:p>
        </p:txBody>
      </p:sp>
      <p:sp>
        <p:nvSpPr>
          <p:cNvPr id="7" name="TextBox 10"/>
          <p:cNvSpPr txBox="1"/>
          <p:nvPr/>
        </p:nvSpPr>
        <p:spPr>
          <a:xfrm>
            <a:off x="548640" y="2165594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https://github.com/open-mmlab/mmaction2/blob/main/docs/en/user_guides/train_test.md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佐々木　悠太</cp:lastModifiedBy>
  <cp:revision>500</cp:revision>
  <dcterms:modified xsi:type="dcterms:W3CDTF">2026-10-13T12:49:59Z</dcterms:modified>
</cp:coreProperties>
</file>