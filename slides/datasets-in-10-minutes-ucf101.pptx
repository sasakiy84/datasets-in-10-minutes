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261" r:id="rId5"/>
    <p:sldId id="262" r:id="rId4"/>
    <p:sldId id="263" r:id="rId3"/>
    <p:sldId id="264" r:id="rId2"/>
    <p:sldId id="265" r:id="rId15"/>
    <p:sldId id="266" r:id="rId16"/>
    <p:sldId id="267" r:id="rId17"/>
    <p:sldId id="268" r:id="rId18"/>
    <p:sldId id="269" r:id="rId19"/>
    <p:sldId id="270" r:id="rId20"/>
    <p:sldId id="316" r:id="rId66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17" r:id="rId67"/>
    <p:sldId id="307" r:id="rId57"/>
    <p:sldId id="308" r:id="rId58"/>
    <p:sldId id="309" r:id="rId59"/>
    <p:sldId id="310" r:id="rId60"/>
    <p:sldId id="311" r:id="rId61"/>
    <p:sldId id="312" r:id="rId62"/>
    <p:sldId id="313" r:id="rId63"/>
    <p:sldId id="314" r:id="rId64"/>
    <p:sldId id="315" r:id="rId65"/>
  </p:sldIdLst>
  <p:sldSz cx="9144000" cy="5143500" type="screen16x9"/>
  <p:notesSz cx="6858000" cy="9144000"/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32.xml"/><Relationship Id="rId37" Type="http://schemas.openxmlformats.org/officeDocument/2006/relationships/slide" Target="slides/slide33.xml"/><Relationship Id="rId38" Type="http://schemas.openxmlformats.org/officeDocument/2006/relationships/slide" Target="slides/slide34.xml"/><Relationship Id="rId39" Type="http://schemas.openxmlformats.org/officeDocument/2006/relationships/slide" Target="slides/slide35.xml"/><Relationship Id="rId40" Type="http://schemas.openxmlformats.org/officeDocument/2006/relationships/slide" Target="slides/slide36.xml"/><Relationship Id="rId41" Type="http://schemas.openxmlformats.org/officeDocument/2006/relationships/slide" Target="slides/slide37.xml"/><Relationship Id="rId42" Type="http://schemas.openxmlformats.org/officeDocument/2006/relationships/slide" Target="slides/slide38.xml"/><Relationship Id="rId43" Type="http://schemas.openxmlformats.org/officeDocument/2006/relationships/slide" Target="slides/slide39.xml"/><Relationship Id="rId44" Type="http://schemas.openxmlformats.org/officeDocument/2006/relationships/slide" Target="slides/slide40.xml"/><Relationship Id="rId45" Type="http://schemas.openxmlformats.org/officeDocument/2006/relationships/slide" Target="slides/slide41.xml"/><Relationship Id="rId46" Type="http://schemas.openxmlformats.org/officeDocument/2006/relationships/slide" Target="slides/slide42.xml"/><Relationship Id="rId47" Type="http://schemas.openxmlformats.org/officeDocument/2006/relationships/slide" Target="slides/slide43.xml"/><Relationship Id="rId48" Type="http://schemas.openxmlformats.org/officeDocument/2006/relationships/slide" Target="slides/slide44.xml"/><Relationship Id="rId49" Type="http://schemas.openxmlformats.org/officeDocument/2006/relationships/slide" Target="slides/slide45.xml"/><Relationship Id="rId50" Type="http://schemas.openxmlformats.org/officeDocument/2006/relationships/slide" Target="slides/slide46.xml"/><Relationship Id="rId51" Type="http://schemas.openxmlformats.org/officeDocument/2006/relationships/slide" Target="slides/slide47.xml"/><Relationship Id="rId52" Type="http://schemas.openxmlformats.org/officeDocument/2006/relationships/slide" Target="slides/slide48.xml"/><Relationship Id="rId53" Type="http://schemas.openxmlformats.org/officeDocument/2006/relationships/slide" Target="slides/slide49.xml"/><Relationship Id="rId54" Type="http://schemas.openxmlformats.org/officeDocument/2006/relationships/slide" Target="slides/slide50.xml"/><Relationship Id="rId55" Type="http://schemas.openxmlformats.org/officeDocument/2006/relationships/slide" Target="slides/slide51.xml"/><Relationship Id="rId56" Type="http://schemas.openxmlformats.org/officeDocument/2006/relationships/slide" Target="slides/slide52.xml"/><Relationship Id="rId57" Type="http://schemas.openxmlformats.org/officeDocument/2006/relationships/slide" Target="slides/slide54.xml"/><Relationship Id="rId58" Type="http://schemas.openxmlformats.org/officeDocument/2006/relationships/slide" Target="slides/slide55.xml"/><Relationship Id="rId59" Type="http://schemas.openxmlformats.org/officeDocument/2006/relationships/slide" Target="slides/slide56.xml"/><Relationship Id="rId60" Type="http://schemas.openxmlformats.org/officeDocument/2006/relationships/slide" Target="slides/slide57.xml"/><Relationship Id="rId61" Type="http://schemas.openxmlformats.org/officeDocument/2006/relationships/slide" Target="slides/slide58.xml"/><Relationship Id="rId62" Type="http://schemas.openxmlformats.org/officeDocument/2006/relationships/slide" Target="slides/slide59.xml"/><Relationship Id="rId63" Type="http://schemas.openxmlformats.org/officeDocument/2006/relationships/slide" Target="slides/slide60.xml"/><Relationship Id="rId64" Type="http://schemas.openxmlformats.org/officeDocument/2006/relationships/slide" Target="slides/slide61.xml"/><Relationship Id="rId65" Type="http://schemas.openxmlformats.org/officeDocument/2006/relationships/slide" Target="slides/slide62.xml"/><Relationship Id="rId66" Type="http://schemas.openxmlformats.org/officeDocument/2006/relationships/slide" Target="slides/slide16.xml"/><Relationship Id="rId67" Type="http://schemas.openxmlformats.org/officeDocument/2006/relationships/slide" Target="slides/slide5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None/>
              <a:defRPr sz="5200" b="1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pPr>
              <a:defRPr sz="2200"/>
            </a:pPr>
            <a:endParaRPr/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ctr"/>
            <a:fld id="{00000000-1234-1234-1234-000000000999}" type="slidenum">
              <a:rPr lang="en-US" sz="1800" b="1">
                <a:solidFill>
                  <a:schemeClr val="lt1"/>
                </a:solidFill>
              </a:rPr>
              <a:pPr algn="ctr"/>
              <a:t>‹#›</a:t>
            </a:fld>
            <a:endParaRPr lang="en-US" sz="1800" b="1" dirty="0"/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26669"/>
                </a:solidFill>
                <a:latin typeface="Noto Sans CJK JP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98848"/>
            <a:ext cx="3108960" cy="22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26669"/>
                </a:solidFill>
                <a:latin typeface="Noto Sans CJK JP"/>
              </a:defRPr>
            </a:pPr>
            <a: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26669"/>
                </a:solidFill>
                <a:latin typeface="Noto Sans CJK JP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ja" b="1" dirty="0">
                <a:solidFill>
                  <a:schemeClr val="lt1"/>
                </a:solidFill>
              </a:rPr>
              <a:t>T</a:t>
            </a:r>
            <a:r>
              <a:rPr lang="ja" b="1" dirty="0">
                <a:solidFill>
                  <a:schemeClr val="lt1"/>
                </a:solidFill>
              </a:rPr>
              <a:t>able of </a:t>
            </a:r>
            <a:r>
              <a:rPr lang="en-US" altLang="ja" b="1" dirty="0">
                <a:solidFill>
                  <a:schemeClr val="lt1"/>
                </a:solidFill>
              </a:rPr>
              <a:t>C</a:t>
            </a:r>
            <a:r>
              <a:rPr lang="ja" b="1" dirty="0">
                <a:solidFill>
                  <a:schemeClr val="lt1"/>
                </a:solidFill>
              </a:rPr>
              <a:t>ontents</a:t>
            </a:r>
            <a:endParaRPr b="1" dirty="0">
              <a:solidFill>
                <a:schemeClr val="lt1"/>
              </a:solidFill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18"/>
              <a:buFont typeface="Arial"/>
              <a:buNone/>
              <a:tabLst/>
              <a:defRPr/>
            </a:pPr>
            <a:r>
              <a:rPr lang="ja" sz="2800" b="1" dirty="0">
                <a:solidFill>
                  <a:schemeClr val="accent2"/>
                </a:solidFill>
              </a:rPr>
              <a:t>1.</a:t>
            </a:r>
            <a:r>
              <a:rPr lang="en-US" altLang="ja" sz="2800" b="1" dirty="0">
                <a:solidFill>
                  <a:schemeClr val="accent2"/>
                </a:solidFill>
              </a:rPr>
              <a:t> </a:t>
            </a:r>
            <a:r>
              <a:rPr lang="en" altLang="ja" sz="2800" b="1" dirty="0">
                <a:solidFill>
                  <a:schemeClr val="dk1"/>
                </a:solidFill>
              </a:rPr>
              <a:t>Background &amp; Purpose</a:t>
            </a:r>
            <a:endParaRPr lang="en" altLang="ja-JP" sz="2800" b="1" dirty="0">
              <a:solidFill>
                <a:schemeClr val="dk1"/>
              </a:solidFill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18"/>
              <a:buFont typeface="Arial"/>
              <a:buNone/>
              <a:tabLst/>
              <a:defRPr/>
            </a:pPr>
            <a:r>
              <a:rPr lang="ja" sz="2800" b="1" dirty="0">
                <a:solidFill>
                  <a:schemeClr val="accent2"/>
                </a:solidFill>
              </a:rPr>
              <a:t>2.</a:t>
            </a:r>
            <a:r>
              <a:rPr lang="en-US" altLang="ja" sz="2800" b="1" dirty="0">
                <a:solidFill>
                  <a:schemeClr val="accent2"/>
                </a:solidFill>
              </a:rPr>
              <a:t> </a:t>
            </a:r>
            <a:r>
              <a:rPr lang="en" altLang="ja" sz="2800" b="1" dirty="0">
                <a:solidFill>
                  <a:schemeClr val="dk1"/>
                </a:solidFill>
              </a:rPr>
              <a:t>Methodology</a:t>
            </a:r>
            <a:endParaRPr lang="en" altLang="ja-JP" sz="2800" b="1" dirty="0">
              <a:solidFill>
                <a:schemeClr val="dk1"/>
              </a:solidFill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18"/>
              <a:buFont typeface="Arial"/>
              <a:buNone/>
              <a:tabLst/>
              <a:defRPr/>
            </a:pPr>
            <a:r>
              <a:rPr lang="ja" sz="2800" b="1" dirty="0">
                <a:solidFill>
                  <a:schemeClr val="accent2"/>
                </a:solidFill>
              </a:rPr>
              <a:t>3.</a:t>
            </a:r>
            <a:r>
              <a:rPr lang="en-US" altLang="ja" sz="2800" b="1" dirty="0">
                <a:solidFill>
                  <a:schemeClr val="accent2"/>
                </a:solidFill>
              </a:rPr>
              <a:t> </a:t>
            </a:r>
            <a:r>
              <a:rPr lang="en" altLang="ja" sz="2800" b="1" dirty="0">
                <a:solidFill>
                  <a:schemeClr val="dk1"/>
                </a:solidFill>
              </a:rPr>
              <a:t>Classification Framework</a:t>
            </a:r>
            <a:endParaRPr lang="en" altLang="ja-JP" sz="2800" b="1" dirty="0">
              <a:solidFill>
                <a:schemeClr val="dk1"/>
              </a:solidFill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18"/>
              <a:buFont typeface="Arial"/>
              <a:buNone/>
              <a:tabLst/>
              <a:defRPr/>
            </a:pPr>
            <a:r>
              <a:rPr lang="ja" sz="2800" b="1" dirty="0">
                <a:solidFill>
                  <a:schemeClr val="accent2"/>
                </a:solidFill>
              </a:rPr>
              <a:t>4.</a:t>
            </a:r>
            <a:r>
              <a:rPr lang="en-US" altLang="ja" sz="2800" b="1" dirty="0">
                <a:solidFill>
                  <a:schemeClr val="accent2"/>
                </a:solidFill>
              </a:rPr>
              <a:t> </a:t>
            </a:r>
            <a:r>
              <a:rPr lang="en" altLang="ja" sz="2800" b="1" dirty="0">
                <a:solidFill>
                  <a:schemeClr val="dk1"/>
                </a:solidFill>
              </a:rPr>
              <a:t>Results &amp; Analysis</a:t>
            </a:r>
            <a:endParaRPr lang="en" altLang="ja-JP" sz="2800" b="1" dirty="0">
              <a:solidFill>
                <a:schemeClr val="dk1"/>
              </a:solidFill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>
              <a:solidFill>
                <a:schemeClr val="dk1"/>
              </a:solidFill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18"/>
              <a:buFont typeface="Arial"/>
              <a:buNone/>
              <a:tabLst/>
              <a:defRPr/>
            </a:pPr>
            <a:r>
              <a:rPr lang="ja" sz="2800" b="1" dirty="0">
                <a:solidFill>
                  <a:schemeClr val="accent2"/>
                </a:solidFill>
              </a:rPr>
              <a:t>5.</a:t>
            </a:r>
            <a:r>
              <a:rPr lang="en-US" altLang="ja" sz="2800" b="1" dirty="0">
                <a:solidFill>
                  <a:schemeClr val="accent2"/>
                </a:solidFill>
              </a:rPr>
              <a:t> </a:t>
            </a:r>
            <a:r>
              <a:rPr lang="en" altLang="ja" sz="2800" b="1" dirty="0">
                <a:solidFill>
                  <a:schemeClr val="dk1"/>
                </a:solidFill>
              </a:rPr>
              <a:t>Conclusions and future work</a:t>
            </a:r>
            <a:endParaRPr lang="en" altLang="ja-JP" sz="2800" b="1" dirty="0">
              <a:solidFill>
                <a:schemeClr val="dk1"/>
              </a:solidFill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en-US" sz="1800" b="1">
                <a:solidFill>
                  <a:schemeClr val="lt1"/>
                </a:solidFill>
              </a:rPr>
              <a:t>‹#›</a:t>
            </a:fld>
            <a:endParaRPr lang="en-US" sz="1800" b="1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•"/>
              <a:defRPr sz="2000">
                <a:solidFill>
                  <a:schemeClr val="dk2"/>
                </a:solidFill>
              </a:defRPr>
            </a:lvl1pPr>
            <a:lvl2pPr marL="482600" lvl="1" indent="-127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○"/>
              <a:defRPr sz="2000">
                <a:solidFill>
                  <a:schemeClr val="dk2"/>
                </a:solidFill>
              </a:defRPr>
            </a:lvl2pPr>
            <a:lvl3pPr marL="762000" lvl="2" indent="-127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■"/>
              <a:defRPr sz="2000">
                <a:solidFill>
                  <a:schemeClr val="dk2"/>
                </a:solidFill>
              </a:defRPr>
            </a:lvl3pPr>
            <a:lvl4pPr marL="1041400" lvl="3" indent="-127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200"/>
              <a:buChar char="•"/>
              <a:defRPr sz="2200">
                <a:solidFill>
                  <a:schemeClr val="dk2"/>
                </a:solidFill>
              </a:defRPr>
            </a:lvl4pPr>
            <a:lvl5pPr marL="1320800" lvl="4" indent="-127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○"/>
              <a:defRPr sz="2000">
                <a:solidFill>
                  <a:schemeClr val="dk2"/>
                </a:solidFill>
              </a:defRPr>
            </a:lvl5pPr>
            <a:lvl6pPr marL="1600200" lvl="5" indent="-127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■"/>
              <a:defRPr sz="2000">
                <a:solidFill>
                  <a:schemeClr val="dk2"/>
                </a:solidFill>
              </a:defRPr>
            </a:lvl6pPr>
            <a:lvl7pPr marL="1879600" lvl="6" indent="-127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•"/>
              <a:defRPr sz="2000">
                <a:solidFill>
                  <a:schemeClr val="dk2"/>
                </a:solidFill>
              </a:defRPr>
            </a:lvl7pPr>
            <a:lvl8pPr marL="2159000" lvl="7" indent="-127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○"/>
              <a:defRPr sz="2000">
                <a:solidFill>
                  <a:schemeClr val="dk2"/>
                </a:solidFill>
              </a:defRPr>
            </a:lvl8pPr>
            <a:lvl9pPr marL="2438400" lvl="8" indent="-127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■"/>
              <a:defRPr sz="20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 b="1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en-US" sz="1800" b="1">
                <a:solidFill>
                  <a:schemeClr val="lt1"/>
                </a:solidFill>
              </a:rPr>
              <a:t>‹#›</a:t>
            </a:fld>
            <a:endParaRPr lang="en-US" sz="1800" b="1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 b="1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en-US" sz="1800" b="1">
                <a:solidFill>
                  <a:schemeClr val="lt1"/>
                </a:solidFill>
              </a:rPr>
              <a:t>‹#›</a:t>
            </a:fld>
            <a:endParaRPr lang="en-US" sz="1800" b="1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468600" y="2263650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 b="1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/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en-US" sz="1800" b="1">
                <a:solidFill>
                  <a:schemeClr val="lt1"/>
                </a:solidFill>
              </a:rPr>
              <a:t>‹#›</a:t>
            </a:fld>
            <a:endParaRPr lang="en-US" sz="1800" b="1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•"/>
              <a:defRPr sz="2000">
                <a:solidFill>
                  <a:schemeClr val="dk2"/>
                </a:solidFill>
              </a:defRPr>
            </a:lvl1pPr>
            <a:lvl2pPr marL="482600" lvl="1" indent="-1270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○"/>
              <a:defRPr sz="2000">
                <a:solidFill>
                  <a:schemeClr val="dk2"/>
                </a:solidFill>
              </a:defRPr>
            </a:lvl2pPr>
            <a:lvl3pPr marL="762000" lvl="2" indent="-1270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■"/>
              <a:defRPr sz="2000">
                <a:solidFill>
                  <a:schemeClr val="dk2"/>
                </a:solidFill>
              </a:defRPr>
            </a:lvl3pPr>
            <a:lvl4pPr marL="1041400" lvl="3" indent="-1270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200"/>
              <a:buChar char="•"/>
              <a:defRPr sz="2200">
                <a:solidFill>
                  <a:schemeClr val="dk2"/>
                </a:solidFill>
              </a:defRPr>
            </a:lvl4pPr>
            <a:lvl5pPr marL="1320800" lvl="4" indent="-1270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○"/>
              <a:defRPr sz="2000">
                <a:solidFill>
                  <a:schemeClr val="dk2"/>
                </a:solidFill>
              </a:defRPr>
            </a:lvl5pPr>
            <a:lvl6pPr marL="1600200" lvl="5" indent="-1270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■"/>
              <a:defRPr sz="2000">
                <a:solidFill>
                  <a:schemeClr val="dk2"/>
                </a:solidFill>
              </a:defRPr>
            </a:lvl6pPr>
            <a:lvl7pPr marL="1879600" lvl="6" indent="-1270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•"/>
              <a:defRPr sz="2000">
                <a:solidFill>
                  <a:schemeClr val="dk2"/>
                </a:solidFill>
              </a:defRPr>
            </a:lvl7pPr>
            <a:lvl8pPr marL="2159000" lvl="7" indent="-1270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○"/>
              <a:defRPr sz="2000">
                <a:solidFill>
                  <a:schemeClr val="dk2"/>
                </a:solidFill>
              </a:defRPr>
            </a:lvl8pPr>
            <a:lvl9pPr marL="2438400" lvl="8" indent="-1270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■"/>
              <a:defRPr sz="20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 b="1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/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en-US" sz="1800" b="1">
                <a:solidFill>
                  <a:schemeClr val="lt1"/>
                </a:solidFill>
              </a:rPr>
              <a:t>‹#›</a:t>
            </a:fld>
            <a:endParaRPr lang="en-US" sz="1800" b="1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 b="1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/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en-US" sz="1800" b="1">
                <a:solidFill>
                  <a:schemeClr val="lt1"/>
                </a:solidFill>
              </a:rPr>
              <a:t>‹#›</a:t>
            </a:fld>
            <a:endParaRPr lang="en-US" sz="1800" b="1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dirty="0"/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en-US" sz="1800" b="0">
                <a:solidFill>
                  <a:schemeClr val="dk2"/>
                </a:solidFill>
              </a:rPr>
              <a:t>Insert chart</a:t>
            </a:r>
            <a:endParaRPr lang="en-US"/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>
            <a:lvl1pPr>
              <a:buNone/>
              <a:defRPr/>
            </a:lvl1pPr>
          </a:lstStyle>
          <a:p>
            <a:endParaRPr lang="en-US" dirty="0"/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>
            <a:lvl1pPr>
              <a:buNone/>
              <a:defRPr/>
            </a:lvl1pPr>
          </a:lstStyle>
          <a:p>
            <a:endParaRPr lang="en-US" dirty="0"/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en-US" sz="1800" b="1">
                <a:solidFill>
                  <a:schemeClr val="lt1"/>
                </a:solidFill>
              </a:rPr>
              <a:t>‹#›</a:t>
            </a:fld>
            <a:endParaRPr lang="en-US" sz="1800" b="1"/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>
                <a:solidFill>
                  <a:schemeClr val="lt1"/>
                </a:solidFill>
              </a:defRPr>
            </a:lvl9pPr>
          </a:lstStyle>
          <a:p>
            <a:endParaRPr dirty="0"/>
          </a:p>
        </p:txBody>
      </p:sp>
      <p:sp>
        <p:nvSpPr>
          <p:cNvPr id="999" name="Slide Number"/>
          <p:cNvSpPr txBox="1"/>
          <p:nvPr/>
        </p:nvSpPr>
        <p:spPr>
          <a:xfrm>
            <a:off x="847245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en-US" sz="1800" b="1">
                <a:solidFill>
                  <a:schemeClr val="dk2"/>
                </a:solidFill>
              </a:rPr>
              <a:t>‹#›</a:t>
            </a:fld>
            <a:endParaRPr lang="en-US" sz="1800" b="1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 sz="1800">
                <a:solidFill>
                  <a:schemeClr val="dk2"/>
                </a:solidFill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•"/>
              <a:defRPr>
                <a:solidFill>
                  <a:schemeClr val="dk2"/>
                </a:solidFill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•"/>
              <a:defRPr>
                <a:solidFill>
                  <a:schemeClr val="dk2"/>
                </a:solidFill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png"/><Relationship Id="rId3" Type="http://schemas.openxmlformats.org/officeDocument/2006/relationships/image" Target="../media/image2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.png"/><Relationship Id="rId3" Type="http://schemas.openxmlformats.org/officeDocument/2006/relationships/image" Target="../media/image1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2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5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6.jpg"/><Relationship Id="rId3" Type="http://schemas.openxmlformats.org/officeDocument/2006/relationships/image" Target="../media/image17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7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8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828800"/>
            <a:ext cx="8229600" cy="822960"/>
          </a:xfrm>
        </p:spPr>
        <p:txBody>
          <a:bodyPr wrap="square" lIns="0" rIns="0" tIns="0" bIns="0" anchor="ctr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5800">
                <a:latin typeface="Noto Sans CJK JP"/>
              </a:defRPr>
              <a:buNone/>
            </a:pPr>
            <a:r>
              <a:rPr sz="5800" lang="ja-JP" b="1">
                <a:solidFill>
                  <a:srgbClr val="303437"/>
                </a:solidFill>
                <a:latin typeface="Noto Sans CJK JP"/>
                <a:ea typeface="Noto Sans CJK JP"/>
              </a:rPr>
              <a:t>UCF101</a:t>
            </a:r>
            <a:endParaRPr sz="5800"/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/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626669"/>
                </a:solidFill>
                <a:latin typeface="Noto Sans CJK JP"/>
                <a:ea typeface="Noto Sans CJK JP"/>
              </a:rPr>
              <a:t>sasakiy84</a:t>
            </a:r>
            <a:endParaRPr sz="1400"/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457200" y="274320"/>
            <a:ext cx="8046720" cy="27432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626669"/>
                </a:solidFill>
                <a:latin typeface="Noto Sans CJK JP"/>
                <a:ea typeface="Noto Sans CJK JP"/>
              </a:rPr>
              <a:t>datasets in 10 minutes (2026-10-15)</a:t>
            </a:r>
            <a:endParaRPr sz="1400"/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8229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3200">
                <a:latin typeface="Noto Sans CJK JP"/>
              </a:defRPr>
              <a:buNone/>
            </a:pPr>
            <a:r>
              <a:rPr sz="3200" lang="ja-JP">
                <a:solidFill>
                  <a:srgbClr val="303437"/>
                </a:solidFill>
                <a:latin typeface="Noto Sans CJK JP"/>
                <a:ea typeface="Noto Sans CJK JP"/>
              </a:rPr>
              <a:t>動画の行動認識用データセット</a:t>
            </a:r>
            <a:endParaRPr sz="3200"/>
          </a:p>
        </p:txBody>
      </p:sp>
      <p:sp>
        <p:nvSpPr>
          <p:cNvPr id="8" name="TextBox 7"/>
          <p:cNvSpPr txBox="1"/>
          <p:nvPr/>
        </p:nvSpPr>
        <p:spPr>
          <a:xfrm>
            <a:off x="457200" y="297180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00">
                <a:latin typeface="Liberation Sans"/>
              </a:defRPr>
              <a:buNone/>
            </a:pPr>
            <a:r>
              <a:rPr sz="1600" lang="en-US">
                <a:solidFill>
                  <a:srgbClr val="303437"/>
                </a:solidFill>
                <a:latin typeface="Liberation Sans"/>
                <a:ea typeface="Liberation Sans"/>
              </a:rPr>
              <a:t>UCF101: A Dataset of 101 Human Actions Classes From Videos in The Wild</a:t>
            </a:r>
            <a:endParaRPr sz="16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本編の構成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UCF101の構成</a:t>
            </a:r>
            <a:endParaRPr sz="1400"/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7955279" cy="3383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533400" indent="-482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defRPr sz="2400">
                <a:latin typeface="Noto Sans CJK JP"/>
              </a:defRPr>
              <a:buAutoNum type="arabicPeriod" startAt="1"/>
            </a:pPr>
            <a:r>
              <a:rPr sz="2300" lang="ja-JP">
                <a:solidFill>
                  <a:srgbClr val="303437"/>
                </a:solidFill>
                <a:latin typeface="Noto Sans CJK JP"/>
                <a:ea typeface="Noto Sans CJK JP"/>
              </a:rPr>
              <a:t>概要とタスク</a:t>
            </a:r>
            <a:endParaRPr sz="2400"/>
          </a:p>
          <a:p>
            <a:pPr algn="l" marL="533400" indent="-482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defRPr sz="2400">
                <a:latin typeface="Noto Sans CJK JP"/>
              </a:defRPr>
              <a:buAutoNum type="arabicPeriod" startAt="2"/>
            </a:pPr>
            <a:r>
              <a:rPr sz="2300" lang="ja-JP">
                <a:solidFill>
                  <a:srgbClr val="303437"/>
                </a:solidFill>
                <a:latin typeface="Noto Sans CJK JP"/>
                <a:ea typeface="Noto Sans CJK JP"/>
              </a:rPr>
              <a:t>作成方法と規模</a:t>
            </a:r>
            <a:endParaRPr sz="2400"/>
          </a:p>
          <a:p>
            <a:pPr algn="l" marL="533400" indent="-482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defRPr sz="2400">
                <a:latin typeface="Noto Sans CJK JP"/>
              </a:defRPr>
              <a:buAutoNum type="arabicPeriod" startAt="3"/>
            </a:pPr>
            <a:r>
              <a:rPr sz="2300" lang="ja-JP">
                <a:solidFill>
                  <a:srgbClr val="303437"/>
                </a:solidFill>
                <a:latin typeface="Noto Sans CJK JP"/>
                <a:ea typeface="Noto Sans CJK JP"/>
              </a:rPr>
              <a:t>評価とモデルの性能</a:t>
            </a:r>
            <a:endParaRPr sz="2400"/>
          </a:p>
          <a:p>
            <a:pPr algn="l" marL="533400" indent="-482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defRPr sz="2400">
                <a:latin typeface="Noto Sans CJK JP"/>
              </a:defRPr>
              <a:buAutoNum type="arabicPeriod" startAt="4"/>
            </a:pPr>
            <a:r>
              <a:rPr sz="2300" lang="ja-JP">
                <a:solidFill>
                  <a:srgbClr val="303437"/>
                </a:solidFill>
                <a:latin typeface="Noto Sans CJK JP"/>
                <a:ea typeface="Noto Sans CJK JP"/>
              </a:rPr>
              <a:t>利用の変遷と現在</a:t>
            </a:r>
            <a:endParaRPr sz="2400"/>
          </a:p>
          <a:p>
            <a:pPr algn="l" marL="533400" indent="-482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defRPr sz="2400">
                <a:latin typeface="Noto Sans CJK JP"/>
              </a:defRPr>
              <a:buAutoNum type="arabicPeriod" startAt="5"/>
            </a:pPr>
            <a:r>
              <a:rPr sz="2300" lang="ja-JP">
                <a:solidFill>
                  <a:srgbClr val="303437"/>
                </a:solidFill>
                <a:latin typeface="Noto Sans CJK JP"/>
                <a:ea typeface="Noto Sans CJK JP"/>
              </a:rPr>
              <a:t>入手方法とまとめ</a:t>
            </a:r>
            <a:endParaRPr sz="24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783080"/>
            <a:ext cx="8229600" cy="1417320"/>
          </a:xfrm>
        </p:spPr>
        <p:txBody>
          <a:bodyPr wrap="none" lIns="0" rIns="0" tIns="0" bIns="0" anchor="ctr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defRPr sz="4000">
                <a:latin typeface="Noto Sans CJK JP"/>
              </a:defRPr>
              <a:spcAft>
                <a:spcPts val="0"/>
              </a:spcAft>
              <a:buNone/>
            </a:pPr>
            <a:r>
              <a:rPr sz="4000" lang="ja-JP">
                <a:solidFill>
                  <a:srgbClr val="303437"/>
                </a:solidFill>
                <a:latin typeface="Noto Sans CJK JP"/>
                <a:ea typeface="Noto Sans CJK JP"/>
              </a:rPr>
              <a:t>1 概要とタスク</a:t>
            </a:r>
            <a:endParaRPr sz="4000"/>
            <a:endParaRPr sz="40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UCF101の原著の公開ページ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UCF101の概要</a:t>
            </a:r>
            <a:endParaRPr sz="1400"/>
          </a:p>
        </p:txBody>
      </p:sp>
      <p:pic>
        <p:nvPicPr>
          <p:cNvPr id="4" name="Picture 3" descr="paper-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31620"/>
            <a:ext cx="8046720" cy="3017520"/>
          </a:xfrm>
          <a:prstGeom prst="rect">
            <a:avLst/>
          </a:prstGeom>
        </p:spPr>
      </p:pic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https://arxiv.org/abs/1212.0402</a:t>
            </a:r>
            <a:endParaRPr sz="85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動画クリップを101種類の行動へ分類する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UCF101の概要</a:t>
            </a:r>
            <a:endParaRPr sz="1400"/>
          </a:p>
        </p:txBody>
      </p:sp>
      <p:sp>
        <p:nvSpPr>
          <p:cNvPr id="4" name="body"/>
          <p:cNvSpPr txBox="1"/>
          <p:nvPr/>
        </p:nvSpPr>
        <p:spPr>
          <a:xfrm>
            <a:off x="594360" y="1481328"/>
            <a:ext cx="7955279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>
                <a:latin typeface="Noto Sans CJK JP"/>
              </a:defRPr>
              <a:buChar char="•"/>
            </a:pPr>
            <a:r>
              <a:rPr sz="2300" lang="ja-JP">
                <a:solidFill>
                  <a:srgbClr val="303437"/>
                </a:solidFill>
                <a:latin typeface="Noto Sans CJK JP"/>
                <a:ea typeface="Noto Sans CJK JP"/>
              </a:rPr>
              <a:t>UCF101は、動画の行動認識用データセットである </a:t>
            </a:r>
            <a:r>
              <a:rPr sz="2300" lang="ja-JP">
                <a:solidFill>
                  <a:srgbClr val="303437"/>
                </a:solidFill>
                <a:latin typeface="Noto Sans CJK JP"/>
                <a:ea typeface="Noto Sans CJK JP"/>
              </a:rPr>
              <a:t>[1]</a:t>
            </a:r>
            <a:r>
              <a:rPr sz="23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3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>
                <a:latin typeface="Noto Sans CJK JP"/>
              </a:defRPr>
              <a:buChar char="•"/>
            </a:pPr>
            <a:r>
              <a:rPr sz="2300" lang="ja-JP">
                <a:solidFill>
                  <a:srgbClr val="303437"/>
                </a:solidFill>
                <a:latin typeface="Noto Sans CJK JP"/>
                <a:ea typeface="Noto Sans CJK JP"/>
              </a:rPr>
              <a:t>入力は短い動画クリップで、正解は1つの行動カテゴリ。</a:t>
            </a:r>
            <a:endParaRPr sz="23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>
                <a:latin typeface="Noto Sans CJK JP"/>
              </a:defRPr>
              <a:buChar char="•"/>
            </a:pPr>
            <a:r>
              <a:rPr sz="2300" lang="ja-JP">
                <a:solidFill>
                  <a:srgbClr val="303437"/>
                </a:solidFill>
                <a:latin typeface="Noto Sans CJK JP"/>
                <a:ea typeface="Noto Sans CJK JP"/>
              </a:rPr>
              <a:t>スポーツ、楽器の演奏、日常動作などを含む。</a:t>
            </a:r>
            <a:endParaRPr sz="23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>
                <a:latin typeface="Noto Sans CJK JP"/>
              </a:defRPr>
              <a:buChar char="•"/>
            </a:pPr>
            <a:r>
              <a:rPr sz="2300" lang="ja-JP">
                <a:solidFill>
                  <a:srgbClr val="303437"/>
                </a:solidFill>
                <a:latin typeface="Noto Sans CJK JP"/>
                <a:ea typeface="Noto Sans CJK JP"/>
              </a:rPr>
              <a:t>2012年に公開され、YouTubeから集めた13,320クリップを収録した。</a:t>
            </a:r>
            <a:endParaRPr sz="2300"/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Soomro et al. (2012), §1–2. https://arxiv.org/abs/1212.0402</a:t>
            </a:r>
            <a:endParaRPr sz="85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クリケットの打撃をフレーム列から捉える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UCF101の行動認識の実例</a:t>
            </a:r>
            <a:endParaRPr sz="1400"/>
          </a:p>
        </p:txBody>
      </p:sp>
      <p:sp>
        <p:nvSpPr>
          <p:cNvPr id="4" name="TextBox 3"/>
          <p:cNvSpPr txBox="1"/>
          <p:nvPr/>
        </p:nvSpPr>
        <p:spPr>
          <a:xfrm>
            <a:off x="594360" y="1417320"/>
            <a:ext cx="7955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500">
                <a:latin typeface="Noto Sans CJK JP"/>
              </a:defRPr>
              <a:buNone/>
            </a:pPr>
            <a:r>
              <a:rPr sz="2500" lang="ja-JP">
                <a:solidFill>
                  <a:srgbClr val="B13731"/>
                </a:solidFill>
                <a:latin typeface="Noto Sans CJK JP"/>
                <a:ea typeface="Noto Sans CJK JP"/>
              </a:rPr>
              <a:t>正解はCricketShot（クリケットの打撃）</a:t>
            </a:r>
            <a:endParaRPr sz="2500"/>
          </a:p>
        </p:txBody>
      </p:sp>
      <p:sp>
        <p:nvSpPr>
          <p:cNvPr id="6" name="TextBox 5"/>
          <p:cNvSpPr txBox="1"/>
          <p:nvPr/>
        </p:nvSpPr>
        <p:spPr>
          <a:xfrm>
            <a:off x="594360" y="4133087"/>
            <a:ext cx="79552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None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左から時間順に、打者がバットを振る場面を示す。</a:t>
            </a:r>
            <a:endParaRPr sz="2200"/>
          </a:p>
        </p:txBody>
      </p:sp>
      <p:sp>
        <p:nvSpPr>
          <p:cNvPr id="7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I3D公開例. https://github.com/google-deepmind/kinetics-i3d</a:t>
            </a:r>
            <a:endParaRPr sz="850"/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v_CricketShot_g04_c01.aviに由来するRGB入力。79フレーム中の0・39・78番。</a:t>
            </a:r>
            <a:endParaRPr sz="850"/>
          </a:p>
        </p:txBody>
      </p:sp>
      <p:pic>
        <p:nvPicPr>
          <p:cNvPr id="8" name="Picture 7" descr="cricket-3fram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993392"/>
            <a:ext cx="7955279" cy="20574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目元の化粧の例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UCF101の行動認識の実例</a:t>
            </a:r>
            <a:endParaRPr sz="1400"/>
          </a:p>
        </p:txBody>
      </p:sp>
      <p:sp>
        <p:nvSpPr>
          <p:cNvPr id="4" name="TextBox 3"/>
          <p:cNvSpPr txBox="1"/>
          <p:nvPr/>
        </p:nvSpPr>
        <p:spPr>
          <a:xfrm>
            <a:off x="594360" y="1353312"/>
            <a:ext cx="7955279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626669"/>
                </a:solidFill>
                <a:latin typeface="Noto Sans CJK JP"/>
                <a:ea typeface="Noto Sans CJK JP"/>
              </a:rPr>
              <a:t>クリップの代表フレーム</a:t>
            </a:r>
            <a:endParaRPr sz="1400"/>
          </a:p>
        </p:txBody>
      </p:sp>
      <p:pic>
        <p:nvPicPr>
          <p:cNvPr id="5" name="Picture 4" descr="ApplyEyeMakeup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00" y="1792224"/>
            <a:ext cx="3032760" cy="228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617720" y="1627632"/>
            <a:ext cx="39319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>
                <a:latin typeface="Noto Sans CJK JP"/>
              </a:defRPr>
              <a:buNone/>
            </a:pPr>
            <a:r>
              <a:rPr sz="2300" lang="ja-JP">
                <a:solidFill>
                  <a:srgbClr val="B13731"/>
                </a:solidFill>
                <a:latin typeface="Noto Sans CJK JP"/>
                <a:ea typeface="Noto Sans CJK JP"/>
              </a:rPr>
              <a:t>正解は目元の化粧</a:t>
            </a:r>
            <a:endParaRPr sz="2300"/>
          </a:p>
        </p:txBody>
      </p:sp>
      <p:sp>
        <p:nvSpPr>
          <p:cNvPr id="7" name="TextBox 6"/>
          <p:cNvSpPr txBox="1"/>
          <p:nvPr/>
        </p:nvSpPr>
        <p:spPr>
          <a:xfrm>
            <a:off x="4617720" y="2286000"/>
            <a:ext cx="39319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>
                <a:latin typeface="Liberation Sans"/>
              </a:defRPr>
              <a:buNone/>
            </a:pPr>
            <a:r>
              <a:rPr sz="1900" lang="en-US">
                <a:solidFill>
                  <a:srgbClr val="303437"/>
                </a:solidFill>
                <a:latin typeface="Liberation Sans"/>
                <a:ea typeface="Liberation Sans"/>
              </a:rPr>
              <a:t>ApplyEyeMakeup</a:t>
            </a:r>
            <a:endParaRPr sz="1900"/>
          </a:p>
        </p:txBody>
      </p:sp>
      <p:sp>
        <p:nvSpPr>
          <p:cNvPr id="8" name="TextBox 7"/>
          <p:cNvSpPr txBox="1"/>
          <p:nvPr/>
        </p:nvSpPr>
        <p:spPr>
          <a:xfrm>
            <a:off x="4617720" y="2926080"/>
            <a:ext cx="3931920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None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手と化粧道具が目元に向かう動作を扱う。道具と身体部位の関係も手がかりになる。</a:t>
            </a:r>
            <a:endParaRPr sz="2100"/>
          </a:p>
        </p:txBody>
      </p:sp>
      <p:sp>
        <p:nvSpPr>
          <p:cNvPr id="9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850">
                <a:latin typeface="Noto Sans CJK JP"/>
              </a:defRPr>
              <a:spcAft>
                <a:spcPts val="700"/>
              </a:spcAft>
              <a:buNone/>
            </a:pPr>
            <a:r>
              <a:rPr sz="850" lang="ja-JP">
                <a:solidFill>
                  <a:srgbClr val="303437"/>
                </a:solidFill>
                <a:latin typeface="Noto Sans CJK JP"/>
                <a:ea typeface="Noto Sans CJK JP"/>
              </a:rPr>
              <a:t>[1] Soomro et al. (2012), Figure 2. https://arxiv.org/abs/1212.0402 / ApplyEyeMakeup</a:t>
            </a:r>
            <a:endParaRPr sz="85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逆立ち歩きの例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UCF101の行動認識の実例</a:t>
            </a:r>
            <a:endParaRPr sz="1400"/>
          </a:p>
        </p:txBody>
      </p:sp>
      <p:sp>
        <p:nvSpPr>
          <p:cNvPr id="4" name="TextBox 3"/>
          <p:cNvSpPr txBox="1"/>
          <p:nvPr/>
        </p:nvSpPr>
        <p:spPr>
          <a:xfrm>
            <a:off x="594360" y="1353312"/>
            <a:ext cx="7955279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626669"/>
                </a:solidFill>
                <a:latin typeface="Noto Sans CJK JP"/>
                <a:ea typeface="Noto Sans CJK JP"/>
              </a:rPr>
              <a:t>クリップの代表フレーム</a:t>
            </a:r>
            <a:endParaRPr sz="1400"/>
          </a:p>
        </p:txBody>
      </p:sp>
      <p:pic>
        <p:nvPicPr>
          <p:cNvPr id="5" name="Picture 4" descr="HandstandWalking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00" y="1792224"/>
            <a:ext cx="3032760" cy="228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617720" y="1627632"/>
            <a:ext cx="39319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>
                <a:latin typeface="Noto Sans CJK JP"/>
              </a:defRPr>
              <a:buNone/>
            </a:pPr>
            <a:r>
              <a:rPr sz="2300" lang="ja-JP">
                <a:solidFill>
                  <a:srgbClr val="B13731"/>
                </a:solidFill>
                <a:latin typeface="Noto Sans CJK JP"/>
                <a:ea typeface="Noto Sans CJK JP"/>
              </a:rPr>
              <a:t>正解は逆立ち歩き</a:t>
            </a:r>
            <a:endParaRPr sz="2300"/>
          </a:p>
        </p:txBody>
      </p:sp>
      <p:sp>
        <p:nvSpPr>
          <p:cNvPr id="7" name="TextBox 6"/>
          <p:cNvSpPr txBox="1"/>
          <p:nvPr/>
        </p:nvSpPr>
        <p:spPr>
          <a:xfrm>
            <a:off x="4617720" y="2286000"/>
            <a:ext cx="39319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>
                <a:latin typeface="Liberation Sans"/>
              </a:defRPr>
              <a:buNone/>
            </a:pPr>
            <a:r>
              <a:rPr sz="1900" lang="en-US">
                <a:solidFill>
                  <a:srgbClr val="303437"/>
                </a:solidFill>
                <a:latin typeface="Liberation Sans"/>
                <a:ea typeface="Liberation Sans"/>
              </a:rPr>
              <a:t>HandstandWalking</a:t>
            </a:r>
            <a:endParaRPr sz="1900"/>
          </a:p>
        </p:txBody>
      </p:sp>
      <p:sp>
        <p:nvSpPr>
          <p:cNvPr id="8" name="TextBox 7"/>
          <p:cNvSpPr txBox="1"/>
          <p:nvPr/>
        </p:nvSpPr>
        <p:spPr>
          <a:xfrm>
            <a:off x="4617720" y="2926080"/>
            <a:ext cx="3931920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None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逆立ちで移動する行動を扱う。姿勢だけでなく、移動を含む時間的な変化が関係する。</a:t>
            </a:r>
            <a:endParaRPr sz="2100"/>
          </a:p>
        </p:txBody>
      </p:sp>
      <p:sp>
        <p:nvSpPr>
          <p:cNvPr id="9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850">
                <a:latin typeface="Noto Sans CJK JP"/>
              </a:defRPr>
              <a:spcAft>
                <a:spcPts val="700"/>
              </a:spcAft>
              <a:buNone/>
            </a:pPr>
            <a:r>
              <a:rPr sz="850" lang="ja-JP">
                <a:solidFill>
                  <a:srgbClr val="303437"/>
                </a:solidFill>
                <a:latin typeface="Noto Sans CJK JP"/>
                <a:ea typeface="Noto Sans CJK JP"/>
              </a:rPr>
              <a:t>[1] Soomro et al. (2012), Figure 2. https://arxiv.org/abs/1212.0402 / HandstandWalking</a:t>
            </a:r>
            <a:endParaRPr sz="85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774" lang="ja-JP" b="1">
                <a:solidFill>
                  <a:srgbClr val="303437"/>
                </a:solidFill>
                <a:latin typeface="Noto Sans CJK JP"/>
                <a:ea typeface="Noto Sans CJK JP"/>
              </a:rPr>
              <a:t>多様な行動を自然な映像で評価するために作られた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UCF101の開発背景</a:t>
            </a:r>
            <a:endParaRPr sz="1400"/>
          </a:p>
        </p:txBody>
      </p:sp>
      <p:sp>
        <p:nvSpPr>
          <p:cNvPr id="4" name="body"/>
          <p:cNvSpPr txBox="1"/>
          <p:nvPr/>
        </p:nvSpPr>
        <p:spPr>
          <a:xfrm>
            <a:off x="594360" y="1481328"/>
            <a:ext cx="7955279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当時の行動認識データはカテゴリ数が少なかった </a:t>
            </a: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[1]</a:t>
            </a: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2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統制された環境で撮影した映像では、背景や撮影条件の変動が限られた。</a:t>
            </a:r>
            <a:endParaRPr sz="22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そこでYouTubeの映像を集め、カメラの動き、遮蔽、背景の混雑を含む行動認識を評価する。</a:t>
            </a:r>
            <a:endParaRPr sz="22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UCF50の50行動から101行動へ、カテゴリ数を約2倍に広げた。</a:t>
            </a:r>
            <a:endParaRPr sz="2200"/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Soomro et al. (2012), §1–2. https://arxiv.org/abs/1212.0402</a:t>
            </a:r>
            <a:endParaRPr sz="85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783080"/>
            <a:ext cx="8229600" cy="1417320"/>
          </a:xfrm>
        </p:spPr>
        <p:txBody>
          <a:bodyPr wrap="none" lIns="0" rIns="0" tIns="0" bIns="0" anchor="ctr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defRPr sz="4000">
                <a:latin typeface="Noto Sans CJK JP"/>
              </a:defRPr>
              <a:spcAft>
                <a:spcPts val="0"/>
              </a:spcAft>
              <a:buNone/>
            </a:pPr>
            <a:r>
              <a:rPr sz="4000" lang="ja-JP">
                <a:solidFill>
                  <a:srgbClr val="303437"/>
                </a:solidFill>
                <a:latin typeface="Noto Sans CJK JP"/>
                <a:ea typeface="Noto Sans CJK JP"/>
              </a:rPr>
              <a:t>2 作成方法と規模</a:t>
            </a:r>
            <a:endParaRPr sz="4000"/>
            <a:endParaRPr sz="40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YouTubeの映像を収集し、無関係な動画を除いた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UCF101の作成方法</a:t>
            </a:r>
            <a:endParaRPr sz="1400"/>
          </a:p>
        </p:txBody>
      </p:sp>
      <p:sp>
        <p:nvSpPr>
          <p:cNvPr id="4" name="body"/>
          <p:cNvSpPr txBox="1"/>
          <p:nvPr/>
        </p:nvSpPr>
        <p:spPr>
          <a:xfrm>
            <a:off x="594360" y="1481328"/>
            <a:ext cx="7955279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>
                <a:latin typeface="Noto Sans CJK JP"/>
              </a:defRPr>
              <a:buChar char="•"/>
            </a:pPr>
            <a:r>
              <a:rPr sz="2300" lang="ja-JP">
                <a:solidFill>
                  <a:srgbClr val="303437"/>
                </a:solidFill>
                <a:latin typeface="Noto Sans CJK JP"/>
                <a:ea typeface="Noto Sans CJK JP"/>
              </a:rPr>
              <a:t>YouTubeから動画をダウンロードした </a:t>
            </a:r>
            <a:r>
              <a:rPr sz="2300" lang="ja-JP">
                <a:solidFill>
                  <a:srgbClr val="303437"/>
                </a:solidFill>
                <a:latin typeface="Noto Sans CJK JP"/>
                <a:ea typeface="Noto Sans CJK JP"/>
              </a:rPr>
              <a:t>[1]</a:t>
            </a:r>
            <a:r>
              <a:rPr sz="23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3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>
                <a:latin typeface="Noto Sans CJK JP"/>
              </a:defRPr>
              <a:buChar char="•"/>
            </a:pPr>
            <a:r>
              <a:rPr sz="2300" lang="ja-JP">
                <a:solidFill>
                  <a:srgbClr val="303437"/>
                </a:solidFill>
                <a:latin typeface="Noto Sans CJK JP"/>
                <a:ea typeface="Noto Sans CJK JP"/>
              </a:rPr>
              <a:t>対象と無関係な動画を人手で除去した。</a:t>
            </a:r>
            <a:endParaRPr sz="23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>
                <a:latin typeface="Noto Sans CJK JP"/>
              </a:defRPr>
              <a:buChar char="•"/>
            </a:pPr>
            <a:r>
              <a:rPr sz="2300" lang="ja-JP">
                <a:solidFill>
                  <a:srgbClr val="303437"/>
                </a:solidFill>
                <a:latin typeface="Noto Sans CJK JP"/>
                <a:ea typeface="Noto Sans CJK JP"/>
              </a:rPr>
              <a:t>動画を320×240ピクセル・25 fpsへ統一した。</a:t>
            </a:r>
            <a:endParaRPr sz="23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>
                <a:latin typeface="Noto Sans CJK JP"/>
              </a:defRPr>
              <a:buChar char="•"/>
            </a:pPr>
            <a:r>
              <a:rPr sz="2300" lang="ja-JP">
                <a:solidFill>
                  <a:srgbClr val="303437"/>
                </a:solidFill>
                <a:latin typeface="Noto Sans CJK JP"/>
                <a:ea typeface="Noto Sans CJK JP"/>
              </a:rPr>
              <a:t>カテゴリごとにフォルダを分け、AVI形式で配布した。</a:t>
            </a:r>
            <a:endParaRPr sz="23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>
                <a:latin typeface="Noto Sans CJK JP"/>
              </a:defRPr>
              <a:buChar char="•"/>
            </a:pPr>
            <a:r>
              <a:rPr sz="2300" lang="ja-JP">
                <a:solidFill>
                  <a:srgbClr val="303437"/>
                </a:solidFill>
                <a:latin typeface="Noto Sans CJK JP"/>
                <a:ea typeface="Noto Sans CJK JP"/>
              </a:rPr>
              <a:t>追加した51行動の動画では音声も保持した。</a:t>
            </a:r>
            <a:endParaRPr sz="2300"/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Soomro et al. (2012), §2 / Table 1. https://arxiv.org/abs/1212.0402</a:t>
            </a:r>
            <a:endParaRPr sz="85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同じ背景や人物のクリップをグループで管理する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UCF101のグループ設計</a:t>
            </a:r>
            <a:endParaRPr sz="1400"/>
          </a:p>
        </p:txBody>
      </p:sp>
      <p:sp>
        <p:nvSpPr>
          <p:cNvPr id="4" name="body"/>
          <p:cNvSpPr txBox="1"/>
          <p:nvPr/>
        </p:nvSpPr>
        <p:spPr>
          <a:xfrm>
            <a:off x="594360" y="1481328"/>
            <a:ext cx="7955279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各行動カテゴリには25グループがある </a:t>
            </a: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[1]</a:t>
            </a: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2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1グループは4〜7クリップで、背景や人物などの特徴を共有する。</a:t>
            </a:r>
            <a:endParaRPr sz="22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ファイル名のg04はグループ番号、c01はグループ内のクリップ番号。</a:t>
            </a:r>
            <a:endParaRPr sz="22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近い映像が学習とテストの両方に入ることを避けるため、グループ単位で分ける。</a:t>
            </a:r>
            <a:endParaRPr sz="2200"/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Soomro et al. (2012), §2–4. https://arxiv.org/abs/1212.0402</a:t>
            </a:r>
            <a:endParaRPr sz="85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101種類の行動は5つの型に整理されている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UCF101のカテゴリの見取り図</a:t>
            </a:r>
            <a:endParaRPr sz="1400"/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24140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1554480"/>
                <a:gridCol w="2377440"/>
              </a:tblGrid>
              <a:tr h="402336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行動の型 </a:t>
                      </a: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[1]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カテゴリ数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クリップ数 </a:t>
                      </a: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[2]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  <a:tr h="402336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人と物との相互作用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20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2619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02336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身体の動き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16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1910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02336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人と人との相互作用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5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690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02336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楽器の演奏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10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1428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02336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スポーツ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50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6673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原著Figure 2の分類と分割リストの全件集計. https://arxiv.org/abs/1212.0402</a:t>
            </a:r>
            <a:endParaRPr sz="850"/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[2]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https://github.com/yjxiong/temporal-segment-networks/tree/master/data/ucf101_splits</a:t>
            </a:r>
            <a:endParaRPr sz="85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平均7.21秒の13,320クリップを収録する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UCF101の規模</a:t>
            </a:r>
            <a:endParaRPr sz="1400"/>
          </a:p>
        </p:txBody>
      </p:sp>
      <p:sp>
        <p:nvSpPr>
          <p:cNvPr id="4" name="body"/>
          <p:cNvSpPr txBox="1"/>
          <p:nvPr/>
        </p:nvSpPr>
        <p:spPr>
          <a:xfrm>
            <a:off x="594360" y="1481328"/>
            <a:ext cx="7955279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>
                <a:latin typeface="Noto Sans CJK JP"/>
              </a:defRPr>
              <a:buChar char="•"/>
            </a:pPr>
            <a:r>
              <a:rPr sz="2300" lang="ja-JP">
                <a:solidFill>
                  <a:srgbClr val="303437"/>
                </a:solidFill>
                <a:latin typeface="Noto Sans CJK JP"/>
                <a:ea typeface="Noto Sans CJK JP"/>
              </a:rPr>
              <a:t>101カテゴリ、13,320クリップを収録する </a:t>
            </a:r>
            <a:r>
              <a:rPr sz="2300" lang="ja-JP">
                <a:solidFill>
                  <a:srgbClr val="303437"/>
                </a:solidFill>
                <a:latin typeface="Noto Sans CJK JP"/>
                <a:ea typeface="Noto Sans CJK JP"/>
              </a:rPr>
              <a:t>[1]</a:t>
            </a:r>
            <a:r>
              <a:rPr sz="23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3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>
                <a:latin typeface="Noto Sans CJK JP"/>
              </a:defRPr>
              <a:buChar char="•"/>
            </a:pPr>
            <a:r>
              <a:rPr sz="2300" lang="ja-JP">
                <a:solidFill>
                  <a:srgbClr val="303437"/>
                </a:solidFill>
                <a:latin typeface="Noto Sans CJK JP"/>
                <a:ea typeface="Noto Sans CJK JP"/>
              </a:rPr>
              <a:t>原著の平均クリップ長は7.21秒、総時間は1,600分。</a:t>
            </a:r>
            <a:endParaRPr sz="23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>
                <a:latin typeface="Noto Sans CJK JP"/>
              </a:defRPr>
              <a:buChar char="•"/>
            </a:pPr>
            <a:r>
              <a:rPr sz="2300" lang="ja-JP">
                <a:solidFill>
                  <a:srgbClr val="303437"/>
                </a:solidFill>
                <a:latin typeface="Noto Sans CJK JP"/>
                <a:ea typeface="Noto Sans CJK JP"/>
              </a:rPr>
              <a:t>映像は25 fps、320×240ピクセル。</a:t>
            </a:r>
            <a:endParaRPr sz="23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>
                <a:latin typeface="Noto Sans CJK JP"/>
              </a:defRPr>
              <a:buChar char="•"/>
            </a:pPr>
            <a:r>
              <a:rPr sz="2300" lang="ja-JP">
                <a:solidFill>
                  <a:srgbClr val="303437"/>
                </a:solidFill>
                <a:latin typeface="Noto Sans CJK JP"/>
                <a:ea typeface="Noto Sans CJK JP"/>
              </a:rPr>
              <a:t>25グループ×101カテゴリで、合計2,525グループ </a:t>
            </a:r>
            <a:r>
              <a:rPr sz="2300" lang="ja-JP">
                <a:solidFill>
                  <a:srgbClr val="303437"/>
                </a:solidFill>
                <a:latin typeface="Noto Sans CJK JP"/>
                <a:ea typeface="Noto Sans CJK JP"/>
              </a:rPr>
              <a:t>[2]</a:t>
            </a:r>
            <a:r>
              <a:rPr sz="23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3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>
                <a:latin typeface="Noto Sans CJK JP"/>
              </a:defRPr>
              <a:buChar char="•"/>
            </a:pPr>
            <a:r>
              <a:rPr sz="2300" lang="ja-JP">
                <a:solidFill>
                  <a:srgbClr val="303437"/>
                </a:solidFill>
                <a:latin typeface="Noto Sans CJK JP"/>
                <a:ea typeface="Noto Sans CJK JP"/>
              </a:rPr>
              <a:t>1本の動画に1つの行動ラベルが付く。</a:t>
            </a:r>
            <a:endParaRPr sz="2300"/>
          </a:p>
        </p:txBody>
      </p:sp>
      <p:sp>
        <p:nvSpPr>
          <p:cNvPr id="5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Soomro et al. (2012), Table 1. https://arxiv.org/abs/1212.0402</a:t>
            </a:r>
            <a:endParaRPr sz="850"/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[2]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グループ数は分割リストを全件集計. https://github.com/yjxiong/temporal-segment-networks/tree/master/data/ucf101_splits</a:t>
            </a:r>
            <a:endParaRPr sz="85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2800">
                <a:latin typeface="Noto Sans CJK JP"/>
              </a:defRPr>
              <a:spcAft>
                <a:spcPts val="70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 CJK JP"/>
                <a:ea typeface="Noto Sans CJK JP"/>
              </a:rPr>
              <a:t>カテゴリ当たりのクリップ数の中央値は131本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UCF101のカテゴリ別の本数</a:t>
            </a:r>
            <a:endParaRPr sz="1400"/>
          </a:p>
        </p:txBody>
      </p:sp>
      <p:pic>
        <p:nvPicPr>
          <p:cNvPr id="4" name="Picture 3" descr="ucf-cou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804672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4169663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defRPr sz="1700">
                <a:latin typeface="Noto Sans CJK JP"/>
              </a:defRPr>
              <a:buNone/>
            </a:pPr>
            <a:r>
              <a:rPr sz="1700" lang="ja-JP">
                <a:solidFill>
                  <a:srgbClr val="303437"/>
                </a:solidFill>
                <a:latin typeface="Noto Sans CJK JP"/>
                <a:ea typeface="Noto Sans CJK JP"/>
              </a:rPr>
              <a:t>全101カテゴリ。最少は100本、最多は167本 [1]。</a:t>
            </a:r>
          </a:p>
        </p:txBody>
      </p:sp>
      <p:sp>
        <p:nvSpPr>
          <p:cNvPr id="6" name="lookup-sources"/>
          <p:cNvSpPr txBox="1"/>
          <p:nvPr/>
        </p:nvSpPr>
        <p:spPr>
          <a:xfrm>
            <a:off x="502920" y="4773168"/>
            <a:ext cx="818387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defRPr sz="850">
                <a:latin typeface="Noto Sans CJK JP"/>
              </a:defRPr>
              <a:spcAft>
                <a:spcPts val="0"/>
              </a:spcAft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 13,320クリップをカテゴリ別に集計. https://github.com/yjxiong/temporal-segment-networks/tree/master/data/ucf101_splits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rIns="0" tIns="0" bIns="0"/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defRPr sz="2800">
                <a:latin typeface="Noto Sans CJK JP"/>
              </a:defRPr>
              <a:buNone/>
            </a:pPr>
            <a:r>
              <a:rPr sz="2800" b="1" lang="ja-JP">
                <a:solidFill>
                  <a:srgbClr val="303437"/>
                </a:solidFill>
                <a:latin typeface="Noto Sans CJK JP"/>
                <a:ea typeface="Noto Sans CJK JP"/>
              </a:rPr>
              <a:t>110本未満のカテゴリは10種類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marL="0" indent="0">
              <a:lnSpc>
                <a:spcPct val="110000"/>
              </a:lnSpc>
              <a:spcBef>
                <a:spcPts val="0"/>
              </a:spcBef>
              <a:defRPr sz="1400">
                <a:latin typeface="Noto Sans CJK JP"/>
              </a:defRPr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UCF101のカテゴリ別の本数</a:t>
            </a:r>
          </a:p>
        </p:txBody>
      </p:sp>
      <p:pic>
        <p:nvPicPr>
          <p:cNvPr id="4" name="Picture 3" descr="ucf-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8046720" cy="2743200"/>
          </a:xfrm>
          <a:prstGeom prst="rect">
            <a:avLst/>
          </a:prstGeom>
        </p:spPr>
      </p:pic>
      <p:sp>
        <p:nvSpPr>
          <p:cNvPr id="5" name="lookup-sources"/>
          <p:cNvSpPr txBox="1"/>
          <p:nvPr/>
        </p:nvSpPr>
        <p:spPr>
          <a:xfrm>
            <a:off x="502920" y="4773168"/>
            <a:ext cx="818387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defRPr sz="850">
                <a:latin typeface="Noto Sans CJK JP"/>
              </a:defRPr>
              <a:spcAft>
                <a:spcPts val="0"/>
              </a:spcAft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 13,320クリップをカテゴリ別に集計. https://github.com/yjxiong/temporal-segment-networks/tree/master/data/ucf101_splits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3つの分割で学習用とテスト用を入れ替える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UCF101の評価用分割</a:t>
            </a:r>
            <a:endParaRPr sz="1400"/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2286000"/>
                <a:gridCol w="2286000"/>
              </a:tblGrid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分割 </a:t>
                      </a: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[1]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学習用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テスト用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split 1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9,537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3,783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split 2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9,586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3,734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split 3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9,624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3,696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950208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700">
                <a:latin typeface="Noto Sans CJK JP"/>
              </a:defRPr>
              <a:buNone/>
            </a:pPr>
            <a:r>
              <a:rPr sz="1700" lang="ja-JP">
                <a:solidFill>
                  <a:srgbClr val="303437"/>
                </a:solidFill>
                <a:latin typeface="Noto Sans CJK JP"/>
                <a:ea typeface="Noto Sans CJK JP"/>
              </a:rPr>
              <a:t>各分割の合計は13,320。各カテゴリで同じグループが学習とテストへまたがらない。</a:t>
            </a:r>
            <a:endParaRPr sz="1700"/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配布分割リストの集計. https://github.com/yjxiong/temporal-segment-networks/tree/master/data/ucf101_splits</a:t>
            </a:r>
            <a:endParaRPr sz="85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783080"/>
            <a:ext cx="8229600" cy="1417320"/>
          </a:xfrm>
        </p:spPr>
        <p:txBody>
          <a:bodyPr wrap="none" lIns="0" rIns="0" tIns="0" bIns="0" anchor="ctr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defRPr sz="4000">
                <a:latin typeface="Noto Sans CJK JP"/>
              </a:defRPr>
              <a:spcAft>
                <a:spcPts val="0"/>
              </a:spcAft>
              <a:buNone/>
            </a:pPr>
            <a:r>
              <a:rPr sz="4000" lang="ja-JP">
                <a:solidFill>
                  <a:srgbClr val="303437"/>
                </a:solidFill>
                <a:latin typeface="Noto Sans CJK JP"/>
                <a:ea typeface="Noto Sans CJK JP"/>
              </a:rPr>
              <a:t>3 評価とモデルの性能</a:t>
            </a:r>
            <a:endParaRPr sz="4000"/>
            <a:endParaRPr sz="40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正解率は動画ごとの正解を全体で平均する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UCF101の評価方法</a:t>
            </a:r>
            <a:endParaRPr sz="1400"/>
          </a:p>
        </p:txBody>
      </p:sp>
      <p:sp>
        <p:nvSpPr>
          <p:cNvPr id="4" name="body"/>
          <p:cNvSpPr txBox="1"/>
          <p:nvPr/>
        </p:nvSpPr>
        <p:spPr>
          <a:xfrm>
            <a:off x="594360" y="1481328"/>
            <a:ext cx="7955279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最上位の予測が正解カテゴリと一致した動画を正解とする。</a:t>
            </a:r>
            <a:endParaRPr sz="22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正解率は、正解した動画数を評価した動画数で割り、百分率にする。</a:t>
            </a:r>
            <a:endParaRPr sz="22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3動画中2動画が正解なら、正解率は66.7%となる。</a:t>
            </a:r>
            <a:endParaRPr sz="22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公式の3分割を使う評価では、分割ごとの値とその平均を区別する </a:t>
            </a: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[1]</a:t>
            </a: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200"/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Carreira &amp; Zisserman (2017), §4 / Table 5. https://arxiv.org/abs/1705.07750</a:t>
            </a:r>
            <a:endParaRPr sz="85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2012年の原著の正解率は44.5%だった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UCF101の登場時の性能</a:t>
            </a:r>
            <a:endParaRPr sz="1400"/>
          </a:p>
        </p:txBody>
      </p:sp>
      <p:sp>
        <p:nvSpPr>
          <p:cNvPr id="4" name="body"/>
          <p:cNvSpPr txBox="1"/>
          <p:nvPr/>
        </p:nvSpPr>
        <p:spPr>
          <a:xfrm>
            <a:off x="594360" y="1481328"/>
            <a:ext cx="7955279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原著は局所的な動きと見た目を特徴量にして、映像を特徴の出現頻度で表した </a:t>
            </a: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[1]</a:t>
            </a: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2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分類にはサポートベクトルマシンを使った。</a:t>
            </a:r>
            <a:endParaRPr sz="22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25グループのうち1グループをテストにし、25回入れ替える交差検証を行った。</a:t>
            </a:r>
            <a:endParaRPr sz="22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平均正解率は44.5%。後の3分割評価とは評価条件が異なる。</a:t>
            </a:r>
            <a:endParaRPr sz="2200"/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Soomro et al. (2012), §3–4. https://arxiv.org/abs/1212.0402</a:t>
            </a:r>
            <a:endParaRPr sz="85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2017年のI3Dは2種類の入力を組み合わせた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UCF101と動画モデルの発展</a:t>
            </a:r>
            <a:endParaRPr sz="1400"/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37744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>
                          <a:latin typeface="Noto Sans CJK JP"/>
                        </a:defRPr>
                        <a:buNone/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I3Dの入力 </a:t>
                      </a:r>
                      <a:r>
                        <a:rPr sz="21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[1]</a:t>
                      </a:r>
                      <a:endParaRPr sz="21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>
                          <a:latin typeface="Noto Sans CJK JP"/>
                        </a:defRPr>
                        <a:buNone/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Top-1正解率</a:t>
                      </a:r>
                      <a:endParaRPr sz="21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>
                          <a:latin typeface="Noto Sans CJK JP"/>
                        </a:defRPr>
                        <a:buNone/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RGB画像</a:t>
                      </a:r>
                      <a:endParaRPr sz="21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>
                          <a:latin typeface="Noto Sans CJK JP"/>
                        </a:defRPr>
                        <a:buNone/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95.6%</a:t>
                      </a:r>
                      <a:endParaRPr sz="21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>
                          <a:latin typeface="Noto Sans CJK JP"/>
                        </a:defRPr>
                        <a:buNone/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フレーム間の動きを表す光学フロー</a:t>
                      </a:r>
                      <a:endParaRPr sz="21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>
                          <a:latin typeface="Noto Sans CJK JP"/>
                        </a:defRPr>
                        <a:buNone/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96.7%</a:t>
                      </a:r>
                      <a:endParaRPr sz="21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>
                          <a:latin typeface="Noto Sans CJK JP"/>
                        </a:defRPr>
                        <a:buNone/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RGB画像と光学フロー</a:t>
                      </a:r>
                      <a:endParaRPr sz="21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>
                          <a:latin typeface="Noto Sans CJK JP"/>
                        </a:defRPr>
                        <a:buNone/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98.0%</a:t>
                      </a:r>
                      <a:endParaRPr sz="21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694176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700">
                <a:latin typeface="Noto Sans CJK JP"/>
              </a:defRPr>
              <a:buNone/>
            </a:pPr>
            <a:r>
              <a:rPr sz="1700" lang="ja-JP">
                <a:solidFill>
                  <a:srgbClr val="303437"/>
                </a:solidFill>
                <a:latin typeface="Noto Sans CJK JP"/>
                <a:ea typeface="Noto Sans CJK JP"/>
              </a:rPr>
              <a:t>ImageNetとKineticsで事前学習し、UCF101で微調整した。公式3分割の平均。</a:t>
            </a:r>
            <a:endParaRPr sz="1700"/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Carreira &amp; Zisserman (2017), CVPR, Table 5. https://arxiv.org/abs/1705.07750</a:t>
            </a:r>
            <a:endParaRPr sz="85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VideoMAEの結果は事前学習データで変わる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UCF101の自己教師あり学習への利用</a:t>
            </a:r>
            <a:endParaRPr sz="1400"/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17007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377440"/>
              </a:tblGrid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ViT-Bの事前学習データ </a:t>
                      </a: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[1]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Top-1正解率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UCF101のみ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91.3%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Kinetics-400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96.1%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383280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700">
                <a:latin typeface="Noto Sans CJK JP"/>
              </a:defRPr>
              <a:buNone/>
            </a:pPr>
            <a:r>
              <a:rPr sz="1700" lang="ja-JP">
                <a:solidFill>
                  <a:srgbClr val="303437"/>
                </a:solidFill>
                <a:latin typeface="Noto Sans CJK JP"/>
                <a:ea typeface="Noto Sans CJK JP"/>
              </a:rPr>
              <a:t>どちらもUCF101で微調整した報告値。映像の隠した部分を復元するVideoMAEを使う。</a:t>
            </a:r>
            <a:endParaRPr sz="1700"/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Tong et al. (2022), NeurIPS, Table 13. https://arxiv.org/abs/2203.12602</a:t>
            </a:r>
            <a:endParaRPr sz="85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2024年には映像特徴の評価にも使われた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UCF101の近年の利用</a:t>
            </a:r>
            <a:endParaRPr sz="1400"/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377440"/>
              </a:tblGrid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固定する特徴モデル </a:t>
                      </a: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[1]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Top-1正解率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DINOv2-g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91.2%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TVTSv2-H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91.8%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InternVideo2 第2段階・6B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97.3%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950208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700">
                <a:latin typeface="Noto Sans CJK JP"/>
              </a:defRPr>
              <a:buNone/>
            </a:pPr>
            <a:r>
              <a:rPr sz="1700" lang="ja-JP">
                <a:solidFill>
                  <a:srgbClr val="303437"/>
                </a:solidFill>
                <a:latin typeface="Noto Sans CJK JP"/>
                <a:ea typeface="Noto Sans CJK JP"/>
              </a:rPr>
              <a:t>特徴を固定し、UCF101の学習用で線形分類器を学習する。特徴モデルの事前学習条件は異なる。</a:t>
            </a:r>
            <a:endParaRPr sz="1700"/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Wang et al. (2024), InternVideo2, Table 4. https://arxiv.org/abs/2403.15377</a:t>
            </a:r>
            <a:endParaRPr sz="85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高い正解率だけで時間順序の理解は示せない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UCF101の測れる範囲</a:t>
            </a:r>
            <a:endParaRPr sz="1400"/>
          </a:p>
        </p:txBody>
      </p:sp>
      <p:sp>
        <p:nvSpPr>
          <p:cNvPr id="4" name="body"/>
          <p:cNvSpPr txBox="1"/>
          <p:nvPr/>
        </p:nvSpPr>
        <p:spPr>
          <a:xfrm>
            <a:off x="594360" y="1481328"/>
            <a:ext cx="7955279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映像には、行動の動きだけでなく物体や背景も写る。</a:t>
            </a:r>
            <a:endParaRPr sz="22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背景や道具だけでも、行動カテゴリの手がかりになりうる。</a:t>
            </a:r>
            <a:endParaRPr sz="22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2024年の比較では画像特徴モデルDINOv2を使う方式も91.2%だった </a:t>
            </a: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[1]</a:t>
            </a: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2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行動分類の正解率と、動作の順序や細かな変化を理解できるかを分けて評価する。</a:t>
            </a:r>
            <a:endParaRPr sz="2200"/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Wang et al. (2024), InternVideo2, Table 4. https://arxiv.org/abs/2403.15377</a:t>
            </a:r>
            <a:endParaRPr sz="85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783080"/>
            <a:ext cx="8229600" cy="1417320"/>
          </a:xfrm>
        </p:spPr>
        <p:txBody>
          <a:bodyPr wrap="none" lIns="0" rIns="0" tIns="0" bIns="0" anchor="ctr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defRPr sz="4000">
                <a:latin typeface="Noto Sans CJK JP"/>
              </a:defRPr>
              <a:spcAft>
                <a:spcPts val="0"/>
              </a:spcAft>
              <a:buNone/>
            </a:pPr>
            <a:r>
              <a:rPr sz="4000" lang="ja-JP">
                <a:solidFill>
                  <a:srgbClr val="303437"/>
                </a:solidFill>
                <a:latin typeface="Noto Sans CJK JP"/>
                <a:ea typeface="Noto Sans CJK JP"/>
              </a:rPr>
              <a:t>4 利用の変遷と現在</a:t>
            </a:r>
            <a:endParaRPr sz="4000"/>
            <a:endParaRPr sz="40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先行データより多くの行動と撮影条件を扱った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UCF101の先行データとの違い</a:t>
            </a:r>
            <a:endParaRPr sz="1400"/>
          </a:p>
        </p:txBody>
      </p:sp>
      <p:sp>
        <p:nvSpPr>
          <p:cNvPr id="4" name="body"/>
          <p:cNvSpPr txBox="1"/>
          <p:nvPr/>
        </p:nvSpPr>
        <p:spPr>
          <a:xfrm>
            <a:off x="594360" y="1481328"/>
            <a:ext cx="7955279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先行するKTHは、同じ撮影条件で6行動を扱った </a:t>
            </a: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[1]</a:t>
            </a: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2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これに対してUCF101は、YouTubeの自然な映像で101種類を扱う。</a:t>
            </a:r>
            <a:endParaRPr sz="22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また、映画などから集めたHMDB51は51種類だった。</a:t>
            </a:r>
            <a:endParaRPr sz="22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UCF101は約2倍の行動カテゴリを設け、より多くの種類を区別する評価へ広げた。</a:t>
            </a:r>
            <a:endParaRPr sz="2200"/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Soomro et al. (2012), §1 / Table 2. https://arxiv.org/abs/1212.0402</a:t>
            </a:r>
            <a:endParaRPr sz="85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後続データでは規模と動作の細かさが広がった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UCF101の後続データとの違い</a:t>
            </a:r>
            <a:endParaRPr sz="1400"/>
          </a:p>
        </p:txBody>
      </p:sp>
      <p:sp>
        <p:nvSpPr>
          <p:cNvPr id="4" name="body"/>
          <p:cNvSpPr txBox="1"/>
          <p:nvPr/>
        </p:nvSpPr>
        <p:spPr>
          <a:xfrm>
            <a:off x="594360" y="1481328"/>
            <a:ext cx="7955279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2017年にKineticsが登場した。400行動・306,245クリップを扱う </a:t>
            </a: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[1]</a:t>
            </a: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100"/>
          </a:p>
          <a:p>
            <a:pPr algn="l" lvl="1" marL="482600" indent="-1270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○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UCF101の約4倍の行動数、約23倍のクリップ数へ規模を広げた。</a:t>
            </a:r>
            <a:endParaRPr sz="21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同年のSomething-Somethingは、物を動かすなど174種類の細かい行動を扱った </a:t>
            </a: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[2]</a:t>
            </a: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100"/>
          </a:p>
          <a:p>
            <a:pPr algn="l" lvl="1" marL="482600" indent="-1270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○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UCF101のスポーツや日常動作に対し、手と物の関係や移動方向を細かく区別する。</a:t>
            </a:r>
            <a:endParaRPr sz="2100"/>
          </a:p>
        </p:txBody>
      </p:sp>
      <p:sp>
        <p:nvSpPr>
          <p:cNvPr id="5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Kay et al. (2017), Table 1. https://arxiv.org/abs/1705.06950</a:t>
            </a:r>
            <a:endParaRPr sz="850"/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[2]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Goyal et al. (2017), ICCV. https://arxiv.org/abs/1706.04261</a:t>
            </a:r>
            <a:endParaRPr sz="85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現在は小規模な転移先や再現実験にも使われる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UCF101の利用の変遷</a:t>
            </a:r>
            <a:endParaRPr sz="1400"/>
          </a:p>
        </p:txBody>
      </p:sp>
      <p:sp>
        <p:nvSpPr>
          <p:cNvPr id="4" name="body"/>
          <p:cNvSpPr txBox="1"/>
          <p:nvPr/>
        </p:nvSpPr>
        <p:spPr>
          <a:xfrm>
            <a:off x="594360" y="1481328"/>
            <a:ext cx="7955279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登場時は、自然な映像の多クラス行動認識を評価する資源だった。</a:t>
            </a:r>
            <a:endParaRPr sz="21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その後は、Kineticsなどで学んだ動画モデルの転移先にも使われた </a:t>
            </a: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[1]</a:t>
            </a: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1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2024年のInternVideo2も、線形分類・ゼロショット評価に用いた。</a:t>
            </a:r>
            <a:endParaRPr sz="21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2026年時点でも、MMAction2にはUCF101の取得・前処理・評価用ファイルを作る手順がある </a:t>
            </a: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[2]</a:t>
            </a: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100"/>
          </a:p>
        </p:txBody>
      </p:sp>
      <p:sp>
        <p:nvSpPr>
          <p:cNvPr id="5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Carreira &amp; Zisserman (2017). https://arxiv.org/abs/1705.07750 / Wang et al. (2024). https://arxiv.org/abs/2403.15377</a:t>
            </a:r>
            <a:endParaRPr sz="850"/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[2]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MMAction2のUCF101手順. https://github.com/open-mmlab/mmaction2/tree/main/tools/data/ucf101</a:t>
            </a:r>
            <a:endParaRPr sz="85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783080"/>
            <a:ext cx="8229600" cy="1417320"/>
          </a:xfrm>
        </p:spPr>
        <p:txBody>
          <a:bodyPr wrap="none" lIns="0" rIns="0" tIns="0" bIns="0" anchor="ctr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defRPr sz="4000">
                <a:latin typeface="Noto Sans CJK JP"/>
              </a:defRPr>
              <a:spcAft>
                <a:spcPts val="0"/>
              </a:spcAft>
              <a:buNone/>
            </a:pPr>
            <a:r>
              <a:rPr sz="4000" lang="ja-JP">
                <a:solidFill>
                  <a:srgbClr val="303437"/>
                </a:solidFill>
                <a:latin typeface="Noto Sans CJK JP"/>
                <a:ea typeface="Noto Sans CJK JP"/>
              </a:rPr>
              <a:t>5 入手方法とまとめ</a:t>
            </a:r>
            <a:endParaRPr sz="4000"/>
            <a:endParaRPr sz="40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動画本体と3分割のリストを取得する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UCF101の入手方法</a:t>
            </a:r>
            <a:endParaRPr sz="1400"/>
          </a:p>
        </p:txBody>
      </p:sp>
      <p:sp>
        <p:nvSpPr>
          <p:cNvPr id="4" name="body"/>
          <p:cNvSpPr txBox="1"/>
          <p:nvPr/>
        </p:nvSpPr>
        <p:spPr>
          <a:xfrm>
            <a:off x="594360" y="1481328"/>
            <a:ext cx="7955279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公式配布元から、動画のアーカイブと学習・テスト分割のZIPを取得する </a:t>
            </a: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[1]</a:t>
            </a: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2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展開したカテゴリ別フォルダと分割リストを対応させる。</a:t>
            </a:r>
            <a:endParaRPr sz="22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データを扱うMMAction2などの手順で、フレーム抽出と入力用リストを準備できる </a:t>
            </a: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[2]</a:t>
            </a: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2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利用条件は公式配布元で確認する。</a:t>
            </a:r>
            <a:endParaRPr sz="2200"/>
          </a:p>
        </p:txBody>
      </p:sp>
      <p:sp>
        <p:nvSpPr>
          <p:cNvPr id="5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UCF101公式配布元. https://www.crcv.ucf.edu/data/UCF101.php</a:t>
            </a:r>
            <a:endParaRPr sz="850"/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[2]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MMAction2のUCF101手順. https://github.com/open-mmlab/mmaction2/tree/main/tools/data/ucf101</a:t>
            </a:r>
            <a:endParaRPr sz="85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UCF101は動画モデルの行動認識と転移を評価する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UCF101のまとめ</a:t>
            </a:r>
            <a:endParaRPr sz="1400"/>
          </a:p>
        </p:txBody>
      </p:sp>
      <p:sp>
        <p:nvSpPr>
          <p:cNvPr id="4" name="body"/>
          <p:cNvSpPr txBox="1"/>
          <p:nvPr/>
        </p:nvSpPr>
        <p:spPr>
          <a:xfrm>
            <a:off x="594360" y="1481328"/>
            <a:ext cx="7955279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101種類の行動を扱う13,320クリップのデータセット。</a:t>
            </a:r>
            <a:endParaRPr sz="22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自然なYouTube映像で、多様な行動を評価するため2012年に作られた。</a:t>
            </a:r>
            <a:endParaRPr sz="22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同じ背景や人物を共有するグループを単位に分割する。</a:t>
            </a:r>
            <a:endParaRPr sz="22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登場時の分類評価から、事前学習モデルの転移・特徴評価にも用途が広がった。</a:t>
            </a:r>
            <a:endParaRPr sz="22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正解率を比較するときは、分割・事前学習・評価方式をそろえる。</a:t>
            </a:r>
            <a:endParaRPr sz="220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Appendixの目次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補足資料の構成</a:t>
            </a:r>
            <a:endParaRPr sz="1400"/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7955279" cy="3383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533400" indent="-482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defRPr sz="2400">
                <a:latin typeface="Noto Sans CJK JP"/>
              </a:defRPr>
              <a:buAutoNum type="arabicPeriod" startAt="1"/>
            </a:pPr>
            <a:r>
              <a:rPr sz="2300" lang="ja-JP">
                <a:solidFill>
                  <a:srgbClr val="303437"/>
                </a:solidFill>
                <a:latin typeface="Noto Sans CJK JP"/>
                <a:ea typeface="Noto Sans CJK JP"/>
              </a:rPr>
              <a:t>著者と発表先</a:t>
            </a:r>
            <a:endParaRPr sz="2400"/>
          </a:p>
          <a:p>
            <a:pPr algn="l" marL="533400" indent="-482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defRPr sz="2400">
                <a:latin typeface="Noto Sans CJK JP"/>
              </a:defRPr>
              <a:buAutoNum type="arabicPeriod" startAt="2"/>
            </a:pPr>
            <a:r>
              <a:rPr sz="2300" lang="ja-JP">
                <a:solidFill>
                  <a:srgbClr val="303437"/>
                </a:solidFill>
                <a:latin typeface="Noto Sans CJK JP"/>
                <a:ea typeface="Noto Sans CJK JP"/>
              </a:rPr>
              <a:t>追加の行動例</a:t>
            </a:r>
            <a:endParaRPr sz="2400"/>
          </a:p>
          <a:p>
            <a:pPr algn="l" marL="533400" indent="-482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defRPr sz="2400">
                <a:latin typeface="Noto Sans CJK JP"/>
              </a:defRPr>
              <a:buAutoNum type="arabicPeriod" startAt="3"/>
            </a:pPr>
            <a:r>
              <a:rPr sz="2300" lang="ja-JP">
                <a:solidFill>
                  <a:srgbClr val="303437"/>
                </a:solidFill>
                <a:latin typeface="Noto Sans CJK JP"/>
                <a:ea typeface="Noto Sans CJK JP"/>
              </a:rPr>
              <a:t>101カテゴリの一覧</a:t>
            </a:r>
            <a:endParaRPr sz="2400"/>
          </a:p>
          <a:p>
            <a:pPr algn="l" marL="533400" indent="-482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defRPr sz="2400">
                <a:latin typeface="Noto Sans CJK JP"/>
              </a:defRPr>
              <a:buAutoNum type="arabicPeriod" startAt="4"/>
            </a:pPr>
            <a:r>
              <a:rPr sz="2300" lang="ja-JP">
                <a:solidFill>
                  <a:srgbClr val="303437"/>
                </a:solidFill>
                <a:latin typeface="Noto Sans CJK JP"/>
                <a:ea typeface="Noto Sans CJK JP"/>
              </a:rPr>
              <a:t>本数とグループの統計</a:t>
            </a:r>
            <a:endParaRPr sz="2400"/>
          </a:p>
          <a:p>
            <a:pPr algn="l" marL="533400" indent="-482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defRPr sz="2400">
                <a:latin typeface="Noto Sans CJK JP"/>
              </a:defRPr>
              <a:buAutoNum type="arabicPeriod" startAt="5"/>
            </a:pPr>
            <a:r>
              <a:rPr sz="2300" lang="ja-JP">
                <a:solidFill>
                  <a:srgbClr val="303437"/>
                </a:solidFill>
                <a:latin typeface="Noto Sans CJK JP"/>
                <a:ea typeface="Noto Sans CJK JP"/>
              </a:rPr>
              <a:t>評価の補足</a:t>
            </a:r>
            <a:endParaRPr sz="2400"/>
          </a:p>
          <a:p>
            <a:pPr algn="l" marL="533400" indent="-482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defRPr sz="2400">
                <a:latin typeface="Noto Sans CJK JP"/>
              </a:defRPr>
              <a:buAutoNum type="arabicPeriod" startAt="6"/>
            </a:pPr>
            <a:r>
              <a:rPr sz="2300" lang="ja-JP">
                <a:solidFill>
                  <a:srgbClr val="303437"/>
                </a:solidFill>
                <a:latin typeface="Noto Sans CJK JP"/>
                <a:ea typeface="Noto Sans CJK JP"/>
              </a:rPr>
              <a:t>入手と集計のコード</a:t>
            </a:r>
            <a:endParaRPr sz="2400"/>
          </a:p>
          <a:p>
            <a:pPr algn="l" marL="533400" indent="-482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defRPr sz="2400">
                <a:latin typeface="Noto Sans CJK JP"/>
              </a:defRPr>
              <a:buAutoNum type="arabicPeriod" startAt="7"/>
            </a:pPr>
            <a:r>
              <a:rPr sz="2300" lang="ja-JP">
                <a:solidFill>
                  <a:srgbClr val="303437"/>
                </a:solidFill>
                <a:latin typeface="Noto Sans CJK JP"/>
                <a:ea typeface="Noto Sans CJK JP"/>
              </a:rPr>
              <a:t>参考文献</a:t>
            </a:r>
            <a:endParaRPr sz="24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2012年の技術報告として発表された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1 著者と発表先</a:t>
            </a:r>
            <a:endParaRPr sz="1400"/>
          </a:p>
        </p:txBody>
      </p:sp>
      <p:sp>
        <p:nvSpPr>
          <p:cNvPr id="4" name="body"/>
          <p:cNvSpPr txBox="1"/>
          <p:nvPr/>
        </p:nvSpPr>
        <p:spPr>
          <a:xfrm>
            <a:off x="594360" y="1481328"/>
            <a:ext cx="7955279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CRCV-TR-12-01としてまとめ、2012-12-03にarXivへ投稿した </a:t>
            </a: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[1]</a:t>
            </a: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2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第一著者のKhurram Soomroは、UCF101を構築した行動認識研究者。</a:t>
            </a:r>
            <a:endParaRPr sz="22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最終著者のMubarak Shahは、動画の行動認識を研究し、UCF50やUCF Sportsにも取り組んだ。</a:t>
            </a:r>
            <a:endParaRPr sz="22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当時の著者の所属は、セントラルフロリダ大学のコンピュータビジョン研究センター。</a:t>
            </a:r>
            <a:endParaRPr sz="2200"/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Soomro et al. (2012), 表紙・参考文献 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[9–10]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. https://arxiv.org/abs/1212.0402</a:t>
            </a:r>
            <a:endParaRPr sz="85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編み物の例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2 追加の行動例</a:t>
            </a:r>
            <a:endParaRPr sz="1400"/>
          </a:p>
        </p:txBody>
      </p:sp>
      <p:sp>
        <p:nvSpPr>
          <p:cNvPr id="4" name="TextBox 3"/>
          <p:cNvSpPr txBox="1"/>
          <p:nvPr/>
        </p:nvSpPr>
        <p:spPr>
          <a:xfrm>
            <a:off x="594360" y="1353312"/>
            <a:ext cx="7955279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626669"/>
                </a:solidFill>
                <a:latin typeface="Noto Sans CJK JP"/>
                <a:ea typeface="Noto Sans CJK JP"/>
              </a:rPr>
              <a:t>クリップの代表フレーム</a:t>
            </a:r>
            <a:endParaRPr sz="1400"/>
          </a:p>
        </p:txBody>
      </p:sp>
      <p:pic>
        <p:nvPicPr>
          <p:cNvPr id="5" name="Picture 4" descr="Knitting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00" y="1792224"/>
            <a:ext cx="3032760" cy="228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617720" y="1627632"/>
            <a:ext cx="39319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>
                <a:latin typeface="Noto Sans CJK JP"/>
              </a:defRPr>
              <a:buNone/>
            </a:pPr>
            <a:r>
              <a:rPr sz="2300" lang="ja-JP">
                <a:solidFill>
                  <a:srgbClr val="B13731"/>
                </a:solidFill>
                <a:latin typeface="Noto Sans CJK JP"/>
                <a:ea typeface="Noto Sans CJK JP"/>
              </a:rPr>
              <a:t>正解は編み物</a:t>
            </a:r>
            <a:endParaRPr sz="2300"/>
          </a:p>
        </p:txBody>
      </p:sp>
      <p:sp>
        <p:nvSpPr>
          <p:cNvPr id="7" name="TextBox 6"/>
          <p:cNvSpPr txBox="1"/>
          <p:nvPr/>
        </p:nvSpPr>
        <p:spPr>
          <a:xfrm>
            <a:off x="4617720" y="2286000"/>
            <a:ext cx="39319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>
                <a:latin typeface="Liberation Sans"/>
              </a:defRPr>
              <a:buNone/>
            </a:pPr>
            <a:r>
              <a:rPr sz="1900" lang="en-US">
                <a:solidFill>
                  <a:srgbClr val="303437"/>
                </a:solidFill>
                <a:latin typeface="Liberation Sans"/>
                <a:ea typeface="Liberation Sans"/>
              </a:rPr>
              <a:t>Knitting</a:t>
            </a:r>
            <a:endParaRPr sz="1900"/>
          </a:p>
        </p:txBody>
      </p:sp>
      <p:sp>
        <p:nvSpPr>
          <p:cNvPr id="8" name="TextBox 7"/>
          <p:cNvSpPr txBox="1"/>
          <p:nvPr/>
        </p:nvSpPr>
        <p:spPr>
          <a:xfrm>
            <a:off x="4617720" y="2926080"/>
            <a:ext cx="3931920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None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手と道具を使う細かな作業を扱う。手元の見え方が行動の手がかりになる。</a:t>
            </a:r>
            <a:endParaRPr sz="2100"/>
          </a:p>
        </p:txBody>
      </p:sp>
      <p:sp>
        <p:nvSpPr>
          <p:cNvPr id="9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850">
                <a:latin typeface="Noto Sans CJK JP"/>
              </a:defRPr>
              <a:spcAft>
                <a:spcPts val="700"/>
              </a:spcAft>
              <a:buNone/>
            </a:pPr>
            <a:r>
              <a:rPr sz="850" lang="ja-JP">
                <a:solidFill>
                  <a:srgbClr val="303437"/>
                </a:solidFill>
                <a:latin typeface="Noto Sans CJK JP"/>
                <a:ea typeface="Noto Sans CJK JP"/>
              </a:rPr>
              <a:t>[1] Soomro et al. (2012), Figure 2. https://arxiv.org/abs/1212.0402 / Knitting</a:t>
            </a:r>
            <a:endParaRPr sz="85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ヨーヨーの例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2 追加の行動例</a:t>
            </a:r>
            <a:endParaRPr sz="1400"/>
          </a:p>
        </p:txBody>
      </p:sp>
      <p:sp>
        <p:nvSpPr>
          <p:cNvPr id="4" name="TextBox 3"/>
          <p:cNvSpPr txBox="1"/>
          <p:nvPr/>
        </p:nvSpPr>
        <p:spPr>
          <a:xfrm>
            <a:off x="594360" y="1353312"/>
            <a:ext cx="7955279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626669"/>
                </a:solidFill>
                <a:latin typeface="Noto Sans CJK JP"/>
                <a:ea typeface="Noto Sans CJK JP"/>
              </a:rPr>
              <a:t>クリップの代表フレーム</a:t>
            </a:r>
            <a:endParaRPr sz="1400"/>
          </a:p>
        </p:txBody>
      </p:sp>
      <p:pic>
        <p:nvPicPr>
          <p:cNvPr id="5" name="Picture 4" descr="YoY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00" y="1792224"/>
            <a:ext cx="3032760" cy="228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617720" y="1627632"/>
            <a:ext cx="39319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>
                <a:latin typeface="Noto Sans CJK JP"/>
              </a:defRPr>
              <a:buNone/>
            </a:pPr>
            <a:r>
              <a:rPr sz="2300" lang="ja-JP">
                <a:solidFill>
                  <a:srgbClr val="B13731"/>
                </a:solidFill>
                <a:latin typeface="Noto Sans CJK JP"/>
                <a:ea typeface="Noto Sans CJK JP"/>
              </a:rPr>
              <a:t>正解はヨーヨー</a:t>
            </a:r>
            <a:endParaRPr sz="2300"/>
          </a:p>
        </p:txBody>
      </p:sp>
      <p:sp>
        <p:nvSpPr>
          <p:cNvPr id="7" name="TextBox 6"/>
          <p:cNvSpPr txBox="1"/>
          <p:nvPr/>
        </p:nvSpPr>
        <p:spPr>
          <a:xfrm>
            <a:off x="4617720" y="2286000"/>
            <a:ext cx="39319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>
                <a:latin typeface="Liberation Sans"/>
              </a:defRPr>
              <a:buNone/>
            </a:pPr>
            <a:r>
              <a:rPr sz="1900" lang="en-US">
                <a:solidFill>
                  <a:srgbClr val="303437"/>
                </a:solidFill>
                <a:latin typeface="Liberation Sans"/>
                <a:ea typeface="Liberation Sans"/>
              </a:rPr>
              <a:t>YoYo</a:t>
            </a:r>
            <a:endParaRPr sz="1900"/>
          </a:p>
        </p:txBody>
      </p:sp>
      <p:sp>
        <p:nvSpPr>
          <p:cNvPr id="8" name="TextBox 7"/>
          <p:cNvSpPr txBox="1"/>
          <p:nvPr/>
        </p:nvSpPr>
        <p:spPr>
          <a:xfrm>
            <a:off x="4617720" y="2926080"/>
            <a:ext cx="3931920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None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手とヨーヨーの関係を扱う。小さい物体の移動も行動に関係する。</a:t>
            </a:r>
            <a:endParaRPr sz="2100"/>
          </a:p>
        </p:txBody>
      </p:sp>
      <p:sp>
        <p:nvSpPr>
          <p:cNvPr id="9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850">
                <a:latin typeface="Noto Sans CJK JP"/>
              </a:defRPr>
              <a:spcAft>
                <a:spcPts val="700"/>
              </a:spcAft>
              <a:buNone/>
            </a:pPr>
            <a:r>
              <a:rPr sz="850" lang="ja-JP">
                <a:solidFill>
                  <a:srgbClr val="303437"/>
                </a:solidFill>
                <a:latin typeface="Noto Sans CJK JP"/>
                <a:ea typeface="Noto Sans CJK JP"/>
              </a:rPr>
              <a:t>[1] Soomro et al. (2012), Figure 2. https://arxiv.org/abs/1212.0402 / YoYo</a:t>
            </a:r>
            <a:endParaRPr sz="85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赤ちゃんのはいはいの例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2 追加の行動例</a:t>
            </a:r>
            <a:endParaRPr sz="1400"/>
          </a:p>
        </p:txBody>
      </p:sp>
      <p:sp>
        <p:nvSpPr>
          <p:cNvPr id="4" name="TextBox 3"/>
          <p:cNvSpPr txBox="1"/>
          <p:nvPr/>
        </p:nvSpPr>
        <p:spPr>
          <a:xfrm>
            <a:off x="594360" y="1353312"/>
            <a:ext cx="7955279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626669"/>
                </a:solidFill>
                <a:latin typeface="Noto Sans CJK JP"/>
                <a:ea typeface="Noto Sans CJK JP"/>
              </a:rPr>
              <a:t>クリップの代表フレーム</a:t>
            </a:r>
            <a:endParaRPr sz="1400"/>
          </a:p>
        </p:txBody>
      </p:sp>
      <p:pic>
        <p:nvPicPr>
          <p:cNvPr id="5" name="Picture 4" descr="BabyCrawling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00" y="1792224"/>
            <a:ext cx="3032760" cy="228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617720" y="1627632"/>
            <a:ext cx="39319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>
                <a:latin typeface="Noto Sans CJK JP"/>
              </a:defRPr>
              <a:buNone/>
            </a:pPr>
            <a:r>
              <a:rPr sz="2300" lang="ja-JP">
                <a:solidFill>
                  <a:srgbClr val="B13731"/>
                </a:solidFill>
                <a:latin typeface="Noto Sans CJK JP"/>
                <a:ea typeface="Noto Sans CJK JP"/>
              </a:rPr>
              <a:t>正解は赤ちゃんのはいはい</a:t>
            </a:r>
            <a:endParaRPr sz="2300"/>
          </a:p>
        </p:txBody>
      </p:sp>
      <p:sp>
        <p:nvSpPr>
          <p:cNvPr id="7" name="TextBox 6"/>
          <p:cNvSpPr txBox="1"/>
          <p:nvPr/>
        </p:nvSpPr>
        <p:spPr>
          <a:xfrm>
            <a:off x="4617720" y="2286000"/>
            <a:ext cx="39319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>
                <a:latin typeface="Liberation Sans"/>
              </a:defRPr>
              <a:buNone/>
            </a:pPr>
            <a:r>
              <a:rPr sz="1900" lang="en-US">
                <a:solidFill>
                  <a:srgbClr val="303437"/>
                </a:solidFill>
                <a:latin typeface="Liberation Sans"/>
                <a:ea typeface="Liberation Sans"/>
              </a:rPr>
              <a:t>BabyCrawling</a:t>
            </a:r>
            <a:endParaRPr sz="1900"/>
          </a:p>
        </p:txBody>
      </p:sp>
      <p:sp>
        <p:nvSpPr>
          <p:cNvPr id="8" name="TextBox 7"/>
          <p:cNvSpPr txBox="1"/>
          <p:nvPr/>
        </p:nvSpPr>
        <p:spPr>
          <a:xfrm>
            <a:off x="4617720" y="2926080"/>
            <a:ext cx="3931920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None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床に近い姿勢での移動を扱う。年齢に特徴のある行動もカテゴリに含む。</a:t>
            </a:r>
            <a:endParaRPr sz="2100"/>
          </a:p>
        </p:txBody>
      </p:sp>
      <p:sp>
        <p:nvSpPr>
          <p:cNvPr id="9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850">
                <a:latin typeface="Noto Sans CJK JP"/>
              </a:defRPr>
              <a:spcAft>
                <a:spcPts val="700"/>
              </a:spcAft>
              <a:buNone/>
            </a:pPr>
            <a:r>
              <a:rPr sz="850" lang="ja-JP">
                <a:solidFill>
                  <a:srgbClr val="303437"/>
                </a:solidFill>
                <a:latin typeface="Noto Sans CJK JP"/>
                <a:ea typeface="Noto Sans CJK JP"/>
              </a:rPr>
              <a:t>[1] Soomro et al. (2012), Figure 2. https://arxiv.org/abs/1212.0402 / BabyCrawling</a:t>
            </a:r>
            <a:endParaRPr sz="85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散髪の例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2 追加の行動例</a:t>
            </a:r>
            <a:endParaRPr sz="1400"/>
          </a:p>
        </p:txBody>
      </p:sp>
      <p:sp>
        <p:nvSpPr>
          <p:cNvPr id="4" name="TextBox 3"/>
          <p:cNvSpPr txBox="1"/>
          <p:nvPr/>
        </p:nvSpPr>
        <p:spPr>
          <a:xfrm>
            <a:off x="594360" y="1353312"/>
            <a:ext cx="7955279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626669"/>
                </a:solidFill>
                <a:latin typeface="Noto Sans CJK JP"/>
                <a:ea typeface="Noto Sans CJK JP"/>
              </a:rPr>
              <a:t>クリップの代表フレーム</a:t>
            </a:r>
            <a:endParaRPr sz="1400"/>
          </a:p>
        </p:txBody>
      </p:sp>
      <p:pic>
        <p:nvPicPr>
          <p:cNvPr id="5" name="Picture 4" descr="Haircut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00" y="1792224"/>
            <a:ext cx="3032760" cy="228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617720" y="1627632"/>
            <a:ext cx="39319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>
                <a:latin typeface="Noto Sans CJK JP"/>
              </a:defRPr>
              <a:buNone/>
            </a:pPr>
            <a:r>
              <a:rPr sz="2300" lang="ja-JP">
                <a:solidFill>
                  <a:srgbClr val="B13731"/>
                </a:solidFill>
                <a:latin typeface="Noto Sans CJK JP"/>
                <a:ea typeface="Noto Sans CJK JP"/>
              </a:rPr>
              <a:t>正解は散髪</a:t>
            </a:r>
            <a:endParaRPr sz="2300"/>
          </a:p>
        </p:txBody>
      </p:sp>
      <p:sp>
        <p:nvSpPr>
          <p:cNvPr id="7" name="TextBox 6"/>
          <p:cNvSpPr txBox="1"/>
          <p:nvPr/>
        </p:nvSpPr>
        <p:spPr>
          <a:xfrm>
            <a:off x="4617720" y="2286000"/>
            <a:ext cx="39319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>
                <a:latin typeface="Liberation Sans"/>
              </a:defRPr>
              <a:buNone/>
            </a:pPr>
            <a:r>
              <a:rPr sz="1900" lang="en-US">
                <a:solidFill>
                  <a:srgbClr val="303437"/>
                </a:solidFill>
                <a:latin typeface="Liberation Sans"/>
                <a:ea typeface="Liberation Sans"/>
              </a:rPr>
              <a:t>Haircut</a:t>
            </a:r>
            <a:endParaRPr sz="1900"/>
          </a:p>
        </p:txBody>
      </p:sp>
      <p:sp>
        <p:nvSpPr>
          <p:cNvPr id="8" name="TextBox 7"/>
          <p:cNvSpPr txBox="1"/>
          <p:nvPr/>
        </p:nvSpPr>
        <p:spPr>
          <a:xfrm>
            <a:off x="4617720" y="2926080"/>
            <a:ext cx="3931920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None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人が別の人に行う作業を扱う。複数の人物が写る映像も対象となる。</a:t>
            </a:r>
            <a:endParaRPr sz="2100"/>
          </a:p>
        </p:txBody>
      </p:sp>
      <p:sp>
        <p:nvSpPr>
          <p:cNvPr id="9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850">
                <a:latin typeface="Noto Sans CJK JP"/>
              </a:defRPr>
              <a:spcAft>
                <a:spcPts val="700"/>
              </a:spcAft>
              <a:buNone/>
            </a:pPr>
            <a:r>
              <a:rPr sz="850" lang="ja-JP">
                <a:solidFill>
                  <a:srgbClr val="303437"/>
                </a:solidFill>
                <a:latin typeface="Noto Sans CJK JP"/>
                <a:ea typeface="Noto Sans CJK JP"/>
              </a:rPr>
              <a:t>[1] Soomro et al. (2012), Figure 2. https://arxiv.org/abs/1212.0402 / Haircut</a:t>
            </a:r>
            <a:endParaRPr sz="85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ギターの演奏の例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2 追加の行動例</a:t>
            </a:r>
            <a:endParaRPr sz="1400"/>
          </a:p>
        </p:txBody>
      </p:sp>
      <p:sp>
        <p:nvSpPr>
          <p:cNvPr id="4" name="TextBox 3"/>
          <p:cNvSpPr txBox="1"/>
          <p:nvPr/>
        </p:nvSpPr>
        <p:spPr>
          <a:xfrm>
            <a:off x="594360" y="1353312"/>
            <a:ext cx="7955279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626669"/>
                </a:solidFill>
                <a:latin typeface="Noto Sans CJK JP"/>
                <a:ea typeface="Noto Sans CJK JP"/>
              </a:rPr>
              <a:t>クリップの代表フレーム</a:t>
            </a:r>
            <a:endParaRPr sz="1400"/>
          </a:p>
        </p:txBody>
      </p:sp>
      <p:pic>
        <p:nvPicPr>
          <p:cNvPr id="5" name="Picture 4" descr="PlayingGuitar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994" y="1792224"/>
            <a:ext cx="3037771" cy="228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617720" y="1627632"/>
            <a:ext cx="39319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>
                <a:latin typeface="Noto Sans CJK JP"/>
              </a:defRPr>
              <a:buNone/>
            </a:pPr>
            <a:r>
              <a:rPr sz="2300" lang="ja-JP">
                <a:solidFill>
                  <a:srgbClr val="B13731"/>
                </a:solidFill>
                <a:latin typeface="Noto Sans CJK JP"/>
                <a:ea typeface="Noto Sans CJK JP"/>
              </a:rPr>
              <a:t>正解はギターの演奏</a:t>
            </a:r>
            <a:endParaRPr sz="2300"/>
          </a:p>
        </p:txBody>
      </p:sp>
      <p:sp>
        <p:nvSpPr>
          <p:cNvPr id="7" name="TextBox 6"/>
          <p:cNvSpPr txBox="1"/>
          <p:nvPr/>
        </p:nvSpPr>
        <p:spPr>
          <a:xfrm>
            <a:off x="4617720" y="2286000"/>
            <a:ext cx="39319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>
                <a:latin typeface="Liberation Sans"/>
              </a:defRPr>
              <a:buNone/>
            </a:pPr>
            <a:r>
              <a:rPr sz="1900" lang="en-US">
                <a:solidFill>
                  <a:srgbClr val="303437"/>
                </a:solidFill>
                <a:latin typeface="Liberation Sans"/>
                <a:ea typeface="Liberation Sans"/>
              </a:rPr>
              <a:t>PlayingGuitar</a:t>
            </a:r>
            <a:endParaRPr sz="1900"/>
          </a:p>
        </p:txBody>
      </p:sp>
      <p:sp>
        <p:nvSpPr>
          <p:cNvPr id="8" name="TextBox 7"/>
          <p:cNvSpPr txBox="1"/>
          <p:nvPr/>
        </p:nvSpPr>
        <p:spPr>
          <a:xfrm>
            <a:off x="4617720" y="2926080"/>
            <a:ext cx="3931920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None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楽器と演奏者を扱う。楽器の種類もカテゴリを区別する手がかりになる。</a:t>
            </a:r>
            <a:endParaRPr sz="2100"/>
          </a:p>
        </p:txBody>
      </p:sp>
      <p:sp>
        <p:nvSpPr>
          <p:cNvPr id="9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850">
                <a:latin typeface="Noto Sans CJK JP"/>
              </a:defRPr>
              <a:spcAft>
                <a:spcPts val="700"/>
              </a:spcAft>
              <a:buNone/>
            </a:pPr>
            <a:r>
              <a:rPr sz="850" lang="ja-JP">
                <a:solidFill>
                  <a:srgbClr val="303437"/>
                </a:solidFill>
                <a:latin typeface="Noto Sans CJK JP"/>
                <a:ea typeface="Noto Sans CJK JP"/>
              </a:rPr>
              <a:t>[1] Soomro et al. (2012), Figure 2. https://arxiv.org/abs/1212.0402 / PlayingGuitar</a:t>
            </a:r>
            <a:endParaRPr sz="85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ビリヤードの例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2 追加の行動例</a:t>
            </a:r>
            <a:endParaRPr sz="1400"/>
          </a:p>
        </p:txBody>
      </p:sp>
      <p:sp>
        <p:nvSpPr>
          <p:cNvPr id="4" name="TextBox 3"/>
          <p:cNvSpPr txBox="1"/>
          <p:nvPr/>
        </p:nvSpPr>
        <p:spPr>
          <a:xfrm>
            <a:off x="594360" y="1353312"/>
            <a:ext cx="7955279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626669"/>
                </a:solidFill>
                <a:latin typeface="Noto Sans CJK JP"/>
                <a:ea typeface="Noto Sans CJK JP"/>
              </a:rPr>
              <a:t>クリップの代表フレーム</a:t>
            </a:r>
            <a:endParaRPr sz="1400"/>
          </a:p>
        </p:txBody>
      </p:sp>
      <p:pic>
        <p:nvPicPr>
          <p:cNvPr id="5" name="Picture 4" descr="Billiards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7125" y="1792224"/>
            <a:ext cx="3103509" cy="228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617720" y="1627632"/>
            <a:ext cx="39319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>
                <a:latin typeface="Noto Sans CJK JP"/>
              </a:defRPr>
              <a:buNone/>
            </a:pPr>
            <a:r>
              <a:rPr sz="2300" lang="ja-JP">
                <a:solidFill>
                  <a:srgbClr val="B13731"/>
                </a:solidFill>
                <a:latin typeface="Noto Sans CJK JP"/>
                <a:ea typeface="Noto Sans CJK JP"/>
              </a:rPr>
              <a:t>正解はビリヤード</a:t>
            </a:r>
            <a:endParaRPr sz="2300"/>
          </a:p>
        </p:txBody>
      </p:sp>
      <p:sp>
        <p:nvSpPr>
          <p:cNvPr id="7" name="TextBox 6"/>
          <p:cNvSpPr txBox="1"/>
          <p:nvPr/>
        </p:nvSpPr>
        <p:spPr>
          <a:xfrm>
            <a:off x="4617720" y="2286000"/>
            <a:ext cx="39319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>
                <a:latin typeface="Liberation Sans"/>
              </a:defRPr>
              <a:buNone/>
            </a:pPr>
            <a:r>
              <a:rPr sz="1900" lang="en-US">
                <a:solidFill>
                  <a:srgbClr val="303437"/>
                </a:solidFill>
                <a:latin typeface="Liberation Sans"/>
                <a:ea typeface="Liberation Sans"/>
              </a:rPr>
              <a:t>Billiards</a:t>
            </a:r>
            <a:endParaRPr sz="1900"/>
          </a:p>
        </p:txBody>
      </p:sp>
      <p:sp>
        <p:nvSpPr>
          <p:cNvPr id="8" name="TextBox 7"/>
          <p:cNvSpPr txBox="1"/>
          <p:nvPr/>
        </p:nvSpPr>
        <p:spPr>
          <a:xfrm>
            <a:off x="4617720" y="2926080"/>
            <a:ext cx="3931920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None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台やキューなど、競技に特徴的な物体と動きを扱う。</a:t>
            </a:r>
            <a:endParaRPr sz="2100"/>
          </a:p>
        </p:txBody>
      </p:sp>
      <p:sp>
        <p:nvSpPr>
          <p:cNvPr id="9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850">
                <a:latin typeface="Noto Sans CJK JP"/>
              </a:defRPr>
              <a:spcAft>
                <a:spcPts val="700"/>
              </a:spcAft>
              <a:buNone/>
            </a:pPr>
            <a:r>
              <a:rPr sz="850" lang="ja-JP">
                <a:solidFill>
                  <a:srgbClr val="303437"/>
                </a:solidFill>
                <a:latin typeface="Noto Sans CJK JP"/>
                <a:ea typeface="Noto Sans CJK JP"/>
              </a:rPr>
              <a:t>[1] Soomro et al. (2012), Figure 2. https://arxiv.org/abs/1212.0402 / Billiards</a:t>
            </a:r>
            <a:endParaRPr sz="85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バスケットボールのダンクの例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2 追加の行動例</a:t>
            </a:r>
            <a:endParaRPr sz="1400"/>
          </a:p>
        </p:txBody>
      </p:sp>
      <p:sp>
        <p:nvSpPr>
          <p:cNvPr id="4" name="TextBox 3"/>
          <p:cNvSpPr txBox="1"/>
          <p:nvPr/>
        </p:nvSpPr>
        <p:spPr>
          <a:xfrm>
            <a:off x="594360" y="1353312"/>
            <a:ext cx="7955279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626669"/>
                </a:solidFill>
                <a:latin typeface="Noto Sans CJK JP"/>
                <a:ea typeface="Noto Sans CJK JP"/>
              </a:rPr>
              <a:t>クリップの代表フレーム</a:t>
            </a:r>
            <a:endParaRPr sz="1400"/>
          </a:p>
        </p:txBody>
      </p:sp>
      <p:pic>
        <p:nvPicPr>
          <p:cNvPr id="5" name="Picture 4" descr="BasketballDunk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7125" y="1792224"/>
            <a:ext cx="3103509" cy="228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617720" y="1627632"/>
            <a:ext cx="39319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>
                <a:latin typeface="Noto Sans CJK JP"/>
              </a:defRPr>
              <a:buNone/>
            </a:pPr>
            <a:r>
              <a:rPr sz="1900" lang="ja-JP">
                <a:solidFill>
                  <a:srgbClr val="B13731"/>
                </a:solidFill>
                <a:latin typeface="Noto Sans CJK JP"/>
                <a:ea typeface="Noto Sans CJK JP"/>
              </a:rPr>
              <a:t>正解はバスケットボールのダンク</a:t>
            </a:r>
            <a:endParaRPr sz="1900"/>
          </a:p>
        </p:txBody>
      </p:sp>
      <p:sp>
        <p:nvSpPr>
          <p:cNvPr id="7" name="TextBox 6"/>
          <p:cNvSpPr txBox="1"/>
          <p:nvPr/>
        </p:nvSpPr>
        <p:spPr>
          <a:xfrm>
            <a:off x="4617720" y="2286000"/>
            <a:ext cx="39319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>
                <a:latin typeface="Liberation Sans"/>
              </a:defRPr>
              <a:buNone/>
            </a:pPr>
            <a:r>
              <a:rPr sz="1900" lang="en-US">
                <a:solidFill>
                  <a:srgbClr val="303437"/>
                </a:solidFill>
                <a:latin typeface="Liberation Sans"/>
                <a:ea typeface="Liberation Sans"/>
              </a:rPr>
              <a:t>BasketballDunk</a:t>
            </a:r>
            <a:endParaRPr sz="1900"/>
          </a:p>
        </p:txBody>
      </p:sp>
      <p:sp>
        <p:nvSpPr>
          <p:cNvPr id="8" name="TextBox 7"/>
          <p:cNvSpPr txBox="1"/>
          <p:nvPr/>
        </p:nvSpPr>
        <p:spPr>
          <a:xfrm>
            <a:off x="4617720" y="2926080"/>
            <a:ext cx="3931920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None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一般的なバスケットボールと、ダンクを別カテゴリとして扱う。</a:t>
            </a:r>
            <a:endParaRPr sz="2100"/>
          </a:p>
        </p:txBody>
      </p:sp>
      <p:sp>
        <p:nvSpPr>
          <p:cNvPr id="9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850">
                <a:latin typeface="Noto Sans CJK JP"/>
              </a:defRPr>
              <a:spcAft>
                <a:spcPts val="700"/>
              </a:spcAft>
              <a:buNone/>
            </a:pPr>
            <a:r>
              <a:rPr sz="850" lang="ja-JP">
                <a:solidFill>
                  <a:srgbClr val="303437"/>
                </a:solidFill>
                <a:latin typeface="Noto Sans CJK JP"/>
                <a:ea typeface="Noto Sans CJK JP"/>
              </a:rPr>
              <a:t>[1] Soomro et al. (2012), Figure 2. https://arxiv.org/abs/1212.0402 / BasketballDunk</a:t>
            </a:r>
            <a:endParaRPr sz="85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サーフィンの例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2 追加の行動例</a:t>
            </a:r>
            <a:endParaRPr sz="1400"/>
          </a:p>
        </p:txBody>
      </p:sp>
      <p:sp>
        <p:nvSpPr>
          <p:cNvPr id="4" name="TextBox 3"/>
          <p:cNvSpPr txBox="1"/>
          <p:nvPr/>
        </p:nvSpPr>
        <p:spPr>
          <a:xfrm>
            <a:off x="594360" y="1353312"/>
            <a:ext cx="7955279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626669"/>
                </a:solidFill>
                <a:latin typeface="Noto Sans CJK JP"/>
                <a:ea typeface="Noto Sans CJK JP"/>
              </a:rPr>
              <a:t>クリップの代表フレーム</a:t>
            </a:r>
            <a:endParaRPr sz="1400"/>
          </a:p>
        </p:txBody>
      </p:sp>
      <p:pic>
        <p:nvPicPr>
          <p:cNvPr id="5" name="Picture 4" descr="Surfing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994" y="1792224"/>
            <a:ext cx="3037771" cy="228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617720" y="1627632"/>
            <a:ext cx="39319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>
                <a:latin typeface="Noto Sans CJK JP"/>
              </a:defRPr>
              <a:buNone/>
            </a:pPr>
            <a:r>
              <a:rPr sz="2300" lang="ja-JP">
                <a:solidFill>
                  <a:srgbClr val="B13731"/>
                </a:solidFill>
                <a:latin typeface="Noto Sans CJK JP"/>
                <a:ea typeface="Noto Sans CJK JP"/>
              </a:rPr>
              <a:t>正解はサーフィン</a:t>
            </a:r>
            <a:endParaRPr sz="2300"/>
          </a:p>
        </p:txBody>
      </p:sp>
      <p:sp>
        <p:nvSpPr>
          <p:cNvPr id="7" name="TextBox 6"/>
          <p:cNvSpPr txBox="1"/>
          <p:nvPr/>
        </p:nvSpPr>
        <p:spPr>
          <a:xfrm>
            <a:off x="4617720" y="2286000"/>
            <a:ext cx="39319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>
                <a:latin typeface="Liberation Sans"/>
              </a:defRPr>
              <a:buNone/>
            </a:pPr>
            <a:r>
              <a:rPr sz="1900" lang="en-US">
                <a:solidFill>
                  <a:srgbClr val="303437"/>
                </a:solidFill>
                <a:latin typeface="Liberation Sans"/>
                <a:ea typeface="Liberation Sans"/>
              </a:rPr>
              <a:t>Surfing</a:t>
            </a:r>
            <a:endParaRPr sz="1900"/>
          </a:p>
        </p:txBody>
      </p:sp>
      <p:sp>
        <p:nvSpPr>
          <p:cNvPr id="8" name="TextBox 7"/>
          <p:cNvSpPr txBox="1"/>
          <p:nvPr/>
        </p:nvSpPr>
        <p:spPr>
          <a:xfrm>
            <a:off x="4617720" y="2926080"/>
            <a:ext cx="3931920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None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人と波の動きがあり、屋外の背景と撮影条件も変化する。</a:t>
            </a:r>
            <a:endParaRPr sz="2100"/>
          </a:p>
        </p:txBody>
      </p:sp>
      <p:sp>
        <p:nvSpPr>
          <p:cNvPr id="9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850">
                <a:latin typeface="Noto Sans CJK JP"/>
              </a:defRPr>
              <a:spcAft>
                <a:spcPts val="700"/>
              </a:spcAft>
              <a:buNone/>
            </a:pPr>
            <a:r>
              <a:rPr sz="850" lang="ja-JP">
                <a:solidFill>
                  <a:srgbClr val="303437"/>
                </a:solidFill>
                <a:latin typeface="Noto Sans CJK JP"/>
                <a:ea typeface="Noto Sans CJK JP"/>
              </a:rPr>
              <a:t>[1] Soomro et al. (2012), Figure 2. https://arxiv.org/abs/1212.0402 / Surfing</a:t>
            </a:r>
            <a:endParaRPr sz="85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タイピングの例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2 追加の行動例</a:t>
            </a:r>
            <a:endParaRPr sz="1400"/>
          </a:p>
        </p:txBody>
      </p:sp>
      <p:sp>
        <p:nvSpPr>
          <p:cNvPr id="4" name="TextBox 3"/>
          <p:cNvSpPr txBox="1"/>
          <p:nvPr/>
        </p:nvSpPr>
        <p:spPr>
          <a:xfrm>
            <a:off x="594360" y="1353312"/>
            <a:ext cx="7955279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626669"/>
                </a:solidFill>
                <a:latin typeface="Noto Sans CJK JP"/>
                <a:ea typeface="Noto Sans CJK JP"/>
              </a:rPr>
              <a:t>クリップの代表フレーム</a:t>
            </a:r>
            <a:endParaRPr sz="1400"/>
          </a:p>
        </p:txBody>
      </p:sp>
      <p:pic>
        <p:nvPicPr>
          <p:cNvPr id="5" name="Picture 4" descr="Typing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00" y="1792224"/>
            <a:ext cx="3032760" cy="228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617720" y="1627632"/>
            <a:ext cx="39319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>
                <a:latin typeface="Noto Sans CJK JP"/>
              </a:defRPr>
              <a:buNone/>
            </a:pPr>
            <a:r>
              <a:rPr sz="2300" lang="ja-JP">
                <a:solidFill>
                  <a:srgbClr val="B13731"/>
                </a:solidFill>
                <a:latin typeface="Noto Sans CJK JP"/>
                <a:ea typeface="Noto Sans CJK JP"/>
              </a:rPr>
              <a:t>正解はタイピング</a:t>
            </a:r>
            <a:endParaRPr sz="2300"/>
          </a:p>
        </p:txBody>
      </p:sp>
      <p:sp>
        <p:nvSpPr>
          <p:cNvPr id="7" name="TextBox 6"/>
          <p:cNvSpPr txBox="1"/>
          <p:nvPr/>
        </p:nvSpPr>
        <p:spPr>
          <a:xfrm>
            <a:off x="4617720" y="2286000"/>
            <a:ext cx="39319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>
                <a:latin typeface="Liberation Sans"/>
              </a:defRPr>
              <a:buNone/>
            </a:pPr>
            <a:r>
              <a:rPr sz="1900" lang="en-US">
                <a:solidFill>
                  <a:srgbClr val="303437"/>
                </a:solidFill>
                <a:latin typeface="Liberation Sans"/>
                <a:ea typeface="Liberation Sans"/>
              </a:rPr>
              <a:t>Typing</a:t>
            </a:r>
            <a:endParaRPr sz="1900"/>
          </a:p>
        </p:txBody>
      </p:sp>
      <p:sp>
        <p:nvSpPr>
          <p:cNvPr id="8" name="TextBox 7"/>
          <p:cNvSpPr txBox="1"/>
          <p:nvPr/>
        </p:nvSpPr>
        <p:spPr>
          <a:xfrm>
            <a:off x="4617720" y="2926080"/>
            <a:ext cx="3931920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None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手元の小さな動きとキーボードを扱う。身体全体の大きな動きに限らない。</a:t>
            </a:r>
            <a:endParaRPr sz="2100"/>
          </a:p>
        </p:txBody>
      </p:sp>
      <p:sp>
        <p:nvSpPr>
          <p:cNvPr id="9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850">
                <a:latin typeface="Noto Sans CJK JP"/>
              </a:defRPr>
              <a:spcAft>
                <a:spcPts val="700"/>
              </a:spcAft>
              <a:buNone/>
            </a:pPr>
            <a:r>
              <a:rPr sz="850" lang="ja-JP">
                <a:solidFill>
                  <a:srgbClr val="303437"/>
                </a:solidFill>
                <a:latin typeface="Noto Sans CJK JP"/>
                <a:ea typeface="Noto Sans CJK JP"/>
              </a:rPr>
              <a:t>[1] Soomro et al. (2012), Figure 2. https://arxiv.org/abs/1212.0402 / Typing</a:t>
            </a:r>
            <a:endParaRPr sz="85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スケートボードの例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2 追加の行動例</a:t>
            </a:r>
            <a:endParaRPr sz="1400"/>
          </a:p>
        </p:txBody>
      </p:sp>
      <p:sp>
        <p:nvSpPr>
          <p:cNvPr id="4" name="TextBox 3"/>
          <p:cNvSpPr txBox="1"/>
          <p:nvPr/>
        </p:nvSpPr>
        <p:spPr>
          <a:xfrm>
            <a:off x="594360" y="1353312"/>
            <a:ext cx="7955279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626669"/>
                </a:solidFill>
                <a:latin typeface="Noto Sans CJK JP"/>
                <a:ea typeface="Noto Sans CJK JP"/>
              </a:rPr>
              <a:t>クリップの代表フレーム</a:t>
            </a:r>
            <a:endParaRPr sz="1400"/>
          </a:p>
        </p:txBody>
      </p:sp>
      <p:pic>
        <p:nvPicPr>
          <p:cNvPr id="5" name="Picture 4" descr="SkateBoarding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00" y="1792224"/>
            <a:ext cx="3032760" cy="228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617720" y="1627632"/>
            <a:ext cx="39319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>
                <a:latin typeface="Noto Sans CJK JP"/>
              </a:defRPr>
              <a:buNone/>
            </a:pPr>
            <a:r>
              <a:rPr sz="2300" lang="ja-JP">
                <a:solidFill>
                  <a:srgbClr val="B13731"/>
                </a:solidFill>
                <a:latin typeface="Noto Sans CJK JP"/>
                <a:ea typeface="Noto Sans CJK JP"/>
              </a:rPr>
              <a:t>正解はスケートボード</a:t>
            </a:r>
            <a:endParaRPr sz="2300"/>
          </a:p>
        </p:txBody>
      </p:sp>
      <p:sp>
        <p:nvSpPr>
          <p:cNvPr id="7" name="TextBox 6"/>
          <p:cNvSpPr txBox="1"/>
          <p:nvPr/>
        </p:nvSpPr>
        <p:spPr>
          <a:xfrm>
            <a:off x="4617720" y="2286000"/>
            <a:ext cx="39319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>
                <a:latin typeface="Liberation Sans"/>
              </a:defRPr>
              <a:buNone/>
            </a:pPr>
            <a:r>
              <a:rPr sz="1900" lang="en-US">
                <a:solidFill>
                  <a:srgbClr val="303437"/>
                </a:solidFill>
                <a:latin typeface="Liberation Sans"/>
                <a:ea typeface="Liberation Sans"/>
              </a:rPr>
              <a:t>SkateBoarding</a:t>
            </a:r>
            <a:endParaRPr sz="1900"/>
          </a:p>
        </p:txBody>
      </p:sp>
      <p:sp>
        <p:nvSpPr>
          <p:cNvPr id="8" name="TextBox 7"/>
          <p:cNvSpPr txBox="1"/>
          <p:nvPr/>
        </p:nvSpPr>
        <p:spPr>
          <a:xfrm>
            <a:off x="4617720" y="2926080"/>
            <a:ext cx="3931920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None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人と板が移動する行動を扱う。スポーツ以外の公式区分に整理されている。</a:t>
            </a:r>
            <a:endParaRPr sz="2100"/>
          </a:p>
        </p:txBody>
      </p:sp>
      <p:sp>
        <p:nvSpPr>
          <p:cNvPr id="9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850">
                <a:latin typeface="Noto Sans CJK JP"/>
              </a:defRPr>
              <a:spcAft>
                <a:spcPts val="700"/>
              </a:spcAft>
              <a:buNone/>
            </a:pPr>
            <a:r>
              <a:rPr sz="850" lang="ja-JP">
                <a:solidFill>
                  <a:srgbClr val="303437"/>
                </a:solidFill>
                <a:latin typeface="Noto Sans CJK JP"/>
                <a:ea typeface="Noto Sans CJK JP"/>
              </a:rPr>
              <a:t>[1] Soomro et al. (2012), Figure 2. https://arxiv.org/abs/1212.0402 / SkateBoarding</a:t>
            </a:r>
            <a:endParaRPr sz="85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人と物との相互作用のカテゴリ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3 101カテゴリの一覧</a:t>
            </a:r>
            <a:endParaRPr sz="1400"/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ApplyEyeMakeup</a:t>
            </a:r>
            <a:endParaRPr sz="2100"/>
          </a:p>
        </p:txBody>
      </p:sp>
      <p:sp>
        <p:nvSpPr>
          <p:cNvPr id="5" name="TextBox 4"/>
          <p:cNvSpPr txBox="1"/>
          <p:nvPr/>
        </p:nvSpPr>
        <p:spPr>
          <a:xfrm>
            <a:off x="3794760" y="1517904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1</a:t>
            </a:r>
            <a:endParaRPr sz="850"/>
          </a:p>
        </p:txBody>
      </p:sp>
      <p:sp>
        <p:nvSpPr>
          <p:cNvPr id="6" name="TextBox 5"/>
          <p:cNvSpPr txBox="1"/>
          <p:nvPr/>
        </p:nvSpPr>
        <p:spPr>
          <a:xfrm>
            <a:off x="59436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ApplyLipstick</a:t>
            </a:r>
            <a:endParaRPr sz="2100"/>
          </a:p>
        </p:txBody>
      </p:sp>
      <p:sp>
        <p:nvSpPr>
          <p:cNvPr id="7" name="TextBox 6"/>
          <p:cNvSpPr txBox="1"/>
          <p:nvPr/>
        </p:nvSpPr>
        <p:spPr>
          <a:xfrm>
            <a:off x="3794760" y="1828800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2</a:t>
            </a:r>
            <a:endParaRPr sz="850"/>
          </a:p>
        </p:txBody>
      </p:sp>
      <p:sp>
        <p:nvSpPr>
          <p:cNvPr id="8" name="TextBox 7"/>
          <p:cNvSpPr txBox="1"/>
          <p:nvPr/>
        </p:nvSpPr>
        <p:spPr>
          <a:xfrm>
            <a:off x="59436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BlowDryHair</a:t>
            </a:r>
            <a:endParaRPr sz="2100"/>
          </a:p>
        </p:txBody>
      </p:sp>
      <p:sp>
        <p:nvSpPr>
          <p:cNvPr id="9" name="TextBox 8"/>
          <p:cNvSpPr txBox="1"/>
          <p:nvPr/>
        </p:nvSpPr>
        <p:spPr>
          <a:xfrm>
            <a:off x="3794760" y="2139696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13</a:t>
            </a:r>
            <a:endParaRPr sz="850"/>
          </a:p>
        </p:txBody>
      </p:sp>
      <p:sp>
        <p:nvSpPr>
          <p:cNvPr id="10" name="TextBox 9"/>
          <p:cNvSpPr txBox="1"/>
          <p:nvPr/>
        </p:nvSpPr>
        <p:spPr>
          <a:xfrm>
            <a:off x="59436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BrushingTeeth</a:t>
            </a:r>
            <a:endParaRPr sz="2100"/>
          </a:p>
        </p:txBody>
      </p:sp>
      <p:sp>
        <p:nvSpPr>
          <p:cNvPr id="11" name="TextBox 10"/>
          <p:cNvSpPr txBox="1"/>
          <p:nvPr/>
        </p:nvSpPr>
        <p:spPr>
          <a:xfrm>
            <a:off x="3794760" y="2450592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20</a:t>
            </a:r>
            <a:endParaRPr sz="850"/>
          </a:p>
        </p:txBody>
      </p:sp>
      <p:sp>
        <p:nvSpPr>
          <p:cNvPr id="12" name="TextBox 11"/>
          <p:cNvSpPr txBox="1"/>
          <p:nvPr/>
        </p:nvSpPr>
        <p:spPr>
          <a:xfrm>
            <a:off x="59436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CuttingInKitchen</a:t>
            </a:r>
            <a:endParaRPr sz="2100"/>
          </a:p>
        </p:txBody>
      </p:sp>
      <p:sp>
        <p:nvSpPr>
          <p:cNvPr id="13" name="TextBox 12"/>
          <p:cNvSpPr txBox="1"/>
          <p:nvPr/>
        </p:nvSpPr>
        <p:spPr>
          <a:xfrm>
            <a:off x="3794760" y="2761488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25</a:t>
            </a:r>
            <a:endParaRPr sz="850"/>
          </a:p>
        </p:txBody>
      </p:sp>
      <p:sp>
        <p:nvSpPr>
          <p:cNvPr id="14" name="TextBox 13"/>
          <p:cNvSpPr txBox="1"/>
          <p:nvPr/>
        </p:nvSpPr>
        <p:spPr>
          <a:xfrm>
            <a:off x="59436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Hammering</a:t>
            </a:r>
            <a:endParaRPr sz="2100"/>
          </a:p>
        </p:txBody>
      </p:sp>
      <p:sp>
        <p:nvSpPr>
          <p:cNvPr id="15" name="TextBox 14"/>
          <p:cNvSpPr txBox="1"/>
          <p:nvPr/>
        </p:nvSpPr>
        <p:spPr>
          <a:xfrm>
            <a:off x="3794760" y="3072384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35</a:t>
            </a:r>
            <a:endParaRPr sz="850"/>
          </a:p>
        </p:txBody>
      </p:sp>
      <p:sp>
        <p:nvSpPr>
          <p:cNvPr id="16" name="TextBox 15"/>
          <p:cNvSpPr txBox="1"/>
          <p:nvPr/>
        </p:nvSpPr>
        <p:spPr>
          <a:xfrm>
            <a:off x="59436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HulaHoop</a:t>
            </a:r>
            <a:endParaRPr sz="2100"/>
          </a:p>
        </p:txBody>
      </p:sp>
      <p:sp>
        <p:nvSpPr>
          <p:cNvPr id="17" name="TextBox 16"/>
          <p:cNvSpPr txBox="1"/>
          <p:nvPr/>
        </p:nvSpPr>
        <p:spPr>
          <a:xfrm>
            <a:off x="3794760" y="3383280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43</a:t>
            </a:r>
            <a:endParaRPr sz="850"/>
          </a:p>
        </p:txBody>
      </p:sp>
      <p:sp>
        <p:nvSpPr>
          <p:cNvPr id="18" name="TextBox 17"/>
          <p:cNvSpPr txBox="1"/>
          <p:nvPr/>
        </p:nvSpPr>
        <p:spPr>
          <a:xfrm>
            <a:off x="59436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JugglingBalls</a:t>
            </a:r>
            <a:endParaRPr sz="2100"/>
          </a:p>
        </p:txBody>
      </p:sp>
      <p:sp>
        <p:nvSpPr>
          <p:cNvPr id="19" name="TextBox 18"/>
          <p:cNvSpPr txBox="1"/>
          <p:nvPr/>
        </p:nvSpPr>
        <p:spPr>
          <a:xfrm>
            <a:off x="3794760" y="3694176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46</a:t>
            </a:r>
            <a:endParaRPr sz="850"/>
          </a:p>
        </p:txBody>
      </p:sp>
      <p:sp>
        <p:nvSpPr>
          <p:cNvPr id="20" name="TextBox 19"/>
          <p:cNvSpPr txBox="1"/>
          <p:nvPr/>
        </p:nvSpPr>
        <p:spPr>
          <a:xfrm>
            <a:off x="594360" y="395020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JumpRope</a:t>
            </a:r>
            <a:endParaRPr sz="2100"/>
          </a:p>
        </p:txBody>
      </p:sp>
      <p:sp>
        <p:nvSpPr>
          <p:cNvPr id="21" name="TextBox 20"/>
          <p:cNvSpPr txBox="1"/>
          <p:nvPr/>
        </p:nvSpPr>
        <p:spPr>
          <a:xfrm>
            <a:off x="3794760" y="4005072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48</a:t>
            </a:r>
            <a:endParaRPr sz="850"/>
          </a:p>
        </p:txBody>
      </p:sp>
      <p:sp>
        <p:nvSpPr>
          <p:cNvPr id="22" name="TextBox 21"/>
          <p:cNvSpPr txBox="1"/>
          <p:nvPr/>
        </p:nvSpPr>
        <p:spPr>
          <a:xfrm>
            <a:off x="594360" y="426110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Knitting</a:t>
            </a:r>
            <a:endParaRPr sz="2100"/>
          </a:p>
        </p:txBody>
      </p:sp>
      <p:sp>
        <p:nvSpPr>
          <p:cNvPr id="23" name="TextBox 22"/>
          <p:cNvSpPr txBox="1"/>
          <p:nvPr/>
        </p:nvSpPr>
        <p:spPr>
          <a:xfrm>
            <a:off x="3794760" y="4315968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50</a:t>
            </a:r>
            <a:endParaRPr sz="850"/>
          </a:p>
        </p:txBody>
      </p:sp>
      <p:sp>
        <p:nvSpPr>
          <p:cNvPr id="24" name="TextBox 23"/>
          <p:cNvSpPr txBox="1"/>
          <p:nvPr/>
        </p:nvSpPr>
        <p:spPr>
          <a:xfrm>
            <a:off x="475488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Mixing</a:t>
            </a:r>
            <a:endParaRPr sz="2100"/>
          </a:p>
        </p:txBody>
      </p:sp>
      <p:sp>
        <p:nvSpPr>
          <p:cNvPr id="25" name="TextBox 24"/>
          <p:cNvSpPr txBox="1"/>
          <p:nvPr/>
        </p:nvSpPr>
        <p:spPr>
          <a:xfrm>
            <a:off x="7955279" y="1517904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54</a:t>
            </a:r>
            <a:endParaRPr sz="850"/>
          </a:p>
        </p:txBody>
      </p:sp>
      <p:sp>
        <p:nvSpPr>
          <p:cNvPr id="26" name="TextBox 25"/>
          <p:cNvSpPr txBox="1"/>
          <p:nvPr/>
        </p:nvSpPr>
        <p:spPr>
          <a:xfrm>
            <a:off x="475488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MoppingFloor</a:t>
            </a:r>
            <a:endParaRPr sz="2100"/>
          </a:p>
        </p:txBody>
      </p:sp>
      <p:sp>
        <p:nvSpPr>
          <p:cNvPr id="27" name="TextBox 26"/>
          <p:cNvSpPr txBox="1"/>
          <p:nvPr/>
        </p:nvSpPr>
        <p:spPr>
          <a:xfrm>
            <a:off x="7955279" y="1828800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55</a:t>
            </a:r>
            <a:endParaRPr sz="850"/>
          </a:p>
        </p:txBody>
      </p:sp>
      <p:sp>
        <p:nvSpPr>
          <p:cNvPr id="28" name="TextBox 27"/>
          <p:cNvSpPr txBox="1"/>
          <p:nvPr/>
        </p:nvSpPr>
        <p:spPr>
          <a:xfrm>
            <a:off x="475488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Nunchucks</a:t>
            </a:r>
            <a:endParaRPr sz="2100"/>
          </a:p>
        </p:txBody>
      </p:sp>
      <p:sp>
        <p:nvSpPr>
          <p:cNvPr id="29" name="TextBox 28"/>
          <p:cNvSpPr txBox="1"/>
          <p:nvPr/>
        </p:nvSpPr>
        <p:spPr>
          <a:xfrm>
            <a:off x="7955279" y="2139696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56</a:t>
            </a:r>
            <a:endParaRPr sz="850"/>
          </a:p>
        </p:txBody>
      </p:sp>
      <p:sp>
        <p:nvSpPr>
          <p:cNvPr id="30" name="TextBox 29"/>
          <p:cNvSpPr txBox="1"/>
          <p:nvPr/>
        </p:nvSpPr>
        <p:spPr>
          <a:xfrm>
            <a:off x="475488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PizzaTossing</a:t>
            </a:r>
            <a:endParaRPr sz="2100"/>
          </a:p>
        </p:txBody>
      </p:sp>
      <p:sp>
        <p:nvSpPr>
          <p:cNvPr id="31" name="TextBox 30"/>
          <p:cNvSpPr txBox="1"/>
          <p:nvPr/>
        </p:nvSpPr>
        <p:spPr>
          <a:xfrm>
            <a:off x="7955279" y="2450592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58</a:t>
            </a:r>
            <a:endParaRPr sz="850"/>
          </a:p>
        </p:txBody>
      </p:sp>
      <p:sp>
        <p:nvSpPr>
          <p:cNvPr id="32" name="TextBox 31"/>
          <p:cNvSpPr txBox="1"/>
          <p:nvPr/>
        </p:nvSpPr>
        <p:spPr>
          <a:xfrm>
            <a:off x="475488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ShavingBeard</a:t>
            </a:r>
            <a:endParaRPr sz="2100"/>
          </a:p>
        </p:txBody>
      </p:sp>
      <p:sp>
        <p:nvSpPr>
          <p:cNvPr id="33" name="TextBox 32"/>
          <p:cNvSpPr txBox="1"/>
          <p:nvPr/>
        </p:nvSpPr>
        <p:spPr>
          <a:xfrm>
            <a:off x="7955279" y="2761488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78</a:t>
            </a:r>
            <a:endParaRPr sz="850"/>
          </a:p>
        </p:txBody>
      </p:sp>
      <p:sp>
        <p:nvSpPr>
          <p:cNvPr id="34" name="TextBox 33"/>
          <p:cNvSpPr txBox="1"/>
          <p:nvPr/>
        </p:nvSpPr>
        <p:spPr>
          <a:xfrm>
            <a:off x="475488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SkateBoarding</a:t>
            </a:r>
            <a:endParaRPr sz="2100"/>
          </a:p>
        </p:txBody>
      </p:sp>
      <p:sp>
        <p:nvSpPr>
          <p:cNvPr id="35" name="TextBox 34"/>
          <p:cNvSpPr txBox="1"/>
          <p:nvPr/>
        </p:nvSpPr>
        <p:spPr>
          <a:xfrm>
            <a:off x="7955279" y="3072384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80</a:t>
            </a:r>
            <a:endParaRPr sz="850"/>
          </a:p>
        </p:txBody>
      </p:sp>
      <p:sp>
        <p:nvSpPr>
          <p:cNvPr id="36" name="TextBox 35"/>
          <p:cNvSpPr txBox="1"/>
          <p:nvPr/>
        </p:nvSpPr>
        <p:spPr>
          <a:xfrm>
            <a:off x="475488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SoccerJuggling</a:t>
            </a:r>
            <a:endParaRPr sz="2100"/>
          </a:p>
        </p:txBody>
      </p:sp>
      <p:sp>
        <p:nvSpPr>
          <p:cNvPr id="37" name="TextBox 36"/>
          <p:cNvSpPr txBox="1"/>
          <p:nvPr/>
        </p:nvSpPr>
        <p:spPr>
          <a:xfrm>
            <a:off x="7955279" y="3383280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84</a:t>
            </a:r>
            <a:endParaRPr sz="850"/>
          </a:p>
        </p:txBody>
      </p:sp>
      <p:sp>
        <p:nvSpPr>
          <p:cNvPr id="38" name="TextBox 37"/>
          <p:cNvSpPr txBox="1"/>
          <p:nvPr/>
        </p:nvSpPr>
        <p:spPr>
          <a:xfrm>
            <a:off x="475488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Typing</a:t>
            </a:r>
            <a:endParaRPr sz="2100"/>
          </a:p>
        </p:txBody>
      </p:sp>
      <p:sp>
        <p:nvSpPr>
          <p:cNvPr id="39" name="TextBox 38"/>
          <p:cNvSpPr txBox="1"/>
          <p:nvPr/>
        </p:nvSpPr>
        <p:spPr>
          <a:xfrm>
            <a:off x="7955279" y="3694176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95</a:t>
            </a:r>
            <a:endParaRPr sz="850"/>
          </a:p>
        </p:txBody>
      </p:sp>
      <p:sp>
        <p:nvSpPr>
          <p:cNvPr id="40" name="TextBox 39"/>
          <p:cNvSpPr txBox="1"/>
          <p:nvPr/>
        </p:nvSpPr>
        <p:spPr>
          <a:xfrm>
            <a:off x="4754880" y="395020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WritingOnBoard</a:t>
            </a:r>
            <a:endParaRPr sz="2100"/>
          </a:p>
        </p:txBody>
      </p:sp>
      <p:sp>
        <p:nvSpPr>
          <p:cNvPr id="41" name="TextBox 40"/>
          <p:cNvSpPr txBox="1"/>
          <p:nvPr/>
        </p:nvSpPr>
        <p:spPr>
          <a:xfrm>
            <a:off x="7955279" y="4005072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100</a:t>
            </a:r>
            <a:endParaRPr sz="850"/>
          </a:p>
        </p:txBody>
      </p:sp>
      <p:sp>
        <p:nvSpPr>
          <p:cNvPr id="42" name="TextBox 41"/>
          <p:cNvSpPr txBox="1"/>
          <p:nvPr/>
        </p:nvSpPr>
        <p:spPr>
          <a:xfrm>
            <a:off x="4754880" y="426110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YoYo</a:t>
            </a:r>
            <a:endParaRPr sz="2100"/>
          </a:p>
        </p:txBody>
      </p:sp>
      <p:sp>
        <p:nvSpPr>
          <p:cNvPr id="43" name="TextBox 42"/>
          <p:cNvSpPr txBox="1"/>
          <p:nvPr/>
        </p:nvSpPr>
        <p:spPr>
          <a:xfrm>
            <a:off x="7955279" y="4315968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101</a:t>
            </a:r>
            <a:endParaRPr sz="850"/>
          </a:p>
        </p:txBody>
      </p:sp>
      <p:sp>
        <p:nvSpPr>
          <p:cNvPr id="44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配布classInd.txtの全101カテゴリ。右側はクラスID. https://github.com/yjxiong/temporal-segment-networks/tree/master/data/ucf101_splits</a:t>
            </a:r>
            <a:endParaRPr sz="850"/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[2]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5つの型は原著Figure 2に基づく. https://arxiv.org/abs/1212.0402</a:t>
            </a:r>
            <a:endParaRPr sz="85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身体の動きのカテゴリ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3 101カテゴリの一覧</a:t>
            </a:r>
            <a:endParaRPr sz="1400"/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BabyCrawling</a:t>
            </a:r>
            <a:endParaRPr sz="2100"/>
          </a:p>
        </p:txBody>
      </p:sp>
      <p:sp>
        <p:nvSpPr>
          <p:cNvPr id="5" name="TextBox 4"/>
          <p:cNvSpPr txBox="1"/>
          <p:nvPr/>
        </p:nvSpPr>
        <p:spPr>
          <a:xfrm>
            <a:off x="3794760" y="1517904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4</a:t>
            </a:r>
            <a:endParaRPr sz="850"/>
          </a:p>
        </p:txBody>
      </p:sp>
      <p:sp>
        <p:nvSpPr>
          <p:cNvPr id="6" name="TextBox 5"/>
          <p:cNvSpPr txBox="1"/>
          <p:nvPr/>
        </p:nvSpPr>
        <p:spPr>
          <a:xfrm>
            <a:off x="59436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BlowingCandles</a:t>
            </a:r>
            <a:endParaRPr sz="2100"/>
          </a:p>
        </p:txBody>
      </p:sp>
      <p:sp>
        <p:nvSpPr>
          <p:cNvPr id="7" name="TextBox 6"/>
          <p:cNvSpPr txBox="1"/>
          <p:nvPr/>
        </p:nvSpPr>
        <p:spPr>
          <a:xfrm>
            <a:off x="3794760" y="1828800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14</a:t>
            </a:r>
            <a:endParaRPr sz="850"/>
          </a:p>
        </p:txBody>
      </p:sp>
      <p:sp>
        <p:nvSpPr>
          <p:cNvPr id="8" name="TextBox 7"/>
          <p:cNvSpPr txBox="1"/>
          <p:nvPr/>
        </p:nvSpPr>
        <p:spPr>
          <a:xfrm>
            <a:off x="59436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BodyWeightSquats</a:t>
            </a:r>
            <a:endParaRPr sz="2100"/>
          </a:p>
        </p:txBody>
      </p:sp>
      <p:sp>
        <p:nvSpPr>
          <p:cNvPr id="9" name="TextBox 8"/>
          <p:cNvSpPr txBox="1"/>
          <p:nvPr/>
        </p:nvSpPr>
        <p:spPr>
          <a:xfrm>
            <a:off x="3794760" y="2139696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15</a:t>
            </a:r>
            <a:endParaRPr sz="850"/>
          </a:p>
        </p:txBody>
      </p:sp>
      <p:sp>
        <p:nvSpPr>
          <p:cNvPr id="10" name="TextBox 9"/>
          <p:cNvSpPr txBox="1"/>
          <p:nvPr/>
        </p:nvSpPr>
        <p:spPr>
          <a:xfrm>
            <a:off x="59436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HandstandPushups</a:t>
            </a:r>
            <a:endParaRPr sz="2100"/>
          </a:p>
        </p:txBody>
      </p:sp>
      <p:sp>
        <p:nvSpPr>
          <p:cNvPr id="11" name="TextBox 10"/>
          <p:cNvSpPr txBox="1"/>
          <p:nvPr/>
        </p:nvSpPr>
        <p:spPr>
          <a:xfrm>
            <a:off x="3794760" y="2450592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37</a:t>
            </a:r>
            <a:endParaRPr sz="850"/>
          </a:p>
        </p:txBody>
      </p:sp>
      <p:sp>
        <p:nvSpPr>
          <p:cNvPr id="12" name="TextBox 11"/>
          <p:cNvSpPr txBox="1"/>
          <p:nvPr/>
        </p:nvSpPr>
        <p:spPr>
          <a:xfrm>
            <a:off x="59436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HandstandWalking</a:t>
            </a:r>
            <a:endParaRPr sz="2100"/>
          </a:p>
        </p:txBody>
      </p:sp>
      <p:sp>
        <p:nvSpPr>
          <p:cNvPr id="13" name="TextBox 12"/>
          <p:cNvSpPr txBox="1"/>
          <p:nvPr/>
        </p:nvSpPr>
        <p:spPr>
          <a:xfrm>
            <a:off x="3794760" y="2761488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38</a:t>
            </a:r>
            <a:endParaRPr sz="850"/>
          </a:p>
        </p:txBody>
      </p:sp>
      <p:sp>
        <p:nvSpPr>
          <p:cNvPr id="14" name="TextBox 13"/>
          <p:cNvSpPr txBox="1"/>
          <p:nvPr/>
        </p:nvSpPr>
        <p:spPr>
          <a:xfrm>
            <a:off x="59436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JumpingJack</a:t>
            </a:r>
            <a:endParaRPr sz="2100"/>
          </a:p>
        </p:txBody>
      </p:sp>
      <p:sp>
        <p:nvSpPr>
          <p:cNvPr id="15" name="TextBox 14"/>
          <p:cNvSpPr txBox="1"/>
          <p:nvPr/>
        </p:nvSpPr>
        <p:spPr>
          <a:xfrm>
            <a:off x="3794760" y="3072384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47</a:t>
            </a:r>
            <a:endParaRPr sz="850"/>
          </a:p>
        </p:txBody>
      </p:sp>
      <p:sp>
        <p:nvSpPr>
          <p:cNvPr id="16" name="TextBox 15"/>
          <p:cNvSpPr txBox="1"/>
          <p:nvPr/>
        </p:nvSpPr>
        <p:spPr>
          <a:xfrm>
            <a:off x="59436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Lunges</a:t>
            </a:r>
            <a:endParaRPr sz="2100"/>
          </a:p>
        </p:txBody>
      </p:sp>
      <p:sp>
        <p:nvSpPr>
          <p:cNvPr id="17" name="TextBox 16"/>
          <p:cNvSpPr txBox="1"/>
          <p:nvPr/>
        </p:nvSpPr>
        <p:spPr>
          <a:xfrm>
            <a:off x="3794760" y="3383280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52</a:t>
            </a:r>
            <a:endParaRPr sz="850"/>
          </a:p>
        </p:txBody>
      </p:sp>
      <p:sp>
        <p:nvSpPr>
          <p:cNvPr id="18" name="TextBox 17"/>
          <p:cNvSpPr txBox="1"/>
          <p:nvPr/>
        </p:nvSpPr>
        <p:spPr>
          <a:xfrm>
            <a:off x="59436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PullUps</a:t>
            </a:r>
            <a:endParaRPr sz="2100"/>
          </a:p>
        </p:txBody>
      </p:sp>
      <p:sp>
        <p:nvSpPr>
          <p:cNvPr id="19" name="TextBox 18"/>
          <p:cNvSpPr txBox="1"/>
          <p:nvPr/>
        </p:nvSpPr>
        <p:spPr>
          <a:xfrm>
            <a:off x="3794760" y="3694176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70</a:t>
            </a:r>
            <a:endParaRPr sz="850"/>
          </a:p>
        </p:txBody>
      </p:sp>
      <p:sp>
        <p:nvSpPr>
          <p:cNvPr id="20" name="TextBox 19"/>
          <p:cNvSpPr txBox="1"/>
          <p:nvPr/>
        </p:nvSpPr>
        <p:spPr>
          <a:xfrm>
            <a:off x="475488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PushUps</a:t>
            </a:r>
            <a:endParaRPr sz="2100"/>
          </a:p>
        </p:txBody>
      </p:sp>
      <p:sp>
        <p:nvSpPr>
          <p:cNvPr id="21" name="TextBox 20"/>
          <p:cNvSpPr txBox="1"/>
          <p:nvPr/>
        </p:nvSpPr>
        <p:spPr>
          <a:xfrm>
            <a:off x="7955279" y="1517904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72</a:t>
            </a:r>
            <a:endParaRPr sz="850"/>
          </a:p>
        </p:txBody>
      </p:sp>
      <p:sp>
        <p:nvSpPr>
          <p:cNvPr id="22" name="TextBox 21"/>
          <p:cNvSpPr txBox="1"/>
          <p:nvPr/>
        </p:nvSpPr>
        <p:spPr>
          <a:xfrm>
            <a:off x="475488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RockClimbingIndoor</a:t>
            </a:r>
            <a:endParaRPr sz="2100"/>
          </a:p>
        </p:txBody>
      </p:sp>
      <p:sp>
        <p:nvSpPr>
          <p:cNvPr id="23" name="TextBox 22"/>
          <p:cNvSpPr txBox="1"/>
          <p:nvPr/>
        </p:nvSpPr>
        <p:spPr>
          <a:xfrm>
            <a:off x="7955279" y="1828800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74</a:t>
            </a:r>
            <a:endParaRPr sz="850"/>
          </a:p>
        </p:txBody>
      </p:sp>
      <p:sp>
        <p:nvSpPr>
          <p:cNvPr id="24" name="TextBox 23"/>
          <p:cNvSpPr txBox="1"/>
          <p:nvPr/>
        </p:nvSpPr>
        <p:spPr>
          <a:xfrm>
            <a:off x="475488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RopeClimbing</a:t>
            </a:r>
            <a:endParaRPr sz="2100"/>
          </a:p>
        </p:txBody>
      </p:sp>
      <p:sp>
        <p:nvSpPr>
          <p:cNvPr id="25" name="TextBox 24"/>
          <p:cNvSpPr txBox="1"/>
          <p:nvPr/>
        </p:nvSpPr>
        <p:spPr>
          <a:xfrm>
            <a:off x="7955279" y="2139696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75</a:t>
            </a:r>
            <a:endParaRPr sz="850"/>
          </a:p>
        </p:txBody>
      </p:sp>
      <p:sp>
        <p:nvSpPr>
          <p:cNvPr id="26" name="TextBox 25"/>
          <p:cNvSpPr txBox="1"/>
          <p:nvPr/>
        </p:nvSpPr>
        <p:spPr>
          <a:xfrm>
            <a:off x="475488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Swing</a:t>
            </a:r>
            <a:endParaRPr sz="2100"/>
          </a:p>
        </p:txBody>
      </p:sp>
      <p:sp>
        <p:nvSpPr>
          <p:cNvPr id="27" name="TextBox 26"/>
          <p:cNvSpPr txBox="1"/>
          <p:nvPr/>
        </p:nvSpPr>
        <p:spPr>
          <a:xfrm>
            <a:off x="7955279" y="2450592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89</a:t>
            </a:r>
            <a:endParaRPr sz="850"/>
          </a:p>
        </p:txBody>
      </p:sp>
      <p:sp>
        <p:nvSpPr>
          <p:cNvPr id="28" name="TextBox 27"/>
          <p:cNvSpPr txBox="1"/>
          <p:nvPr/>
        </p:nvSpPr>
        <p:spPr>
          <a:xfrm>
            <a:off x="475488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TaiChi</a:t>
            </a:r>
            <a:endParaRPr sz="2100"/>
          </a:p>
        </p:txBody>
      </p:sp>
      <p:sp>
        <p:nvSpPr>
          <p:cNvPr id="29" name="TextBox 28"/>
          <p:cNvSpPr txBox="1"/>
          <p:nvPr/>
        </p:nvSpPr>
        <p:spPr>
          <a:xfrm>
            <a:off x="7955279" y="2761488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91</a:t>
            </a:r>
            <a:endParaRPr sz="850"/>
          </a:p>
        </p:txBody>
      </p:sp>
      <p:sp>
        <p:nvSpPr>
          <p:cNvPr id="30" name="TextBox 29"/>
          <p:cNvSpPr txBox="1"/>
          <p:nvPr/>
        </p:nvSpPr>
        <p:spPr>
          <a:xfrm>
            <a:off x="475488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TrampolineJumping</a:t>
            </a:r>
            <a:endParaRPr sz="2100"/>
          </a:p>
        </p:txBody>
      </p:sp>
      <p:sp>
        <p:nvSpPr>
          <p:cNvPr id="31" name="TextBox 30"/>
          <p:cNvSpPr txBox="1"/>
          <p:nvPr/>
        </p:nvSpPr>
        <p:spPr>
          <a:xfrm>
            <a:off x="7955279" y="3072384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94</a:t>
            </a:r>
            <a:endParaRPr sz="850"/>
          </a:p>
        </p:txBody>
      </p:sp>
      <p:sp>
        <p:nvSpPr>
          <p:cNvPr id="32" name="TextBox 31"/>
          <p:cNvSpPr txBox="1"/>
          <p:nvPr/>
        </p:nvSpPr>
        <p:spPr>
          <a:xfrm>
            <a:off x="475488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WalkingWithDog</a:t>
            </a:r>
            <a:endParaRPr sz="2100"/>
          </a:p>
        </p:txBody>
      </p:sp>
      <p:sp>
        <p:nvSpPr>
          <p:cNvPr id="33" name="TextBox 32"/>
          <p:cNvSpPr txBox="1"/>
          <p:nvPr/>
        </p:nvSpPr>
        <p:spPr>
          <a:xfrm>
            <a:off x="7955279" y="3383280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98</a:t>
            </a:r>
            <a:endParaRPr sz="850"/>
          </a:p>
        </p:txBody>
      </p:sp>
      <p:sp>
        <p:nvSpPr>
          <p:cNvPr id="34" name="TextBox 33"/>
          <p:cNvSpPr txBox="1"/>
          <p:nvPr/>
        </p:nvSpPr>
        <p:spPr>
          <a:xfrm>
            <a:off x="475488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WallPushups</a:t>
            </a:r>
            <a:endParaRPr sz="2100"/>
          </a:p>
        </p:txBody>
      </p:sp>
      <p:sp>
        <p:nvSpPr>
          <p:cNvPr id="35" name="TextBox 34"/>
          <p:cNvSpPr txBox="1"/>
          <p:nvPr/>
        </p:nvSpPr>
        <p:spPr>
          <a:xfrm>
            <a:off x="7955279" y="3694176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99</a:t>
            </a:r>
            <a:endParaRPr sz="850"/>
          </a:p>
        </p:txBody>
      </p:sp>
      <p:sp>
        <p:nvSpPr>
          <p:cNvPr id="36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配布classInd.txtの全101カテゴリ。右側はクラスID. https://github.com/yjxiong/temporal-segment-networks/tree/master/data/ucf101_splits</a:t>
            </a:r>
            <a:endParaRPr sz="850"/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[2]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5つの型は原著Figure 2に基づく. https://arxiv.org/abs/1212.0402</a:t>
            </a:r>
            <a:endParaRPr sz="85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人と人との相互作用のカテゴリ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3 101カテゴリの一覧</a:t>
            </a:r>
            <a:endParaRPr sz="1400"/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600">
                <a:latin typeface="Liberation Sans"/>
              </a:defRPr>
              <a:buNone/>
            </a:pPr>
            <a:r>
              <a:rPr sz="2600" lang="en-US">
                <a:solidFill>
                  <a:srgbClr val="303437"/>
                </a:solidFill>
                <a:latin typeface="Liberation Sans"/>
                <a:ea typeface="Liberation Sans"/>
              </a:rPr>
              <a:t>BandMarching</a:t>
            </a:r>
            <a:endParaRPr sz="2600"/>
          </a:p>
        </p:txBody>
      </p:sp>
      <p:sp>
        <p:nvSpPr>
          <p:cNvPr id="5" name="TextBox 4"/>
          <p:cNvSpPr txBox="1"/>
          <p:nvPr/>
        </p:nvSpPr>
        <p:spPr>
          <a:xfrm>
            <a:off x="3794760" y="1517904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6</a:t>
            </a:r>
            <a:endParaRPr sz="850"/>
          </a:p>
        </p:txBody>
      </p:sp>
      <p:sp>
        <p:nvSpPr>
          <p:cNvPr id="6" name="TextBox 5"/>
          <p:cNvSpPr txBox="1"/>
          <p:nvPr/>
        </p:nvSpPr>
        <p:spPr>
          <a:xfrm>
            <a:off x="594360" y="1874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600">
                <a:latin typeface="Liberation Sans"/>
              </a:defRPr>
              <a:buNone/>
            </a:pPr>
            <a:r>
              <a:rPr sz="2600" lang="en-US">
                <a:solidFill>
                  <a:srgbClr val="303437"/>
                </a:solidFill>
                <a:latin typeface="Liberation Sans"/>
                <a:ea typeface="Liberation Sans"/>
              </a:rPr>
              <a:t>Haircut</a:t>
            </a:r>
            <a:endParaRPr sz="2600"/>
          </a:p>
        </p:txBody>
      </p:sp>
      <p:sp>
        <p:nvSpPr>
          <p:cNvPr id="7" name="TextBox 6"/>
          <p:cNvSpPr txBox="1"/>
          <p:nvPr/>
        </p:nvSpPr>
        <p:spPr>
          <a:xfrm>
            <a:off x="3794760" y="1929384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34</a:t>
            </a:r>
            <a:endParaRPr sz="850"/>
          </a:p>
        </p:txBody>
      </p:sp>
      <p:sp>
        <p:nvSpPr>
          <p:cNvPr id="8" name="TextBox 7"/>
          <p:cNvSpPr txBox="1"/>
          <p:nvPr/>
        </p:nvSpPr>
        <p:spPr>
          <a:xfrm>
            <a:off x="594360" y="228600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600">
                <a:latin typeface="Liberation Sans"/>
              </a:defRPr>
              <a:buNone/>
            </a:pPr>
            <a:r>
              <a:rPr sz="2600" lang="en-US">
                <a:solidFill>
                  <a:srgbClr val="303437"/>
                </a:solidFill>
                <a:latin typeface="Liberation Sans"/>
                <a:ea typeface="Liberation Sans"/>
              </a:rPr>
              <a:t>HeadMassage</a:t>
            </a:r>
            <a:endParaRPr sz="2600"/>
          </a:p>
        </p:txBody>
      </p:sp>
      <p:sp>
        <p:nvSpPr>
          <p:cNvPr id="9" name="TextBox 8"/>
          <p:cNvSpPr txBox="1"/>
          <p:nvPr/>
        </p:nvSpPr>
        <p:spPr>
          <a:xfrm>
            <a:off x="3794760" y="2340864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39</a:t>
            </a:r>
            <a:endParaRPr sz="850"/>
          </a:p>
        </p:txBody>
      </p:sp>
      <p:sp>
        <p:nvSpPr>
          <p:cNvPr id="10" name="TextBox 9"/>
          <p:cNvSpPr txBox="1"/>
          <p:nvPr/>
        </p:nvSpPr>
        <p:spPr>
          <a:xfrm>
            <a:off x="475488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600">
                <a:latin typeface="Liberation Sans"/>
              </a:defRPr>
              <a:buNone/>
            </a:pPr>
            <a:r>
              <a:rPr sz="2600" lang="en-US">
                <a:solidFill>
                  <a:srgbClr val="303437"/>
                </a:solidFill>
                <a:latin typeface="Liberation Sans"/>
                <a:ea typeface="Liberation Sans"/>
              </a:rPr>
              <a:t>MilitaryParade</a:t>
            </a:r>
            <a:endParaRPr sz="2600"/>
          </a:p>
        </p:txBody>
      </p:sp>
      <p:sp>
        <p:nvSpPr>
          <p:cNvPr id="11" name="TextBox 10"/>
          <p:cNvSpPr txBox="1"/>
          <p:nvPr/>
        </p:nvSpPr>
        <p:spPr>
          <a:xfrm>
            <a:off x="7955279" y="1517904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53</a:t>
            </a:r>
            <a:endParaRPr sz="850"/>
          </a:p>
        </p:txBody>
      </p:sp>
      <p:sp>
        <p:nvSpPr>
          <p:cNvPr id="12" name="TextBox 11"/>
          <p:cNvSpPr txBox="1"/>
          <p:nvPr/>
        </p:nvSpPr>
        <p:spPr>
          <a:xfrm>
            <a:off x="4754880" y="1874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600">
                <a:latin typeface="Liberation Sans"/>
              </a:defRPr>
              <a:buNone/>
            </a:pPr>
            <a:r>
              <a:rPr sz="2600" lang="en-US">
                <a:solidFill>
                  <a:srgbClr val="303437"/>
                </a:solidFill>
                <a:latin typeface="Liberation Sans"/>
                <a:ea typeface="Liberation Sans"/>
              </a:rPr>
              <a:t>SalsaSpin</a:t>
            </a:r>
            <a:endParaRPr sz="2600"/>
          </a:p>
        </p:txBody>
      </p:sp>
      <p:sp>
        <p:nvSpPr>
          <p:cNvPr id="13" name="TextBox 12"/>
          <p:cNvSpPr txBox="1"/>
          <p:nvPr/>
        </p:nvSpPr>
        <p:spPr>
          <a:xfrm>
            <a:off x="7955279" y="1929384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77</a:t>
            </a:r>
            <a:endParaRPr sz="850"/>
          </a:p>
        </p:txBody>
      </p:sp>
      <p:sp>
        <p:nvSpPr>
          <p:cNvPr id="14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配布classInd.txtの全101カテゴリ。右側はクラスID. https://github.com/yjxiong/temporal-segment-networks/tree/master/data/ucf101_splits</a:t>
            </a:r>
            <a:endParaRPr sz="850"/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[2]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5つの型は原著Figure 2に基づく. https://arxiv.org/abs/1212.0402</a:t>
            </a:r>
            <a:endParaRPr sz="85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楽器の演奏のカテゴリ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3 101カテゴリの一覧</a:t>
            </a:r>
            <a:endParaRPr sz="1400"/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600">
                <a:latin typeface="Liberation Sans"/>
              </a:defRPr>
              <a:buNone/>
            </a:pPr>
            <a:r>
              <a:rPr sz="2600" lang="en-US">
                <a:solidFill>
                  <a:srgbClr val="303437"/>
                </a:solidFill>
                <a:latin typeface="Liberation Sans"/>
                <a:ea typeface="Liberation Sans"/>
              </a:rPr>
              <a:t>Drumming</a:t>
            </a:r>
            <a:endParaRPr sz="2600"/>
          </a:p>
        </p:txBody>
      </p:sp>
      <p:sp>
        <p:nvSpPr>
          <p:cNvPr id="5" name="TextBox 4"/>
          <p:cNvSpPr txBox="1"/>
          <p:nvPr/>
        </p:nvSpPr>
        <p:spPr>
          <a:xfrm>
            <a:off x="3794760" y="1517904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27</a:t>
            </a:r>
            <a:endParaRPr sz="850"/>
          </a:p>
        </p:txBody>
      </p:sp>
      <p:sp>
        <p:nvSpPr>
          <p:cNvPr id="6" name="TextBox 5"/>
          <p:cNvSpPr txBox="1"/>
          <p:nvPr/>
        </p:nvSpPr>
        <p:spPr>
          <a:xfrm>
            <a:off x="594360" y="1874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600">
                <a:latin typeface="Liberation Sans"/>
              </a:defRPr>
              <a:buNone/>
            </a:pPr>
            <a:r>
              <a:rPr sz="2600" lang="en-US">
                <a:solidFill>
                  <a:srgbClr val="303437"/>
                </a:solidFill>
                <a:latin typeface="Liberation Sans"/>
                <a:ea typeface="Liberation Sans"/>
              </a:rPr>
              <a:t>PlayingCello</a:t>
            </a:r>
            <a:endParaRPr sz="2600"/>
          </a:p>
        </p:txBody>
      </p:sp>
      <p:sp>
        <p:nvSpPr>
          <p:cNvPr id="7" name="TextBox 6"/>
          <p:cNvSpPr txBox="1"/>
          <p:nvPr/>
        </p:nvSpPr>
        <p:spPr>
          <a:xfrm>
            <a:off x="3794760" y="1929384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59</a:t>
            </a:r>
            <a:endParaRPr sz="850"/>
          </a:p>
        </p:txBody>
      </p:sp>
      <p:sp>
        <p:nvSpPr>
          <p:cNvPr id="8" name="TextBox 7"/>
          <p:cNvSpPr txBox="1"/>
          <p:nvPr/>
        </p:nvSpPr>
        <p:spPr>
          <a:xfrm>
            <a:off x="594360" y="228600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600">
                <a:latin typeface="Liberation Sans"/>
              </a:defRPr>
              <a:buNone/>
            </a:pPr>
            <a:r>
              <a:rPr sz="2600" lang="en-US">
                <a:solidFill>
                  <a:srgbClr val="303437"/>
                </a:solidFill>
                <a:latin typeface="Liberation Sans"/>
                <a:ea typeface="Liberation Sans"/>
              </a:rPr>
              <a:t>PlayingDaf</a:t>
            </a:r>
            <a:endParaRPr sz="2600"/>
          </a:p>
        </p:txBody>
      </p:sp>
      <p:sp>
        <p:nvSpPr>
          <p:cNvPr id="9" name="TextBox 8"/>
          <p:cNvSpPr txBox="1"/>
          <p:nvPr/>
        </p:nvSpPr>
        <p:spPr>
          <a:xfrm>
            <a:off x="3794760" y="2340864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60</a:t>
            </a:r>
            <a:endParaRPr sz="850"/>
          </a:p>
        </p:txBody>
      </p:sp>
      <p:sp>
        <p:nvSpPr>
          <p:cNvPr id="10" name="TextBox 9"/>
          <p:cNvSpPr txBox="1"/>
          <p:nvPr/>
        </p:nvSpPr>
        <p:spPr>
          <a:xfrm>
            <a:off x="594360" y="269748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600">
                <a:latin typeface="Liberation Sans"/>
              </a:defRPr>
              <a:buNone/>
            </a:pPr>
            <a:r>
              <a:rPr sz="2600" lang="en-US">
                <a:solidFill>
                  <a:srgbClr val="303437"/>
                </a:solidFill>
                <a:latin typeface="Liberation Sans"/>
                <a:ea typeface="Liberation Sans"/>
              </a:rPr>
              <a:t>PlayingDhol</a:t>
            </a:r>
            <a:endParaRPr sz="2600"/>
          </a:p>
        </p:txBody>
      </p:sp>
      <p:sp>
        <p:nvSpPr>
          <p:cNvPr id="11" name="TextBox 10"/>
          <p:cNvSpPr txBox="1"/>
          <p:nvPr/>
        </p:nvSpPr>
        <p:spPr>
          <a:xfrm>
            <a:off x="3794760" y="2752344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61</a:t>
            </a:r>
            <a:endParaRPr sz="850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600">
                <a:latin typeface="Liberation Sans"/>
              </a:defRPr>
              <a:buNone/>
            </a:pPr>
            <a:r>
              <a:rPr sz="2600" lang="en-US">
                <a:solidFill>
                  <a:srgbClr val="303437"/>
                </a:solidFill>
                <a:latin typeface="Liberation Sans"/>
                <a:ea typeface="Liberation Sans"/>
              </a:rPr>
              <a:t>PlayingFlute</a:t>
            </a:r>
            <a:endParaRPr sz="2600"/>
          </a:p>
        </p:txBody>
      </p:sp>
      <p:sp>
        <p:nvSpPr>
          <p:cNvPr id="13" name="TextBox 12"/>
          <p:cNvSpPr txBox="1"/>
          <p:nvPr/>
        </p:nvSpPr>
        <p:spPr>
          <a:xfrm>
            <a:off x="3794760" y="3163824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62</a:t>
            </a:r>
            <a:endParaRPr sz="850"/>
          </a:p>
        </p:txBody>
      </p:sp>
      <p:sp>
        <p:nvSpPr>
          <p:cNvPr id="14" name="TextBox 13"/>
          <p:cNvSpPr txBox="1"/>
          <p:nvPr/>
        </p:nvSpPr>
        <p:spPr>
          <a:xfrm>
            <a:off x="475488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600">
                <a:latin typeface="Liberation Sans"/>
              </a:defRPr>
              <a:buNone/>
            </a:pPr>
            <a:r>
              <a:rPr sz="2600" lang="en-US">
                <a:solidFill>
                  <a:srgbClr val="303437"/>
                </a:solidFill>
                <a:latin typeface="Liberation Sans"/>
                <a:ea typeface="Liberation Sans"/>
              </a:rPr>
              <a:t>PlayingGuitar</a:t>
            </a:r>
            <a:endParaRPr sz="2600"/>
          </a:p>
        </p:txBody>
      </p:sp>
      <p:sp>
        <p:nvSpPr>
          <p:cNvPr id="15" name="TextBox 14"/>
          <p:cNvSpPr txBox="1"/>
          <p:nvPr/>
        </p:nvSpPr>
        <p:spPr>
          <a:xfrm>
            <a:off x="7955279" y="1517904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63</a:t>
            </a:r>
            <a:endParaRPr sz="850"/>
          </a:p>
        </p:txBody>
      </p:sp>
      <p:sp>
        <p:nvSpPr>
          <p:cNvPr id="16" name="TextBox 15"/>
          <p:cNvSpPr txBox="1"/>
          <p:nvPr/>
        </p:nvSpPr>
        <p:spPr>
          <a:xfrm>
            <a:off x="4754880" y="1874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600">
                <a:latin typeface="Liberation Sans"/>
              </a:defRPr>
              <a:buNone/>
            </a:pPr>
            <a:r>
              <a:rPr sz="2600" lang="en-US">
                <a:solidFill>
                  <a:srgbClr val="303437"/>
                </a:solidFill>
                <a:latin typeface="Liberation Sans"/>
                <a:ea typeface="Liberation Sans"/>
              </a:rPr>
              <a:t>PlayingPiano</a:t>
            </a:r>
            <a:endParaRPr sz="2600"/>
          </a:p>
        </p:txBody>
      </p:sp>
      <p:sp>
        <p:nvSpPr>
          <p:cNvPr id="17" name="TextBox 16"/>
          <p:cNvSpPr txBox="1"/>
          <p:nvPr/>
        </p:nvSpPr>
        <p:spPr>
          <a:xfrm>
            <a:off x="7955279" y="1929384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64</a:t>
            </a:r>
            <a:endParaRPr sz="850"/>
          </a:p>
        </p:txBody>
      </p:sp>
      <p:sp>
        <p:nvSpPr>
          <p:cNvPr id="18" name="TextBox 17"/>
          <p:cNvSpPr txBox="1"/>
          <p:nvPr/>
        </p:nvSpPr>
        <p:spPr>
          <a:xfrm>
            <a:off x="4754880" y="228600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600">
                <a:latin typeface="Liberation Sans"/>
              </a:defRPr>
              <a:buNone/>
            </a:pPr>
            <a:r>
              <a:rPr sz="2600" lang="en-US">
                <a:solidFill>
                  <a:srgbClr val="303437"/>
                </a:solidFill>
                <a:latin typeface="Liberation Sans"/>
                <a:ea typeface="Liberation Sans"/>
              </a:rPr>
              <a:t>PlayingSitar</a:t>
            </a:r>
            <a:endParaRPr sz="2600"/>
          </a:p>
        </p:txBody>
      </p:sp>
      <p:sp>
        <p:nvSpPr>
          <p:cNvPr id="19" name="TextBox 18"/>
          <p:cNvSpPr txBox="1"/>
          <p:nvPr/>
        </p:nvSpPr>
        <p:spPr>
          <a:xfrm>
            <a:off x="7955279" y="2340864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65</a:t>
            </a:r>
            <a:endParaRPr sz="850"/>
          </a:p>
        </p:txBody>
      </p:sp>
      <p:sp>
        <p:nvSpPr>
          <p:cNvPr id="20" name="TextBox 19"/>
          <p:cNvSpPr txBox="1"/>
          <p:nvPr/>
        </p:nvSpPr>
        <p:spPr>
          <a:xfrm>
            <a:off x="4754880" y="269748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600">
                <a:latin typeface="Liberation Sans"/>
              </a:defRPr>
              <a:buNone/>
            </a:pPr>
            <a:r>
              <a:rPr sz="2600" lang="en-US">
                <a:solidFill>
                  <a:srgbClr val="303437"/>
                </a:solidFill>
                <a:latin typeface="Liberation Sans"/>
                <a:ea typeface="Liberation Sans"/>
              </a:rPr>
              <a:t>PlayingTabla</a:t>
            </a:r>
            <a:endParaRPr sz="2600"/>
          </a:p>
        </p:txBody>
      </p:sp>
      <p:sp>
        <p:nvSpPr>
          <p:cNvPr id="21" name="TextBox 20"/>
          <p:cNvSpPr txBox="1"/>
          <p:nvPr/>
        </p:nvSpPr>
        <p:spPr>
          <a:xfrm>
            <a:off x="7955279" y="2752344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66</a:t>
            </a:r>
            <a:endParaRPr sz="850"/>
          </a:p>
        </p:txBody>
      </p:sp>
      <p:sp>
        <p:nvSpPr>
          <p:cNvPr id="22" name="TextBox 21"/>
          <p:cNvSpPr txBox="1"/>
          <p:nvPr/>
        </p:nvSpPr>
        <p:spPr>
          <a:xfrm>
            <a:off x="4754880" y="310896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600">
                <a:latin typeface="Liberation Sans"/>
              </a:defRPr>
              <a:buNone/>
            </a:pPr>
            <a:r>
              <a:rPr sz="2600" lang="en-US">
                <a:solidFill>
                  <a:srgbClr val="303437"/>
                </a:solidFill>
                <a:latin typeface="Liberation Sans"/>
                <a:ea typeface="Liberation Sans"/>
              </a:rPr>
              <a:t>PlayingViolin</a:t>
            </a:r>
            <a:endParaRPr sz="2600"/>
          </a:p>
        </p:txBody>
      </p:sp>
      <p:sp>
        <p:nvSpPr>
          <p:cNvPr id="23" name="TextBox 22"/>
          <p:cNvSpPr txBox="1"/>
          <p:nvPr/>
        </p:nvSpPr>
        <p:spPr>
          <a:xfrm>
            <a:off x="7955279" y="3163824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67</a:t>
            </a:r>
            <a:endParaRPr sz="850"/>
          </a:p>
        </p:txBody>
      </p:sp>
      <p:sp>
        <p:nvSpPr>
          <p:cNvPr id="24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配布classInd.txtの全101カテゴリ。右側はクラスID. https://github.com/yjxiong/temporal-segment-networks/tree/master/data/ucf101_splits</a:t>
            </a:r>
            <a:endParaRPr sz="850"/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[2]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5つの型は原著Figure 2に基づく. https://arxiv.org/abs/1212.0402</a:t>
            </a:r>
            <a:endParaRPr sz="85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スポーツのカテゴリ 1/3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3 101カテゴリの一覧</a:t>
            </a:r>
            <a:endParaRPr sz="1400"/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Archery</a:t>
            </a:r>
            <a:endParaRPr sz="2100"/>
          </a:p>
        </p:txBody>
      </p:sp>
      <p:sp>
        <p:nvSpPr>
          <p:cNvPr id="5" name="TextBox 4"/>
          <p:cNvSpPr txBox="1"/>
          <p:nvPr/>
        </p:nvSpPr>
        <p:spPr>
          <a:xfrm>
            <a:off x="3794760" y="1517904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3</a:t>
            </a:r>
            <a:endParaRPr sz="850"/>
          </a:p>
        </p:txBody>
      </p:sp>
      <p:sp>
        <p:nvSpPr>
          <p:cNvPr id="6" name="TextBox 5"/>
          <p:cNvSpPr txBox="1"/>
          <p:nvPr/>
        </p:nvSpPr>
        <p:spPr>
          <a:xfrm>
            <a:off x="59436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BalanceBeam</a:t>
            </a:r>
            <a:endParaRPr sz="2100"/>
          </a:p>
        </p:txBody>
      </p:sp>
      <p:sp>
        <p:nvSpPr>
          <p:cNvPr id="7" name="TextBox 6"/>
          <p:cNvSpPr txBox="1"/>
          <p:nvPr/>
        </p:nvSpPr>
        <p:spPr>
          <a:xfrm>
            <a:off x="3794760" y="1828800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5</a:t>
            </a:r>
            <a:endParaRPr sz="850"/>
          </a:p>
        </p:txBody>
      </p:sp>
      <p:sp>
        <p:nvSpPr>
          <p:cNvPr id="8" name="TextBox 7"/>
          <p:cNvSpPr txBox="1"/>
          <p:nvPr/>
        </p:nvSpPr>
        <p:spPr>
          <a:xfrm>
            <a:off x="59436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BaseballPitch</a:t>
            </a:r>
            <a:endParaRPr sz="2100"/>
          </a:p>
        </p:txBody>
      </p:sp>
      <p:sp>
        <p:nvSpPr>
          <p:cNvPr id="9" name="TextBox 8"/>
          <p:cNvSpPr txBox="1"/>
          <p:nvPr/>
        </p:nvSpPr>
        <p:spPr>
          <a:xfrm>
            <a:off x="3794760" y="2139696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7</a:t>
            </a:r>
            <a:endParaRPr sz="850"/>
          </a:p>
        </p:txBody>
      </p:sp>
      <p:sp>
        <p:nvSpPr>
          <p:cNvPr id="10" name="TextBox 9"/>
          <p:cNvSpPr txBox="1"/>
          <p:nvPr/>
        </p:nvSpPr>
        <p:spPr>
          <a:xfrm>
            <a:off x="59436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Basketball</a:t>
            </a:r>
            <a:endParaRPr sz="2100"/>
          </a:p>
        </p:txBody>
      </p:sp>
      <p:sp>
        <p:nvSpPr>
          <p:cNvPr id="11" name="TextBox 10"/>
          <p:cNvSpPr txBox="1"/>
          <p:nvPr/>
        </p:nvSpPr>
        <p:spPr>
          <a:xfrm>
            <a:off x="3794760" y="2450592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8</a:t>
            </a:r>
            <a:endParaRPr sz="850"/>
          </a:p>
        </p:txBody>
      </p:sp>
      <p:sp>
        <p:nvSpPr>
          <p:cNvPr id="12" name="TextBox 11"/>
          <p:cNvSpPr txBox="1"/>
          <p:nvPr/>
        </p:nvSpPr>
        <p:spPr>
          <a:xfrm>
            <a:off x="59436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BasketballDunk</a:t>
            </a:r>
            <a:endParaRPr sz="2100"/>
          </a:p>
        </p:txBody>
      </p:sp>
      <p:sp>
        <p:nvSpPr>
          <p:cNvPr id="13" name="TextBox 12"/>
          <p:cNvSpPr txBox="1"/>
          <p:nvPr/>
        </p:nvSpPr>
        <p:spPr>
          <a:xfrm>
            <a:off x="3794760" y="2761488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9</a:t>
            </a:r>
            <a:endParaRPr sz="850"/>
          </a:p>
        </p:txBody>
      </p:sp>
      <p:sp>
        <p:nvSpPr>
          <p:cNvPr id="14" name="TextBox 13"/>
          <p:cNvSpPr txBox="1"/>
          <p:nvPr/>
        </p:nvSpPr>
        <p:spPr>
          <a:xfrm>
            <a:off x="59436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BenchPress</a:t>
            </a:r>
            <a:endParaRPr sz="2100"/>
          </a:p>
        </p:txBody>
      </p:sp>
      <p:sp>
        <p:nvSpPr>
          <p:cNvPr id="15" name="TextBox 14"/>
          <p:cNvSpPr txBox="1"/>
          <p:nvPr/>
        </p:nvSpPr>
        <p:spPr>
          <a:xfrm>
            <a:off x="3794760" y="3072384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10</a:t>
            </a:r>
            <a:endParaRPr sz="850"/>
          </a:p>
        </p:txBody>
      </p:sp>
      <p:sp>
        <p:nvSpPr>
          <p:cNvPr id="16" name="TextBox 15"/>
          <p:cNvSpPr txBox="1"/>
          <p:nvPr/>
        </p:nvSpPr>
        <p:spPr>
          <a:xfrm>
            <a:off x="59436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Biking</a:t>
            </a:r>
            <a:endParaRPr sz="2100"/>
          </a:p>
        </p:txBody>
      </p:sp>
      <p:sp>
        <p:nvSpPr>
          <p:cNvPr id="17" name="TextBox 16"/>
          <p:cNvSpPr txBox="1"/>
          <p:nvPr/>
        </p:nvSpPr>
        <p:spPr>
          <a:xfrm>
            <a:off x="3794760" y="3383280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11</a:t>
            </a:r>
            <a:endParaRPr sz="850"/>
          </a:p>
        </p:txBody>
      </p:sp>
      <p:sp>
        <p:nvSpPr>
          <p:cNvPr id="18" name="TextBox 17"/>
          <p:cNvSpPr txBox="1"/>
          <p:nvPr/>
        </p:nvSpPr>
        <p:spPr>
          <a:xfrm>
            <a:off x="59436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Billiards</a:t>
            </a:r>
            <a:endParaRPr sz="2100"/>
          </a:p>
        </p:txBody>
      </p:sp>
      <p:sp>
        <p:nvSpPr>
          <p:cNvPr id="19" name="TextBox 18"/>
          <p:cNvSpPr txBox="1"/>
          <p:nvPr/>
        </p:nvSpPr>
        <p:spPr>
          <a:xfrm>
            <a:off x="3794760" y="3694176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12</a:t>
            </a:r>
            <a:endParaRPr sz="850"/>
          </a:p>
        </p:txBody>
      </p:sp>
      <p:sp>
        <p:nvSpPr>
          <p:cNvPr id="20" name="TextBox 19"/>
          <p:cNvSpPr txBox="1"/>
          <p:nvPr/>
        </p:nvSpPr>
        <p:spPr>
          <a:xfrm>
            <a:off x="594360" y="395020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Bowling</a:t>
            </a:r>
            <a:endParaRPr sz="2100"/>
          </a:p>
        </p:txBody>
      </p:sp>
      <p:sp>
        <p:nvSpPr>
          <p:cNvPr id="21" name="TextBox 20"/>
          <p:cNvSpPr txBox="1"/>
          <p:nvPr/>
        </p:nvSpPr>
        <p:spPr>
          <a:xfrm>
            <a:off x="3794760" y="4005072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16</a:t>
            </a:r>
            <a:endParaRPr sz="850"/>
          </a:p>
        </p:txBody>
      </p:sp>
      <p:sp>
        <p:nvSpPr>
          <p:cNvPr id="22" name="TextBox 21"/>
          <p:cNvSpPr txBox="1"/>
          <p:nvPr/>
        </p:nvSpPr>
        <p:spPr>
          <a:xfrm>
            <a:off x="475488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BoxingPunchingBag</a:t>
            </a:r>
            <a:endParaRPr sz="2100"/>
          </a:p>
        </p:txBody>
      </p:sp>
      <p:sp>
        <p:nvSpPr>
          <p:cNvPr id="23" name="TextBox 22"/>
          <p:cNvSpPr txBox="1"/>
          <p:nvPr/>
        </p:nvSpPr>
        <p:spPr>
          <a:xfrm>
            <a:off x="7955279" y="1517904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17</a:t>
            </a:r>
            <a:endParaRPr sz="850"/>
          </a:p>
        </p:txBody>
      </p:sp>
      <p:sp>
        <p:nvSpPr>
          <p:cNvPr id="24" name="TextBox 23"/>
          <p:cNvSpPr txBox="1"/>
          <p:nvPr/>
        </p:nvSpPr>
        <p:spPr>
          <a:xfrm>
            <a:off x="475488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BoxingSpeedBag</a:t>
            </a:r>
            <a:endParaRPr sz="2100"/>
          </a:p>
        </p:txBody>
      </p:sp>
      <p:sp>
        <p:nvSpPr>
          <p:cNvPr id="25" name="TextBox 24"/>
          <p:cNvSpPr txBox="1"/>
          <p:nvPr/>
        </p:nvSpPr>
        <p:spPr>
          <a:xfrm>
            <a:off x="7955279" y="1828800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18</a:t>
            </a:r>
            <a:endParaRPr sz="850"/>
          </a:p>
        </p:txBody>
      </p:sp>
      <p:sp>
        <p:nvSpPr>
          <p:cNvPr id="26" name="TextBox 25"/>
          <p:cNvSpPr txBox="1"/>
          <p:nvPr/>
        </p:nvSpPr>
        <p:spPr>
          <a:xfrm>
            <a:off x="475488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BreastStroke</a:t>
            </a:r>
            <a:endParaRPr sz="2100"/>
          </a:p>
        </p:txBody>
      </p:sp>
      <p:sp>
        <p:nvSpPr>
          <p:cNvPr id="27" name="TextBox 26"/>
          <p:cNvSpPr txBox="1"/>
          <p:nvPr/>
        </p:nvSpPr>
        <p:spPr>
          <a:xfrm>
            <a:off x="7955279" y="2139696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19</a:t>
            </a:r>
            <a:endParaRPr sz="850"/>
          </a:p>
        </p:txBody>
      </p:sp>
      <p:sp>
        <p:nvSpPr>
          <p:cNvPr id="28" name="TextBox 27"/>
          <p:cNvSpPr txBox="1"/>
          <p:nvPr/>
        </p:nvSpPr>
        <p:spPr>
          <a:xfrm>
            <a:off x="475488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CleanAndJerk</a:t>
            </a:r>
            <a:endParaRPr sz="2100"/>
          </a:p>
        </p:txBody>
      </p:sp>
      <p:sp>
        <p:nvSpPr>
          <p:cNvPr id="29" name="TextBox 28"/>
          <p:cNvSpPr txBox="1"/>
          <p:nvPr/>
        </p:nvSpPr>
        <p:spPr>
          <a:xfrm>
            <a:off x="7955279" y="2450592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21</a:t>
            </a:r>
            <a:endParaRPr sz="850"/>
          </a:p>
        </p:txBody>
      </p:sp>
      <p:sp>
        <p:nvSpPr>
          <p:cNvPr id="30" name="TextBox 29"/>
          <p:cNvSpPr txBox="1"/>
          <p:nvPr/>
        </p:nvSpPr>
        <p:spPr>
          <a:xfrm>
            <a:off x="475488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CliffDiving</a:t>
            </a:r>
            <a:endParaRPr sz="2100"/>
          </a:p>
        </p:txBody>
      </p:sp>
      <p:sp>
        <p:nvSpPr>
          <p:cNvPr id="31" name="TextBox 30"/>
          <p:cNvSpPr txBox="1"/>
          <p:nvPr/>
        </p:nvSpPr>
        <p:spPr>
          <a:xfrm>
            <a:off x="7955279" y="2761488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22</a:t>
            </a:r>
            <a:endParaRPr sz="850"/>
          </a:p>
        </p:txBody>
      </p:sp>
      <p:sp>
        <p:nvSpPr>
          <p:cNvPr id="32" name="TextBox 31"/>
          <p:cNvSpPr txBox="1"/>
          <p:nvPr/>
        </p:nvSpPr>
        <p:spPr>
          <a:xfrm>
            <a:off x="475488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CricketBowling</a:t>
            </a:r>
            <a:endParaRPr sz="2100"/>
          </a:p>
        </p:txBody>
      </p:sp>
      <p:sp>
        <p:nvSpPr>
          <p:cNvPr id="33" name="TextBox 32"/>
          <p:cNvSpPr txBox="1"/>
          <p:nvPr/>
        </p:nvSpPr>
        <p:spPr>
          <a:xfrm>
            <a:off x="7955279" y="3072384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23</a:t>
            </a:r>
            <a:endParaRPr sz="850"/>
          </a:p>
        </p:txBody>
      </p:sp>
      <p:sp>
        <p:nvSpPr>
          <p:cNvPr id="34" name="TextBox 33"/>
          <p:cNvSpPr txBox="1"/>
          <p:nvPr/>
        </p:nvSpPr>
        <p:spPr>
          <a:xfrm>
            <a:off x="475488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CricketShot</a:t>
            </a:r>
            <a:endParaRPr sz="2100"/>
          </a:p>
        </p:txBody>
      </p:sp>
      <p:sp>
        <p:nvSpPr>
          <p:cNvPr id="35" name="TextBox 34"/>
          <p:cNvSpPr txBox="1"/>
          <p:nvPr/>
        </p:nvSpPr>
        <p:spPr>
          <a:xfrm>
            <a:off x="7955279" y="3383280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24</a:t>
            </a:r>
            <a:endParaRPr sz="850"/>
          </a:p>
        </p:txBody>
      </p:sp>
      <p:sp>
        <p:nvSpPr>
          <p:cNvPr id="36" name="TextBox 35"/>
          <p:cNvSpPr txBox="1"/>
          <p:nvPr/>
        </p:nvSpPr>
        <p:spPr>
          <a:xfrm>
            <a:off x="475488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Diving</a:t>
            </a:r>
            <a:endParaRPr sz="2100"/>
          </a:p>
        </p:txBody>
      </p:sp>
      <p:sp>
        <p:nvSpPr>
          <p:cNvPr id="37" name="TextBox 36"/>
          <p:cNvSpPr txBox="1"/>
          <p:nvPr/>
        </p:nvSpPr>
        <p:spPr>
          <a:xfrm>
            <a:off x="7955279" y="3694176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26</a:t>
            </a:r>
            <a:endParaRPr sz="850"/>
          </a:p>
        </p:txBody>
      </p:sp>
      <p:sp>
        <p:nvSpPr>
          <p:cNvPr id="38" name="TextBox 37"/>
          <p:cNvSpPr txBox="1"/>
          <p:nvPr/>
        </p:nvSpPr>
        <p:spPr>
          <a:xfrm>
            <a:off x="4754880" y="395020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Fencing</a:t>
            </a:r>
            <a:endParaRPr sz="2100"/>
          </a:p>
        </p:txBody>
      </p:sp>
      <p:sp>
        <p:nvSpPr>
          <p:cNvPr id="39" name="TextBox 38"/>
          <p:cNvSpPr txBox="1"/>
          <p:nvPr/>
        </p:nvSpPr>
        <p:spPr>
          <a:xfrm>
            <a:off x="7955279" y="4005072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28</a:t>
            </a:r>
            <a:endParaRPr sz="850"/>
          </a:p>
        </p:txBody>
      </p:sp>
      <p:sp>
        <p:nvSpPr>
          <p:cNvPr id="40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配布classInd.txtの全101カテゴリ。右側はクラスID. https://github.com/yjxiong/temporal-segment-networks/tree/master/data/ucf101_splits</a:t>
            </a:r>
            <a:endParaRPr sz="850"/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[2]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5つの型は原著Figure 2に基づく. https://arxiv.org/abs/1212.0402</a:t>
            </a:r>
            <a:endParaRPr sz="85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スポーツのカテゴリ 2/3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3 101カテゴリの一覧</a:t>
            </a:r>
            <a:endParaRPr sz="1400"/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FieldHockeyPenalty</a:t>
            </a:r>
            <a:endParaRPr sz="2100"/>
          </a:p>
        </p:txBody>
      </p:sp>
      <p:sp>
        <p:nvSpPr>
          <p:cNvPr id="5" name="TextBox 4"/>
          <p:cNvSpPr txBox="1"/>
          <p:nvPr/>
        </p:nvSpPr>
        <p:spPr>
          <a:xfrm>
            <a:off x="3794760" y="1517904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29</a:t>
            </a:r>
            <a:endParaRPr sz="850"/>
          </a:p>
        </p:txBody>
      </p:sp>
      <p:sp>
        <p:nvSpPr>
          <p:cNvPr id="6" name="TextBox 5"/>
          <p:cNvSpPr txBox="1"/>
          <p:nvPr/>
        </p:nvSpPr>
        <p:spPr>
          <a:xfrm>
            <a:off x="59436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FloorGymnastics</a:t>
            </a:r>
            <a:endParaRPr sz="2100"/>
          </a:p>
        </p:txBody>
      </p:sp>
      <p:sp>
        <p:nvSpPr>
          <p:cNvPr id="7" name="TextBox 6"/>
          <p:cNvSpPr txBox="1"/>
          <p:nvPr/>
        </p:nvSpPr>
        <p:spPr>
          <a:xfrm>
            <a:off x="3794760" y="1828800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30</a:t>
            </a:r>
            <a:endParaRPr sz="850"/>
          </a:p>
        </p:txBody>
      </p:sp>
      <p:sp>
        <p:nvSpPr>
          <p:cNvPr id="8" name="TextBox 7"/>
          <p:cNvSpPr txBox="1"/>
          <p:nvPr/>
        </p:nvSpPr>
        <p:spPr>
          <a:xfrm>
            <a:off x="59436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FrisbeeCatch</a:t>
            </a:r>
            <a:endParaRPr sz="2100"/>
          </a:p>
        </p:txBody>
      </p:sp>
      <p:sp>
        <p:nvSpPr>
          <p:cNvPr id="9" name="TextBox 8"/>
          <p:cNvSpPr txBox="1"/>
          <p:nvPr/>
        </p:nvSpPr>
        <p:spPr>
          <a:xfrm>
            <a:off x="3794760" y="2139696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31</a:t>
            </a:r>
            <a:endParaRPr sz="850"/>
          </a:p>
        </p:txBody>
      </p:sp>
      <p:sp>
        <p:nvSpPr>
          <p:cNvPr id="10" name="TextBox 9"/>
          <p:cNvSpPr txBox="1"/>
          <p:nvPr/>
        </p:nvSpPr>
        <p:spPr>
          <a:xfrm>
            <a:off x="59436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FrontCrawl</a:t>
            </a:r>
            <a:endParaRPr sz="2100"/>
          </a:p>
        </p:txBody>
      </p:sp>
      <p:sp>
        <p:nvSpPr>
          <p:cNvPr id="11" name="TextBox 10"/>
          <p:cNvSpPr txBox="1"/>
          <p:nvPr/>
        </p:nvSpPr>
        <p:spPr>
          <a:xfrm>
            <a:off x="3794760" y="2450592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32</a:t>
            </a:r>
            <a:endParaRPr sz="850"/>
          </a:p>
        </p:txBody>
      </p:sp>
      <p:sp>
        <p:nvSpPr>
          <p:cNvPr id="12" name="TextBox 11"/>
          <p:cNvSpPr txBox="1"/>
          <p:nvPr/>
        </p:nvSpPr>
        <p:spPr>
          <a:xfrm>
            <a:off x="59436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GolfSwing</a:t>
            </a:r>
            <a:endParaRPr sz="2100"/>
          </a:p>
        </p:txBody>
      </p:sp>
      <p:sp>
        <p:nvSpPr>
          <p:cNvPr id="13" name="TextBox 12"/>
          <p:cNvSpPr txBox="1"/>
          <p:nvPr/>
        </p:nvSpPr>
        <p:spPr>
          <a:xfrm>
            <a:off x="3794760" y="2761488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33</a:t>
            </a:r>
            <a:endParaRPr sz="850"/>
          </a:p>
        </p:txBody>
      </p:sp>
      <p:sp>
        <p:nvSpPr>
          <p:cNvPr id="14" name="TextBox 13"/>
          <p:cNvSpPr txBox="1"/>
          <p:nvPr/>
        </p:nvSpPr>
        <p:spPr>
          <a:xfrm>
            <a:off x="59436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HammerThrow</a:t>
            </a:r>
            <a:endParaRPr sz="2100"/>
          </a:p>
        </p:txBody>
      </p:sp>
      <p:sp>
        <p:nvSpPr>
          <p:cNvPr id="15" name="TextBox 14"/>
          <p:cNvSpPr txBox="1"/>
          <p:nvPr/>
        </p:nvSpPr>
        <p:spPr>
          <a:xfrm>
            <a:off x="3794760" y="3072384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36</a:t>
            </a:r>
            <a:endParaRPr sz="850"/>
          </a:p>
        </p:txBody>
      </p:sp>
      <p:sp>
        <p:nvSpPr>
          <p:cNvPr id="16" name="TextBox 15"/>
          <p:cNvSpPr txBox="1"/>
          <p:nvPr/>
        </p:nvSpPr>
        <p:spPr>
          <a:xfrm>
            <a:off x="59436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HighJump</a:t>
            </a:r>
            <a:endParaRPr sz="2100"/>
          </a:p>
        </p:txBody>
      </p:sp>
      <p:sp>
        <p:nvSpPr>
          <p:cNvPr id="17" name="TextBox 16"/>
          <p:cNvSpPr txBox="1"/>
          <p:nvPr/>
        </p:nvSpPr>
        <p:spPr>
          <a:xfrm>
            <a:off x="3794760" y="3383280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40</a:t>
            </a:r>
            <a:endParaRPr sz="850"/>
          </a:p>
        </p:txBody>
      </p:sp>
      <p:sp>
        <p:nvSpPr>
          <p:cNvPr id="18" name="TextBox 17"/>
          <p:cNvSpPr txBox="1"/>
          <p:nvPr/>
        </p:nvSpPr>
        <p:spPr>
          <a:xfrm>
            <a:off x="59436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HorseRace</a:t>
            </a:r>
            <a:endParaRPr sz="2100"/>
          </a:p>
        </p:txBody>
      </p:sp>
      <p:sp>
        <p:nvSpPr>
          <p:cNvPr id="19" name="TextBox 18"/>
          <p:cNvSpPr txBox="1"/>
          <p:nvPr/>
        </p:nvSpPr>
        <p:spPr>
          <a:xfrm>
            <a:off x="3794760" y="3694176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41</a:t>
            </a:r>
            <a:endParaRPr sz="850"/>
          </a:p>
        </p:txBody>
      </p:sp>
      <p:sp>
        <p:nvSpPr>
          <p:cNvPr id="20" name="TextBox 19"/>
          <p:cNvSpPr txBox="1"/>
          <p:nvPr/>
        </p:nvSpPr>
        <p:spPr>
          <a:xfrm>
            <a:off x="475488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HorseRiding</a:t>
            </a:r>
            <a:endParaRPr sz="2100"/>
          </a:p>
        </p:txBody>
      </p:sp>
      <p:sp>
        <p:nvSpPr>
          <p:cNvPr id="21" name="TextBox 20"/>
          <p:cNvSpPr txBox="1"/>
          <p:nvPr/>
        </p:nvSpPr>
        <p:spPr>
          <a:xfrm>
            <a:off x="7955279" y="1517904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42</a:t>
            </a:r>
            <a:endParaRPr sz="850"/>
          </a:p>
        </p:txBody>
      </p:sp>
      <p:sp>
        <p:nvSpPr>
          <p:cNvPr id="22" name="TextBox 21"/>
          <p:cNvSpPr txBox="1"/>
          <p:nvPr/>
        </p:nvSpPr>
        <p:spPr>
          <a:xfrm>
            <a:off x="475488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IceDancing</a:t>
            </a:r>
            <a:endParaRPr sz="2100"/>
          </a:p>
        </p:txBody>
      </p:sp>
      <p:sp>
        <p:nvSpPr>
          <p:cNvPr id="23" name="TextBox 22"/>
          <p:cNvSpPr txBox="1"/>
          <p:nvPr/>
        </p:nvSpPr>
        <p:spPr>
          <a:xfrm>
            <a:off x="7955279" y="1828800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44</a:t>
            </a:r>
            <a:endParaRPr sz="850"/>
          </a:p>
        </p:txBody>
      </p:sp>
      <p:sp>
        <p:nvSpPr>
          <p:cNvPr id="24" name="TextBox 23"/>
          <p:cNvSpPr txBox="1"/>
          <p:nvPr/>
        </p:nvSpPr>
        <p:spPr>
          <a:xfrm>
            <a:off x="475488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JavelinThrow</a:t>
            </a:r>
            <a:endParaRPr sz="2100"/>
          </a:p>
        </p:txBody>
      </p:sp>
      <p:sp>
        <p:nvSpPr>
          <p:cNvPr id="25" name="TextBox 24"/>
          <p:cNvSpPr txBox="1"/>
          <p:nvPr/>
        </p:nvSpPr>
        <p:spPr>
          <a:xfrm>
            <a:off x="7955279" y="2139696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45</a:t>
            </a:r>
            <a:endParaRPr sz="850"/>
          </a:p>
        </p:txBody>
      </p:sp>
      <p:sp>
        <p:nvSpPr>
          <p:cNvPr id="26" name="TextBox 25"/>
          <p:cNvSpPr txBox="1"/>
          <p:nvPr/>
        </p:nvSpPr>
        <p:spPr>
          <a:xfrm>
            <a:off x="475488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Kayaking</a:t>
            </a:r>
            <a:endParaRPr sz="2100"/>
          </a:p>
        </p:txBody>
      </p:sp>
      <p:sp>
        <p:nvSpPr>
          <p:cNvPr id="27" name="TextBox 26"/>
          <p:cNvSpPr txBox="1"/>
          <p:nvPr/>
        </p:nvSpPr>
        <p:spPr>
          <a:xfrm>
            <a:off x="7955279" y="2450592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49</a:t>
            </a:r>
            <a:endParaRPr sz="850"/>
          </a:p>
        </p:txBody>
      </p:sp>
      <p:sp>
        <p:nvSpPr>
          <p:cNvPr id="28" name="TextBox 27"/>
          <p:cNvSpPr txBox="1"/>
          <p:nvPr/>
        </p:nvSpPr>
        <p:spPr>
          <a:xfrm>
            <a:off x="475488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LongJump</a:t>
            </a:r>
            <a:endParaRPr sz="2100"/>
          </a:p>
        </p:txBody>
      </p:sp>
      <p:sp>
        <p:nvSpPr>
          <p:cNvPr id="29" name="TextBox 28"/>
          <p:cNvSpPr txBox="1"/>
          <p:nvPr/>
        </p:nvSpPr>
        <p:spPr>
          <a:xfrm>
            <a:off x="7955279" y="2761488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51</a:t>
            </a:r>
            <a:endParaRPr sz="850"/>
          </a:p>
        </p:txBody>
      </p:sp>
      <p:sp>
        <p:nvSpPr>
          <p:cNvPr id="30" name="TextBox 29"/>
          <p:cNvSpPr txBox="1"/>
          <p:nvPr/>
        </p:nvSpPr>
        <p:spPr>
          <a:xfrm>
            <a:off x="475488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ParallelBars</a:t>
            </a:r>
            <a:endParaRPr sz="2100"/>
          </a:p>
        </p:txBody>
      </p:sp>
      <p:sp>
        <p:nvSpPr>
          <p:cNvPr id="31" name="TextBox 30"/>
          <p:cNvSpPr txBox="1"/>
          <p:nvPr/>
        </p:nvSpPr>
        <p:spPr>
          <a:xfrm>
            <a:off x="7955279" y="3072384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57</a:t>
            </a:r>
            <a:endParaRPr sz="850"/>
          </a:p>
        </p:txBody>
      </p:sp>
      <p:sp>
        <p:nvSpPr>
          <p:cNvPr id="32" name="TextBox 31"/>
          <p:cNvSpPr txBox="1"/>
          <p:nvPr/>
        </p:nvSpPr>
        <p:spPr>
          <a:xfrm>
            <a:off x="475488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PoleVault</a:t>
            </a:r>
            <a:endParaRPr sz="2100"/>
          </a:p>
        </p:txBody>
      </p:sp>
      <p:sp>
        <p:nvSpPr>
          <p:cNvPr id="33" name="TextBox 32"/>
          <p:cNvSpPr txBox="1"/>
          <p:nvPr/>
        </p:nvSpPr>
        <p:spPr>
          <a:xfrm>
            <a:off x="7955279" y="3383280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68</a:t>
            </a:r>
            <a:endParaRPr sz="850"/>
          </a:p>
        </p:txBody>
      </p:sp>
      <p:sp>
        <p:nvSpPr>
          <p:cNvPr id="34" name="TextBox 33"/>
          <p:cNvSpPr txBox="1"/>
          <p:nvPr/>
        </p:nvSpPr>
        <p:spPr>
          <a:xfrm>
            <a:off x="475488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PommelHorse</a:t>
            </a:r>
            <a:endParaRPr sz="2100"/>
          </a:p>
        </p:txBody>
      </p:sp>
      <p:sp>
        <p:nvSpPr>
          <p:cNvPr id="35" name="TextBox 34"/>
          <p:cNvSpPr txBox="1"/>
          <p:nvPr/>
        </p:nvSpPr>
        <p:spPr>
          <a:xfrm>
            <a:off x="7955279" y="3694176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69</a:t>
            </a:r>
            <a:endParaRPr sz="850"/>
          </a:p>
        </p:txBody>
      </p:sp>
      <p:sp>
        <p:nvSpPr>
          <p:cNvPr id="36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配布classInd.txtの全101カテゴリ。右側はクラスID. https://github.com/yjxiong/temporal-segment-networks/tree/master/data/ucf101_splits</a:t>
            </a:r>
            <a:endParaRPr sz="850"/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[2]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5つの型は原著Figure 2に基づく. https://arxiv.org/abs/1212.0402</a:t>
            </a:r>
            <a:endParaRPr sz="85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スポーツのカテゴリ 3/3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3 101カテゴリの一覧</a:t>
            </a:r>
            <a:endParaRPr sz="1400"/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Punch</a:t>
            </a:r>
            <a:endParaRPr sz="2100"/>
          </a:p>
        </p:txBody>
      </p:sp>
      <p:sp>
        <p:nvSpPr>
          <p:cNvPr id="5" name="TextBox 4"/>
          <p:cNvSpPr txBox="1"/>
          <p:nvPr/>
        </p:nvSpPr>
        <p:spPr>
          <a:xfrm>
            <a:off x="3794760" y="1517904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71</a:t>
            </a:r>
            <a:endParaRPr sz="850"/>
          </a:p>
        </p:txBody>
      </p:sp>
      <p:sp>
        <p:nvSpPr>
          <p:cNvPr id="6" name="TextBox 5"/>
          <p:cNvSpPr txBox="1"/>
          <p:nvPr/>
        </p:nvSpPr>
        <p:spPr>
          <a:xfrm>
            <a:off x="59436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Rafting</a:t>
            </a:r>
            <a:endParaRPr sz="2100"/>
          </a:p>
        </p:txBody>
      </p:sp>
      <p:sp>
        <p:nvSpPr>
          <p:cNvPr id="7" name="TextBox 6"/>
          <p:cNvSpPr txBox="1"/>
          <p:nvPr/>
        </p:nvSpPr>
        <p:spPr>
          <a:xfrm>
            <a:off x="3794760" y="1828800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73</a:t>
            </a:r>
            <a:endParaRPr sz="850"/>
          </a:p>
        </p:txBody>
      </p:sp>
      <p:sp>
        <p:nvSpPr>
          <p:cNvPr id="8" name="TextBox 7"/>
          <p:cNvSpPr txBox="1"/>
          <p:nvPr/>
        </p:nvSpPr>
        <p:spPr>
          <a:xfrm>
            <a:off x="59436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Rowing</a:t>
            </a:r>
            <a:endParaRPr sz="2100"/>
          </a:p>
        </p:txBody>
      </p:sp>
      <p:sp>
        <p:nvSpPr>
          <p:cNvPr id="9" name="TextBox 8"/>
          <p:cNvSpPr txBox="1"/>
          <p:nvPr/>
        </p:nvSpPr>
        <p:spPr>
          <a:xfrm>
            <a:off x="3794760" y="2139696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76</a:t>
            </a:r>
            <a:endParaRPr sz="850"/>
          </a:p>
        </p:txBody>
      </p:sp>
      <p:sp>
        <p:nvSpPr>
          <p:cNvPr id="10" name="TextBox 9"/>
          <p:cNvSpPr txBox="1"/>
          <p:nvPr/>
        </p:nvSpPr>
        <p:spPr>
          <a:xfrm>
            <a:off x="59436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Shotput</a:t>
            </a:r>
            <a:endParaRPr sz="2100"/>
          </a:p>
        </p:txBody>
      </p:sp>
      <p:sp>
        <p:nvSpPr>
          <p:cNvPr id="11" name="TextBox 10"/>
          <p:cNvSpPr txBox="1"/>
          <p:nvPr/>
        </p:nvSpPr>
        <p:spPr>
          <a:xfrm>
            <a:off x="3794760" y="2450592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79</a:t>
            </a:r>
            <a:endParaRPr sz="850"/>
          </a:p>
        </p:txBody>
      </p:sp>
      <p:sp>
        <p:nvSpPr>
          <p:cNvPr id="12" name="TextBox 11"/>
          <p:cNvSpPr txBox="1"/>
          <p:nvPr/>
        </p:nvSpPr>
        <p:spPr>
          <a:xfrm>
            <a:off x="59436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Skiing</a:t>
            </a:r>
            <a:endParaRPr sz="2100"/>
          </a:p>
        </p:txBody>
      </p:sp>
      <p:sp>
        <p:nvSpPr>
          <p:cNvPr id="13" name="TextBox 12"/>
          <p:cNvSpPr txBox="1"/>
          <p:nvPr/>
        </p:nvSpPr>
        <p:spPr>
          <a:xfrm>
            <a:off x="3794760" y="2761488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81</a:t>
            </a:r>
            <a:endParaRPr sz="850"/>
          </a:p>
        </p:txBody>
      </p:sp>
      <p:sp>
        <p:nvSpPr>
          <p:cNvPr id="14" name="TextBox 13"/>
          <p:cNvSpPr txBox="1"/>
          <p:nvPr/>
        </p:nvSpPr>
        <p:spPr>
          <a:xfrm>
            <a:off x="59436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Skijet</a:t>
            </a:r>
            <a:endParaRPr sz="2100"/>
          </a:p>
        </p:txBody>
      </p:sp>
      <p:sp>
        <p:nvSpPr>
          <p:cNvPr id="15" name="TextBox 14"/>
          <p:cNvSpPr txBox="1"/>
          <p:nvPr/>
        </p:nvSpPr>
        <p:spPr>
          <a:xfrm>
            <a:off x="3794760" y="3072384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82</a:t>
            </a:r>
            <a:endParaRPr sz="850"/>
          </a:p>
        </p:txBody>
      </p:sp>
      <p:sp>
        <p:nvSpPr>
          <p:cNvPr id="16" name="TextBox 15"/>
          <p:cNvSpPr txBox="1"/>
          <p:nvPr/>
        </p:nvSpPr>
        <p:spPr>
          <a:xfrm>
            <a:off x="59436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SkyDiving</a:t>
            </a:r>
            <a:endParaRPr sz="2100"/>
          </a:p>
        </p:txBody>
      </p:sp>
      <p:sp>
        <p:nvSpPr>
          <p:cNvPr id="17" name="TextBox 16"/>
          <p:cNvSpPr txBox="1"/>
          <p:nvPr/>
        </p:nvSpPr>
        <p:spPr>
          <a:xfrm>
            <a:off x="3794760" y="3383280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83</a:t>
            </a:r>
            <a:endParaRPr sz="850"/>
          </a:p>
        </p:txBody>
      </p:sp>
      <p:sp>
        <p:nvSpPr>
          <p:cNvPr id="18" name="TextBox 17"/>
          <p:cNvSpPr txBox="1"/>
          <p:nvPr/>
        </p:nvSpPr>
        <p:spPr>
          <a:xfrm>
            <a:off x="59436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SoccerPenalty</a:t>
            </a:r>
            <a:endParaRPr sz="2100"/>
          </a:p>
        </p:txBody>
      </p:sp>
      <p:sp>
        <p:nvSpPr>
          <p:cNvPr id="19" name="TextBox 18"/>
          <p:cNvSpPr txBox="1"/>
          <p:nvPr/>
        </p:nvSpPr>
        <p:spPr>
          <a:xfrm>
            <a:off x="3794760" y="3694176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85</a:t>
            </a:r>
            <a:endParaRPr sz="850"/>
          </a:p>
        </p:txBody>
      </p:sp>
      <p:sp>
        <p:nvSpPr>
          <p:cNvPr id="20" name="TextBox 19"/>
          <p:cNvSpPr txBox="1"/>
          <p:nvPr/>
        </p:nvSpPr>
        <p:spPr>
          <a:xfrm>
            <a:off x="475488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StillRings</a:t>
            </a:r>
            <a:endParaRPr sz="2100"/>
          </a:p>
        </p:txBody>
      </p:sp>
      <p:sp>
        <p:nvSpPr>
          <p:cNvPr id="21" name="TextBox 20"/>
          <p:cNvSpPr txBox="1"/>
          <p:nvPr/>
        </p:nvSpPr>
        <p:spPr>
          <a:xfrm>
            <a:off x="7955279" y="1517904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86</a:t>
            </a:r>
            <a:endParaRPr sz="850"/>
          </a:p>
        </p:txBody>
      </p:sp>
      <p:sp>
        <p:nvSpPr>
          <p:cNvPr id="22" name="TextBox 21"/>
          <p:cNvSpPr txBox="1"/>
          <p:nvPr/>
        </p:nvSpPr>
        <p:spPr>
          <a:xfrm>
            <a:off x="475488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SumoWrestling</a:t>
            </a:r>
            <a:endParaRPr sz="2100"/>
          </a:p>
        </p:txBody>
      </p:sp>
      <p:sp>
        <p:nvSpPr>
          <p:cNvPr id="23" name="TextBox 22"/>
          <p:cNvSpPr txBox="1"/>
          <p:nvPr/>
        </p:nvSpPr>
        <p:spPr>
          <a:xfrm>
            <a:off x="7955279" y="1828800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87</a:t>
            </a:r>
            <a:endParaRPr sz="850"/>
          </a:p>
        </p:txBody>
      </p:sp>
      <p:sp>
        <p:nvSpPr>
          <p:cNvPr id="24" name="TextBox 23"/>
          <p:cNvSpPr txBox="1"/>
          <p:nvPr/>
        </p:nvSpPr>
        <p:spPr>
          <a:xfrm>
            <a:off x="475488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Surfing</a:t>
            </a:r>
            <a:endParaRPr sz="2100"/>
          </a:p>
        </p:txBody>
      </p:sp>
      <p:sp>
        <p:nvSpPr>
          <p:cNvPr id="25" name="TextBox 24"/>
          <p:cNvSpPr txBox="1"/>
          <p:nvPr/>
        </p:nvSpPr>
        <p:spPr>
          <a:xfrm>
            <a:off x="7955279" y="2139696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88</a:t>
            </a:r>
            <a:endParaRPr sz="850"/>
          </a:p>
        </p:txBody>
      </p:sp>
      <p:sp>
        <p:nvSpPr>
          <p:cNvPr id="26" name="TextBox 25"/>
          <p:cNvSpPr txBox="1"/>
          <p:nvPr/>
        </p:nvSpPr>
        <p:spPr>
          <a:xfrm>
            <a:off x="475488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TableTennisShot</a:t>
            </a:r>
            <a:endParaRPr sz="2100"/>
          </a:p>
        </p:txBody>
      </p:sp>
      <p:sp>
        <p:nvSpPr>
          <p:cNvPr id="27" name="TextBox 26"/>
          <p:cNvSpPr txBox="1"/>
          <p:nvPr/>
        </p:nvSpPr>
        <p:spPr>
          <a:xfrm>
            <a:off x="7955279" y="2450592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90</a:t>
            </a:r>
            <a:endParaRPr sz="850"/>
          </a:p>
        </p:txBody>
      </p:sp>
      <p:sp>
        <p:nvSpPr>
          <p:cNvPr id="28" name="TextBox 27"/>
          <p:cNvSpPr txBox="1"/>
          <p:nvPr/>
        </p:nvSpPr>
        <p:spPr>
          <a:xfrm>
            <a:off x="475488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TennisSwing</a:t>
            </a:r>
            <a:endParaRPr sz="2100"/>
          </a:p>
        </p:txBody>
      </p:sp>
      <p:sp>
        <p:nvSpPr>
          <p:cNvPr id="29" name="TextBox 28"/>
          <p:cNvSpPr txBox="1"/>
          <p:nvPr/>
        </p:nvSpPr>
        <p:spPr>
          <a:xfrm>
            <a:off x="7955279" y="2761488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92</a:t>
            </a:r>
            <a:endParaRPr sz="850"/>
          </a:p>
        </p:txBody>
      </p:sp>
      <p:sp>
        <p:nvSpPr>
          <p:cNvPr id="30" name="TextBox 29"/>
          <p:cNvSpPr txBox="1"/>
          <p:nvPr/>
        </p:nvSpPr>
        <p:spPr>
          <a:xfrm>
            <a:off x="475488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ThrowDiscus</a:t>
            </a:r>
            <a:endParaRPr sz="2100"/>
          </a:p>
        </p:txBody>
      </p:sp>
      <p:sp>
        <p:nvSpPr>
          <p:cNvPr id="31" name="TextBox 30"/>
          <p:cNvSpPr txBox="1"/>
          <p:nvPr/>
        </p:nvSpPr>
        <p:spPr>
          <a:xfrm>
            <a:off x="7955279" y="3072384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93</a:t>
            </a:r>
            <a:endParaRPr sz="850"/>
          </a:p>
        </p:txBody>
      </p:sp>
      <p:sp>
        <p:nvSpPr>
          <p:cNvPr id="32" name="TextBox 31"/>
          <p:cNvSpPr txBox="1"/>
          <p:nvPr/>
        </p:nvSpPr>
        <p:spPr>
          <a:xfrm>
            <a:off x="475488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UnevenBars</a:t>
            </a:r>
            <a:endParaRPr sz="2100"/>
          </a:p>
        </p:txBody>
      </p:sp>
      <p:sp>
        <p:nvSpPr>
          <p:cNvPr id="33" name="TextBox 32"/>
          <p:cNvSpPr txBox="1"/>
          <p:nvPr/>
        </p:nvSpPr>
        <p:spPr>
          <a:xfrm>
            <a:off x="7955279" y="3383280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96</a:t>
            </a:r>
            <a:endParaRPr sz="850"/>
          </a:p>
        </p:txBody>
      </p:sp>
      <p:sp>
        <p:nvSpPr>
          <p:cNvPr id="34" name="TextBox 33"/>
          <p:cNvSpPr txBox="1"/>
          <p:nvPr/>
        </p:nvSpPr>
        <p:spPr>
          <a:xfrm>
            <a:off x="475488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VolleyballSpiking</a:t>
            </a:r>
            <a:endParaRPr sz="2100"/>
          </a:p>
        </p:txBody>
      </p:sp>
      <p:sp>
        <p:nvSpPr>
          <p:cNvPr id="35" name="TextBox 34"/>
          <p:cNvSpPr txBox="1"/>
          <p:nvPr/>
        </p:nvSpPr>
        <p:spPr>
          <a:xfrm>
            <a:off x="7955279" y="3694176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97</a:t>
            </a:r>
            <a:endParaRPr sz="850"/>
          </a:p>
        </p:txBody>
      </p:sp>
      <p:sp>
        <p:nvSpPr>
          <p:cNvPr id="36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配布classInd.txtの全101カテゴリ。右側はクラスID. https://github.com/yjxiong/temporal-segment-networks/tree/master/data/ucf101_splits</a:t>
            </a:r>
            <a:endParaRPr sz="850"/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[2]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5つの型は原著Figure 2に基づく. https://arxiv.org/abs/1212.0402</a:t>
            </a:r>
            <a:endParaRPr sz="85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カテゴリ当たりの本数の記述統計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4 本数とグループの統計</a:t>
            </a:r>
            <a:endParaRPr sz="1400"/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100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3160"/>
                <a:gridCol w="1124712"/>
                <a:gridCol w="1124712"/>
                <a:gridCol w="1124712"/>
                <a:gridCol w="1124712"/>
                <a:gridCol w="1124712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対象 </a:t>
                      </a: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[1]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平均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SD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中央値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最小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最大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101カテゴリ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131.9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18.2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131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100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167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2688336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700">
                <a:latin typeface="Noto Sans CJK JP"/>
              </a:defRPr>
              <a:buNone/>
            </a:pPr>
            <a:r>
              <a:rPr sz="1700" lang="ja-JP">
                <a:solidFill>
                  <a:srgbClr val="303437"/>
                </a:solidFill>
                <a:latin typeface="Noto Sans CJK JP"/>
                <a:ea typeface="Noto Sans CJK JP"/>
              </a:rPr>
              <a:t>25%点は117本、75%点は145本、95%点は163本。</a:t>
            </a:r>
            <a:endParaRPr sz="1700"/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13,320クリップをカテゴリごとに1回集計。SDは母標準偏差. https://github.com/yjxiong/temporal-segment-networks/tree/master/data/ucf101_splits</a:t>
            </a:r>
            <a:endParaRPr sz="85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2800">
                <a:latin typeface="Noto Sans CJK JP"/>
              </a:defRPr>
              <a:spcAft>
                <a:spcPts val="70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 CJK JP"/>
                <a:ea typeface="Noto Sans CJK JP"/>
              </a:rPr>
              <a:t>最少側のバイオリン演奏は100クリップ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400">
                <a:latin typeface="Noto Sans CJK JP"/>
              </a:defRPr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4 本数とグループの統計</a:t>
            </a:r>
            <a:endParaRPr sz="1400"/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719" y="1417320"/>
            <a:ext cx="3706081" cy="2788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892040" y="1691640"/>
            <a:ext cx="36576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defRPr sz="2600">
                <a:latin typeface="Noto Sans CJK JP"/>
              </a:defRPr>
              <a:buNone/>
            </a:pPr>
            <a:r>
              <a:rPr sz="2600" lang="ja-JP">
                <a:solidFill>
                  <a:srgbClr val="303437"/>
                </a:solidFill>
                <a:latin typeface="Noto Sans CJK JP"/>
                <a:ea typeface="Noto Sans CJK JP"/>
              </a:rPr>
              <a:t>バイオリンの演奏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92040" y="2697480"/>
            <a:ext cx="36576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defRPr sz="2300">
                <a:latin typeface="Noto Sans CJK JP"/>
              </a:defRPr>
              <a:buNone/>
            </a:pPr>
            <a:r>
              <a:rPr sz="2300" lang="ja-JP">
                <a:solidFill>
                  <a:srgbClr val="303437"/>
                </a:solidFill>
                <a:latin typeface="Noto Sans CJK JP"/>
                <a:ea typeface="Noto Sans CJK JP"/>
              </a:rPr>
              <a:t>PlayingViolin
100クリップ [1]。</a:t>
            </a:r>
          </a:p>
        </p:txBody>
      </p:sp>
      <p:sp>
        <p:nvSpPr>
          <p:cNvPr id="7" name="lookup-sources"/>
          <p:cNvSpPr txBox="1"/>
          <p:nvPr/>
        </p:nvSpPr>
        <p:spPr>
          <a:xfrm>
            <a:off x="502920" y="4773168"/>
            <a:ext cx="818387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defRPr sz="850">
                <a:latin typeface="Noto Sans CJK JP"/>
              </a:defRPr>
              <a:spcAft>
                <a:spcPts val="0"/>
              </a:spcAft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 カテゴリの全件集計. https://github.com/yjxiong/temporal-segment-networks/tree/master/data/ucf101_splits
[2] 代表フレームは原著Figure 2. https://arxiv.org/abs/1212.0402 / PlayingViolin・CricketShot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rIns="0" tIns="0" bIns="0"/>
          <a:lstStyle/>
          <a:p>
            <a:pPr marL="0" indent="0">
              <a:lnSpc>
                <a:spcPct val="110000"/>
              </a:lnSpc>
              <a:spcBef>
                <a:spcPts val="0"/>
              </a:spcBef>
              <a:defRPr sz="2800">
                <a:latin typeface="Noto Sans CJK JP"/>
              </a:defRPr>
              <a:spcAft>
                <a:spcPts val="70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 CJK JP"/>
                <a:ea typeface="Noto Sans CJK JP"/>
              </a:rPr>
              <a:t>最多のクリケット打撃は167クリップ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marL="0" indent="0">
              <a:defRPr sz="1400">
                <a:latin typeface="Noto Sans CJK JP"/>
              </a:defR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4 本数とグループの統計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719" y="1417320"/>
            <a:ext cx="3706081" cy="2788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892040" y="1691640"/>
            <a:ext cx="36576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defRPr sz="2600">
                <a:latin typeface="Noto Sans CJK JP"/>
              </a:defRPr>
              <a:buNone/>
            </a:pPr>
            <a:r>
              <a:rPr sz="2600" lang="ja-JP">
                <a:solidFill>
                  <a:srgbClr val="303437"/>
                </a:solidFill>
                <a:latin typeface="Noto Sans CJK JP"/>
                <a:ea typeface="Noto Sans CJK JP"/>
              </a:rPr>
              <a:t>クリケットの打撃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92040" y="2697480"/>
            <a:ext cx="36576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defRPr sz="2300">
                <a:latin typeface="Noto Sans CJK JP"/>
              </a:defRPr>
              <a:buNone/>
            </a:pPr>
            <a:r>
              <a:rPr sz="2300" lang="ja-JP">
                <a:solidFill>
                  <a:srgbClr val="303437"/>
                </a:solidFill>
                <a:latin typeface="Noto Sans CJK JP"/>
                <a:ea typeface="Noto Sans CJK JP"/>
              </a:rPr>
              <a:t>CricketShot
167クリップ [1]。</a:t>
            </a:r>
          </a:p>
        </p:txBody>
      </p:sp>
      <p:sp>
        <p:nvSpPr>
          <p:cNvPr id="7" name="lookup-sources"/>
          <p:cNvSpPr txBox="1"/>
          <p:nvPr/>
        </p:nvSpPr>
        <p:spPr>
          <a:xfrm>
            <a:off x="502920" y="4773168"/>
            <a:ext cx="818387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defRPr sz="850">
                <a:latin typeface="Noto Sans CJK JP"/>
              </a:defRPr>
              <a:spcAft>
                <a:spcPts val="0"/>
              </a:spcAft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 カテゴリの全件集計. https://github.com/yjxiong/temporal-segment-networks/tree/master/data/ucf101_splits
[2] 代表フレームは原著Figure 2. https://arxiv.org/abs/1212.0402 / PlayingViolin・CricketShot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4クリップのグループが最も多い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4 本数とグループの統計</a:t>
            </a:r>
            <a:endParaRPr sz="1400"/>
          </a:p>
        </p:txBody>
      </p:sp>
      <p:pic>
        <p:nvPicPr>
          <p:cNvPr id="4" name="Picture 3" descr="groups-h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327" y="1463040"/>
            <a:ext cx="7301345" cy="2834640"/>
          </a:xfrm>
          <a:prstGeom prst="rect">
            <a:avLst/>
          </a:prstGeom>
        </p:spPr>
      </p:pic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カテゴリとグループ番号の組を単位に、全2,525グループを集計. https://github.com/yjxiong/temporal-segment-networks/tree/master/data/ucf101_splits</a:t>
            </a:r>
            <a:endParaRPr sz="85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3分割ではテストにするグループが異なる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4 本数とグループの統計</a:t>
            </a:r>
            <a:endParaRPr sz="1400"/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4572000"/>
              </a:tblGrid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分割 </a:t>
                      </a: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[1]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テスト用グループ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split 1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g01〜g07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split 2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g08〜g14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split 3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g15〜g21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950208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700">
                <a:latin typeface="Noto Sans CJK JP"/>
              </a:defRPr>
              <a:buNone/>
            </a:pPr>
            <a:r>
              <a:rPr sz="1700" lang="ja-JP">
                <a:solidFill>
                  <a:srgbClr val="303437"/>
                </a:solidFill>
                <a:latin typeface="Noto Sans CJK JP"/>
                <a:ea typeface="Noto Sans CJK JP"/>
              </a:rPr>
              <a:t>それ以外の18グループを学習用に使う。各分割で学習とテストのグループは重ならない。</a:t>
            </a:r>
            <a:endParaRPr sz="1700"/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全101カテゴリの分割リストを照合. https://github.com/yjxiong/temporal-segment-networks/tree/master/data/ucf101_splits</a:t>
            </a:r>
            <a:endParaRPr sz="85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動画単位の正解率を計算する例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5 評価の補足</a:t>
            </a:r>
            <a:endParaRPr sz="1400"/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3291840"/>
                <a:gridCol w="118872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正解カテゴリ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予測カテゴリ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得点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PlayingViolin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PlayingViolin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PlayingGuitar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PlayingGuitar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CricketShot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CricketBowling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0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694176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700">
                <a:latin typeface="Noto Sans CJK JP"/>
              </a:defRPr>
              <a:buNone/>
            </a:pPr>
            <a:r>
              <a:rPr sz="1700" lang="ja-JP">
                <a:solidFill>
                  <a:srgbClr val="303437"/>
                </a:solidFill>
                <a:latin typeface="Noto Sans CJK JP"/>
                <a:ea typeface="Noto Sans CJK JP"/>
              </a:rPr>
              <a:t>3動画中2動画が正解なので、正解率は2÷3×100＝66.7%となる。</a:t>
            </a:r>
            <a:endParaRPr sz="170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原著では行動の型によって成績が異なった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5 評価の補足</a:t>
            </a:r>
            <a:endParaRPr sz="1400"/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37744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行動の型 </a:t>
                      </a: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[1]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正解率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人と物との相互作用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38.52%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身体の動き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36.26%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人と人との相互作用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44.14%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楽器の演奏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37.42%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スポーツ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50.54%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Soomro et al. (2012), §3. 25グループの交差検証. https://arxiv.org/abs/1212.0402</a:t>
            </a:r>
            <a:endParaRPr sz="85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近年はゼロショット評価にも用いられる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5 評価の補足</a:t>
            </a:r>
            <a:endParaRPr sz="1400"/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37744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手法 </a:t>
                      </a: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[1]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Top-1正解率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CLIP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68.9%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TVTSv2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78.0%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InternVideo2clip-1B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88.8%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InternVideo2clip-6B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89.5%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4197096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600">
                <a:latin typeface="Noto Sans CJK JP"/>
              </a:defRPr>
              <a:buNone/>
            </a:pPr>
            <a:r>
              <a:rPr sz="1600" lang="ja-JP">
                <a:solidFill>
                  <a:srgbClr val="303437"/>
                </a:solidFill>
                <a:latin typeface="Noto Sans CJK JP"/>
                <a:ea typeface="Noto Sans CJK JP"/>
              </a:rPr>
              <a:t>UCF101で微調整せず、行動名と映像を照合する。事前学習・入力フレーム数は手法で異なる。</a:t>
            </a:r>
            <a:endParaRPr sz="1700"/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Wang et al. (2024), Table 5. https://arxiv.org/abs/2403.15377</a:t>
            </a:r>
            <a:endParaRPr sz="85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配布リストからカテゴリ別の本数を集計する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6 入手と集計のコード</a:t>
            </a:r>
            <a:endParaRPr sz="1400"/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7955279" cy="3246120"/>
          </a:xfrm>
          <a:prstGeom prst="rect">
            <a:avLst/>
          </a:prstGeom>
          <a:solidFill>
            <a:srgbClr val="EBEDEB"/>
          </a:solidFill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defRPr sz="1400">
                <a:latin typeface="Liberation Mono"/>
              </a:defRPr>
              <a:buNone/>
            </a:pPr>
            <a:r>
              <a:rPr sz="1400" lang="en-US">
                <a:solidFill>
                  <a:srgbClr val="303437"/>
                </a:solidFill>
                <a:latin typeface="Liberation Mono"/>
                <a:ea typeface="Liberation Mono"/>
              </a:rPr>
              <a:t>from pathlib import Path
from collections import Counter
root = Path("ucfTrainTestlist")
train = (root / "trainlist01.txt").read_text().splitlines()
test = (root / "testlist01.txt").read_text().splitlines()
clips = {line.split()</a:t>
            </a:r>
            <a:r>
              <a:rPr sz="1400" lang="en-US">
                <a:solidFill>
                  <a:srgbClr val="303437"/>
                </a:solidFill>
                <a:latin typeface="Liberation Mono"/>
                <a:ea typeface="Liberation Mono"/>
              </a:rPr>
              <a:t>[0]</a:t>
            </a:r>
            <a:r>
              <a:rPr sz="1400" lang="en-US">
                <a:solidFill>
                  <a:srgbClr val="303437"/>
                </a:solidFill>
                <a:latin typeface="Liberation Mono"/>
                <a:ea typeface="Liberation Mono"/>
              </a:rPr>
              <a:t> for line in train + test}
counts = Counter(path.split("/")</a:t>
            </a:r>
            <a:r>
              <a:rPr sz="1400" lang="en-US">
                <a:solidFill>
                  <a:srgbClr val="303437"/>
                </a:solidFill>
                <a:latin typeface="Liberation Mono"/>
                <a:ea typeface="Liberation Mono"/>
              </a:rPr>
              <a:t>[0]</a:t>
            </a:r>
            <a:r>
              <a:rPr sz="1400" lang="en-US">
                <a:solidFill>
                  <a:srgbClr val="303437"/>
                </a:solidFill>
                <a:latin typeface="Liberation Mono"/>
                <a:ea typeface="Liberation Mono"/>
              </a:rPr>
              <a:t> for path in clips)
print(len(clips), len(counts))
for label, n in sorted(counts.items()):
    print(label, n)
</a:t>
            </a:r>
            <a:endParaRPr sz="1400"/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https://github.com/yjxiong/temporal-segment-networks/tree/master/data/ucf101_splits</a:t>
            </a:r>
            <a:endParaRPr sz="85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動画と分割リストのアーカイブを取得する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6 入手と集計のコード</a:t>
            </a:r>
            <a:endParaRPr sz="1400"/>
          </a:p>
        </p:txBody>
      </p:sp>
      <p:sp>
        <p:nvSpPr>
          <p:cNvPr id="4" name="TextBox 3"/>
          <p:cNvSpPr txBox="1"/>
          <p:nvPr/>
        </p:nvSpPr>
        <p:spPr>
          <a:xfrm>
            <a:off x="594360" y="1600200"/>
            <a:ext cx="7955279" cy="2651760"/>
          </a:xfrm>
          <a:prstGeom prst="rect">
            <a:avLst/>
          </a:prstGeom>
          <a:solidFill>
            <a:srgbClr val="EBEDEB"/>
          </a:solidFill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  <a:defRPr sz="1300">
                <a:latin typeface="Liberation Mono"/>
              </a:defRPr>
              <a:buNone/>
            </a:pPr>
            <a:r>
              <a:rPr sz="1300" lang="en-US">
                <a:solidFill>
                  <a:srgbClr val="303437"/>
                </a:solidFill>
                <a:latin typeface="Liberation Mono"/>
                <a:ea typeface="Liberation Mono"/>
              </a:rPr>
              <a:t>curl -L --fail -O \
  https://www.crcv.ucf.edu/data/UCF101/UCF101.rar
curl -L --fail -O \
  https://www.crcv.ucf.edu/data/UCF101/UCF101TrainTestSplits-RecognitionTask.zip
unrar x UCF101.rar
unzip UCF101TrainTestSplits-RecognitionTask.zip
</a:t>
            </a:r>
            <a:endParaRPr sz="1300"/>
          </a:p>
        </p:txBody>
      </p:sp>
      <p:sp>
        <p:nvSpPr>
          <p:cNvPr id="5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公式配布元. https://www.crcv.ucf.edu/data/UCF101.php</a:t>
            </a:r>
            <a:endParaRPr sz="850"/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[2]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配布URLはMMAction2の取得手順に基づく. https://github.com/open-mmlab/mmaction2/tree/main/tools/data/ucf101</a:t>
            </a:r>
            <a:endParaRPr sz="85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UCF101とモデル評価の参考文献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7 参考文献</a:t>
            </a:r>
            <a:endParaRPr sz="1400"/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79552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>
                <a:latin typeface="Noto Sans CJK JP"/>
              </a:defRPr>
              <a:buNone/>
            </a:pPr>
            <a:r>
              <a:rPr sz="1800" lang="ja-JP">
                <a:solidFill>
                  <a:srgbClr val="303437"/>
                </a:solidFill>
                <a:latin typeface="Noto Sans CJK JP"/>
                <a:ea typeface="Noto Sans CJK JP"/>
              </a:rPr>
              <a:t>Soomro et al. (2012). UCF101. CRCV-TR-12-01.</a:t>
            </a:r>
            <a:endParaRPr sz="1800"/>
          </a:p>
        </p:txBody>
      </p:sp>
      <p:sp>
        <p:nvSpPr>
          <p:cNvPr id="5" name="TextBox 4"/>
          <p:cNvSpPr txBox="1"/>
          <p:nvPr/>
        </p:nvSpPr>
        <p:spPr>
          <a:xfrm>
            <a:off x="594360" y="1792224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000">
                <a:latin typeface="Noto Sans CJK JP"/>
              </a:defRPr>
              <a:buNone/>
            </a:pPr>
            <a:r>
              <a:rPr sz="1000" lang="ja-JP">
                <a:solidFill>
                  <a:srgbClr val="626669"/>
                </a:solidFill>
                <a:latin typeface="Noto Sans CJK JP"/>
                <a:ea typeface="Noto Sans CJK JP"/>
              </a:rPr>
              <a:t>https://arxiv.org/abs/1212.0402</a:t>
            </a:r>
            <a:endParaRPr sz="1000"/>
          </a:p>
        </p:txBody>
      </p:sp>
      <p:sp>
        <p:nvSpPr>
          <p:cNvPr id="6" name="TextBox 5"/>
          <p:cNvSpPr txBox="1"/>
          <p:nvPr/>
        </p:nvSpPr>
        <p:spPr>
          <a:xfrm>
            <a:off x="594360" y="2029968"/>
            <a:ext cx="79552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>
                <a:latin typeface="Noto Sans CJK JP"/>
              </a:defRPr>
              <a:buNone/>
            </a:pPr>
            <a:r>
              <a:rPr sz="1800" lang="ja-JP">
                <a:solidFill>
                  <a:srgbClr val="303437"/>
                </a:solidFill>
                <a:latin typeface="Noto Sans CJK JP"/>
                <a:ea typeface="Noto Sans CJK JP"/>
              </a:rPr>
              <a:t>Carreira &amp; Zisserman (2017). I3D. CVPR.</a:t>
            </a:r>
            <a:endParaRPr sz="1800"/>
          </a:p>
        </p:txBody>
      </p:sp>
      <p:sp>
        <p:nvSpPr>
          <p:cNvPr id="7" name="TextBox 6"/>
          <p:cNvSpPr txBox="1"/>
          <p:nvPr/>
        </p:nvSpPr>
        <p:spPr>
          <a:xfrm>
            <a:off x="594360" y="2359152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000">
                <a:latin typeface="Noto Sans CJK JP"/>
              </a:defRPr>
              <a:buNone/>
            </a:pPr>
            <a:r>
              <a:rPr sz="1000" lang="ja-JP">
                <a:solidFill>
                  <a:srgbClr val="626669"/>
                </a:solidFill>
                <a:latin typeface="Noto Sans CJK JP"/>
                <a:ea typeface="Noto Sans CJK JP"/>
              </a:rPr>
              <a:t>https://arxiv.org/abs/1705.07750</a:t>
            </a:r>
            <a:endParaRPr sz="1000"/>
          </a:p>
        </p:txBody>
      </p:sp>
      <p:sp>
        <p:nvSpPr>
          <p:cNvPr id="8" name="TextBox 7"/>
          <p:cNvSpPr txBox="1"/>
          <p:nvPr/>
        </p:nvSpPr>
        <p:spPr>
          <a:xfrm>
            <a:off x="594360" y="2596896"/>
            <a:ext cx="79552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>
                <a:latin typeface="Noto Sans CJK JP"/>
              </a:defRPr>
              <a:buNone/>
            </a:pPr>
            <a:r>
              <a:rPr sz="1800" lang="ja-JP">
                <a:solidFill>
                  <a:srgbClr val="303437"/>
                </a:solidFill>
                <a:latin typeface="Noto Sans CJK JP"/>
                <a:ea typeface="Noto Sans CJK JP"/>
              </a:rPr>
              <a:t>Tong et al. (2022). VideoMAE. NeurIPS.</a:t>
            </a:r>
            <a:endParaRPr sz="1800"/>
          </a:p>
        </p:txBody>
      </p:sp>
      <p:sp>
        <p:nvSpPr>
          <p:cNvPr id="9" name="TextBox 8"/>
          <p:cNvSpPr txBox="1"/>
          <p:nvPr/>
        </p:nvSpPr>
        <p:spPr>
          <a:xfrm>
            <a:off x="594360" y="2926080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000">
                <a:latin typeface="Noto Sans CJK JP"/>
              </a:defRPr>
              <a:buNone/>
            </a:pPr>
            <a:r>
              <a:rPr sz="1000" lang="ja-JP">
                <a:solidFill>
                  <a:srgbClr val="626669"/>
                </a:solidFill>
                <a:latin typeface="Noto Sans CJK JP"/>
                <a:ea typeface="Noto Sans CJK JP"/>
              </a:rPr>
              <a:t>https://arxiv.org/abs/2203.12602</a:t>
            </a:r>
            <a:endParaRPr sz="1000"/>
          </a:p>
        </p:txBody>
      </p:sp>
      <p:sp>
        <p:nvSpPr>
          <p:cNvPr id="10" name="TextBox 9"/>
          <p:cNvSpPr txBox="1"/>
          <p:nvPr/>
        </p:nvSpPr>
        <p:spPr>
          <a:xfrm>
            <a:off x="594360" y="3163824"/>
            <a:ext cx="79552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>
                <a:latin typeface="Noto Sans CJK JP"/>
              </a:defRPr>
              <a:buNone/>
            </a:pPr>
            <a:r>
              <a:rPr sz="1800" lang="ja-JP">
                <a:solidFill>
                  <a:srgbClr val="303437"/>
                </a:solidFill>
                <a:latin typeface="Noto Sans CJK JP"/>
                <a:ea typeface="Noto Sans CJK JP"/>
              </a:rPr>
              <a:t>Wang et al. (2024). InternVideo2.</a:t>
            </a:r>
            <a:endParaRPr sz="1800"/>
          </a:p>
        </p:txBody>
      </p:sp>
      <p:sp>
        <p:nvSpPr>
          <p:cNvPr id="11" name="TextBox 10"/>
          <p:cNvSpPr txBox="1"/>
          <p:nvPr/>
        </p:nvSpPr>
        <p:spPr>
          <a:xfrm>
            <a:off x="594360" y="3493008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000">
                <a:latin typeface="Noto Sans CJK JP"/>
              </a:defRPr>
              <a:buNone/>
            </a:pPr>
            <a:r>
              <a:rPr sz="1000" lang="ja-JP">
                <a:solidFill>
                  <a:srgbClr val="626669"/>
                </a:solidFill>
                <a:latin typeface="Noto Sans CJK JP"/>
                <a:ea typeface="Noto Sans CJK JP"/>
              </a:rPr>
              <a:t>https://arxiv.org/abs/2403.15377</a:t>
            </a:r>
            <a:endParaRPr sz="100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周辺データと配布物の参考文献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7 参考文献</a:t>
            </a:r>
            <a:endParaRPr sz="1400"/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79552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>
                <a:latin typeface="Noto Sans CJK JP"/>
              </a:defRPr>
              <a:buNone/>
            </a:pPr>
            <a:r>
              <a:rPr sz="1800" lang="ja-JP">
                <a:solidFill>
                  <a:srgbClr val="303437"/>
                </a:solidFill>
                <a:latin typeface="Noto Sans CJK JP"/>
                <a:ea typeface="Noto Sans CJK JP"/>
              </a:rPr>
              <a:t>Kay et al. (2017). The Kinetics Human Action Video Dataset.</a:t>
            </a:r>
            <a:endParaRPr sz="1800"/>
          </a:p>
        </p:txBody>
      </p:sp>
      <p:sp>
        <p:nvSpPr>
          <p:cNvPr id="5" name="TextBox 4"/>
          <p:cNvSpPr txBox="1"/>
          <p:nvPr/>
        </p:nvSpPr>
        <p:spPr>
          <a:xfrm>
            <a:off x="594360" y="1792224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000">
                <a:latin typeface="Noto Sans CJK JP"/>
              </a:defRPr>
              <a:buNone/>
            </a:pPr>
            <a:r>
              <a:rPr sz="1000" lang="ja-JP">
                <a:solidFill>
                  <a:srgbClr val="626669"/>
                </a:solidFill>
                <a:latin typeface="Noto Sans CJK JP"/>
                <a:ea typeface="Noto Sans CJK JP"/>
              </a:rPr>
              <a:t>https://arxiv.org/abs/1705.06950</a:t>
            </a:r>
            <a:endParaRPr sz="1000"/>
          </a:p>
        </p:txBody>
      </p:sp>
      <p:sp>
        <p:nvSpPr>
          <p:cNvPr id="6" name="TextBox 5"/>
          <p:cNvSpPr txBox="1"/>
          <p:nvPr/>
        </p:nvSpPr>
        <p:spPr>
          <a:xfrm>
            <a:off x="594360" y="2029968"/>
            <a:ext cx="79552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>
                <a:latin typeface="Noto Sans CJK JP"/>
              </a:defRPr>
              <a:buNone/>
            </a:pPr>
            <a:r>
              <a:rPr sz="1800" lang="ja-JP">
                <a:solidFill>
                  <a:srgbClr val="303437"/>
                </a:solidFill>
                <a:latin typeface="Noto Sans CJK JP"/>
                <a:ea typeface="Noto Sans CJK JP"/>
              </a:rPr>
              <a:t>Goyal et al. (2017). Something-Something. ICCV.</a:t>
            </a:r>
            <a:endParaRPr sz="1800"/>
          </a:p>
        </p:txBody>
      </p:sp>
      <p:sp>
        <p:nvSpPr>
          <p:cNvPr id="7" name="TextBox 6"/>
          <p:cNvSpPr txBox="1"/>
          <p:nvPr/>
        </p:nvSpPr>
        <p:spPr>
          <a:xfrm>
            <a:off x="594360" y="2359152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000">
                <a:latin typeface="Noto Sans CJK JP"/>
              </a:defRPr>
              <a:buNone/>
            </a:pPr>
            <a:r>
              <a:rPr sz="1000" lang="ja-JP">
                <a:solidFill>
                  <a:srgbClr val="626669"/>
                </a:solidFill>
                <a:latin typeface="Noto Sans CJK JP"/>
                <a:ea typeface="Noto Sans CJK JP"/>
              </a:rPr>
              <a:t>https://arxiv.org/abs/1706.04261</a:t>
            </a:r>
            <a:endParaRPr sz="1000"/>
          </a:p>
        </p:txBody>
      </p:sp>
      <p:sp>
        <p:nvSpPr>
          <p:cNvPr id="8" name="TextBox 7"/>
          <p:cNvSpPr txBox="1"/>
          <p:nvPr/>
        </p:nvSpPr>
        <p:spPr>
          <a:xfrm>
            <a:off x="594360" y="2596896"/>
            <a:ext cx="79552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>
                <a:latin typeface="Noto Sans CJK JP"/>
              </a:defRPr>
              <a:buNone/>
            </a:pPr>
            <a:r>
              <a:rPr sz="1800" lang="ja-JP">
                <a:solidFill>
                  <a:srgbClr val="303437"/>
                </a:solidFill>
                <a:latin typeface="Noto Sans CJK JP"/>
                <a:ea typeface="Noto Sans CJK JP"/>
              </a:rPr>
              <a:t>UCF101の配布リスト（TSN公開実装）</a:t>
            </a:r>
            <a:endParaRPr sz="1800"/>
          </a:p>
        </p:txBody>
      </p:sp>
      <p:sp>
        <p:nvSpPr>
          <p:cNvPr id="9" name="TextBox 8"/>
          <p:cNvSpPr txBox="1"/>
          <p:nvPr/>
        </p:nvSpPr>
        <p:spPr>
          <a:xfrm>
            <a:off x="594360" y="2926080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000">
                <a:latin typeface="Noto Sans CJK JP"/>
              </a:defRPr>
              <a:buNone/>
            </a:pPr>
            <a:r>
              <a:rPr sz="1000" lang="ja-JP">
                <a:solidFill>
                  <a:srgbClr val="626669"/>
                </a:solidFill>
                <a:latin typeface="Noto Sans CJK JP"/>
                <a:ea typeface="Noto Sans CJK JP"/>
              </a:rPr>
              <a:t>https://github.com/yjxiong/temporal-segment-networks/tree/master/data/ucf101_splits</a:t>
            </a:r>
            <a:endParaRPr sz="1000"/>
          </a:p>
        </p:txBody>
      </p:sp>
      <p:sp>
        <p:nvSpPr>
          <p:cNvPr id="10" name="TextBox 9"/>
          <p:cNvSpPr txBox="1"/>
          <p:nvPr/>
        </p:nvSpPr>
        <p:spPr>
          <a:xfrm>
            <a:off x="594360" y="3163824"/>
            <a:ext cx="79552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>
                <a:latin typeface="Noto Sans CJK JP"/>
              </a:defRPr>
              <a:buNone/>
            </a:pPr>
            <a:r>
              <a:rPr sz="1800" lang="ja-JP">
                <a:solidFill>
                  <a:srgbClr val="303437"/>
                </a:solidFill>
                <a:latin typeface="Noto Sans CJK JP"/>
                <a:ea typeface="Noto Sans CJK JP"/>
              </a:rPr>
              <a:t>MMAction2のUCF101手順</a:t>
            </a:r>
            <a:endParaRPr sz="1800"/>
          </a:p>
        </p:txBody>
      </p:sp>
      <p:sp>
        <p:nvSpPr>
          <p:cNvPr id="11" name="TextBox 10"/>
          <p:cNvSpPr txBox="1"/>
          <p:nvPr/>
        </p:nvSpPr>
        <p:spPr>
          <a:xfrm>
            <a:off x="594360" y="3493008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000">
                <a:latin typeface="Noto Sans CJK JP"/>
              </a:defRPr>
              <a:buNone/>
            </a:pPr>
            <a:r>
              <a:rPr sz="1000" lang="ja-JP">
                <a:solidFill>
                  <a:srgbClr val="626669"/>
                </a:solidFill>
                <a:latin typeface="Noto Sans CJK JP"/>
                <a:ea typeface="Noto Sans CJK JP"/>
              </a:rPr>
              <a:t>https://github.com/open-mmlab/mmaction2/tree/main/tools/data/ucf101</a:t>
            </a:r>
            <a:endParaRPr sz="1000"/>
          </a:p>
        </p:txBody>
      </p:sp>
      <p:sp>
        <p:nvSpPr>
          <p:cNvPr id="12" name="TextBox 11"/>
          <p:cNvSpPr txBox="1"/>
          <p:nvPr/>
        </p:nvSpPr>
        <p:spPr>
          <a:xfrm>
            <a:off x="594360" y="3730752"/>
            <a:ext cx="79552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>
                <a:latin typeface="Noto Sans CJK JP"/>
              </a:defRPr>
              <a:buNone/>
            </a:pPr>
            <a:r>
              <a:rPr sz="1800" lang="ja-JP">
                <a:solidFill>
                  <a:srgbClr val="303437"/>
                </a:solidFill>
                <a:latin typeface="Noto Sans CJK JP"/>
                <a:ea typeface="Noto Sans CJK JP"/>
              </a:rPr>
              <a:t>I3Dの公開入力例</a:t>
            </a:r>
            <a:endParaRPr sz="1800"/>
          </a:p>
        </p:txBody>
      </p:sp>
      <p:sp>
        <p:nvSpPr>
          <p:cNvPr id="13" name="TextBox 12"/>
          <p:cNvSpPr txBox="1"/>
          <p:nvPr/>
        </p:nvSpPr>
        <p:spPr>
          <a:xfrm>
            <a:off x="594360" y="4059935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000">
                <a:latin typeface="Noto Sans CJK JP"/>
              </a:defRPr>
              <a:buNone/>
            </a:pPr>
            <a:r>
              <a:rPr sz="1000" lang="ja-JP">
                <a:solidFill>
                  <a:srgbClr val="626669"/>
                </a:solidFill>
                <a:latin typeface="Noto Sans CJK JP"/>
                <a:ea typeface="Noto Sans CJK JP"/>
              </a:rPr>
              <a:t>https://github.com/google-deepmind/kinetics-i3d</a:t>
            </a:r>
            <a:endParaRPr sz="1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佐々木　悠太</cp:lastModifiedBy>
  <cp:revision>500</cp:revision>
  <dcterms:modified xsi:type="dcterms:W3CDTF">2026-10-13T12:49:59Z</dcterms:modified>
</cp:coreProperties>
</file>